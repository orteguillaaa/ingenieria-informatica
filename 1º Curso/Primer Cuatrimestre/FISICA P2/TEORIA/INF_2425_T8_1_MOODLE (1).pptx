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542" r:id="rId2"/>
    <p:sldId id="660" r:id="rId3"/>
    <p:sldId id="611" r:id="rId4"/>
    <p:sldId id="630" r:id="rId5"/>
    <p:sldId id="622" r:id="rId6"/>
    <p:sldId id="629" r:id="rId7"/>
    <p:sldId id="594" r:id="rId8"/>
    <p:sldId id="614" r:id="rId9"/>
    <p:sldId id="631" r:id="rId10"/>
    <p:sldId id="625" r:id="rId11"/>
    <p:sldId id="626" r:id="rId12"/>
    <p:sldId id="632" r:id="rId13"/>
    <p:sldId id="627" r:id="rId14"/>
    <p:sldId id="659" r:id="rId15"/>
    <p:sldId id="544" r:id="rId16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CCFFCC"/>
    <a:srgbClr val="FFFFFF"/>
    <a:srgbClr val="99CCFF"/>
    <a:srgbClr val="FF99FF"/>
    <a:srgbClr val="D60093"/>
    <a:srgbClr val="FFCC99"/>
    <a:srgbClr val="66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9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056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65E96FE-60F1-4FB9-A8EF-422D0562467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35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5AA1872-A331-49EA-B68A-FA79AFAA7C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838807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7C198-4A67-4CE0-8961-6209CA6DE244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29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AFC573-7D24-419D-B378-5D2F917ED19A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82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BB185A-2DA5-4335-BDA9-3DBBD3A18F59}" type="slidenum">
              <a:rPr lang="es-ES"/>
              <a:pPr algn="r" eaLnBrk="1" hangingPunct="1"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21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BB185A-2DA5-4335-BDA9-3DBBD3A18F59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61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BB185A-2DA5-4335-BDA9-3DBBD3A18F59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79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BB185A-2DA5-4335-BDA9-3DBBD3A18F59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07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>
              <a:latin typeface="Arial" panose="020B0604020202020204" pitchFamily="34" charset="0"/>
            </a:endParaRPr>
          </a:p>
        </p:txBody>
      </p:sp>
      <p:sp>
        <p:nvSpPr>
          <p:cNvPr id="12292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3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4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2901268F-C285-4A3A-A7F9-D59855B787C4}" type="slidenum">
              <a:rPr lang="es-ES" sz="1200" smtClean="0">
                <a:solidFill>
                  <a:schemeClr val="tx1"/>
                </a:solidFill>
              </a:rPr>
              <a:pPr/>
              <a:t>7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7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  <p:sp>
        <p:nvSpPr>
          <p:cNvPr id="14340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41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2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78780C16-BD36-4B2E-99D2-562A11778C19}" type="slidenum">
              <a:rPr lang="es-ES" sz="1200" smtClean="0">
                <a:solidFill>
                  <a:schemeClr val="tx1"/>
                </a:solidFill>
              </a:rPr>
              <a:pPr/>
              <a:t>8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14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b="1" dirty="0">
              <a:latin typeface="Arial" panose="020B0604020202020204" pitchFamily="34" charset="0"/>
            </a:endParaRPr>
          </a:p>
        </p:txBody>
      </p:sp>
      <p:sp>
        <p:nvSpPr>
          <p:cNvPr id="14340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41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2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78780C16-BD36-4B2E-99D2-562A11778C19}" type="slidenum">
              <a:rPr lang="es-ES" sz="1200" smtClean="0">
                <a:solidFill>
                  <a:schemeClr val="tx1"/>
                </a:solidFill>
              </a:rPr>
              <a:pPr/>
              <a:t>9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51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>
              <a:latin typeface="Arial" panose="020B0604020202020204" pitchFamily="34" charset="0"/>
            </a:endParaRPr>
          </a:p>
        </p:txBody>
      </p:sp>
      <p:sp>
        <p:nvSpPr>
          <p:cNvPr id="14340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41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2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78780C16-BD36-4B2E-99D2-562A11778C19}" type="slidenum">
              <a:rPr lang="es-ES" sz="1200" smtClean="0">
                <a:solidFill>
                  <a:schemeClr val="tx1"/>
                </a:solidFill>
              </a:rPr>
              <a:pPr/>
              <a:t>10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67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  <p:sp>
        <p:nvSpPr>
          <p:cNvPr id="14340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41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2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78780C16-BD36-4B2E-99D2-562A11778C19}" type="slidenum">
              <a:rPr lang="es-ES" sz="1200" smtClean="0">
                <a:solidFill>
                  <a:schemeClr val="tx1"/>
                </a:solidFill>
              </a:rPr>
              <a:pPr/>
              <a:t>11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97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8436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7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8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A0B3ABE7-F67B-4F66-8BC7-0AEF14E0CF29}" type="slidenum">
              <a:rPr lang="es-ES" sz="1200" smtClean="0">
                <a:solidFill>
                  <a:schemeClr val="tx1"/>
                </a:solidFill>
              </a:rPr>
              <a:pPr/>
              <a:t>12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434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8436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7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8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A0B3ABE7-F67B-4F66-8BC7-0AEF14E0CF29}" type="slidenum">
              <a:rPr lang="es-ES" sz="1200" smtClean="0">
                <a:solidFill>
                  <a:schemeClr val="tx1"/>
                </a:solidFill>
              </a:rPr>
              <a:pPr/>
              <a:t>13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833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8436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7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8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fld id="{A0B3ABE7-F67B-4F66-8BC7-0AEF14E0CF29}" type="slidenum">
              <a:rPr lang="es-ES" sz="1200" smtClean="0">
                <a:solidFill>
                  <a:schemeClr val="tx1"/>
                </a:solidFill>
              </a:rPr>
              <a:pPr/>
              <a:t>14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00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DB1F1-C3E0-4D26-9840-C6976CEDAA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595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58E34-0C94-4425-B5E7-058D88FB8CF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92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820EB-C39D-4034-BD18-4BD8E0E36DE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078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B7373-5477-4758-A07F-55A9BC71B0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78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63F3D-8C3B-428C-8AE1-643B8C3719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105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D18BC-B8C2-48CC-AE91-80A5DEF61BE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00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9D2B3-E2B8-44B7-80D7-E8039E40F03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27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4CE3A-AEE7-45D5-AC9B-483C41CAFED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021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B98B7-3BDD-4B17-B15A-91104792CE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419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3ED4C-4253-4B9B-BEB4-518A581F6A1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063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5760F-0AC7-4081-A41F-3B28B549F0F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881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BC3A-C145-4B72-9D90-8DF0EB40596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402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CD85CA2-7618-40A4-9C5A-E76098247EA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909780" y="3251633"/>
            <a:ext cx="7678705" cy="9451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GENERADORES. TEOREMAS DE REDES.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RESOLUCIÓN SISTEMATIZADA DE CIRCUITOS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91138" y="4763799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(1/2)</a:t>
            </a:r>
            <a:endParaRPr lang="es-ES" sz="2400" b="1" dirty="0">
              <a:latin typeface="Comic Sans MS" panose="030F0702030302020204" pitchFamily="66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8</a:t>
            </a:r>
          </a:p>
        </p:txBody>
      </p: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7875895" y="4766986"/>
            <a:ext cx="2574925" cy="2143125"/>
            <a:chOff x="4896" y="2935"/>
            <a:chExt cx="1622" cy="1350"/>
          </a:xfrm>
        </p:grpSpPr>
        <p:sp>
          <p:nvSpPr>
            <p:cNvPr id="23" name="AutoShape 1056"/>
            <p:cNvSpPr>
              <a:spLocks noChangeArrowheads="1"/>
            </p:cNvSpPr>
            <p:nvPr/>
          </p:nvSpPr>
          <p:spPr bwMode="auto">
            <a:xfrm>
              <a:off x="4896" y="2935"/>
              <a:ext cx="1622" cy="13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4" name="Text Box 1057"/>
            <p:cNvSpPr txBox="1">
              <a:spLocks noChangeArrowheads="1"/>
            </p:cNvSpPr>
            <p:nvPr/>
          </p:nvSpPr>
          <p:spPr bwMode="auto">
            <a:xfrm>
              <a:off x="5044" y="3079"/>
              <a:ext cx="1330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BOLETÍN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PROBLEMAS</a:t>
              </a:r>
            </a:p>
          </p:txBody>
        </p:sp>
        <p:sp>
          <p:nvSpPr>
            <p:cNvPr id="25" name="Text Box 1058"/>
            <p:cNvSpPr txBox="1">
              <a:spLocks noChangeArrowheads="1"/>
            </p:cNvSpPr>
            <p:nvPr/>
          </p:nvSpPr>
          <p:spPr bwMode="auto">
            <a:xfrm>
              <a:off x="5498" y="3537"/>
              <a:ext cx="3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3333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</a:t>
              </a:r>
            </a:p>
          </p:txBody>
        </p:sp>
        <p:sp>
          <p:nvSpPr>
            <p:cNvPr id="26" name="Text Box 1062"/>
            <p:cNvSpPr txBox="1">
              <a:spLocks noChangeArrowheads="1"/>
            </p:cNvSpPr>
            <p:nvPr/>
          </p:nvSpPr>
          <p:spPr bwMode="auto">
            <a:xfrm>
              <a:off x="5267" y="395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  <p:grpSp>
        <p:nvGrpSpPr>
          <p:cNvPr id="36" name="Group 23">
            <a:extLst>
              <a:ext uri="{FF2B5EF4-FFF2-40B4-BE49-F238E27FC236}">
                <a16:creationId xmlns:a16="http://schemas.microsoft.com/office/drawing/2014/main" id="{4AD61E43-F9FE-48CA-B01C-6E6831B4CBAE}"/>
              </a:ext>
            </a:extLst>
          </p:cNvPr>
          <p:cNvGrpSpPr>
            <a:grpSpLocks/>
          </p:cNvGrpSpPr>
          <p:nvPr/>
        </p:nvGrpSpPr>
        <p:grpSpPr bwMode="auto">
          <a:xfrm>
            <a:off x="7240895" y="290789"/>
            <a:ext cx="3209925" cy="1746251"/>
            <a:chOff x="4896" y="276"/>
            <a:chExt cx="2022" cy="1100"/>
          </a:xfrm>
        </p:grpSpPr>
        <p:sp>
          <p:nvSpPr>
            <p:cNvPr id="37" name="AutoShape 1067">
              <a:extLst>
                <a:ext uri="{FF2B5EF4-FFF2-40B4-BE49-F238E27FC236}">
                  <a16:creationId xmlns:a16="http://schemas.microsoft.com/office/drawing/2014/main" id="{3EEDE1CA-F3E2-47D8-B8C0-323843F25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100"/>
            </a:xfrm>
            <a:prstGeom prst="foldedCorner">
              <a:avLst>
                <a:gd name="adj" fmla="val 8584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Text Box 1068">
              <a:extLst>
                <a:ext uri="{FF2B5EF4-FFF2-40B4-BE49-F238E27FC236}">
                  <a16:creationId xmlns:a16="http://schemas.microsoft.com/office/drawing/2014/main" id="{40CBBB12-3735-4D23-B34F-FF9F4EB67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392"/>
              <a:ext cx="1786" cy="35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TEMA 7 (Alterna)</a:t>
              </a:r>
              <a:endParaRPr lang="es-ES" sz="2400" b="1" dirty="0">
                <a:latin typeface="Trebuchet MS" panose="020B0603020202020204" pitchFamily="34" charset="0"/>
              </a:endParaRPr>
            </a:p>
          </p:txBody>
        </p:sp>
        <p:sp>
          <p:nvSpPr>
            <p:cNvPr id="40" name="Text Box 1062">
              <a:extLst>
                <a:ext uri="{FF2B5EF4-FFF2-40B4-BE49-F238E27FC236}">
                  <a16:creationId xmlns:a16="http://schemas.microsoft.com/office/drawing/2014/main" id="{FFD5CE9D-D33C-4EB1-A882-31298D7BF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801"/>
              <a:ext cx="2022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Práctica 4 y lo visto en otros temas</a:t>
              </a:r>
              <a:endParaRPr lang="es-ES" sz="2400" dirty="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E77B2732-6CBC-4BDA-983D-490DE5A57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5579" y="2670582"/>
            <a:ext cx="7712075" cy="113945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693863" y="5204802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1693863" y="4099902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1709738" y="2674327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1670050" y="2617177"/>
            <a:ext cx="708025" cy="305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8.3.</a:t>
            </a:r>
          </a:p>
        </p:txBody>
      </p: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2419350" y="2606065"/>
            <a:ext cx="7969250" cy="342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Generadores Ideales y Reales.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Teorema de Máxima Transferencia de Potencia. Fuentes de Tensión e Intensidad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Teoremas de </a:t>
            </a:r>
            <a:r>
              <a:rPr lang="es-ES" sz="2400" b="1" dirty="0" err="1">
                <a:latin typeface="Arial" panose="020B0604020202020204" pitchFamily="34" charset="0"/>
              </a:rPr>
              <a:t>Thevenin</a:t>
            </a:r>
            <a:r>
              <a:rPr lang="es-ES" sz="2400" b="1" dirty="0">
                <a:latin typeface="Arial" panose="020B0604020202020204" pitchFamily="34" charset="0"/>
              </a:rPr>
              <a:t> y Norton.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Asociaciones en Serie y en Paralelo de Generadores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 b="1" dirty="0">
                <a:latin typeface="Arial" panose="020B0604020202020204" pitchFamily="34" charset="0"/>
              </a:rPr>
              <a:t>Resolución de Circuitos: Teorema de Superposición,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Resolución por Mallas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C718E13-DFE6-C5F2-21E9-D8D54480B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893" y="274032"/>
            <a:ext cx="8901112" cy="139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8: GENERADORES. TEOREMAS DE REDES.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                RESOLUCIÓN SISTEMATIZADA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                DE CIRCUITOS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B8F4A9AB-38CF-11C6-44D4-1E94360B5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8311" y="1192257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T1: 11/12/24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T2: 04/12/24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T3: 04/12/24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251" name="Text Box 299"/>
          <p:cNvSpPr txBox="1">
            <a:spLocks noChangeArrowheads="1"/>
          </p:cNvSpPr>
          <p:nvPr/>
        </p:nvSpPr>
        <p:spPr bwMode="auto">
          <a:xfrm>
            <a:off x="4919841" y="2266541"/>
            <a:ext cx="6969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308894" y="357189"/>
            <a:ext cx="87582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8.1.1 GENERADORES IDEALES Y REALES</a:t>
            </a:r>
          </a:p>
        </p:txBody>
      </p:sp>
      <p:grpSp>
        <p:nvGrpSpPr>
          <p:cNvPr id="5" name="Group 154"/>
          <p:cNvGrpSpPr>
            <a:grpSpLocks/>
          </p:cNvGrpSpPr>
          <p:nvPr/>
        </p:nvGrpSpPr>
        <p:grpSpPr bwMode="auto">
          <a:xfrm>
            <a:off x="2164862" y="985838"/>
            <a:ext cx="1382712" cy="2935288"/>
            <a:chOff x="1373" y="882"/>
            <a:chExt cx="871" cy="1849"/>
          </a:xfrm>
        </p:grpSpPr>
        <p:sp>
          <p:nvSpPr>
            <p:cNvPr id="9290" name="Line 155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1" name="Line 156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2" name="Text Box 157"/>
            <p:cNvSpPr txBox="1">
              <a:spLocks noChangeArrowheads="1"/>
            </p:cNvSpPr>
            <p:nvPr/>
          </p:nvSpPr>
          <p:spPr bwMode="auto">
            <a:xfrm>
              <a:off x="1927" y="88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9293" name="Text Box 158"/>
            <p:cNvSpPr txBox="1">
              <a:spLocks noChangeArrowheads="1"/>
            </p:cNvSpPr>
            <p:nvPr/>
          </p:nvSpPr>
          <p:spPr bwMode="auto">
            <a:xfrm>
              <a:off x="1456" y="250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7" name="Group 174"/>
          <p:cNvGrpSpPr>
            <a:grpSpLocks/>
          </p:cNvGrpSpPr>
          <p:nvPr/>
        </p:nvGrpSpPr>
        <p:grpSpPr bwMode="auto">
          <a:xfrm>
            <a:off x="4028587" y="1423988"/>
            <a:ext cx="881062" cy="2159000"/>
            <a:chOff x="2495" y="1157"/>
            <a:chExt cx="555" cy="1360"/>
          </a:xfrm>
        </p:grpSpPr>
        <p:sp>
          <p:nvSpPr>
            <p:cNvPr id="9280" name="Text Box 175"/>
            <p:cNvSpPr txBox="1">
              <a:spLocks noChangeArrowheads="1"/>
            </p:cNvSpPr>
            <p:nvPr/>
          </p:nvSpPr>
          <p:spPr bwMode="auto">
            <a:xfrm>
              <a:off x="2860" y="1712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9281" name="Line 176"/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2" name="Line 177"/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3" name="Line 178"/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4" name="Line 179"/>
            <p:cNvSpPr>
              <a:spLocks noChangeShapeType="1"/>
            </p:cNvSpPr>
            <p:nvPr/>
          </p:nvSpPr>
          <p:spPr bwMode="auto">
            <a:xfrm>
              <a:off x="2949" y="1973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220"/>
          <p:cNvGrpSpPr>
            <a:grpSpLocks/>
          </p:cNvGrpSpPr>
          <p:nvPr/>
        </p:nvGrpSpPr>
        <p:grpSpPr bwMode="auto">
          <a:xfrm>
            <a:off x="1264749" y="1397000"/>
            <a:ext cx="3292475" cy="2212975"/>
            <a:chOff x="1326" y="1556"/>
            <a:chExt cx="2074" cy="1394"/>
          </a:xfrm>
        </p:grpSpPr>
        <p:sp>
          <p:nvSpPr>
            <p:cNvPr id="9263" name="Line 76"/>
            <p:cNvSpPr>
              <a:spLocks noChangeShapeType="1"/>
            </p:cNvSpPr>
            <p:nvPr/>
          </p:nvSpPr>
          <p:spPr bwMode="auto">
            <a:xfrm rot="5400000" flipV="1">
              <a:off x="2712" y="1249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4" name="Line 77"/>
            <p:cNvSpPr>
              <a:spLocks noChangeShapeType="1"/>
            </p:cNvSpPr>
            <p:nvPr/>
          </p:nvSpPr>
          <p:spPr bwMode="auto">
            <a:xfrm rot="5400000" flipV="1">
              <a:off x="2717" y="2584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5" name="Line 78"/>
            <p:cNvSpPr>
              <a:spLocks noChangeShapeType="1"/>
            </p:cNvSpPr>
            <p:nvPr/>
          </p:nvSpPr>
          <p:spPr bwMode="auto">
            <a:xfrm flipV="1">
              <a:off x="3056" y="2424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6" name="Line 79"/>
            <p:cNvSpPr>
              <a:spLocks noChangeShapeType="1"/>
            </p:cNvSpPr>
            <p:nvPr/>
          </p:nvSpPr>
          <p:spPr bwMode="auto">
            <a:xfrm flipV="1">
              <a:off x="3050" y="1606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7" name="Freeform 80"/>
            <p:cNvSpPr>
              <a:spLocks/>
            </p:cNvSpPr>
            <p:nvPr/>
          </p:nvSpPr>
          <p:spPr bwMode="auto">
            <a:xfrm>
              <a:off x="2939" y="2114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8" name="Text Box 81"/>
            <p:cNvSpPr txBox="1">
              <a:spLocks noChangeArrowheads="1"/>
            </p:cNvSpPr>
            <p:nvPr/>
          </p:nvSpPr>
          <p:spPr bwMode="auto">
            <a:xfrm>
              <a:off x="3214" y="2136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9269" name="Group 213"/>
            <p:cNvGrpSpPr>
              <a:grpSpLocks/>
            </p:cNvGrpSpPr>
            <p:nvPr/>
          </p:nvGrpSpPr>
          <p:grpSpPr bwMode="auto">
            <a:xfrm>
              <a:off x="1326" y="1556"/>
              <a:ext cx="1044" cy="1394"/>
              <a:chOff x="4091" y="1334"/>
              <a:chExt cx="1044" cy="1394"/>
            </a:xfrm>
          </p:grpSpPr>
          <p:sp>
            <p:nvSpPr>
              <p:cNvPr id="9270" name="Line 200"/>
              <p:cNvSpPr>
                <a:spLocks noChangeShapeType="1"/>
              </p:cNvSpPr>
              <p:nvPr/>
            </p:nvSpPr>
            <p:spPr bwMode="auto">
              <a:xfrm rot="5400000" flipV="1">
                <a:off x="4757" y="2363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1" name="Line 201"/>
              <p:cNvSpPr>
                <a:spLocks noChangeShapeType="1"/>
              </p:cNvSpPr>
              <p:nvPr/>
            </p:nvSpPr>
            <p:spPr bwMode="auto">
              <a:xfrm rot="5400000" flipV="1">
                <a:off x="4757" y="1021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9272" name="Group 202"/>
              <p:cNvGrpSpPr>
                <a:grpSpLocks/>
              </p:cNvGrpSpPr>
              <p:nvPr/>
            </p:nvGrpSpPr>
            <p:grpSpPr bwMode="auto">
              <a:xfrm>
                <a:off x="4293" y="2326"/>
                <a:ext cx="278" cy="48"/>
                <a:chOff x="1619" y="2634"/>
                <a:chExt cx="340" cy="54"/>
              </a:xfrm>
            </p:grpSpPr>
            <p:sp>
              <p:nvSpPr>
                <p:cNvPr id="9278" name="Line 203"/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279" name="Line 204"/>
                <p:cNvSpPr>
                  <a:spLocks noChangeShapeType="1"/>
                </p:cNvSpPr>
                <p:nvPr/>
              </p:nvSpPr>
              <p:spPr bwMode="auto">
                <a:xfrm>
                  <a:off x="1690" y="2688"/>
                  <a:ext cx="2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9273" name="Text Box 205"/>
              <p:cNvSpPr txBox="1">
                <a:spLocks noChangeArrowheads="1"/>
              </p:cNvSpPr>
              <p:nvPr/>
            </p:nvSpPr>
            <p:spPr bwMode="auto">
              <a:xfrm>
                <a:off x="4091" y="2173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274" name="Line 206"/>
              <p:cNvSpPr>
                <a:spLocks noChangeShapeType="1"/>
              </p:cNvSpPr>
              <p:nvPr/>
            </p:nvSpPr>
            <p:spPr bwMode="auto">
              <a:xfrm flipH="1" flipV="1">
                <a:off x="4420" y="1355"/>
                <a:ext cx="0" cy="95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5" name="Line 207"/>
              <p:cNvSpPr>
                <a:spLocks noChangeShapeType="1"/>
              </p:cNvSpPr>
              <p:nvPr/>
            </p:nvSpPr>
            <p:spPr bwMode="auto">
              <a:xfrm>
                <a:off x="4427" y="2395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6" name="Oval 211"/>
              <p:cNvSpPr>
                <a:spLocks noChangeArrowheads="1"/>
              </p:cNvSpPr>
              <p:nvPr/>
            </p:nvSpPr>
            <p:spPr bwMode="auto">
              <a:xfrm>
                <a:off x="5078" y="1334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77" name="Oval 212"/>
              <p:cNvSpPr>
                <a:spLocks noChangeArrowheads="1"/>
              </p:cNvSpPr>
              <p:nvPr/>
            </p:nvSpPr>
            <p:spPr bwMode="auto">
              <a:xfrm>
                <a:off x="5079" y="2667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66166" name="Text Box 214"/>
          <p:cNvSpPr txBox="1">
            <a:spLocks noChangeArrowheads="1"/>
          </p:cNvSpPr>
          <p:nvPr/>
        </p:nvSpPr>
        <p:spPr bwMode="auto">
          <a:xfrm>
            <a:off x="5764019" y="1547025"/>
            <a:ext cx="4546734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Circuito más simple en continua</a:t>
            </a:r>
          </a:p>
        </p:txBody>
      </p:sp>
      <p:sp>
        <p:nvSpPr>
          <p:cNvPr id="766167" name="Text Box 215"/>
          <p:cNvSpPr txBox="1">
            <a:spLocks noChangeArrowheads="1"/>
          </p:cNvSpPr>
          <p:nvPr/>
        </p:nvSpPr>
        <p:spPr bwMode="auto">
          <a:xfrm>
            <a:off x="5770514" y="2989488"/>
            <a:ext cx="454023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Generador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ideal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+ Resistencia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302"/>
          <p:cNvGrpSpPr>
            <a:grpSpLocks/>
          </p:cNvGrpSpPr>
          <p:nvPr/>
        </p:nvGrpSpPr>
        <p:grpSpPr bwMode="auto">
          <a:xfrm>
            <a:off x="2886075" y="1181100"/>
            <a:ext cx="368300" cy="3092450"/>
            <a:chOff x="2070" y="877"/>
            <a:chExt cx="232" cy="1948"/>
          </a:xfrm>
        </p:grpSpPr>
        <p:sp>
          <p:nvSpPr>
            <p:cNvPr id="9261" name="Text Box 249"/>
            <p:cNvSpPr txBox="1">
              <a:spLocks noChangeArrowheads="1"/>
            </p:cNvSpPr>
            <p:nvPr/>
          </p:nvSpPr>
          <p:spPr bwMode="auto">
            <a:xfrm>
              <a:off x="2070" y="877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62" name="Text Box 250"/>
            <p:cNvSpPr txBox="1">
              <a:spLocks noChangeArrowheads="1"/>
            </p:cNvSpPr>
            <p:nvPr/>
          </p:nvSpPr>
          <p:spPr bwMode="auto">
            <a:xfrm>
              <a:off x="2081" y="2529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9">
            <a:extLst>
              <a:ext uri="{FF2B5EF4-FFF2-40B4-BE49-F238E27FC236}">
                <a16:creationId xmlns:a16="http://schemas.microsoft.com/office/drawing/2014/main" id="{95A85A10-6740-439F-8452-19A6E6DAF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071" y="2217314"/>
            <a:ext cx="6969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800" dirty="0">
                <a:solidFill>
                  <a:srgbClr val="FF33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9" name="Group 174">
            <a:extLst>
              <a:ext uri="{FF2B5EF4-FFF2-40B4-BE49-F238E27FC236}">
                <a16:creationId xmlns:a16="http://schemas.microsoft.com/office/drawing/2014/main" id="{69E58E43-BB69-4F01-9BB4-2A3523C55CE2}"/>
              </a:ext>
            </a:extLst>
          </p:cNvPr>
          <p:cNvGrpSpPr>
            <a:grpSpLocks/>
          </p:cNvGrpSpPr>
          <p:nvPr/>
        </p:nvGrpSpPr>
        <p:grpSpPr bwMode="auto">
          <a:xfrm>
            <a:off x="2733493" y="1543513"/>
            <a:ext cx="301625" cy="1942521"/>
            <a:chOff x="2860" y="1168"/>
            <a:chExt cx="190" cy="1346"/>
          </a:xfrm>
        </p:grpSpPr>
        <p:sp>
          <p:nvSpPr>
            <p:cNvPr id="40" name="Text Box 175">
              <a:extLst>
                <a:ext uri="{FF2B5EF4-FFF2-40B4-BE49-F238E27FC236}">
                  <a16:creationId xmlns:a16="http://schemas.microsoft.com/office/drawing/2014/main" id="{FCAAA0C8-71A2-4DD9-8AC0-D35F38FC5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1691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41" name="Line 178">
              <a:extLst>
                <a:ext uri="{FF2B5EF4-FFF2-40B4-BE49-F238E27FC236}">
                  <a16:creationId xmlns:a16="http://schemas.microsoft.com/office/drawing/2014/main" id="{CE7281C0-CAFD-4D1F-B785-DDE4592B9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68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2" name="Line 179">
              <a:extLst>
                <a:ext uri="{FF2B5EF4-FFF2-40B4-BE49-F238E27FC236}">
                  <a16:creationId xmlns:a16="http://schemas.microsoft.com/office/drawing/2014/main" id="{F7A990B2-D308-43E3-A5A7-EDBE4ADE2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019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43" name="Text Box 262">
            <a:extLst>
              <a:ext uri="{FF2B5EF4-FFF2-40B4-BE49-F238E27FC236}">
                <a16:creationId xmlns:a16="http://schemas.microsoft.com/office/drawing/2014/main" id="{4140D040-9680-4C02-904E-4D96AC7D8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1218" y="3530540"/>
            <a:ext cx="2207387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(en alterna: Impedancia)</a:t>
            </a:r>
          </a:p>
        </p:txBody>
      </p:sp>
      <p:sp>
        <p:nvSpPr>
          <p:cNvPr id="2" name="AutoShape 129">
            <a:extLst>
              <a:ext uri="{FF2B5EF4-FFF2-40B4-BE49-F238E27FC236}">
                <a16:creationId xmlns:a16="http://schemas.microsoft.com/office/drawing/2014/main" id="{C0348E89-6C50-3AC0-C2BD-EA57FD2ED14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7635" y="2258826"/>
            <a:ext cx="379500" cy="652749"/>
          </a:xfrm>
          <a:prstGeom prst="rightArrow">
            <a:avLst>
              <a:gd name="adj1" fmla="val 56398"/>
              <a:gd name="adj2" fmla="val 6484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6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6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251" grpId="0"/>
      <p:bldP spid="766166" grpId="0" animBg="1"/>
      <p:bldP spid="766167" grpId="0" animBg="1"/>
      <p:bldP spid="38" grpId="0"/>
      <p:bldP spid="43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4"/>
          <p:cNvGrpSpPr>
            <a:grpSpLocks/>
          </p:cNvGrpSpPr>
          <p:nvPr/>
        </p:nvGrpSpPr>
        <p:grpSpPr bwMode="auto">
          <a:xfrm>
            <a:off x="2164862" y="985838"/>
            <a:ext cx="1382712" cy="2935288"/>
            <a:chOff x="1373" y="882"/>
            <a:chExt cx="871" cy="1849"/>
          </a:xfrm>
        </p:grpSpPr>
        <p:sp>
          <p:nvSpPr>
            <p:cNvPr id="9290" name="Line 155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1" name="Line 156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2" name="Text Box 157"/>
            <p:cNvSpPr txBox="1">
              <a:spLocks noChangeArrowheads="1"/>
            </p:cNvSpPr>
            <p:nvPr/>
          </p:nvSpPr>
          <p:spPr bwMode="auto">
            <a:xfrm>
              <a:off x="1927" y="88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9293" name="Text Box 158"/>
            <p:cNvSpPr txBox="1">
              <a:spLocks noChangeArrowheads="1"/>
            </p:cNvSpPr>
            <p:nvPr/>
          </p:nvSpPr>
          <p:spPr bwMode="auto">
            <a:xfrm>
              <a:off x="1456" y="250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7" name="Group 174"/>
          <p:cNvGrpSpPr>
            <a:grpSpLocks/>
          </p:cNvGrpSpPr>
          <p:nvPr/>
        </p:nvGrpSpPr>
        <p:grpSpPr bwMode="auto">
          <a:xfrm>
            <a:off x="4028587" y="1423988"/>
            <a:ext cx="881062" cy="2159000"/>
            <a:chOff x="2495" y="1157"/>
            <a:chExt cx="555" cy="1360"/>
          </a:xfrm>
        </p:grpSpPr>
        <p:sp>
          <p:nvSpPr>
            <p:cNvPr id="9280" name="Text Box 175"/>
            <p:cNvSpPr txBox="1">
              <a:spLocks noChangeArrowheads="1"/>
            </p:cNvSpPr>
            <p:nvPr/>
          </p:nvSpPr>
          <p:spPr bwMode="auto">
            <a:xfrm>
              <a:off x="2860" y="1712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9281" name="Line 176"/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2" name="Line 177"/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3" name="Line 178"/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4" name="Line 179"/>
            <p:cNvSpPr>
              <a:spLocks noChangeShapeType="1"/>
            </p:cNvSpPr>
            <p:nvPr/>
          </p:nvSpPr>
          <p:spPr bwMode="auto">
            <a:xfrm>
              <a:off x="2949" y="1973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220"/>
          <p:cNvGrpSpPr>
            <a:grpSpLocks/>
          </p:cNvGrpSpPr>
          <p:nvPr/>
        </p:nvGrpSpPr>
        <p:grpSpPr bwMode="auto">
          <a:xfrm>
            <a:off x="1264749" y="1397000"/>
            <a:ext cx="3292475" cy="2212975"/>
            <a:chOff x="1326" y="1556"/>
            <a:chExt cx="2074" cy="1394"/>
          </a:xfrm>
        </p:grpSpPr>
        <p:sp>
          <p:nvSpPr>
            <p:cNvPr id="9263" name="Line 76"/>
            <p:cNvSpPr>
              <a:spLocks noChangeShapeType="1"/>
            </p:cNvSpPr>
            <p:nvPr/>
          </p:nvSpPr>
          <p:spPr bwMode="auto">
            <a:xfrm rot="5400000" flipV="1">
              <a:off x="2712" y="1249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4" name="Line 77"/>
            <p:cNvSpPr>
              <a:spLocks noChangeShapeType="1"/>
            </p:cNvSpPr>
            <p:nvPr/>
          </p:nvSpPr>
          <p:spPr bwMode="auto">
            <a:xfrm rot="5400000" flipV="1">
              <a:off x="2717" y="2584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5" name="Line 78"/>
            <p:cNvSpPr>
              <a:spLocks noChangeShapeType="1"/>
            </p:cNvSpPr>
            <p:nvPr/>
          </p:nvSpPr>
          <p:spPr bwMode="auto">
            <a:xfrm flipV="1">
              <a:off x="3056" y="2424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6" name="Line 79"/>
            <p:cNvSpPr>
              <a:spLocks noChangeShapeType="1"/>
            </p:cNvSpPr>
            <p:nvPr/>
          </p:nvSpPr>
          <p:spPr bwMode="auto">
            <a:xfrm flipV="1">
              <a:off x="3050" y="1606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7" name="Freeform 80"/>
            <p:cNvSpPr>
              <a:spLocks/>
            </p:cNvSpPr>
            <p:nvPr/>
          </p:nvSpPr>
          <p:spPr bwMode="auto">
            <a:xfrm>
              <a:off x="2939" y="2114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8" name="Text Box 81"/>
            <p:cNvSpPr txBox="1">
              <a:spLocks noChangeArrowheads="1"/>
            </p:cNvSpPr>
            <p:nvPr/>
          </p:nvSpPr>
          <p:spPr bwMode="auto">
            <a:xfrm>
              <a:off x="3214" y="2136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9269" name="Group 213"/>
            <p:cNvGrpSpPr>
              <a:grpSpLocks/>
            </p:cNvGrpSpPr>
            <p:nvPr/>
          </p:nvGrpSpPr>
          <p:grpSpPr bwMode="auto">
            <a:xfrm>
              <a:off x="1326" y="1556"/>
              <a:ext cx="1044" cy="1394"/>
              <a:chOff x="4091" y="1334"/>
              <a:chExt cx="1044" cy="1394"/>
            </a:xfrm>
          </p:grpSpPr>
          <p:sp>
            <p:nvSpPr>
              <p:cNvPr id="9270" name="Line 200"/>
              <p:cNvSpPr>
                <a:spLocks noChangeShapeType="1"/>
              </p:cNvSpPr>
              <p:nvPr/>
            </p:nvSpPr>
            <p:spPr bwMode="auto">
              <a:xfrm rot="5400000" flipV="1">
                <a:off x="4757" y="2363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1" name="Line 201"/>
              <p:cNvSpPr>
                <a:spLocks noChangeShapeType="1"/>
              </p:cNvSpPr>
              <p:nvPr/>
            </p:nvSpPr>
            <p:spPr bwMode="auto">
              <a:xfrm rot="5400000" flipV="1">
                <a:off x="4757" y="1021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9272" name="Group 202"/>
              <p:cNvGrpSpPr>
                <a:grpSpLocks/>
              </p:cNvGrpSpPr>
              <p:nvPr/>
            </p:nvGrpSpPr>
            <p:grpSpPr bwMode="auto">
              <a:xfrm>
                <a:off x="4293" y="2326"/>
                <a:ext cx="278" cy="48"/>
                <a:chOff x="1619" y="2634"/>
                <a:chExt cx="340" cy="54"/>
              </a:xfrm>
            </p:grpSpPr>
            <p:sp>
              <p:nvSpPr>
                <p:cNvPr id="9278" name="Line 203"/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279" name="Line 204"/>
                <p:cNvSpPr>
                  <a:spLocks noChangeShapeType="1"/>
                </p:cNvSpPr>
                <p:nvPr/>
              </p:nvSpPr>
              <p:spPr bwMode="auto">
                <a:xfrm>
                  <a:off x="1690" y="2688"/>
                  <a:ext cx="2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9273" name="Text Box 205"/>
              <p:cNvSpPr txBox="1">
                <a:spLocks noChangeArrowheads="1"/>
              </p:cNvSpPr>
              <p:nvPr/>
            </p:nvSpPr>
            <p:spPr bwMode="auto">
              <a:xfrm>
                <a:off x="4091" y="2173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274" name="Line 206"/>
              <p:cNvSpPr>
                <a:spLocks noChangeShapeType="1"/>
              </p:cNvSpPr>
              <p:nvPr/>
            </p:nvSpPr>
            <p:spPr bwMode="auto">
              <a:xfrm flipH="1" flipV="1">
                <a:off x="4420" y="1355"/>
                <a:ext cx="0" cy="95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5" name="Line 207"/>
              <p:cNvSpPr>
                <a:spLocks noChangeShapeType="1"/>
              </p:cNvSpPr>
              <p:nvPr/>
            </p:nvSpPr>
            <p:spPr bwMode="auto">
              <a:xfrm>
                <a:off x="4427" y="2395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6" name="Oval 211"/>
              <p:cNvSpPr>
                <a:spLocks noChangeArrowheads="1"/>
              </p:cNvSpPr>
              <p:nvPr/>
            </p:nvSpPr>
            <p:spPr bwMode="auto">
              <a:xfrm>
                <a:off x="5078" y="1334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77" name="Oval 212"/>
              <p:cNvSpPr>
                <a:spLocks noChangeArrowheads="1"/>
              </p:cNvSpPr>
              <p:nvPr/>
            </p:nvSpPr>
            <p:spPr bwMode="auto">
              <a:xfrm>
                <a:off x="5079" y="2667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302"/>
          <p:cNvGrpSpPr>
            <a:grpSpLocks/>
          </p:cNvGrpSpPr>
          <p:nvPr/>
        </p:nvGrpSpPr>
        <p:grpSpPr bwMode="auto">
          <a:xfrm>
            <a:off x="2886075" y="1181100"/>
            <a:ext cx="368300" cy="3092450"/>
            <a:chOff x="2070" y="877"/>
            <a:chExt cx="232" cy="1948"/>
          </a:xfrm>
        </p:grpSpPr>
        <p:sp>
          <p:nvSpPr>
            <p:cNvPr id="9261" name="Text Box 249"/>
            <p:cNvSpPr txBox="1">
              <a:spLocks noChangeArrowheads="1"/>
            </p:cNvSpPr>
            <p:nvPr/>
          </p:nvSpPr>
          <p:spPr bwMode="auto">
            <a:xfrm>
              <a:off x="2070" y="877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62" name="Text Box 250"/>
            <p:cNvSpPr txBox="1">
              <a:spLocks noChangeArrowheads="1"/>
            </p:cNvSpPr>
            <p:nvPr/>
          </p:nvSpPr>
          <p:spPr bwMode="auto">
            <a:xfrm>
              <a:off x="2081" y="2529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252"/>
          <p:cNvGrpSpPr>
            <a:grpSpLocks/>
          </p:cNvGrpSpPr>
          <p:nvPr/>
        </p:nvGrpSpPr>
        <p:grpSpPr bwMode="auto">
          <a:xfrm>
            <a:off x="1226649" y="1962150"/>
            <a:ext cx="787400" cy="520700"/>
            <a:chOff x="751" y="3361"/>
            <a:chExt cx="496" cy="328"/>
          </a:xfrm>
        </p:grpSpPr>
        <p:sp>
          <p:nvSpPr>
            <p:cNvPr id="9258" name="Rectangle 251"/>
            <p:cNvSpPr>
              <a:spLocks noChangeArrowheads="1"/>
            </p:cNvSpPr>
            <p:nvPr/>
          </p:nvSpPr>
          <p:spPr bwMode="auto">
            <a:xfrm>
              <a:off x="941" y="3361"/>
              <a:ext cx="306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59" name="Freeform 150"/>
            <p:cNvSpPr>
              <a:spLocks/>
            </p:cNvSpPr>
            <p:nvPr/>
          </p:nvSpPr>
          <p:spPr bwMode="auto">
            <a:xfrm>
              <a:off x="987" y="3378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0" name="Text Box 151"/>
            <p:cNvSpPr txBox="1">
              <a:spLocks noChangeArrowheads="1"/>
            </p:cNvSpPr>
            <p:nvPr/>
          </p:nvSpPr>
          <p:spPr bwMode="auto">
            <a:xfrm>
              <a:off x="751" y="3367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sp>
        <p:nvSpPr>
          <p:cNvPr id="766214" name="Text Box 262"/>
          <p:cNvSpPr txBox="1">
            <a:spLocks noChangeArrowheads="1"/>
          </p:cNvSpPr>
          <p:nvPr/>
        </p:nvSpPr>
        <p:spPr bwMode="auto">
          <a:xfrm>
            <a:off x="5924941" y="409638"/>
            <a:ext cx="4214828" cy="90588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 generador siempre posee una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resistencia interna</a:t>
            </a:r>
          </a:p>
        </p:txBody>
      </p:sp>
      <p:sp>
        <p:nvSpPr>
          <p:cNvPr id="9251" name="Text Box 67"/>
          <p:cNvSpPr txBox="1">
            <a:spLocks noChangeArrowheads="1"/>
          </p:cNvSpPr>
          <p:nvPr/>
        </p:nvSpPr>
        <p:spPr bwMode="auto">
          <a:xfrm>
            <a:off x="5764019" y="4500505"/>
            <a:ext cx="249637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Circuito  abierto</a:t>
            </a:r>
            <a:r>
              <a:rPr lang="es-ES" sz="2400" dirty="0">
                <a:solidFill>
                  <a:schemeClr val="tx1"/>
                </a:solidFill>
              </a:rPr>
              <a:t>: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9252" name="Text Box 68"/>
          <p:cNvSpPr txBox="1">
            <a:spLocks noChangeArrowheads="1"/>
          </p:cNvSpPr>
          <p:nvPr/>
        </p:nvSpPr>
        <p:spPr bwMode="auto">
          <a:xfrm>
            <a:off x="5764019" y="3858291"/>
            <a:ext cx="248959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Circuito cerrado:</a:t>
            </a:r>
            <a:r>
              <a:rPr lang="es-ES" sz="2400" dirty="0">
                <a:solidFill>
                  <a:srgbClr val="3333FF"/>
                </a:solidFill>
              </a:rPr>
              <a:t>  </a:t>
            </a:r>
            <a:endParaRPr lang="es-E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67653" name="Text Box 69"/>
          <p:cNvSpPr txBox="1">
            <a:spLocks noChangeArrowheads="1"/>
          </p:cNvSpPr>
          <p:nvPr/>
        </p:nvSpPr>
        <p:spPr bwMode="auto">
          <a:xfrm>
            <a:off x="8262521" y="3817694"/>
            <a:ext cx="1698199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V</a:t>
            </a: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=</a:t>
            </a:r>
            <a:r>
              <a:rPr lang="es-ES" sz="2400" dirty="0"/>
              <a:t> </a:t>
            </a:r>
            <a:r>
              <a:rPr lang="es-ES" sz="2800"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-  </a:t>
            </a:r>
            <a:r>
              <a:rPr lang="es-ES" sz="2400" dirty="0" err="1">
                <a:solidFill>
                  <a:srgbClr val="008000"/>
                </a:solidFill>
                <a:sym typeface="Symbol" panose="05050102010706020507" pitchFamily="18" charset="2"/>
              </a:rPr>
              <a:t>r</a:t>
            </a:r>
            <a:r>
              <a:rPr lang="es-ES" sz="2400" dirty="0" err="1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1" name="Text Box 262"/>
          <p:cNvSpPr txBox="1">
            <a:spLocks noChangeArrowheads="1"/>
          </p:cNvSpPr>
          <p:nvPr/>
        </p:nvSpPr>
        <p:spPr bwMode="auto">
          <a:xfrm>
            <a:off x="1592669" y="5606950"/>
            <a:ext cx="8346647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nota la existencia de r, p.ej., midiendo con un voltímetro la caída de </a:t>
            </a:r>
            <a:r>
              <a:rPr lang="es-ES" sz="2400">
                <a:latin typeface="Arial" panose="020B0604020202020204" pitchFamily="34" charset="0"/>
              </a:rPr>
              <a:t>potencial V en </a:t>
            </a:r>
            <a:r>
              <a:rPr lang="es-ES" sz="2400" dirty="0">
                <a:latin typeface="Arial" panose="020B0604020202020204" pitchFamily="34" charset="0"/>
              </a:rPr>
              <a:t>los bornes de la </a:t>
            </a:r>
            <a:r>
              <a:rPr lang="es-ES" sz="2400">
                <a:latin typeface="Arial" panose="020B0604020202020204" pitchFamily="34" charset="0"/>
              </a:rPr>
              <a:t>batería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un coche: Al </a:t>
            </a:r>
            <a:r>
              <a:rPr lang="es-ES" sz="2400" dirty="0">
                <a:latin typeface="Arial" panose="020B0604020202020204" pitchFamily="34" charset="0"/>
              </a:rPr>
              <a:t>arrancar (cerrar el </a:t>
            </a:r>
            <a:r>
              <a:rPr lang="es-ES" sz="2400">
                <a:latin typeface="Arial" panose="020B0604020202020204" pitchFamily="34" charset="0"/>
              </a:rPr>
              <a:t>circuito), </a:t>
            </a:r>
            <a:r>
              <a:rPr lang="es-ES" sz="2400" dirty="0">
                <a:latin typeface="Arial" panose="020B0604020202020204" pitchFamily="34" charset="0"/>
              </a:rPr>
              <a:t>V decrece</a:t>
            </a:r>
          </a:p>
        </p:txBody>
      </p:sp>
      <p:sp>
        <p:nvSpPr>
          <p:cNvPr id="766035" name="Text Box 83"/>
          <p:cNvSpPr txBox="1">
            <a:spLocks noChangeArrowheads="1"/>
          </p:cNvSpPr>
          <p:nvPr/>
        </p:nvSpPr>
        <p:spPr bwMode="auto">
          <a:xfrm>
            <a:off x="1811230" y="4080797"/>
            <a:ext cx="3402172" cy="44970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 : Resistencia interna</a:t>
            </a:r>
          </a:p>
        </p:txBody>
      </p:sp>
      <p:sp>
        <p:nvSpPr>
          <p:cNvPr id="82" name="Text Box 67"/>
          <p:cNvSpPr txBox="1">
            <a:spLocks noChangeArrowheads="1"/>
          </p:cNvSpPr>
          <p:nvPr/>
        </p:nvSpPr>
        <p:spPr bwMode="auto">
          <a:xfrm>
            <a:off x="9120596" y="4441687"/>
            <a:ext cx="1281418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/>
              <a:t>V</a:t>
            </a: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=</a:t>
            </a: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800" dirty="0">
                <a:sym typeface="Symbol" panose="05050102010706020507" pitchFamily="18" charset="2"/>
              </a:rPr>
              <a:t>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cxnSp>
        <p:nvCxnSpPr>
          <p:cNvPr id="15" name="Conector recto 14"/>
          <p:cNvCxnSpPr/>
          <p:nvPr/>
        </p:nvCxnSpPr>
        <p:spPr bwMode="auto">
          <a:xfrm>
            <a:off x="5693561" y="2401686"/>
            <a:ext cx="116627" cy="24685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51" name="Text Box 299">
            <a:extLst>
              <a:ext uri="{FF2B5EF4-FFF2-40B4-BE49-F238E27FC236}">
                <a16:creationId xmlns:a16="http://schemas.microsoft.com/office/drawing/2014/main" id="{F2E0B733-5EA8-434F-ACE3-D81EA7DC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841" y="2266541"/>
            <a:ext cx="6969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53" name="Text Box 299">
            <a:extLst>
              <a:ext uri="{FF2B5EF4-FFF2-40B4-BE49-F238E27FC236}">
                <a16:creationId xmlns:a16="http://schemas.microsoft.com/office/drawing/2014/main" id="{AF61DB60-2894-4685-B8F9-D6A531399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071" y="2217314"/>
            <a:ext cx="6969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800" dirty="0">
                <a:solidFill>
                  <a:srgbClr val="FF33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54" name="Text Box 67">
            <a:extLst>
              <a:ext uri="{FF2B5EF4-FFF2-40B4-BE49-F238E27FC236}">
                <a16:creationId xmlns:a16="http://schemas.microsoft.com/office/drawing/2014/main" id="{23EDEC5D-6E09-4B72-AE0A-CF76217E0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2185" y="4522117"/>
            <a:ext cx="87746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= 0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5" name="Text Box 69">
            <a:extLst>
              <a:ext uri="{FF2B5EF4-FFF2-40B4-BE49-F238E27FC236}">
                <a16:creationId xmlns:a16="http://schemas.microsoft.com/office/drawing/2014/main" id="{B5869E18-ECC5-4836-AE8B-0997B04AF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5630" y="3817694"/>
            <a:ext cx="547242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&lt;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800" dirty="0">
                <a:sym typeface="Symbol" panose="05050102010706020507" pitchFamily="18" charset="2"/>
              </a:rPr>
              <a:t>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56" name="Text Box 262">
            <a:extLst>
              <a:ext uri="{FF2B5EF4-FFF2-40B4-BE49-F238E27FC236}">
                <a16:creationId xmlns:a16="http://schemas.microsoft.com/office/drawing/2014/main" id="{3FCF59A5-461F-48A4-9E77-12245D0FE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558" y="5042595"/>
            <a:ext cx="269171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sin R, con R =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57" name="Group 174">
            <a:extLst>
              <a:ext uri="{FF2B5EF4-FFF2-40B4-BE49-F238E27FC236}">
                <a16:creationId xmlns:a16="http://schemas.microsoft.com/office/drawing/2014/main" id="{D6A9A96C-42E3-4B25-BBEF-1C9A7C2403E1}"/>
              </a:ext>
            </a:extLst>
          </p:cNvPr>
          <p:cNvGrpSpPr>
            <a:grpSpLocks/>
          </p:cNvGrpSpPr>
          <p:nvPr/>
        </p:nvGrpSpPr>
        <p:grpSpPr bwMode="auto">
          <a:xfrm>
            <a:off x="2733493" y="1543513"/>
            <a:ext cx="301625" cy="1942521"/>
            <a:chOff x="2860" y="1168"/>
            <a:chExt cx="190" cy="1346"/>
          </a:xfrm>
        </p:grpSpPr>
        <p:sp>
          <p:nvSpPr>
            <p:cNvPr id="58" name="Text Box 175">
              <a:extLst>
                <a:ext uri="{FF2B5EF4-FFF2-40B4-BE49-F238E27FC236}">
                  <a16:creationId xmlns:a16="http://schemas.microsoft.com/office/drawing/2014/main" id="{2B35362F-903B-457B-9F4C-8FBB8F351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1691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61" name="Line 178">
              <a:extLst>
                <a:ext uri="{FF2B5EF4-FFF2-40B4-BE49-F238E27FC236}">
                  <a16:creationId xmlns:a16="http://schemas.microsoft.com/office/drawing/2014/main" id="{7FBBD57C-7916-4053-815B-7D9610FE28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68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62" name="Line 179">
              <a:extLst>
                <a:ext uri="{FF2B5EF4-FFF2-40B4-BE49-F238E27FC236}">
                  <a16:creationId xmlns:a16="http://schemas.microsoft.com/office/drawing/2014/main" id="{70F8A16B-656C-46DB-84D2-C6B71CD19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019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2" name="Text Box 214">
            <a:extLst>
              <a:ext uri="{FF2B5EF4-FFF2-40B4-BE49-F238E27FC236}">
                <a16:creationId xmlns:a16="http://schemas.microsoft.com/office/drawing/2014/main" id="{C7BD6703-DA91-329B-E275-8A27CCB60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019" y="1547025"/>
            <a:ext cx="4546734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Circuito más simple en continua</a:t>
            </a:r>
          </a:p>
        </p:txBody>
      </p:sp>
      <p:sp>
        <p:nvSpPr>
          <p:cNvPr id="3" name="Text Box 215">
            <a:extLst>
              <a:ext uri="{FF2B5EF4-FFF2-40B4-BE49-F238E27FC236}">
                <a16:creationId xmlns:a16="http://schemas.microsoft.com/office/drawing/2014/main" id="{BFEFF4C9-4EB6-E802-9971-0350CFF7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514" y="2989488"/>
            <a:ext cx="454023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Generador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real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+ Resistencia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AutoShape 129">
            <a:extLst>
              <a:ext uri="{FF2B5EF4-FFF2-40B4-BE49-F238E27FC236}">
                <a16:creationId xmlns:a16="http://schemas.microsoft.com/office/drawing/2014/main" id="{0AE2C696-E41A-7213-1275-B7989E62FE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7635" y="2258826"/>
            <a:ext cx="379500" cy="652749"/>
          </a:xfrm>
          <a:prstGeom prst="rightArrow">
            <a:avLst>
              <a:gd name="adj1" fmla="val 56398"/>
              <a:gd name="adj2" fmla="val 6484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69">
            <a:extLst>
              <a:ext uri="{FF2B5EF4-FFF2-40B4-BE49-F238E27FC236}">
                <a16:creationId xmlns:a16="http://schemas.microsoft.com/office/drawing/2014/main" id="{3656C596-F287-89CD-31EC-C2A497176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602" y="4606651"/>
            <a:ext cx="1988343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3333FF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= (</a:t>
            </a:r>
            <a:r>
              <a:rPr lang="es-ES" sz="2800"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- </a:t>
            </a:r>
            <a:r>
              <a:rPr lang="es-ES" sz="2400"/>
              <a:t>V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) /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24996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6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6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6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214" grpId="0" animBg="1"/>
      <p:bldP spid="9251" grpId="0" animBg="1"/>
      <p:bldP spid="9252" grpId="0" animBg="1"/>
      <p:bldP spid="67653" grpId="0"/>
      <p:bldP spid="11" grpId="0" animBg="1"/>
      <p:bldP spid="766035" grpId="0" animBg="1"/>
      <p:bldP spid="82" grpId="0"/>
      <p:bldP spid="54" grpId="0"/>
      <p:bldP spid="55" grpId="0"/>
      <p:bldP spid="56" grpId="0"/>
      <p:bldP spid="2" grpId="0" animBg="1"/>
      <p:bldP spid="3" grpId="0" animBg="1"/>
      <p:bldP spid="4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ángulo 70">
            <a:extLst>
              <a:ext uri="{FF2B5EF4-FFF2-40B4-BE49-F238E27FC236}">
                <a16:creationId xmlns:a16="http://schemas.microsoft.com/office/drawing/2014/main" id="{85F665B1-DBFC-467E-9D1B-7DD6DA4A3B74}"/>
              </a:ext>
            </a:extLst>
          </p:cNvPr>
          <p:cNvSpPr/>
          <p:nvPr/>
        </p:nvSpPr>
        <p:spPr bwMode="auto">
          <a:xfrm>
            <a:off x="5100725" y="4566817"/>
            <a:ext cx="2332394" cy="126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3" name="Text Box 135">
            <a:extLst>
              <a:ext uri="{FF2B5EF4-FFF2-40B4-BE49-F238E27FC236}">
                <a16:creationId xmlns:a16="http://schemas.microsoft.com/office/drawing/2014/main" id="{055CCE54-0F42-4D68-92CC-F09B7C9F4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343" y="4877936"/>
            <a:ext cx="5302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/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5" name="Group 154"/>
          <p:cNvGrpSpPr>
            <a:grpSpLocks/>
          </p:cNvGrpSpPr>
          <p:nvPr/>
        </p:nvGrpSpPr>
        <p:grpSpPr bwMode="auto">
          <a:xfrm>
            <a:off x="2164862" y="985838"/>
            <a:ext cx="1382712" cy="2935288"/>
            <a:chOff x="1373" y="882"/>
            <a:chExt cx="871" cy="1849"/>
          </a:xfrm>
        </p:grpSpPr>
        <p:sp>
          <p:nvSpPr>
            <p:cNvPr id="9290" name="Line 155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1" name="Line 156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2" name="Text Box 157"/>
            <p:cNvSpPr txBox="1">
              <a:spLocks noChangeArrowheads="1"/>
            </p:cNvSpPr>
            <p:nvPr/>
          </p:nvSpPr>
          <p:spPr bwMode="auto">
            <a:xfrm>
              <a:off x="1927" y="88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9293" name="Text Box 158"/>
            <p:cNvSpPr txBox="1">
              <a:spLocks noChangeArrowheads="1"/>
            </p:cNvSpPr>
            <p:nvPr/>
          </p:nvSpPr>
          <p:spPr bwMode="auto">
            <a:xfrm>
              <a:off x="1456" y="250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7" name="Group 174"/>
          <p:cNvGrpSpPr>
            <a:grpSpLocks/>
          </p:cNvGrpSpPr>
          <p:nvPr/>
        </p:nvGrpSpPr>
        <p:grpSpPr bwMode="auto">
          <a:xfrm>
            <a:off x="4028587" y="1423988"/>
            <a:ext cx="881062" cy="2159000"/>
            <a:chOff x="2495" y="1157"/>
            <a:chExt cx="555" cy="1360"/>
          </a:xfrm>
        </p:grpSpPr>
        <p:sp>
          <p:nvSpPr>
            <p:cNvPr id="9280" name="Text Box 175"/>
            <p:cNvSpPr txBox="1">
              <a:spLocks noChangeArrowheads="1"/>
            </p:cNvSpPr>
            <p:nvPr/>
          </p:nvSpPr>
          <p:spPr bwMode="auto">
            <a:xfrm>
              <a:off x="2860" y="1712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9281" name="Line 176"/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2" name="Line 177"/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3" name="Line 178"/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4" name="Line 179"/>
            <p:cNvSpPr>
              <a:spLocks noChangeShapeType="1"/>
            </p:cNvSpPr>
            <p:nvPr/>
          </p:nvSpPr>
          <p:spPr bwMode="auto">
            <a:xfrm>
              <a:off x="2949" y="1973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220"/>
          <p:cNvGrpSpPr>
            <a:grpSpLocks/>
          </p:cNvGrpSpPr>
          <p:nvPr/>
        </p:nvGrpSpPr>
        <p:grpSpPr bwMode="auto">
          <a:xfrm>
            <a:off x="1264749" y="1397000"/>
            <a:ext cx="3292475" cy="2212975"/>
            <a:chOff x="1326" y="1556"/>
            <a:chExt cx="2074" cy="1394"/>
          </a:xfrm>
        </p:grpSpPr>
        <p:sp>
          <p:nvSpPr>
            <p:cNvPr id="9263" name="Line 76"/>
            <p:cNvSpPr>
              <a:spLocks noChangeShapeType="1"/>
            </p:cNvSpPr>
            <p:nvPr/>
          </p:nvSpPr>
          <p:spPr bwMode="auto">
            <a:xfrm rot="5400000" flipV="1">
              <a:off x="2712" y="1249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4" name="Line 77"/>
            <p:cNvSpPr>
              <a:spLocks noChangeShapeType="1"/>
            </p:cNvSpPr>
            <p:nvPr/>
          </p:nvSpPr>
          <p:spPr bwMode="auto">
            <a:xfrm rot="5400000" flipV="1">
              <a:off x="2717" y="2584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5" name="Line 78"/>
            <p:cNvSpPr>
              <a:spLocks noChangeShapeType="1"/>
            </p:cNvSpPr>
            <p:nvPr/>
          </p:nvSpPr>
          <p:spPr bwMode="auto">
            <a:xfrm flipV="1">
              <a:off x="3056" y="2424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6" name="Line 79"/>
            <p:cNvSpPr>
              <a:spLocks noChangeShapeType="1"/>
            </p:cNvSpPr>
            <p:nvPr/>
          </p:nvSpPr>
          <p:spPr bwMode="auto">
            <a:xfrm flipV="1">
              <a:off x="3050" y="1606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7" name="Freeform 80"/>
            <p:cNvSpPr>
              <a:spLocks/>
            </p:cNvSpPr>
            <p:nvPr/>
          </p:nvSpPr>
          <p:spPr bwMode="auto">
            <a:xfrm>
              <a:off x="2939" y="2114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8" name="Text Box 81"/>
            <p:cNvSpPr txBox="1">
              <a:spLocks noChangeArrowheads="1"/>
            </p:cNvSpPr>
            <p:nvPr/>
          </p:nvSpPr>
          <p:spPr bwMode="auto">
            <a:xfrm>
              <a:off x="3214" y="2136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9269" name="Group 213"/>
            <p:cNvGrpSpPr>
              <a:grpSpLocks/>
            </p:cNvGrpSpPr>
            <p:nvPr/>
          </p:nvGrpSpPr>
          <p:grpSpPr bwMode="auto">
            <a:xfrm>
              <a:off x="1326" y="1556"/>
              <a:ext cx="1044" cy="1394"/>
              <a:chOff x="4091" y="1334"/>
              <a:chExt cx="1044" cy="1394"/>
            </a:xfrm>
          </p:grpSpPr>
          <p:sp>
            <p:nvSpPr>
              <p:cNvPr id="9270" name="Line 200"/>
              <p:cNvSpPr>
                <a:spLocks noChangeShapeType="1"/>
              </p:cNvSpPr>
              <p:nvPr/>
            </p:nvSpPr>
            <p:spPr bwMode="auto">
              <a:xfrm rot="5400000" flipV="1">
                <a:off x="4757" y="2363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1" name="Line 201"/>
              <p:cNvSpPr>
                <a:spLocks noChangeShapeType="1"/>
              </p:cNvSpPr>
              <p:nvPr/>
            </p:nvSpPr>
            <p:spPr bwMode="auto">
              <a:xfrm rot="5400000" flipV="1">
                <a:off x="4757" y="1021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9272" name="Group 202"/>
              <p:cNvGrpSpPr>
                <a:grpSpLocks/>
              </p:cNvGrpSpPr>
              <p:nvPr/>
            </p:nvGrpSpPr>
            <p:grpSpPr bwMode="auto">
              <a:xfrm>
                <a:off x="4293" y="2326"/>
                <a:ext cx="278" cy="48"/>
                <a:chOff x="1619" y="2634"/>
                <a:chExt cx="340" cy="54"/>
              </a:xfrm>
            </p:grpSpPr>
            <p:sp>
              <p:nvSpPr>
                <p:cNvPr id="9278" name="Line 203"/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279" name="Line 204"/>
                <p:cNvSpPr>
                  <a:spLocks noChangeShapeType="1"/>
                </p:cNvSpPr>
                <p:nvPr/>
              </p:nvSpPr>
              <p:spPr bwMode="auto">
                <a:xfrm>
                  <a:off x="1690" y="2688"/>
                  <a:ext cx="2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9273" name="Text Box 205"/>
              <p:cNvSpPr txBox="1">
                <a:spLocks noChangeArrowheads="1"/>
              </p:cNvSpPr>
              <p:nvPr/>
            </p:nvSpPr>
            <p:spPr bwMode="auto">
              <a:xfrm>
                <a:off x="4091" y="2173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274" name="Line 206"/>
              <p:cNvSpPr>
                <a:spLocks noChangeShapeType="1"/>
              </p:cNvSpPr>
              <p:nvPr/>
            </p:nvSpPr>
            <p:spPr bwMode="auto">
              <a:xfrm flipH="1" flipV="1">
                <a:off x="4420" y="1355"/>
                <a:ext cx="0" cy="95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5" name="Line 207"/>
              <p:cNvSpPr>
                <a:spLocks noChangeShapeType="1"/>
              </p:cNvSpPr>
              <p:nvPr/>
            </p:nvSpPr>
            <p:spPr bwMode="auto">
              <a:xfrm>
                <a:off x="4427" y="2395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6" name="Oval 211"/>
              <p:cNvSpPr>
                <a:spLocks noChangeArrowheads="1"/>
              </p:cNvSpPr>
              <p:nvPr/>
            </p:nvSpPr>
            <p:spPr bwMode="auto">
              <a:xfrm>
                <a:off x="5078" y="1334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77" name="Oval 212"/>
              <p:cNvSpPr>
                <a:spLocks noChangeArrowheads="1"/>
              </p:cNvSpPr>
              <p:nvPr/>
            </p:nvSpPr>
            <p:spPr bwMode="auto">
              <a:xfrm>
                <a:off x="5079" y="2667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302"/>
          <p:cNvGrpSpPr>
            <a:grpSpLocks/>
          </p:cNvGrpSpPr>
          <p:nvPr/>
        </p:nvGrpSpPr>
        <p:grpSpPr bwMode="auto">
          <a:xfrm>
            <a:off x="2886075" y="1181100"/>
            <a:ext cx="368300" cy="3092450"/>
            <a:chOff x="2070" y="877"/>
            <a:chExt cx="232" cy="1948"/>
          </a:xfrm>
        </p:grpSpPr>
        <p:sp>
          <p:nvSpPr>
            <p:cNvPr id="9261" name="Text Box 249"/>
            <p:cNvSpPr txBox="1">
              <a:spLocks noChangeArrowheads="1"/>
            </p:cNvSpPr>
            <p:nvPr/>
          </p:nvSpPr>
          <p:spPr bwMode="auto">
            <a:xfrm>
              <a:off x="2070" y="877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62" name="Text Box 250"/>
            <p:cNvSpPr txBox="1">
              <a:spLocks noChangeArrowheads="1"/>
            </p:cNvSpPr>
            <p:nvPr/>
          </p:nvSpPr>
          <p:spPr bwMode="auto">
            <a:xfrm>
              <a:off x="2081" y="2529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252"/>
          <p:cNvGrpSpPr>
            <a:grpSpLocks/>
          </p:cNvGrpSpPr>
          <p:nvPr/>
        </p:nvGrpSpPr>
        <p:grpSpPr bwMode="auto">
          <a:xfrm>
            <a:off x="1226649" y="1962150"/>
            <a:ext cx="787400" cy="520700"/>
            <a:chOff x="751" y="3361"/>
            <a:chExt cx="496" cy="328"/>
          </a:xfrm>
        </p:grpSpPr>
        <p:sp>
          <p:nvSpPr>
            <p:cNvPr id="9258" name="Rectangle 251"/>
            <p:cNvSpPr>
              <a:spLocks noChangeArrowheads="1"/>
            </p:cNvSpPr>
            <p:nvPr/>
          </p:nvSpPr>
          <p:spPr bwMode="auto">
            <a:xfrm>
              <a:off x="941" y="3361"/>
              <a:ext cx="306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59" name="Freeform 150"/>
            <p:cNvSpPr>
              <a:spLocks/>
            </p:cNvSpPr>
            <p:nvPr/>
          </p:nvSpPr>
          <p:spPr bwMode="auto">
            <a:xfrm>
              <a:off x="987" y="3378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0" name="Text Box 151"/>
            <p:cNvSpPr txBox="1">
              <a:spLocks noChangeArrowheads="1"/>
            </p:cNvSpPr>
            <p:nvPr/>
          </p:nvSpPr>
          <p:spPr bwMode="auto">
            <a:xfrm>
              <a:off x="751" y="3367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sp>
        <p:nvSpPr>
          <p:cNvPr id="9245" name="Text Box 214"/>
          <p:cNvSpPr txBox="1">
            <a:spLocks noChangeArrowheads="1"/>
          </p:cNvSpPr>
          <p:nvPr/>
        </p:nvSpPr>
        <p:spPr bwMode="auto">
          <a:xfrm>
            <a:off x="6066328" y="2935192"/>
            <a:ext cx="3993024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uchos circuitos son</a:t>
            </a:r>
            <a:r>
              <a:rPr lang="es-ES" sz="2400">
                <a:latin typeface="Arial" panose="020B0604020202020204" pitchFamily="34" charset="0"/>
              </a:rPr>
              <a:t> equivalentes a este circuito</a:t>
            </a:r>
          </a:p>
        </p:txBody>
      </p:sp>
      <p:sp>
        <p:nvSpPr>
          <p:cNvPr id="85" name="Rectángulo 84"/>
          <p:cNvSpPr/>
          <p:nvPr/>
        </p:nvSpPr>
        <p:spPr bwMode="auto">
          <a:xfrm>
            <a:off x="7736818" y="4540034"/>
            <a:ext cx="2427401" cy="126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285" name="Text Box 169"/>
          <p:cNvSpPr txBox="1">
            <a:spLocks noChangeArrowheads="1"/>
          </p:cNvSpPr>
          <p:nvPr/>
        </p:nvSpPr>
        <p:spPr bwMode="auto">
          <a:xfrm>
            <a:off x="8036870" y="4861833"/>
            <a:ext cx="554038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/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3300"/>
                </a:solidFill>
                <a:latin typeface="Comic Sans MS" panose="030F0702030302020204" pitchFamily="66" charset="0"/>
              </a:rPr>
              <a:t>V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91" name="Text Box 262"/>
          <p:cNvSpPr txBox="1">
            <a:spLocks noChangeArrowheads="1"/>
          </p:cNvSpPr>
          <p:nvPr/>
        </p:nvSpPr>
        <p:spPr bwMode="auto">
          <a:xfrm>
            <a:off x="7727258" y="5829299"/>
            <a:ext cx="2427402" cy="90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(circuito divisor de tensiones)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Text Box 214"/>
          <p:cNvSpPr txBox="1">
            <a:spLocks noChangeArrowheads="1"/>
          </p:cNvSpPr>
          <p:nvPr/>
        </p:nvSpPr>
        <p:spPr bwMode="auto">
          <a:xfrm>
            <a:off x="1812766" y="4336615"/>
            <a:ext cx="2960412" cy="164454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¿Cuál es el valor de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y V en función de los parámetros del circuito?</a:t>
            </a:r>
          </a:p>
        </p:txBody>
      </p:sp>
      <p:grpSp>
        <p:nvGrpSpPr>
          <p:cNvPr id="62" name="Group 174">
            <a:extLst>
              <a:ext uri="{FF2B5EF4-FFF2-40B4-BE49-F238E27FC236}">
                <a16:creationId xmlns:a16="http://schemas.microsoft.com/office/drawing/2014/main" id="{D9E5B261-A363-40EE-8D77-CD511226CF43}"/>
              </a:ext>
            </a:extLst>
          </p:cNvPr>
          <p:cNvGrpSpPr>
            <a:grpSpLocks/>
          </p:cNvGrpSpPr>
          <p:nvPr/>
        </p:nvGrpSpPr>
        <p:grpSpPr bwMode="auto">
          <a:xfrm>
            <a:off x="2733493" y="1543513"/>
            <a:ext cx="301625" cy="1942521"/>
            <a:chOff x="2860" y="1168"/>
            <a:chExt cx="190" cy="1346"/>
          </a:xfrm>
        </p:grpSpPr>
        <p:sp>
          <p:nvSpPr>
            <p:cNvPr id="66" name="Text Box 175">
              <a:extLst>
                <a:ext uri="{FF2B5EF4-FFF2-40B4-BE49-F238E27FC236}">
                  <a16:creationId xmlns:a16="http://schemas.microsoft.com/office/drawing/2014/main" id="{AF1321E4-3548-481A-A1EF-299096987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1691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67" name="Line 178">
              <a:extLst>
                <a:ext uri="{FF2B5EF4-FFF2-40B4-BE49-F238E27FC236}">
                  <a16:creationId xmlns:a16="http://schemas.microsoft.com/office/drawing/2014/main" id="{79096FCD-4EB9-4E5D-B5BC-8CF84B141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68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69" name="Line 179">
              <a:extLst>
                <a:ext uri="{FF2B5EF4-FFF2-40B4-BE49-F238E27FC236}">
                  <a16:creationId xmlns:a16="http://schemas.microsoft.com/office/drawing/2014/main" id="{977F9367-A45B-4FE7-8C1A-521134D7A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019"/>
              <a:ext cx="0" cy="49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70" name="Text Box 217">
            <a:extLst>
              <a:ext uri="{FF2B5EF4-FFF2-40B4-BE49-F238E27FC236}">
                <a16:creationId xmlns:a16="http://schemas.microsoft.com/office/drawing/2014/main" id="{3C159728-0F6B-430F-9697-C10575DC2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671" y="1989138"/>
            <a:ext cx="18287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(carga)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8B9AF43-5127-D6AF-5356-2ED2A6CCF66C}"/>
              </a:ext>
            </a:extLst>
          </p:cNvPr>
          <p:cNvGrpSpPr/>
          <p:nvPr/>
        </p:nvGrpSpPr>
        <p:grpSpPr>
          <a:xfrm>
            <a:off x="6169171" y="4616776"/>
            <a:ext cx="1027255" cy="890587"/>
            <a:chOff x="6345818" y="5454976"/>
            <a:chExt cx="1027255" cy="890587"/>
          </a:xfrm>
        </p:grpSpPr>
        <p:sp>
          <p:nvSpPr>
            <p:cNvPr id="2" name="Text Box 135">
              <a:extLst>
                <a:ext uri="{FF2B5EF4-FFF2-40B4-BE49-F238E27FC236}">
                  <a16:creationId xmlns:a16="http://schemas.microsoft.com/office/drawing/2014/main" id="{0D23DF61-1974-DA1D-FA7B-5FEC7A00D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5818" y="5731201"/>
              <a:ext cx="530225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=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3" name="Line 136">
              <a:extLst>
                <a:ext uri="{FF2B5EF4-FFF2-40B4-BE49-F238E27FC236}">
                  <a16:creationId xmlns:a16="http://schemas.microsoft.com/office/drawing/2014/main" id="{EC260E31-D081-50E8-096F-BE9BEC078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5373" y="5969326"/>
              <a:ext cx="647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800"/>
            </a:p>
          </p:txBody>
        </p:sp>
        <p:sp>
          <p:nvSpPr>
            <p:cNvPr id="4" name="Text Box 137">
              <a:extLst>
                <a:ext uri="{FF2B5EF4-FFF2-40B4-BE49-F238E27FC236}">
                  <a16:creationId xmlns:a16="http://schemas.microsoft.com/office/drawing/2014/main" id="{37CE7C69-3C1A-F72B-8C48-9A2695215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198" y="5991551"/>
              <a:ext cx="650875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400">
                  <a:latin typeface="Comic Sans MS" panose="030F0702030302020204" pitchFamily="66" charset="0"/>
                </a:rPr>
                <a:t>+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9" name="Text Box 138">
              <a:extLst>
                <a:ext uri="{FF2B5EF4-FFF2-40B4-BE49-F238E27FC236}">
                  <a16:creationId xmlns:a16="http://schemas.microsoft.com/office/drawing/2014/main" id="{1B01D4FE-0867-F2CD-C983-218382797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7461" y="5454976"/>
              <a:ext cx="26352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8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0D321E0-FDCF-306E-C76D-2FD3920CFF33}"/>
              </a:ext>
            </a:extLst>
          </p:cNvPr>
          <p:cNvGrpSpPr/>
          <p:nvPr/>
        </p:nvGrpSpPr>
        <p:grpSpPr>
          <a:xfrm>
            <a:off x="5544698" y="4598743"/>
            <a:ext cx="864764" cy="1035778"/>
            <a:chOff x="5544698" y="5447334"/>
            <a:chExt cx="864764" cy="1035778"/>
          </a:xfrm>
        </p:grpSpPr>
        <p:sp>
          <p:nvSpPr>
            <p:cNvPr id="77" name="Text Box 262">
              <a:extLst>
                <a:ext uri="{FF2B5EF4-FFF2-40B4-BE49-F238E27FC236}">
                  <a16:creationId xmlns:a16="http://schemas.microsoft.com/office/drawing/2014/main" id="{FAEC3754-D2C3-436D-8418-44870EBFE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047" y="5946563"/>
              <a:ext cx="79441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eq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DA6E0288-E2EB-6339-D984-B98EB2F1CDD8}"/>
                </a:ext>
              </a:extLst>
            </p:cNvPr>
            <p:cNvGrpSpPr/>
            <p:nvPr/>
          </p:nvGrpSpPr>
          <p:grpSpPr>
            <a:xfrm>
              <a:off x="5544698" y="5447334"/>
              <a:ext cx="688751" cy="721223"/>
              <a:chOff x="5721345" y="5447334"/>
              <a:chExt cx="688751" cy="721223"/>
            </a:xfrm>
          </p:grpSpPr>
          <p:sp>
            <p:nvSpPr>
              <p:cNvPr id="74" name="Line 136">
                <a:extLst>
                  <a:ext uri="{FF2B5EF4-FFF2-40B4-BE49-F238E27FC236}">
                    <a16:creationId xmlns:a16="http://schemas.microsoft.com/office/drawing/2014/main" id="{D6379397-FF2D-4C23-90B4-EE101FBA8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09" y="5961684"/>
                <a:ext cx="44238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 sz="2800"/>
              </a:p>
            </p:txBody>
          </p:sp>
          <p:sp>
            <p:nvSpPr>
              <p:cNvPr id="76" name="Text Box 138">
                <a:extLst>
                  <a:ext uri="{FF2B5EF4-FFF2-40B4-BE49-F238E27FC236}">
                    <a16:creationId xmlns:a16="http://schemas.microsoft.com/office/drawing/2014/main" id="{75F6CCC3-48F1-42F7-A60C-472880F409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7140" y="5447334"/>
                <a:ext cx="263525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" name="Text Box 135">
                <a:extLst>
                  <a:ext uri="{FF2B5EF4-FFF2-40B4-BE49-F238E27FC236}">
                    <a16:creationId xmlns:a16="http://schemas.microsoft.com/office/drawing/2014/main" id="{258DF463-BE98-B7ED-49C4-A7809EAE0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1345" y="5728540"/>
                <a:ext cx="281820" cy="440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Comic Sans MS" panose="030F0702030302020204" pitchFamily="66" charset="0"/>
                  </a:rPr>
                  <a:t>=</a:t>
                </a: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</p:grp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4302378A-E79D-3D09-AFF8-84F5D25A2220}"/>
              </a:ext>
            </a:extLst>
          </p:cNvPr>
          <p:cNvGrpSpPr/>
          <p:nvPr/>
        </p:nvGrpSpPr>
        <p:grpSpPr>
          <a:xfrm>
            <a:off x="8339536" y="4662092"/>
            <a:ext cx="1351273" cy="798512"/>
            <a:chOff x="8433055" y="5519342"/>
            <a:chExt cx="1351273" cy="798512"/>
          </a:xfrm>
        </p:grpSpPr>
        <p:grpSp>
          <p:nvGrpSpPr>
            <p:cNvPr id="16" name="Group 168">
              <a:extLst>
                <a:ext uri="{FF2B5EF4-FFF2-40B4-BE49-F238E27FC236}">
                  <a16:creationId xmlns:a16="http://schemas.microsoft.com/office/drawing/2014/main" id="{1C6188C1-9802-5888-2F85-783AA7515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69915" y="5519342"/>
              <a:ext cx="1014413" cy="798512"/>
              <a:chOff x="1881" y="1353"/>
              <a:chExt cx="639" cy="503"/>
            </a:xfrm>
          </p:grpSpPr>
          <p:sp>
            <p:nvSpPr>
              <p:cNvPr id="19" name="Line 170">
                <a:extLst>
                  <a:ext uri="{FF2B5EF4-FFF2-40B4-BE49-F238E27FC236}">
                    <a16:creationId xmlns:a16="http://schemas.microsoft.com/office/drawing/2014/main" id="{740654CF-6D52-EDA1-CAEF-4BE4C6155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1" y="1633"/>
                <a:ext cx="4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 sz="2800"/>
              </a:p>
            </p:txBody>
          </p:sp>
          <p:sp>
            <p:nvSpPr>
              <p:cNvPr id="20" name="Text Box 171">
                <a:extLst>
                  <a:ext uri="{FF2B5EF4-FFF2-40B4-BE49-F238E27FC236}">
                    <a16:creationId xmlns:a16="http://schemas.microsoft.com/office/drawing/2014/main" id="{F63FD3DB-4912-2593-5F69-A746D16307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0" y="1633"/>
                <a:ext cx="41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 </a:t>
                </a:r>
                <a:r>
                  <a:rPr lang="es-ES" sz="2400">
                    <a:latin typeface="Comic Sans MS" panose="030F0702030302020204" pitchFamily="66" charset="0"/>
                  </a:rPr>
                  <a:t>+</a:t>
                </a: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s-ES" sz="24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21" name="Text Box 172">
                <a:extLst>
                  <a:ext uri="{FF2B5EF4-FFF2-40B4-BE49-F238E27FC236}">
                    <a16:creationId xmlns:a16="http://schemas.microsoft.com/office/drawing/2014/main" id="{E932088E-B35D-BE96-931F-861675D433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" y="1441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2" name="Text Box 173">
                <a:extLst>
                  <a:ext uri="{FF2B5EF4-FFF2-40B4-BE49-F238E27FC236}">
                    <a16:creationId xmlns:a16="http://schemas.microsoft.com/office/drawing/2014/main" id="{E9CAE9C4-85C3-4767-D8B0-4B91662AFC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8" y="1353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R</a:t>
                </a:r>
              </a:p>
            </p:txBody>
          </p:sp>
        </p:grpSp>
        <p:sp>
          <p:nvSpPr>
            <p:cNvPr id="23" name="Text Box 135">
              <a:extLst>
                <a:ext uri="{FF2B5EF4-FFF2-40B4-BE49-F238E27FC236}">
                  <a16:creationId xmlns:a16="http://schemas.microsoft.com/office/drawing/2014/main" id="{0F019823-44C7-BC41-15B8-47A3D14CE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3055" y="5731201"/>
              <a:ext cx="530225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=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</p:grpSp>
      <p:sp>
        <p:nvSpPr>
          <p:cNvPr id="27" name="Text Box 214">
            <a:extLst>
              <a:ext uri="{FF2B5EF4-FFF2-40B4-BE49-F238E27FC236}">
                <a16:creationId xmlns:a16="http://schemas.microsoft.com/office/drawing/2014/main" id="{3383E3DB-1FB4-3C22-F650-1563931F2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019" y="850830"/>
            <a:ext cx="4546734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Circuito más simple en continua</a:t>
            </a:r>
          </a:p>
        </p:txBody>
      </p:sp>
      <p:sp>
        <p:nvSpPr>
          <p:cNvPr id="28" name="Text Box 215">
            <a:extLst>
              <a:ext uri="{FF2B5EF4-FFF2-40B4-BE49-F238E27FC236}">
                <a16:creationId xmlns:a16="http://schemas.microsoft.com/office/drawing/2014/main" id="{6364A452-C916-3B6B-B61A-632CFE49C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514" y="1482808"/>
            <a:ext cx="4540231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Generador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real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+ Resistencia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374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3" grpId="0"/>
      <p:bldP spid="9245" grpId="0" animBg="1"/>
      <p:bldP spid="85" grpId="0" animBg="1"/>
      <p:bldP spid="9285" grpId="0"/>
      <p:bldP spid="91" grpId="0"/>
      <p:bldP spid="63" grpId="0" animBg="1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4"/>
          <p:cNvGrpSpPr>
            <a:grpSpLocks/>
          </p:cNvGrpSpPr>
          <p:nvPr/>
        </p:nvGrpSpPr>
        <p:grpSpPr bwMode="auto">
          <a:xfrm>
            <a:off x="2164862" y="985838"/>
            <a:ext cx="1382712" cy="2935288"/>
            <a:chOff x="1373" y="882"/>
            <a:chExt cx="871" cy="1849"/>
          </a:xfrm>
        </p:grpSpPr>
        <p:sp>
          <p:nvSpPr>
            <p:cNvPr id="9290" name="Line 155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1" name="Line 156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92" name="Text Box 157"/>
            <p:cNvSpPr txBox="1">
              <a:spLocks noChangeArrowheads="1"/>
            </p:cNvSpPr>
            <p:nvPr/>
          </p:nvSpPr>
          <p:spPr bwMode="auto">
            <a:xfrm>
              <a:off x="1927" y="88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9293" name="Text Box 158"/>
            <p:cNvSpPr txBox="1">
              <a:spLocks noChangeArrowheads="1"/>
            </p:cNvSpPr>
            <p:nvPr/>
          </p:nvSpPr>
          <p:spPr bwMode="auto">
            <a:xfrm>
              <a:off x="1456" y="250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7" name="Group 174"/>
          <p:cNvGrpSpPr>
            <a:grpSpLocks/>
          </p:cNvGrpSpPr>
          <p:nvPr/>
        </p:nvGrpSpPr>
        <p:grpSpPr bwMode="auto">
          <a:xfrm>
            <a:off x="4028566" y="1423988"/>
            <a:ext cx="792158" cy="2159000"/>
            <a:chOff x="2495" y="1157"/>
            <a:chExt cx="499" cy="1360"/>
          </a:xfrm>
        </p:grpSpPr>
        <p:sp>
          <p:nvSpPr>
            <p:cNvPr id="9281" name="Line 176"/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2" name="Line 177"/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3" name="Line 178"/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84" name="Line 179"/>
            <p:cNvSpPr>
              <a:spLocks noChangeShapeType="1"/>
            </p:cNvSpPr>
            <p:nvPr/>
          </p:nvSpPr>
          <p:spPr bwMode="auto">
            <a:xfrm>
              <a:off x="2949" y="1973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oup 220"/>
          <p:cNvGrpSpPr>
            <a:grpSpLocks/>
          </p:cNvGrpSpPr>
          <p:nvPr/>
        </p:nvGrpSpPr>
        <p:grpSpPr bwMode="auto">
          <a:xfrm>
            <a:off x="1264749" y="1397000"/>
            <a:ext cx="3292475" cy="2212975"/>
            <a:chOff x="1326" y="1556"/>
            <a:chExt cx="2074" cy="1394"/>
          </a:xfrm>
        </p:grpSpPr>
        <p:sp>
          <p:nvSpPr>
            <p:cNvPr id="9263" name="Line 76"/>
            <p:cNvSpPr>
              <a:spLocks noChangeShapeType="1"/>
            </p:cNvSpPr>
            <p:nvPr/>
          </p:nvSpPr>
          <p:spPr bwMode="auto">
            <a:xfrm rot="5400000" flipV="1">
              <a:off x="2712" y="1249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4" name="Line 77"/>
            <p:cNvSpPr>
              <a:spLocks noChangeShapeType="1"/>
            </p:cNvSpPr>
            <p:nvPr/>
          </p:nvSpPr>
          <p:spPr bwMode="auto">
            <a:xfrm rot="5400000" flipV="1">
              <a:off x="2717" y="2584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5" name="Line 78"/>
            <p:cNvSpPr>
              <a:spLocks noChangeShapeType="1"/>
            </p:cNvSpPr>
            <p:nvPr/>
          </p:nvSpPr>
          <p:spPr bwMode="auto">
            <a:xfrm flipV="1">
              <a:off x="3056" y="2424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6" name="Line 79"/>
            <p:cNvSpPr>
              <a:spLocks noChangeShapeType="1"/>
            </p:cNvSpPr>
            <p:nvPr/>
          </p:nvSpPr>
          <p:spPr bwMode="auto">
            <a:xfrm flipV="1">
              <a:off x="3050" y="1606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7" name="Freeform 80"/>
            <p:cNvSpPr>
              <a:spLocks/>
            </p:cNvSpPr>
            <p:nvPr/>
          </p:nvSpPr>
          <p:spPr bwMode="auto">
            <a:xfrm>
              <a:off x="2939" y="2114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8" name="Text Box 81"/>
            <p:cNvSpPr txBox="1">
              <a:spLocks noChangeArrowheads="1"/>
            </p:cNvSpPr>
            <p:nvPr/>
          </p:nvSpPr>
          <p:spPr bwMode="auto">
            <a:xfrm>
              <a:off x="3214" y="2136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9269" name="Group 213"/>
            <p:cNvGrpSpPr>
              <a:grpSpLocks/>
            </p:cNvGrpSpPr>
            <p:nvPr/>
          </p:nvGrpSpPr>
          <p:grpSpPr bwMode="auto">
            <a:xfrm>
              <a:off x="1326" y="1556"/>
              <a:ext cx="1044" cy="1394"/>
              <a:chOff x="4091" y="1334"/>
              <a:chExt cx="1044" cy="1394"/>
            </a:xfrm>
          </p:grpSpPr>
          <p:sp>
            <p:nvSpPr>
              <p:cNvPr id="9270" name="Line 200"/>
              <p:cNvSpPr>
                <a:spLocks noChangeShapeType="1"/>
              </p:cNvSpPr>
              <p:nvPr/>
            </p:nvSpPr>
            <p:spPr bwMode="auto">
              <a:xfrm rot="5400000" flipV="1">
                <a:off x="4757" y="2363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1" name="Line 201"/>
              <p:cNvSpPr>
                <a:spLocks noChangeShapeType="1"/>
              </p:cNvSpPr>
              <p:nvPr/>
            </p:nvSpPr>
            <p:spPr bwMode="auto">
              <a:xfrm rot="5400000" flipV="1">
                <a:off x="4757" y="1021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grpSp>
            <p:nvGrpSpPr>
              <p:cNvPr id="9272" name="Group 202"/>
              <p:cNvGrpSpPr>
                <a:grpSpLocks/>
              </p:cNvGrpSpPr>
              <p:nvPr/>
            </p:nvGrpSpPr>
            <p:grpSpPr bwMode="auto">
              <a:xfrm>
                <a:off x="4293" y="2326"/>
                <a:ext cx="278" cy="48"/>
                <a:chOff x="1619" y="2634"/>
                <a:chExt cx="340" cy="54"/>
              </a:xfrm>
            </p:grpSpPr>
            <p:sp>
              <p:nvSpPr>
                <p:cNvPr id="9278" name="Line 203"/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279" name="Line 204"/>
                <p:cNvSpPr>
                  <a:spLocks noChangeShapeType="1"/>
                </p:cNvSpPr>
                <p:nvPr/>
              </p:nvSpPr>
              <p:spPr bwMode="auto">
                <a:xfrm>
                  <a:off x="1690" y="2688"/>
                  <a:ext cx="2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9273" name="Text Box 205"/>
              <p:cNvSpPr txBox="1">
                <a:spLocks noChangeArrowheads="1"/>
              </p:cNvSpPr>
              <p:nvPr/>
            </p:nvSpPr>
            <p:spPr bwMode="auto">
              <a:xfrm>
                <a:off x="4091" y="2173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274" name="Line 206"/>
              <p:cNvSpPr>
                <a:spLocks noChangeShapeType="1"/>
              </p:cNvSpPr>
              <p:nvPr/>
            </p:nvSpPr>
            <p:spPr bwMode="auto">
              <a:xfrm flipH="1" flipV="1">
                <a:off x="4420" y="1355"/>
                <a:ext cx="0" cy="95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5" name="Line 207"/>
              <p:cNvSpPr>
                <a:spLocks noChangeShapeType="1"/>
              </p:cNvSpPr>
              <p:nvPr/>
            </p:nvSpPr>
            <p:spPr bwMode="auto">
              <a:xfrm>
                <a:off x="4427" y="2395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76" name="Oval 211"/>
              <p:cNvSpPr>
                <a:spLocks noChangeArrowheads="1"/>
              </p:cNvSpPr>
              <p:nvPr/>
            </p:nvSpPr>
            <p:spPr bwMode="auto">
              <a:xfrm>
                <a:off x="5078" y="1334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77" name="Oval 212"/>
              <p:cNvSpPr>
                <a:spLocks noChangeArrowheads="1"/>
              </p:cNvSpPr>
              <p:nvPr/>
            </p:nvSpPr>
            <p:spPr bwMode="auto">
              <a:xfrm>
                <a:off x="5079" y="2667"/>
                <a:ext cx="56" cy="61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302"/>
          <p:cNvGrpSpPr>
            <a:grpSpLocks/>
          </p:cNvGrpSpPr>
          <p:nvPr/>
        </p:nvGrpSpPr>
        <p:grpSpPr bwMode="auto">
          <a:xfrm>
            <a:off x="2886075" y="1181100"/>
            <a:ext cx="368300" cy="3092450"/>
            <a:chOff x="2070" y="877"/>
            <a:chExt cx="232" cy="1948"/>
          </a:xfrm>
        </p:grpSpPr>
        <p:sp>
          <p:nvSpPr>
            <p:cNvPr id="9261" name="Text Box 249"/>
            <p:cNvSpPr txBox="1">
              <a:spLocks noChangeArrowheads="1"/>
            </p:cNvSpPr>
            <p:nvPr/>
          </p:nvSpPr>
          <p:spPr bwMode="auto">
            <a:xfrm>
              <a:off x="2070" y="877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62" name="Text Box 250"/>
            <p:cNvSpPr txBox="1">
              <a:spLocks noChangeArrowheads="1"/>
            </p:cNvSpPr>
            <p:nvPr/>
          </p:nvSpPr>
          <p:spPr bwMode="auto">
            <a:xfrm>
              <a:off x="2081" y="2529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252"/>
          <p:cNvGrpSpPr>
            <a:grpSpLocks/>
          </p:cNvGrpSpPr>
          <p:nvPr/>
        </p:nvGrpSpPr>
        <p:grpSpPr bwMode="auto">
          <a:xfrm>
            <a:off x="1226649" y="1962150"/>
            <a:ext cx="787400" cy="520700"/>
            <a:chOff x="751" y="3361"/>
            <a:chExt cx="496" cy="328"/>
          </a:xfrm>
        </p:grpSpPr>
        <p:sp>
          <p:nvSpPr>
            <p:cNvPr id="9258" name="Rectangle 251"/>
            <p:cNvSpPr>
              <a:spLocks noChangeArrowheads="1"/>
            </p:cNvSpPr>
            <p:nvPr/>
          </p:nvSpPr>
          <p:spPr bwMode="auto">
            <a:xfrm>
              <a:off x="941" y="3361"/>
              <a:ext cx="306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59" name="Freeform 150"/>
            <p:cNvSpPr>
              <a:spLocks/>
            </p:cNvSpPr>
            <p:nvPr/>
          </p:nvSpPr>
          <p:spPr bwMode="auto">
            <a:xfrm>
              <a:off x="987" y="3378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9260" name="Text Box 151"/>
            <p:cNvSpPr txBox="1">
              <a:spLocks noChangeArrowheads="1"/>
            </p:cNvSpPr>
            <p:nvPr/>
          </p:nvSpPr>
          <p:spPr bwMode="auto">
            <a:xfrm>
              <a:off x="751" y="3367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sp>
        <p:nvSpPr>
          <p:cNvPr id="766205" name="Text Box 253"/>
          <p:cNvSpPr txBox="1">
            <a:spLocks noChangeArrowheads="1"/>
          </p:cNvSpPr>
          <p:nvPr/>
        </p:nvSpPr>
        <p:spPr bwMode="auto">
          <a:xfrm>
            <a:off x="6403919" y="5383875"/>
            <a:ext cx="1632476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lang="es-ES" sz="28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s-ES" sz="2400">
                <a:latin typeface="Comic Sans MS" panose="030F0702030302020204" pitchFamily="66" charset="0"/>
              </a:rPr>
              <a:t>-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I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I</a:t>
            </a:r>
            <a:endParaRPr lang="es-ES" sz="28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12331" name="Text Box 159"/>
          <p:cNvSpPr txBox="1">
            <a:spLocks noChangeArrowheads="1"/>
          </p:cNvSpPr>
          <p:nvPr/>
        </p:nvSpPr>
        <p:spPr bwMode="auto">
          <a:xfrm>
            <a:off x="6072833" y="3879868"/>
            <a:ext cx="3984139" cy="4497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Comic Sans MS" panose="030F0702030302020204" pitchFamily="66" charset="0"/>
              </a:rPr>
              <a:t>Parte Activa | Parte Pasiva</a:t>
            </a:r>
          </a:p>
        </p:txBody>
      </p:sp>
      <p:grpSp>
        <p:nvGrpSpPr>
          <p:cNvPr id="12418" name="Group 130"/>
          <p:cNvGrpSpPr>
            <a:grpSpLocks/>
          </p:cNvGrpSpPr>
          <p:nvPr/>
        </p:nvGrpSpPr>
        <p:grpSpPr bwMode="auto">
          <a:xfrm>
            <a:off x="6149974" y="2107919"/>
            <a:ext cx="1836737" cy="1546226"/>
            <a:chOff x="3819" y="1558"/>
            <a:chExt cx="1157" cy="974"/>
          </a:xfrm>
        </p:grpSpPr>
        <p:sp>
          <p:nvSpPr>
            <p:cNvPr id="9253" name="Text Box 216"/>
            <p:cNvSpPr txBox="1">
              <a:spLocks noChangeArrowheads="1"/>
            </p:cNvSpPr>
            <p:nvPr/>
          </p:nvSpPr>
          <p:spPr bwMode="auto">
            <a:xfrm>
              <a:off x="3819" y="1729"/>
              <a:ext cx="1157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Suministra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energía netamente</a:t>
              </a:r>
            </a:p>
          </p:txBody>
        </p:sp>
        <p:sp>
          <p:nvSpPr>
            <p:cNvPr id="9255" name="Line 218"/>
            <p:cNvSpPr>
              <a:spLocks noChangeShapeType="1"/>
            </p:cNvSpPr>
            <p:nvPr/>
          </p:nvSpPr>
          <p:spPr bwMode="auto">
            <a:xfrm>
              <a:off x="4375" y="1558"/>
              <a:ext cx="0" cy="1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67659" name="Group 75"/>
          <p:cNvGrpSpPr>
            <a:grpSpLocks/>
          </p:cNvGrpSpPr>
          <p:nvPr/>
        </p:nvGrpSpPr>
        <p:grpSpPr bwMode="auto">
          <a:xfrm>
            <a:off x="1451872" y="5986145"/>
            <a:ext cx="3911601" cy="744538"/>
            <a:chOff x="4085" y="3974"/>
            <a:chExt cx="2464" cy="469"/>
          </a:xfrm>
        </p:grpSpPr>
        <p:sp>
          <p:nvSpPr>
            <p:cNvPr id="9249" name="Text Box 71"/>
            <p:cNvSpPr txBox="1">
              <a:spLocks noChangeArrowheads="1"/>
            </p:cNvSpPr>
            <p:nvPr/>
          </p:nvSpPr>
          <p:spPr bwMode="auto">
            <a:xfrm>
              <a:off x="4085" y="4059"/>
              <a:ext cx="246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D60093"/>
                  </a:solidFill>
                </a:rPr>
                <a:t>P dada </a:t>
              </a:r>
              <a:r>
                <a:rPr lang="es-ES" sz="2400" dirty="0">
                  <a:solidFill>
                    <a:srgbClr val="D60093"/>
                  </a:solidFill>
                </a:rPr>
                <a:t>por generador ideal</a:t>
              </a:r>
            </a:p>
          </p:txBody>
        </p:sp>
        <p:sp>
          <p:nvSpPr>
            <p:cNvPr id="9250" name="Line 72"/>
            <p:cNvSpPr>
              <a:spLocks noChangeShapeType="1"/>
            </p:cNvSpPr>
            <p:nvPr/>
          </p:nvSpPr>
          <p:spPr bwMode="auto">
            <a:xfrm flipH="1">
              <a:off x="6165" y="3974"/>
              <a:ext cx="227" cy="136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67660" name="Group 76"/>
          <p:cNvGrpSpPr>
            <a:grpSpLocks/>
          </p:cNvGrpSpPr>
          <p:nvPr/>
        </p:nvGrpSpPr>
        <p:grpSpPr bwMode="auto">
          <a:xfrm>
            <a:off x="5738508" y="6024021"/>
            <a:ext cx="3573463" cy="711198"/>
            <a:chOff x="6510" y="4055"/>
            <a:chExt cx="2251" cy="448"/>
          </a:xfrm>
        </p:grpSpPr>
        <p:sp>
          <p:nvSpPr>
            <p:cNvPr id="9247" name="Text Box 73"/>
            <p:cNvSpPr txBox="1">
              <a:spLocks noChangeArrowheads="1"/>
            </p:cNvSpPr>
            <p:nvPr/>
          </p:nvSpPr>
          <p:spPr bwMode="auto">
            <a:xfrm>
              <a:off x="6510" y="4119"/>
              <a:ext cx="2251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D60093"/>
                  </a:solidFill>
                </a:rPr>
                <a:t>P consumida </a:t>
              </a:r>
              <a:r>
                <a:rPr lang="es-ES" sz="2400" dirty="0">
                  <a:solidFill>
                    <a:srgbClr val="D60093"/>
                  </a:solidFill>
                </a:rPr>
                <a:t>por </a:t>
              </a:r>
              <a:r>
                <a:rPr lang="es-ES" sz="2400" dirty="0" err="1">
                  <a:solidFill>
                    <a:srgbClr val="D60093"/>
                  </a:solidFill>
                </a:rPr>
                <a:t>r</a:t>
              </a:r>
              <a:r>
                <a:rPr lang="es-ES" sz="2400" baseline="-25000" dirty="0" err="1">
                  <a:solidFill>
                    <a:srgbClr val="D60093"/>
                  </a:solidFill>
                </a:rPr>
                <a:t>INTERNA</a:t>
              </a:r>
              <a:endParaRPr lang="es-ES" sz="2400" baseline="-25000" dirty="0">
                <a:solidFill>
                  <a:srgbClr val="D60093"/>
                </a:solidFill>
              </a:endParaRPr>
            </a:p>
          </p:txBody>
        </p:sp>
        <p:sp>
          <p:nvSpPr>
            <p:cNvPr id="9248" name="Line 74"/>
            <p:cNvSpPr>
              <a:spLocks noChangeShapeType="1"/>
            </p:cNvSpPr>
            <p:nvPr/>
          </p:nvSpPr>
          <p:spPr bwMode="auto">
            <a:xfrm flipH="1">
              <a:off x="6625" y="4055"/>
              <a:ext cx="0" cy="136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" name="Text Box 253"/>
          <p:cNvSpPr txBox="1">
            <a:spLocks noChangeArrowheads="1"/>
          </p:cNvSpPr>
          <p:nvPr/>
        </p:nvSpPr>
        <p:spPr bwMode="auto">
          <a:xfrm>
            <a:off x="7865610" y="5465310"/>
            <a:ext cx="104257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=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V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30000" dirty="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  <a:endParaRPr lang="es-ES" sz="24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66034" name="Text Box 82"/>
          <p:cNvSpPr txBox="1">
            <a:spLocks noChangeArrowheads="1"/>
          </p:cNvSpPr>
          <p:nvPr/>
        </p:nvSpPr>
        <p:spPr bwMode="auto">
          <a:xfrm>
            <a:off x="1840954" y="5202978"/>
            <a:ext cx="1433761" cy="44970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 : Carga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6364133" y="4537445"/>
            <a:ext cx="3199800" cy="4921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108000" rIns="108000" bIns="144000" anchor="ctr" anchorCtr="1"/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P</a:t>
            </a:r>
            <a:r>
              <a:rPr lang="es-ES" sz="2400" baseline="-25000">
                <a:latin typeface="Comic Sans MS" panose="030F0702030302020204" pitchFamily="66" charset="0"/>
              </a:rPr>
              <a:t>suministrada</a:t>
            </a:r>
            <a:r>
              <a:rPr lang="es-ES" sz="2400">
                <a:latin typeface="Comic Sans MS" panose="030F0702030302020204" pitchFamily="66" charset="0"/>
              </a:rPr>
              <a:t> = P</a:t>
            </a:r>
            <a:r>
              <a:rPr lang="es-ES" sz="2400" baseline="-25000">
                <a:latin typeface="Comic Sans MS" panose="030F0702030302020204" pitchFamily="66" charset="0"/>
              </a:rPr>
              <a:t>consumida</a:t>
            </a:r>
          </a:p>
        </p:txBody>
      </p:sp>
      <p:sp>
        <p:nvSpPr>
          <p:cNvPr id="68" name="Text Box 83">
            <a:extLst>
              <a:ext uri="{FF2B5EF4-FFF2-40B4-BE49-F238E27FC236}">
                <a16:creationId xmlns:a16="http://schemas.microsoft.com/office/drawing/2014/main" id="{435CFAE4-5E54-447F-A9A8-E0AB9FEB2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230" y="4452943"/>
            <a:ext cx="3447456" cy="44970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 : Resistencia interna</a:t>
            </a:r>
          </a:p>
        </p:txBody>
      </p:sp>
      <p:grpSp>
        <p:nvGrpSpPr>
          <p:cNvPr id="72" name="Group 130">
            <a:extLst>
              <a:ext uri="{FF2B5EF4-FFF2-40B4-BE49-F238E27FC236}">
                <a16:creationId xmlns:a16="http://schemas.microsoft.com/office/drawing/2014/main" id="{F5135434-33E7-4C27-87E4-AFE604C5CC45}"/>
              </a:ext>
            </a:extLst>
          </p:cNvPr>
          <p:cNvGrpSpPr>
            <a:grpSpLocks/>
          </p:cNvGrpSpPr>
          <p:nvPr/>
        </p:nvGrpSpPr>
        <p:grpSpPr bwMode="auto">
          <a:xfrm>
            <a:off x="8330107" y="2537426"/>
            <a:ext cx="1828799" cy="1116014"/>
            <a:chOff x="5126" y="1603"/>
            <a:chExt cx="1152" cy="703"/>
          </a:xfrm>
        </p:grpSpPr>
        <p:sp>
          <p:nvSpPr>
            <p:cNvPr id="74" name="Text Box 217">
              <a:extLst>
                <a:ext uri="{FF2B5EF4-FFF2-40B4-BE49-F238E27FC236}">
                  <a16:creationId xmlns:a16="http://schemas.microsoft.com/office/drawing/2014/main" id="{FF67DEB9-C1BD-45D0-860D-B117A7E69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1735"/>
              <a:ext cx="115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Consume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energía</a:t>
              </a:r>
            </a:p>
          </p:txBody>
        </p:sp>
        <p:sp>
          <p:nvSpPr>
            <p:cNvPr id="76" name="Line 219">
              <a:extLst>
                <a:ext uri="{FF2B5EF4-FFF2-40B4-BE49-F238E27FC236}">
                  <a16:creationId xmlns:a16="http://schemas.microsoft.com/office/drawing/2014/main" id="{C01926A8-6850-46D8-A6DF-0F384775C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83" y="1603"/>
              <a:ext cx="0" cy="1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69" name="Text Box 253">
            <a:extLst>
              <a:ext uri="{FF2B5EF4-FFF2-40B4-BE49-F238E27FC236}">
                <a16:creationId xmlns:a16="http://schemas.microsoft.com/office/drawing/2014/main" id="{C23FC853-3B6A-4215-9318-8004D35E1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130" y="5420087"/>
            <a:ext cx="1731862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 </a:t>
            </a:r>
            <a:r>
              <a:rPr lang="es-ES" sz="2400" dirty="0">
                <a:latin typeface="Comic Sans MS" panose="030F0702030302020204" pitchFamily="66" charset="0"/>
              </a:rPr>
              <a:t>-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I</a:t>
            </a:r>
            <a:r>
              <a:rPr lang="es-ES" sz="2400" baseline="30000">
                <a:solidFill>
                  <a:srgbClr val="3333FF"/>
                </a:solidFill>
                <a:latin typeface="Comic Sans MS" panose="030F0702030302020204" pitchFamily="66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</a:t>
            </a:r>
            <a:endParaRPr lang="es-ES" sz="28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85" name="Line 178">
            <a:extLst>
              <a:ext uri="{FF2B5EF4-FFF2-40B4-BE49-F238E27FC236}">
                <a16:creationId xmlns:a16="http://schemas.microsoft.com/office/drawing/2014/main" id="{C52D77D0-D092-4073-B219-F7BCDB84D8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4781" y="1543513"/>
            <a:ext cx="0" cy="71437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86" name="Line 179">
            <a:extLst>
              <a:ext uri="{FF2B5EF4-FFF2-40B4-BE49-F238E27FC236}">
                <a16:creationId xmlns:a16="http://schemas.microsoft.com/office/drawing/2014/main" id="{3F392EBB-C6AB-4CB0-BD1E-7836862FE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781" y="2771660"/>
            <a:ext cx="0" cy="71437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77" name="Text Box 175">
            <a:extLst>
              <a:ext uri="{FF2B5EF4-FFF2-40B4-BE49-F238E27FC236}">
                <a16:creationId xmlns:a16="http://schemas.microsoft.com/office/drawing/2014/main" id="{CBCBCB0B-C488-48E3-9D06-68BD48D54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526" y="2235950"/>
            <a:ext cx="1579971" cy="32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/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FF3300"/>
                </a:solidFill>
                <a:latin typeface="Comic Sans MS" panose="030F0702030302020204" pitchFamily="66" charset="0"/>
              </a:rPr>
              <a:t>V </a:t>
            </a:r>
            <a:r>
              <a:rPr lang="es-ES" sz="2400">
                <a:solidFill>
                  <a:schemeClr val="tx1"/>
                </a:solidFill>
              </a:rPr>
              <a:t>= </a:t>
            </a:r>
            <a:r>
              <a:rPr lang="es-ES" sz="2800">
                <a:sym typeface="Symbol" panose="05050102010706020507" pitchFamily="18" charset="2"/>
              </a:rPr>
              <a:t>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- 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400">
              <a:solidFill>
                <a:srgbClr val="FF3300"/>
              </a:solidFill>
              <a:latin typeface="Comic Sans MS" panose="030F0702030302020204" pitchFamily="66" charset="0"/>
            </a:endParaRPr>
          </a:p>
        </p:txBody>
      </p:sp>
      <p:sp>
        <p:nvSpPr>
          <p:cNvPr id="78" name="Text Box 299">
            <a:extLst>
              <a:ext uri="{FF2B5EF4-FFF2-40B4-BE49-F238E27FC236}">
                <a16:creationId xmlns:a16="http://schemas.microsoft.com/office/drawing/2014/main" id="{7D8C41D5-3F2A-4941-A606-808D1C573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841" y="2266541"/>
            <a:ext cx="6969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9" name="Text Box 175">
            <a:extLst>
              <a:ext uri="{FF2B5EF4-FFF2-40B4-BE49-F238E27FC236}">
                <a16:creationId xmlns:a16="http://schemas.microsoft.com/office/drawing/2014/main" id="{56C08F03-BD32-472A-B066-786DD6839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024" y="2305051"/>
            <a:ext cx="3016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/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3300"/>
                </a:solidFill>
                <a:latin typeface="Comic Sans MS" panose="030F0702030302020204" pitchFamily="66" charset="0"/>
              </a:rPr>
              <a:t>V</a:t>
            </a:r>
          </a:p>
        </p:txBody>
      </p:sp>
      <p:sp>
        <p:nvSpPr>
          <p:cNvPr id="2" name="Text Box 214">
            <a:extLst>
              <a:ext uri="{FF2B5EF4-FFF2-40B4-BE49-F238E27FC236}">
                <a16:creationId xmlns:a16="http://schemas.microsoft.com/office/drawing/2014/main" id="{0FD05475-DFA0-3AB3-753F-252D432A7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019" y="850830"/>
            <a:ext cx="4546734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Circuito más simple en continua</a:t>
            </a:r>
          </a:p>
        </p:txBody>
      </p:sp>
      <p:sp>
        <p:nvSpPr>
          <p:cNvPr id="4" name="Text Box 215">
            <a:extLst>
              <a:ext uri="{FF2B5EF4-FFF2-40B4-BE49-F238E27FC236}">
                <a16:creationId xmlns:a16="http://schemas.microsoft.com/office/drawing/2014/main" id="{AF628A89-9782-3B20-47FE-12C98E96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514" y="1482808"/>
            <a:ext cx="4540231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Generador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real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+ Resistencia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217">
            <a:extLst>
              <a:ext uri="{FF2B5EF4-FFF2-40B4-BE49-F238E27FC236}">
                <a16:creationId xmlns:a16="http://schemas.microsoft.com/office/drawing/2014/main" id="{3A24091E-EA1B-CD7F-EC82-DEAFD6DCB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671" y="1989138"/>
            <a:ext cx="18287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(carga)</a:t>
            </a:r>
          </a:p>
        </p:txBody>
      </p:sp>
    </p:spTree>
    <p:extLst>
      <p:ext uri="{BB962C8B-B14F-4D97-AF65-F5344CB8AC3E}">
        <p14:creationId xmlns:p14="http://schemas.microsoft.com/office/powerpoint/2010/main" val="1469586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66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6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205" grpId="0"/>
      <p:bldP spid="12331" grpId="0" animBg="1"/>
      <p:bldP spid="3" grpId="0"/>
      <p:bldP spid="14" grpId="0" animBg="1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3B49D03-6BD4-E30C-7E6C-5D604F996A4F}"/>
              </a:ext>
            </a:extLst>
          </p:cNvPr>
          <p:cNvSpPr/>
          <p:nvPr/>
        </p:nvSpPr>
        <p:spPr bwMode="auto">
          <a:xfrm>
            <a:off x="1252046" y="1032668"/>
            <a:ext cx="4036637" cy="579180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67104" name="Line 128"/>
          <p:cNvSpPr>
            <a:spLocks noChangeShapeType="1"/>
          </p:cNvSpPr>
          <p:nvPr/>
        </p:nvSpPr>
        <p:spPr bwMode="auto">
          <a:xfrm>
            <a:off x="3257173" y="1767027"/>
            <a:ext cx="0" cy="2940050"/>
          </a:xfrm>
          <a:prstGeom prst="line">
            <a:avLst/>
          </a:prstGeom>
          <a:noFill/>
          <a:ln w="38100">
            <a:solidFill>
              <a:srgbClr val="008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1310482" y="366693"/>
            <a:ext cx="9313068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8.1.2 TEOREMA DE MÁXIMA TRANSFERENCIA DE POTENCIA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 rot="5400000" flipV="1">
            <a:off x="3788985" y="1560652"/>
            <a:ext cx="0" cy="10795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 rot="5400000" flipV="1">
            <a:off x="3819148" y="3691077"/>
            <a:ext cx="0" cy="10795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4357310" y="3437077"/>
            <a:ext cx="0" cy="79057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 flipV="1">
            <a:off x="4347785" y="2138502"/>
            <a:ext cx="0" cy="7921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3" name="Freeform 9"/>
          <p:cNvSpPr>
            <a:spLocks/>
          </p:cNvSpPr>
          <p:nvPr/>
        </p:nvSpPr>
        <p:spPr bwMode="auto">
          <a:xfrm>
            <a:off x="4171573" y="2944952"/>
            <a:ext cx="373062" cy="485775"/>
          </a:xfrm>
          <a:custGeom>
            <a:avLst/>
            <a:gdLst>
              <a:gd name="T0" fmla="*/ 2147483646 w 288"/>
              <a:gd name="T1" fmla="*/ 2147483646 h 384"/>
              <a:gd name="T2" fmla="*/ 0 w 288"/>
              <a:gd name="T3" fmla="*/ 2147483646 h 384"/>
              <a:gd name="T4" fmla="*/ 2147483646 w 288"/>
              <a:gd name="T5" fmla="*/ 2147483646 h 384"/>
              <a:gd name="T6" fmla="*/ 0 w 288"/>
              <a:gd name="T7" fmla="*/ 2147483646 h 384"/>
              <a:gd name="T8" fmla="*/ 2147483646 w 288"/>
              <a:gd name="T9" fmla="*/ 2147483646 h 384"/>
              <a:gd name="T10" fmla="*/ 0 w 288"/>
              <a:gd name="T11" fmla="*/ 0 h 384"/>
              <a:gd name="T12" fmla="*/ 2147483646 w 288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384"/>
              <a:gd name="T23" fmla="*/ 288 w 288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384">
                <a:moveTo>
                  <a:pt x="144" y="384"/>
                </a:moveTo>
                <a:lnTo>
                  <a:pt x="0" y="288"/>
                </a:lnTo>
                <a:lnTo>
                  <a:pt x="288" y="288"/>
                </a:lnTo>
                <a:lnTo>
                  <a:pt x="0" y="144"/>
                </a:lnTo>
                <a:lnTo>
                  <a:pt x="288" y="144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4608329" y="2942553"/>
            <a:ext cx="348529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11275" name="Line 70"/>
          <p:cNvSpPr>
            <a:spLocks noChangeShapeType="1"/>
          </p:cNvSpPr>
          <p:nvPr/>
        </p:nvSpPr>
        <p:spPr bwMode="auto">
          <a:xfrm rot="5400000" flipV="1">
            <a:off x="2709485" y="3691077"/>
            <a:ext cx="0" cy="10795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76" name="Line 71"/>
          <p:cNvSpPr>
            <a:spLocks noChangeShapeType="1"/>
          </p:cNvSpPr>
          <p:nvPr/>
        </p:nvSpPr>
        <p:spPr bwMode="auto">
          <a:xfrm rot="5400000" flipV="1">
            <a:off x="2709485" y="1560652"/>
            <a:ext cx="0" cy="10795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grpSp>
        <p:nvGrpSpPr>
          <p:cNvPr id="11277" name="Group 72"/>
          <p:cNvGrpSpPr>
            <a:grpSpLocks/>
          </p:cNvGrpSpPr>
          <p:nvPr/>
        </p:nvGrpSpPr>
        <p:grpSpPr bwMode="auto">
          <a:xfrm>
            <a:off x="1972885" y="3632339"/>
            <a:ext cx="441325" cy="76200"/>
            <a:chOff x="1619" y="2634"/>
            <a:chExt cx="340" cy="54"/>
          </a:xfrm>
        </p:grpSpPr>
        <p:sp>
          <p:nvSpPr>
            <p:cNvPr id="11343" name="Line 73"/>
            <p:cNvSpPr>
              <a:spLocks noChangeShapeType="1"/>
            </p:cNvSpPr>
            <p:nvPr/>
          </p:nvSpPr>
          <p:spPr bwMode="auto">
            <a:xfrm>
              <a:off x="1619" y="2634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44" name="Line 74"/>
            <p:cNvSpPr>
              <a:spLocks noChangeShapeType="1"/>
            </p:cNvSpPr>
            <p:nvPr/>
          </p:nvSpPr>
          <p:spPr bwMode="auto">
            <a:xfrm>
              <a:off x="1690" y="2688"/>
              <a:ext cx="20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11278" name="Text Box 75"/>
          <p:cNvSpPr txBox="1">
            <a:spLocks noChangeArrowheads="1"/>
          </p:cNvSpPr>
          <p:nvPr/>
        </p:nvSpPr>
        <p:spPr bwMode="auto">
          <a:xfrm>
            <a:off x="1671260" y="3381286"/>
            <a:ext cx="263525" cy="511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solidFill>
                  <a:srgbClr val="FF33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endParaRPr lang="es-ES" sz="2800">
              <a:solidFill>
                <a:srgbClr val="FF3300"/>
              </a:solidFill>
              <a:latin typeface="Comic Sans MS" panose="030F0702030302020204" pitchFamily="66" charset="0"/>
            </a:endParaRPr>
          </a:p>
        </p:txBody>
      </p:sp>
      <p:sp>
        <p:nvSpPr>
          <p:cNvPr id="11279" name="Line 76"/>
          <p:cNvSpPr>
            <a:spLocks noChangeShapeType="1"/>
          </p:cNvSpPr>
          <p:nvPr/>
        </p:nvSpPr>
        <p:spPr bwMode="auto">
          <a:xfrm flipV="1">
            <a:off x="2185610" y="3125927"/>
            <a:ext cx="0" cy="4841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80" name="Line 77"/>
          <p:cNvSpPr>
            <a:spLocks noChangeShapeType="1"/>
          </p:cNvSpPr>
          <p:nvPr/>
        </p:nvSpPr>
        <p:spPr bwMode="auto">
          <a:xfrm>
            <a:off x="2185610" y="3741877"/>
            <a:ext cx="0" cy="4841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81" name="Line 78"/>
          <p:cNvSpPr>
            <a:spLocks noChangeShapeType="1"/>
          </p:cNvSpPr>
          <p:nvPr/>
        </p:nvSpPr>
        <p:spPr bwMode="auto">
          <a:xfrm flipV="1">
            <a:off x="2176085" y="2114689"/>
            <a:ext cx="0" cy="4841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82" name="Freeform 79"/>
          <p:cNvSpPr>
            <a:spLocks/>
          </p:cNvSpPr>
          <p:nvPr/>
        </p:nvSpPr>
        <p:spPr bwMode="auto">
          <a:xfrm>
            <a:off x="1998285" y="2633802"/>
            <a:ext cx="376238" cy="485775"/>
          </a:xfrm>
          <a:custGeom>
            <a:avLst/>
            <a:gdLst>
              <a:gd name="T0" fmla="*/ 2147483646 w 288"/>
              <a:gd name="T1" fmla="*/ 2147483646 h 384"/>
              <a:gd name="T2" fmla="*/ 0 w 288"/>
              <a:gd name="T3" fmla="*/ 2147483646 h 384"/>
              <a:gd name="T4" fmla="*/ 2147483646 w 288"/>
              <a:gd name="T5" fmla="*/ 2147483646 h 384"/>
              <a:gd name="T6" fmla="*/ 0 w 288"/>
              <a:gd name="T7" fmla="*/ 2147483646 h 384"/>
              <a:gd name="T8" fmla="*/ 2147483646 w 288"/>
              <a:gd name="T9" fmla="*/ 2147483646 h 384"/>
              <a:gd name="T10" fmla="*/ 0 w 288"/>
              <a:gd name="T11" fmla="*/ 0 h 384"/>
              <a:gd name="T12" fmla="*/ 2147483646 w 288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384"/>
              <a:gd name="T23" fmla="*/ 288 w 288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384">
                <a:moveTo>
                  <a:pt x="144" y="384"/>
                </a:moveTo>
                <a:lnTo>
                  <a:pt x="0" y="288"/>
                </a:lnTo>
                <a:lnTo>
                  <a:pt x="288" y="288"/>
                </a:lnTo>
                <a:lnTo>
                  <a:pt x="0" y="144"/>
                </a:lnTo>
                <a:lnTo>
                  <a:pt x="288" y="144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Ctr="1">
            <a:spAutoFit/>
          </a:bodyPr>
          <a:lstStyle/>
          <a:p>
            <a:endParaRPr lang="en-GB"/>
          </a:p>
        </p:txBody>
      </p:sp>
      <p:sp>
        <p:nvSpPr>
          <p:cNvPr id="11283" name="Text Box 80"/>
          <p:cNvSpPr txBox="1">
            <a:spLocks noChangeArrowheads="1"/>
          </p:cNvSpPr>
          <p:nvPr/>
        </p:nvSpPr>
        <p:spPr bwMode="auto">
          <a:xfrm>
            <a:off x="1664910" y="2619514"/>
            <a:ext cx="261938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11284" name="Oval 81"/>
          <p:cNvSpPr>
            <a:spLocks noChangeArrowheads="1"/>
          </p:cNvSpPr>
          <p:nvPr/>
        </p:nvSpPr>
        <p:spPr bwMode="auto">
          <a:xfrm>
            <a:off x="3219073" y="2057539"/>
            <a:ext cx="88900" cy="968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5" name="Oval 82"/>
          <p:cNvSpPr>
            <a:spLocks noChangeArrowheads="1"/>
          </p:cNvSpPr>
          <p:nvPr/>
        </p:nvSpPr>
        <p:spPr bwMode="auto">
          <a:xfrm>
            <a:off x="3220660" y="4173677"/>
            <a:ext cx="88900" cy="9683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286" name="Group 83"/>
          <p:cNvGrpSpPr>
            <a:grpSpLocks/>
          </p:cNvGrpSpPr>
          <p:nvPr/>
        </p:nvGrpSpPr>
        <p:grpSpPr bwMode="auto">
          <a:xfrm>
            <a:off x="2620585" y="2103576"/>
            <a:ext cx="1382713" cy="2565400"/>
            <a:chOff x="1373" y="1168"/>
            <a:chExt cx="871" cy="1616"/>
          </a:xfrm>
        </p:grpSpPr>
        <p:sp>
          <p:nvSpPr>
            <p:cNvPr id="11339" name="Line 84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40" name="Line 85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41" name="Text Box 86"/>
            <p:cNvSpPr txBox="1">
              <a:spLocks noChangeArrowheads="1"/>
            </p:cNvSpPr>
            <p:nvPr/>
          </p:nvSpPr>
          <p:spPr bwMode="auto">
            <a:xfrm>
              <a:off x="1946" y="1172"/>
              <a:ext cx="22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1342" name="Text Box 87"/>
            <p:cNvSpPr txBox="1">
              <a:spLocks noChangeArrowheads="1"/>
            </p:cNvSpPr>
            <p:nvPr/>
          </p:nvSpPr>
          <p:spPr bwMode="auto">
            <a:xfrm>
              <a:off x="1422" y="2492"/>
              <a:ext cx="22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sp>
        <p:nvSpPr>
          <p:cNvPr id="767108" name="Text Box 132"/>
          <p:cNvSpPr txBox="1">
            <a:spLocks noChangeArrowheads="1"/>
          </p:cNvSpPr>
          <p:nvPr/>
        </p:nvSpPr>
        <p:spPr bwMode="auto">
          <a:xfrm>
            <a:off x="1342614" y="4789946"/>
            <a:ext cx="1766887" cy="66247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lIns="108000" tIns="36000" rIns="108000" bIns="1080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</a:t>
            </a:r>
            <a:r>
              <a:rPr lang="es-ES" sz="2400" baseline="-25000">
                <a:latin typeface="Comic Sans MS" panose="030F0702030302020204" pitchFamily="66" charset="0"/>
              </a:rPr>
              <a:t>Parte 1</a:t>
            </a:r>
            <a:r>
              <a:rPr lang="es-ES" sz="2400">
                <a:latin typeface="Comic Sans MS" panose="030F0702030302020204" pitchFamily="66" charset="0"/>
              </a:rPr>
              <a:t> = r</a:t>
            </a:r>
          </a:p>
        </p:txBody>
      </p:sp>
      <p:sp>
        <p:nvSpPr>
          <p:cNvPr id="767109" name="Text Box 133"/>
          <p:cNvSpPr txBox="1">
            <a:spLocks noChangeArrowheads="1"/>
          </p:cNvSpPr>
          <p:nvPr/>
        </p:nvSpPr>
        <p:spPr bwMode="auto">
          <a:xfrm>
            <a:off x="1341060" y="1118551"/>
            <a:ext cx="176844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Parte 1</a:t>
            </a:r>
          </a:p>
        </p:txBody>
      </p:sp>
      <p:sp>
        <p:nvSpPr>
          <p:cNvPr id="767110" name="Text Box 134"/>
          <p:cNvSpPr txBox="1">
            <a:spLocks noChangeArrowheads="1"/>
          </p:cNvSpPr>
          <p:nvPr/>
        </p:nvSpPr>
        <p:spPr bwMode="auto">
          <a:xfrm>
            <a:off x="3396072" y="1137194"/>
            <a:ext cx="177654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Parte 2</a:t>
            </a:r>
          </a:p>
        </p:txBody>
      </p:sp>
      <p:sp>
        <p:nvSpPr>
          <p:cNvPr id="767111" name="Text Box 135"/>
          <p:cNvSpPr txBox="1">
            <a:spLocks noChangeArrowheads="1"/>
          </p:cNvSpPr>
          <p:nvPr/>
        </p:nvSpPr>
        <p:spPr bwMode="auto">
          <a:xfrm>
            <a:off x="3395436" y="4795492"/>
            <a:ext cx="1798487" cy="66247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36000" rIns="108000" bIns="1080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</a:t>
            </a:r>
            <a:r>
              <a:rPr lang="es-ES" sz="2400" baseline="-25000">
                <a:latin typeface="Comic Sans MS" panose="030F0702030302020204" pitchFamily="66" charset="0"/>
              </a:rPr>
              <a:t>Parte 2</a:t>
            </a:r>
            <a:r>
              <a:rPr lang="es-ES" sz="2400">
                <a:latin typeface="Comic Sans MS" panose="030F0702030302020204" pitchFamily="66" charset="0"/>
              </a:rPr>
              <a:t> = R</a:t>
            </a:r>
          </a:p>
        </p:txBody>
      </p:sp>
      <p:grpSp>
        <p:nvGrpSpPr>
          <p:cNvPr id="5" name="Group 186"/>
          <p:cNvGrpSpPr>
            <a:grpSpLocks/>
          </p:cNvGrpSpPr>
          <p:nvPr/>
        </p:nvGrpSpPr>
        <p:grpSpPr bwMode="auto">
          <a:xfrm>
            <a:off x="1334677" y="5516007"/>
            <a:ext cx="1774824" cy="1238248"/>
            <a:chOff x="889" y="3563"/>
            <a:chExt cx="1118" cy="780"/>
          </a:xfrm>
        </p:grpSpPr>
        <p:sp>
          <p:nvSpPr>
            <p:cNvPr id="11337" name="Text Box 3"/>
            <p:cNvSpPr txBox="1">
              <a:spLocks noChangeArrowheads="1"/>
            </p:cNvSpPr>
            <p:nvPr/>
          </p:nvSpPr>
          <p:spPr bwMode="auto">
            <a:xfrm>
              <a:off x="889" y="3749"/>
              <a:ext cx="1118" cy="594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Resistencia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de salida</a:t>
              </a:r>
            </a:p>
          </p:txBody>
        </p:sp>
        <p:sp>
          <p:nvSpPr>
            <p:cNvPr id="11338" name="Line 136"/>
            <p:cNvSpPr>
              <a:spLocks noChangeShapeType="1"/>
            </p:cNvSpPr>
            <p:nvPr/>
          </p:nvSpPr>
          <p:spPr bwMode="auto">
            <a:xfrm>
              <a:off x="1448" y="3563"/>
              <a:ext cx="0" cy="15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6" name="Group 185"/>
          <p:cNvGrpSpPr>
            <a:grpSpLocks/>
          </p:cNvGrpSpPr>
          <p:nvPr/>
        </p:nvGrpSpPr>
        <p:grpSpPr bwMode="auto">
          <a:xfrm>
            <a:off x="3397794" y="5525200"/>
            <a:ext cx="1774826" cy="1225552"/>
            <a:chOff x="2348" y="3564"/>
            <a:chExt cx="1118" cy="772"/>
          </a:xfrm>
        </p:grpSpPr>
        <p:sp>
          <p:nvSpPr>
            <p:cNvPr id="11335" name="Text Box 131"/>
            <p:cNvSpPr txBox="1">
              <a:spLocks noChangeArrowheads="1"/>
            </p:cNvSpPr>
            <p:nvPr/>
          </p:nvSpPr>
          <p:spPr bwMode="auto">
            <a:xfrm>
              <a:off x="2348" y="3742"/>
              <a:ext cx="1118" cy="594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Resistencia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de entrada</a:t>
              </a:r>
            </a:p>
          </p:txBody>
        </p:sp>
        <p:sp>
          <p:nvSpPr>
            <p:cNvPr id="11336" name="Line 137"/>
            <p:cNvSpPr>
              <a:spLocks noChangeShapeType="1"/>
            </p:cNvSpPr>
            <p:nvPr/>
          </p:nvSpPr>
          <p:spPr bwMode="auto">
            <a:xfrm>
              <a:off x="2910" y="3564"/>
              <a:ext cx="0" cy="15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11330" name="AutoShape 129"/>
          <p:cNvSpPr>
            <a:spLocks noChangeArrowheads="1"/>
          </p:cNvSpPr>
          <p:nvPr/>
        </p:nvSpPr>
        <p:spPr bwMode="auto">
          <a:xfrm>
            <a:off x="2754379" y="3025656"/>
            <a:ext cx="994830" cy="334963"/>
          </a:xfrm>
          <a:prstGeom prst="rightArrow">
            <a:avLst>
              <a:gd name="adj1" fmla="val 56398"/>
              <a:gd name="adj2" fmla="val 89104"/>
            </a:avLst>
          </a:prstGeom>
          <a:solidFill>
            <a:srgbClr val="008000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67132" name="Text Box 156"/>
          <p:cNvSpPr txBox="1">
            <a:spLocks noChangeArrowheads="1"/>
          </p:cNvSpPr>
          <p:nvPr/>
        </p:nvSpPr>
        <p:spPr bwMode="auto">
          <a:xfrm>
            <a:off x="5400675" y="1042598"/>
            <a:ext cx="4985933" cy="53654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¿Cuándo se produce de 1 a 2 la  ?</a:t>
            </a:r>
          </a:p>
        </p:txBody>
      </p:sp>
      <p:sp>
        <p:nvSpPr>
          <p:cNvPr id="767135" name="Text Box 159"/>
          <p:cNvSpPr txBox="1">
            <a:spLocks noChangeArrowheads="1"/>
          </p:cNvSpPr>
          <p:nvPr/>
        </p:nvSpPr>
        <p:spPr bwMode="auto">
          <a:xfrm>
            <a:off x="5482115" y="1937987"/>
            <a:ext cx="1454601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P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  <a:r>
              <a:rPr lang="es-ES" sz="2400">
                <a:latin typeface="Comic Sans MS" panose="030F0702030302020204" pitchFamily="66" charset="0"/>
              </a:rPr>
              <a:t>=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</a:rPr>
              <a:t>V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Comic Sans MS" panose="030F0702030302020204" pitchFamily="66" charset="0"/>
              </a:rPr>
              <a:t> =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 </a:t>
            </a:r>
          </a:p>
        </p:txBody>
      </p:sp>
      <p:grpSp>
        <p:nvGrpSpPr>
          <p:cNvPr id="9" name="Group 191"/>
          <p:cNvGrpSpPr>
            <a:grpSpLocks/>
          </p:cNvGrpSpPr>
          <p:nvPr/>
        </p:nvGrpSpPr>
        <p:grpSpPr bwMode="auto">
          <a:xfrm>
            <a:off x="6685095" y="1752080"/>
            <a:ext cx="1528764" cy="846138"/>
            <a:chOff x="4274" y="1339"/>
            <a:chExt cx="963" cy="533"/>
          </a:xfrm>
        </p:grpSpPr>
        <p:sp>
          <p:nvSpPr>
            <p:cNvPr id="11326" name="Line 160"/>
            <p:cNvSpPr>
              <a:spLocks noChangeShapeType="1"/>
            </p:cNvSpPr>
            <p:nvPr/>
          </p:nvSpPr>
          <p:spPr bwMode="auto">
            <a:xfrm>
              <a:off x="4559" y="1595"/>
              <a:ext cx="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>
              <a:spAutoFit/>
            </a:bodyPr>
            <a:lstStyle/>
            <a:p>
              <a:endParaRPr lang="en-GB" sz="2400"/>
            </a:p>
          </p:txBody>
        </p:sp>
        <p:sp>
          <p:nvSpPr>
            <p:cNvPr id="11327" name="Text Box 161"/>
            <p:cNvSpPr txBox="1">
              <a:spLocks noChangeArrowheads="1"/>
            </p:cNvSpPr>
            <p:nvPr/>
          </p:nvSpPr>
          <p:spPr bwMode="auto">
            <a:xfrm>
              <a:off x="4496" y="1589"/>
              <a:ext cx="74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(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400">
                  <a:latin typeface="Comic Sans MS" panose="030F0702030302020204" pitchFamily="66" charset="0"/>
                </a:rPr>
                <a:t>+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400">
                  <a:latin typeface="Comic Sans MS" panose="030F0702030302020204" pitchFamily="66" charset="0"/>
                </a:rPr>
                <a:t>)</a:t>
              </a:r>
              <a:r>
                <a:rPr lang="es-ES" sz="2400" baseline="300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11328" name="Text Box 162"/>
            <p:cNvSpPr txBox="1">
              <a:spLocks noChangeArrowheads="1"/>
            </p:cNvSpPr>
            <p:nvPr/>
          </p:nvSpPr>
          <p:spPr bwMode="auto">
            <a:xfrm>
              <a:off x="4274" y="1398"/>
              <a:ext cx="275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r>
                <a:rPr lang="es-ES" sz="2400" baseline="300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329" name="Text Box 163"/>
            <p:cNvSpPr txBox="1">
              <a:spLocks noChangeArrowheads="1"/>
            </p:cNvSpPr>
            <p:nvPr/>
          </p:nvSpPr>
          <p:spPr bwMode="auto">
            <a:xfrm>
              <a:off x="4698" y="1339"/>
              <a:ext cx="23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11324" name="Text Box 171"/>
          <p:cNvSpPr txBox="1">
            <a:spLocks noChangeArrowheads="1"/>
          </p:cNvSpPr>
          <p:nvPr/>
        </p:nvSpPr>
        <p:spPr bwMode="auto">
          <a:xfrm>
            <a:off x="8159174" y="4219797"/>
            <a:ext cx="5905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= 0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F197BDB-C649-4DB3-B557-B0CBC6898029}"/>
              </a:ext>
            </a:extLst>
          </p:cNvPr>
          <p:cNvGrpSpPr/>
          <p:nvPr/>
        </p:nvGrpSpPr>
        <p:grpSpPr>
          <a:xfrm>
            <a:off x="5444549" y="4030884"/>
            <a:ext cx="2849563" cy="931864"/>
            <a:chOff x="5299075" y="4170976"/>
            <a:chExt cx="2849563" cy="931864"/>
          </a:xfrm>
        </p:grpSpPr>
        <p:sp>
          <p:nvSpPr>
            <p:cNvPr id="11320" name="Text Box 167"/>
            <p:cNvSpPr txBox="1">
              <a:spLocks noChangeArrowheads="1"/>
            </p:cNvSpPr>
            <p:nvPr/>
          </p:nvSpPr>
          <p:spPr bwMode="auto">
            <a:xfrm>
              <a:off x="6977063" y="4170976"/>
              <a:ext cx="1031875" cy="44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(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400">
                  <a:latin typeface="Comic Sans MS" panose="030F0702030302020204" pitchFamily="66" charset="0"/>
                </a:rPr>
                <a:t>-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400">
                  <a:latin typeface="Comic Sans MS" panose="030F0702030302020204" pitchFamily="66" charset="0"/>
                </a:rPr>
                <a:t>)</a:t>
              </a:r>
              <a:endParaRPr lang="es-ES" sz="2400" baseline="30000">
                <a:latin typeface="Comic Sans MS" panose="030F0702030302020204" pitchFamily="66" charset="0"/>
              </a:endParaRPr>
            </a:p>
          </p:txBody>
        </p:sp>
        <p:sp>
          <p:nvSpPr>
            <p:cNvPr id="11321" name="Text Box 168"/>
            <p:cNvSpPr txBox="1">
              <a:spLocks noChangeArrowheads="1"/>
            </p:cNvSpPr>
            <p:nvPr/>
          </p:nvSpPr>
          <p:spPr bwMode="auto">
            <a:xfrm>
              <a:off x="6972300" y="4653577"/>
              <a:ext cx="1176338" cy="44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(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400">
                  <a:latin typeface="Comic Sans MS" panose="030F0702030302020204" pitchFamily="66" charset="0"/>
                </a:rPr>
                <a:t>+</a:t>
              </a: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4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  <a:r>
                <a:rPr lang="es-ES" sz="2400">
                  <a:latin typeface="Comic Sans MS" panose="030F0702030302020204" pitchFamily="66" charset="0"/>
                </a:rPr>
                <a:t>)</a:t>
              </a:r>
              <a:r>
                <a:rPr lang="es-ES" sz="2400" baseline="300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11322" name="Text Box 169"/>
            <p:cNvSpPr txBox="1">
              <a:spLocks noChangeArrowheads="1"/>
            </p:cNvSpPr>
            <p:nvPr/>
          </p:nvSpPr>
          <p:spPr bwMode="auto">
            <a:xfrm>
              <a:off x="6535738" y="4256701"/>
              <a:ext cx="436563" cy="511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r>
                <a:rPr lang="es-ES" sz="2400" baseline="300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323" name="Line 170"/>
            <p:cNvSpPr>
              <a:spLocks noChangeShapeType="1"/>
            </p:cNvSpPr>
            <p:nvPr/>
          </p:nvSpPr>
          <p:spPr bwMode="auto">
            <a:xfrm>
              <a:off x="7000875" y="4620239"/>
              <a:ext cx="9477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325" name="Text Box 172"/>
            <p:cNvSpPr txBox="1">
              <a:spLocks noChangeArrowheads="1"/>
            </p:cNvSpPr>
            <p:nvPr/>
          </p:nvSpPr>
          <p:spPr bwMode="auto">
            <a:xfrm>
              <a:off x="5299075" y="4329726"/>
              <a:ext cx="1303338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Comic Sans MS" panose="030F0702030302020204" pitchFamily="66" charset="0"/>
                </a:rPr>
                <a:t>dP/dR =</a:t>
              </a:r>
              <a:endParaRPr lang="es-ES" sz="2400" baseline="30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767149" name="Text Box 173"/>
          <p:cNvSpPr txBox="1">
            <a:spLocks noChangeArrowheads="1"/>
          </p:cNvSpPr>
          <p:nvPr/>
        </p:nvSpPr>
        <p:spPr bwMode="auto">
          <a:xfrm>
            <a:off x="8692315" y="4161818"/>
            <a:ext cx="194987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) = 0</a:t>
            </a:r>
            <a:endParaRPr lang="es-ES" sz="24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67152" name="Text Box 176"/>
          <p:cNvSpPr txBox="1">
            <a:spLocks noChangeArrowheads="1"/>
          </p:cNvSpPr>
          <p:nvPr/>
        </p:nvSpPr>
        <p:spPr bwMode="auto">
          <a:xfrm>
            <a:off x="5768684" y="4969682"/>
            <a:ext cx="2333324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Ocurre </a:t>
            </a:r>
            <a:r>
              <a:rPr lang="es-ES" sz="2400">
                <a:latin typeface="Arial" panose="020B0604020202020204" pitchFamily="34" charset="0"/>
              </a:rPr>
              <a:t>cuando:</a:t>
            </a:r>
            <a:endParaRPr lang="es-ES" sz="2400" baseline="30000" dirty="0">
              <a:latin typeface="Comic Sans MS" panose="030F0702030302020204" pitchFamily="66" charset="0"/>
            </a:endParaRPr>
          </a:p>
        </p:txBody>
      </p:sp>
      <p:sp>
        <p:nvSpPr>
          <p:cNvPr id="69700" name="Text Box 165"/>
          <p:cNvSpPr txBox="1">
            <a:spLocks noChangeArrowheads="1"/>
          </p:cNvSpPr>
          <p:nvPr/>
        </p:nvSpPr>
        <p:spPr bwMode="auto">
          <a:xfrm>
            <a:off x="8125207" y="1917651"/>
            <a:ext cx="981714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= P(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>
                <a:latin typeface="Comic Sans MS" panose="030F0702030302020204" pitchFamily="66" charset="0"/>
              </a:rPr>
              <a:t>)</a:t>
            </a:r>
            <a:endParaRPr lang="es-ES" sz="240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11303" name="Text Box 175"/>
          <p:cNvSpPr txBox="1">
            <a:spLocks noChangeArrowheads="1"/>
          </p:cNvSpPr>
          <p:nvPr/>
        </p:nvSpPr>
        <p:spPr bwMode="auto">
          <a:xfrm>
            <a:off x="1304001" y="2937427"/>
            <a:ext cx="354941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3300"/>
                </a:solidFill>
                <a:latin typeface="Comic Sans MS" panose="030F0702030302020204" pitchFamily="66" charset="0"/>
              </a:rPr>
              <a:t>V</a:t>
            </a:r>
          </a:p>
        </p:txBody>
      </p:sp>
      <p:sp>
        <p:nvSpPr>
          <p:cNvPr id="11304" name="Line 176"/>
          <p:cNvSpPr>
            <a:spLocks noChangeShapeType="1"/>
          </p:cNvSpPr>
          <p:nvPr/>
        </p:nvSpPr>
        <p:spPr bwMode="auto">
          <a:xfrm>
            <a:off x="1371540" y="2084527"/>
            <a:ext cx="792163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1305" name="Line 177"/>
          <p:cNvSpPr>
            <a:spLocks noChangeShapeType="1"/>
          </p:cNvSpPr>
          <p:nvPr/>
        </p:nvSpPr>
        <p:spPr bwMode="auto">
          <a:xfrm>
            <a:off x="1361698" y="4243527"/>
            <a:ext cx="792162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1306" name="Line 178"/>
          <p:cNvSpPr>
            <a:spLocks noChangeShapeType="1"/>
          </p:cNvSpPr>
          <p:nvPr/>
        </p:nvSpPr>
        <p:spPr bwMode="auto">
          <a:xfrm flipV="1">
            <a:off x="1492913" y="2084527"/>
            <a:ext cx="0" cy="8636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1307" name="Line 179"/>
          <p:cNvSpPr>
            <a:spLocks noChangeShapeType="1"/>
          </p:cNvSpPr>
          <p:nvPr/>
        </p:nvSpPr>
        <p:spPr bwMode="auto">
          <a:xfrm>
            <a:off x="1492913" y="3341827"/>
            <a:ext cx="0" cy="8636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1313" name="Text Box 164"/>
          <p:cNvSpPr txBox="1">
            <a:spLocks noChangeArrowheads="1"/>
          </p:cNvSpPr>
          <p:nvPr/>
        </p:nvSpPr>
        <p:spPr bwMode="auto">
          <a:xfrm>
            <a:off x="8300380" y="2715224"/>
            <a:ext cx="1977394" cy="1217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36000" rIns="90000" bIns="36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dP/dR = 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d</a:t>
            </a:r>
            <a:r>
              <a:rPr lang="es-ES" sz="2400" baseline="300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P/dR</a:t>
            </a:r>
            <a:r>
              <a:rPr lang="es-ES" sz="2400" baseline="30000">
                <a:solidFill>
                  <a:srgbClr val="000000"/>
                </a:solidFill>
                <a:latin typeface="Comic Sans MS" panose="030F0702030302020204" pitchFamily="66" charset="0"/>
              </a:rPr>
              <a:t>2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&lt; 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en esa R</a:t>
            </a:r>
            <a:endParaRPr lang="es-ES" sz="20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1314" name="Text Box 83"/>
          <p:cNvSpPr txBox="1">
            <a:spLocks noChangeArrowheads="1"/>
          </p:cNvSpPr>
          <p:nvPr/>
        </p:nvSpPr>
        <p:spPr bwMode="auto">
          <a:xfrm>
            <a:off x="5742843" y="2730775"/>
            <a:ext cx="1814944" cy="121705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wrap="square" lIns="90000" tIns="36000" rIns="90000" bIns="360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Máximo de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Potencia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en cierta R</a:t>
            </a:r>
          </a:p>
        </p:txBody>
      </p:sp>
      <p:sp>
        <p:nvSpPr>
          <p:cNvPr id="77" name="Text Box 92">
            <a:extLst>
              <a:ext uri="{FF2B5EF4-FFF2-40B4-BE49-F238E27FC236}">
                <a16:creationId xmlns:a16="http://schemas.microsoft.com/office/drawing/2014/main" id="{DBAAEA6D-B89E-4797-A503-0C4AE36F6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515" y="6149928"/>
            <a:ext cx="1991259" cy="47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76535" tIns="111600" rIns="76535" bIns="111600" anchor="ctr" anchorCtr="0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Z</a:t>
            </a:r>
            <a:r>
              <a:rPr lang="es-ES" sz="2400" baseline="-25000" dirty="0">
                <a:latin typeface="Comic Sans MS" panose="030F0702030302020204" pitchFamily="66" charset="0"/>
              </a:rPr>
              <a:t>ENT</a:t>
            </a:r>
            <a:r>
              <a:rPr lang="es-ES" sz="2400" dirty="0">
                <a:latin typeface="Comic Sans MS" panose="030F0702030302020204" pitchFamily="66" charset="0"/>
              </a:rPr>
              <a:t> = Z</a:t>
            </a:r>
            <a:r>
              <a:rPr lang="es-ES" sz="2400" baseline="-25000" dirty="0">
                <a:latin typeface="Comic Sans MS" panose="030F0702030302020204" pitchFamily="66" charset="0"/>
              </a:rPr>
              <a:t>SAL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11316" name="Text Box 174"/>
          <p:cNvSpPr txBox="1">
            <a:spLocks noChangeArrowheads="1"/>
          </p:cNvSpPr>
          <p:nvPr/>
        </p:nvSpPr>
        <p:spPr bwMode="auto">
          <a:xfrm>
            <a:off x="5941747" y="6110014"/>
            <a:ext cx="222879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alterna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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8" name="Text Box 92">
            <a:extLst>
              <a:ext uri="{FF2B5EF4-FFF2-40B4-BE49-F238E27FC236}">
                <a16:creationId xmlns:a16="http://schemas.microsoft.com/office/drawing/2014/main" id="{53A5A227-F7EF-4BB1-A03B-954476DA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380" y="5554849"/>
            <a:ext cx="1987226" cy="5248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76535" tIns="111600" rIns="76535" bIns="111600" anchor="ctr" anchorCtr="0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 R</a:t>
            </a:r>
            <a:r>
              <a:rPr lang="es-ES" sz="2400" baseline="-25000">
                <a:latin typeface="Comic Sans MS" panose="030F0702030302020204" pitchFamily="66" charset="0"/>
              </a:rPr>
              <a:t>ENT</a:t>
            </a:r>
            <a:r>
              <a:rPr lang="es-ES" sz="2400">
                <a:latin typeface="Comic Sans MS" panose="030F0702030302020204" pitchFamily="66" charset="0"/>
              </a:rPr>
              <a:t> </a:t>
            </a:r>
            <a:r>
              <a:rPr lang="es-ES" sz="2400" dirty="0">
                <a:latin typeface="Comic Sans MS" panose="030F0702030302020204" pitchFamily="66" charset="0"/>
              </a:rPr>
              <a:t>= R</a:t>
            </a:r>
            <a:r>
              <a:rPr lang="es-ES" sz="2400" baseline="-25000" dirty="0">
                <a:latin typeface="Comic Sans MS" panose="030F0702030302020204" pitchFamily="66" charset="0"/>
              </a:rPr>
              <a:t>SAL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79" name="Text Box 174">
            <a:extLst>
              <a:ext uri="{FF2B5EF4-FFF2-40B4-BE49-F238E27FC236}">
                <a16:creationId xmlns:a16="http://schemas.microsoft.com/office/drawing/2014/main" id="{8E59471A-0383-4402-8757-F0C2C88F6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643" y="6471982"/>
            <a:ext cx="2026815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(Z: impedancia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318" name="Text Box 166"/>
          <p:cNvSpPr txBox="1">
            <a:spLocks noChangeArrowheads="1"/>
          </p:cNvSpPr>
          <p:nvPr/>
        </p:nvSpPr>
        <p:spPr bwMode="auto">
          <a:xfrm>
            <a:off x="8978496" y="1685332"/>
            <a:ext cx="1598613" cy="941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fijado el generador 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y r)</a:t>
            </a: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9AD9023-9E86-495F-A16F-7213BE1EF56B}"/>
              </a:ext>
            </a:extLst>
          </p:cNvPr>
          <p:cNvSpPr/>
          <p:nvPr/>
        </p:nvSpPr>
        <p:spPr bwMode="auto">
          <a:xfrm>
            <a:off x="8277989" y="1886167"/>
            <a:ext cx="939186" cy="148583"/>
          </a:xfrm>
          <a:custGeom>
            <a:avLst/>
            <a:gdLst>
              <a:gd name="connsiteX0" fmla="*/ 882503 w 882503"/>
              <a:gd name="connsiteY0" fmla="*/ 0 h 233916"/>
              <a:gd name="connsiteX1" fmla="*/ 0 w 882503"/>
              <a:gd name="connsiteY1" fmla="*/ 10632 h 233916"/>
              <a:gd name="connsiteX2" fmla="*/ 0 w 882503"/>
              <a:gd name="connsiteY2" fmla="*/ 233916 h 233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503" h="233916">
                <a:moveTo>
                  <a:pt x="882503" y="0"/>
                </a:moveTo>
                <a:lnTo>
                  <a:pt x="0" y="10632"/>
                </a:lnTo>
                <a:lnTo>
                  <a:pt x="0" y="233916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311" name="Text Box 175"/>
          <p:cNvSpPr txBox="1">
            <a:spLocks noChangeArrowheads="1"/>
          </p:cNvSpPr>
          <p:nvPr/>
        </p:nvSpPr>
        <p:spPr bwMode="auto">
          <a:xfrm>
            <a:off x="5938632" y="5562515"/>
            <a:ext cx="221615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continua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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0" name="AutoShape 129">
            <a:extLst>
              <a:ext uri="{FF2B5EF4-FFF2-40B4-BE49-F238E27FC236}">
                <a16:creationId xmlns:a16="http://schemas.microsoft.com/office/drawing/2014/main" id="{EE6DF724-13C3-4558-8F0A-D07C6AD9B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009" y="3002895"/>
            <a:ext cx="379500" cy="652749"/>
          </a:xfrm>
          <a:prstGeom prst="rightArrow">
            <a:avLst>
              <a:gd name="adj1" fmla="val 56398"/>
              <a:gd name="adj2" fmla="val 6484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578878B-D5D0-455F-B959-3C545FD6D4E6}"/>
              </a:ext>
            </a:extLst>
          </p:cNvPr>
          <p:cNvCxnSpPr/>
          <p:nvPr/>
        </p:nvCxnSpPr>
        <p:spPr bwMode="auto">
          <a:xfrm>
            <a:off x="4316846" y="816019"/>
            <a:ext cx="6048000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6282E0-8A72-4CA6-A720-A3C02435BD43}"/>
              </a:ext>
            </a:extLst>
          </p:cNvPr>
          <p:cNvCxnSpPr>
            <a:cxnSpLocks/>
          </p:cNvCxnSpPr>
          <p:nvPr/>
        </p:nvCxnSpPr>
        <p:spPr bwMode="auto">
          <a:xfrm>
            <a:off x="9996802" y="831026"/>
            <a:ext cx="0" cy="505787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lg" len="lg"/>
            <a:tailEnd type="oval" w="lg" len="lg"/>
          </a:ln>
          <a:effectLst/>
        </p:spPr>
      </p:cxnSp>
      <p:sp>
        <p:nvSpPr>
          <p:cNvPr id="14" name="Text Box 176">
            <a:extLst>
              <a:ext uri="{FF2B5EF4-FFF2-40B4-BE49-F238E27FC236}">
                <a16:creationId xmlns:a16="http://schemas.microsoft.com/office/drawing/2014/main" id="{7B0CBAB2-D491-B825-65FA-A979EE500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380" y="4986999"/>
            <a:ext cx="197739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</a:rPr>
              <a:t>R </a:t>
            </a:r>
            <a:r>
              <a:rPr lang="es-ES" sz="2400" dirty="0">
                <a:latin typeface="Comic Sans MS" panose="030F0702030302020204" pitchFamily="66" charset="0"/>
              </a:rPr>
              <a:t>= r</a:t>
            </a:r>
            <a:endParaRPr lang="es-ES" sz="2400" baseline="30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6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6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6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6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6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6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6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6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6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104" grpId="0" animBg="1"/>
      <p:bldP spid="767108" grpId="0" animBg="1"/>
      <p:bldP spid="767109" grpId="0" animBg="1"/>
      <p:bldP spid="767110" grpId="0" animBg="1"/>
      <p:bldP spid="767111" grpId="0" animBg="1"/>
      <p:bldP spid="11330" grpId="0" animBg="1"/>
      <p:bldP spid="767132" grpId="0" animBg="1"/>
      <p:bldP spid="767135" grpId="0"/>
      <p:bldP spid="11324" grpId="0"/>
      <p:bldP spid="767149" grpId="0"/>
      <p:bldP spid="767152" grpId="0"/>
      <p:bldP spid="69700" grpId="0"/>
      <p:bldP spid="11313" grpId="0" animBg="1"/>
      <p:bldP spid="11314" grpId="0" animBg="1"/>
      <p:bldP spid="77" grpId="0" animBg="1"/>
      <p:bldP spid="11316" grpId="0"/>
      <p:bldP spid="78" grpId="0" animBg="1"/>
      <p:bldP spid="79" grpId="0"/>
      <p:bldP spid="11318" grpId="0"/>
      <p:bldP spid="4" grpId="0" animBg="1"/>
      <p:bldP spid="11311" grpId="0"/>
      <p:bldP spid="80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274763" y="337993"/>
            <a:ext cx="87582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8.1.3 FUENTES DE TENSIÓN E INTENSIDAD</a:t>
            </a: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2804336" y="2177165"/>
            <a:ext cx="1654175" cy="2130425"/>
            <a:chOff x="1769" y="1166"/>
            <a:chExt cx="1042" cy="1342"/>
          </a:xfrm>
        </p:grpSpPr>
        <p:sp>
          <p:nvSpPr>
            <p:cNvPr id="13402" name="Line 4"/>
            <p:cNvSpPr>
              <a:spLocks noChangeShapeType="1"/>
            </p:cNvSpPr>
            <p:nvPr/>
          </p:nvSpPr>
          <p:spPr bwMode="auto">
            <a:xfrm rot="5400000" flipV="1">
              <a:off x="210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03" name="Line 5"/>
            <p:cNvSpPr>
              <a:spLocks noChangeShapeType="1"/>
            </p:cNvSpPr>
            <p:nvPr/>
          </p:nvSpPr>
          <p:spPr bwMode="auto">
            <a:xfrm rot="5400000" flipV="1">
              <a:off x="2128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04" name="Line 6"/>
            <p:cNvSpPr>
              <a:spLocks noChangeShapeType="1"/>
            </p:cNvSpPr>
            <p:nvPr/>
          </p:nvSpPr>
          <p:spPr bwMode="auto">
            <a:xfrm flipV="1">
              <a:off x="2467" y="2008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05" name="Line 7"/>
            <p:cNvSpPr>
              <a:spLocks noChangeShapeType="1"/>
            </p:cNvSpPr>
            <p:nvPr/>
          </p:nvSpPr>
          <p:spPr bwMode="auto">
            <a:xfrm flipV="1">
              <a:off x="2461" y="1190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06" name="Freeform 8"/>
            <p:cNvSpPr>
              <a:spLocks/>
            </p:cNvSpPr>
            <p:nvPr/>
          </p:nvSpPr>
          <p:spPr bwMode="auto">
            <a:xfrm>
              <a:off x="2350" y="1698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07" name="Text Box 9"/>
            <p:cNvSpPr txBox="1">
              <a:spLocks noChangeArrowheads="1"/>
            </p:cNvSpPr>
            <p:nvPr/>
          </p:nvSpPr>
          <p:spPr bwMode="auto">
            <a:xfrm>
              <a:off x="2625" y="1702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sp>
        <p:nvSpPr>
          <p:cNvPr id="785418" name="Text Box 10"/>
          <p:cNvSpPr txBox="1">
            <a:spLocks noChangeArrowheads="1"/>
          </p:cNvSpPr>
          <p:nvPr/>
        </p:nvSpPr>
        <p:spPr bwMode="auto">
          <a:xfrm>
            <a:off x="1148393" y="4590164"/>
            <a:ext cx="3505859" cy="449703"/>
          </a:xfrm>
          <a:prstGeom prst="rect">
            <a:avLst/>
          </a:prstGeom>
          <a:noFill/>
          <a:ln>
            <a:noFill/>
          </a:ln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es evidente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5444" name="Text Box 36"/>
          <p:cNvSpPr txBox="1">
            <a:spLocks noChangeArrowheads="1"/>
          </p:cNvSpPr>
          <p:nvPr/>
        </p:nvSpPr>
        <p:spPr bwMode="auto">
          <a:xfrm>
            <a:off x="4729356" y="5869797"/>
            <a:ext cx="2760662" cy="89134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Comic Sans MS" panose="030F0702030302020204" pitchFamily="66" charset="0"/>
              </a:rPr>
              <a:t>FUENTE DE TENSIÓN IDEAL</a:t>
            </a:r>
          </a:p>
        </p:txBody>
      </p:sp>
      <p:grpSp>
        <p:nvGrpSpPr>
          <p:cNvPr id="13319" name="Group 60"/>
          <p:cNvGrpSpPr>
            <a:grpSpLocks/>
          </p:cNvGrpSpPr>
          <p:nvPr/>
        </p:nvGrpSpPr>
        <p:grpSpPr bwMode="auto">
          <a:xfrm>
            <a:off x="2079961" y="2249872"/>
            <a:ext cx="1063625" cy="782638"/>
            <a:chOff x="1459" y="1189"/>
            <a:chExt cx="670" cy="493"/>
          </a:xfrm>
        </p:grpSpPr>
        <p:sp>
          <p:nvSpPr>
            <p:cNvPr id="13398" name="Text Box 61"/>
            <p:cNvSpPr txBox="1">
              <a:spLocks noChangeArrowheads="1"/>
            </p:cNvSpPr>
            <p:nvPr/>
          </p:nvSpPr>
          <p:spPr bwMode="auto">
            <a:xfrm>
              <a:off x="1459" y="1338"/>
              <a:ext cx="33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I </a:t>
              </a:r>
              <a:r>
                <a:rPr lang="es-ES" sz="2000">
                  <a:latin typeface="Comic Sans MS" panose="030F0702030302020204" pitchFamily="66" charset="0"/>
                </a:rPr>
                <a:t>=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13399" name="Line 62"/>
            <p:cNvSpPr>
              <a:spLocks noChangeShapeType="1"/>
            </p:cNvSpPr>
            <p:nvPr/>
          </p:nvSpPr>
          <p:spPr bwMode="auto">
            <a:xfrm>
              <a:off x="1719" y="145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3400" name="Text Box 63"/>
            <p:cNvSpPr txBox="1">
              <a:spLocks noChangeArrowheads="1"/>
            </p:cNvSpPr>
            <p:nvPr/>
          </p:nvSpPr>
          <p:spPr bwMode="auto">
            <a:xfrm>
              <a:off x="1719" y="1459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3401" name="Text Box 64"/>
            <p:cNvSpPr txBox="1">
              <a:spLocks noChangeArrowheads="1"/>
            </p:cNvSpPr>
            <p:nvPr/>
          </p:nvSpPr>
          <p:spPr bwMode="auto">
            <a:xfrm>
              <a:off x="1829" y="1189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3320" name="Group 65"/>
          <p:cNvGrpSpPr>
            <a:grpSpLocks/>
          </p:cNvGrpSpPr>
          <p:nvPr/>
        </p:nvGrpSpPr>
        <p:grpSpPr bwMode="auto">
          <a:xfrm>
            <a:off x="1220011" y="2134302"/>
            <a:ext cx="1644650" cy="2212975"/>
            <a:chOff x="771" y="1139"/>
            <a:chExt cx="1036" cy="1394"/>
          </a:xfrm>
        </p:grpSpPr>
        <p:sp>
          <p:nvSpPr>
            <p:cNvPr id="13385" name="Line 66"/>
            <p:cNvSpPr>
              <a:spLocks noChangeShapeType="1"/>
            </p:cNvSpPr>
            <p:nvPr/>
          </p:nvSpPr>
          <p:spPr bwMode="auto">
            <a:xfrm rot="5400000" flipV="1">
              <a:off x="1429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86" name="Line 67"/>
            <p:cNvSpPr>
              <a:spLocks noChangeShapeType="1"/>
            </p:cNvSpPr>
            <p:nvPr/>
          </p:nvSpPr>
          <p:spPr bwMode="auto">
            <a:xfrm rot="5400000" flipV="1">
              <a:off x="142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3387" name="Group 68"/>
            <p:cNvGrpSpPr>
              <a:grpSpLocks/>
            </p:cNvGrpSpPr>
            <p:nvPr/>
          </p:nvGrpSpPr>
          <p:grpSpPr bwMode="auto">
            <a:xfrm>
              <a:off x="965" y="2131"/>
              <a:ext cx="278" cy="48"/>
              <a:chOff x="1619" y="2634"/>
              <a:chExt cx="340" cy="54"/>
            </a:xfrm>
          </p:grpSpPr>
          <p:sp>
            <p:nvSpPr>
              <p:cNvPr id="13396" name="Line 69"/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3397" name="Line 70"/>
              <p:cNvSpPr>
                <a:spLocks noChangeShapeType="1"/>
              </p:cNvSpPr>
              <p:nvPr/>
            </p:nvSpPr>
            <p:spPr bwMode="auto">
              <a:xfrm>
                <a:off x="1690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3388" name="Text Box 71"/>
            <p:cNvSpPr txBox="1">
              <a:spLocks noChangeArrowheads="1"/>
            </p:cNvSpPr>
            <p:nvPr/>
          </p:nvSpPr>
          <p:spPr bwMode="auto">
            <a:xfrm>
              <a:off x="775" y="2014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389" name="Line 72"/>
            <p:cNvSpPr>
              <a:spLocks noChangeShapeType="1"/>
            </p:cNvSpPr>
            <p:nvPr/>
          </p:nvSpPr>
          <p:spPr bwMode="auto">
            <a:xfrm flipV="1">
              <a:off x="1099" y="1812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90" name="Line 73"/>
            <p:cNvSpPr>
              <a:spLocks noChangeShapeType="1"/>
            </p:cNvSpPr>
            <p:nvPr/>
          </p:nvSpPr>
          <p:spPr bwMode="auto">
            <a:xfrm>
              <a:off x="1099" y="2200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91" name="Line 74"/>
            <p:cNvSpPr>
              <a:spLocks noChangeShapeType="1"/>
            </p:cNvSpPr>
            <p:nvPr/>
          </p:nvSpPr>
          <p:spPr bwMode="auto">
            <a:xfrm flipV="1">
              <a:off x="1093" y="11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92" name="Freeform 75"/>
            <p:cNvSpPr>
              <a:spLocks/>
            </p:cNvSpPr>
            <p:nvPr/>
          </p:nvSpPr>
          <p:spPr bwMode="auto">
            <a:xfrm>
              <a:off x="981" y="1502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93" name="Text Box 76"/>
            <p:cNvSpPr txBox="1">
              <a:spLocks noChangeArrowheads="1"/>
            </p:cNvSpPr>
            <p:nvPr/>
          </p:nvSpPr>
          <p:spPr bwMode="auto">
            <a:xfrm>
              <a:off x="771" y="1493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3394" name="Oval 77"/>
            <p:cNvSpPr>
              <a:spLocks noChangeArrowheads="1"/>
            </p:cNvSpPr>
            <p:nvPr/>
          </p:nvSpPr>
          <p:spPr bwMode="auto">
            <a:xfrm>
              <a:off x="1750" y="1139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5" name="Oval 78"/>
            <p:cNvSpPr>
              <a:spLocks noChangeArrowheads="1"/>
            </p:cNvSpPr>
            <p:nvPr/>
          </p:nvSpPr>
          <p:spPr bwMode="auto">
            <a:xfrm>
              <a:off x="1751" y="2472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21" name="Group 79"/>
          <p:cNvGrpSpPr>
            <a:grpSpLocks/>
          </p:cNvGrpSpPr>
          <p:nvPr/>
        </p:nvGrpSpPr>
        <p:grpSpPr bwMode="auto">
          <a:xfrm>
            <a:off x="2175686" y="2143827"/>
            <a:ext cx="1382712" cy="2168525"/>
            <a:chOff x="1373" y="1145"/>
            <a:chExt cx="871" cy="1366"/>
          </a:xfrm>
        </p:grpSpPr>
        <p:sp>
          <p:nvSpPr>
            <p:cNvPr id="13381" name="Line 80"/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82" name="Line 81"/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83" name="Text Box 82"/>
            <p:cNvSpPr txBox="1">
              <a:spLocks noChangeArrowheads="1"/>
            </p:cNvSpPr>
            <p:nvPr/>
          </p:nvSpPr>
          <p:spPr bwMode="auto">
            <a:xfrm>
              <a:off x="1977" y="11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3384" name="Text Box 83"/>
            <p:cNvSpPr txBox="1">
              <a:spLocks noChangeArrowheads="1"/>
            </p:cNvSpPr>
            <p:nvPr/>
          </p:nvSpPr>
          <p:spPr bwMode="auto">
            <a:xfrm>
              <a:off x="1470" y="2276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13322" name="Group 84"/>
          <p:cNvGrpSpPr>
            <a:grpSpLocks/>
          </p:cNvGrpSpPr>
          <p:nvPr/>
        </p:nvGrpSpPr>
        <p:grpSpPr bwMode="auto">
          <a:xfrm>
            <a:off x="2088479" y="3135891"/>
            <a:ext cx="1363663" cy="731838"/>
            <a:chOff x="1591" y="1353"/>
            <a:chExt cx="859" cy="461"/>
          </a:xfrm>
        </p:grpSpPr>
        <p:sp>
          <p:nvSpPr>
            <p:cNvPr id="13376" name="Text Box 85"/>
            <p:cNvSpPr txBox="1">
              <a:spLocks noChangeArrowheads="1"/>
            </p:cNvSpPr>
            <p:nvPr/>
          </p:nvSpPr>
          <p:spPr bwMode="auto">
            <a:xfrm>
              <a:off x="1591" y="1470"/>
              <a:ext cx="34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 = </a:t>
              </a:r>
            </a:p>
          </p:txBody>
        </p:sp>
        <p:sp>
          <p:nvSpPr>
            <p:cNvPr id="13377" name="Line 86"/>
            <p:cNvSpPr>
              <a:spLocks noChangeShapeType="1"/>
            </p:cNvSpPr>
            <p:nvPr/>
          </p:nvSpPr>
          <p:spPr bwMode="auto">
            <a:xfrm>
              <a:off x="2040" y="1588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3378" name="Text Box 87"/>
            <p:cNvSpPr txBox="1">
              <a:spLocks noChangeArrowheads="1"/>
            </p:cNvSpPr>
            <p:nvPr/>
          </p:nvSpPr>
          <p:spPr bwMode="auto">
            <a:xfrm>
              <a:off x="2040" y="1591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3379" name="Text Box 88"/>
            <p:cNvSpPr txBox="1">
              <a:spLocks noChangeArrowheads="1"/>
            </p:cNvSpPr>
            <p:nvPr/>
          </p:nvSpPr>
          <p:spPr bwMode="auto">
            <a:xfrm>
              <a:off x="1863" y="1447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380" name="Text Box 89"/>
            <p:cNvSpPr txBox="1">
              <a:spLocks noChangeArrowheads="1"/>
            </p:cNvSpPr>
            <p:nvPr/>
          </p:nvSpPr>
          <p:spPr bwMode="auto">
            <a:xfrm>
              <a:off x="2148" y="135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3323" name="Group 90"/>
          <p:cNvGrpSpPr>
            <a:grpSpLocks/>
          </p:cNvGrpSpPr>
          <p:nvPr/>
        </p:nvGrpSpPr>
        <p:grpSpPr bwMode="auto">
          <a:xfrm>
            <a:off x="3956861" y="2162877"/>
            <a:ext cx="871537" cy="2159000"/>
            <a:chOff x="2495" y="1157"/>
            <a:chExt cx="549" cy="1360"/>
          </a:xfrm>
        </p:grpSpPr>
        <p:sp>
          <p:nvSpPr>
            <p:cNvPr id="13371" name="Text Box 91"/>
            <p:cNvSpPr txBox="1">
              <a:spLocks noChangeArrowheads="1"/>
            </p:cNvSpPr>
            <p:nvPr/>
          </p:nvSpPr>
          <p:spPr bwMode="auto">
            <a:xfrm>
              <a:off x="2854" y="1706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13372" name="Line 92"/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3373" name="Line 93"/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3374" name="Line 94"/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3375" name="Line 95"/>
            <p:cNvSpPr>
              <a:spLocks noChangeShapeType="1"/>
            </p:cNvSpPr>
            <p:nvPr/>
          </p:nvSpPr>
          <p:spPr bwMode="auto">
            <a:xfrm>
              <a:off x="2949" y="1949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4751359" y="4647800"/>
            <a:ext cx="2728267" cy="991278"/>
            <a:chOff x="2299484" y="5141598"/>
            <a:chExt cx="2728267" cy="991278"/>
          </a:xfrm>
        </p:grpSpPr>
        <p:sp>
          <p:nvSpPr>
            <p:cNvPr id="4" name="Rectángulo 3"/>
            <p:cNvSpPr/>
            <p:nvPr/>
          </p:nvSpPr>
          <p:spPr bwMode="auto">
            <a:xfrm>
              <a:off x="2299484" y="5154291"/>
              <a:ext cx="2728267" cy="97858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2564" name="Group 100"/>
            <p:cNvGrpSpPr>
              <a:grpSpLocks/>
            </p:cNvGrpSpPr>
            <p:nvPr/>
          </p:nvGrpSpPr>
          <p:grpSpPr bwMode="auto">
            <a:xfrm>
              <a:off x="2470066" y="5141598"/>
              <a:ext cx="2301875" cy="865189"/>
              <a:chOff x="3541" y="2193"/>
              <a:chExt cx="1450" cy="545"/>
            </a:xfrm>
          </p:grpSpPr>
          <p:sp>
            <p:nvSpPr>
              <p:cNvPr id="13362" name="Text Box 98"/>
              <p:cNvSpPr txBox="1">
                <a:spLocks noChangeArrowheads="1"/>
              </p:cNvSpPr>
              <p:nvPr/>
            </p:nvSpPr>
            <p:spPr bwMode="auto">
              <a:xfrm>
                <a:off x="3541" y="2372"/>
                <a:ext cx="365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 </a:t>
                </a:r>
                <a:r>
                  <a:rPr lang="es-ES" sz="2000">
                    <a:latin typeface="Comic Sans MS" panose="030F0702030302020204" pitchFamily="66" charset="0"/>
                  </a:rPr>
                  <a:t>=</a:t>
                </a: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  <p:sp>
            <p:nvSpPr>
              <p:cNvPr id="13363" name="Line 99"/>
              <p:cNvSpPr>
                <a:spLocks noChangeShapeType="1"/>
              </p:cNvSpPr>
              <p:nvPr/>
            </p:nvSpPr>
            <p:spPr bwMode="auto">
              <a:xfrm>
                <a:off x="3876" y="2490"/>
                <a:ext cx="4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3364" name="Text Box 100"/>
              <p:cNvSpPr txBox="1">
                <a:spLocks noChangeArrowheads="1"/>
              </p:cNvSpPr>
              <p:nvPr/>
            </p:nvSpPr>
            <p:spPr bwMode="auto">
              <a:xfrm>
                <a:off x="3988" y="2493"/>
                <a:ext cx="199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13365" name="Text Box 101"/>
              <p:cNvSpPr txBox="1">
                <a:spLocks noChangeArrowheads="1"/>
              </p:cNvSpPr>
              <p:nvPr/>
            </p:nvSpPr>
            <p:spPr bwMode="auto">
              <a:xfrm>
                <a:off x="3979" y="2193"/>
                <a:ext cx="196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366" name="Text Box 103"/>
              <p:cNvSpPr txBox="1">
                <a:spLocks noChangeArrowheads="1"/>
              </p:cNvSpPr>
              <p:nvPr/>
            </p:nvSpPr>
            <p:spPr bwMode="auto">
              <a:xfrm>
                <a:off x="4484" y="2380"/>
                <a:ext cx="349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V </a:t>
                </a:r>
                <a:r>
                  <a:rPr lang="es-ES" sz="2000" dirty="0">
                    <a:latin typeface="Comic Sans MS" panose="030F0702030302020204" pitchFamily="66" charset="0"/>
                  </a:rPr>
                  <a:t>=</a:t>
                </a:r>
                <a:r>
                  <a:rPr lang="es-ES" sz="2000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  <p:sp>
            <p:nvSpPr>
              <p:cNvPr id="13367" name="Text Box 104"/>
              <p:cNvSpPr txBox="1">
                <a:spLocks noChangeArrowheads="1"/>
              </p:cNvSpPr>
              <p:nvPr/>
            </p:nvSpPr>
            <p:spPr bwMode="auto">
              <a:xfrm>
                <a:off x="4795" y="2306"/>
                <a:ext cx="196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>
                    <a:solidFill>
                      <a:srgbClr val="FF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80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62556" name="Text Box 92"/>
          <p:cNvSpPr txBox="1">
            <a:spLocks noChangeArrowheads="1"/>
          </p:cNvSpPr>
          <p:nvPr/>
        </p:nvSpPr>
        <p:spPr bwMode="auto">
          <a:xfrm>
            <a:off x="1867377" y="883084"/>
            <a:ext cx="7790388" cy="97858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Un mismo generador se puede representar de diferentes maneras según como se considere que actúa</a:t>
            </a:r>
          </a:p>
        </p:txBody>
      </p:sp>
      <p:sp>
        <p:nvSpPr>
          <p:cNvPr id="13350" name="Text Box 124"/>
          <p:cNvSpPr txBox="1">
            <a:spLocks noChangeArrowheads="1"/>
          </p:cNvSpPr>
          <p:nvPr/>
        </p:nvSpPr>
        <p:spPr bwMode="auto">
          <a:xfrm>
            <a:off x="1358123" y="5887373"/>
            <a:ext cx="27992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generador actúa como una...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62560" name="Text Box 96"/>
          <p:cNvSpPr txBox="1">
            <a:spLocks noChangeArrowheads="1"/>
          </p:cNvSpPr>
          <p:nvPr/>
        </p:nvSpPr>
        <p:spPr bwMode="auto">
          <a:xfrm>
            <a:off x="5404949" y="3606291"/>
            <a:ext cx="4193178" cy="60925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Sería</a:t>
            </a:r>
            <a:r>
              <a:rPr lang="es-ES" sz="2400">
                <a:solidFill>
                  <a:schemeClr val="tx1"/>
                </a:solidFill>
              </a:rPr>
              <a:t> una </a:t>
            </a:r>
            <a:r>
              <a:rPr lang="es-ES" sz="2400" b="1">
                <a:solidFill>
                  <a:schemeClr val="tx1"/>
                </a:solidFill>
              </a:rPr>
              <a:t>fuente de tensión</a:t>
            </a:r>
          </a:p>
        </p:txBody>
      </p:sp>
      <p:sp>
        <p:nvSpPr>
          <p:cNvPr id="785526" name="Text Box 118"/>
          <p:cNvSpPr txBox="1">
            <a:spLocks noChangeArrowheads="1"/>
          </p:cNvSpPr>
          <p:nvPr/>
        </p:nvSpPr>
        <p:spPr bwMode="auto">
          <a:xfrm>
            <a:off x="5404949" y="2893796"/>
            <a:ext cx="2697065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latin typeface="Arial" panose="020B0604020202020204" pitchFamily="34" charset="0"/>
              </a:rPr>
              <a:t>plica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una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62561" name="Text Box 97"/>
          <p:cNvSpPr txBox="1">
            <a:spLocks noChangeArrowheads="1"/>
          </p:cNvSpPr>
          <p:nvPr/>
        </p:nvSpPr>
        <p:spPr bwMode="auto">
          <a:xfrm>
            <a:off x="5418611" y="2170532"/>
            <a:ext cx="1632476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1ª opinión: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8014500" y="5278903"/>
            <a:ext cx="891008" cy="1124615"/>
            <a:chOff x="8579563" y="5738355"/>
            <a:chExt cx="891008" cy="1124615"/>
          </a:xfrm>
        </p:grpSpPr>
        <p:sp>
          <p:nvSpPr>
            <p:cNvPr id="2" name="Rectángulo 1"/>
            <p:cNvSpPr/>
            <p:nvPr/>
          </p:nvSpPr>
          <p:spPr bwMode="auto">
            <a:xfrm>
              <a:off x="8579563" y="5785321"/>
              <a:ext cx="891008" cy="107764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3339" name="Text Box 25"/>
            <p:cNvSpPr txBox="1">
              <a:spLocks noChangeArrowheads="1"/>
            </p:cNvSpPr>
            <p:nvPr/>
          </p:nvSpPr>
          <p:spPr bwMode="auto">
            <a:xfrm>
              <a:off x="8883874" y="5738355"/>
              <a:ext cx="263525" cy="384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3340" name="Group 27"/>
            <p:cNvGrpSpPr>
              <a:grpSpLocks/>
            </p:cNvGrpSpPr>
            <p:nvPr/>
          </p:nvGrpSpPr>
          <p:grpSpPr bwMode="auto">
            <a:xfrm rot="5400000">
              <a:off x="8766364" y="6328996"/>
              <a:ext cx="484258" cy="69850"/>
              <a:chOff x="1619" y="2634"/>
              <a:chExt cx="340" cy="54"/>
            </a:xfrm>
          </p:grpSpPr>
          <p:sp>
            <p:nvSpPr>
              <p:cNvPr id="13345" name="Line 28"/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3346" name="Line 29"/>
              <p:cNvSpPr>
                <a:spLocks noChangeShapeType="1"/>
              </p:cNvSpPr>
              <p:nvPr/>
            </p:nvSpPr>
            <p:spPr bwMode="auto">
              <a:xfrm>
                <a:off x="1690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3341" name="Line 30"/>
            <p:cNvSpPr>
              <a:spLocks noChangeShapeType="1"/>
            </p:cNvSpPr>
            <p:nvPr/>
          </p:nvSpPr>
          <p:spPr bwMode="auto">
            <a:xfrm rot="5400000" flipV="1">
              <a:off x="9179149" y="6235332"/>
              <a:ext cx="0" cy="2349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342" name="Line 31"/>
            <p:cNvSpPr>
              <a:spLocks noChangeShapeType="1"/>
            </p:cNvSpPr>
            <p:nvPr/>
          </p:nvSpPr>
          <p:spPr bwMode="auto">
            <a:xfrm rot="5400000">
              <a:off x="8845774" y="6235332"/>
              <a:ext cx="0" cy="233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</p:grpSp>
      <p:sp>
        <p:nvSpPr>
          <p:cNvPr id="13343" name="Text Box 121"/>
          <p:cNvSpPr txBox="1">
            <a:spLocks noChangeArrowheads="1"/>
          </p:cNvSpPr>
          <p:nvPr/>
        </p:nvSpPr>
        <p:spPr bwMode="auto">
          <a:xfrm>
            <a:off x="7869536" y="4663963"/>
            <a:ext cx="2425701" cy="53665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Representación: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7854276" y="6407437"/>
            <a:ext cx="2533259" cy="477884"/>
            <a:chOff x="5559134" y="6393002"/>
            <a:chExt cx="2533259" cy="477884"/>
          </a:xfrm>
        </p:grpSpPr>
        <p:sp>
          <p:nvSpPr>
            <p:cNvPr id="13344" name="Text Box 127"/>
            <p:cNvSpPr txBox="1">
              <a:spLocks noChangeArrowheads="1"/>
            </p:cNvSpPr>
            <p:nvPr/>
          </p:nvSpPr>
          <p:spPr bwMode="auto">
            <a:xfrm>
              <a:off x="5559134" y="6393002"/>
              <a:ext cx="693738" cy="469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0</a:t>
              </a:r>
            </a:p>
          </p:txBody>
        </p:sp>
        <p:sp>
          <p:nvSpPr>
            <p:cNvPr id="13338" name="CuadroTexto 1"/>
            <p:cNvSpPr txBox="1">
              <a:spLocks noChangeArrowheads="1"/>
            </p:cNvSpPr>
            <p:nvPr/>
          </p:nvSpPr>
          <p:spPr bwMode="auto">
            <a:xfrm>
              <a:off x="6227780" y="6409221"/>
              <a:ext cx="1864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(cable ideal)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BEBE3C7-A321-4D07-BD9D-B46AE4031D7F}"/>
              </a:ext>
            </a:extLst>
          </p:cNvPr>
          <p:cNvGrpSpPr/>
          <p:nvPr/>
        </p:nvGrpSpPr>
        <p:grpSpPr>
          <a:xfrm>
            <a:off x="9237735" y="5289177"/>
            <a:ext cx="891008" cy="1124615"/>
            <a:chOff x="8867584" y="5722996"/>
            <a:chExt cx="891008" cy="1124615"/>
          </a:xfrm>
        </p:grpSpPr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EB0D1628-029B-4C65-8BB2-78B274D0B1D2}"/>
                </a:ext>
              </a:extLst>
            </p:cNvPr>
            <p:cNvSpPr/>
            <p:nvPr/>
          </p:nvSpPr>
          <p:spPr bwMode="auto">
            <a:xfrm>
              <a:off x="8867584" y="5769962"/>
              <a:ext cx="891008" cy="107764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7" name="Text Box 25">
              <a:extLst>
                <a:ext uri="{FF2B5EF4-FFF2-40B4-BE49-F238E27FC236}">
                  <a16:creationId xmlns:a16="http://schemas.microsoft.com/office/drawing/2014/main" id="{5E6B9B0C-3A96-4609-A3AB-46827757E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1895" y="5722996"/>
              <a:ext cx="263525" cy="384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F2ECEAF-03CB-417D-BA9D-E911A6D62C3C}"/>
                </a:ext>
              </a:extLst>
            </p:cNvPr>
            <p:cNvGrpSpPr/>
            <p:nvPr/>
          </p:nvGrpSpPr>
          <p:grpSpPr>
            <a:xfrm>
              <a:off x="8930674" y="6126720"/>
              <a:ext cx="764886" cy="432000"/>
              <a:chOff x="8922587" y="2301478"/>
              <a:chExt cx="764886" cy="432000"/>
            </a:xfrm>
          </p:grpSpPr>
          <p:sp>
            <p:nvSpPr>
              <p:cNvPr id="92" name="Line 112">
                <a:extLst>
                  <a:ext uri="{FF2B5EF4-FFF2-40B4-BE49-F238E27FC236}">
                    <a16:creationId xmlns:a16="http://schemas.microsoft.com/office/drawing/2014/main" id="{89114FFE-735E-48F9-BC99-07CFEACB8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9305030" y="2139213"/>
                <a:ext cx="0" cy="76488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F932CA8B-05D3-4AAF-B209-B09AE36E6E37}"/>
                  </a:ext>
                </a:extLst>
              </p:cNvPr>
              <p:cNvSpPr/>
              <p:nvPr/>
            </p:nvSpPr>
            <p:spPr bwMode="auto">
              <a:xfrm>
                <a:off x="9109579" y="2301478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none" lIns="90000" tIns="118800" rIns="90000" bIns="118800" numCol="1" rtlCol="0" anchor="ctr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4" name="Text Box 115">
                <a:extLst>
                  <a:ext uri="{FF2B5EF4-FFF2-40B4-BE49-F238E27FC236}">
                    <a16:creationId xmlns:a16="http://schemas.microsoft.com/office/drawing/2014/main" id="{E2F271BC-D9E2-4DF6-BE17-EF74FF822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3816" y="2483845"/>
                <a:ext cx="400537" cy="134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- +</a:t>
                </a:r>
              </a:p>
            </p:txBody>
          </p:sp>
        </p:grpSp>
      </p:grpSp>
      <p:sp>
        <p:nvSpPr>
          <p:cNvPr id="7" name="Text Box 10">
            <a:extLst>
              <a:ext uri="{FF2B5EF4-FFF2-40B4-BE49-F238E27FC236}">
                <a16:creationId xmlns:a16="http://schemas.microsoft.com/office/drawing/2014/main" id="{EF75F6EE-EC15-67E4-9308-BD71ADADA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510" y="4939406"/>
            <a:ext cx="3505859" cy="819035"/>
          </a:xfrm>
          <a:prstGeom prst="rect">
            <a:avLst/>
          </a:prstGeom>
          <a:noFill/>
          <a:ln>
            <a:noFill/>
          </a:ln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(porque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sólo depende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del generador)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861798-8A55-B12A-AF2C-EC4AAE4625CF}"/>
              </a:ext>
            </a:extLst>
          </p:cNvPr>
          <p:cNvSpPr/>
          <p:nvPr/>
        </p:nvSpPr>
        <p:spPr bwMode="auto">
          <a:xfrm>
            <a:off x="6400129" y="4859741"/>
            <a:ext cx="836014" cy="51909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C56C0F2-BD62-EDAE-2369-7C156CEF5BCA}"/>
              </a:ext>
            </a:extLst>
          </p:cNvPr>
          <p:cNvCxnSpPr/>
          <p:nvPr/>
        </p:nvCxnSpPr>
        <p:spPr bwMode="auto">
          <a:xfrm>
            <a:off x="7658100" y="4689907"/>
            <a:ext cx="0" cy="21327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8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8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6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8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7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18" grpId="0" animBg="1"/>
      <p:bldP spid="785444" grpId="0" animBg="1"/>
      <p:bldP spid="62556" grpId="0" animBg="1"/>
      <p:bldP spid="13350" grpId="0"/>
      <p:bldP spid="62560" grpId="0" animBg="1"/>
      <p:bldP spid="785526" grpId="0" animBg="1"/>
      <p:bldP spid="62561" grpId="0" animBg="1"/>
      <p:bldP spid="13343" grpId="0" animBg="1"/>
      <p:bldP spid="7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36"/>
          <p:cNvSpPr txBox="1">
            <a:spLocks noChangeArrowheads="1"/>
          </p:cNvSpPr>
          <p:nvPr/>
        </p:nvSpPr>
        <p:spPr bwMode="auto">
          <a:xfrm>
            <a:off x="7567943" y="4675424"/>
            <a:ext cx="2804282" cy="8913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square"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Comic Sans MS" panose="030F0702030302020204" pitchFamily="66" charset="0"/>
              </a:rPr>
              <a:t>FUENTE DE TENSIÓN REAL</a:t>
            </a:r>
          </a:p>
        </p:txBody>
      </p:sp>
      <p:sp>
        <p:nvSpPr>
          <p:cNvPr id="77" name="Text Box 124"/>
          <p:cNvSpPr txBox="1">
            <a:spLocks noChangeArrowheads="1"/>
          </p:cNvSpPr>
          <p:nvPr/>
        </p:nvSpPr>
        <p:spPr bwMode="auto">
          <a:xfrm>
            <a:off x="4653573" y="4656135"/>
            <a:ext cx="276066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generador actúa como una...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79" name="CuadroTexto 78"/>
          <p:cNvSpPr txBox="1">
            <a:spLocks noChangeArrowheads="1"/>
          </p:cNvSpPr>
          <p:nvPr/>
        </p:nvSpPr>
        <p:spPr bwMode="auto">
          <a:xfrm>
            <a:off x="5141303" y="6341006"/>
            <a:ext cx="1795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(la habitual)</a:t>
            </a:r>
          </a:p>
        </p:txBody>
      </p:sp>
      <p:grpSp>
        <p:nvGrpSpPr>
          <p:cNvPr id="80" name="Grupo 79"/>
          <p:cNvGrpSpPr/>
          <p:nvPr/>
        </p:nvGrpSpPr>
        <p:grpSpPr>
          <a:xfrm>
            <a:off x="7565805" y="5759590"/>
            <a:ext cx="1434978" cy="1004559"/>
            <a:chOff x="8176923" y="5820550"/>
            <a:chExt cx="1434978" cy="1004559"/>
          </a:xfrm>
        </p:grpSpPr>
        <p:sp>
          <p:nvSpPr>
            <p:cNvPr id="81" name="Rectángulo 80"/>
            <p:cNvSpPr/>
            <p:nvPr/>
          </p:nvSpPr>
          <p:spPr bwMode="auto">
            <a:xfrm>
              <a:off x="8176923" y="5845428"/>
              <a:ext cx="1434978" cy="979681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82" name="Grupo 81"/>
            <p:cNvGrpSpPr/>
            <p:nvPr/>
          </p:nvGrpSpPr>
          <p:grpSpPr>
            <a:xfrm>
              <a:off x="8267082" y="5820550"/>
              <a:ext cx="1254919" cy="863601"/>
              <a:chOff x="3358356" y="4116419"/>
              <a:chExt cx="1254919" cy="863601"/>
            </a:xfrm>
          </p:grpSpPr>
          <p:sp>
            <p:nvSpPr>
              <p:cNvPr id="83" name="Text Box 14"/>
              <p:cNvSpPr txBox="1">
                <a:spLocks noChangeArrowheads="1"/>
              </p:cNvSpPr>
              <p:nvPr/>
            </p:nvSpPr>
            <p:spPr bwMode="auto">
              <a:xfrm>
                <a:off x="3498056" y="4116419"/>
                <a:ext cx="263525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4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84" name="Group 15"/>
              <p:cNvGrpSpPr>
                <a:grpSpLocks/>
              </p:cNvGrpSpPr>
              <p:nvPr/>
            </p:nvGrpSpPr>
            <p:grpSpPr bwMode="auto">
              <a:xfrm rot="5400000">
                <a:off x="3398044" y="4702207"/>
                <a:ext cx="484188" cy="71437"/>
                <a:chOff x="1619" y="2634"/>
                <a:chExt cx="340" cy="54"/>
              </a:xfrm>
            </p:grpSpPr>
            <p:sp>
              <p:nvSpPr>
                <p:cNvPr id="90" name="Line 16"/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91" name="Line 17"/>
                <p:cNvSpPr>
                  <a:spLocks noChangeShapeType="1"/>
                </p:cNvSpPr>
                <p:nvPr/>
              </p:nvSpPr>
              <p:spPr bwMode="auto">
                <a:xfrm>
                  <a:off x="1690" y="2688"/>
                  <a:ext cx="20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85" name="Line 18"/>
              <p:cNvSpPr>
                <a:spLocks noChangeShapeType="1"/>
              </p:cNvSpPr>
              <p:nvPr/>
            </p:nvSpPr>
            <p:spPr bwMode="auto">
              <a:xfrm rot="5400000" flipV="1">
                <a:off x="3812381" y="4610132"/>
                <a:ext cx="0" cy="23653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86" name="Line 19"/>
              <p:cNvSpPr>
                <a:spLocks noChangeShapeType="1"/>
              </p:cNvSpPr>
              <p:nvPr/>
            </p:nvSpPr>
            <p:spPr bwMode="auto">
              <a:xfrm rot="5400000">
                <a:off x="3475831" y="4611719"/>
                <a:ext cx="0" cy="23495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87" name="Line 20"/>
              <p:cNvSpPr>
                <a:spLocks noChangeShapeType="1"/>
              </p:cNvSpPr>
              <p:nvPr/>
            </p:nvSpPr>
            <p:spPr bwMode="auto">
              <a:xfrm rot="5400000" flipV="1">
                <a:off x="4496594" y="4600607"/>
                <a:ext cx="0" cy="23336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88" name="Freeform 21"/>
              <p:cNvSpPr>
                <a:spLocks/>
              </p:cNvSpPr>
              <p:nvPr/>
            </p:nvSpPr>
            <p:spPr bwMode="auto">
              <a:xfrm rot="5400000">
                <a:off x="3940969" y="4508532"/>
                <a:ext cx="409575" cy="441325"/>
              </a:xfrm>
              <a:custGeom>
                <a:avLst/>
                <a:gdLst>
                  <a:gd name="T0" fmla="*/ 10 w 288"/>
                  <a:gd name="T1" fmla="*/ 1 h 384"/>
                  <a:gd name="T2" fmla="*/ 0 w 288"/>
                  <a:gd name="T3" fmla="*/ 1 h 384"/>
                  <a:gd name="T4" fmla="*/ 19 w 288"/>
                  <a:gd name="T5" fmla="*/ 1 h 384"/>
                  <a:gd name="T6" fmla="*/ 0 w 288"/>
                  <a:gd name="T7" fmla="*/ 1 h 384"/>
                  <a:gd name="T8" fmla="*/ 19 w 288"/>
                  <a:gd name="T9" fmla="*/ 1 h 384"/>
                  <a:gd name="T10" fmla="*/ 0 w 288"/>
                  <a:gd name="T11" fmla="*/ 0 h 384"/>
                  <a:gd name="T12" fmla="*/ 10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89" name="Text Box 22"/>
              <p:cNvSpPr txBox="1">
                <a:spLocks noChangeArrowheads="1"/>
              </p:cNvSpPr>
              <p:nvPr/>
            </p:nvSpPr>
            <p:spPr bwMode="auto">
              <a:xfrm>
                <a:off x="4042569" y="4135469"/>
                <a:ext cx="261937" cy="354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</p:grpSp>
      </p:grpSp>
      <p:sp>
        <p:nvSpPr>
          <p:cNvPr id="92" name="Text Box 11"/>
          <p:cNvSpPr txBox="1">
            <a:spLocks noChangeArrowheads="1"/>
          </p:cNvSpPr>
          <p:nvPr/>
        </p:nvSpPr>
        <p:spPr bwMode="auto">
          <a:xfrm>
            <a:off x="1215668" y="4495162"/>
            <a:ext cx="3010368" cy="118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Si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 dirty="0">
                <a:latin typeface="Comic Sans MS" panose="030F0702030302020204" pitchFamily="66" charset="0"/>
              </a:rPr>
              <a:t> no es despreciable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s-ES" sz="2400" dirty="0">
                <a:latin typeface="Comic Sans MS" panose="030F0702030302020204" pitchFamily="66" charset="0"/>
              </a:rPr>
              <a:t>(si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 r</a:t>
            </a:r>
            <a:r>
              <a:rPr lang="es-ES" sz="2400" dirty="0">
                <a:latin typeface="Comic Sans MS" panose="030F0702030302020204" pitchFamily="66" charset="0"/>
              </a:rPr>
              <a:t> </a:t>
            </a:r>
            <a:r>
              <a:rPr lang="es-ES" sz="2400" b="1" dirty="0">
                <a:latin typeface="Comic Sans MS" panose="030F0702030302020204" pitchFamily="66" charset="0"/>
                <a:sym typeface="Symbol" panose="05050102010706020507" pitchFamily="18" charset="2"/>
              </a:rPr>
              <a:t>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</a:rPr>
              <a:t>R</a:t>
            </a:r>
            <a:r>
              <a:rPr lang="es-ES" sz="2400" dirty="0">
                <a:latin typeface="Comic Sans MS" panose="030F0702030302020204" pitchFamily="66" charset="0"/>
              </a:rPr>
              <a:t>)</a:t>
            </a:r>
            <a:endParaRPr lang="es-ES" sz="2400" dirty="0">
              <a:solidFill>
                <a:srgbClr val="008000"/>
              </a:solidFill>
              <a:latin typeface="Comic Sans MS" panose="030F0702030302020204" pitchFamily="66" charset="0"/>
            </a:endParaRPr>
          </a:p>
        </p:txBody>
      </p:sp>
      <p:sp>
        <p:nvSpPr>
          <p:cNvPr id="93" name="Flecha derecha 92"/>
          <p:cNvSpPr/>
          <p:nvPr/>
        </p:nvSpPr>
        <p:spPr bwMode="auto">
          <a:xfrm>
            <a:off x="3932281" y="4901400"/>
            <a:ext cx="577849" cy="41224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8" name="Group 3">
            <a:extLst>
              <a:ext uri="{FF2B5EF4-FFF2-40B4-BE49-F238E27FC236}">
                <a16:creationId xmlns:a16="http://schemas.microsoft.com/office/drawing/2014/main" id="{116F544D-6E27-490C-A3CB-04B603D84B35}"/>
              </a:ext>
            </a:extLst>
          </p:cNvPr>
          <p:cNvGrpSpPr>
            <a:grpSpLocks/>
          </p:cNvGrpSpPr>
          <p:nvPr/>
        </p:nvGrpSpPr>
        <p:grpSpPr bwMode="auto">
          <a:xfrm>
            <a:off x="2804336" y="2177165"/>
            <a:ext cx="1654175" cy="2130425"/>
            <a:chOff x="1769" y="1166"/>
            <a:chExt cx="1042" cy="1342"/>
          </a:xfrm>
        </p:grpSpPr>
        <p:sp>
          <p:nvSpPr>
            <p:cNvPr id="69" name="Line 4">
              <a:extLst>
                <a:ext uri="{FF2B5EF4-FFF2-40B4-BE49-F238E27FC236}">
                  <a16:creationId xmlns:a16="http://schemas.microsoft.com/office/drawing/2014/main" id="{5A62CEBE-0D87-4C9A-ACDF-E6E6B56A26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0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70" name="Line 5">
              <a:extLst>
                <a:ext uri="{FF2B5EF4-FFF2-40B4-BE49-F238E27FC236}">
                  <a16:creationId xmlns:a16="http://schemas.microsoft.com/office/drawing/2014/main" id="{FF79A73F-E48E-4428-8FEB-688546C357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28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893C4A12-CA43-44BA-9CF2-ED371186D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7" y="2008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72" name="Line 7">
              <a:extLst>
                <a:ext uri="{FF2B5EF4-FFF2-40B4-BE49-F238E27FC236}">
                  <a16:creationId xmlns:a16="http://schemas.microsoft.com/office/drawing/2014/main" id="{F7B718AB-CE72-4889-BB31-1A3CEB562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1" y="1190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78B66C29-A385-49BB-AD4F-F7B2DB248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1698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74" name="Text Box 9">
              <a:extLst>
                <a:ext uri="{FF2B5EF4-FFF2-40B4-BE49-F238E27FC236}">
                  <a16:creationId xmlns:a16="http://schemas.microsoft.com/office/drawing/2014/main" id="{5B29FA6E-7DF0-45B6-A182-02F1EBBBF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" y="1702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grpSp>
        <p:nvGrpSpPr>
          <p:cNvPr id="75" name="Group 60">
            <a:extLst>
              <a:ext uri="{FF2B5EF4-FFF2-40B4-BE49-F238E27FC236}">
                <a16:creationId xmlns:a16="http://schemas.microsoft.com/office/drawing/2014/main" id="{FD881CD1-2F9E-45DA-A16F-6615C9EE79C9}"/>
              </a:ext>
            </a:extLst>
          </p:cNvPr>
          <p:cNvGrpSpPr>
            <a:grpSpLocks/>
          </p:cNvGrpSpPr>
          <p:nvPr/>
        </p:nvGrpSpPr>
        <p:grpSpPr bwMode="auto">
          <a:xfrm>
            <a:off x="2079961" y="2249872"/>
            <a:ext cx="1063625" cy="782638"/>
            <a:chOff x="1459" y="1189"/>
            <a:chExt cx="670" cy="493"/>
          </a:xfrm>
        </p:grpSpPr>
        <p:sp>
          <p:nvSpPr>
            <p:cNvPr id="94" name="Text Box 61">
              <a:extLst>
                <a:ext uri="{FF2B5EF4-FFF2-40B4-BE49-F238E27FC236}">
                  <a16:creationId xmlns:a16="http://schemas.microsoft.com/office/drawing/2014/main" id="{9A12CF73-6DB6-4B5A-AA3D-527913D0E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9" y="1338"/>
              <a:ext cx="33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I </a:t>
              </a:r>
              <a:r>
                <a:rPr lang="es-ES" sz="2000">
                  <a:latin typeface="Comic Sans MS" panose="030F0702030302020204" pitchFamily="66" charset="0"/>
                </a:rPr>
                <a:t>=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95" name="Line 62">
              <a:extLst>
                <a:ext uri="{FF2B5EF4-FFF2-40B4-BE49-F238E27FC236}">
                  <a16:creationId xmlns:a16="http://schemas.microsoft.com/office/drawing/2014/main" id="{1E6BAD50-8692-4933-898F-1E7E5B98D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145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96" name="Text Box 63">
              <a:extLst>
                <a:ext uri="{FF2B5EF4-FFF2-40B4-BE49-F238E27FC236}">
                  <a16:creationId xmlns:a16="http://schemas.microsoft.com/office/drawing/2014/main" id="{375B12BA-9117-4CE5-AEE3-94F9DADE8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9" y="1459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97" name="Text Box 64">
              <a:extLst>
                <a:ext uri="{FF2B5EF4-FFF2-40B4-BE49-F238E27FC236}">
                  <a16:creationId xmlns:a16="http://schemas.microsoft.com/office/drawing/2014/main" id="{CDE212BE-502E-413F-B19C-445E82EE5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" y="1189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98" name="Group 65">
            <a:extLst>
              <a:ext uri="{FF2B5EF4-FFF2-40B4-BE49-F238E27FC236}">
                <a16:creationId xmlns:a16="http://schemas.microsoft.com/office/drawing/2014/main" id="{D175B369-8392-4AF8-8E73-30E4D51EF283}"/>
              </a:ext>
            </a:extLst>
          </p:cNvPr>
          <p:cNvGrpSpPr>
            <a:grpSpLocks/>
          </p:cNvGrpSpPr>
          <p:nvPr/>
        </p:nvGrpSpPr>
        <p:grpSpPr bwMode="auto">
          <a:xfrm>
            <a:off x="1220011" y="2134302"/>
            <a:ext cx="1644650" cy="2212975"/>
            <a:chOff x="771" y="1139"/>
            <a:chExt cx="1036" cy="1394"/>
          </a:xfrm>
        </p:grpSpPr>
        <p:sp>
          <p:nvSpPr>
            <p:cNvPr id="99" name="Line 66">
              <a:extLst>
                <a:ext uri="{FF2B5EF4-FFF2-40B4-BE49-F238E27FC236}">
                  <a16:creationId xmlns:a16="http://schemas.microsoft.com/office/drawing/2014/main" id="{52B4DBB8-BCAE-48CC-83CE-080FB8EF1B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00" name="Line 67">
              <a:extLst>
                <a:ext uri="{FF2B5EF4-FFF2-40B4-BE49-F238E27FC236}">
                  <a16:creationId xmlns:a16="http://schemas.microsoft.com/office/drawing/2014/main" id="{A135487E-5D1D-4B71-899E-316EBD826D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01" name="Group 68">
              <a:extLst>
                <a:ext uri="{FF2B5EF4-FFF2-40B4-BE49-F238E27FC236}">
                  <a16:creationId xmlns:a16="http://schemas.microsoft.com/office/drawing/2014/main" id="{E3E57443-03F2-4A62-8B34-D6AE68052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5" y="2131"/>
              <a:ext cx="278" cy="48"/>
              <a:chOff x="1619" y="2634"/>
              <a:chExt cx="340" cy="54"/>
            </a:xfrm>
          </p:grpSpPr>
          <p:sp>
            <p:nvSpPr>
              <p:cNvPr id="110" name="Line 69">
                <a:extLst>
                  <a:ext uri="{FF2B5EF4-FFF2-40B4-BE49-F238E27FC236}">
                    <a16:creationId xmlns:a16="http://schemas.microsoft.com/office/drawing/2014/main" id="{94848A0B-A72E-40DF-9856-7CB51C4CB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11" name="Line 70">
                <a:extLst>
                  <a:ext uri="{FF2B5EF4-FFF2-40B4-BE49-F238E27FC236}">
                    <a16:creationId xmlns:a16="http://schemas.microsoft.com/office/drawing/2014/main" id="{C7C77F3B-B46F-4928-A09B-18B3D03035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0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02" name="Text Box 71">
              <a:extLst>
                <a:ext uri="{FF2B5EF4-FFF2-40B4-BE49-F238E27FC236}">
                  <a16:creationId xmlns:a16="http://schemas.microsoft.com/office/drawing/2014/main" id="{4A891F86-1CA1-4755-AE2E-10C540DC6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" y="2014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3" name="Line 72">
              <a:extLst>
                <a:ext uri="{FF2B5EF4-FFF2-40B4-BE49-F238E27FC236}">
                  <a16:creationId xmlns:a16="http://schemas.microsoft.com/office/drawing/2014/main" id="{976F5571-4BAF-46F6-9002-5C880A2C4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9" y="1812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04" name="Line 73">
              <a:extLst>
                <a:ext uri="{FF2B5EF4-FFF2-40B4-BE49-F238E27FC236}">
                  <a16:creationId xmlns:a16="http://schemas.microsoft.com/office/drawing/2014/main" id="{CFC23271-F938-4979-BE25-C975327D5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9" y="2200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05" name="Line 74">
              <a:extLst>
                <a:ext uri="{FF2B5EF4-FFF2-40B4-BE49-F238E27FC236}">
                  <a16:creationId xmlns:a16="http://schemas.microsoft.com/office/drawing/2014/main" id="{F65B20FB-1F06-42A1-915F-629F3817A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3" y="11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06" name="Freeform 75">
              <a:extLst>
                <a:ext uri="{FF2B5EF4-FFF2-40B4-BE49-F238E27FC236}">
                  <a16:creationId xmlns:a16="http://schemas.microsoft.com/office/drawing/2014/main" id="{50AB5E16-7F8C-49F6-A84E-73540041F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1502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07" name="Text Box 76">
              <a:extLst>
                <a:ext uri="{FF2B5EF4-FFF2-40B4-BE49-F238E27FC236}">
                  <a16:creationId xmlns:a16="http://schemas.microsoft.com/office/drawing/2014/main" id="{0DE8CACE-FB74-448C-BD1D-F1C38337A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493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08" name="Oval 77">
              <a:extLst>
                <a:ext uri="{FF2B5EF4-FFF2-40B4-BE49-F238E27FC236}">
                  <a16:creationId xmlns:a16="http://schemas.microsoft.com/office/drawing/2014/main" id="{32512F54-A8F1-44C6-A847-BD5C3E944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139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" name="Oval 78">
              <a:extLst>
                <a:ext uri="{FF2B5EF4-FFF2-40B4-BE49-F238E27FC236}">
                  <a16:creationId xmlns:a16="http://schemas.microsoft.com/office/drawing/2014/main" id="{72C7F485-4300-4C63-98BB-97500792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2472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2" name="Group 79">
            <a:extLst>
              <a:ext uri="{FF2B5EF4-FFF2-40B4-BE49-F238E27FC236}">
                <a16:creationId xmlns:a16="http://schemas.microsoft.com/office/drawing/2014/main" id="{DA187ADB-55AE-49E3-8CB6-C4B69D259532}"/>
              </a:ext>
            </a:extLst>
          </p:cNvPr>
          <p:cNvGrpSpPr>
            <a:grpSpLocks/>
          </p:cNvGrpSpPr>
          <p:nvPr/>
        </p:nvGrpSpPr>
        <p:grpSpPr bwMode="auto">
          <a:xfrm>
            <a:off x="2175686" y="2143827"/>
            <a:ext cx="1382712" cy="2168525"/>
            <a:chOff x="1373" y="1145"/>
            <a:chExt cx="871" cy="1366"/>
          </a:xfrm>
        </p:grpSpPr>
        <p:sp>
          <p:nvSpPr>
            <p:cNvPr id="113" name="Line 80">
              <a:extLst>
                <a:ext uri="{FF2B5EF4-FFF2-40B4-BE49-F238E27FC236}">
                  <a16:creationId xmlns:a16="http://schemas.microsoft.com/office/drawing/2014/main" id="{2ADC4B67-DF31-48D0-9632-0733F0D36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14" name="Line 81">
              <a:extLst>
                <a:ext uri="{FF2B5EF4-FFF2-40B4-BE49-F238E27FC236}">
                  <a16:creationId xmlns:a16="http://schemas.microsoft.com/office/drawing/2014/main" id="{64CCD6FE-382F-4148-A67E-77EAE3996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15" name="Text Box 82">
              <a:extLst>
                <a:ext uri="{FF2B5EF4-FFF2-40B4-BE49-F238E27FC236}">
                  <a16:creationId xmlns:a16="http://schemas.microsoft.com/office/drawing/2014/main" id="{FDCC372D-9259-4FBB-867A-D550247EA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" y="11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16" name="Text Box 83">
              <a:extLst>
                <a:ext uri="{FF2B5EF4-FFF2-40B4-BE49-F238E27FC236}">
                  <a16:creationId xmlns:a16="http://schemas.microsoft.com/office/drawing/2014/main" id="{564313E9-729C-4CF3-A929-DA13F748F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" y="2276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117" name="Group 84">
            <a:extLst>
              <a:ext uri="{FF2B5EF4-FFF2-40B4-BE49-F238E27FC236}">
                <a16:creationId xmlns:a16="http://schemas.microsoft.com/office/drawing/2014/main" id="{7D319E28-B2ED-4047-90A1-38AA57AE6E32}"/>
              </a:ext>
            </a:extLst>
          </p:cNvPr>
          <p:cNvGrpSpPr>
            <a:grpSpLocks/>
          </p:cNvGrpSpPr>
          <p:nvPr/>
        </p:nvGrpSpPr>
        <p:grpSpPr bwMode="auto">
          <a:xfrm>
            <a:off x="2088479" y="3135891"/>
            <a:ext cx="1363663" cy="731838"/>
            <a:chOff x="1591" y="1353"/>
            <a:chExt cx="859" cy="461"/>
          </a:xfrm>
        </p:grpSpPr>
        <p:sp>
          <p:nvSpPr>
            <p:cNvPr id="118" name="Text Box 85">
              <a:extLst>
                <a:ext uri="{FF2B5EF4-FFF2-40B4-BE49-F238E27FC236}">
                  <a16:creationId xmlns:a16="http://schemas.microsoft.com/office/drawing/2014/main" id="{B3446F95-4277-4374-9456-6E14952F4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1" y="1470"/>
              <a:ext cx="34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 = </a:t>
              </a:r>
            </a:p>
          </p:txBody>
        </p:sp>
        <p:sp>
          <p:nvSpPr>
            <p:cNvPr id="119" name="Line 86">
              <a:extLst>
                <a:ext uri="{FF2B5EF4-FFF2-40B4-BE49-F238E27FC236}">
                  <a16:creationId xmlns:a16="http://schemas.microsoft.com/office/drawing/2014/main" id="{F0B0B99A-F0EB-4EC4-9412-B1E100CF2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588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20" name="Text Box 87">
              <a:extLst>
                <a:ext uri="{FF2B5EF4-FFF2-40B4-BE49-F238E27FC236}">
                  <a16:creationId xmlns:a16="http://schemas.microsoft.com/office/drawing/2014/main" id="{1EB56CB9-736C-44D7-82E3-87F36C3A5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591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21" name="Text Box 88">
              <a:extLst>
                <a:ext uri="{FF2B5EF4-FFF2-40B4-BE49-F238E27FC236}">
                  <a16:creationId xmlns:a16="http://schemas.microsoft.com/office/drawing/2014/main" id="{6D170691-150C-4E7E-8924-7223AF4A8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1447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2" name="Text Box 89">
              <a:extLst>
                <a:ext uri="{FF2B5EF4-FFF2-40B4-BE49-F238E27FC236}">
                  <a16:creationId xmlns:a16="http://schemas.microsoft.com/office/drawing/2014/main" id="{9412ED91-2918-4920-9A6B-3A696C773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35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23" name="Group 90">
            <a:extLst>
              <a:ext uri="{FF2B5EF4-FFF2-40B4-BE49-F238E27FC236}">
                <a16:creationId xmlns:a16="http://schemas.microsoft.com/office/drawing/2014/main" id="{AEE28774-3B30-4422-A3A2-2B1D494F73AC}"/>
              </a:ext>
            </a:extLst>
          </p:cNvPr>
          <p:cNvGrpSpPr>
            <a:grpSpLocks/>
          </p:cNvGrpSpPr>
          <p:nvPr/>
        </p:nvGrpSpPr>
        <p:grpSpPr bwMode="auto">
          <a:xfrm>
            <a:off x="3956861" y="2162877"/>
            <a:ext cx="871537" cy="2159000"/>
            <a:chOff x="2495" y="1157"/>
            <a:chExt cx="549" cy="1360"/>
          </a:xfrm>
        </p:grpSpPr>
        <p:sp>
          <p:nvSpPr>
            <p:cNvPr id="124" name="Text Box 91">
              <a:extLst>
                <a:ext uri="{FF2B5EF4-FFF2-40B4-BE49-F238E27FC236}">
                  <a16:creationId xmlns:a16="http://schemas.microsoft.com/office/drawing/2014/main" id="{02E4B216-5E3E-4ACE-8F97-C3C437579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1706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125" name="Line 92">
              <a:extLst>
                <a:ext uri="{FF2B5EF4-FFF2-40B4-BE49-F238E27FC236}">
                  <a16:creationId xmlns:a16="http://schemas.microsoft.com/office/drawing/2014/main" id="{11F73FBE-DACF-4BA9-9B29-FEED68722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26" name="Line 93">
              <a:extLst>
                <a:ext uri="{FF2B5EF4-FFF2-40B4-BE49-F238E27FC236}">
                  <a16:creationId xmlns:a16="http://schemas.microsoft.com/office/drawing/2014/main" id="{75D82E19-A3E3-42A0-8347-0324D03F5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27" name="Line 94">
              <a:extLst>
                <a:ext uri="{FF2B5EF4-FFF2-40B4-BE49-F238E27FC236}">
                  <a16:creationId xmlns:a16="http://schemas.microsoft.com/office/drawing/2014/main" id="{63062B3C-3545-4EC9-AE23-A312C8A18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28" name="Line 95">
              <a:extLst>
                <a:ext uri="{FF2B5EF4-FFF2-40B4-BE49-F238E27FC236}">
                  <a16:creationId xmlns:a16="http://schemas.microsoft.com/office/drawing/2014/main" id="{0D0681B4-2152-40B4-8FAA-CF26FCE7B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949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29" name="Text Box 96">
            <a:extLst>
              <a:ext uri="{FF2B5EF4-FFF2-40B4-BE49-F238E27FC236}">
                <a16:creationId xmlns:a16="http://schemas.microsoft.com/office/drawing/2014/main" id="{7A15916B-3DF0-42B8-8517-22008C1E4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949" y="3606291"/>
            <a:ext cx="4193178" cy="60925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Sería</a:t>
            </a:r>
            <a:r>
              <a:rPr lang="es-ES" sz="2400">
                <a:solidFill>
                  <a:schemeClr val="tx1"/>
                </a:solidFill>
              </a:rPr>
              <a:t> una </a:t>
            </a:r>
            <a:r>
              <a:rPr lang="es-ES" sz="2400" b="1">
                <a:solidFill>
                  <a:schemeClr val="tx1"/>
                </a:solidFill>
              </a:rPr>
              <a:t>fuente de tensión</a:t>
            </a:r>
          </a:p>
        </p:txBody>
      </p:sp>
      <p:sp>
        <p:nvSpPr>
          <p:cNvPr id="130" name="Text Box 118">
            <a:extLst>
              <a:ext uri="{FF2B5EF4-FFF2-40B4-BE49-F238E27FC236}">
                <a16:creationId xmlns:a16="http://schemas.microsoft.com/office/drawing/2014/main" id="{E0CBAF6F-3591-4C46-8E95-BE1887C3D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949" y="2893796"/>
            <a:ext cx="2697065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latin typeface="Arial" panose="020B0604020202020204" pitchFamily="34" charset="0"/>
              </a:rPr>
              <a:t>plica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una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31" name="Text Box 97">
            <a:extLst>
              <a:ext uri="{FF2B5EF4-FFF2-40B4-BE49-F238E27FC236}">
                <a16:creationId xmlns:a16="http://schemas.microsoft.com/office/drawing/2014/main" id="{7AB898A0-B187-4B97-B4EF-C33708EB2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611" y="2170532"/>
            <a:ext cx="1632476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1ª opinión:</a:t>
            </a:r>
          </a:p>
        </p:txBody>
      </p:sp>
      <p:sp>
        <p:nvSpPr>
          <p:cNvPr id="132" name="Text Box 121">
            <a:extLst>
              <a:ext uri="{FF2B5EF4-FFF2-40B4-BE49-F238E27FC236}">
                <a16:creationId xmlns:a16="http://schemas.microsoft.com/office/drawing/2014/main" id="{FE123CAD-5C82-4C7C-B275-F2D349EB5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360" y="5774284"/>
            <a:ext cx="2425701" cy="53665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Representación: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FF5609A-FDE8-41B9-96A9-66BDBC47029B}"/>
              </a:ext>
            </a:extLst>
          </p:cNvPr>
          <p:cNvGrpSpPr/>
          <p:nvPr/>
        </p:nvGrpSpPr>
        <p:grpSpPr>
          <a:xfrm>
            <a:off x="9067700" y="5757880"/>
            <a:ext cx="1304525" cy="1004559"/>
            <a:chOff x="9067700" y="5757880"/>
            <a:chExt cx="1304525" cy="1004559"/>
          </a:xfrm>
        </p:grpSpPr>
        <p:sp>
          <p:nvSpPr>
            <p:cNvPr id="133" name="Rectángulo 132">
              <a:extLst>
                <a:ext uri="{FF2B5EF4-FFF2-40B4-BE49-F238E27FC236}">
                  <a16:creationId xmlns:a16="http://schemas.microsoft.com/office/drawing/2014/main" id="{ED827039-92ED-499E-AA9F-264F6048DC35}"/>
                </a:ext>
              </a:extLst>
            </p:cNvPr>
            <p:cNvSpPr/>
            <p:nvPr/>
          </p:nvSpPr>
          <p:spPr bwMode="auto">
            <a:xfrm>
              <a:off x="9067700" y="5782758"/>
              <a:ext cx="1304525" cy="979681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 Box 14">
              <a:extLst>
                <a:ext uri="{FF2B5EF4-FFF2-40B4-BE49-F238E27FC236}">
                  <a16:creationId xmlns:a16="http://schemas.microsoft.com/office/drawing/2014/main" id="{FFCEB1FD-E0A0-448E-957B-5A5397E4D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3428" y="5757880"/>
              <a:ext cx="26352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 dirty="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8" name="Line 19">
              <a:extLst>
                <a:ext uri="{FF2B5EF4-FFF2-40B4-BE49-F238E27FC236}">
                  <a16:creationId xmlns:a16="http://schemas.microsoft.com/office/drawing/2014/main" id="{F8738E0B-1938-4412-A57B-B3D4503BC3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734090" y="5766605"/>
              <a:ext cx="0" cy="11875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1" name="Text Box 22">
              <a:extLst>
                <a:ext uri="{FF2B5EF4-FFF2-40B4-BE49-F238E27FC236}">
                  <a16:creationId xmlns:a16="http://schemas.microsoft.com/office/drawing/2014/main" id="{414C2AF0-7490-49FA-85B3-7E51A68DF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17941" y="5776930"/>
              <a:ext cx="261937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8BAE252A-514D-40CD-B80E-6A1C5E3CCD0A}"/>
                </a:ext>
              </a:extLst>
            </p:cNvPr>
            <p:cNvSpPr/>
            <p:nvPr/>
          </p:nvSpPr>
          <p:spPr bwMode="auto">
            <a:xfrm>
              <a:off x="9788214" y="6269224"/>
              <a:ext cx="449261" cy="17800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49" name="Elipse 148">
              <a:extLst>
                <a:ext uri="{FF2B5EF4-FFF2-40B4-BE49-F238E27FC236}">
                  <a16:creationId xmlns:a16="http://schemas.microsoft.com/office/drawing/2014/main" id="{78A84F5A-1A1E-4A03-B200-8E45225F50BE}"/>
                </a:ext>
              </a:extLst>
            </p:cNvPr>
            <p:cNvSpPr/>
            <p:nvPr/>
          </p:nvSpPr>
          <p:spPr bwMode="auto">
            <a:xfrm>
              <a:off x="9232563" y="6150095"/>
              <a:ext cx="432000" cy="43200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50" name="Text Box 115">
              <a:extLst>
                <a:ext uri="{FF2B5EF4-FFF2-40B4-BE49-F238E27FC236}">
                  <a16:creationId xmlns:a16="http://schemas.microsoft.com/office/drawing/2014/main" id="{ACEBDF7D-1ECC-4D1F-868C-F7128E417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6800" y="6332462"/>
              <a:ext cx="400537" cy="13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- +</a:t>
              </a:r>
            </a:p>
          </p:txBody>
        </p:sp>
      </p:grpSp>
      <p:sp>
        <p:nvSpPr>
          <p:cNvPr id="4" name="Text Box 92">
            <a:extLst>
              <a:ext uri="{FF2B5EF4-FFF2-40B4-BE49-F238E27FC236}">
                <a16:creationId xmlns:a16="http://schemas.microsoft.com/office/drawing/2014/main" id="{D8311CC4-71B6-751A-EDEA-3AD4803CB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377" y="883084"/>
            <a:ext cx="7790388" cy="97858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Un mismo generador se puede representar de diferentes maneras según como se considere que actúa</a:t>
            </a:r>
          </a:p>
        </p:txBody>
      </p:sp>
    </p:spTree>
    <p:extLst>
      <p:ext uri="{BB962C8B-B14F-4D97-AF65-F5344CB8AC3E}">
        <p14:creationId xmlns:p14="http://schemas.microsoft.com/office/powerpoint/2010/main" val="4241383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/>
      <p:bldP spid="79" grpId="0"/>
      <p:bldP spid="92" grpId="0"/>
      <p:bldP spid="93" grpId="0" animBg="1"/>
      <p:bldP spid="1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44" name="Text Box 36"/>
          <p:cNvSpPr txBox="1">
            <a:spLocks noChangeArrowheads="1"/>
          </p:cNvSpPr>
          <p:nvPr/>
        </p:nvSpPr>
        <p:spPr bwMode="auto">
          <a:xfrm>
            <a:off x="4693466" y="5876710"/>
            <a:ext cx="2622570" cy="1260672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wrap="square"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Comic Sans MS" panose="030F0702030302020204" pitchFamily="66" charset="0"/>
              </a:rPr>
              <a:t>FUENTE DE INTENSIDAD IDEAL</a:t>
            </a:r>
          </a:p>
        </p:txBody>
      </p:sp>
      <p:sp>
        <p:nvSpPr>
          <p:cNvPr id="62560" name="Text Box 96"/>
          <p:cNvSpPr txBox="1">
            <a:spLocks noChangeArrowheads="1"/>
          </p:cNvSpPr>
          <p:nvPr/>
        </p:nvSpPr>
        <p:spPr bwMode="auto">
          <a:xfrm>
            <a:off x="5394314" y="3611604"/>
            <a:ext cx="4580163" cy="60925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Sería</a:t>
            </a:r>
            <a:r>
              <a:rPr lang="es-ES" sz="2400">
                <a:solidFill>
                  <a:schemeClr val="tx1"/>
                </a:solidFill>
              </a:rPr>
              <a:t> una </a:t>
            </a:r>
            <a:r>
              <a:rPr lang="es-ES" sz="2400" b="1">
                <a:solidFill>
                  <a:schemeClr val="tx1"/>
                </a:solidFill>
              </a:rPr>
              <a:t>fuente de intensidad</a:t>
            </a:r>
          </a:p>
        </p:txBody>
      </p:sp>
      <p:sp>
        <p:nvSpPr>
          <p:cNvPr id="785526" name="Text Box 118"/>
          <p:cNvSpPr txBox="1">
            <a:spLocks noChangeArrowheads="1"/>
          </p:cNvSpPr>
          <p:nvPr/>
        </p:nvSpPr>
        <p:spPr bwMode="auto">
          <a:xfrm>
            <a:off x="5394315" y="2899109"/>
            <a:ext cx="3091069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Suministra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una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62561" name="Text Box 97"/>
          <p:cNvSpPr txBox="1">
            <a:spLocks noChangeArrowheads="1"/>
          </p:cNvSpPr>
          <p:nvPr/>
        </p:nvSpPr>
        <p:spPr bwMode="auto">
          <a:xfrm>
            <a:off x="5407977" y="2175845"/>
            <a:ext cx="1632476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2ª opinión: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4679447" y="4684828"/>
            <a:ext cx="2636589" cy="1055564"/>
            <a:chOff x="3145589" y="5422737"/>
            <a:chExt cx="2636589" cy="1055564"/>
          </a:xfrm>
        </p:grpSpPr>
        <p:sp>
          <p:nvSpPr>
            <p:cNvPr id="4" name="Rectángulo 3"/>
            <p:cNvSpPr/>
            <p:nvPr/>
          </p:nvSpPr>
          <p:spPr bwMode="auto">
            <a:xfrm>
              <a:off x="3145589" y="5422737"/>
              <a:ext cx="2636589" cy="105556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7" name="Group 107"/>
            <p:cNvGrpSpPr>
              <a:grpSpLocks/>
            </p:cNvGrpSpPr>
            <p:nvPr/>
          </p:nvGrpSpPr>
          <p:grpSpPr bwMode="auto">
            <a:xfrm>
              <a:off x="3273429" y="5431207"/>
              <a:ext cx="2314576" cy="941388"/>
              <a:chOff x="3948" y="2423"/>
              <a:chExt cx="1458" cy="593"/>
            </a:xfrm>
          </p:grpSpPr>
          <p:sp>
            <p:nvSpPr>
              <p:cNvPr id="78" name="Text Box 89"/>
              <p:cNvSpPr txBox="1">
                <a:spLocks noChangeArrowheads="1"/>
              </p:cNvSpPr>
              <p:nvPr/>
            </p:nvSpPr>
            <p:spPr bwMode="auto">
              <a:xfrm>
                <a:off x="3948" y="2612"/>
                <a:ext cx="417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 </a:t>
                </a:r>
                <a:r>
                  <a:rPr lang="es-ES" sz="2400">
                    <a:latin typeface="Comic Sans MS" panose="030F0702030302020204" pitchFamily="66" charset="0"/>
                  </a:rPr>
                  <a:t>=</a:t>
                </a: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  <p:sp>
            <p:nvSpPr>
              <p:cNvPr id="79" name="Line 90"/>
              <p:cNvSpPr>
                <a:spLocks noChangeShapeType="1"/>
              </p:cNvSpPr>
              <p:nvPr/>
            </p:nvSpPr>
            <p:spPr bwMode="auto">
              <a:xfrm>
                <a:off x="4287" y="2748"/>
                <a:ext cx="25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80" name="Text Box 91"/>
              <p:cNvSpPr txBox="1">
                <a:spLocks noChangeArrowheads="1"/>
              </p:cNvSpPr>
              <p:nvPr/>
            </p:nvSpPr>
            <p:spPr bwMode="auto">
              <a:xfrm>
                <a:off x="4330" y="2733"/>
                <a:ext cx="19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81" name="Text Box 92"/>
              <p:cNvSpPr txBox="1">
                <a:spLocks noChangeArrowheads="1"/>
              </p:cNvSpPr>
              <p:nvPr/>
            </p:nvSpPr>
            <p:spPr bwMode="auto">
              <a:xfrm>
                <a:off x="4317" y="2423"/>
                <a:ext cx="182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4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2" name="Text Box 94"/>
              <p:cNvSpPr txBox="1">
                <a:spLocks noChangeArrowheads="1"/>
              </p:cNvSpPr>
              <p:nvPr/>
            </p:nvSpPr>
            <p:spPr bwMode="auto">
              <a:xfrm>
                <a:off x="4696" y="2634"/>
                <a:ext cx="438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3300"/>
                    </a:solidFill>
                    <a:latin typeface="Comic Sans MS" panose="030F0702030302020204" pitchFamily="66" charset="0"/>
                  </a:rPr>
                  <a:t>V</a:t>
                </a: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s-ES" sz="2400">
                    <a:latin typeface="Comic Sans MS" panose="030F0702030302020204" pitchFamily="66" charset="0"/>
                  </a:rPr>
                  <a:t>=</a:t>
                </a: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 </a:t>
                </a:r>
              </a:p>
            </p:txBody>
          </p:sp>
          <p:sp>
            <p:nvSpPr>
              <p:cNvPr id="83" name="Text Box 95"/>
              <p:cNvSpPr txBox="1">
                <a:spLocks noChangeArrowheads="1"/>
              </p:cNvSpPr>
              <p:nvPr/>
            </p:nvSpPr>
            <p:spPr bwMode="auto">
              <a:xfrm>
                <a:off x="5051" y="2635"/>
                <a:ext cx="22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R</a:t>
                </a:r>
                <a:endParaRPr lang="es-ES" sz="2400">
                  <a:solidFill>
                    <a:srgbClr val="008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4" name="Text Box 96"/>
              <p:cNvSpPr txBox="1">
                <a:spLocks noChangeArrowheads="1"/>
              </p:cNvSpPr>
              <p:nvPr/>
            </p:nvSpPr>
            <p:spPr bwMode="auto">
              <a:xfrm>
                <a:off x="5203" y="2644"/>
                <a:ext cx="203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24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2" name="Grupo 11"/>
          <p:cNvGrpSpPr/>
          <p:nvPr/>
        </p:nvGrpSpPr>
        <p:grpSpPr>
          <a:xfrm>
            <a:off x="8426522" y="5271326"/>
            <a:ext cx="1084466" cy="1128326"/>
            <a:chOff x="8310607" y="5842181"/>
            <a:chExt cx="1084466" cy="1128326"/>
          </a:xfrm>
        </p:grpSpPr>
        <p:sp>
          <p:nvSpPr>
            <p:cNvPr id="2" name="Rectángulo 1"/>
            <p:cNvSpPr/>
            <p:nvPr/>
          </p:nvSpPr>
          <p:spPr bwMode="auto">
            <a:xfrm>
              <a:off x="8310607" y="5842181"/>
              <a:ext cx="1084466" cy="112832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88" name="Group 97"/>
            <p:cNvGrpSpPr>
              <a:grpSpLocks/>
            </p:cNvGrpSpPr>
            <p:nvPr/>
          </p:nvGrpSpPr>
          <p:grpSpPr bwMode="auto">
            <a:xfrm>
              <a:off x="8464982" y="6041270"/>
              <a:ext cx="844550" cy="592610"/>
              <a:chOff x="4216" y="2855"/>
              <a:chExt cx="532" cy="373"/>
            </a:xfrm>
          </p:grpSpPr>
          <p:sp>
            <p:nvSpPr>
              <p:cNvPr id="89" name="Text Box 98"/>
              <p:cNvSpPr txBox="1">
                <a:spLocks noChangeArrowheads="1"/>
              </p:cNvSpPr>
              <p:nvPr/>
            </p:nvSpPr>
            <p:spPr bwMode="auto">
              <a:xfrm>
                <a:off x="4216" y="2855"/>
                <a:ext cx="17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0" name="Line 99"/>
              <p:cNvSpPr>
                <a:spLocks noChangeShapeType="1"/>
              </p:cNvSpPr>
              <p:nvPr/>
            </p:nvSpPr>
            <p:spPr bwMode="auto">
              <a:xfrm rot="5400000" flipV="1">
                <a:off x="4674" y="3033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1" name="Line 100"/>
              <p:cNvSpPr>
                <a:spLocks noChangeShapeType="1"/>
              </p:cNvSpPr>
              <p:nvPr/>
            </p:nvSpPr>
            <p:spPr bwMode="auto">
              <a:xfrm rot="5400000">
                <a:off x="4292" y="3039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2" name="Oval 101"/>
              <p:cNvSpPr>
                <a:spLocks noChangeArrowheads="1"/>
              </p:cNvSpPr>
              <p:nvPr/>
            </p:nvSpPr>
            <p:spPr bwMode="auto">
              <a:xfrm>
                <a:off x="4370" y="2984"/>
                <a:ext cx="223" cy="244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3" name="Text Box 102"/>
              <p:cNvSpPr txBox="1">
                <a:spLocks noChangeArrowheads="1"/>
              </p:cNvSpPr>
              <p:nvPr/>
            </p:nvSpPr>
            <p:spPr bwMode="auto">
              <a:xfrm>
                <a:off x="4371" y="2996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 b="1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</p:grpSp>
      </p:grpSp>
      <p:grpSp>
        <p:nvGrpSpPr>
          <p:cNvPr id="74" name="Group 3">
            <a:extLst>
              <a:ext uri="{FF2B5EF4-FFF2-40B4-BE49-F238E27FC236}">
                <a16:creationId xmlns:a16="http://schemas.microsoft.com/office/drawing/2014/main" id="{9BE95BFD-E4F9-4E8A-A643-345D52D7BE44}"/>
              </a:ext>
            </a:extLst>
          </p:cNvPr>
          <p:cNvGrpSpPr>
            <a:grpSpLocks/>
          </p:cNvGrpSpPr>
          <p:nvPr/>
        </p:nvGrpSpPr>
        <p:grpSpPr bwMode="auto">
          <a:xfrm>
            <a:off x="2804336" y="2177165"/>
            <a:ext cx="1654175" cy="2130425"/>
            <a:chOff x="1769" y="1166"/>
            <a:chExt cx="1042" cy="1342"/>
          </a:xfrm>
        </p:grpSpPr>
        <p:sp>
          <p:nvSpPr>
            <p:cNvPr id="133" name="Line 4">
              <a:extLst>
                <a:ext uri="{FF2B5EF4-FFF2-40B4-BE49-F238E27FC236}">
                  <a16:creationId xmlns:a16="http://schemas.microsoft.com/office/drawing/2014/main" id="{DF0CE06F-74BB-46F3-BC66-6DCFFD9484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0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4" name="Line 5">
              <a:extLst>
                <a:ext uri="{FF2B5EF4-FFF2-40B4-BE49-F238E27FC236}">
                  <a16:creationId xmlns:a16="http://schemas.microsoft.com/office/drawing/2014/main" id="{3E3B26B8-F1B6-4AAF-AC94-516CCE8D2F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28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5" name="Line 6">
              <a:extLst>
                <a:ext uri="{FF2B5EF4-FFF2-40B4-BE49-F238E27FC236}">
                  <a16:creationId xmlns:a16="http://schemas.microsoft.com/office/drawing/2014/main" id="{43909FD5-0C9A-4A61-A39B-1322527C4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7" y="2008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6" name="Line 7">
              <a:extLst>
                <a:ext uri="{FF2B5EF4-FFF2-40B4-BE49-F238E27FC236}">
                  <a16:creationId xmlns:a16="http://schemas.microsoft.com/office/drawing/2014/main" id="{BF8ECEA9-CC53-4335-B9EC-FDA36EECD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1" y="1190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7" name="Freeform 8">
              <a:extLst>
                <a:ext uri="{FF2B5EF4-FFF2-40B4-BE49-F238E27FC236}">
                  <a16:creationId xmlns:a16="http://schemas.microsoft.com/office/drawing/2014/main" id="{0D9292D9-FA8C-47F8-BA1D-C88542390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1698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8" name="Text Box 9">
              <a:extLst>
                <a:ext uri="{FF2B5EF4-FFF2-40B4-BE49-F238E27FC236}">
                  <a16:creationId xmlns:a16="http://schemas.microsoft.com/office/drawing/2014/main" id="{11E721E1-A6C9-46C1-9C02-DBA1B4B59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" y="1702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grpSp>
        <p:nvGrpSpPr>
          <p:cNvPr id="139" name="Group 60">
            <a:extLst>
              <a:ext uri="{FF2B5EF4-FFF2-40B4-BE49-F238E27FC236}">
                <a16:creationId xmlns:a16="http://schemas.microsoft.com/office/drawing/2014/main" id="{43128A65-3394-4F15-9873-A02157F7135A}"/>
              </a:ext>
            </a:extLst>
          </p:cNvPr>
          <p:cNvGrpSpPr>
            <a:grpSpLocks/>
          </p:cNvGrpSpPr>
          <p:nvPr/>
        </p:nvGrpSpPr>
        <p:grpSpPr bwMode="auto">
          <a:xfrm>
            <a:off x="2079961" y="2249872"/>
            <a:ext cx="1063625" cy="782638"/>
            <a:chOff x="1459" y="1189"/>
            <a:chExt cx="670" cy="493"/>
          </a:xfrm>
        </p:grpSpPr>
        <p:sp>
          <p:nvSpPr>
            <p:cNvPr id="140" name="Text Box 61">
              <a:extLst>
                <a:ext uri="{FF2B5EF4-FFF2-40B4-BE49-F238E27FC236}">
                  <a16:creationId xmlns:a16="http://schemas.microsoft.com/office/drawing/2014/main" id="{F4238CC4-DC2D-4BF8-B0DF-B391FDBED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9" y="1338"/>
              <a:ext cx="33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I </a:t>
              </a:r>
              <a:r>
                <a:rPr lang="es-ES" sz="2000">
                  <a:latin typeface="Comic Sans MS" panose="030F0702030302020204" pitchFamily="66" charset="0"/>
                </a:rPr>
                <a:t>=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141" name="Line 62">
              <a:extLst>
                <a:ext uri="{FF2B5EF4-FFF2-40B4-BE49-F238E27FC236}">
                  <a16:creationId xmlns:a16="http://schemas.microsoft.com/office/drawing/2014/main" id="{3DB56AE8-AD60-4634-8B27-257D62AB9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145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42" name="Text Box 63">
              <a:extLst>
                <a:ext uri="{FF2B5EF4-FFF2-40B4-BE49-F238E27FC236}">
                  <a16:creationId xmlns:a16="http://schemas.microsoft.com/office/drawing/2014/main" id="{5E6353A6-924D-4396-86CB-80553BFF1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9" y="1459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43" name="Text Box 64">
              <a:extLst>
                <a:ext uri="{FF2B5EF4-FFF2-40B4-BE49-F238E27FC236}">
                  <a16:creationId xmlns:a16="http://schemas.microsoft.com/office/drawing/2014/main" id="{78D8B113-7395-44C5-BEAF-78C6C2D02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" y="1189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44" name="Group 65">
            <a:extLst>
              <a:ext uri="{FF2B5EF4-FFF2-40B4-BE49-F238E27FC236}">
                <a16:creationId xmlns:a16="http://schemas.microsoft.com/office/drawing/2014/main" id="{32DEB1D6-EE4E-4FD0-858C-D046ABCC36F4}"/>
              </a:ext>
            </a:extLst>
          </p:cNvPr>
          <p:cNvGrpSpPr>
            <a:grpSpLocks/>
          </p:cNvGrpSpPr>
          <p:nvPr/>
        </p:nvGrpSpPr>
        <p:grpSpPr bwMode="auto">
          <a:xfrm>
            <a:off x="1220011" y="2134302"/>
            <a:ext cx="1644650" cy="2212975"/>
            <a:chOff x="771" y="1139"/>
            <a:chExt cx="1036" cy="1394"/>
          </a:xfrm>
        </p:grpSpPr>
        <p:sp>
          <p:nvSpPr>
            <p:cNvPr id="145" name="Line 66">
              <a:extLst>
                <a:ext uri="{FF2B5EF4-FFF2-40B4-BE49-F238E27FC236}">
                  <a16:creationId xmlns:a16="http://schemas.microsoft.com/office/drawing/2014/main" id="{F95322B8-9611-468C-81CC-D00574B242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6" name="Line 67">
              <a:extLst>
                <a:ext uri="{FF2B5EF4-FFF2-40B4-BE49-F238E27FC236}">
                  <a16:creationId xmlns:a16="http://schemas.microsoft.com/office/drawing/2014/main" id="{4AD88A03-9133-433A-ACAC-1F35454D98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47" name="Group 68">
              <a:extLst>
                <a:ext uri="{FF2B5EF4-FFF2-40B4-BE49-F238E27FC236}">
                  <a16:creationId xmlns:a16="http://schemas.microsoft.com/office/drawing/2014/main" id="{5EEBC95D-DF4B-414F-BD2C-CDF154453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5" y="2131"/>
              <a:ext cx="278" cy="48"/>
              <a:chOff x="1619" y="2634"/>
              <a:chExt cx="340" cy="54"/>
            </a:xfrm>
          </p:grpSpPr>
          <p:sp>
            <p:nvSpPr>
              <p:cNvPr id="156" name="Line 69">
                <a:extLst>
                  <a:ext uri="{FF2B5EF4-FFF2-40B4-BE49-F238E27FC236}">
                    <a16:creationId xmlns:a16="http://schemas.microsoft.com/office/drawing/2014/main" id="{A6BEE602-0A3D-4239-88CB-4F028043B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57" name="Line 70">
                <a:extLst>
                  <a:ext uri="{FF2B5EF4-FFF2-40B4-BE49-F238E27FC236}">
                    <a16:creationId xmlns:a16="http://schemas.microsoft.com/office/drawing/2014/main" id="{C6614665-D858-4323-A9C5-257CBD510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0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48" name="Text Box 71">
              <a:extLst>
                <a:ext uri="{FF2B5EF4-FFF2-40B4-BE49-F238E27FC236}">
                  <a16:creationId xmlns:a16="http://schemas.microsoft.com/office/drawing/2014/main" id="{8CBD08A2-FCAC-4E52-8FAA-A388B4B86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" y="2014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49" name="Line 72">
              <a:extLst>
                <a:ext uri="{FF2B5EF4-FFF2-40B4-BE49-F238E27FC236}">
                  <a16:creationId xmlns:a16="http://schemas.microsoft.com/office/drawing/2014/main" id="{82855BC8-5100-413E-BE73-0CDF72ABF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9" y="1812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0" name="Line 73">
              <a:extLst>
                <a:ext uri="{FF2B5EF4-FFF2-40B4-BE49-F238E27FC236}">
                  <a16:creationId xmlns:a16="http://schemas.microsoft.com/office/drawing/2014/main" id="{6F5F0CC6-1A18-467C-9DC4-BE509CB62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9" y="2200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1" name="Line 74">
              <a:extLst>
                <a:ext uri="{FF2B5EF4-FFF2-40B4-BE49-F238E27FC236}">
                  <a16:creationId xmlns:a16="http://schemas.microsoft.com/office/drawing/2014/main" id="{768C2FDA-D2E3-4C56-9A44-8FE01D9B1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3" y="11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2" name="Freeform 75">
              <a:extLst>
                <a:ext uri="{FF2B5EF4-FFF2-40B4-BE49-F238E27FC236}">
                  <a16:creationId xmlns:a16="http://schemas.microsoft.com/office/drawing/2014/main" id="{C1502C32-B242-4918-84AF-181A28E2A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1502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3" name="Text Box 76">
              <a:extLst>
                <a:ext uri="{FF2B5EF4-FFF2-40B4-BE49-F238E27FC236}">
                  <a16:creationId xmlns:a16="http://schemas.microsoft.com/office/drawing/2014/main" id="{0F2B4BC3-F3C3-4F97-A419-016C10B07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493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54" name="Oval 77">
              <a:extLst>
                <a:ext uri="{FF2B5EF4-FFF2-40B4-BE49-F238E27FC236}">
                  <a16:creationId xmlns:a16="http://schemas.microsoft.com/office/drawing/2014/main" id="{6BB2AD9C-BC07-4F7E-A5E9-92CB7084F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139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Oval 78">
              <a:extLst>
                <a:ext uri="{FF2B5EF4-FFF2-40B4-BE49-F238E27FC236}">
                  <a16:creationId xmlns:a16="http://schemas.microsoft.com/office/drawing/2014/main" id="{19B2E5CA-4E40-4F97-BDE0-2010A33F8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2472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58" name="Group 79">
            <a:extLst>
              <a:ext uri="{FF2B5EF4-FFF2-40B4-BE49-F238E27FC236}">
                <a16:creationId xmlns:a16="http://schemas.microsoft.com/office/drawing/2014/main" id="{1EAA417B-D25E-433D-9732-587B8EBE0A5B}"/>
              </a:ext>
            </a:extLst>
          </p:cNvPr>
          <p:cNvGrpSpPr>
            <a:grpSpLocks/>
          </p:cNvGrpSpPr>
          <p:nvPr/>
        </p:nvGrpSpPr>
        <p:grpSpPr bwMode="auto">
          <a:xfrm>
            <a:off x="2175686" y="2143827"/>
            <a:ext cx="1382712" cy="2168525"/>
            <a:chOff x="1373" y="1145"/>
            <a:chExt cx="871" cy="1366"/>
          </a:xfrm>
        </p:grpSpPr>
        <p:sp>
          <p:nvSpPr>
            <p:cNvPr id="159" name="Line 80">
              <a:extLst>
                <a:ext uri="{FF2B5EF4-FFF2-40B4-BE49-F238E27FC236}">
                  <a16:creationId xmlns:a16="http://schemas.microsoft.com/office/drawing/2014/main" id="{98BCA433-4004-4B43-82CA-E6F9D8625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60" name="Line 81">
              <a:extLst>
                <a:ext uri="{FF2B5EF4-FFF2-40B4-BE49-F238E27FC236}">
                  <a16:creationId xmlns:a16="http://schemas.microsoft.com/office/drawing/2014/main" id="{D7293BE6-6823-4522-8258-ED54DDDF4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61" name="Text Box 82">
              <a:extLst>
                <a:ext uri="{FF2B5EF4-FFF2-40B4-BE49-F238E27FC236}">
                  <a16:creationId xmlns:a16="http://schemas.microsoft.com/office/drawing/2014/main" id="{B375894A-086F-4724-AB92-668A9CC31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" y="11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62" name="Text Box 83">
              <a:extLst>
                <a:ext uri="{FF2B5EF4-FFF2-40B4-BE49-F238E27FC236}">
                  <a16:creationId xmlns:a16="http://schemas.microsoft.com/office/drawing/2014/main" id="{244D8A38-D763-4A97-9030-3CBCDDDC2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" y="2276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163" name="Group 84">
            <a:extLst>
              <a:ext uri="{FF2B5EF4-FFF2-40B4-BE49-F238E27FC236}">
                <a16:creationId xmlns:a16="http://schemas.microsoft.com/office/drawing/2014/main" id="{493E28C6-E42F-4BE1-A025-D5918A304518}"/>
              </a:ext>
            </a:extLst>
          </p:cNvPr>
          <p:cNvGrpSpPr>
            <a:grpSpLocks/>
          </p:cNvGrpSpPr>
          <p:nvPr/>
        </p:nvGrpSpPr>
        <p:grpSpPr bwMode="auto">
          <a:xfrm>
            <a:off x="2088479" y="3135891"/>
            <a:ext cx="1363663" cy="731838"/>
            <a:chOff x="1591" y="1353"/>
            <a:chExt cx="859" cy="461"/>
          </a:xfrm>
        </p:grpSpPr>
        <p:sp>
          <p:nvSpPr>
            <p:cNvPr id="164" name="Text Box 85">
              <a:extLst>
                <a:ext uri="{FF2B5EF4-FFF2-40B4-BE49-F238E27FC236}">
                  <a16:creationId xmlns:a16="http://schemas.microsoft.com/office/drawing/2014/main" id="{E3322A66-3FFD-4BBC-BDD2-326C9D6B8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1" y="1470"/>
              <a:ext cx="34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 = </a:t>
              </a:r>
            </a:p>
          </p:txBody>
        </p:sp>
        <p:sp>
          <p:nvSpPr>
            <p:cNvPr id="165" name="Line 86">
              <a:extLst>
                <a:ext uri="{FF2B5EF4-FFF2-40B4-BE49-F238E27FC236}">
                  <a16:creationId xmlns:a16="http://schemas.microsoft.com/office/drawing/2014/main" id="{55DF01CD-0E7C-4497-BE63-53DE51B23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588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66" name="Text Box 87">
              <a:extLst>
                <a:ext uri="{FF2B5EF4-FFF2-40B4-BE49-F238E27FC236}">
                  <a16:creationId xmlns:a16="http://schemas.microsoft.com/office/drawing/2014/main" id="{0061B977-E0FD-4132-B026-C346A1BFB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591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67" name="Text Box 88">
              <a:extLst>
                <a:ext uri="{FF2B5EF4-FFF2-40B4-BE49-F238E27FC236}">
                  <a16:creationId xmlns:a16="http://schemas.microsoft.com/office/drawing/2014/main" id="{1456B9A0-5990-4D53-8BD0-840DDD4B9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1447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8" name="Text Box 89">
              <a:extLst>
                <a:ext uri="{FF2B5EF4-FFF2-40B4-BE49-F238E27FC236}">
                  <a16:creationId xmlns:a16="http://schemas.microsoft.com/office/drawing/2014/main" id="{CA6702CA-5134-4B4E-B9BD-68A2E8E27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35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69" name="Group 90">
            <a:extLst>
              <a:ext uri="{FF2B5EF4-FFF2-40B4-BE49-F238E27FC236}">
                <a16:creationId xmlns:a16="http://schemas.microsoft.com/office/drawing/2014/main" id="{807CC1DD-A16C-4354-9FF5-B7B4FFE5E948}"/>
              </a:ext>
            </a:extLst>
          </p:cNvPr>
          <p:cNvGrpSpPr>
            <a:grpSpLocks/>
          </p:cNvGrpSpPr>
          <p:nvPr/>
        </p:nvGrpSpPr>
        <p:grpSpPr bwMode="auto">
          <a:xfrm>
            <a:off x="3956861" y="2162877"/>
            <a:ext cx="871537" cy="2159000"/>
            <a:chOff x="2495" y="1157"/>
            <a:chExt cx="549" cy="1360"/>
          </a:xfrm>
        </p:grpSpPr>
        <p:sp>
          <p:nvSpPr>
            <p:cNvPr id="170" name="Text Box 91">
              <a:extLst>
                <a:ext uri="{FF2B5EF4-FFF2-40B4-BE49-F238E27FC236}">
                  <a16:creationId xmlns:a16="http://schemas.microsoft.com/office/drawing/2014/main" id="{AB50F27C-0D8A-492C-B106-04BADBA10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1706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171" name="Line 92">
              <a:extLst>
                <a:ext uri="{FF2B5EF4-FFF2-40B4-BE49-F238E27FC236}">
                  <a16:creationId xmlns:a16="http://schemas.microsoft.com/office/drawing/2014/main" id="{7D4B49DB-5785-45C4-9D70-D24281DB1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2" name="Line 93">
              <a:extLst>
                <a:ext uri="{FF2B5EF4-FFF2-40B4-BE49-F238E27FC236}">
                  <a16:creationId xmlns:a16="http://schemas.microsoft.com/office/drawing/2014/main" id="{F1CC3EAB-395E-43C3-A51A-1AADDBB06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3" name="Line 94">
              <a:extLst>
                <a:ext uri="{FF2B5EF4-FFF2-40B4-BE49-F238E27FC236}">
                  <a16:creationId xmlns:a16="http://schemas.microsoft.com/office/drawing/2014/main" id="{C1EE4C84-6BC9-49CA-8747-6057F9815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4" name="Line 95">
              <a:extLst>
                <a:ext uri="{FF2B5EF4-FFF2-40B4-BE49-F238E27FC236}">
                  <a16:creationId xmlns:a16="http://schemas.microsoft.com/office/drawing/2014/main" id="{EBCB87CA-B867-496B-AA9A-C70D28A3E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949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73" name="Text Box 115">
            <a:extLst>
              <a:ext uri="{FF2B5EF4-FFF2-40B4-BE49-F238E27FC236}">
                <a16:creationId xmlns:a16="http://schemas.microsoft.com/office/drawing/2014/main" id="{BEC02409-FB1F-4A9A-A85A-E12AB78BF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513" y="6109220"/>
            <a:ext cx="24780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flecha indica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el sentido de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92">
            <a:extLst>
              <a:ext uri="{FF2B5EF4-FFF2-40B4-BE49-F238E27FC236}">
                <a16:creationId xmlns:a16="http://schemas.microsoft.com/office/drawing/2014/main" id="{BF29B167-D696-6CE6-9DCF-B50FF3915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377" y="883084"/>
            <a:ext cx="7790388" cy="97858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Un mismo generador se puede representar de diferentes maneras según como se considere que actúa</a:t>
            </a:r>
          </a:p>
        </p:txBody>
      </p:sp>
      <p:sp>
        <p:nvSpPr>
          <p:cNvPr id="5" name="Text Box 124">
            <a:extLst>
              <a:ext uri="{FF2B5EF4-FFF2-40B4-BE49-F238E27FC236}">
                <a16:creationId xmlns:a16="http://schemas.microsoft.com/office/drawing/2014/main" id="{FBF44045-B867-EB3E-C389-77E56D45A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23" y="5963573"/>
            <a:ext cx="27992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generador actúa como una...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89632FCB-64EC-64AF-7427-B0FB360F8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136" y="4637789"/>
            <a:ext cx="3505859" cy="449703"/>
          </a:xfrm>
          <a:prstGeom prst="rect">
            <a:avLst/>
          </a:prstGeom>
          <a:noFill/>
          <a:ln>
            <a:noFill/>
          </a:ln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es evidente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F829777A-C12D-2C21-BE4C-354B08AD3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136" y="4987031"/>
            <a:ext cx="3505859" cy="819035"/>
          </a:xfrm>
          <a:prstGeom prst="rect">
            <a:avLst/>
          </a:prstGeom>
          <a:noFill/>
          <a:ln>
            <a:noFill/>
          </a:ln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(porque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solo depende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del generador)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21">
            <a:extLst>
              <a:ext uri="{FF2B5EF4-FFF2-40B4-BE49-F238E27FC236}">
                <a16:creationId xmlns:a16="http://schemas.microsoft.com/office/drawing/2014/main" id="{A066DB6C-AFD2-0E1D-C3D2-78DE3AB34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2861" y="4667426"/>
            <a:ext cx="2425701" cy="53665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Representación: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7881C1-C9F0-D388-7A55-6C707EE4841E}"/>
              </a:ext>
            </a:extLst>
          </p:cNvPr>
          <p:cNvSpPr/>
          <p:nvPr/>
        </p:nvSpPr>
        <p:spPr bwMode="auto">
          <a:xfrm>
            <a:off x="4810694" y="4787764"/>
            <a:ext cx="1018446" cy="86597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4093A7B-B421-B4ED-A418-445ADAFB2A6C}"/>
              </a:ext>
            </a:extLst>
          </p:cNvPr>
          <p:cNvCxnSpPr/>
          <p:nvPr/>
        </p:nvCxnSpPr>
        <p:spPr bwMode="auto">
          <a:xfrm>
            <a:off x="7658100" y="4689907"/>
            <a:ext cx="0" cy="21327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261787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8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8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6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7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44" grpId="0" animBg="1"/>
      <p:bldP spid="62560" grpId="0" animBg="1"/>
      <p:bldP spid="785526" grpId="0" animBg="1"/>
      <p:bldP spid="62561" grpId="0" animBg="1"/>
      <p:bldP spid="73" grpId="0"/>
      <p:bldP spid="5" grpId="0"/>
      <p:bldP spid="6" grpId="0" animBg="1"/>
      <p:bldP spid="7" grpId="0"/>
      <p:bldP spid="11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44" name="Text Box 36"/>
          <p:cNvSpPr txBox="1">
            <a:spLocks noChangeArrowheads="1"/>
          </p:cNvSpPr>
          <p:nvPr/>
        </p:nvSpPr>
        <p:spPr bwMode="auto">
          <a:xfrm>
            <a:off x="7443907" y="4459531"/>
            <a:ext cx="2760662" cy="126067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Comic Sans MS" panose="030F0702030302020204" pitchFamily="66" charset="0"/>
              </a:rPr>
              <a:t>FUENTE DE INTENSIDAD REAL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7447090" y="5782738"/>
            <a:ext cx="1251285" cy="1266769"/>
            <a:chOff x="8268100" y="5874303"/>
            <a:chExt cx="1251285" cy="1266769"/>
          </a:xfrm>
        </p:grpSpPr>
        <p:sp>
          <p:nvSpPr>
            <p:cNvPr id="2" name="Rectángulo 1"/>
            <p:cNvSpPr/>
            <p:nvPr/>
          </p:nvSpPr>
          <p:spPr bwMode="auto">
            <a:xfrm>
              <a:off x="8268100" y="5874303"/>
              <a:ext cx="1251285" cy="126676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1" name="Group 103"/>
            <p:cNvGrpSpPr>
              <a:grpSpLocks/>
            </p:cNvGrpSpPr>
            <p:nvPr/>
          </p:nvGrpSpPr>
          <p:grpSpPr bwMode="auto">
            <a:xfrm>
              <a:off x="8466536" y="5946972"/>
              <a:ext cx="876300" cy="1165225"/>
              <a:chOff x="4211" y="3383"/>
              <a:chExt cx="552" cy="734"/>
            </a:xfrm>
          </p:grpSpPr>
          <p:sp>
            <p:nvSpPr>
              <p:cNvPr id="72" name="Line 104"/>
              <p:cNvSpPr>
                <a:spLocks noChangeShapeType="1"/>
              </p:cNvSpPr>
              <p:nvPr/>
            </p:nvSpPr>
            <p:spPr bwMode="auto">
              <a:xfrm rot="5400000" flipV="1">
                <a:off x="4639" y="3893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3" name="Freeform 105"/>
              <p:cNvSpPr>
                <a:spLocks/>
              </p:cNvSpPr>
              <p:nvPr/>
            </p:nvSpPr>
            <p:spPr bwMode="auto">
              <a:xfrm rot="5400000">
                <a:off x="4357" y="3853"/>
                <a:ext cx="258" cy="187"/>
              </a:xfrm>
              <a:custGeom>
                <a:avLst/>
                <a:gdLst>
                  <a:gd name="T0" fmla="*/ 11 w 288"/>
                  <a:gd name="T1" fmla="*/ 0 h 384"/>
                  <a:gd name="T2" fmla="*/ 0 w 288"/>
                  <a:gd name="T3" fmla="*/ 0 h 384"/>
                  <a:gd name="T4" fmla="*/ 21 w 288"/>
                  <a:gd name="T5" fmla="*/ 0 h 384"/>
                  <a:gd name="T6" fmla="*/ 0 w 288"/>
                  <a:gd name="T7" fmla="*/ 0 h 384"/>
                  <a:gd name="T8" fmla="*/ 21 w 288"/>
                  <a:gd name="T9" fmla="*/ 0 h 384"/>
                  <a:gd name="T10" fmla="*/ 0 w 288"/>
                  <a:gd name="T11" fmla="*/ 0 h 384"/>
                  <a:gd name="T12" fmla="*/ 11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4" name="Text Box 106"/>
              <p:cNvSpPr txBox="1">
                <a:spLocks noChangeArrowheads="1"/>
              </p:cNvSpPr>
              <p:nvPr/>
            </p:nvSpPr>
            <p:spPr bwMode="auto">
              <a:xfrm>
                <a:off x="4595" y="3894"/>
                <a:ext cx="16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75" name="Text Box 107"/>
              <p:cNvSpPr txBox="1">
                <a:spLocks noChangeArrowheads="1"/>
              </p:cNvSpPr>
              <p:nvPr/>
            </p:nvSpPr>
            <p:spPr bwMode="auto">
              <a:xfrm>
                <a:off x="4219" y="3383"/>
                <a:ext cx="17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6" name="Line 108"/>
              <p:cNvSpPr>
                <a:spLocks noChangeShapeType="1"/>
              </p:cNvSpPr>
              <p:nvPr/>
            </p:nvSpPr>
            <p:spPr bwMode="auto">
              <a:xfrm rot="5400000" flipV="1">
                <a:off x="4672" y="3533"/>
                <a:ext cx="0" cy="18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88" name="Line 109"/>
              <p:cNvSpPr>
                <a:spLocks noChangeShapeType="1"/>
              </p:cNvSpPr>
              <p:nvPr/>
            </p:nvSpPr>
            <p:spPr bwMode="auto">
              <a:xfrm rot="5400000">
                <a:off x="4285" y="355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0" name="Oval 110"/>
              <p:cNvSpPr>
                <a:spLocks noChangeArrowheads="1"/>
              </p:cNvSpPr>
              <p:nvPr/>
            </p:nvSpPr>
            <p:spPr bwMode="auto">
              <a:xfrm>
                <a:off x="4363" y="3494"/>
                <a:ext cx="223" cy="245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1" name="Text Box 111"/>
              <p:cNvSpPr txBox="1">
                <a:spLocks noChangeArrowheads="1"/>
              </p:cNvSpPr>
              <p:nvPr/>
            </p:nvSpPr>
            <p:spPr bwMode="auto">
              <a:xfrm>
                <a:off x="4364" y="3507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  <p:sp>
            <p:nvSpPr>
              <p:cNvPr id="92" name="Line 112"/>
              <p:cNvSpPr>
                <a:spLocks noChangeShapeType="1"/>
              </p:cNvSpPr>
              <p:nvPr/>
            </p:nvSpPr>
            <p:spPr bwMode="auto">
              <a:xfrm rot="5400000" flipV="1">
                <a:off x="4339" y="3899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3" name="Line 113"/>
              <p:cNvSpPr>
                <a:spLocks noChangeShapeType="1"/>
              </p:cNvSpPr>
              <p:nvPr/>
            </p:nvSpPr>
            <p:spPr bwMode="auto">
              <a:xfrm>
                <a:off x="4301" y="3629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94" name="Line 114"/>
              <p:cNvSpPr>
                <a:spLocks noChangeShapeType="1"/>
              </p:cNvSpPr>
              <p:nvPr/>
            </p:nvSpPr>
            <p:spPr bwMode="auto">
              <a:xfrm>
                <a:off x="4683" y="3622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</p:grpSp>
      <p:sp>
        <p:nvSpPr>
          <p:cNvPr id="77" name="CuadroTexto 1"/>
          <p:cNvSpPr txBox="1">
            <a:spLocks noChangeArrowheads="1"/>
          </p:cNvSpPr>
          <p:nvPr/>
        </p:nvSpPr>
        <p:spPr bwMode="auto">
          <a:xfrm>
            <a:off x="8704679" y="5909548"/>
            <a:ext cx="174032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s-ES" sz="2400">
                <a:solidFill>
                  <a:schemeClr val="tx1"/>
                </a:solidFill>
              </a:rPr>
              <a:t>Antes </a:t>
            </a:r>
            <a:r>
              <a:rPr lang="es-ES" sz="2400" dirty="0">
                <a:solidFill>
                  <a:srgbClr val="008000"/>
                </a:solidFill>
              </a:rPr>
              <a:t>r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= </a:t>
            </a: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 </a:t>
            </a:r>
            <a:r>
              <a:rPr lang="es-ES" sz="2400">
                <a:sym typeface="Symbol" panose="05050102010706020507" pitchFamily="18" charset="2"/>
              </a:rPr>
              <a:t>(circuito </a:t>
            </a:r>
            <a:r>
              <a:rPr lang="es-ES" sz="2400" dirty="0">
                <a:sym typeface="Symbol" panose="05050102010706020507" pitchFamily="18" charset="2"/>
              </a:rPr>
              <a:t>abierto)</a:t>
            </a:r>
            <a:endParaRPr lang="es-ES" sz="2400" dirty="0"/>
          </a:p>
        </p:txBody>
      </p:sp>
      <p:sp>
        <p:nvSpPr>
          <p:cNvPr id="133" name="Text Box 11"/>
          <p:cNvSpPr txBox="1">
            <a:spLocks noChangeArrowheads="1"/>
          </p:cNvSpPr>
          <p:nvPr/>
        </p:nvSpPr>
        <p:spPr bwMode="auto">
          <a:xfrm>
            <a:off x="1272817" y="4495162"/>
            <a:ext cx="3010368" cy="118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no es despreciable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(si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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Box 96">
            <a:extLst>
              <a:ext uri="{FF2B5EF4-FFF2-40B4-BE49-F238E27FC236}">
                <a16:creationId xmlns:a16="http://schemas.microsoft.com/office/drawing/2014/main" id="{B2087D81-689C-4E29-A7F2-98FC7A2A5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14" y="3611604"/>
            <a:ext cx="4580163" cy="60925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Sería</a:t>
            </a:r>
            <a:r>
              <a:rPr lang="es-ES" sz="2400">
                <a:solidFill>
                  <a:schemeClr val="tx1"/>
                </a:solidFill>
              </a:rPr>
              <a:t> una </a:t>
            </a:r>
            <a:r>
              <a:rPr lang="es-ES" sz="2400" b="1">
                <a:solidFill>
                  <a:schemeClr val="tx1"/>
                </a:solidFill>
              </a:rPr>
              <a:t>fuente de intensidad</a:t>
            </a:r>
          </a:p>
        </p:txBody>
      </p:sp>
      <p:sp>
        <p:nvSpPr>
          <p:cNvPr id="89" name="Text Box 118">
            <a:extLst>
              <a:ext uri="{FF2B5EF4-FFF2-40B4-BE49-F238E27FC236}">
                <a16:creationId xmlns:a16="http://schemas.microsoft.com/office/drawing/2014/main" id="{DADF0BF8-2FD3-4BC5-9596-799E4EF1B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15" y="2899109"/>
            <a:ext cx="3091069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Suministra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una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98" name="Text Box 97">
            <a:extLst>
              <a:ext uri="{FF2B5EF4-FFF2-40B4-BE49-F238E27FC236}">
                <a16:creationId xmlns:a16="http://schemas.microsoft.com/office/drawing/2014/main" id="{CFAEAF11-824F-4EF6-9F15-76086371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977" y="2175845"/>
            <a:ext cx="1632476" cy="53654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2ª opinión:</a:t>
            </a:r>
          </a:p>
        </p:txBody>
      </p:sp>
      <p:grpSp>
        <p:nvGrpSpPr>
          <p:cNvPr id="135" name="Group 3">
            <a:extLst>
              <a:ext uri="{FF2B5EF4-FFF2-40B4-BE49-F238E27FC236}">
                <a16:creationId xmlns:a16="http://schemas.microsoft.com/office/drawing/2014/main" id="{6DE13671-3963-4E55-A78A-534C487BD22D}"/>
              </a:ext>
            </a:extLst>
          </p:cNvPr>
          <p:cNvGrpSpPr>
            <a:grpSpLocks/>
          </p:cNvGrpSpPr>
          <p:nvPr/>
        </p:nvGrpSpPr>
        <p:grpSpPr bwMode="auto">
          <a:xfrm>
            <a:off x="2804336" y="2177165"/>
            <a:ext cx="1654175" cy="2130425"/>
            <a:chOff x="1769" y="1166"/>
            <a:chExt cx="1042" cy="1342"/>
          </a:xfrm>
        </p:grpSpPr>
        <p:sp>
          <p:nvSpPr>
            <p:cNvPr id="136" name="Line 4">
              <a:extLst>
                <a:ext uri="{FF2B5EF4-FFF2-40B4-BE49-F238E27FC236}">
                  <a16:creationId xmlns:a16="http://schemas.microsoft.com/office/drawing/2014/main" id="{A6568871-0D3A-4DFB-9640-7D4EE4009A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0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7" name="Line 5">
              <a:extLst>
                <a:ext uri="{FF2B5EF4-FFF2-40B4-BE49-F238E27FC236}">
                  <a16:creationId xmlns:a16="http://schemas.microsoft.com/office/drawing/2014/main" id="{C164649A-C511-4AF2-957B-D708B95271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28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8" name="Line 6">
              <a:extLst>
                <a:ext uri="{FF2B5EF4-FFF2-40B4-BE49-F238E27FC236}">
                  <a16:creationId xmlns:a16="http://schemas.microsoft.com/office/drawing/2014/main" id="{A9F84C46-A541-4E96-9CC1-1A05C793A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7" y="2008"/>
              <a:ext cx="0" cy="4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39" name="Line 7">
              <a:extLst>
                <a:ext uri="{FF2B5EF4-FFF2-40B4-BE49-F238E27FC236}">
                  <a16:creationId xmlns:a16="http://schemas.microsoft.com/office/drawing/2014/main" id="{C5B57039-C0A5-4813-8EAB-1D4AE1AA7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1" y="1190"/>
              <a:ext cx="0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0" name="Freeform 8">
              <a:extLst>
                <a:ext uri="{FF2B5EF4-FFF2-40B4-BE49-F238E27FC236}">
                  <a16:creationId xmlns:a16="http://schemas.microsoft.com/office/drawing/2014/main" id="{C8E1CC05-B96F-4A38-BD8E-6BE7A5FE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1698"/>
              <a:ext cx="235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1" name="Text Box 9">
              <a:extLst>
                <a:ext uri="{FF2B5EF4-FFF2-40B4-BE49-F238E27FC236}">
                  <a16:creationId xmlns:a16="http://schemas.microsoft.com/office/drawing/2014/main" id="{CE52C52F-B8DB-4BBF-A776-6533C1270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" y="1702"/>
              <a:ext cx="18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grpSp>
        <p:nvGrpSpPr>
          <p:cNvPr id="142" name="Group 60">
            <a:extLst>
              <a:ext uri="{FF2B5EF4-FFF2-40B4-BE49-F238E27FC236}">
                <a16:creationId xmlns:a16="http://schemas.microsoft.com/office/drawing/2014/main" id="{FA83825B-AD8F-4AFA-A674-B739E6D5F8C5}"/>
              </a:ext>
            </a:extLst>
          </p:cNvPr>
          <p:cNvGrpSpPr>
            <a:grpSpLocks/>
          </p:cNvGrpSpPr>
          <p:nvPr/>
        </p:nvGrpSpPr>
        <p:grpSpPr bwMode="auto">
          <a:xfrm>
            <a:off x="2079961" y="2249872"/>
            <a:ext cx="1063625" cy="782638"/>
            <a:chOff x="1459" y="1189"/>
            <a:chExt cx="670" cy="493"/>
          </a:xfrm>
        </p:grpSpPr>
        <p:sp>
          <p:nvSpPr>
            <p:cNvPr id="143" name="Text Box 61">
              <a:extLst>
                <a:ext uri="{FF2B5EF4-FFF2-40B4-BE49-F238E27FC236}">
                  <a16:creationId xmlns:a16="http://schemas.microsoft.com/office/drawing/2014/main" id="{5A8205D3-742B-441C-AF5D-8EA82A99F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9" y="1338"/>
              <a:ext cx="33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I </a:t>
              </a:r>
              <a:r>
                <a:rPr lang="es-ES" sz="2000">
                  <a:latin typeface="Comic Sans MS" panose="030F0702030302020204" pitchFamily="66" charset="0"/>
                </a:rPr>
                <a:t>=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</a:p>
          </p:txBody>
        </p:sp>
        <p:sp>
          <p:nvSpPr>
            <p:cNvPr id="144" name="Line 62">
              <a:extLst>
                <a:ext uri="{FF2B5EF4-FFF2-40B4-BE49-F238E27FC236}">
                  <a16:creationId xmlns:a16="http://schemas.microsoft.com/office/drawing/2014/main" id="{A5BC48C3-934C-437A-90FD-433380871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145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45" name="Text Box 63">
              <a:extLst>
                <a:ext uri="{FF2B5EF4-FFF2-40B4-BE49-F238E27FC236}">
                  <a16:creationId xmlns:a16="http://schemas.microsoft.com/office/drawing/2014/main" id="{6508BBDE-63A0-4FD2-B4CC-B39D159DF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9" y="1459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46" name="Text Box 64">
              <a:extLst>
                <a:ext uri="{FF2B5EF4-FFF2-40B4-BE49-F238E27FC236}">
                  <a16:creationId xmlns:a16="http://schemas.microsoft.com/office/drawing/2014/main" id="{2E7953A6-1F00-4965-9D29-2FA9B7077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" y="1189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47" name="Group 65">
            <a:extLst>
              <a:ext uri="{FF2B5EF4-FFF2-40B4-BE49-F238E27FC236}">
                <a16:creationId xmlns:a16="http://schemas.microsoft.com/office/drawing/2014/main" id="{D427719D-C2A2-430D-9E42-9DCF4B8CD0C9}"/>
              </a:ext>
            </a:extLst>
          </p:cNvPr>
          <p:cNvGrpSpPr>
            <a:grpSpLocks/>
          </p:cNvGrpSpPr>
          <p:nvPr/>
        </p:nvGrpSpPr>
        <p:grpSpPr bwMode="auto">
          <a:xfrm>
            <a:off x="1220011" y="2134302"/>
            <a:ext cx="1644650" cy="2212975"/>
            <a:chOff x="771" y="1139"/>
            <a:chExt cx="1036" cy="1394"/>
          </a:xfrm>
        </p:grpSpPr>
        <p:sp>
          <p:nvSpPr>
            <p:cNvPr id="148" name="Line 66">
              <a:extLst>
                <a:ext uri="{FF2B5EF4-FFF2-40B4-BE49-F238E27FC236}">
                  <a16:creationId xmlns:a16="http://schemas.microsoft.com/office/drawing/2014/main" id="{9EB7495E-2E2E-4EEB-BA0F-767C68A268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2168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49" name="Line 67">
              <a:extLst>
                <a:ext uri="{FF2B5EF4-FFF2-40B4-BE49-F238E27FC236}">
                  <a16:creationId xmlns:a16="http://schemas.microsoft.com/office/drawing/2014/main" id="{913D4862-742A-4385-AFC3-A452B4E2F5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429" y="826"/>
              <a:ext cx="0" cy="6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grpSp>
          <p:nvGrpSpPr>
            <p:cNvPr id="150" name="Group 68">
              <a:extLst>
                <a:ext uri="{FF2B5EF4-FFF2-40B4-BE49-F238E27FC236}">
                  <a16:creationId xmlns:a16="http://schemas.microsoft.com/office/drawing/2014/main" id="{648F2039-BC4A-4771-9FC5-1D664943A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5" y="2131"/>
              <a:ext cx="278" cy="48"/>
              <a:chOff x="1619" y="2634"/>
              <a:chExt cx="340" cy="54"/>
            </a:xfrm>
          </p:grpSpPr>
          <p:sp>
            <p:nvSpPr>
              <p:cNvPr id="159" name="Line 69">
                <a:extLst>
                  <a:ext uri="{FF2B5EF4-FFF2-40B4-BE49-F238E27FC236}">
                    <a16:creationId xmlns:a16="http://schemas.microsoft.com/office/drawing/2014/main" id="{EA6A9DB6-FFE4-4CC3-95FD-B15740A37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263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60" name="Line 70">
                <a:extLst>
                  <a:ext uri="{FF2B5EF4-FFF2-40B4-BE49-F238E27FC236}">
                    <a16:creationId xmlns:a16="http://schemas.microsoft.com/office/drawing/2014/main" id="{3A2D9BF6-779A-4ABD-A9BA-C3D7A68EB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0" y="268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151" name="Text Box 71">
              <a:extLst>
                <a:ext uri="{FF2B5EF4-FFF2-40B4-BE49-F238E27FC236}">
                  <a16:creationId xmlns:a16="http://schemas.microsoft.com/office/drawing/2014/main" id="{E3872C52-08D5-4164-AF1F-44F0351A3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" y="2014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2" name="Line 72">
              <a:extLst>
                <a:ext uri="{FF2B5EF4-FFF2-40B4-BE49-F238E27FC236}">
                  <a16:creationId xmlns:a16="http://schemas.microsoft.com/office/drawing/2014/main" id="{EB13F4C4-DFB5-48BB-9E79-F6BF250EE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9" y="1812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3" name="Line 73">
              <a:extLst>
                <a:ext uri="{FF2B5EF4-FFF2-40B4-BE49-F238E27FC236}">
                  <a16:creationId xmlns:a16="http://schemas.microsoft.com/office/drawing/2014/main" id="{D0F0C591-FB56-4267-928D-E43D624FF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9" y="2200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4" name="Line 74">
              <a:extLst>
                <a:ext uri="{FF2B5EF4-FFF2-40B4-BE49-F238E27FC236}">
                  <a16:creationId xmlns:a16="http://schemas.microsoft.com/office/drawing/2014/main" id="{6959ECB6-16D1-453C-8DCE-DD78DC655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3" y="1175"/>
              <a:ext cx="0" cy="30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5" name="Freeform 75">
              <a:extLst>
                <a:ext uri="{FF2B5EF4-FFF2-40B4-BE49-F238E27FC236}">
                  <a16:creationId xmlns:a16="http://schemas.microsoft.com/office/drawing/2014/main" id="{3FE9231D-CA33-40F3-87E9-FB34AA4D0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1502"/>
              <a:ext cx="237" cy="306"/>
            </a:xfrm>
            <a:custGeom>
              <a:avLst/>
              <a:gdLst>
                <a:gd name="T0" fmla="*/ 2 w 288"/>
                <a:gd name="T1" fmla="*/ 2 h 384"/>
                <a:gd name="T2" fmla="*/ 0 w 288"/>
                <a:gd name="T3" fmla="*/ 2 h 384"/>
                <a:gd name="T4" fmla="*/ 2 w 288"/>
                <a:gd name="T5" fmla="*/ 2 h 384"/>
                <a:gd name="T6" fmla="*/ 0 w 288"/>
                <a:gd name="T7" fmla="*/ 2 h 384"/>
                <a:gd name="T8" fmla="*/ 2 w 288"/>
                <a:gd name="T9" fmla="*/ 2 h 384"/>
                <a:gd name="T10" fmla="*/ 0 w 288"/>
                <a:gd name="T11" fmla="*/ 0 h 384"/>
                <a:gd name="T12" fmla="*/ 2 w 288"/>
                <a:gd name="T13" fmla="*/ 0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384"/>
                <a:gd name="T23" fmla="*/ 288 w 28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384">
                  <a:moveTo>
                    <a:pt x="144" y="384"/>
                  </a:moveTo>
                  <a:lnTo>
                    <a:pt x="0" y="288"/>
                  </a:lnTo>
                  <a:lnTo>
                    <a:pt x="288" y="288"/>
                  </a:lnTo>
                  <a:lnTo>
                    <a:pt x="0" y="144"/>
                  </a:lnTo>
                  <a:lnTo>
                    <a:pt x="288" y="144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56" name="Text Box 76">
              <a:extLst>
                <a:ext uri="{FF2B5EF4-FFF2-40B4-BE49-F238E27FC236}">
                  <a16:creationId xmlns:a16="http://schemas.microsoft.com/office/drawing/2014/main" id="{8A58E000-E997-4D21-9EFC-20F2D6DA2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493"/>
              <a:ext cx="1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57" name="Oval 77">
              <a:extLst>
                <a:ext uri="{FF2B5EF4-FFF2-40B4-BE49-F238E27FC236}">
                  <a16:creationId xmlns:a16="http://schemas.microsoft.com/office/drawing/2014/main" id="{4C58B854-49B6-4BA0-90C0-D0D068229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139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8" name="Oval 78">
              <a:extLst>
                <a:ext uri="{FF2B5EF4-FFF2-40B4-BE49-F238E27FC236}">
                  <a16:creationId xmlns:a16="http://schemas.microsoft.com/office/drawing/2014/main" id="{CA8ECB28-9398-42C3-9CDE-84DCF6C9B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2472"/>
              <a:ext cx="56" cy="6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1" name="Group 79">
            <a:extLst>
              <a:ext uri="{FF2B5EF4-FFF2-40B4-BE49-F238E27FC236}">
                <a16:creationId xmlns:a16="http://schemas.microsoft.com/office/drawing/2014/main" id="{60AD0D4E-D5EE-42FE-8F3F-54A7DA6AB62F}"/>
              </a:ext>
            </a:extLst>
          </p:cNvPr>
          <p:cNvGrpSpPr>
            <a:grpSpLocks/>
          </p:cNvGrpSpPr>
          <p:nvPr/>
        </p:nvGrpSpPr>
        <p:grpSpPr bwMode="auto">
          <a:xfrm>
            <a:off x="2175686" y="2143827"/>
            <a:ext cx="1382712" cy="2168525"/>
            <a:chOff x="1373" y="1145"/>
            <a:chExt cx="871" cy="1366"/>
          </a:xfrm>
        </p:grpSpPr>
        <p:sp>
          <p:nvSpPr>
            <p:cNvPr id="162" name="Line 80">
              <a:extLst>
                <a:ext uri="{FF2B5EF4-FFF2-40B4-BE49-F238E27FC236}">
                  <a16:creationId xmlns:a16="http://schemas.microsoft.com/office/drawing/2014/main" id="{F2921EB9-72FA-43C5-87F4-F21B51905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1168"/>
              <a:ext cx="5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63" name="Line 81">
              <a:extLst>
                <a:ext uri="{FF2B5EF4-FFF2-40B4-BE49-F238E27FC236}">
                  <a16:creationId xmlns:a16="http://schemas.microsoft.com/office/drawing/2014/main" id="{6CCA43B6-57A6-41D3-977C-8EA26FF8C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3" y="2511"/>
              <a:ext cx="3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/>
            </a:p>
          </p:txBody>
        </p:sp>
        <p:sp>
          <p:nvSpPr>
            <p:cNvPr id="164" name="Text Box 82">
              <a:extLst>
                <a:ext uri="{FF2B5EF4-FFF2-40B4-BE49-F238E27FC236}">
                  <a16:creationId xmlns:a16="http://schemas.microsoft.com/office/drawing/2014/main" id="{A1492623-52B0-46FA-97B1-9766B1619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" y="11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65" name="Text Box 83">
              <a:extLst>
                <a:ext uri="{FF2B5EF4-FFF2-40B4-BE49-F238E27FC236}">
                  <a16:creationId xmlns:a16="http://schemas.microsoft.com/office/drawing/2014/main" id="{80D3FA61-4ED0-4283-96BF-F583365CC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" y="2276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</a:p>
          </p:txBody>
        </p:sp>
      </p:grpSp>
      <p:grpSp>
        <p:nvGrpSpPr>
          <p:cNvPr id="166" name="Group 84">
            <a:extLst>
              <a:ext uri="{FF2B5EF4-FFF2-40B4-BE49-F238E27FC236}">
                <a16:creationId xmlns:a16="http://schemas.microsoft.com/office/drawing/2014/main" id="{9708C298-E7A7-4B75-A289-E3256FF65DD8}"/>
              </a:ext>
            </a:extLst>
          </p:cNvPr>
          <p:cNvGrpSpPr>
            <a:grpSpLocks/>
          </p:cNvGrpSpPr>
          <p:nvPr/>
        </p:nvGrpSpPr>
        <p:grpSpPr bwMode="auto">
          <a:xfrm>
            <a:off x="2088479" y="3135891"/>
            <a:ext cx="1363663" cy="731838"/>
            <a:chOff x="1591" y="1353"/>
            <a:chExt cx="859" cy="461"/>
          </a:xfrm>
        </p:grpSpPr>
        <p:sp>
          <p:nvSpPr>
            <p:cNvPr id="167" name="Text Box 85">
              <a:extLst>
                <a:ext uri="{FF2B5EF4-FFF2-40B4-BE49-F238E27FC236}">
                  <a16:creationId xmlns:a16="http://schemas.microsoft.com/office/drawing/2014/main" id="{23057DAA-99CB-46D9-B278-35014ED81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1" y="1470"/>
              <a:ext cx="34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 = </a:t>
              </a:r>
            </a:p>
          </p:txBody>
        </p:sp>
        <p:sp>
          <p:nvSpPr>
            <p:cNvPr id="168" name="Line 86">
              <a:extLst>
                <a:ext uri="{FF2B5EF4-FFF2-40B4-BE49-F238E27FC236}">
                  <a16:creationId xmlns:a16="http://schemas.microsoft.com/office/drawing/2014/main" id="{079E9647-06B3-4821-9DED-60985B1B4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588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Ctr="1"/>
            <a:lstStyle/>
            <a:p>
              <a:endParaRPr lang="en-GB" sz="2400"/>
            </a:p>
          </p:txBody>
        </p:sp>
        <p:sp>
          <p:nvSpPr>
            <p:cNvPr id="169" name="Text Box 87">
              <a:extLst>
                <a:ext uri="{FF2B5EF4-FFF2-40B4-BE49-F238E27FC236}">
                  <a16:creationId xmlns:a16="http://schemas.microsoft.com/office/drawing/2014/main" id="{61EA00AF-4B28-445B-B071-4073D5B7D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591"/>
              <a:ext cx="41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 </a:t>
              </a:r>
              <a:r>
                <a:rPr lang="es-ES" sz="2000">
                  <a:latin typeface="Comic Sans MS" panose="030F0702030302020204" pitchFamily="66" charset="0"/>
                </a:rPr>
                <a:t>+</a:t>
              </a: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 </a:t>
              </a: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70" name="Text Box 88">
              <a:extLst>
                <a:ext uri="{FF2B5EF4-FFF2-40B4-BE49-F238E27FC236}">
                  <a16:creationId xmlns:a16="http://schemas.microsoft.com/office/drawing/2014/main" id="{1B66C38D-F837-43CB-8C50-2649F982D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1447"/>
              <a:ext cx="16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33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FF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71" name="Text Box 89">
              <a:extLst>
                <a:ext uri="{FF2B5EF4-FFF2-40B4-BE49-F238E27FC236}">
                  <a16:creationId xmlns:a16="http://schemas.microsoft.com/office/drawing/2014/main" id="{6F406F9D-E1DB-477A-A6A1-C478694DE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35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72" name="Group 90">
            <a:extLst>
              <a:ext uri="{FF2B5EF4-FFF2-40B4-BE49-F238E27FC236}">
                <a16:creationId xmlns:a16="http://schemas.microsoft.com/office/drawing/2014/main" id="{75303C7B-75CF-4588-B0E5-4B18AC2793C5}"/>
              </a:ext>
            </a:extLst>
          </p:cNvPr>
          <p:cNvGrpSpPr>
            <a:grpSpLocks/>
          </p:cNvGrpSpPr>
          <p:nvPr/>
        </p:nvGrpSpPr>
        <p:grpSpPr bwMode="auto">
          <a:xfrm>
            <a:off x="3956861" y="2162877"/>
            <a:ext cx="871537" cy="2159000"/>
            <a:chOff x="2495" y="1157"/>
            <a:chExt cx="549" cy="1360"/>
          </a:xfrm>
        </p:grpSpPr>
        <p:sp>
          <p:nvSpPr>
            <p:cNvPr id="173" name="Text Box 91">
              <a:extLst>
                <a:ext uri="{FF2B5EF4-FFF2-40B4-BE49-F238E27FC236}">
                  <a16:creationId xmlns:a16="http://schemas.microsoft.com/office/drawing/2014/main" id="{201A7E38-041B-4C29-9C63-3A6AE1C8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1706"/>
              <a:ext cx="19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174" name="Line 92">
              <a:extLst>
                <a:ext uri="{FF2B5EF4-FFF2-40B4-BE49-F238E27FC236}">
                  <a16:creationId xmlns:a16="http://schemas.microsoft.com/office/drawing/2014/main" id="{C8B967CE-C456-4B16-AFC3-E2460270F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115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5" name="Line 93">
              <a:extLst>
                <a:ext uri="{FF2B5EF4-FFF2-40B4-BE49-F238E27FC236}">
                  <a16:creationId xmlns:a16="http://schemas.microsoft.com/office/drawing/2014/main" id="{7CA2466F-5467-4DA5-8B51-E74565FE2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5" y="2517"/>
              <a:ext cx="49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6" name="Line 94">
              <a:extLst>
                <a:ext uri="{FF2B5EF4-FFF2-40B4-BE49-F238E27FC236}">
                  <a16:creationId xmlns:a16="http://schemas.microsoft.com/office/drawing/2014/main" id="{E17A8CE1-3592-4B9A-8017-5BC53D7FB8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9" y="1157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177" name="Line 95">
              <a:extLst>
                <a:ext uri="{FF2B5EF4-FFF2-40B4-BE49-F238E27FC236}">
                  <a16:creationId xmlns:a16="http://schemas.microsoft.com/office/drawing/2014/main" id="{F757229A-FEDC-42CD-A96B-7701928A4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949"/>
              <a:ext cx="0" cy="5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78" name="Text Box 124">
            <a:extLst>
              <a:ext uri="{FF2B5EF4-FFF2-40B4-BE49-F238E27FC236}">
                <a16:creationId xmlns:a16="http://schemas.microsoft.com/office/drawing/2014/main" id="{010C11EF-5A58-4802-B70B-590F15E6A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49" y="4616807"/>
            <a:ext cx="276066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generador actúa como una...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179" name="Text Box 121">
            <a:extLst>
              <a:ext uri="{FF2B5EF4-FFF2-40B4-BE49-F238E27FC236}">
                <a16:creationId xmlns:a16="http://schemas.microsoft.com/office/drawing/2014/main" id="{CA792770-B664-4AC1-8DDF-E03BB76D0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360" y="5774284"/>
            <a:ext cx="2425701" cy="53665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Representación:</a:t>
            </a:r>
          </a:p>
        </p:txBody>
      </p:sp>
      <p:sp>
        <p:nvSpPr>
          <p:cNvPr id="180" name="Flecha derecha 92">
            <a:extLst>
              <a:ext uri="{FF2B5EF4-FFF2-40B4-BE49-F238E27FC236}">
                <a16:creationId xmlns:a16="http://schemas.microsoft.com/office/drawing/2014/main" id="{EA4F8729-DA65-4E7B-A5A7-F11D315CB0DE}"/>
              </a:ext>
            </a:extLst>
          </p:cNvPr>
          <p:cNvSpPr/>
          <p:nvPr/>
        </p:nvSpPr>
        <p:spPr bwMode="auto">
          <a:xfrm>
            <a:off x="3967925" y="4901400"/>
            <a:ext cx="577849" cy="412248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Text Box 92">
            <a:extLst>
              <a:ext uri="{FF2B5EF4-FFF2-40B4-BE49-F238E27FC236}">
                <a16:creationId xmlns:a16="http://schemas.microsoft.com/office/drawing/2014/main" id="{D065C154-B373-C1A2-B196-8F5A4087A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377" y="883084"/>
            <a:ext cx="7790388" cy="97858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Un mismo generador se puede representar de diferentes maneras según como se considere que actúa</a:t>
            </a:r>
          </a:p>
        </p:txBody>
      </p:sp>
    </p:spTree>
    <p:extLst>
      <p:ext uri="{BB962C8B-B14F-4D97-AF65-F5344CB8AC3E}">
        <p14:creationId xmlns:p14="http://schemas.microsoft.com/office/powerpoint/2010/main" val="1556666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7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44" grpId="0" animBg="1"/>
      <p:bldP spid="77" grpId="0"/>
      <p:bldP spid="133" grpId="0"/>
      <p:bldP spid="178" grpId="0"/>
      <p:bldP spid="179" grpId="0" animBg="1"/>
      <p:bldP spid="18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B0F408F-2142-79D3-849C-A7C2013DB68E}"/>
              </a:ext>
            </a:extLst>
          </p:cNvPr>
          <p:cNvSpPr/>
          <p:nvPr/>
        </p:nvSpPr>
        <p:spPr bwMode="auto">
          <a:xfrm>
            <a:off x="2314574" y="5415342"/>
            <a:ext cx="7420445" cy="145426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68190" name="Text Box 190"/>
          <p:cNvSpPr txBox="1">
            <a:spLocks noChangeArrowheads="1"/>
          </p:cNvSpPr>
          <p:nvPr/>
        </p:nvSpPr>
        <p:spPr bwMode="auto">
          <a:xfrm>
            <a:off x="2686050" y="3338265"/>
            <a:ext cx="6162671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Las dos </a:t>
            </a:r>
            <a:r>
              <a:rPr lang="es-ES" sz="2400">
                <a:latin typeface="Arial" panose="020B0604020202020204" pitchFamily="34" charset="0"/>
              </a:rPr>
              <a:t>fuentes representan al generador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7454" name="Text Box 188"/>
          <p:cNvSpPr txBox="1">
            <a:spLocks noChangeArrowheads="1"/>
          </p:cNvSpPr>
          <p:nvPr/>
        </p:nvSpPr>
        <p:spPr bwMode="auto">
          <a:xfrm>
            <a:off x="2314575" y="4342856"/>
            <a:ext cx="6905621" cy="9785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Deben ser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equivalentes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al generador, y entre sí,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vistas desde los terminales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(desde el exterior)</a:t>
            </a:r>
          </a:p>
        </p:txBody>
      </p:sp>
      <p:sp>
        <p:nvSpPr>
          <p:cNvPr id="17455" name="AutoShape 191"/>
          <p:cNvSpPr>
            <a:spLocks noChangeArrowheads="1"/>
          </p:cNvSpPr>
          <p:nvPr/>
        </p:nvSpPr>
        <p:spPr bwMode="auto">
          <a:xfrm rot="5400000">
            <a:off x="5598725" y="3765791"/>
            <a:ext cx="363430" cy="685800"/>
          </a:xfrm>
          <a:prstGeom prst="rightArrow">
            <a:avLst>
              <a:gd name="adj1" fmla="val 57870"/>
              <a:gd name="adj2" fmla="val 67634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401" name="Text Box 188"/>
          <p:cNvSpPr txBox="1">
            <a:spLocks noChangeArrowheads="1"/>
          </p:cNvSpPr>
          <p:nvPr/>
        </p:nvSpPr>
        <p:spPr bwMode="auto">
          <a:xfrm>
            <a:off x="2345207" y="5464075"/>
            <a:ext cx="6794145" cy="50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Debe haber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isma ddp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entre sus terminales</a:t>
            </a:r>
            <a:endParaRPr lang="es-ES" sz="2400" b="1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7B5D301A-AD67-4A07-9DD3-B1CBA8AC8649}"/>
              </a:ext>
            </a:extLst>
          </p:cNvPr>
          <p:cNvGrpSpPr>
            <a:grpSpLocks/>
          </p:cNvGrpSpPr>
          <p:nvPr/>
        </p:nvGrpSpPr>
        <p:grpSpPr bwMode="auto">
          <a:xfrm>
            <a:off x="8039614" y="870309"/>
            <a:ext cx="1103313" cy="1165225"/>
            <a:chOff x="2344" y="684"/>
            <a:chExt cx="695" cy="734"/>
          </a:xfrm>
        </p:grpSpPr>
        <p:grpSp>
          <p:nvGrpSpPr>
            <p:cNvPr id="46" name="Group 103">
              <a:extLst>
                <a:ext uri="{FF2B5EF4-FFF2-40B4-BE49-F238E27FC236}">
                  <a16:creationId xmlns:a16="http://schemas.microsoft.com/office/drawing/2014/main" id="{76144582-94D5-46E3-A65C-F6B35B9DC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684"/>
              <a:ext cx="552" cy="734"/>
              <a:chOff x="4211" y="3383"/>
              <a:chExt cx="552" cy="734"/>
            </a:xfrm>
          </p:grpSpPr>
          <p:sp>
            <p:nvSpPr>
              <p:cNvPr id="53" name="Line 104">
                <a:extLst>
                  <a:ext uri="{FF2B5EF4-FFF2-40B4-BE49-F238E27FC236}">
                    <a16:creationId xmlns:a16="http://schemas.microsoft.com/office/drawing/2014/main" id="{E229DDD7-3BC1-4A11-8943-73F40F3E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639" y="3893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54" name="Freeform 105">
                <a:extLst>
                  <a:ext uri="{FF2B5EF4-FFF2-40B4-BE49-F238E27FC236}">
                    <a16:creationId xmlns:a16="http://schemas.microsoft.com/office/drawing/2014/main" id="{9519E607-6573-45F1-8307-CC552F89807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57" y="3853"/>
                <a:ext cx="258" cy="187"/>
              </a:xfrm>
              <a:custGeom>
                <a:avLst/>
                <a:gdLst>
                  <a:gd name="T0" fmla="*/ 11 w 288"/>
                  <a:gd name="T1" fmla="*/ 0 h 384"/>
                  <a:gd name="T2" fmla="*/ 0 w 288"/>
                  <a:gd name="T3" fmla="*/ 0 h 384"/>
                  <a:gd name="T4" fmla="*/ 21 w 288"/>
                  <a:gd name="T5" fmla="*/ 0 h 384"/>
                  <a:gd name="T6" fmla="*/ 0 w 288"/>
                  <a:gd name="T7" fmla="*/ 0 h 384"/>
                  <a:gd name="T8" fmla="*/ 21 w 288"/>
                  <a:gd name="T9" fmla="*/ 0 h 384"/>
                  <a:gd name="T10" fmla="*/ 0 w 288"/>
                  <a:gd name="T11" fmla="*/ 0 h 384"/>
                  <a:gd name="T12" fmla="*/ 11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55" name="Text Box 106">
                <a:extLst>
                  <a:ext uri="{FF2B5EF4-FFF2-40B4-BE49-F238E27FC236}">
                    <a16:creationId xmlns:a16="http://schemas.microsoft.com/office/drawing/2014/main" id="{DAB58DD7-67D9-42D0-B404-289698FE1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5" y="3894"/>
                <a:ext cx="16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56" name="Text Box 107">
                <a:extLst>
                  <a:ext uri="{FF2B5EF4-FFF2-40B4-BE49-F238E27FC236}">
                    <a16:creationId xmlns:a16="http://schemas.microsoft.com/office/drawing/2014/main" id="{443B96FD-0F09-4A44-9B87-BABD60B91D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9" y="3383"/>
                <a:ext cx="17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18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Line 108">
                <a:extLst>
                  <a:ext uri="{FF2B5EF4-FFF2-40B4-BE49-F238E27FC236}">
                    <a16:creationId xmlns:a16="http://schemas.microsoft.com/office/drawing/2014/main" id="{0884AD73-3293-490B-B5B1-957579277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672" y="3533"/>
                <a:ext cx="0" cy="18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58" name="Line 109">
                <a:extLst>
                  <a:ext uri="{FF2B5EF4-FFF2-40B4-BE49-F238E27FC236}">
                    <a16:creationId xmlns:a16="http://schemas.microsoft.com/office/drawing/2014/main" id="{5F2E040F-7455-497C-87BA-7E8BEA83C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285" y="355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59" name="Oval 110">
                <a:extLst>
                  <a:ext uri="{FF2B5EF4-FFF2-40B4-BE49-F238E27FC236}">
                    <a16:creationId xmlns:a16="http://schemas.microsoft.com/office/drawing/2014/main" id="{97A73965-D1B8-45B8-99E1-64ABD9A2E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494"/>
                <a:ext cx="223" cy="245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Text Box 111">
                <a:extLst>
                  <a:ext uri="{FF2B5EF4-FFF2-40B4-BE49-F238E27FC236}">
                    <a16:creationId xmlns:a16="http://schemas.microsoft.com/office/drawing/2014/main" id="{927B7CC6-3B08-433E-93C9-294014AC2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3507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  <p:sp>
            <p:nvSpPr>
              <p:cNvPr id="61" name="Line 112">
                <a:extLst>
                  <a:ext uri="{FF2B5EF4-FFF2-40B4-BE49-F238E27FC236}">
                    <a16:creationId xmlns:a16="http://schemas.microsoft.com/office/drawing/2014/main" id="{11BF832C-D372-4003-9EC4-4C7688F4F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339" y="3899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62" name="Line 113">
                <a:extLst>
                  <a:ext uri="{FF2B5EF4-FFF2-40B4-BE49-F238E27FC236}">
                    <a16:creationId xmlns:a16="http://schemas.microsoft.com/office/drawing/2014/main" id="{9BCF982A-60A8-4D93-9056-E4DDFA8C0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3629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63" name="Line 114">
                <a:extLst>
                  <a:ext uri="{FF2B5EF4-FFF2-40B4-BE49-F238E27FC236}">
                    <a16:creationId xmlns:a16="http://schemas.microsoft.com/office/drawing/2014/main" id="{A17A9CF1-2E3E-489F-B2C4-2D4D5A699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" y="3622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51" name="37 Elipse">
              <a:extLst>
                <a:ext uri="{FF2B5EF4-FFF2-40B4-BE49-F238E27FC236}">
                  <a16:creationId xmlns:a16="http://schemas.microsoft.com/office/drawing/2014/main" id="{80DF4CB9-37BF-4206-8B0D-4713494B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888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38 Elipse">
              <a:extLst>
                <a:ext uri="{FF2B5EF4-FFF2-40B4-BE49-F238E27FC236}">
                  <a16:creationId xmlns:a16="http://schemas.microsoft.com/office/drawing/2014/main" id="{4D7165B0-A4EB-46DE-AB37-03083E676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4" y="895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4" name="Group 44">
            <a:extLst>
              <a:ext uri="{FF2B5EF4-FFF2-40B4-BE49-F238E27FC236}">
                <a16:creationId xmlns:a16="http://schemas.microsoft.com/office/drawing/2014/main" id="{59AC541F-31B7-4A63-BF07-256B12E7A7C1}"/>
              </a:ext>
            </a:extLst>
          </p:cNvPr>
          <p:cNvGrpSpPr>
            <a:grpSpLocks/>
          </p:cNvGrpSpPr>
          <p:nvPr/>
        </p:nvGrpSpPr>
        <p:grpSpPr bwMode="auto">
          <a:xfrm>
            <a:off x="2175885" y="832155"/>
            <a:ext cx="1465263" cy="863600"/>
            <a:chOff x="1124" y="671"/>
            <a:chExt cx="923" cy="544"/>
          </a:xfrm>
        </p:grpSpPr>
        <p:grpSp>
          <p:nvGrpSpPr>
            <p:cNvPr id="65" name="Group 104">
              <a:extLst>
                <a:ext uri="{FF2B5EF4-FFF2-40B4-BE49-F238E27FC236}">
                  <a16:creationId xmlns:a16="http://schemas.microsoft.com/office/drawing/2014/main" id="{C4CBA55C-1478-4058-9B5C-731F2D927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3" y="671"/>
              <a:ext cx="790" cy="544"/>
              <a:chOff x="759" y="2399"/>
              <a:chExt cx="790" cy="544"/>
            </a:xfrm>
          </p:grpSpPr>
          <p:sp>
            <p:nvSpPr>
              <p:cNvPr id="69" name="Text Box 14">
                <a:extLst>
                  <a:ext uri="{FF2B5EF4-FFF2-40B4-BE49-F238E27FC236}">
                    <a16:creationId xmlns:a16="http://schemas.microsoft.com/office/drawing/2014/main" id="{842D3F4D-9CD0-43B9-B94F-69EFE4854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" y="2399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4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70" name="Group 15">
                <a:extLst>
                  <a:ext uri="{FF2B5EF4-FFF2-40B4-BE49-F238E27FC236}">
                    <a16:creationId xmlns:a16="http://schemas.microsoft.com/office/drawing/2014/main" id="{B8FC75A1-225C-4559-B938-1231A4ADBE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784" y="2768"/>
                <a:ext cx="305" cy="45"/>
                <a:chOff x="1619" y="2634"/>
                <a:chExt cx="340" cy="54"/>
              </a:xfrm>
            </p:grpSpPr>
            <p:sp>
              <p:nvSpPr>
                <p:cNvPr id="76" name="Line 16">
                  <a:extLst>
                    <a:ext uri="{FF2B5EF4-FFF2-40B4-BE49-F238E27FC236}">
                      <a16:creationId xmlns:a16="http://schemas.microsoft.com/office/drawing/2014/main" id="{A6F98260-4C36-4A18-9919-7EF3A41A5D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77" name="Line 17">
                  <a:extLst>
                    <a:ext uri="{FF2B5EF4-FFF2-40B4-BE49-F238E27FC236}">
                      <a16:creationId xmlns:a16="http://schemas.microsoft.com/office/drawing/2014/main" id="{116709B2-FC23-40F1-B374-B96AAFC4A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688"/>
                  <a:ext cx="227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71" name="Line 18">
                <a:extLst>
                  <a:ext uri="{FF2B5EF4-FFF2-40B4-BE49-F238E27FC236}">
                    <a16:creationId xmlns:a16="http://schemas.microsoft.com/office/drawing/2014/main" id="{A10D23A2-325C-441B-9ADB-7156092A0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1045" y="2710"/>
                <a:ext cx="0" cy="14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2" name="Line 19">
                <a:extLst>
                  <a:ext uri="{FF2B5EF4-FFF2-40B4-BE49-F238E27FC236}">
                    <a16:creationId xmlns:a16="http://schemas.microsoft.com/office/drawing/2014/main" id="{45C8AD46-E957-4325-83C3-D18CE58AB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33" y="2711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3" name="Line 20">
                <a:extLst>
                  <a:ext uri="{FF2B5EF4-FFF2-40B4-BE49-F238E27FC236}">
                    <a16:creationId xmlns:a16="http://schemas.microsoft.com/office/drawing/2014/main" id="{228F8B8D-74BD-408C-91ED-9E533BE389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1476" y="2704"/>
                <a:ext cx="0" cy="14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4" name="Freeform 21">
                <a:extLst>
                  <a:ext uri="{FF2B5EF4-FFF2-40B4-BE49-F238E27FC236}">
                    <a16:creationId xmlns:a16="http://schemas.microsoft.com/office/drawing/2014/main" id="{0D6AE051-39E7-4DF0-9A11-FD6EB8F16DF1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26" y="2646"/>
                <a:ext cx="258" cy="278"/>
              </a:xfrm>
              <a:custGeom>
                <a:avLst/>
                <a:gdLst>
                  <a:gd name="T0" fmla="*/ 11 w 288"/>
                  <a:gd name="T1" fmla="*/ 1 h 384"/>
                  <a:gd name="T2" fmla="*/ 0 w 288"/>
                  <a:gd name="T3" fmla="*/ 1 h 384"/>
                  <a:gd name="T4" fmla="*/ 21 w 288"/>
                  <a:gd name="T5" fmla="*/ 1 h 384"/>
                  <a:gd name="T6" fmla="*/ 0 w 288"/>
                  <a:gd name="T7" fmla="*/ 1 h 384"/>
                  <a:gd name="T8" fmla="*/ 21 w 288"/>
                  <a:gd name="T9" fmla="*/ 1 h 384"/>
                  <a:gd name="T10" fmla="*/ 0 w 288"/>
                  <a:gd name="T11" fmla="*/ 0 h 384"/>
                  <a:gd name="T12" fmla="*/ 11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75" name="Text Box 22">
                <a:extLst>
                  <a:ext uri="{FF2B5EF4-FFF2-40B4-BE49-F238E27FC236}">
                    <a16:creationId xmlns:a16="http://schemas.microsoft.com/office/drawing/2014/main" id="{577CB0BB-C363-4EC6-A69C-FCF508091E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0" y="2411"/>
                <a:ext cx="16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</p:grpSp>
        <p:sp>
          <p:nvSpPr>
            <p:cNvPr id="66" name="36 CuadroTexto">
              <a:extLst>
                <a:ext uri="{FF2B5EF4-FFF2-40B4-BE49-F238E27FC236}">
                  <a16:creationId xmlns:a16="http://schemas.microsoft.com/office/drawing/2014/main" id="{2FA6A5E8-D7AC-4164-9C01-378424C2E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1" y="837"/>
              <a:ext cx="3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   +</a:t>
              </a:r>
            </a:p>
          </p:txBody>
        </p:sp>
        <p:sp>
          <p:nvSpPr>
            <p:cNvPr id="67" name="39 Elipse">
              <a:extLst>
                <a:ext uri="{FF2B5EF4-FFF2-40B4-BE49-F238E27FC236}">
                  <a16:creationId xmlns:a16="http://schemas.microsoft.com/office/drawing/2014/main" id="{B61648BD-2257-46F4-9E34-9F165DBBB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015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40 Elipse">
              <a:extLst>
                <a:ext uri="{FF2B5EF4-FFF2-40B4-BE49-F238E27FC236}">
                  <a16:creationId xmlns:a16="http://schemas.microsoft.com/office/drawing/2014/main" id="{D41258F8-46B4-41E5-B1C7-60180FDA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023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58339554-11CF-4941-B9BE-3FB6A377E5D7}"/>
              </a:ext>
            </a:extLst>
          </p:cNvPr>
          <p:cNvGrpSpPr/>
          <p:nvPr/>
        </p:nvGrpSpPr>
        <p:grpSpPr>
          <a:xfrm>
            <a:off x="4564339" y="368579"/>
            <a:ext cx="2432202" cy="1361434"/>
            <a:chOff x="4564339" y="368579"/>
            <a:chExt cx="2432202" cy="1361434"/>
          </a:xfrm>
        </p:grpSpPr>
        <p:sp>
          <p:nvSpPr>
            <p:cNvPr id="44" name="CuadroTexto 43"/>
            <p:cNvSpPr txBox="1"/>
            <p:nvPr/>
          </p:nvSpPr>
          <p:spPr>
            <a:xfrm>
              <a:off x="4564339" y="368579"/>
              <a:ext cx="2432202" cy="46166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s-ES" sz="2400" dirty="0">
                  <a:solidFill>
                    <a:schemeClr val="tx1"/>
                  </a:solidFill>
                </a:rPr>
                <a:t>Generador Real</a:t>
              </a:r>
            </a:p>
          </p:txBody>
        </p:sp>
        <p:pic>
          <p:nvPicPr>
            <p:cNvPr id="78" name="Picture 51">
              <a:extLst>
                <a:ext uri="{FF2B5EF4-FFF2-40B4-BE49-F238E27FC236}">
                  <a16:creationId xmlns:a16="http://schemas.microsoft.com/office/drawing/2014/main" id="{1377E3E3-7E4F-4E6B-BBB0-093A25EF7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rot="10800000" flipH="1" flipV="1">
              <a:off x="4863836" y="1134701"/>
              <a:ext cx="1889879" cy="595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pic>
      </p:grpSp>
      <p:sp>
        <p:nvSpPr>
          <p:cNvPr id="79" name="Text Box 188">
            <a:extLst>
              <a:ext uri="{FF2B5EF4-FFF2-40B4-BE49-F238E27FC236}">
                <a16:creationId xmlns:a16="http://schemas.microsoft.com/office/drawing/2014/main" id="{1C535D7C-64E6-4B6F-AA91-CBE28355F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226" y="5923610"/>
            <a:ext cx="7595647" cy="508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Debe circular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isma corriente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por sus terminales</a:t>
            </a:r>
            <a:endParaRPr lang="es-ES" sz="2400" b="1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0" name="Text Box 188">
            <a:extLst>
              <a:ext uri="{FF2B5EF4-FFF2-40B4-BE49-F238E27FC236}">
                <a16:creationId xmlns:a16="http://schemas.microsoft.com/office/drawing/2014/main" id="{2DF4F925-5F21-43E4-B445-1840DD7E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297" y="6415209"/>
            <a:ext cx="7273443" cy="50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Deben 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onsumir o suministrar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misma potencia</a:t>
            </a:r>
            <a:endParaRPr lang="es-ES" sz="2400" b="1" baseline="-25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190">
            <a:extLst>
              <a:ext uri="{FF2B5EF4-FFF2-40B4-BE49-F238E27FC236}">
                <a16:creationId xmlns:a16="http://schemas.microsoft.com/office/drawing/2014/main" id="{AFD0382B-E445-A5DF-0E35-17EB63FAE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736" y="2121113"/>
            <a:ext cx="2272585" cy="905881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chemeClr val="accent3"/>
                </a:solidFill>
                <a:latin typeface="Arial" panose="020B0604020202020204" pitchFamily="34" charset="0"/>
              </a:rPr>
              <a:t>Fuente de tensión real</a:t>
            </a:r>
            <a:endParaRPr lang="es-ES" sz="24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90">
            <a:extLst>
              <a:ext uri="{FF2B5EF4-FFF2-40B4-BE49-F238E27FC236}">
                <a16:creationId xmlns:a16="http://schemas.microsoft.com/office/drawing/2014/main" id="{A07A6867-B136-ADFE-23F9-65D4FE5E2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484" y="2166514"/>
            <a:ext cx="2280806" cy="905881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chemeClr val="accent3"/>
                </a:solidFill>
                <a:latin typeface="Arial" panose="020B0604020202020204" pitchFamily="34" charset="0"/>
              </a:rPr>
              <a:t>Fuente de intensidad real</a:t>
            </a:r>
            <a:endParaRPr lang="es-ES" sz="24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190">
            <a:extLst>
              <a:ext uri="{FF2B5EF4-FFF2-40B4-BE49-F238E27FC236}">
                <a16:creationId xmlns:a16="http://schemas.microsoft.com/office/drawing/2014/main" id="{B0D9BD55-C524-F0BD-69D6-0232C886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7370" y="1973865"/>
            <a:ext cx="1889880" cy="1275213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Se puede representar como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191">
            <a:extLst>
              <a:ext uri="{FF2B5EF4-FFF2-40B4-BE49-F238E27FC236}">
                <a16:creationId xmlns:a16="http://schemas.microsoft.com/office/drawing/2014/main" id="{24020294-0074-3925-4B30-9725888F5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937" y="2278003"/>
            <a:ext cx="363430" cy="685800"/>
          </a:xfrm>
          <a:prstGeom prst="rightArrow">
            <a:avLst>
              <a:gd name="adj1" fmla="val 57870"/>
              <a:gd name="adj2" fmla="val 67634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AutoShape 191">
            <a:extLst>
              <a:ext uri="{FF2B5EF4-FFF2-40B4-BE49-F238E27FC236}">
                <a16:creationId xmlns:a16="http://schemas.microsoft.com/office/drawing/2014/main" id="{B8AAF859-1646-7FB8-B4FD-04CA3B814C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73099" y="2278096"/>
            <a:ext cx="363430" cy="685800"/>
          </a:xfrm>
          <a:prstGeom prst="rightArrow">
            <a:avLst>
              <a:gd name="adj1" fmla="val 57870"/>
              <a:gd name="adj2" fmla="val 67634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496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6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68190" grpId="0" animBg="1"/>
      <p:bldP spid="17454" grpId="0" animBg="1"/>
      <p:bldP spid="17455" grpId="0" animBg="1"/>
      <p:bldP spid="13401" grpId="0"/>
      <p:bldP spid="79" grpId="0"/>
      <p:bldP spid="80" grpId="0"/>
      <p:bldP spid="3" grpId="0" animBg="1"/>
      <p:bldP spid="4" grpId="0" animBg="1"/>
      <p:bldP spid="5" grpId="0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215" name="Text Box 215"/>
          <p:cNvSpPr txBox="1">
            <a:spLocks noChangeArrowheads="1"/>
          </p:cNvSpPr>
          <p:nvPr/>
        </p:nvSpPr>
        <p:spPr bwMode="auto">
          <a:xfrm>
            <a:off x="1330035" y="4416605"/>
            <a:ext cx="9019309" cy="243410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fuente de tensión real </a:t>
            </a:r>
            <a:r>
              <a:rPr lang="es-ES" sz="2400" dirty="0">
                <a:latin typeface="Arial" panose="020B0604020202020204" pitchFamily="34" charset="0"/>
              </a:rPr>
              <a:t>es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modelo más realista</a:t>
            </a:r>
            <a:r>
              <a:rPr lang="es-ES" sz="2400" dirty="0">
                <a:latin typeface="Arial" panose="020B0604020202020204" pitchFamily="34" charset="0"/>
              </a:rPr>
              <a:t> de un generador, porque en circuito abierto, cuando no hay corriente por los terminales </a:t>
            </a:r>
            <a:r>
              <a:rPr lang="es-ES" sz="2400">
                <a:latin typeface="Arial" panose="020B0604020202020204" pitchFamily="34" charset="0"/>
              </a:rPr>
              <a:t>(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latin typeface="Arial" panose="020B0604020202020204" pitchFamily="34" charset="0"/>
              </a:rPr>
              <a:t>T </a:t>
            </a:r>
            <a:r>
              <a:rPr lang="es-ES" sz="2400">
                <a:latin typeface="Arial" panose="020B0604020202020204" pitchFamily="34" charset="0"/>
              </a:rPr>
              <a:t>= 0</a:t>
            </a:r>
            <a:r>
              <a:rPr lang="es-ES" sz="2400" dirty="0">
                <a:latin typeface="Arial" panose="020B0604020202020204" pitchFamily="34" charset="0"/>
              </a:rPr>
              <a:t>), cuando el generador ni consume, ni suministra</a:t>
            </a:r>
            <a:r>
              <a:rPr lang="es-ES" sz="2400">
                <a:latin typeface="Arial" panose="020B0604020202020204" pitchFamily="34" charset="0"/>
              </a:rPr>
              <a:t>, su representación, la fuente, no </a:t>
            </a:r>
            <a:r>
              <a:rPr lang="es-ES" sz="2400" dirty="0">
                <a:latin typeface="Arial" panose="020B0604020202020204" pitchFamily="34" charset="0"/>
              </a:rPr>
              <a:t>lo hace </a:t>
            </a:r>
            <a:r>
              <a:rPr lang="es-ES" sz="2400">
                <a:latin typeface="Arial" panose="020B0604020202020204" pitchFamily="34" charset="0"/>
              </a:rPr>
              <a:t>tampoco interiormente (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T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r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T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ES" sz="2400" dirty="0">
                <a:latin typeface="Arial" panose="020B0604020202020204" pitchFamily="34" charset="0"/>
              </a:rPr>
              <a:t>. La de intensidad sí</a:t>
            </a:r>
            <a:r>
              <a:rPr lang="es-ES" sz="2400">
                <a:latin typeface="Arial" panose="020B0604020202020204" pitchFamily="34" charset="0"/>
              </a:rPr>
              <a:t>: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r </a:t>
            </a:r>
            <a:r>
              <a:rPr lang="es-ES" sz="2400">
                <a:latin typeface="Arial" panose="020B0604020202020204" pitchFamily="34" charset="0"/>
              </a:rPr>
              <a:t>consume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 que suministra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fuente ideal de intensidad</a:t>
            </a:r>
            <a:r>
              <a:rPr lang="es-ES" sz="2400">
                <a:latin typeface="Arial" panose="020B0604020202020204" pitchFamily="34" charset="0"/>
              </a:rPr>
              <a:t> (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r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 0)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6789620-2BA9-4BD3-B934-1984EF7DBB45}"/>
              </a:ext>
            </a:extLst>
          </p:cNvPr>
          <p:cNvSpPr txBox="1"/>
          <p:nvPr/>
        </p:nvSpPr>
        <p:spPr>
          <a:xfrm>
            <a:off x="4564339" y="368579"/>
            <a:ext cx="2432202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Generador Real</a:t>
            </a:r>
          </a:p>
        </p:txBody>
      </p:sp>
      <p:pic>
        <p:nvPicPr>
          <p:cNvPr id="63" name="Picture 51">
            <a:extLst>
              <a:ext uri="{FF2B5EF4-FFF2-40B4-BE49-F238E27FC236}">
                <a16:creationId xmlns:a16="http://schemas.microsoft.com/office/drawing/2014/main" id="{FF12F805-8026-4A95-93D7-AF5ED6A1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0800000" flipH="1" flipV="1">
            <a:off x="4863836" y="1134701"/>
            <a:ext cx="1889879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sp>
        <p:nvSpPr>
          <p:cNvPr id="66" name="Text Box 62">
            <a:extLst>
              <a:ext uri="{FF2B5EF4-FFF2-40B4-BE49-F238E27FC236}">
                <a16:creationId xmlns:a16="http://schemas.microsoft.com/office/drawing/2014/main" id="{694CD7C0-FCCE-46F7-BF13-3ABB47B58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883" y="3501266"/>
            <a:ext cx="1081101" cy="58356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75600" rIns="76535" bIns="75600" anchor="ctr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r I</a:t>
            </a:r>
            <a:endParaRPr lang="es-ES" sz="2400">
              <a:latin typeface="Comic Sans MS" panose="030F0702030302020204" pitchFamily="66" charset="0"/>
            </a:endParaRPr>
          </a:p>
        </p:txBody>
      </p:sp>
      <p:sp>
        <p:nvSpPr>
          <p:cNvPr id="67" name="CuadroTexto 5">
            <a:extLst>
              <a:ext uri="{FF2B5EF4-FFF2-40B4-BE49-F238E27FC236}">
                <a16:creationId xmlns:a16="http://schemas.microsoft.com/office/drawing/2014/main" id="{F18D2477-9C52-49D2-82CA-2D940D736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83" y="3600000"/>
            <a:ext cx="395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(</a:t>
            </a:r>
            <a:r>
              <a:rPr lang="es-ES" sz="2400"/>
              <a:t>recuerda a la </a:t>
            </a:r>
            <a:r>
              <a:rPr lang="es-ES" sz="2400" dirty="0"/>
              <a:t>Ley de Ohm)</a:t>
            </a:r>
          </a:p>
        </p:txBody>
      </p:sp>
      <p:sp>
        <p:nvSpPr>
          <p:cNvPr id="69" name="Text Box 190">
            <a:extLst>
              <a:ext uri="{FF2B5EF4-FFF2-40B4-BE49-F238E27FC236}">
                <a16:creationId xmlns:a16="http://schemas.microsoft.com/office/drawing/2014/main" id="{AF493C12-58DA-44C9-BD2D-742761E78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044" y="2964644"/>
            <a:ext cx="2827028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Para que sea así:</a:t>
            </a: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5AEB5F8F-E468-3980-6333-87604BA57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883" y="2957343"/>
            <a:ext cx="4915128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r en serie en 1ª y en paralelo en 2ª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" name="CuadroTexto 5">
            <a:extLst>
              <a:ext uri="{FF2B5EF4-FFF2-40B4-BE49-F238E27FC236}">
                <a16:creationId xmlns:a16="http://schemas.microsoft.com/office/drawing/2014/main" id="{8763BC34-58A1-E511-1937-3677ACAF9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507" y="2384604"/>
            <a:ext cx="3446777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sentido - + = sentido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s-ES" sz="2400">
                <a:solidFill>
                  <a:schemeClr val="tx1"/>
                </a:solidFill>
              </a:rPr>
              <a:t> 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547B1542-15E1-BE6C-00A9-8BB678D1438C}"/>
              </a:ext>
            </a:extLst>
          </p:cNvPr>
          <p:cNvSpPr/>
          <p:nvPr/>
        </p:nvSpPr>
        <p:spPr bwMode="auto">
          <a:xfrm>
            <a:off x="4448784" y="2425652"/>
            <a:ext cx="419186" cy="1646404"/>
          </a:xfrm>
          <a:prstGeom prst="lef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11880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oup 43">
            <a:extLst>
              <a:ext uri="{FF2B5EF4-FFF2-40B4-BE49-F238E27FC236}">
                <a16:creationId xmlns:a16="http://schemas.microsoft.com/office/drawing/2014/main" id="{1A1FDDF2-DEAF-D1BD-F75A-9C32C8A8EE65}"/>
              </a:ext>
            </a:extLst>
          </p:cNvPr>
          <p:cNvGrpSpPr>
            <a:grpSpLocks/>
          </p:cNvGrpSpPr>
          <p:nvPr/>
        </p:nvGrpSpPr>
        <p:grpSpPr bwMode="auto">
          <a:xfrm>
            <a:off x="8039614" y="870309"/>
            <a:ext cx="1103313" cy="1165225"/>
            <a:chOff x="2344" y="684"/>
            <a:chExt cx="695" cy="734"/>
          </a:xfrm>
        </p:grpSpPr>
        <p:grpSp>
          <p:nvGrpSpPr>
            <p:cNvPr id="6" name="Group 103">
              <a:extLst>
                <a:ext uri="{FF2B5EF4-FFF2-40B4-BE49-F238E27FC236}">
                  <a16:creationId xmlns:a16="http://schemas.microsoft.com/office/drawing/2014/main" id="{CCED7BAA-FA90-6D94-EC85-59746E8A5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684"/>
              <a:ext cx="552" cy="734"/>
              <a:chOff x="4211" y="3383"/>
              <a:chExt cx="552" cy="734"/>
            </a:xfrm>
          </p:grpSpPr>
          <p:sp>
            <p:nvSpPr>
              <p:cNvPr id="9" name="Line 104">
                <a:extLst>
                  <a:ext uri="{FF2B5EF4-FFF2-40B4-BE49-F238E27FC236}">
                    <a16:creationId xmlns:a16="http://schemas.microsoft.com/office/drawing/2014/main" id="{C84C6B23-71B9-45D9-E256-12923C679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639" y="3893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0" name="Freeform 105">
                <a:extLst>
                  <a:ext uri="{FF2B5EF4-FFF2-40B4-BE49-F238E27FC236}">
                    <a16:creationId xmlns:a16="http://schemas.microsoft.com/office/drawing/2014/main" id="{557CF5C3-A177-9A36-81C1-61F9A39923A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357" y="3853"/>
                <a:ext cx="258" cy="187"/>
              </a:xfrm>
              <a:custGeom>
                <a:avLst/>
                <a:gdLst>
                  <a:gd name="T0" fmla="*/ 11 w 288"/>
                  <a:gd name="T1" fmla="*/ 0 h 384"/>
                  <a:gd name="T2" fmla="*/ 0 w 288"/>
                  <a:gd name="T3" fmla="*/ 0 h 384"/>
                  <a:gd name="T4" fmla="*/ 21 w 288"/>
                  <a:gd name="T5" fmla="*/ 0 h 384"/>
                  <a:gd name="T6" fmla="*/ 0 w 288"/>
                  <a:gd name="T7" fmla="*/ 0 h 384"/>
                  <a:gd name="T8" fmla="*/ 21 w 288"/>
                  <a:gd name="T9" fmla="*/ 0 h 384"/>
                  <a:gd name="T10" fmla="*/ 0 w 288"/>
                  <a:gd name="T11" fmla="*/ 0 h 384"/>
                  <a:gd name="T12" fmla="*/ 11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1" name="Text Box 106">
                <a:extLst>
                  <a:ext uri="{FF2B5EF4-FFF2-40B4-BE49-F238E27FC236}">
                    <a16:creationId xmlns:a16="http://schemas.microsoft.com/office/drawing/2014/main" id="{A15CF269-4AFA-8DA3-8986-F505D475AA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5" y="3894"/>
                <a:ext cx="16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  <p:sp>
            <p:nvSpPr>
              <p:cNvPr id="12" name="Text Box 107">
                <a:extLst>
                  <a:ext uri="{FF2B5EF4-FFF2-40B4-BE49-F238E27FC236}">
                    <a16:creationId xmlns:a16="http://schemas.microsoft.com/office/drawing/2014/main" id="{D5B400F1-0888-7B5D-58E6-1E83506FF9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9" y="3383"/>
                <a:ext cx="17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18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" name="Line 108">
                <a:extLst>
                  <a:ext uri="{FF2B5EF4-FFF2-40B4-BE49-F238E27FC236}">
                    <a16:creationId xmlns:a16="http://schemas.microsoft.com/office/drawing/2014/main" id="{1372E876-84B7-24FE-6156-989AA5C04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672" y="3533"/>
                <a:ext cx="0" cy="18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4" name="Line 109">
                <a:extLst>
                  <a:ext uri="{FF2B5EF4-FFF2-40B4-BE49-F238E27FC236}">
                    <a16:creationId xmlns:a16="http://schemas.microsoft.com/office/drawing/2014/main" id="{5C60AD83-5EC8-3310-E30A-1929B6F7E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285" y="355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5" name="Oval 110">
                <a:extLst>
                  <a:ext uri="{FF2B5EF4-FFF2-40B4-BE49-F238E27FC236}">
                    <a16:creationId xmlns:a16="http://schemas.microsoft.com/office/drawing/2014/main" id="{B8854117-5BA5-36F2-35C5-B047798E0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494"/>
                <a:ext cx="223" cy="245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Text Box 111">
                <a:extLst>
                  <a:ext uri="{FF2B5EF4-FFF2-40B4-BE49-F238E27FC236}">
                    <a16:creationId xmlns:a16="http://schemas.microsoft.com/office/drawing/2014/main" id="{079668CD-75E6-0097-56F2-F5B096966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3507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  <p:sp>
            <p:nvSpPr>
              <p:cNvPr id="17" name="Line 112">
                <a:extLst>
                  <a:ext uri="{FF2B5EF4-FFF2-40B4-BE49-F238E27FC236}">
                    <a16:creationId xmlns:a16="http://schemas.microsoft.com/office/drawing/2014/main" id="{D729E81C-6928-3BFE-1143-B0BC6E064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339" y="3899"/>
                <a:ext cx="0" cy="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8" name="Line 113">
                <a:extLst>
                  <a:ext uri="{FF2B5EF4-FFF2-40B4-BE49-F238E27FC236}">
                    <a16:creationId xmlns:a16="http://schemas.microsoft.com/office/drawing/2014/main" id="{5CEFAB08-1EEF-F767-528C-7823EDCD6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3629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19" name="Line 114">
                <a:extLst>
                  <a:ext uri="{FF2B5EF4-FFF2-40B4-BE49-F238E27FC236}">
                    <a16:creationId xmlns:a16="http://schemas.microsoft.com/office/drawing/2014/main" id="{F8C6C599-DA03-47EF-6C7D-E9AC86902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" y="3622"/>
                <a:ext cx="0" cy="30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</p:grpSp>
        <p:sp>
          <p:nvSpPr>
            <p:cNvPr id="7" name="37 Elipse">
              <a:extLst>
                <a:ext uri="{FF2B5EF4-FFF2-40B4-BE49-F238E27FC236}">
                  <a16:creationId xmlns:a16="http://schemas.microsoft.com/office/drawing/2014/main" id="{F335DBAB-D079-A59E-0F7D-545F64186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888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38 Elipse">
              <a:extLst>
                <a:ext uri="{FF2B5EF4-FFF2-40B4-BE49-F238E27FC236}">
                  <a16:creationId xmlns:a16="http://schemas.microsoft.com/office/drawing/2014/main" id="{258B7159-8B6A-A5ED-19D1-B2C48D133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4" y="895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44">
            <a:extLst>
              <a:ext uri="{FF2B5EF4-FFF2-40B4-BE49-F238E27FC236}">
                <a16:creationId xmlns:a16="http://schemas.microsoft.com/office/drawing/2014/main" id="{72008AC9-9B86-936A-7E4A-F6CF63CBB06B}"/>
              </a:ext>
            </a:extLst>
          </p:cNvPr>
          <p:cNvGrpSpPr>
            <a:grpSpLocks/>
          </p:cNvGrpSpPr>
          <p:nvPr/>
        </p:nvGrpSpPr>
        <p:grpSpPr bwMode="auto">
          <a:xfrm>
            <a:off x="2175885" y="832155"/>
            <a:ext cx="1465263" cy="863600"/>
            <a:chOff x="1124" y="671"/>
            <a:chExt cx="923" cy="544"/>
          </a:xfrm>
        </p:grpSpPr>
        <p:grpSp>
          <p:nvGrpSpPr>
            <p:cNvPr id="21" name="Group 104">
              <a:extLst>
                <a:ext uri="{FF2B5EF4-FFF2-40B4-BE49-F238E27FC236}">
                  <a16:creationId xmlns:a16="http://schemas.microsoft.com/office/drawing/2014/main" id="{D7F67F2B-6929-A30F-D410-EA774BFBA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3" y="671"/>
              <a:ext cx="790" cy="544"/>
              <a:chOff x="759" y="2399"/>
              <a:chExt cx="790" cy="544"/>
            </a:xfrm>
          </p:grpSpPr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7EFF0C0E-C772-690A-691F-6911A8CB1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" y="2399"/>
                <a:ext cx="16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33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</a:t>
                </a:r>
                <a:endParaRPr lang="es-ES" sz="2400">
                  <a:solidFill>
                    <a:srgbClr val="FF33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6" name="Group 15">
                <a:extLst>
                  <a:ext uri="{FF2B5EF4-FFF2-40B4-BE49-F238E27FC236}">
                    <a16:creationId xmlns:a16="http://schemas.microsoft.com/office/drawing/2014/main" id="{EECF6314-9A04-826C-FC63-126F6AEF2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784" y="2768"/>
                <a:ext cx="305" cy="45"/>
                <a:chOff x="1619" y="2634"/>
                <a:chExt cx="340" cy="54"/>
              </a:xfrm>
            </p:grpSpPr>
            <p:sp>
              <p:nvSpPr>
                <p:cNvPr id="32" name="Line 16">
                  <a:extLst>
                    <a:ext uri="{FF2B5EF4-FFF2-40B4-BE49-F238E27FC236}">
                      <a16:creationId xmlns:a16="http://schemas.microsoft.com/office/drawing/2014/main" id="{6883949B-B6F0-BAB5-8EA7-BE7A9715A1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19" y="2634"/>
                  <a:ext cx="3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  <p:sp>
              <p:nvSpPr>
                <p:cNvPr id="64" name="Line 17">
                  <a:extLst>
                    <a:ext uri="{FF2B5EF4-FFF2-40B4-BE49-F238E27FC236}">
                      <a16:creationId xmlns:a16="http://schemas.microsoft.com/office/drawing/2014/main" id="{BC67DFC2-1538-EA67-7057-8324C75F12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688"/>
                  <a:ext cx="227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Ctr="1"/>
                <a:lstStyle/>
                <a:p>
                  <a:endParaRPr lang="en-GB"/>
                </a:p>
              </p:txBody>
            </p:sp>
          </p:grpSp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9A5C2B68-2034-10E2-162F-41715137E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1045" y="2710"/>
                <a:ext cx="0" cy="14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66696A98-49F1-3AE4-BBF5-4DF370F5A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33" y="2711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29" name="Line 20">
                <a:extLst>
                  <a:ext uri="{FF2B5EF4-FFF2-40B4-BE49-F238E27FC236}">
                    <a16:creationId xmlns:a16="http://schemas.microsoft.com/office/drawing/2014/main" id="{60529E54-6B74-D65C-7D89-831C046E7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1476" y="2704"/>
                <a:ext cx="0" cy="14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30" name="Freeform 21">
                <a:extLst>
                  <a:ext uri="{FF2B5EF4-FFF2-40B4-BE49-F238E27FC236}">
                    <a16:creationId xmlns:a16="http://schemas.microsoft.com/office/drawing/2014/main" id="{2987B99D-4191-B258-7CD6-FC02835147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26" y="2646"/>
                <a:ext cx="258" cy="278"/>
              </a:xfrm>
              <a:custGeom>
                <a:avLst/>
                <a:gdLst>
                  <a:gd name="T0" fmla="*/ 11 w 288"/>
                  <a:gd name="T1" fmla="*/ 1 h 384"/>
                  <a:gd name="T2" fmla="*/ 0 w 288"/>
                  <a:gd name="T3" fmla="*/ 1 h 384"/>
                  <a:gd name="T4" fmla="*/ 21 w 288"/>
                  <a:gd name="T5" fmla="*/ 1 h 384"/>
                  <a:gd name="T6" fmla="*/ 0 w 288"/>
                  <a:gd name="T7" fmla="*/ 1 h 384"/>
                  <a:gd name="T8" fmla="*/ 21 w 288"/>
                  <a:gd name="T9" fmla="*/ 1 h 384"/>
                  <a:gd name="T10" fmla="*/ 0 w 288"/>
                  <a:gd name="T11" fmla="*/ 0 h 384"/>
                  <a:gd name="T12" fmla="*/ 11 w 288"/>
                  <a:gd name="T13" fmla="*/ 0 h 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8"/>
                  <a:gd name="T22" fmla="*/ 0 h 384"/>
                  <a:gd name="T23" fmla="*/ 288 w 288"/>
                  <a:gd name="T24" fmla="*/ 384 h 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8" h="384">
                    <a:moveTo>
                      <a:pt x="144" y="384"/>
                    </a:moveTo>
                    <a:lnTo>
                      <a:pt x="0" y="288"/>
                    </a:lnTo>
                    <a:lnTo>
                      <a:pt x="288" y="288"/>
                    </a:lnTo>
                    <a:lnTo>
                      <a:pt x="0" y="144"/>
                    </a:lnTo>
                    <a:lnTo>
                      <a:pt x="288" y="144"/>
                    </a:lnTo>
                    <a:lnTo>
                      <a:pt x="0" y="0"/>
                    </a:lnTo>
                    <a:lnTo>
                      <a:pt x="144" y="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31" name="Text Box 22">
                <a:extLst>
                  <a:ext uri="{FF2B5EF4-FFF2-40B4-BE49-F238E27FC236}">
                    <a16:creationId xmlns:a16="http://schemas.microsoft.com/office/drawing/2014/main" id="{12527A50-E780-DF6D-AEE0-D4600A228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0" y="2411"/>
                <a:ext cx="16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>
                    <a:solidFill>
                      <a:srgbClr val="008000"/>
                    </a:solidFill>
                    <a:latin typeface="Comic Sans MS" panose="030F0702030302020204" pitchFamily="66" charset="0"/>
                  </a:rPr>
                  <a:t>r</a:t>
                </a:r>
              </a:p>
            </p:txBody>
          </p:sp>
        </p:grpSp>
        <p:sp>
          <p:nvSpPr>
            <p:cNvPr id="22" name="36 CuadroTexto">
              <a:extLst>
                <a:ext uri="{FF2B5EF4-FFF2-40B4-BE49-F238E27FC236}">
                  <a16:creationId xmlns:a16="http://schemas.microsoft.com/office/drawing/2014/main" id="{8AC6EBAC-D526-3386-FFBA-888C1CCAE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1" y="837"/>
              <a:ext cx="3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-   +</a:t>
              </a:r>
            </a:p>
          </p:txBody>
        </p:sp>
        <p:sp>
          <p:nvSpPr>
            <p:cNvPr id="23" name="39 Elipse">
              <a:extLst>
                <a:ext uri="{FF2B5EF4-FFF2-40B4-BE49-F238E27FC236}">
                  <a16:creationId xmlns:a16="http://schemas.microsoft.com/office/drawing/2014/main" id="{9E17A2BF-A4DA-BA39-6A6F-E99D1C132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015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40 Elipse">
              <a:extLst>
                <a:ext uri="{FF2B5EF4-FFF2-40B4-BE49-F238E27FC236}">
                  <a16:creationId xmlns:a16="http://schemas.microsoft.com/office/drawing/2014/main" id="{7FDF892A-BA88-5749-2E2B-349D2B5CE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023"/>
              <a:ext cx="70" cy="76"/>
            </a:xfrm>
            <a:prstGeom prst="ellips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24928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6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15" grpId="0" animBg="1"/>
      <p:bldP spid="66" grpId="0" animBg="1"/>
      <p:bldP spid="67" grpId="0"/>
      <p:bldP spid="69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adroTexto 32">
            <a:extLst>
              <a:ext uri="{FF2B5EF4-FFF2-40B4-BE49-F238E27FC236}">
                <a16:creationId xmlns:a16="http://schemas.microsoft.com/office/drawing/2014/main" id="{76789620-2BA9-4BD3-B934-1984EF7DBB45}"/>
              </a:ext>
            </a:extLst>
          </p:cNvPr>
          <p:cNvSpPr txBox="1"/>
          <p:nvPr/>
        </p:nvSpPr>
        <p:spPr>
          <a:xfrm>
            <a:off x="4552170" y="127994"/>
            <a:ext cx="2432202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Fuentes Ideales</a:t>
            </a:r>
          </a:p>
        </p:txBody>
      </p:sp>
      <p:sp>
        <p:nvSpPr>
          <p:cNvPr id="77" name="Text Box 105">
            <a:extLst>
              <a:ext uri="{FF2B5EF4-FFF2-40B4-BE49-F238E27FC236}">
                <a16:creationId xmlns:a16="http://schemas.microsoft.com/office/drawing/2014/main" id="{4A84EB7D-0A2F-4FE3-9BFD-CAA8F9F61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012" y="604639"/>
            <a:ext cx="9466516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Si en 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representación de un circuito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una fuente ideal no depende</a:t>
            </a:r>
          </a:p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de ninguna V o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del circuito (es el caso de las que corresponden</a:t>
            </a:r>
          </a:p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a generadores), se dice que 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independiente</a:t>
            </a:r>
            <a:endParaRPr lang="en-U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968EFCD-35D1-4CFF-893B-B822338ABBE9}"/>
              </a:ext>
            </a:extLst>
          </p:cNvPr>
          <p:cNvGrpSpPr/>
          <p:nvPr/>
        </p:nvGrpSpPr>
        <p:grpSpPr>
          <a:xfrm>
            <a:off x="6850809" y="3849627"/>
            <a:ext cx="1830387" cy="942975"/>
            <a:chOff x="7004920" y="5315834"/>
            <a:chExt cx="1830387" cy="942975"/>
          </a:xfrm>
        </p:grpSpPr>
        <p:grpSp>
          <p:nvGrpSpPr>
            <p:cNvPr id="80" name="Group 5">
              <a:extLst>
                <a:ext uri="{FF2B5EF4-FFF2-40B4-BE49-F238E27FC236}">
                  <a16:creationId xmlns:a16="http://schemas.microsoft.com/office/drawing/2014/main" id="{FEF78D3C-9630-43B3-B7F3-8AE3EAEBA8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4920" y="5324520"/>
              <a:ext cx="1104900" cy="933450"/>
              <a:chOff x="5090" y="2443"/>
              <a:chExt cx="696" cy="588"/>
            </a:xfrm>
          </p:grpSpPr>
          <p:sp>
            <p:nvSpPr>
              <p:cNvPr id="85" name="Line 108">
                <a:extLst>
                  <a:ext uri="{FF2B5EF4-FFF2-40B4-BE49-F238E27FC236}">
                    <a16:creationId xmlns:a16="http://schemas.microsoft.com/office/drawing/2014/main" id="{2ECDF31C-5AAF-441E-A2ED-7DBDCC110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2" y="2443"/>
                <a:ext cx="0" cy="58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86" name="Rectangle 106">
                <a:extLst>
                  <a:ext uri="{FF2B5EF4-FFF2-40B4-BE49-F238E27FC236}">
                    <a16:creationId xmlns:a16="http://schemas.microsoft.com/office/drawing/2014/main" id="{C24DE293-5D64-4330-B74B-117E5BB63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5559" y="2620"/>
                <a:ext cx="227" cy="227"/>
              </a:xfrm>
              <a:prstGeom prst="rect">
                <a:avLst/>
              </a:prstGeom>
              <a:solidFill>
                <a:srgbClr val="EDE7E3"/>
              </a:solidFill>
              <a:ln w="25400" algn="ctr">
                <a:solidFill>
                  <a:srgbClr val="0000FF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7" name="Line 110">
                <a:extLst>
                  <a:ext uri="{FF2B5EF4-FFF2-40B4-BE49-F238E27FC236}">
                    <a16:creationId xmlns:a16="http://schemas.microsoft.com/office/drawing/2014/main" id="{FCF5F700-2421-418F-ACC6-850C96C70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72" y="2638"/>
                <a:ext cx="0" cy="18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88" name="Line 112">
                <a:extLst>
                  <a:ext uri="{FF2B5EF4-FFF2-40B4-BE49-F238E27FC236}">
                    <a16:creationId xmlns:a16="http://schemas.microsoft.com/office/drawing/2014/main" id="{68128ED5-0891-46DE-B31A-63596471E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3" y="2448"/>
                <a:ext cx="0" cy="58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89" name="Rectangle 113">
                <a:extLst>
                  <a:ext uri="{FF2B5EF4-FFF2-40B4-BE49-F238E27FC236}">
                    <a16:creationId xmlns:a16="http://schemas.microsoft.com/office/drawing/2014/main" id="{780E5B46-86F0-4E47-A96E-910580380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5090" y="2625"/>
                <a:ext cx="227" cy="227"/>
              </a:xfrm>
              <a:prstGeom prst="rect">
                <a:avLst/>
              </a:prstGeom>
              <a:solidFill>
                <a:srgbClr val="EDE7E3"/>
              </a:solidFill>
              <a:ln w="25400" algn="ctr">
                <a:solidFill>
                  <a:srgbClr val="0000FF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0" name="Text Box 115">
                <a:extLst>
                  <a:ext uri="{FF2B5EF4-FFF2-40B4-BE49-F238E27FC236}">
                    <a16:creationId xmlns:a16="http://schemas.microsoft.com/office/drawing/2014/main" id="{061E9A19-E61C-402C-9DD7-6DD58FBB9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0" y="2643"/>
                <a:ext cx="20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+</a:t>
                </a:r>
              </a:p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81" name="Line 240">
              <a:extLst>
                <a:ext uri="{FF2B5EF4-FFF2-40B4-BE49-F238E27FC236}">
                  <a16:creationId xmlns:a16="http://schemas.microsoft.com/office/drawing/2014/main" id="{4B0A8CC3-6B33-473E-BA98-0A9D69E37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52745" y="5315834"/>
              <a:ext cx="0" cy="3587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82" name="Line 241">
              <a:extLst>
                <a:ext uri="{FF2B5EF4-FFF2-40B4-BE49-F238E27FC236}">
                  <a16:creationId xmlns:a16="http://schemas.microsoft.com/office/drawing/2014/main" id="{48FF17B7-9DF7-41A5-894E-DDCB2C8E9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6395" y="5990521"/>
              <a:ext cx="0" cy="2682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83" name="Rectangle 113">
              <a:extLst>
                <a:ext uri="{FF2B5EF4-FFF2-40B4-BE49-F238E27FC236}">
                  <a16:creationId xmlns:a16="http://schemas.microsoft.com/office/drawing/2014/main" id="{BA63901D-3479-4A4C-BBE6-98F00BA5CC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8474944" y="5625396"/>
              <a:ext cx="360363" cy="360362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rot="10800000" vert="eaVert"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142 CuadroTexto">
              <a:extLst>
                <a:ext uri="{FF2B5EF4-FFF2-40B4-BE49-F238E27FC236}">
                  <a16:creationId xmlns:a16="http://schemas.microsoft.com/office/drawing/2014/main" id="{21E0B9FC-FDC7-42AE-A4F3-4EC17DF4D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0820" y="5525384"/>
              <a:ext cx="3270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</a:t>
              </a:r>
              <a:endParaRPr lang="es-ES" sz="24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76BF324-7BEE-4289-98F0-20426BDDA877}"/>
              </a:ext>
            </a:extLst>
          </p:cNvPr>
          <p:cNvGrpSpPr/>
          <p:nvPr/>
        </p:nvGrpSpPr>
        <p:grpSpPr>
          <a:xfrm>
            <a:off x="6795264" y="2450313"/>
            <a:ext cx="1897774" cy="942975"/>
            <a:chOff x="6939543" y="3119482"/>
            <a:chExt cx="1897774" cy="942975"/>
          </a:xfrm>
        </p:grpSpPr>
        <p:sp>
          <p:nvSpPr>
            <p:cNvPr id="93" name="Line 240">
              <a:extLst>
                <a:ext uri="{FF2B5EF4-FFF2-40B4-BE49-F238E27FC236}">
                  <a16:creationId xmlns:a16="http://schemas.microsoft.com/office/drawing/2014/main" id="{9110A378-74C3-4270-B2E1-D53A1F5C6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5089" y="3119482"/>
              <a:ext cx="0" cy="3587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97" name="Line 108">
              <a:extLst>
                <a:ext uri="{FF2B5EF4-FFF2-40B4-BE49-F238E27FC236}">
                  <a16:creationId xmlns:a16="http://schemas.microsoft.com/office/drawing/2014/main" id="{668EE258-F387-4054-B53A-172020200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01189" y="3128168"/>
              <a:ext cx="0" cy="9255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8AADEA05-7376-47D7-BDC1-6655787CC496}"/>
                </a:ext>
              </a:extLst>
            </p:cNvPr>
            <p:cNvSpPr/>
            <p:nvPr/>
          </p:nvSpPr>
          <p:spPr bwMode="auto">
            <a:xfrm>
              <a:off x="7677566" y="3368523"/>
              <a:ext cx="432000" cy="432000"/>
            </a:xfrm>
            <a:prstGeom prst="ellipse">
              <a:avLst/>
            </a:prstGeom>
            <a:solidFill>
              <a:srgbClr val="EDE7E3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F71C8678-0A40-4C67-B5F6-A28BA3FBE202}"/>
                </a:ext>
              </a:extLst>
            </p:cNvPr>
            <p:cNvSpPr/>
            <p:nvPr/>
          </p:nvSpPr>
          <p:spPr bwMode="auto">
            <a:xfrm>
              <a:off x="8405317" y="3377087"/>
              <a:ext cx="432000" cy="432000"/>
            </a:xfrm>
            <a:prstGeom prst="ellipse">
              <a:avLst/>
            </a:prstGeom>
            <a:solidFill>
              <a:srgbClr val="EDE7E3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Line 112">
              <a:extLst>
                <a:ext uri="{FF2B5EF4-FFF2-40B4-BE49-F238E27FC236}">
                  <a16:creationId xmlns:a16="http://schemas.microsoft.com/office/drawing/2014/main" id="{82671A9F-0353-49A5-A2B0-D7DC72320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6652" y="3136106"/>
              <a:ext cx="0" cy="9255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634AB593-93BE-4537-89FC-7BA213F73D15}"/>
                </a:ext>
              </a:extLst>
            </p:cNvPr>
            <p:cNvSpPr/>
            <p:nvPr/>
          </p:nvSpPr>
          <p:spPr bwMode="auto">
            <a:xfrm>
              <a:off x="6939543" y="3370233"/>
              <a:ext cx="432000" cy="432000"/>
            </a:xfrm>
            <a:prstGeom prst="ellipse">
              <a:avLst/>
            </a:prstGeom>
            <a:solidFill>
              <a:srgbClr val="EDE7E3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Line 110">
              <a:extLst>
                <a:ext uri="{FF2B5EF4-FFF2-40B4-BE49-F238E27FC236}">
                  <a16:creationId xmlns:a16="http://schemas.microsoft.com/office/drawing/2014/main" id="{A8916F07-51FD-488B-9A09-DEFEC1C0AD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01189" y="3437731"/>
              <a:ext cx="0" cy="2873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102" name="Text Box 115">
              <a:extLst>
                <a:ext uri="{FF2B5EF4-FFF2-40B4-BE49-F238E27FC236}">
                  <a16:creationId xmlns:a16="http://schemas.microsoft.com/office/drawing/2014/main" id="{8DB37A20-A5C5-44FF-95CF-1497985D4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3139" y="3445668"/>
              <a:ext cx="328613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4" name="Line 241">
              <a:extLst>
                <a:ext uri="{FF2B5EF4-FFF2-40B4-BE49-F238E27FC236}">
                  <a16:creationId xmlns:a16="http://schemas.microsoft.com/office/drawing/2014/main" id="{7C67D600-930B-42A4-9F5C-9BE8BB58A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18739" y="3794169"/>
              <a:ext cx="0" cy="2682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96" name="142 CuadroTexto">
              <a:extLst>
                <a:ext uri="{FF2B5EF4-FFF2-40B4-BE49-F238E27FC236}">
                  <a16:creationId xmlns:a16="http://schemas.microsoft.com/office/drawing/2014/main" id="{5F097EDE-EF24-4F25-9AFB-5A78DF401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3164" y="3329032"/>
              <a:ext cx="3270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2A1A4C72-D501-4F4D-956C-D5724530296D}"/>
              </a:ext>
            </a:extLst>
          </p:cNvPr>
          <p:cNvSpPr txBox="1"/>
          <p:nvPr/>
        </p:nvSpPr>
        <p:spPr>
          <a:xfrm>
            <a:off x="1806816" y="2637434"/>
            <a:ext cx="2874215" cy="5078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INDEPENDIENTES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99CA72C0-2C5C-430F-9DBC-F9801A0CDBA8}"/>
              </a:ext>
            </a:extLst>
          </p:cNvPr>
          <p:cNvSpPr txBox="1"/>
          <p:nvPr/>
        </p:nvSpPr>
        <p:spPr>
          <a:xfrm>
            <a:off x="1796974" y="4060433"/>
            <a:ext cx="2874215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>
                <a:solidFill>
                  <a:schemeClr val="tx1"/>
                </a:solidFill>
              </a:rPr>
              <a:t>DEPENDIENTES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7E49BB-D799-4FCA-8AA2-BBA91E391FD1}"/>
              </a:ext>
            </a:extLst>
          </p:cNvPr>
          <p:cNvGrpSpPr/>
          <p:nvPr/>
        </p:nvGrpSpPr>
        <p:grpSpPr>
          <a:xfrm>
            <a:off x="5142971" y="3217424"/>
            <a:ext cx="2963341" cy="536549"/>
            <a:chOff x="5142971" y="4090716"/>
            <a:chExt cx="2963341" cy="536549"/>
          </a:xfrm>
        </p:grpSpPr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FED6DD2-7BE0-4B92-B8BF-37F27905512B}"/>
                </a:ext>
              </a:extLst>
            </p:cNvPr>
            <p:cNvCxnSpPr/>
            <p:nvPr/>
          </p:nvCxnSpPr>
          <p:spPr bwMode="auto">
            <a:xfrm>
              <a:off x="8106312" y="4266161"/>
              <a:ext cx="0" cy="255951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CC5AB64D-DB4A-459F-AB3A-5F377F51AD94}"/>
                </a:ext>
              </a:extLst>
            </p:cNvPr>
            <p:cNvCxnSpPr/>
            <p:nvPr/>
          </p:nvCxnSpPr>
          <p:spPr bwMode="auto">
            <a:xfrm flipH="1">
              <a:off x="6678204" y="4397334"/>
              <a:ext cx="1417834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sp>
          <p:nvSpPr>
            <p:cNvPr id="109" name="Text Box 105">
              <a:extLst>
                <a:ext uri="{FF2B5EF4-FFF2-40B4-BE49-F238E27FC236}">
                  <a16:creationId xmlns:a16="http://schemas.microsoft.com/office/drawing/2014/main" id="{89A90588-3CCD-4902-B717-9EED638A4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971" y="4090716"/>
              <a:ext cx="170512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 typeface="Symbol" panose="05050102010706020507" pitchFamily="18" charset="2"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continua</a:t>
              </a:r>
              <a:endParaRPr lang="en-U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9807BEF-13EA-4815-BF0C-CAA2878574C3}"/>
              </a:ext>
            </a:extLst>
          </p:cNvPr>
          <p:cNvGrpSpPr/>
          <p:nvPr/>
        </p:nvGrpSpPr>
        <p:grpSpPr>
          <a:xfrm>
            <a:off x="7375134" y="3447933"/>
            <a:ext cx="2773069" cy="536549"/>
            <a:chOff x="7375134" y="4419542"/>
            <a:chExt cx="2773069" cy="536549"/>
          </a:xfrm>
        </p:grpSpPr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B971E7E6-6DD3-4E02-A6B0-5E5ABEA2F7BF}"/>
                </a:ext>
              </a:extLst>
            </p:cNvPr>
            <p:cNvCxnSpPr/>
            <p:nvPr/>
          </p:nvCxnSpPr>
          <p:spPr bwMode="auto">
            <a:xfrm>
              <a:off x="7375134" y="4548831"/>
              <a:ext cx="0" cy="255951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CAEB6C88-911F-4112-9899-05F01EE7B02A}"/>
                </a:ext>
              </a:extLst>
            </p:cNvPr>
            <p:cNvCxnSpPr/>
            <p:nvPr/>
          </p:nvCxnSpPr>
          <p:spPr bwMode="auto">
            <a:xfrm flipH="1">
              <a:off x="7375134" y="4703848"/>
              <a:ext cx="1417834" cy="0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sp>
          <p:nvSpPr>
            <p:cNvPr id="110" name="Text Box 105">
              <a:extLst>
                <a:ext uri="{FF2B5EF4-FFF2-40B4-BE49-F238E27FC236}">
                  <a16:creationId xmlns:a16="http://schemas.microsoft.com/office/drawing/2014/main" id="{7F7955D3-4A9A-46F3-912F-E85D3DFA9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4475" y="4419542"/>
              <a:ext cx="1513728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 typeface="Symbol" panose="05050102010706020507" pitchFamily="18" charset="2"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alterna</a:t>
              </a:r>
              <a:endParaRPr 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4682FF2F-4B94-4570-8B9B-458DC0DA0223}"/>
              </a:ext>
            </a:extLst>
          </p:cNvPr>
          <p:cNvSpPr/>
          <p:nvPr/>
        </p:nvSpPr>
        <p:spPr bwMode="auto">
          <a:xfrm>
            <a:off x="5003072" y="2685544"/>
            <a:ext cx="965771" cy="432000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1" name="Flecha: a la derecha 110">
            <a:extLst>
              <a:ext uri="{FF2B5EF4-FFF2-40B4-BE49-F238E27FC236}">
                <a16:creationId xmlns:a16="http://schemas.microsoft.com/office/drawing/2014/main" id="{B76E8B2C-CBBF-4C9F-995C-5CB5B401A1C9}"/>
              </a:ext>
            </a:extLst>
          </p:cNvPr>
          <p:cNvSpPr/>
          <p:nvPr/>
        </p:nvSpPr>
        <p:spPr bwMode="auto">
          <a:xfrm>
            <a:off x="4991530" y="4126796"/>
            <a:ext cx="967481" cy="432000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118800" rIns="90000" bIns="118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2" name="Text Box 105">
            <a:extLst>
              <a:ext uri="{FF2B5EF4-FFF2-40B4-BE49-F238E27FC236}">
                <a16:creationId xmlns:a16="http://schemas.microsoft.com/office/drawing/2014/main" id="{093CD6AA-A97A-49E0-8697-EB611AFEF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054" y="1853973"/>
            <a:ext cx="8717805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no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 así,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una fuente ideal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controlada o dependiente</a:t>
            </a:r>
            <a:endParaRPr lang="en-U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F56DDF8-13E0-4553-A848-63F8581E2B6E}"/>
              </a:ext>
            </a:extLst>
          </p:cNvPr>
          <p:cNvGrpSpPr/>
          <p:nvPr/>
        </p:nvGrpSpPr>
        <p:grpSpPr>
          <a:xfrm>
            <a:off x="6842558" y="5197608"/>
            <a:ext cx="1084466" cy="1128326"/>
            <a:chOff x="8310607" y="5842181"/>
            <a:chExt cx="1084466" cy="1128326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231ACE6-5C9F-4A3D-9D5D-37B79F264A65}"/>
                </a:ext>
              </a:extLst>
            </p:cNvPr>
            <p:cNvSpPr/>
            <p:nvPr/>
          </p:nvSpPr>
          <p:spPr bwMode="auto">
            <a:xfrm>
              <a:off x="8310607" y="5842181"/>
              <a:ext cx="1084466" cy="112832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2" name="Group 97">
              <a:extLst>
                <a:ext uri="{FF2B5EF4-FFF2-40B4-BE49-F238E27FC236}">
                  <a16:creationId xmlns:a16="http://schemas.microsoft.com/office/drawing/2014/main" id="{7F9A8224-3669-48BA-8362-4DBF4E546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4982" y="6041270"/>
              <a:ext cx="844550" cy="592610"/>
              <a:chOff x="4216" y="2855"/>
              <a:chExt cx="532" cy="373"/>
            </a:xfrm>
          </p:grpSpPr>
          <p:sp>
            <p:nvSpPr>
              <p:cNvPr id="43" name="Text Box 98">
                <a:extLst>
                  <a:ext uri="{FF2B5EF4-FFF2-40B4-BE49-F238E27FC236}">
                    <a16:creationId xmlns:a16="http://schemas.microsoft.com/office/drawing/2014/main" id="{D59316A3-2771-411B-87FB-942953586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6" y="2855"/>
                <a:ext cx="17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endParaRPr lang="es-ES" sz="200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Line 99">
                <a:extLst>
                  <a:ext uri="{FF2B5EF4-FFF2-40B4-BE49-F238E27FC236}">
                    <a16:creationId xmlns:a16="http://schemas.microsoft.com/office/drawing/2014/main" id="{9A6364DF-CC79-4960-B72A-21BF49870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674" y="3033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45" name="Line 100">
                <a:extLst>
                  <a:ext uri="{FF2B5EF4-FFF2-40B4-BE49-F238E27FC236}">
                    <a16:creationId xmlns:a16="http://schemas.microsoft.com/office/drawing/2014/main" id="{D89ECED6-CB96-4A68-95F7-3EEFA01BD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292" y="3039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Ctr="1"/>
              <a:lstStyle/>
              <a:p>
                <a:endParaRPr lang="en-GB"/>
              </a:p>
            </p:txBody>
          </p:sp>
          <p:sp>
            <p:nvSpPr>
              <p:cNvPr id="46" name="Oval 101">
                <a:extLst>
                  <a:ext uri="{FF2B5EF4-FFF2-40B4-BE49-F238E27FC236}">
                    <a16:creationId xmlns:a16="http://schemas.microsoft.com/office/drawing/2014/main" id="{D5F5A51E-0D2F-4E5F-BEAC-05B16AA3E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2984"/>
                <a:ext cx="223" cy="244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7" name="Text Box 102">
                <a:extLst>
                  <a:ext uri="{FF2B5EF4-FFF2-40B4-BE49-F238E27FC236}">
                    <a16:creationId xmlns:a16="http://schemas.microsoft.com/office/drawing/2014/main" id="{1ABA31B0-94B5-4D1E-A76A-4F21161E6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1" y="2996"/>
                <a:ext cx="2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/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1800" b="1">
                    <a:solidFill>
                      <a:srgbClr val="3333FF"/>
                    </a:solidFill>
                    <a:latin typeface="Comic Sans MS" panose="030F0702030302020204" pitchFamily="66" charset="0"/>
                    <a:sym typeface="Wingdings 3" panose="05040102010807070707" pitchFamily="18" charset="2"/>
                  </a:rPr>
                  <a:t></a:t>
                </a:r>
              </a:p>
            </p:txBody>
          </p:sp>
        </p:grpSp>
      </p:grpSp>
      <p:sp>
        <p:nvSpPr>
          <p:cNvPr id="53" name="Text Box 105">
            <a:extLst>
              <a:ext uri="{FF2B5EF4-FFF2-40B4-BE49-F238E27FC236}">
                <a16:creationId xmlns:a16="http://schemas.microsoft.com/office/drawing/2014/main" id="{47F993C1-D499-491E-B064-6A1CC799B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835" y="5203829"/>
            <a:ext cx="1866137" cy="164454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Consume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 + a - (en sentido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 caída)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B8725B0-CB19-45DB-BD2C-4D2D270E6299}"/>
              </a:ext>
            </a:extLst>
          </p:cNvPr>
          <p:cNvGrpSpPr/>
          <p:nvPr/>
        </p:nvGrpSpPr>
        <p:grpSpPr>
          <a:xfrm>
            <a:off x="1260948" y="4915601"/>
            <a:ext cx="1620195" cy="525369"/>
            <a:chOff x="1510332" y="1051116"/>
            <a:chExt cx="1620195" cy="525369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581497DC-CD4F-46A5-86A0-04AF4A0BCF0E}"/>
                </a:ext>
              </a:extLst>
            </p:cNvPr>
            <p:cNvSpPr/>
            <p:nvPr/>
          </p:nvSpPr>
          <p:spPr bwMode="auto">
            <a:xfrm>
              <a:off x="1620165" y="1057274"/>
              <a:ext cx="1472905" cy="519211"/>
            </a:xfrm>
            <a:prstGeom prst="rect">
              <a:avLst/>
            </a:prstGeom>
            <a:solidFill>
              <a:srgbClr val="666699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Text Box 105">
              <a:extLst>
                <a:ext uri="{FF2B5EF4-FFF2-40B4-BE49-F238E27FC236}">
                  <a16:creationId xmlns:a16="http://schemas.microsoft.com/office/drawing/2014/main" id="{C2933583-23F5-4E9E-B6AF-38540ED44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332" y="1051116"/>
              <a:ext cx="1620195" cy="48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108000" rIns="108000" bIns="108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spcBef>
                  <a:spcPts val="0"/>
                </a:spcBef>
                <a:buNone/>
                <a:defRPr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Potencia</a:t>
              </a:r>
              <a:endParaRPr lang="en-U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740E8B55-7DF5-41E5-93F4-596BF1D5D379}"/>
              </a:ext>
            </a:extLst>
          </p:cNvPr>
          <p:cNvGrpSpPr/>
          <p:nvPr/>
        </p:nvGrpSpPr>
        <p:grpSpPr>
          <a:xfrm>
            <a:off x="3266367" y="5201319"/>
            <a:ext cx="891008" cy="1124615"/>
            <a:chOff x="8867584" y="5722996"/>
            <a:chExt cx="891008" cy="1124615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2C628944-2FD8-472B-9A60-BFFBD8565FE0}"/>
                </a:ext>
              </a:extLst>
            </p:cNvPr>
            <p:cNvSpPr/>
            <p:nvPr/>
          </p:nvSpPr>
          <p:spPr bwMode="auto">
            <a:xfrm>
              <a:off x="8867584" y="5769962"/>
              <a:ext cx="891008" cy="107764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118800" rIns="90000" bIns="118800" numCol="1" rtlCol="0" anchor="ctr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Text Box 25">
              <a:extLst>
                <a:ext uri="{FF2B5EF4-FFF2-40B4-BE49-F238E27FC236}">
                  <a16:creationId xmlns:a16="http://schemas.microsoft.com/office/drawing/2014/main" id="{0CA9393E-F915-4849-8B24-383AA2520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1895" y="5722996"/>
              <a:ext cx="263525" cy="384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</a:t>
              </a:r>
              <a:endParaRPr lang="es-ES" sz="240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994F5C50-0D84-4C4A-807F-07B0C64CB787}"/>
                </a:ext>
              </a:extLst>
            </p:cNvPr>
            <p:cNvGrpSpPr/>
            <p:nvPr/>
          </p:nvGrpSpPr>
          <p:grpSpPr>
            <a:xfrm>
              <a:off x="8930674" y="6126720"/>
              <a:ext cx="764886" cy="432000"/>
              <a:chOff x="8922587" y="2301478"/>
              <a:chExt cx="764886" cy="432000"/>
            </a:xfrm>
          </p:grpSpPr>
          <p:sp>
            <p:nvSpPr>
              <p:cNvPr id="62" name="Line 112">
                <a:extLst>
                  <a:ext uri="{FF2B5EF4-FFF2-40B4-BE49-F238E27FC236}">
                    <a16:creationId xmlns:a16="http://schemas.microsoft.com/office/drawing/2014/main" id="{3090BC9C-6361-4D65-9D3E-3726F91B0B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9305030" y="2139213"/>
                <a:ext cx="0" cy="76488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63" name="Elipse 62">
                <a:extLst>
                  <a:ext uri="{FF2B5EF4-FFF2-40B4-BE49-F238E27FC236}">
                    <a16:creationId xmlns:a16="http://schemas.microsoft.com/office/drawing/2014/main" id="{873E357D-AABD-4FD4-803E-CE589B1C6C6E}"/>
                  </a:ext>
                </a:extLst>
              </p:cNvPr>
              <p:cNvSpPr/>
              <p:nvPr/>
            </p:nvSpPr>
            <p:spPr bwMode="auto">
              <a:xfrm>
                <a:off x="9109579" y="2301478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none" lIns="90000" tIns="118800" rIns="90000" bIns="118800" numCol="1" rtlCol="0" anchor="ctr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4" name="Text Box 115">
                <a:extLst>
                  <a:ext uri="{FF2B5EF4-FFF2-40B4-BE49-F238E27FC236}">
                    <a16:creationId xmlns:a16="http://schemas.microsoft.com/office/drawing/2014/main" id="{7F01D0A8-1F7D-4947-9982-224461AD7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3816" y="2483845"/>
                <a:ext cx="400537" cy="134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- +</a:t>
                </a:r>
              </a:p>
            </p:txBody>
          </p:sp>
        </p:grpSp>
      </p:grpSp>
      <p:sp>
        <p:nvSpPr>
          <p:cNvPr id="65" name="Text Box 105">
            <a:extLst>
              <a:ext uri="{FF2B5EF4-FFF2-40B4-BE49-F238E27FC236}">
                <a16:creationId xmlns:a16="http://schemas.microsoft.com/office/drawing/2014/main" id="{12BFEF27-7A8C-4C56-9029-8C1534C67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019" y="5167394"/>
            <a:ext cx="2024765" cy="164454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Consume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V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&lt; 0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(si caída en sentido de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7" name="Text Box 105">
            <a:extLst>
              <a:ext uri="{FF2B5EF4-FFF2-40B4-BE49-F238E27FC236}">
                <a16:creationId xmlns:a16="http://schemas.microsoft.com/office/drawing/2014/main" id="{F3D27305-2140-4249-BFA6-E24D157E5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788" y="6332980"/>
            <a:ext cx="212258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V</a:t>
            </a:r>
            <a:r>
              <a:rPr lang="es-ES" sz="2400" baseline="-250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- 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n-US" sz="2400" baseline="-25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8" name="Text Box 105">
            <a:extLst>
              <a:ext uri="{FF2B5EF4-FFF2-40B4-BE49-F238E27FC236}">
                <a16:creationId xmlns:a16="http://schemas.microsoft.com/office/drawing/2014/main" id="{862ACCEE-491E-41AB-9426-CE2100A4F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6464" y="5768468"/>
            <a:ext cx="1015865" cy="41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      B</a:t>
            </a:r>
            <a:endParaRPr lang="en-US" sz="2400" baseline="-25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9" name="Text Box 105">
            <a:extLst>
              <a:ext uri="{FF2B5EF4-FFF2-40B4-BE49-F238E27FC236}">
                <a16:creationId xmlns:a16="http://schemas.microsoft.com/office/drawing/2014/main" id="{413DED79-AD90-49C7-89E7-C9AD634D6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77" y="6311169"/>
            <a:ext cx="1650459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8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- V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endParaRPr lang="en-US" sz="2400" baseline="30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" name="Text Box 253">
            <a:extLst>
              <a:ext uri="{FF2B5EF4-FFF2-40B4-BE49-F238E27FC236}">
                <a16:creationId xmlns:a16="http://schemas.microsoft.com/office/drawing/2014/main" id="{48850BAC-DFC4-463B-A945-C6528D67B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739" y="5540546"/>
            <a:ext cx="1294242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latin typeface="Comic Sans MS" panose="030F0702030302020204" pitchFamily="66" charset="0"/>
              </a:rPr>
              <a:t> P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= </a:t>
            </a:r>
            <a:r>
              <a:rPr lang="es-ES" sz="2400" dirty="0">
                <a:latin typeface="Comic Sans MS" panose="030F0702030302020204" pitchFamily="66" charset="0"/>
              </a:rPr>
              <a:t>V I</a:t>
            </a:r>
            <a:r>
              <a:rPr lang="es-ES" sz="2400" baseline="30000" dirty="0">
                <a:latin typeface="Comic Sans MS" panose="030F0702030302020204" pitchFamily="66" charset="0"/>
              </a:rPr>
              <a:t> </a:t>
            </a:r>
            <a:endParaRPr lang="es-ES" sz="2400" baseline="-25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75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77" grpId="0"/>
      <p:bldP spid="105" grpId="0" animBg="1"/>
      <p:bldP spid="106" grpId="0" animBg="1"/>
      <p:bldP spid="9" grpId="0" animBg="1"/>
      <p:bldP spid="111" grpId="0" animBg="1"/>
      <p:bldP spid="112" grpId="0"/>
      <p:bldP spid="53" grpId="0" animBg="1"/>
      <p:bldP spid="65" grpId="0" animBg="1"/>
      <p:bldP spid="67" grpId="0"/>
      <p:bldP spid="68" grpId="0"/>
      <p:bldP spid="69" grpId="0"/>
      <p:bldP spid="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118800" rIns="90000" bIns="118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118800" rIns="90000" bIns="118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15754</TotalTime>
  <Words>1336</Words>
  <Application>Microsoft Office PowerPoint</Application>
  <PresentationFormat>Personalizado</PresentationFormat>
  <Paragraphs>379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Comic Sans MS</vt:lpstr>
      <vt:lpstr>Symbol</vt:lpstr>
      <vt:lpstr>Times New Roman</vt:lpstr>
      <vt:lpstr>Trebuchet MS</vt:lpstr>
      <vt:lpstr>Wingdings</vt:lpstr>
      <vt:lpstr>FNT_2012_TEMA1_1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2296</cp:revision>
  <dcterms:created xsi:type="dcterms:W3CDTF">2012-02-20T13:06:36Z</dcterms:created>
  <dcterms:modified xsi:type="dcterms:W3CDTF">2024-12-09T11:17:40Z</dcterms:modified>
</cp:coreProperties>
</file>