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handoutMasterIdLst>
    <p:handoutMasterId r:id="rId23"/>
  </p:handoutMasterIdLst>
  <p:sldIdLst>
    <p:sldId id="442" r:id="rId2"/>
    <p:sldId id="586" r:id="rId3"/>
    <p:sldId id="607" r:id="rId4"/>
    <p:sldId id="642" r:id="rId5"/>
    <p:sldId id="621" r:id="rId6"/>
    <p:sldId id="656" r:id="rId7"/>
    <p:sldId id="608" r:id="rId8"/>
    <p:sldId id="660" r:id="rId9"/>
    <p:sldId id="609" r:id="rId10"/>
    <p:sldId id="610" r:id="rId11"/>
    <p:sldId id="619" r:id="rId12"/>
    <p:sldId id="596" r:id="rId13"/>
    <p:sldId id="673" r:id="rId14"/>
    <p:sldId id="639" r:id="rId15"/>
    <p:sldId id="620" r:id="rId16"/>
    <p:sldId id="640" r:id="rId17"/>
    <p:sldId id="594" r:id="rId18"/>
    <p:sldId id="661" r:id="rId19"/>
    <p:sldId id="622" r:id="rId20"/>
    <p:sldId id="522" r:id="rId21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3333FF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FFFF"/>
    <a:srgbClr val="9999FF"/>
    <a:srgbClr val="FF99CC"/>
    <a:srgbClr val="008000"/>
    <a:srgbClr val="CCFFCC"/>
    <a:srgbClr val="FFFF99"/>
    <a:srgbClr val="C0C0C0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24" autoAdjust="0"/>
    <p:restoredTop sz="96046" autoAdjust="0"/>
  </p:normalViewPr>
  <p:slideViewPr>
    <p:cSldViewPr snapToGrid="0" showGuides="1">
      <p:cViewPr varScale="1">
        <p:scale>
          <a:sx n="103" d="100"/>
          <a:sy n="103" d="100"/>
        </p:scale>
        <p:origin x="1260" y="108"/>
      </p:cViewPr>
      <p:guideLst>
        <p:guide orient="horz" pos="2268"/>
        <p:guide pos="36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7A5602E-D58C-4F00-91A0-DA89D19F6F8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898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1EEFAF1-9DD5-48D3-8221-B35888FE096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094797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AAF2DA-AF3B-4DD0-8878-016FAA681128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547271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D54D28-C454-45EF-9776-12C9DE92A777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58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57E957-F743-45A3-A2D8-8D0DB082582F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260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57E957-F743-45A3-A2D8-8D0DB082582F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889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57E957-F743-45A3-A2D8-8D0DB082582F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886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57E957-F743-45A3-A2D8-8D0DB082582F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11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261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2733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40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02E743-20D9-4C7C-BD7D-A6713DB5BB16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440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794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60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7EB1F27-DF7F-4D90-8E21-D0548342672F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97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5525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88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331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0815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2970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1335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7375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7445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Marcador de nota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>
              <a:latin typeface="Arial" panose="020B0604020202020204" pitchFamily="34" charset="0"/>
            </a:endParaRPr>
          </a:p>
        </p:txBody>
      </p:sp>
      <p:sp>
        <p:nvSpPr>
          <p:cNvPr id="20484" name="Marcador de encabezado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0485" name="Marcador de pie de página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0486" name="Marcador de número de diapositiva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B73A5271-9A2E-4E4F-A7F2-D263A743768D}" type="slidenum">
              <a:rPr lang="es-ES" sz="1200" smtClean="0">
                <a:solidFill>
                  <a:schemeClr val="tx1"/>
                </a:solidFill>
              </a:rPr>
              <a:pPr/>
              <a:t>19</a:t>
            </a:fld>
            <a:endParaRPr lang="es-E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98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 baseline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 baseline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CF7FF-2655-4FB7-AEF0-5E34D50BD67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7876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9B145-2F36-4298-9587-451A23510CC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855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1CF5A-4C4C-44B3-8114-1E6459381D7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42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656B4-887F-4CFA-B959-5D1323C4C1E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0596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D1C710-FFB9-433A-8123-ECFC817C794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474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5EDD1-8AA9-4C29-BD93-942C2C2A452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359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FB65D-E139-4E42-A71A-0520FF7F87A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72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7887F-6B5B-4A67-B6E6-E08878C52BC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494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DA5D-2FE9-418E-870E-9C28FF67274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0638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7FF21-78C8-4A68-A415-0075F34BB38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3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BAB83-E90C-4B66-87E7-3CD471AD172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4984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891A2-4322-404A-9D81-1E9373561C0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629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 baseline="-25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 baseline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 baseline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 baseline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569198A-4B92-4FF8-AD3B-DB1826E16AF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3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0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509963" y="3319463"/>
            <a:ext cx="4514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INTERACCIÓN MAGNÉTICA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68913" y="4424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(7/7)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5</a:t>
            </a: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6F755041-A0B6-DF3F-6D20-B10F565FC0C0}"/>
              </a:ext>
            </a:extLst>
          </p:cNvPr>
          <p:cNvGrpSpPr>
            <a:grpSpLocks/>
          </p:cNvGrpSpPr>
          <p:nvPr/>
        </p:nvGrpSpPr>
        <p:grpSpPr bwMode="auto">
          <a:xfrm>
            <a:off x="7211243" y="295654"/>
            <a:ext cx="3241676" cy="2260600"/>
            <a:chOff x="4780" y="276"/>
            <a:chExt cx="2042" cy="1424"/>
          </a:xfrm>
        </p:grpSpPr>
        <p:sp>
          <p:nvSpPr>
            <p:cNvPr id="3" name="AutoShape 1067">
              <a:extLst>
                <a:ext uri="{FF2B5EF4-FFF2-40B4-BE49-F238E27FC236}">
                  <a16:creationId xmlns:a16="http://schemas.microsoft.com/office/drawing/2014/main" id="{72FC5F0F-B610-ACBD-2427-63839E40A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" y="276"/>
              <a:ext cx="2042" cy="1424"/>
            </a:xfrm>
            <a:prstGeom prst="foldedCorner">
              <a:avLst>
                <a:gd name="adj" fmla="val 7945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" name="Text Box 1068">
              <a:extLst>
                <a:ext uri="{FF2B5EF4-FFF2-40B4-BE49-F238E27FC236}">
                  <a16:creationId xmlns:a16="http://schemas.microsoft.com/office/drawing/2014/main" id="{4B751CF8-6237-8E54-441E-CA22A4EB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1" y="378"/>
              <a:ext cx="1786" cy="291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AVISO TURNO 3</a:t>
              </a:r>
            </a:p>
          </p:txBody>
        </p:sp>
        <p:sp>
          <p:nvSpPr>
            <p:cNvPr id="5" name="Text Box 1069">
              <a:extLst>
                <a:ext uri="{FF2B5EF4-FFF2-40B4-BE49-F238E27FC236}">
                  <a16:creationId xmlns:a16="http://schemas.microsoft.com/office/drawing/2014/main" id="{A1645354-5C72-C010-D08B-5E83F2FB2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1" y="738"/>
              <a:ext cx="1811" cy="7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No habrá clase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el próximo martes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10 de diciembre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B0841032-58A6-2D80-81B0-21184A0A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35" y="6467047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26"/>
          <p:cNvSpPr>
            <a:spLocks noChangeArrowheads="1"/>
          </p:cNvSpPr>
          <p:nvPr/>
        </p:nvSpPr>
        <p:spPr bwMode="auto">
          <a:xfrm>
            <a:off x="2201610" y="6443375"/>
            <a:ext cx="1393646" cy="46050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1498600" y="578470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19"/>
          <p:cNvSpPr>
            <a:spLocks noChangeArrowheads="1"/>
          </p:cNvSpPr>
          <p:nvPr/>
        </p:nvSpPr>
        <p:spPr bwMode="auto">
          <a:xfrm>
            <a:off x="1493838" y="5124309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19"/>
          <p:cNvSpPr>
            <a:spLocks noChangeArrowheads="1"/>
          </p:cNvSpPr>
          <p:nvPr/>
        </p:nvSpPr>
        <p:spPr bwMode="auto">
          <a:xfrm>
            <a:off x="1489075" y="415275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1487488" y="3481246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2"/>
          <p:cNvSpPr>
            <a:spLocks noChangeArrowheads="1"/>
          </p:cNvSpPr>
          <p:nvPr/>
        </p:nvSpPr>
        <p:spPr bwMode="auto">
          <a:xfrm>
            <a:off x="1487488" y="219378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4"/>
          <p:cNvSpPr>
            <a:spLocks noChangeArrowheads="1"/>
          </p:cNvSpPr>
          <p:nvPr/>
        </p:nvSpPr>
        <p:spPr bwMode="auto">
          <a:xfrm>
            <a:off x="1487488" y="156037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1409700" y="590550"/>
            <a:ext cx="8520113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5: INTERACCIÓN MAGNÉTICA</a:t>
            </a:r>
          </a:p>
        </p:txBody>
      </p:sp>
      <p:sp>
        <p:nvSpPr>
          <p:cNvPr id="7179" name="Rectangle 6"/>
          <p:cNvSpPr>
            <a:spLocks noChangeArrowheads="1"/>
          </p:cNvSpPr>
          <p:nvPr/>
        </p:nvSpPr>
        <p:spPr bwMode="auto">
          <a:xfrm>
            <a:off x="1470025" y="1525446"/>
            <a:ext cx="708025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5.6.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5.7.</a:t>
            </a:r>
          </a:p>
        </p:txBody>
      </p:sp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2197100" y="1536559"/>
            <a:ext cx="8237538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Campo Magnético. Ley de Gauss para B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Efectos de B sobre: una Carga (Fuerza de Lorentz y Efecto Hall), un Conductor (Ley de Laplace) y una Espira (Dipolo Magnético)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Fuentes de B: Leyes de Biot-Savart y </a:t>
            </a:r>
            <a:r>
              <a:rPr lang="es-ES" sz="2400" b="1" dirty="0" err="1">
                <a:latin typeface="Arial" panose="020B0604020202020204" pitchFamily="34" charset="0"/>
              </a:rPr>
              <a:t>Ampère</a:t>
            </a:r>
            <a:r>
              <a:rPr lang="es-ES" sz="2400" b="1" dirty="0">
                <a:latin typeface="Arial" panose="020B0604020202020204" pitchFamily="34" charset="0"/>
              </a:rPr>
              <a:t>-Maxwell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Inducción de Henry-Faraday. Ley de Lenz.    FEM por inducción o por movimiento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s-ES" sz="2400" b="1">
                <a:latin typeface="Arial" panose="020B0604020202020204" pitchFamily="34" charset="0"/>
              </a:rPr>
              <a:t>Ecuaciones de Maxwell: Ondas Electromagnéticas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Campo Magnético en </a:t>
            </a:r>
            <a:r>
              <a:rPr lang="es-ES" sz="2400" b="1">
                <a:latin typeface="Arial" panose="020B0604020202020204" pitchFamily="34" charset="0"/>
              </a:rPr>
              <a:t>la Materia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Bobinas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7181" name="Line 20"/>
          <p:cNvSpPr>
            <a:spLocks noChangeShapeType="1"/>
          </p:cNvSpPr>
          <p:nvPr/>
        </p:nvSpPr>
        <p:spPr bwMode="auto">
          <a:xfrm flipV="1">
            <a:off x="9848850" y="1579421"/>
            <a:ext cx="2190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2" name="Line 21"/>
          <p:cNvSpPr>
            <a:spLocks noChangeShapeType="1"/>
          </p:cNvSpPr>
          <p:nvPr/>
        </p:nvSpPr>
        <p:spPr bwMode="auto">
          <a:xfrm flipV="1">
            <a:off x="3925888" y="2228709"/>
            <a:ext cx="21907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3" name="Line 22"/>
          <p:cNvSpPr>
            <a:spLocks noChangeShapeType="1"/>
          </p:cNvSpPr>
          <p:nvPr/>
        </p:nvSpPr>
        <p:spPr bwMode="auto">
          <a:xfrm flipV="1">
            <a:off x="4006850" y="3546334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8284858" y="99801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05/12/24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02/12/24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03/12/24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9529F7AB-589D-469A-80D3-3D48B412EDF4}"/>
              </a:ext>
            </a:extLst>
          </p:cNvPr>
          <p:cNvGrpSpPr/>
          <p:nvPr/>
        </p:nvGrpSpPr>
        <p:grpSpPr>
          <a:xfrm>
            <a:off x="1454884" y="5034955"/>
            <a:ext cx="3557588" cy="1477111"/>
            <a:chOff x="1775899" y="5360943"/>
            <a:chExt cx="3557588" cy="1477111"/>
          </a:xfrm>
        </p:grpSpPr>
        <p:grpSp>
          <p:nvGrpSpPr>
            <p:cNvPr id="65" name="Group 195">
              <a:extLst>
                <a:ext uri="{FF2B5EF4-FFF2-40B4-BE49-F238E27FC236}">
                  <a16:creationId xmlns:a16="http://schemas.microsoft.com/office/drawing/2014/main" id="{9173FE68-FC0F-4AB3-8D50-E5649164AE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5899" y="5668066"/>
              <a:ext cx="3557588" cy="1169988"/>
              <a:chOff x="1094" y="2008"/>
              <a:chExt cx="2241" cy="737"/>
            </a:xfrm>
          </p:grpSpPr>
          <p:sp>
            <p:nvSpPr>
              <p:cNvPr id="66" name="Line 80">
                <a:extLst>
                  <a:ext uri="{FF2B5EF4-FFF2-40B4-BE49-F238E27FC236}">
                    <a16:creationId xmlns:a16="http://schemas.microsoft.com/office/drawing/2014/main" id="{7941BF22-E697-452C-93B1-F25F5BDBB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3" y="2368"/>
                <a:ext cx="2232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7" name="Line 81">
                <a:extLst>
                  <a:ext uri="{FF2B5EF4-FFF2-40B4-BE49-F238E27FC236}">
                    <a16:creationId xmlns:a16="http://schemas.microsoft.com/office/drawing/2014/main" id="{766DD737-202A-4969-8249-7C19F3145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2368"/>
                <a:ext cx="20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8" name="Text Box 82">
                <a:extLst>
                  <a:ext uri="{FF2B5EF4-FFF2-40B4-BE49-F238E27FC236}">
                    <a16:creationId xmlns:a16="http://schemas.microsoft.com/office/drawing/2014/main" id="{82AC23DE-AFDA-4C4A-B3AD-AAD9A98AE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8" y="2008"/>
                <a:ext cx="453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I(t)</a:t>
                </a:r>
              </a:p>
            </p:txBody>
          </p:sp>
          <p:sp>
            <p:nvSpPr>
              <p:cNvPr id="69" name="Text Box 83">
                <a:extLst>
                  <a:ext uri="{FF2B5EF4-FFF2-40B4-BE49-F238E27FC236}">
                    <a16:creationId xmlns:a16="http://schemas.microsoft.com/office/drawing/2014/main" id="{1AC66D9C-5518-4ACF-9FDA-3D08C01985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4" y="2407"/>
                <a:ext cx="589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crece</a:t>
                </a:r>
              </a:p>
            </p:txBody>
          </p:sp>
        </p:grpSp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3B35B029-7DA2-437E-B06E-ADEC5DB16C9F}"/>
                </a:ext>
              </a:extLst>
            </p:cNvPr>
            <p:cNvGrpSpPr/>
            <p:nvPr/>
          </p:nvGrpSpPr>
          <p:grpSpPr>
            <a:xfrm>
              <a:off x="3780624" y="5360943"/>
              <a:ext cx="677865" cy="1465263"/>
              <a:chOff x="3485228" y="2940267"/>
              <a:chExt cx="677865" cy="1465263"/>
            </a:xfrm>
          </p:grpSpPr>
          <p:sp>
            <p:nvSpPr>
              <p:cNvPr id="71" name="Line 84">
                <a:extLst>
                  <a:ext uri="{FF2B5EF4-FFF2-40B4-BE49-F238E27FC236}">
                    <a16:creationId xmlns:a16="http://schemas.microsoft.com/office/drawing/2014/main" id="{1C9ED6AC-EEC3-4001-AF88-B1EEE6E9F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3191" y="3449855"/>
                <a:ext cx="0" cy="75088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2" name="Text Box 85">
                <a:extLst>
                  <a:ext uri="{FF2B5EF4-FFF2-40B4-BE49-F238E27FC236}">
                    <a16:creationId xmlns:a16="http://schemas.microsoft.com/office/drawing/2014/main" id="{3B7FE22B-B197-41D3-A04F-2FEB8823AB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228" y="2940267"/>
                <a:ext cx="677865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B(t)</a:t>
                </a:r>
              </a:p>
            </p:txBody>
          </p:sp>
          <p:sp>
            <p:nvSpPr>
              <p:cNvPr id="73" name="Line 86">
                <a:extLst>
                  <a:ext uri="{FF2B5EF4-FFF2-40B4-BE49-F238E27FC236}">
                    <a16:creationId xmlns:a16="http://schemas.microsoft.com/office/drawing/2014/main" id="{00D9FBF6-4842-4BB9-9ADD-6C8B786F6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4128" y="3057742"/>
                <a:ext cx="212726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4" name="Oval 87">
                <a:extLst>
                  <a:ext uri="{FF2B5EF4-FFF2-40B4-BE49-F238E27FC236}">
                    <a16:creationId xmlns:a16="http://schemas.microsoft.com/office/drawing/2014/main" id="{6D763803-1BCC-4698-8767-1804E2FA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641" y="3386355"/>
                <a:ext cx="146050" cy="163513"/>
              </a:xfrm>
              <a:prstGeom prst="ellipse">
                <a:avLst/>
              </a:prstGeom>
              <a:solidFill>
                <a:srgbClr val="EDE7E3"/>
              </a:solidFill>
              <a:ln w="12700" algn="ctr">
                <a:solidFill>
                  <a:srgbClr val="008000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aseline="-25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5" name="Oval 88">
                <a:extLst>
                  <a:ext uri="{FF2B5EF4-FFF2-40B4-BE49-F238E27FC236}">
                    <a16:creationId xmlns:a16="http://schemas.microsoft.com/office/drawing/2014/main" id="{C5DDB375-83D8-4B3C-906E-9CAC1695E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3816" y="4092793"/>
                <a:ext cx="146050" cy="163513"/>
              </a:xfrm>
              <a:prstGeom prst="ellipse">
                <a:avLst/>
              </a:prstGeom>
              <a:solidFill>
                <a:srgbClr val="EDE7E3"/>
              </a:solidFill>
              <a:ln w="12700" algn="ctr">
                <a:solidFill>
                  <a:srgbClr val="008000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aseline="-25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6" name="Text Box 89">
                <a:extLst>
                  <a:ext uri="{FF2B5EF4-FFF2-40B4-BE49-F238E27FC236}">
                    <a16:creationId xmlns:a16="http://schemas.microsoft.com/office/drawing/2014/main" id="{9E15108B-DC70-4B25-B8D8-A83736B041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0791" y="3935630"/>
                <a:ext cx="307976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77" name="Text Box 90">
                <a:extLst>
                  <a:ext uri="{FF2B5EF4-FFF2-40B4-BE49-F238E27FC236}">
                    <a16:creationId xmlns:a16="http://schemas.microsoft.com/office/drawing/2014/main" id="{EF955DCC-C811-4539-BCB7-531760649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3966" y="3216492"/>
                <a:ext cx="298451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</a:t>
                </a:r>
              </a:p>
            </p:txBody>
          </p:sp>
        </p:grpSp>
      </p:grpSp>
      <p:sp>
        <p:nvSpPr>
          <p:cNvPr id="39938" name="Rectangle 79"/>
          <p:cNvSpPr>
            <a:spLocks noChangeArrowheads="1"/>
          </p:cNvSpPr>
          <p:nvPr/>
        </p:nvSpPr>
        <p:spPr bwMode="auto">
          <a:xfrm>
            <a:off x="1274372" y="364003"/>
            <a:ext cx="21272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5.7 BOBINAS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A0E8D6F-D192-4A30-83A2-554F87012AE1}"/>
              </a:ext>
            </a:extLst>
          </p:cNvPr>
          <p:cNvGrpSpPr/>
          <p:nvPr/>
        </p:nvGrpSpPr>
        <p:grpSpPr>
          <a:xfrm>
            <a:off x="1514168" y="3631753"/>
            <a:ext cx="3543300" cy="571500"/>
            <a:chOff x="1835183" y="3067541"/>
            <a:chExt cx="3543300" cy="571500"/>
          </a:xfrm>
        </p:grpSpPr>
        <p:sp>
          <p:nvSpPr>
            <p:cNvPr id="40011" name="Line 80"/>
            <p:cNvSpPr>
              <a:spLocks noChangeShapeType="1"/>
            </p:cNvSpPr>
            <p:nvPr/>
          </p:nvSpPr>
          <p:spPr bwMode="auto">
            <a:xfrm>
              <a:off x="1835183" y="3639041"/>
              <a:ext cx="3543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0012" name="Line 81"/>
            <p:cNvSpPr>
              <a:spLocks noChangeShapeType="1"/>
            </p:cNvSpPr>
            <p:nvPr/>
          </p:nvSpPr>
          <p:spPr bwMode="auto">
            <a:xfrm>
              <a:off x="2165383" y="3639041"/>
              <a:ext cx="3270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0013" name="Text Box 82"/>
            <p:cNvSpPr txBox="1">
              <a:spLocks noChangeArrowheads="1"/>
            </p:cNvSpPr>
            <p:nvPr/>
          </p:nvSpPr>
          <p:spPr bwMode="auto">
            <a:xfrm>
              <a:off x="1938371" y="3067541"/>
              <a:ext cx="719138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I(t)</a:t>
              </a:r>
            </a:p>
          </p:txBody>
        </p:sp>
      </p:grpSp>
      <p:sp>
        <p:nvSpPr>
          <p:cNvPr id="40014" name="Text Box 83"/>
          <p:cNvSpPr txBox="1">
            <a:spLocks noChangeArrowheads="1"/>
          </p:cNvSpPr>
          <p:nvPr/>
        </p:nvSpPr>
        <p:spPr bwMode="auto">
          <a:xfrm>
            <a:off x="1469718" y="4223891"/>
            <a:ext cx="9350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crece</a:t>
            </a:r>
          </a:p>
        </p:txBody>
      </p:sp>
      <p:grpSp>
        <p:nvGrpSpPr>
          <p:cNvPr id="4" name="Group 190"/>
          <p:cNvGrpSpPr>
            <a:grpSpLocks/>
          </p:cNvGrpSpPr>
          <p:nvPr/>
        </p:nvGrpSpPr>
        <p:grpSpPr bwMode="auto">
          <a:xfrm>
            <a:off x="1521054" y="2273891"/>
            <a:ext cx="3543300" cy="536576"/>
            <a:chOff x="1127" y="1071"/>
            <a:chExt cx="2232" cy="338"/>
          </a:xfrm>
        </p:grpSpPr>
        <p:sp>
          <p:nvSpPr>
            <p:cNvPr id="40004" name="Line 124"/>
            <p:cNvSpPr>
              <a:spLocks noChangeShapeType="1"/>
            </p:cNvSpPr>
            <p:nvPr/>
          </p:nvSpPr>
          <p:spPr bwMode="auto">
            <a:xfrm>
              <a:off x="1127" y="1364"/>
              <a:ext cx="22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0005" name="Line 126"/>
            <p:cNvSpPr>
              <a:spLocks noChangeShapeType="1"/>
            </p:cNvSpPr>
            <p:nvPr/>
          </p:nvSpPr>
          <p:spPr bwMode="auto">
            <a:xfrm>
              <a:off x="1343" y="1364"/>
              <a:ext cx="20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0006" name="Text Box 127"/>
            <p:cNvSpPr txBox="1">
              <a:spLocks noChangeArrowheads="1"/>
            </p:cNvSpPr>
            <p:nvPr/>
          </p:nvSpPr>
          <p:spPr bwMode="auto">
            <a:xfrm>
              <a:off x="1224" y="1071"/>
              <a:ext cx="22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21" name="Grupo 20"/>
          <p:cNvGrpSpPr>
            <a:grpSpLocks/>
          </p:cNvGrpSpPr>
          <p:nvPr/>
        </p:nvGrpSpPr>
        <p:grpSpPr bwMode="auto">
          <a:xfrm>
            <a:off x="3524479" y="2091327"/>
            <a:ext cx="307975" cy="1189036"/>
            <a:chOff x="3792538" y="1870947"/>
            <a:chExt cx="307975" cy="1189039"/>
          </a:xfrm>
        </p:grpSpPr>
        <p:sp>
          <p:nvSpPr>
            <p:cNvPr id="40000" name="Oval 133"/>
            <p:cNvSpPr>
              <a:spLocks noChangeArrowheads="1"/>
            </p:cNvSpPr>
            <p:nvPr/>
          </p:nvSpPr>
          <p:spPr bwMode="auto">
            <a:xfrm>
              <a:off x="3865563" y="2763124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1" name="Oval 132"/>
            <p:cNvSpPr>
              <a:spLocks noChangeArrowheads="1"/>
            </p:cNvSpPr>
            <p:nvPr/>
          </p:nvSpPr>
          <p:spPr bwMode="auto">
            <a:xfrm>
              <a:off x="3862388" y="2040811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2" name="Text Box 135"/>
            <p:cNvSpPr txBox="1">
              <a:spLocks noChangeArrowheads="1"/>
            </p:cNvSpPr>
            <p:nvPr/>
          </p:nvSpPr>
          <p:spPr bwMode="auto">
            <a:xfrm>
              <a:off x="3795713" y="1870947"/>
              <a:ext cx="298450" cy="469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40003" name="Text Box 134"/>
            <p:cNvSpPr txBox="1">
              <a:spLocks noChangeArrowheads="1"/>
            </p:cNvSpPr>
            <p:nvPr/>
          </p:nvSpPr>
          <p:spPr bwMode="auto">
            <a:xfrm>
              <a:off x="3792538" y="2590085"/>
              <a:ext cx="307975" cy="469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</p:grpSp>
      <p:grpSp>
        <p:nvGrpSpPr>
          <p:cNvPr id="7" name="Group 183"/>
          <p:cNvGrpSpPr>
            <a:grpSpLocks/>
          </p:cNvGrpSpPr>
          <p:nvPr/>
        </p:nvGrpSpPr>
        <p:grpSpPr bwMode="auto">
          <a:xfrm>
            <a:off x="6834377" y="3108053"/>
            <a:ext cx="2787656" cy="1700214"/>
            <a:chOff x="4750" y="599"/>
            <a:chExt cx="1756" cy="1071"/>
          </a:xfrm>
        </p:grpSpPr>
        <p:sp>
          <p:nvSpPr>
            <p:cNvPr id="39997" name="Rectangle 152"/>
            <p:cNvSpPr>
              <a:spLocks noChangeArrowheads="1"/>
            </p:cNvSpPr>
            <p:nvPr/>
          </p:nvSpPr>
          <p:spPr bwMode="auto">
            <a:xfrm>
              <a:off x="4750" y="1006"/>
              <a:ext cx="1756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9998" name="Object 153"/>
            <p:cNvGraphicFramePr>
              <a:graphicFrameLocks noChangeAspect="1"/>
            </p:cNvGraphicFramePr>
            <p:nvPr/>
          </p:nvGraphicFramePr>
          <p:xfrm>
            <a:off x="4787" y="1048"/>
            <a:ext cx="1672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31366" imgH="444307" progId="Equation.3">
                    <p:embed/>
                  </p:oleObj>
                </mc:Choice>
                <mc:Fallback>
                  <p:oleObj name="Ecuación" r:id="rId3" imgW="1231366" imgH="444307" progId="Equation.3">
                    <p:embed/>
                    <p:pic>
                      <p:nvPicPr>
                        <p:cNvPr id="39998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7" y="1048"/>
                          <a:ext cx="1672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99" name="Text Box 154"/>
            <p:cNvSpPr txBox="1">
              <a:spLocks noChangeArrowheads="1"/>
            </p:cNvSpPr>
            <p:nvPr/>
          </p:nvSpPr>
          <p:spPr bwMode="auto">
            <a:xfrm>
              <a:off x="4750" y="599"/>
              <a:ext cx="1756" cy="33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Ley de Inducción</a:t>
              </a: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3463966" y="3324630"/>
            <a:ext cx="677865" cy="1465263"/>
            <a:chOff x="3485228" y="2940267"/>
            <a:chExt cx="677865" cy="1465263"/>
          </a:xfrm>
        </p:grpSpPr>
        <p:sp>
          <p:nvSpPr>
            <p:cNvPr id="39989" name="Line 84"/>
            <p:cNvSpPr>
              <a:spLocks noChangeShapeType="1"/>
            </p:cNvSpPr>
            <p:nvPr/>
          </p:nvSpPr>
          <p:spPr bwMode="auto">
            <a:xfrm>
              <a:off x="3693191" y="3449855"/>
              <a:ext cx="0" cy="75088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9990" name="Text Box 85"/>
            <p:cNvSpPr txBox="1">
              <a:spLocks noChangeArrowheads="1"/>
            </p:cNvSpPr>
            <p:nvPr/>
          </p:nvSpPr>
          <p:spPr bwMode="auto">
            <a:xfrm>
              <a:off x="3485228" y="2940267"/>
              <a:ext cx="677865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B(t)</a:t>
              </a:r>
            </a:p>
          </p:txBody>
        </p:sp>
        <p:sp>
          <p:nvSpPr>
            <p:cNvPr id="39991" name="Line 86"/>
            <p:cNvSpPr>
              <a:spLocks noChangeShapeType="1"/>
            </p:cNvSpPr>
            <p:nvPr/>
          </p:nvSpPr>
          <p:spPr bwMode="auto">
            <a:xfrm>
              <a:off x="3574128" y="3057742"/>
              <a:ext cx="21272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9992" name="Oval 87"/>
            <p:cNvSpPr>
              <a:spLocks noChangeArrowheads="1"/>
            </p:cNvSpPr>
            <p:nvPr/>
          </p:nvSpPr>
          <p:spPr bwMode="auto">
            <a:xfrm>
              <a:off x="3610641" y="3386355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3" name="Oval 88"/>
            <p:cNvSpPr>
              <a:spLocks noChangeArrowheads="1"/>
            </p:cNvSpPr>
            <p:nvPr/>
          </p:nvSpPr>
          <p:spPr bwMode="auto">
            <a:xfrm>
              <a:off x="3613816" y="4092793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4" name="Text Box 89"/>
            <p:cNvSpPr txBox="1">
              <a:spLocks noChangeArrowheads="1"/>
            </p:cNvSpPr>
            <p:nvPr/>
          </p:nvSpPr>
          <p:spPr bwMode="auto">
            <a:xfrm>
              <a:off x="3540791" y="3935630"/>
              <a:ext cx="307976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39995" name="Text Box 90"/>
            <p:cNvSpPr txBox="1">
              <a:spLocks noChangeArrowheads="1"/>
            </p:cNvSpPr>
            <p:nvPr/>
          </p:nvSpPr>
          <p:spPr bwMode="auto">
            <a:xfrm>
              <a:off x="3543966" y="3216492"/>
              <a:ext cx="298451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</p:grpSp>
      <p:sp>
        <p:nvSpPr>
          <p:cNvPr id="692426" name="Text Box 202"/>
          <p:cNvSpPr txBox="1">
            <a:spLocks noChangeArrowheads="1"/>
          </p:cNvSpPr>
          <p:nvPr/>
        </p:nvSpPr>
        <p:spPr bwMode="auto">
          <a:xfrm>
            <a:off x="6987464" y="5121610"/>
            <a:ext cx="126057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&lt;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0   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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Grupo 18"/>
          <p:cNvGrpSpPr>
            <a:grpSpLocks/>
          </p:cNvGrpSpPr>
          <p:nvPr/>
        </p:nvGrpSpPr>
        <p:grpSpPr bwMode="auto">
          <a:xfrm>
            <a:off x="1338861" y="1434197"/>
            <a:ext cx="2596697" cy="1663608"/>
            <a:chOff x="1606518" y="1215455"/>
            <a:chExt cx="2597116" cy="1661240"/>
          </a:xfrm>
        </p:grpSpPr>
        <p:sp>
          <p:nvSpPr>
            <p:cNvPr id="39960" name="Text Box 130"/>
            <p:cNvSpPr txBox="1">
              <a:spLocks noChangeArrowheads="1"/>
            </p:cNvSpPr>
            <p:nvPr/>
          </p:nvSpPr>
          <p:spPr bwMode="auto">
            <a:xfrm>
              <a:off x="3754751" y="1599484"/>
              <a:ext cx="387004" cy="535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9961" name="Line 131"/>
            <p:cNvSpPr>
              <a:spLocks noChangeShapeType="1"/>
            </p:cNvSpPr>
            <p:nvPr/>
          </p:nvSpPr>
          <p:spPr bwMode="auto">
            <a:xfrm>
              <a:off x="3863975" y="1696322"/>
              <a:ext cx="212725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grpSp>
          <p:nvGrpSpPr>
            <p:cNvPr id="39962" name="Grupo 17"/>
            <p:cNvGrpSpPr>
              <a:grpSpLocks/>
            </p:cNvGrpSpPr>
            <p:nvPr/>
          </p:nvGrpSpPr>
          <p:grpSpPr bwMode="auto">
            <a:xfrm>
              <a:off x="1606518" y="1215455"/>
              <a:ext cx="2597116" cy="1661240"/>
              <a:chOff x="1606518" y="1215455"/>
              <a:chExt cx="2597116" cy="1661240"/>
            </a:xfrm>
          </p:grpSpPr>
          <p:sp>
            <p:nvSpPr>
              <p:cNvPr id="39963" name="Line 129"/>
              <p:cNvSpPr>
                <a:spLocks noChangeShapeType="1"/>
              </p:cNvSpPr>
              <p:nvPr/>
            </p:nvSpPr>
            <p:spPr bwMode="auto">
              <a:xfrm>
                <a:off x="3944938" y="2125806"/>
                <a:ext cx="0" cy="750889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grpSp>
            <p:nvGrpSpPr>
              <p:cNvPr id="39964" name="Grupo 16"/>
              <p:cNvGrpSpPr>
                <a:grpSpLocks/>
              </p:cNvGrpSpPr>
              <p:nvPr/>
            </p:nvGrpSpPr>
            <p:grpSpPr bwMode="auto">
              <a:xfrm>
                <a:off x="1606518" y="1215455"/>
                <a:ext cx="2597116" cy="1070244"/>
                <a:chOff x="1606518" y="1215455"/>
                <a:chExt cx="2597116" cy="1070244"/>
              </a:xfrm>
            </p:grpSpPr>
            <p:sp>
              <p:nvSpPr>
                <p:cNvPr id="39965" name="CuadroTexto 5"/>
                <p:cNvSpPr txBox="1">
                  <a:spLocks noChangeArrowheads="1"/>
                </p:cNvSpPr>
                <p:nvPr/>
              </p:nvSpPr>
              <p:spPr bwMode="auto">
                <a:xfrm>
                  <a:off x="1606518" y="1215455"/>
                  <a:ext cx="2597116" cy="829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sz="2400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Línea </a:t>
                  </a: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de campo magnético</a:t>
                  </a:r>
                  <a:endParaRPr lang="es-ES" sz="2400" dirty="0">
                    <a:solidFill>
                      <a:srgbClr val="008000"/>
                    </a:solidFill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39966" name="Conector recto de flecha 15"/>
                <p:cNvCxnSpPr>
                  <a:cxnSpLocks noChangeShapeType="1"/>
                </p:cNvCxnSpPr>
                <p:nvPr/>
              </p:nvCxnSpPr>
              <p:spPr bwMode="auto">
                <a:xfrm>
                  <a:off x="3261937" y="1965209"/>
                  <a:ext cx="520500" cy="320490"/>
                </a:xfrm>
                <a:prstGeom prst="straightConnector1">
                  <a:avLst/>
                </a:prstGeom>
                <a:noFill/>
                <a:ln w="25400" algn="ctr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sp>
        <p:nvSpPr>
          <p:cNvPr id="39996" name="Text Box 156"/>
          <p:cNvSpPr txBox="1">
            <a:spLocks noChangeArrowheads="1"/>
          </p:cNvSpPr>
          <p:nvPr/>
        </p:nvSpPr>
        <p:spPr bwMode="auto">
          <a:xfrm>
            <a:off x="4074901" y="3302799"/>
            <a:ext cx="101342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crece</a:t>
            </a:r>
          </a:p>
        </p:txBody>
      </p:sp>
      <p:sp>
        <p:nvSpPr>
          <p:cNvPr id="82" name="CuadroTexto 5"/>
          <p:cNvSpPr txBox="1">
            <a:spLocks noChangeArrowheads="1"/>
          </p:cNvSpPr>
          <p:nvPr/>
        </p:nvSpPr>
        <p:spPr bwMode="auto">
          <a:xfrm>
            <a:off x="3896275" y="1844271"/>
            <a:ext cx="16284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 err="1">
                <a:solidFill>
                  <a:srgbClr val="008000"/>
                </a:solidFill>
                <a:latin typeface="Arial" panose="020B0604020202020204" pitchFamily="34" charset="0"/>
              </a:rPr>
              <a:t>antihorario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79" name="Group 96"/>
          <p:cNvGrpSpPr>
            <a:grpSpLocks/>
          </p:cNvGrpSpPr>
          <p:nvPr/>
        </p:nvGrpSpPr>
        <p:grpSpPr bwMode="auto">
          <a:xfrm rot="411067">
            <a:off x="5328030" y="2549298"/>
            <a:ext cx="431800" cy="420688"/>
            <a:chOff x="6083" y="3089"/>
            <a:chExt cx="272" cy="265"/>
          </a:xfrm>
        </p:grpSpPr>
        <p:sp>
          <p:nvSpPr>
            <p:cNvPr id="80" name="Line 97"/>
            <p:cNvSpPr>
              <a:spLocks noChangeShapeType="1"/>
            </p:cNvSpPr>
            <p:nvPr/>
          </p:nvSpPr>
          <p:spPr bwMode="auto">
            <a:xfrm rot="10415585" flipH="1">
              <a:off x="6098" y="3207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1" name="Line 98"/>
            <p:cNvSpPr>
              <a:spLocks noChangeShapeType="1"/>
            </p:cNvSpPr>
            <p:nvPr/>
          </p:nvSpPr>
          <p:spPr bwMode="auto">
            <a:xfrm rot="10415585">
              <a:off x="6083" y="3089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4" name="Oval 99"/>
            <p:cNvSpPr>
              <a:spLocks noChangeArrowheads="1"/>
            </p:cNvSpPr>
            <p:nvPr/>
          </p:nvSpPr>
          <p:spPr bwMode="auto">
            <a:xfrm rot="10415585">
              <a:off x="6132" y="3128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3" name="Oval 91">
            <a:extLst>
              <a:ext uri="{FF2B5EF4-FFF2-40B4-BE49-F238E27FC236}">
                <a16:creationId xmlns:a16="http://schemas.microsoft.com/office/drawing/2014/main" id="{DC515DB1-4D1E-4A39-93F7-5F085F6F7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478" y="5012485"/>
            <a:ext cx="979487" cy="881063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8" name="Line 92">
            <a:extLst>
              <a:ext uri="{FF2B5EF4-FFF2-40B4-BE49-F238E27FC236}">
                <a16:creationId xmlns:a16="http://schemas.microsoft.com/office/drawing/2014/main" id="{FC50195F-AB12-44C3-B68A-A2EB28545C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5157" y="5918896"/>
            <a:ext cx="6048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2CBD1E5-EBDD-4A19-869C-C76C0DFC159C}"/>
              </a:ext>
            </a:extLst>
          </p:cNvPr>
          <p:cNvGrpSpPr/>
          <p:nvPr/>
        </p:nvGrpSpPr>
        <p:grpSpPr>
          <a:xfrm>
            <a:off x="2820207" y="5993305"/>
            <a:ext cx="658812" cy="536575"/>
            <a:chOff x="3141222" y="5575013"/>
            <a:chExt cx="658812" cy="536575"/>
          </a:xfrm>
        </p:grpSpPr>
        <p:sp>
          <p:nvSpPr>
            <p:cNvPr id="89" name="Text Box 93">
              <a:extLst>
                <a:ext uri="{FF2B5EF4-FFF2-40B4-BE49-F238E27FC236}">
                  <a16:creationId xmlns:a16="http://schemas.microsoft.com/office/drawing/2014/main" id="{CA292875-81D9-4528-8DC8-DF355A5AA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1222" y="5575013"/>
              <a:ext cx="658812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ind</a:t>
              </a:r>
              <a:endPara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94">
              <a:extLst>
                <a:ext uri="{FF2B5EF4-FFF2-40B4-BE49-F238E27FC236}">
                  <a16:creationId xmlns:a16="http://schemas.microsoft.com/office/drawing/2014/main" id="{80C3B920-37FD-42F6-9B06-163FB3F5A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0759" y="5684551"/>
              <a:ext cx="212725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92" name="CuadroTexto 5">
            <a:extLst>
              <a:ext uri="{FF2B5EF4-FFF2-40B4-BE49-F238E27FC236}">
                <a16:creationId xmlns:a16="http://schemas.microsoft.com/office/drawing/2014/main" id="{5B885D81-13C8-417E-80C9-C11D11CD1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207" y="6452594"/>
            <a:ext cx="12333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horario</a:t>
            </a:r>
          </a:p>
        </p:txBody>
      </p:sp>
      <p:grpSp>
        <p:nvGrpSpPr>
          <p:cNvPr id="93" name="Group 96">
            <a:extLst>
              <a:ext uri="{FF2B5EF4-FFF2-40B4-BE49-F238E27FC236}">
                <a16:creationId xmlns:a16="http://schemas.microsoft.com/office/drawing/2014/main" id="{63F9656E-D95E-4E18-A399-5B6216FC556A}"/>
              </a:ext>
            </a:extLst>
          </p:cNvPr>
          <p:cNvGrpSpPr>
            <a:grpSpLocks/>
          </p:cNvGrpSpPr>
          <p:nvPr/>
        </p:nvGrpSpPr>
        <p:grpSpPr bwMode="auto">
          <a:xfrm rot="411067">
            <a:off x="5318979" y="4006796"/>
            <a:ext cx="431800" cy="420688"/>
            <a:chOff x="6083" y="3089"/>
            <a:chExt cx="272" cy="265"/>
          </a:xfrm>
        </p:grpSpPr>
        <p:sp>
          <p:nvSpPr>
            <p:cNvPr id="94" name="Line 97">
              <a:extLst>
                <a:ext uri="{FF2B5EF4-FFF2-40B4-BE49-F238E27FC236}">
                  <a16:creationId xmlns:a16="http://schemas.microsoft.com/office/drawing/2014/main" id="{4946F4B0-E3BC-459A-B1F8-83B10922B4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415585" flipH="1">
              <a:off x="6098" y="3207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7" name="Line 98">
              <a:extLst>
                <a:ext uri="{FF2B5EF4-FFF2-40B4-BE49-F238E27FC236}">
                  <a16:creationId xmlns:a16="http://schemas.microsoft.com/office/drawing/2014/main" id="{5C231464-7F01-4EC1-8BD0-9937CD2666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415585">
              <a:off x="6083" y="3089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8" name="Oval 99">
              <a:extLst>
                <a:ext uri="{FF2B5EF4-FFF2-40B4-BE49-F238E27FC236}">
                  <a16:creationId xmlns:a16="http://schemas.microsoft.com/office/drawing/2014/main" id="{E3953FC1-F5CF-493D-82C0-1A4D4D81E3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15585">
              <a:off x="6132" y="3128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95" name="Text Box 167">
            <a:extLst>
              <a:ext uri="{FF2B5EF4-FFF2-40B4-BE49-F238E27FC236}">
                <a16:creationId xmlns:a16="http://schemas.microsoft.com/office/drawing/2014/main" id="{9CB2787C-69F9-46D6-81FA-2D8CB1AFB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759" y="5914279"/>
            <a:ext cx="2787656" cy="905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 se opone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al aumento de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86" name="Text Box 156">
            <a:extLst>
              <a:ext uri="{FF2B5EF4-FFF2-40B4-BE49-F238E27FC236}">
                <a16:creationId xmlns:a16="http://schemas.microsoft.com/office/drawing/2014/main" id="{8B9596DF-E580-4CF7-A62F-D35055751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2222" y="4884876"/>
            <a:ext cx="2036001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arriba crece hacia fuera</a:t>
            </a:r>
          </a:p>
        </p:txBody>
      </p:sp>
      <p:sp>
        <p:nvSpPr>
          <p:cNvPr id="102" name="Text Box 202">
            <a:extLst>
              <a:ext uri="{FF2B5EF4-FFF2-40B4-BE49-F238E27FC236}">
                <a16:creationId xmlns:a16="http://schemas.microsoft.com/office/drawing/2014/main" id="{18D4D914-A7E0-4196-B13D-68DBD26F5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0909" y="5130428"/>
            <a:ext cx="61777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&gt;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04" name="Text Box 167">
            <a:extLst>
              <a:ext uri="{FF2B5EF4-FFF2-40B4-BE49-F238E27FC236}">
                <a16:creationId xmlns:a16="http://schemas.microsoft.com/office/drawing/2014/main" id="{8A19907F-C1BE-4EF1-8680-DF754C409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809" y="853307"/>
            <a:ext cx="6793159" cy="48777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Veamos el fenómeno asociado cualitativamente</a:t>
            </a:r>
            <a:endParaRPr lang="es-E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5962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0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69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14" grpId="0"/>
      <p:bldP spid="692426" grpId="0"/>
      <p:bldP spid="39996" grpId="0"/>
      <p:bldP spid="82" grpId="0"/>
      <p:bldP spid="83" grpId="0" animBg="1"/>
      <p:bldP spid="88" grpId="0" animBg="1"/>
      <p:bldP spid="92" grpId="0"/>
      <p:bldP spid="95" grpId="0" animBg="1"/>
      <p:bldP spid="86" grpId="0"/>
      <p:bldP spid="102" grpId="0"/>
      <p:bldP spid="1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Line 80">
            <a:extLst>
              <a:ext uri="{FF2B5EF4-FFF2-40B4-BE49-F238E27FC236}">
                <a16:creationId xmlns:a16="http://schemas.microsoft.com/office/drawing/2014/main" id="{7941BF22-E697-452C-93B1-F25F5BDBB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9172" y="5913578"/>
            <a:ext cx="35433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sp>
        <p:nvSpPr>
          <p:cNvPr id="67" name="Line 81">
            <a:extLst>
              <a:ext uri="{FF2B5EF4-FFF2-40B4-BE49-F238E27FC236}">
                <a16:creationId xmlns:a16="http://schemas.microsoft.com/office/drawing/2014/main" id="{766DD737-202A-4969-8249-7C19F3145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9372" y="5913578"/>
            <a:ext cx="3270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sp>
        <p:nvSpPr>
          <p:cNvPr id="68" name="Text Box 82">
            <a:extLst>
              <a:ext uri="{FF2B5EF4-FFF2-40B4-BE49-F238E27FC236}">
                <a16:creationId xmlns:a16="http://schemas.microsoft.com/office/drawing/2014/main" id="{82AC23DE-AFDA-4C4A-B3AD-AAD9A98A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359" y="5342078"/>
            <a:ext cx="7191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</a:rPr>
              <a:t>I(t)</a:t>
            </a:r>
          </a:p>
        </p:txBody>
      </p:sp>
      <p:sp>
        <p:nvSpPr>
          <p:cNvPr id="69" name="Text Box 83">
            <a:extLst>
              <a:ext uri="{FF2B5EF4-FFF2-40B4-BE49-F238E27FC236}">
                <a16:creationId xmlns:a16="http://schemas.microsoft.com/office/drawing/2014/main" id="{1AC66D9C-5518-4ACF-9FDA-3D08C0198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884" y="5975491"/>
            <a:ext cx="12779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decrece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3B35B029-7DA2-437E-B06E-ADEC5DB16C9F}"/>
              </a:ext>
            </a:extLst>
          </p:cNvPr>
          <p:cNvGrpSpPr/>
          <p:nvPr/>
        </p:nvGrpSpPr>
        <p:grpSpPr>
          <a:xfrm>
            <a:off x="3459609" y="5034955"/>
            <a:ext cx="677865" cy="1465263"/>
            <a:chOff x="3485228" y="2940267"/>
            <a:chExt cx="677865" cy="1465263"/>
          </a:xfrm>
        </p:grpSpPr>
        <p:sp>
          <p:nvSpPr>
            <p:cNvPr id="71" name="Line 84">
              <a:extLst>
                <a:ext uri="{FF2B5EF4-FFF2-40B4-BE49-F238E27FC236}">
                  <a16:creationId xmlns:a16="http://schemas.microsoft.com/office/drawing/2014/main" id="{1C9ED6AC-EEC3-4001-AF88-B1EEE6E9F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191" y="3449855"/>
              <a:ext cx="0" cy="75088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2" name="Text Box 85">
              <a:extLst>
                <a:ext uri="{FF2B5EF4-FFF2-40B4-BE49-F238E27FC236}">
                  <a16:creationId xmlns:a16="http://schemas.microsoft.com/office/drawing/2014/main" id="{3B7FE22B-B197-41D3-A04F-2FEB8823A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228" y="2940267"/>
              <a:ext cx="677865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B(t)</a:t>
              </a:r>
            </a:p>
          </p:txBody>
        </p:sp>
        <p:sp>
          <p:nvSpPr>
            <p:cNvPr id="73" name="Line 86">
              <a:extLst>
                <a:ext uri="{FF2B5EF4-FFF2-40B4-BE49-F238E27FC236}">
                  <a16:creationId xmlns:a16="http://schemas.microsoft.com/office/drawing/2014/main" id="{00D9FBF6-4842-4BB9-9ADD-6C8B786F6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4128" y="3057742"/>
              <a:ext cx="21272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74" name="Oval 87">
              <a:extLst>
                <a:ext uri="{FF2B5EF4-FFF2-40B4-BE49-F238E27FC236}">
                  <a16:creationId xmlns:a16="http://schemas.microsoft.com/office/drawing/2014/main" id="{6D763803-1BCC-4698-8767-1804E2FAF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641" y="3386355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Oval 88">
              <a:extLst>
                <a:ext uri="{FF2B5EF4-FFF2-40B4-BE49-F238E27FC236}">
                  <a16:creationId xmlns:a16="http://schemas.microsoft.com/office/drawing/2014/main" id="{C5DDB375-83D8-4B3C-906E-9CAC1695E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816" y="4092793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Text Box 89">
              <a:extLst>
                <a:ext uri="{FF2B5EF4-FFF2-40B4-BE49-F238E27FC236}">
                  <a16:creationId xmlns:a16="http://schemas.microsoft.com/office/drawing/2014/main" id="{9E15108B-DC70-4B25-B8D8-A83736B04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0791" y="3935630"/>
              <a:ext cx="307976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77" name="Text Box 90">
              <a:extLst>
                <a:ext uri="{FF2B5EF4-FFF2-40B4-BE49-F238E27FC236}">
                  <a16:creationId xmlns:a16="http://schemas.microsoft.com/office/drawing/2014/main" id="{EF955DCC-C811-4539-BCB7-531760649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3966" y="3216492"/>
              <a:ext cx="298451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FA0E8D6F-D192-4A30-83A2-554F87012AE1}"/>
              </a:ext>
            </a:extLst>
          </p:cNvPr>
          <p:cNvGrpSpPr/>
          <p:nvPr/>
        </p:nvGrpSpPr>
        <p:grpSpPr>
          <a:xfrm>
            <a:off x="1514168" y="3631753"/>
            <a:ext cx="3543300" cy="571500"/>
            <a:chOff x="1835183" y="3067541"/>
            <a:chExt cx="3543300" cy="571500"/>
          </a:xfrm>
        </p:grpSpPr>
        <p:sp>
          <p:nvSpPr>
            <p:cNvPr id="40011" name="Line 80"/>
            <p:cNvSpPr>
              <a:spLocks noChangeShapeType="1"/>
            </p:cNvSpPr>
            <p:nvPr/>
          </p:nvSpPr>
          <p:spPr bwMode="auto">
            <a:xfrm>
              <a:off x="1835183" y="3639041"/>
              <a:ext cx="3543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0012" name="Line 81"/>
            <p:cNvSpPr>
              <a:spLocks noChangeShapeType="1"/>
            </p:cNvSpPr>
            <p:nvPr/>
          </p:nvSpPr>
          <p:spPr bwMode="auto">
            <a:xfrm>
              <a:off x="2165383" y="3639041"/>
              <a:ext cx="3270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0013" name="Text Box 82"/>
            <p:cNvSpPr txBox="1">
              <a:spLocks noChangeArrowheads="1"/>
            </p:cNvSpPr>
            <p:nvPr/>
          </p:nvSpPr>
          <p:spPr bwMode="auto">
            <a:xfrm>
              <a:off x="1938371" y="3067541"/>
              <a:ext cx="719138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I(t)</a:t>
              </a:r>
            </a:p>
          </p:txBody>
        </p:sp>
      </p:grpSp>
      <p:sp>
        <p:nvSpPr>
          <p:cNvPr id="40014" name="Text Box 83"/>
          <p:cNvSpPr txBox="1">
            <a:spLocks noChangeArrowheads="1"/>
          </p:cNvSpPr>
          <p:nvPr/>
        </p:nvSpPr>
        <p:spPr bwMode="auto">
          <a:xfrm>
            <a:off x="1469718" y="4223891"/>
            <a:ext cx="127821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decrece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190"/>
          <p:cNvGrpSpPr>
            <a:grpSpLocks/>
          </p:cNvGrpSpPr>
          <p:nvPr/>
        </p:nvGrpSpPr>
        <p:grpSpPr bwMode="auto">
          <a:xfrm>
            <a:off x="1521054" y="2273891"/>
            <a:ext cx="3543300" cy="536576"/>
            <a:chOff x="1127" y="1071"/>
            <a:chExt cx="2232" cy="338"/>
          </a:xfrm>
        </p:grpSpPr>
        <p:sp>
          <p:nvSpPr>
            <p:cNvPr id="40004" name="Line 124"/>
            <p:cNvSpPr>
              <a:spLocks noChangeShapeType="1"/>
            </p:cNvSpPr>
            <p:nvPr/>
          </p:nvSpPr>
          <p:spPr bwMode="auto">
            <a:xfrm>
              <a:off x="1127" y="1364"/>
              <a:ext cx="22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0005" name="Line 126"/>
            <p:cNvSpPr>
              <a:spLocks noChangeShapeType="1"/>
            </p:cNvSpPr>
            <p:nvPr/>
          </p:nvSpPr>
          <p:spPr bwMode="auto">
            <a:xfrm>
              <a:off x="1343" y="1364"/>
              <a:ext cx="20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0006" name="Text Box 127"/>
            <p:cNvSpPr txBox="1">
              <a:spLocks noChangeArrowheads="1"/>
            </p:cNvSpPr>
            <p:nvPr/>
          </p:nvSpPr>
          <p:spPr bwMode="auto">
            <a:xfrm>
              <a:off x="1224" y="1071"/>
              <a:ext cx="22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21" name="Grupo 20"/>
          <p:cNvGrpSpPr>
            <a:grpSpLocks/>
          </p:cNvGrpSpPr>
          <p:nvPr/>
        </p:nvGrpSpPr>
        <p:grpSpPr bwMode="auto">
          <a:xfrm>
            <a:off x="3524479" y="2091327"/>
            <a:ext cx="307975" cy="1189036"/>
            <a:chOff x="3792538" y="1870947"/>
            <a:chExt cx="307975" cy="1189039"/>
          </a:xfrm>
        </p:grpSpPr>
        <p:sp>
          <p:nvSpPr>
            <p:cNvPr id="40000" name="Oval 133"/>
            <p:cNvSpPr>
              <a:spLocks noChangeArrowheads="1"/>
            </p:cNvSpPr>
            <p:nvPr/>
          </p:nvSpPr>
          <p:spPr bwMode="auto">
            <a:xfrm>
              <a:off x="3865563" y="2763124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1" name="Oval 132"/>
            <p:cNvSpPr>
              <a:spLocks noChangeArrowheads="1"/>
            </p:cNvSpPr>
            <p:nvPr/>
          </p:nvSpPr>
          <p:spPr bwMode="auto">
            <a:xfrm>
              <a:off x="3862388" y="2040811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2" name="Text Box 135"/>
            <p:cNvSpPr txBox="1">
              <a:spLocks noChangeArrowheads="1"/>
            </p:cNvSpPr>
            <p:nvPr/>
          </p:nvSpPr>
          <p:spPr bwMode="auto">
            <a:xfrm>
              <a:off x="3795713" y="1870947"/>
              <a:ext cx="298450" cy="469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40003" name="Text Box 134"/>
            <p:cNvSpPr txBox="1">
              <a:spLocks noChangeArrowheads="1"/>
            </p:cNvSpPr>
            <p:nvPr/>
          </p:nvSpPr>
          <p:spPr bwMode="auto">
            <a:xfrm>
              <a:off x="3792538" y="2590085"/>
              <a:ext cx="307975" cy="469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</p:grpSp>
      <p:grpSp>
        <p:nvGrpSpPr>
          <p:cNvPr id="7" name="Group 183"/>
          <p:cNvGrpSpPr>
            <a:grpSpLocks/>
          </p:cNvGrpSpPr>
          <p:nvPr/>
        </p:nvGrpSpPr>
        <p:grpSpPr bwMode="auto">
          <a:xfrm>
            <a:off x="6834377" y="3108053"/>
            <a:ext cx="2787656" cy="1700214"/>
            <a:chOff x="4750" y="599"/>
            <a:chExt cx="1756" cy="1071"/>
          </a:xfrm>
        </p:grpSpPr>
        <p:sp>
          <p:nvSpPr>
            <p:cNvPr id="39997" name="Rectangle 152"/>
            <p:cNvSpPr>
              <a:spLocks noChangeArrowheads="1"/>
            </p:cNvSpPr>
            <p:nvPr/>
          </p:nvSpPr>
          <p:spPr bwMode="auto">
            <a:xfrm>
              <a:off x="4750" y="1006"/>
              <a:ext cx="1756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9998" name="Object 153"/>
            <p:cNvGraphicFramePr>
              <a:graphicFrameLocks noChangeAspect="1"/>
            </p:cNvGraphicFramePr>
            <p:nvPr/>
          </p:nvGraphicFramePr>
          <p:xfrm>
            <a:off x="4787" y="1048"/>
            <a:ext cx="1672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31366" imgH="444307" progId="Equation.3">
                    <p:embed/>
                  </p:oleObj>
                </mc:Choice>
                <mc:Fallback>
                  <p:oleObj name="Ecuación" r:id="rId3" imgW="1231366" imgH="444307" progId="Equation.3">
                    <p:embed/>
                    <p:pic>
                      <p:nvPicPr>
                        <p:cNvPr id="39998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7" y="1048"/>
                          <a:ext cx="1672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99" name="Text Box 154"/>
            <p:cNvSpPr txBox="1">
              <a:spLocks noChangeArrowheads="1"/>
            </p:cNvSpPr>
            <p:nvPr/>
          </p:nvSpPr>
          <p:spPr bwMode="auto">
            <a:xfrm>
              <a:off x="4750" y="599"/>
              <a:ext cx="1756" cy="33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Ley de Inducción</a:t>
              </a: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3463966" y="3324630"/>
            <a:ext cx="677865" cy="1465263"/>
            <a:chOff x="3485228" y="2940267"/>
            <a:chExt cx="677865" cy="1465263"/>
          </a:xfrm>
        </p:grpSpPr>
        <p:sp>
          <p:nvSpPr>
            <p:cNvPr id="39989" name="Line 84"/>
            <p:cNvSpPr>
              <a:spLocks noChangeShapeType="1"/>
            </p:cNvSpPr>
            <p:nvPr/>
          </p:nvSpPr>
          <p:spPr bwMode="auto">
            <a:xfrm>
              <a:off x="3693191" y="3449855"/>
              <a:ext cx="0" cy="75088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9990" name="Text Box 85"/>
            <p:cNvSpPr txBox="1">
              <a:spLocks noChangeArrowheads="1"/>
            </p:cNvSpPr>
            <p:nvPr/>
          </p:nvSpPr>
          <p:spPr bwMode="auto">
            <a:xfrm>
              <a:off x="3485228" y="2940267"/>
              <a:ext cx="677865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B(t)</a:t>
              </a:r>
            </a:p>
          </p:txBody>
        </p:sp>
        <p:sp>
          <p:nvSpPr>
            <p:cNvPr id="39991" name="Line 86"/>
            <p:cNvSpPr>
              <a:spLocks noChangeShapeType="1"/>
            </p:cNvSpPr>
            <p:nvPr/>
          </p:nvSpPr>
          <p:spPr bwMode="auto">
            <a:xfrm>
              <a:off x="3574128" y="3057742"/>
              <a:ext cx="21272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39992" name="Oval 87"/>
            <p:cNvSpPr>
              <a:spLocks noChangeArrowheads="1"/>
            </p:cNvSpPr>
            <p:nvPr/>
          </p:nvSpPr>
          <p:spPr bwMode="auto">
            <a:xfrm>
              <a:off x="3610641" y="3386355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3" name="Oval 88"/>
            <p:cNvSpPr>
              <a:spLocks noChangeArrowheads="1"/>
            </p:cNvSpPr>
            <p:nvPr/>
          </p:nvSpPr>
          <p:spPr bwMode="auto">
            <a:xfrm>
              <a:off x="3613816" y="4092793"/>
              <a:ext cx="146050" cy="163513"/>
            </a:xfrm>
            <a:prstGeom prst="ellipse">
              <a:avLst/>
            </a:prstGeom>
            <a:solidFill>
              <a:srgbClr val="EDE7E3"/>
            </a:solidFill>
            <a:ln w="12700" algn="ctr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4" name="Text Box 89"/>
            <p:cNvSpPr txBox="1">
              <a:spLocks noChangeArrowheads="1"/>
            </p:cNvSpPr>
            <p:nvPr/>
          </p:nvSpPr>
          <p:spPr bwMode="auto">
            <a:xfrm>
              <a:off x="3540791" y="3935630"/>
              <a:ext cx="307976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39995" name="Text Box 90"/>
            <p:cNvSpPr txBox="1">
              <a:spLocks noChangeArrowheads="1"/>
            </p:cNvSpPr>
            <p:nvPr/>
          </p:nvSpPr>
          <p:spPr bwMode="auto">
            <a:xfrm>
              <a:off x="3543966" y="3216492"/>
              <a:ext cx="298451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</p:grpSp>
      <p:sp>
        <p:nvSpPr>
          <p:cNvPr id="692426" name="Text Box 202"/>
          <p:cNvSpPr txBox="1">
            <a:spLocks noChangeArrowheads="1"/>
          </p:cNvSpPr>
          <p:nvPr/>
        </p:nvSpPr>
        <p:spPr bwMode="auto">
          <a:xfrm>
            <a:off x="6987464" y="5121610"/>
            <a:ext cx="126057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&gt; 0   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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39996" name="Text Box 156"/>
          <p:cNvSpPr txBox="1">
            <a:spLocks noChangeArrowheads="1"/>
          </p:cNvSpPr>
          <p:nvPr/>
        </p:nvSpPr>
        <p:spPr bwMode="auto">
          <a:xfrm>
            <a:off x="4074901" y="3302799"/>
            <a:ext cx="132037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decrece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82" name="CuadroTexto 5"/>
          <p:cNvSpPr txBox="1">
            <a:spLocks noChangeArrowheads="1"/>
          </p:cNvSpPr>
          <p:nvPr/>
        </p:nvSpPr>
        <p:spPr bwMode="auto">
          <a:xfrm>
            <a:off x="3896275" y="1844271"/>
            <a:ext cx="16284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 err="1">
                <a:solidFill>
                  <a:srgbClr val="008000"/>
                </a:solidFill>
                <a:latin typeface="Arial" panose="020B0604020202020204" pitchFamily="34" charset="0"/>
              </a:rPr>
              <a:t>antihorario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79" name="Group 96"/>
          <p:cNvGrpSpPr>
            <a:grpSpLocks/>
          </p:cNvGrpSpPr>
          <p:nvPr/>
        </p:nvGrpSpPr>
        <p:grpSpPr bwMode="auto">
          <a:xfrm rot="411067">
            <a:off x="5328030" y="2549298"/>
            <a:ext cx="431800" cy="420688"/>
            <a:chOff x="6083" y="3089"/>
            <a:chExt cx="272" cy="265"/>
          </a:xfrm>
        </p:grpSpPr>
        <p:sp>
          <p:nvSpPr>
            <p:cNvPr id="80" name="Line 97"/>
            <p:cNvSpPr>
              <a:spLocks noChangeShapeType="1"/>
            </p:cNvSpPr>
            <p:nvPr/>
          </p:nvSpPr>
          <p:spPr bwMode="auto">
            <a:xfrm rot="10415585" flipH="1">
              <a:off x="6098" y="3207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1" name="Line 98"/>
            <p:cNvSpPr>
              <a:spLocks noChangeShapeType="1"/>
            </p:cNvSpPr>
            <p:nvPr/>
          </p:nvSpPr>
          <p:spPr bwMode="auto">
            <a:xfrm rot="10415585">
              <a:off x="6083" y="3089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4" name="Oval 99"/>
            <p:cNvSpPr>
              <a:spLocks noChangeArrowheads="1"/>
            </p:cNvSpPr>
            <p:nvPr/>
          </p:nvSpPr>
          <p:spPr bwMode="auto">
            <a:xfrm rot="10415585">
              <a:off x="6132" y="3128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3" name="Oval 91">
            <a:extLst>
              <a:ext uri="{FF2B5EF4-FFF2-40B4-BE49-F238E27FC236}">
                <a16:creationId xmlns:a16="http://schemas.microsoft.com/office/drawing/2014/main" id="{DC515DB1-4D1E-4A39-93F7-5F085F6F7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478" y="5012485"/>
            <a:ext cx="979487" cy="881063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8" name="Line 92">
            <a:extLst>
              <a:ext uri="{FF2B5EF4-FFF2-40B4-BE49-F238E27FC236}">
                <a16:creationId xmlns:a16="http://schemas.microsoft.com/office/drawing/2014/main" id="{FC50195F-AB12-44C3-B68A-A2EB28545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454" y="5918896"/>
            <a:ext cx="6048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2CBD1E5-EBDD-4A19-869C-C76C0DFC159C}"/>
              </a:ext>
            </a:extLst>
          </p:cNvPr>
          <p:cNvGrpSpPr/>
          <p:nvPr/>
        </p:nvGrpSpPr>
        <p:grpSpPr>
          <a:xfrm>
            <a:off x="2820207" y="5993305"/>
            <a:ext cx="658812" cy="536575"/>
            <a:chOff x="3141222" y="5575013"/>
            <a:chExt cx="658812" cy="536575"/>
          </a:xfrm>
        </p:grpSpPr>
        <p:sp>
          <p:nvSpPr>
            <p:cNvPr id="89" name="Text Box 93">
              <a:extLst>
                <a:ext uri="{FF2B5EF4-FFF2-40B4-BE49-F238E27FC236}">
                  <a16:creationId xmlns:a16="http://schemas.microsoft.com/office/drawing/2014/main" id="{CA292875-81D9-4528-8DC8-DF355A5AA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1222" y="5575013"/>
              <a:ext cx="658812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ind</a:t>
              </a:r>
              <a:endPara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94">
              <a:extLst>
                <a:ext uri="{FF2B5EF4-FFF2-40B4-BE49-F238E27FC236}">
                  <a16:creationId xmlns:a16="http://schemas.microsoft.com/office/drawing/2014/main" id="{80C3B920-37FD-42F6-9B06-163FB3F5A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0759" y="5684551"/>
              <a:ext cx="212725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92" name="CuadroTexto 5">
            <a:extLst>
              <a:ext uri="{FF2B5EF4-FFF2-40B4-BE49-F238E27FC236}">
                <a16:creationId xmlns:a16="http://schemas.microsoft.com/office/drawing/2014/main" id="{5B885D81-13C8-417E-80C9-C11D11CD1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343" y="6401090"/>
            <a:ext cx="1882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antihorario</a:t>
            </a:r>
          </a:p>
        </p:txBody>
      </p:sp>
      <p:grpSp>
        <p:nvGrpSpPr>
          <p:cNvPr id="93" name="Group 96">
            <a:extLst>
              <a:ext uri="{FF2B5EF4-FFF2-40B4-BE49-F238E27FC236}">
                <a16:creationId xmlns:a16="http://schemas.microsoft.com/office/drawing/2014/main" id="{63F9656E-D95E-4E18-A399-5B6216FC556A}"/>
              </a:ext>
            </a:extLst>
          </p:cNvPr>
          <p:cNvGrpSpPr>
            <a:grpSpLocks/>
          </p:cNvGrpSpPr>
          <p:nvPr/>
        </p:nvGrpSpPr>
        <p:grpSpPr bwMode="auto">
          <a:xfrm rot="411067">
            <a:off x="5318979" y="4006796"/>
            <a:ext cx="431800" cy="420688"/>
            <a:chOff x="6083" y="3089"/>
            <a:chExt cx="272" cy="265"/>
          </a:xfrm>
        </p:grpSpPr>
        <p:sp>
          <p:nvSpPr>
            <p:cNvPr id="94" name="Line 97">
              <a:extLst>
                <a:ext uri="{FF2B5EF4-FFF2-40B4-BE49-F238E27FC236}">
                  <a16:creationId xmlns:a16="http://schemas.microsoft.com/office/drawing/2014/main" id="{4946F4B0-E3BC-459A-B1F8-83B10922B4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415585" flipH="1">
              <a:off x="6098" y="3207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7" name="Line 98">
              <a:extLst>
                <a:ext uri="{FF2B5EF4-FFF2-40B4-BE49-F238E27FC236}">
                  <a16:creationId xmlns:a16="http://schemas.microsoft.com/office/drawing/2014/main" id="{5C231464-7F01-4EC1-8BD0-9937CD2666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415585">
              <a:off x="6083" y="3089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8" name="Oval 99">
              <a:extLst>
                <a:ext uri="{FF2B5EF4-FFF2-40B4-BE49-F238E27FC236}">
                  <a16:creationId xmlns:a16="http://schemas.microsoft.com/office/drawing/2014/main" id="{E3953FC1-F5CF-493D-82C0-1A4D4D81E3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415585">
              <a:off x="6132" y="3128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95" name="Text Box 167">
            <a:extLst>
              <a:ext uri="{FF2B5EF4-FFF2-40B4-BE49-F238E27FC236}">
                <a16:creationId xmlns:a16="http://schemas.microsoft.com/office/drawing/2014/main" id="{9CB2787C-69F9-46D6-81FA-2D8CB1AFB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759" y="5914279"/>
            <a:ext cx="2767815" cy="905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0" tIns="82800" rIns="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ind</a:t>
            </a:r>
            <a:r>
              <a:rPr lang="es-ES" sz="2400">
                <a:latin typeface="Arial" panose="020B0604020202020204" pitchFamily="34" charset="0"/>
              </a:rPr>
              <a:t> se opone 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disminución de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86" name="Text Box 156">
            <a:extLst>
              <a:ext uri="{FF2B5EF4-FFF2-40B4-BE49-F238E27FC236}">
                <a16:creationId xmlns:a16="http://schemas.microsoft.com/office/drawing/2014/main" id="{8B9596DF-E580-4CF7-A62F-D35055751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2222" y="4884876"/>
            <a:ext cx="217025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arriba decrece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hacia fuera</a:t>
            </a:r>
          </a:p>
        </p:txBody>
      </p:sp>
      <p:sp>
        <p:nvSpPr>
          <p:cNvPr id="102" name="Text Box 202">
            <a:extLst>
              <a:ext uri="{FF2B5EF4-FFF2-40B4-BE49-F238E27FC236}">
                <a16:creationId xmlns:a16="http://schemas.microsoft.com/office/drawing/2014/main" id="{18D4D914-A7E0-4196-B13D-68DBD26F5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0909" y="5130428"/>
            <a:ext cx="61777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&lt;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78" name="Grupo 77">
            <a:extLst>
              <a:ext uri="{FF2B5EF4-FFF2-40B4-BE49-F238E27FC236}">
                <a16:creationId xmlns:a16="http://schemas.microsoft.com/office/drawing/2014/main" id="{7CC33766-63AA-4D5C-9F10-0573183454D3}"/>
              </a:ext>
            </a:extLst>
          </p:cNvPr>
          <p:cNvGrpSpPr>
            <a:grpSpLocks/>
          </p:cNvGrpSpPr>
          <p:nvPr/>
        </p:nvGrpSpPr>
        <p:grpSpPr bwMode="auto">
          <a:xfrm>
            <a:off x="1338861" y="1434197"/>
            <a:ext cx="2596697" cy="1663608"/>
            <a:chOff x="1606518" y="1215455"/>
            <a:chExt cx="2597116" cy="1661240"/>
          </a:xfrm>
        </p:grpSpPr>
        <p:sp>
          <p:nvSpPr>
            <p:cNvPr id="85" name="Text Box 130">
              <a:extLst>
                <a:ext uri="{FF2B5EF4-FFF2-40B4-BE49-F238E27FC236}">
                  <a16:creationId xmlns:a16="http://schemas.microsoft.com/office/drawing/2014/main" id="{5E91382B-0AF2-4212-84B9-97F2D99B0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4751" y="1599484"/>
              <a:ext cx="387004" cy="535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87" name="Line 131">
              <a:extLst>
                <a:ext uri="{FF2B5EF4-FFF2-40B4-BE49-F238E27FC236}">
                  <a16:creationId xmlns:a16="http://schemas.microsoft.com/office/drawing/2014/main" id="{F9CB79AF-10B0-40A6-B98B-87348307FB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3975" y="1696322"/>
              <a:ext cx="212725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grpSp>
          <p:nvGrpSpPr>
            <p:cNvPr id="91" name="Grupo 17">
              <a:extLst>
                <a:ext uri="{FF2B5EF4-FFF2-40B4-BE49-F238E27FC236}">
                  <a16:creationId xmlns:a16="http://schemas.microsoft.com/office/drawing/2014/main" id="{CE6CC363-62F0-44D0-86EB-B2E3B773BF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6518" y="1215455"/>
              <a:ext cx="2597116" cy="1661240"/>
              <a:chOff x="1606518" y="1215455"/>
              <a:chExt cx="2597116" cy="1661240"/>
            </a:xfrm>
          </p:grpSpPr>
          <p:sp>
            <p:nvSpPr>
              <p:cNvPr id="96" name="Line 129">
                <a:extLst>
                  <a:ext uri="{FF2B5EF4-FFF2-40B4-BE49-F238E27FC236}">
                    <a16:creationId xmlns:a16="http://schemas.microsoft.com/office/drawing/2014/main" id="{CD566C0B-0586-4620-9703-02DE88D84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4938" y="2125806"/>
                <a:ext cx="0" cy="750889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grpSp>
            <p:nvGrpSpPr>
              <p:cNvPr id="99" name="Grupo 16">
                <a:extLst>
                  <a:ext uri="{FF2B5EF4-FFF2-40B4-BE49-F238E27FC236}">
                    <a16:creationId xmlns:a16="http://schemas.microsoft.com/office/drawing/2014/main" id="{D6F9B219-FE15-4437-8685-9A946565FB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06518" y="1215455"/>
                <a:ext cx="2597116" cy="1070244"/>
                <a:chOff x="1606518" y="1215455"/>
                <a:chExt cx="2597116" cy="1070244"/>
              </a:xfrm>
            </p:grpSpPr>
            <p:sp>
              <p:nvSpPr>
                <p:cNvPr id="100" name="CuadroTexto 5">
                  <a:extLst>
                    <a:ext uri="{FF2B5EF4-FFF2-40B4-BE49-F238E27FC236}">
                      <a16:creationId xmlns:a16="http://schemas.microsoft.com/office/drawing/2014/main" id="{2D646509-DB80-4856-BCE5-271688ACA6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6518" y="1215455"/>
                  <a:ext cx="2597116" cy="829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sz="2400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Línea </a:t>
                  </a: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de campo magnético</a:t>
                  </a:r>
                  <a:endParaRPr lang="es-ES" sz="2400" dirty="0">
                    <a:solidFill>
                      <a:srgbClr val="008000"/>
                    </a:solidFill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101" name="Conector recto de flecha 15">
                  <a:extLst>
                    <a:ext uri="{FF2B5EF4-FFF2-40B4-BE49-F238E27FC236}">
                      <a16:creationId xmlns:a16="http://schemas.microsoft.com/office/drawing/2014/main" id="{2D545CC2-AA49-46F8-BD77-5EF2019B658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261937" y="1965209"/>
                  <a:ext cx="520500" cy="320490"/>
                </a:xfrm>
                <a:prstGeom prst="straightConnector1">
                  <a:avLst/>
                </a:prstGeom>
                <a:noFill/>
                <a:ln w="25400" algn="ctr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</p:spTree>
    <p:extLst>
      <p:ext uri="{BB962C8B-B14F-4D97-AF65-F5344CB8AC3E}">
        <p14:creationId xmlns:p14="http://schemas.microsoft.com/office/powerpoint/2010/main" val="10405627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9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40014" grpId="0"/>
      <p:bldP spid="692426" grpId="0"/>
      <p:bldP spid="39996" grpId="0"/>
      <p:bldP spid="88" grpId="0" animBg="1"/>
      <p:bldP spid="92" grpId="0"/>
      <p:bldP spid="95" grpId="0" animBg="1"/>
      <p:bldP spid="86" grpId="0"/>
      <p:bldP spid="1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Box 178"/>
          <p:cNvSpPr txBox="1">
            <a:spLocks noChangeArrowheads="1"/>
          </p:cNvSpPr>
          <p:nvPr/>
        </p:nvSpPr>
        <p:spPr bwMode="auto">
          <a:xfrm>
            <a:off x="1802233" y="2629045"/>
            <a:ext cx="216759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</a:rPr>
              <a:t>El fenómeno se denomina:</a:t>
            </a:r>
          </a:p>
        </p:txBody>
      </p:sp>
      <p:sp>
        <p:nvSpPr>
          <p:cNvPr id="90" name="Text Box 179"/>
          <p:cNvSpPr txBox="1">
            <a:spLocks noChangeArrowheads="1"/>
          </p:cNvSpPr>
          <p:nvPr/>
        </p:nvSpPr>
        <p:spPr bwMode="auto">
          <a:xfrm>
            <a:off x="4380707" y="3007432"/>
            <a:ext cx="2830517" cy="587376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AUTOINDUCCIÓN</a:t>
            </a:r>
          </a:p>
        </p:txBody>
      </p:sp>
      <p:sp>
        <p:nvSpPr>
          <p:cNvPr id="91" name="Text Box 210"/>
          <p:cNvSpPr txBox="1">
            <a:spLocks noChangeArrowheads="1"/>
          </p:cNvSpPr>
          <p:nvPr/>
        </p:nvSpPr>
        <p:spPr bwMode="auto">
          <a:xfrm>
            <a:off x="1450844" y="4176417"/>
            <a:ext cx="8647889" cy="2383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82800" rIns="18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autoinducción, como la inducción, es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mayor a mayor frecuencia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del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(de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corriente o de la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tensión alternas que lo generan),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porque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para una misma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variación total de flujo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las variaciones de flujo por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unidad de tiempo son mayores (la derivada), al tener que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completarse en un menor tiempo (periodo) cada ciclo (oscilación)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" name="Group 183">
            <a:extLst>
              <a:ext uri="{FF2B5EF4-FFF2-40B4-BE49-F238E27FC236}">
                <a16:creationId xmlns:a16="http://schemas.microsoft.com/office/drawing/2014/main" id="{E5EFC1B1-C8F6-4A92-A478-77F805660796}"/>
              </a:ext>
            </a:extLst>
          </p:cNvPr>
          <p:cNvGrpSpPr>
            <a:grpSpLocks/>
          </p:cNvGrpSpPr>
          <p:nvPr/>
        </p:nvGrpSpPr>
        <p:grpSpPr bwMode="auto">
          <a:xfrm>
            <a:off x="4349714" y="426380"/>
            <a:ext cx="2787650" cy="1697038"/>
            <a:chOff x="4343" y="601"/>
            <a:chExt cx="1756" cy="1069"/>
          </a:xfrm>
        </p:grpSpPr>
        <p:sp>
          <p:nvSpPr>
            <p:cNvPr id="9" name="Rectangle 152">
              <a:extLst>
                <a:ext uri="{FF2B5EF4-FFF2-40B4-BE49-F238E27FC236}">
                  <a16:creationId xmlns:a16="http://schemas.microsoft.com/office/drawing/2014/main" id="{AC08957C-E4A4-4BAB-BCD4-725F574B9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1006"/>
              <a:ext cx="1756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Object 153">
              <a:extLst>
                <a:ext uri="{FF2B5EF4-FFF2-40B4-BE49-F238E27FC236}">
                  <a16:creationId xmlns:a16="http://schemas.microsoft.com/office/drawing/2014/main" id="{A07546EE-8D67-4474-A4CB-90C437BB29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92" y="1030"/>
            <a:ext cx="1672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31366" imgH="444307" progId="Equation.3">
                    <p:embed/>
                  </p:oleObj>
                </mc:Choice>
                <mc:Fallback>
                  <p:oleObj name="Ecuación" r:id="rId3" imgW="1231366" imgH="444307" progId="Equation.3">
                    <p:embed/>
                    <p:pic>
                      <p:nvPicPr>
                        <p:cNvPr id="10" name="Object 153">
                          <a:extLst>
                            <a:ext uri="{FF2B5EF4-FFF2-40B4-BE49-F238E27FC236}">
                              <a16:creationId xmlns:a16="http://schemas.microsoft.com/office/drawing/2014/main" id="{A07546EE-8D67-4474-A4CB-90C437BB29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" y="1030"/>
                          <a:ext cx="1672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54">
              <a:extLst>
                <a:ext uri="{FF2B5EF4-FFF2-40B4-BE49-F238E27FC236}">
                  <a16:creationId xmlns:a16="http://schemas.microsoft.com/office/drawing/2014/main" id="{589B1390-8E57-412F-BD78-71B9D95D0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601"/>
              <a:ext cx="1642" cy="35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Ley de Inducción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4277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90" grpId="0" animBg="1"/>
      <p:bldP spid="9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83">
            <a:extLst>
              <a:ext uri="{FF2B5EF4-FFF2-40B4-BE49-F238E27FC236}">
                <a16:creationId xmlns:a16="http://schemas.microsoft.com/office/drawing/2014/main" id="{E5EFC1B1-C8F6-4A92-A478-77F805660796}"/>
              </a:ext>
            </a:extLst>
          </p:cNvPr>
          <p:cNvGrpSpPr>
            <a:grpSpLocks/>
          </p:cNvGrpSpPr>
          <p:nvPr/>
        </p:nvGrpSpPr>
        <p:grpSpPr bwMode="auto">
          <a:xfrm>
            <a:off x="4349714" y="426380"/>
            <a:ext cx="2787650" cy="1697038"/>
            <a:chOff x="4343" y="601"/>
            <a:chExt cx="1756" cy="1069"/>
          </a:xfrm>
        </p:grpSpPr>
        <p:sp>
          <p:nvSpPr>
            <p:cNvPr id="9" name="Rectangle 152">
              <a:extLst>
                <a:ext uri="{FF2B5EF4-FFF2-40B4-BE49-F238E27FC236}">
                  <a16:creationId xmlns:a16="http://schemas.microsoft.com/office/drawing/2014/main" id="{AC08957C-E4A4-4BAB-BCD4-725F574B9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1006"/>
              <a:ext cx="1756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Object 153">
              <a:extLst>
                <a:ext uri="{FF2B5EF4-FFF2-40B4-BE49-F238E27FC236}">
                  <a16:creationId xmlns:a16="http://schemas.microsoft.com/office/drawing/2014/main" id="{A07546EE-8D67-4474-A4CB-90C437BB29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92" y="1030"/>
            <a:ext cx="1672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31366" imgH="444307" progId="Equation.3">
                    <p:embed/>
                  </p:oleObj>
                </mc:Choice>
                <mc:Fallback>
                  <p:oleObj name="Ecuación" r:id="rId3" imgW="1231366" imgH="444307" progId="Equation.3">
                    <p:embed/>
                    <p:pic>
                      <p:nvPicPr>
                        <p:cNvPr id="10" name="Object 153">
                          <a:extLst>
                            <a:ext uri="{FF2B5EF4-FFF2-40B4-BE49-F238E27FC236}">
                              <a16:creationId xmlns:a16="http://schemas.microsoft.com/office/drawing/2014/main" id="{A07546EE-8D67-4474-A4CB-90C437BB29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" y="1030"/>
                          <a:ext cx="1672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54">
              <a:extLst>
                <a:ext uri="{FF2B5EF4-FFF2-40B4-BE49-F238E27FC236}">
                  <a16:creationId xmlns:a16="http://schemas.microsoft.com/office/drawing/2014/main" id="{589B1390-8E57-412F-BD78-71B9D95D0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601"/>
              <a:ext cx="1642" cy="35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Ley de Inducción</a:t>
              </a:r>
            </a:p>
          </p:txBody>
        </p:sp>
      </p:grpSp>
      <p:sp>
        <p:nvSpPr>
          <p:cNvPr id="12" name="Text Box 210">
            <a:extLst>
              <a:ext uri="{FF2B5EF4-FFF2-40B4-BE49-F238E27FC236}">
                <a16:creationId xmlns:a16="http://schemas.microsoft.com/office/drawing/2014/main" id="{9DFD0899-94EA-46A1-AC66-39C40412D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421" y="2756027"/>
            <a:ext cx="8647889" cy="16954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se considera la sección del cable, el </a:t>
            </a:r>
            <a:r>
              <a:rPr lang="es-ES" sz="2400" b="1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es mayor hacia su centro. Esto provoca, p.ej., en alterna,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una corriente en el cable no homogénea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que es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mayor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 su superficie al existir menos oposición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(efecto skin o pelicular)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" name="Text Box 210">
            <a:extLst>
              <a:ext uri="{FF2B5EF4-FFF2-40B4-BE49-F238E27FC236}">
                <a16:creationId xmlns:a16="http://schemas.microsoft.com/office/drawing/2014/main" id="{15CDE539-79EE-41BD-8E7A-4D0F3012E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711" y="4704616"/>
            <a:ext cx="8647889" cy="206476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red eléctrica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los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cables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poseen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capas de resistencia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creciente hacia el exterior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con idea de compensarlo. Con ello se tiende a homogeneizar la corriente y la energía disipada en la sección de los cables, lo que permite tener corrientes más altas sin dañar los cables por calentamiento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88443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6" name="Text Box 81"/>
          <p:cNvSpPr txBox="1">
            <a:spLocks noChangeArrowheads="1"/>
          </p:cNvSpPr>
          <p:nvPr/>
        </p:nvSpPr>
        <p:spPr bwMode="auto">
          <a:xfrm>
            <a:off x="2142494" y="3908327"/>
            <a:ext cx="7272800" cy="13261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108000" rIns="180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autoinducción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será mayor 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mayor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porque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para una misma variación relativa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flujo, habrá una mayor variación absoluta de flujo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49650" name="Text Box 82"/>
          <p:cNvSpPr txBox="1">
            <a:spLocks noChangeArrowheads="1"/>
          </p:cNvSpPr>
          <p:nvPr/>
        </p:nvSpPr>
        <p:spPr bwMode="auto">
          <a:xfrm>
            <a:off x="2137024" y="5625884"/>
            <a:ext cx="7278269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108000" rIns="180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Para una porción de corriente B 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1/r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por tanto,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B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 mayor 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menor distancia a la fuente de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</a:p>
        </p:txBody>
      </p:sp>
      <p:grpSp>
        <p:nvGrpSpPr>
          <p:cNvPr id="42002" name="Group 183"/>
          <p:cNvGrpSpPr>
            <a:grpSpLocks/>
          </p:cNvGrpSpPr>
          <p:nvPr/>
        </p:nvGrpSpPr>
        <p:grpSpPr bwMode="auto">
          <a:xfrm>
            <a:off x="4364134" y="1099002"/>
            <a:ext cx="2787650" cy="1682750"/>
            <a:chOff x="4343" y="610"/>
            <a:chExt cx="1756" cy="1060"/>
          </a:xfrm>
        </p:grpSpPr>
        <p:sp>
          <p:nvSpPr>
            <p:cNvPr id="42003" name="Rectangle 152"/>
            <p:cNvSpPr>
              <a:spLocks noChangeArrowheads="1"/>
            </p:cNvSpPr>
            <p:nvPr/>
          </p:nvSpPr>
          <p:spPr bwMode="auto">
            <a:xfrm>
              <a:off x="4343" y="1006"/>
              <a:ext cx="1756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04" name="Object 153"/>
            <p:cNvGraphicFramePr>
              <a:graphicFrameLocks noChangeAspect="1"/>
            </p:cNvGraphicFramePr>
            <p:nvPr/>
          </p:nvGraphicFramePr>
          <p:xfrm>
            <a:off x="4392" y="1030"/>
            <a:ext cx="1672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31366" imgH="444307" progId="Equation.3">
                    <p:embed/>
                  </p:oleObj>
                </mc:Choice>
                <mc:Fallback>
                  <p:oleObj name="Ecuación" r:id="rId3" imgW="1231366" imgH="444307" progId="Equation.3">
                    <p:embed/>
                    <p:pic>
                      <p:nvPicPr>
                        <p:cNvPr id="42004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" y="1030"/>
                          <a:ext cx="1672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5" name="Text Box 154"/>
            <p:cNvSpPr txBox="1">
              <a:spLocks noChangeArrowheads="1"/>
            </p:cNvSpPr>
            <p:nvPr/>
          </p:nvSpPr>
          <p:spPr bwMode="auto">
            <a:xfrm>
              <a:off x="4417" y="610"/>
              <a:ext cx="1582" cy="33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Ley de Inducción</a:t>
              </a:r>
            </a:p>
          </p:txBody>
        </p:sp>
      </p:grpSp>
      <p:sp>
        <p:nvSpPr>
          <p:cNvPr id="22" name="Text Box 87"/>
          <p:cNvSpPr txBox="1">
            <a:spLocks noChangeArrowheads="1"/>
          </p:cNvSpPr>
          <p:nvPr/>
        </p:nvSpPr>
        <p:spPr bwMode="auto">
          <a:xfrm>
            <a:off x="1825219" y="346449"/>
            <a:ext cx="7876529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¿Qué hacer para reforzar la autoinducción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un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cable?</a:t>
            </a:r>
          </a:p>
        </p:txBody>
      </p:sp>
      <p:sp>
        <p:nvSpPr>
          <p:cNvPr id="26" name="Text Box 118"/>
          <p:cNvSpPr txBox="1">
            <a:spLocks noChangeArrowheads="1"/>
          </p:cNvSpPr>
          <p:nvPr/>
        </p:nvSpPr>
        <p:spPr bwMode="auto">
          <a:xfrm>
            <a:off x="5448417" y="3011273"/>
            <a:ext cx="404906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mayor variación de flujo</a:t>
            </a:r>
          </a:p>
        </p:txBody>
      </p:sp>
      <p:sp>
        <p:nvSpPr>
          <p:cNvPr id="42006" name="Text Box 118"/>
          <p:cNvSpPr txBox="1">
            <a:spLocks noChangeArrowheads="1"/>
          </p:cNvSpPr>
          <p:nvPr/>
        </p:nvSpPr>
        <p:spPr bwMode="auto">
          <a:xfrm>
            <a:off x="1940097" y="3040610"/>
            <a:ext cx="343156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mayor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autoinducción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8" name="AutoShape 86"/>
          <p:cNvSpPr>
            <a:spLocks noChangeArrowheads="1"/>
          </p:cNvSpPr>
          <p:nvPr/>
        </p:nvSpPr>
        <p:spPr bwMode="auto">
          <a:xfrm rot="10800000">
            <a:off x="5369854" y="3101609"/>
            <a:ext cx="264808" cy="430282"/>
          </a:xfrm>
          <a:prstGeom prst="rightArrow">
            <a:avLst>
              <a:gd name="adj1" fmla="val 50000"/>
              <a:gd name="adj2" fmla="val 48407"/>
            </a:avLst>
          </a:prstGeom>
          <a:solidFill>
            <a:srgbClr val="3333FF"/>
          </a:solidFill>
          <a:ln>
            <a:noFill/>
          </a:ln>
        </p:spPr>
        <p:txBody>
          <a:bodyPr rot="10800000" vert="eaVert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1209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2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4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6" grpId="0" animBg="1"/>
      <p:bldP spid="749650" grpId="0" animBg="1"/>
      <p:bldP spid="22" grpId="0" animBg="1"/>
      <p:bldP spid="26" grpId="0"/>
      <p:bldP spid="42006" grpId="0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86">
            <a:extLst>
              <a:ext uri="{FF2B5EF4-FFF2-40B4-BE49-F238E27FC236}">
                <a16:creationId xmlns:a16="http://schemas.microsoft.com/office/drawing/2014/main" id="{64FF1149-0BDA-48F0-BB77-B3A02CED6D1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39187" y="1322303"/>
            <a:ext cx="261630" cy="673100"/>
          </a:xfrm>
          <a:prstGeom prst="rightArrow">
            <a:avLst>
              <a:gd name="adj1" fmla="val 50000"/>
              <a:gd name="adj2" fmla="val 4840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rot="10800000" vert="eaVert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 Box 88">
            <a:extLst>
              <a:ext uri="{FF2B5EF4-FFF2-40B4-BE49-F238E27FC236}">
                <a16:creationId xmlns:a16="http://schemas.microsoft.com/office/drawing/2014/main" id="{6C8379B2-B010-480E-969E-0424224D4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9423" y="1969069"/>
            <a:ext cx="7687188" cy="8320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Para reforzar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autoinducción en cada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punto del cable hay que acercar el resto de puntos a él, a su entorno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694B81C-2430-4801-80D2-F6DD752EC6D4}"/>
              </a:ext>
            </a:extLst>
          </p:cNvPr>
          <p:cNvGrpSpPr>
            <a:grpSpLocks/>
          </p:cNvGrpSpPr>
          <p:nvPr/>
        </p:nvGrpSpPr>
        <p:grpSpPr bwMode="auto">
          <a:xfrm>
            <a:off x="2207746" y="3006057"/>
            <a:ext cx="7131461" cy="1302587"/>
            <a:chOff x="1422887" y="4256518"/>
            <a:chExt cx="7131461" cy="1302503"/>
          </a:xfrm>
        </p:grpSpPr>
        <p:sp>
          <p:nvSpPr>
            <p:cNvPr id="15" name="Text Box 85">
              <a:extLst>
                <a:ext uri="{FF2B5EF4-FFF2-40B4-BE49-F238E27FC236}">
                  <a16:creationId xmlns:a16="http://schemas.microsoft.com/office/drawing/2014/main" id="{308A95F6-47BE-4333-897A-34C7CFEA9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2887" y="4653199"/>
              <a:ext cx="7131461" cy="90582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Se consigue enrollando el cable para que además  las contribuciones tiendan así a no cancelarse</a:t>
              </a:r>
            </a:p>
          </p:txBody>
        </p:sp>
        <p:sp>
          <p:nvSpPr>
            <p:cNvPr id="16" name="AutoShape 91">
              <a:extLst>
                <a:ext uri="{FF2B5EF4-FFF2-40B4-BE49-F238E27FC236}">
                  <a16:creationId xmlns:a16="http://schemas.microsoft.com/office/drawing/2014/main" id="{D60DB317-24B7-4C17-B1D9-3AE8087835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4837585" y="4085039"/>
              <a:ext cx="292082" cy="635039"/>
            </a:xfrm>
            <a:prstGeom prst="rightArrow">
              <a:avLst>
                <a:gd name="adj1" fmla="val 50000"/>
                <a:gd name="adj2" fmla="val 4840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" name="Text Box 87">
            <a:extLst>
              <a:ext uri="{FF2B5EF4-FFF2-40B4-BE49-F238E27FC236}">
                <a16:creationId xmlns:a16="http://schemas.microsoft.com/office/drawing/2014/main" id="{D769A6D8-F7E9-4AC5-A9FF-8152C6B5C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225" y="5850690"/>
            <a:ext cx="1765550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BOBINA</a:t>
            </a:r>
          </a:p>
        </p:txBody>
      </p:sp>
      <p:sp>
        <p:nvSpPr>
          <p:cNvPr id="18" name="Text Box 127">
            <a:extLst>
              <a:ext uri="{FF2B5EF4-FFF2-40B4-BE49-F238E27FC236}">
                <a16:creationId xmlns:a16="http://schemas.microsoft.com/office/drawing/2014/main" id="{E1C2EB9A-18AC-4F84-BE41-2F0106B6B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536" y="5045909"/>
            <a:ext cx="191139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tiene una</a:t>
            </a:r>
          </a:p>
        </p:txBody>
      </p:sp>
      <p:sp>
        <p:nvSpPr>
          <p:cNvPr id="19" name="AutoShape 91">
            <a:extLst>
              <a:ext uri="{FF2B5EF4-FFF2-40B4-BE49-F238E27FC236}">
                <a16:creationId xmlns:a16="http://schemas.microsoft.com/office/drawing/2014/main" id="{0FA87519-D733-4823-AD6F-70F61EA3CD9F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626967" y="4375925"/>
            <a:ext cx="292100" cy="635000"/>
          </a:xfrm>
          <a:prstGeom prst="rightArrow">
            <a:avLst>
              <a:gd name="adj1" fmla="val 50000"/>
              <a:gd name="adj2" fmla="val 4840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Box 88">
            <a:extLst>
              <a:ext uri="{FF2B5EF4-FFF2-40B4-BE49-F238E27FC236}">
                <a16:creationId xmlns:a16="http://schemas.microsoft.com/office/drawing/2014/main" id="{561BCAE0-59C9-40E0-AD90-DBA8B60B5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746" y="522551"/>
            <a:ext cx="7131462" cy="83201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44000" tIns="82800" rIns="144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Aquí la fuente de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es cada porción de corriente que circula por cada trozo del cable</a:t>
            </a:r>
          </a:p>
        </p:txBody>
      </p:sp>
      <p:sp>
        <p:nvSpPr>
          <p:cNvPr id="23" name="Text Box 87">
            <a:extLst>
              <a:ext uri="{FF2B5EF4-FFF2-40B4-BE49-F238E27FC236}">
                <a16:creationId xmlns:a16="http://schemas.microsoft.com/office/drawing/2014/main" id="{48E12D93-BE98-47D0-8E1B-F8155EE7A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6120" y="5666023"/>
            <a:ext cx="1911398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Veamos las más simples</a:t>
            </a:r>
          </a:p>
        </p:txBody>
      </p:sp>
    </p:spTree>
    <p:extLst>
      <p:ext uri="{BB962C8B-B14F-4D97-AF65-F5344CB8AC3E}">
        <p14:creationId xmlns:p14="http://schemas.microsoft.com/office/powerpoint/2010/main" val="37072651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/>
      <p:bldP spid="19" grpId="0" animBg="1"/>
      <p:bldP spid="20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37BE7E3-3582-450C-8F53-D6FEA7E65C5A}"/>
              </a:ext>
            </a:extLst>
          </p:cNvPr>
          <p:cNvSpPr/>
          <p:nvPr/>
        </p:nvSpPr>
        <p:spPr bwMode="auto">
          <a:xfrm>
            <a:off x="1311113" y="2244559"/>
            <a:ext cx="4254769" cy="35433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296405" y="2244559"/>
            <a:ext cx="4267204" cy="3624263"/>
            <a:chOff x="5778496" y="2176463"/>
            <a:chExt cx="4267204" cy="3624263"/>
          </a:xfrm>
        </p:grpSpPr>
        <p:grpSp>
          <p:nvGrpSpPr>
            <p:cNvPr id="43045" name="Group 146"/>
            <p:cNvGrpSpPr>
              <a:grpSpLocks/>
            </p:cNvGrpSpPr>
            <p:nvPr/>
          </p:nvGrpSpPr>
          <p:grpSpPr bwMode="auto">
            <a:xfrm>
              <a:off x="6264275" y="2176463"/>
              <a:ext cx="3781425" cy="3624263"/>
              <a:chOff x="3859" y="1060"/>
              <a:chExt cx="2382" cy="2283"/>
            </a:xfrm>
          </p:grpSpPr>
          <p:sp>
            <p:nvSpPr>
              <p:cNvPr id="43051" name="Line 113"/>
              <p:cNvSpPr>
                <a:spLocks noChangeShapeType="1"/>
              </p:cNvSpPr>
              <p:nvPr/>
            </p:nvSpPr>
            <p:spPr bwMode="auto">
              <a:xfrm rot="5400000">
                <a:off x="5763" y="2245"/>
                <a:ext cx="77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pic>
            <p:nvPicPr>
              <p:cNvPr id="43053" name="Picture 111"/>
              <p:cNvPicPr preferRelativeResize="0"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9" y="1060"/>
                <a:ext cx="2259" cy="2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</p:pic>
          <p:sp>
            <p:nvSpPr>
              <p:cNvPr id="43054" name="Line 112"/>
              <p:cNvSpPr>
                <a:spLocks noChangeShapeType="1"/>
              </p:cNvSpPr>
              <p:nvPr/>
            </p:nvSpPr>
            <p:spPr bwMode="auto">
              <a:xfrm>
                <a:off x="4302" y="1536"/>
                <a:ext cx="141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43055" name="Text Box 73"/>
              <p:cNvSpPr txBox="1">
                <a:spLocks noChangeArrowheads="1"/>
              </p:cNvSpPr>
              <p:nvPr/>
            </p:nvSpPr>
            <p:spPr bwMode="auto">
              <a:xfrm>
                <a:off x="4884" y="1384"/>
                <a:ext cx="204" cy="2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43060" name="Text Box 144"/>
              <p:cNvSpPr txBox="1">
                <a:spLocks noChangeArrowheads="1"/>
              </p:cNvSpPr>
              <p:nvPr/>
            </p:nvSpPr>
            <p:spPr bwMode="auto">
              <a:xfrm>
                <a:off x="4811" y="2656"/>
                <a:ext cx="1293" cy="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Núcleo</a:t>
                </a:r>
              </a:p>
              <a:p>
                <a:pPr algn="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cilíndrico</a:t>
                </a:r>
              </a:p>
              <a:p>
                <a:pPr algn="r" eaLnBrk="1" hangingPunct="1">
                  <a:spcBef>
                    <a:spcPts val="0"/>
                  </a:spcBef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[ferromagnético] </a:t>
                </a:r>
                <a:endParaRPr lang="es-ES" sz="20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3052" name="Text Box 72"/>
              <p:cNvSpPr txBox="1">
                <a:spLocks noChangeArrowheads="1"/>
              </p:cNvSpPr>
              <p:nvPr/>
            </p:nvSpPr>
            <p:spPr bwMode="auto">
              <a:xfrm>
                <a:off x="6038" y="2100"/>
                <a:ext cx="203" cy="2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</a:t>
                </a:r>
              </a:p>
            </p:txBody>
          </p:sp>
        </p:grpSp>
        <p:sp>
          <p:nvSpPr>
            <p:cNvPr id="43046" name="Line 145"/>
            <p:cNvSpPr>
              <a:spLocks noChangeShapeType="1"/>
            </p:cNvSpPr>
            <p:nvPr/>
          </p:nvSpPr>
          <p:spPr bwMode="auto">
            <a:xfrm flipV="1">
              <a:off x="9419145" y="4547561"/>
              <a:ext cx="0" cy="216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pSp>
          <p:nvGrpSpPr>
            <p:cNvPr id="43047" name="Group 179"/>
            <p:cNvGrpSpPr>
              <a:grpSpLocks/>
            </p:cNvGrpSpPr>
            <p:nvPr/>
          </p:nvGrpSpPr>
          <p:grpSpPr bwMode="auto">
            <a:xfrm>
              <a:off x="5778496" y="3590928"/>
              <a:ext cx="4008438" cy="477838"/>
              <a:chOff x="3553" y="1959"/>
              <a:chExt cx="2525" cy="301"/>
            </a:xfrm>
          </p:grpSpPr>
          <p:sp>
            <p:nvSpPr>
              <p:cNvPr id="43049" name="Line 176"/>
              <p:cNvSpPr>
                <a:spLocks noChangeShapeType="1"/>
              </p:cNvSpPr>
              <p:nvPr/>
            </p:nvSpPr>
            <p:spPr bwMode="auto">
              <a:xfrm flipH="1">
                <a:off x="5920" y="2260"/>
                <a:ext cx="15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43048" name="Line 175"/>
              <p:cNvSpPr>
                <a:spLocks noChangeShapeType="1"/>
              </p:cNvSpPr>
              <p:nvPr/>
            </p:nvSpPr>
            <p:spPr bwMode="auto">
              <a:xfrm flipH="1">
                <a:off x="3643" y="2260"/>
                <a:ext cx="36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 anchorCtr="1"/>
              <a:lstStyle/>
              <a:p>
                <a:endParaRPr lang="en-GB"/>
              </a:p>
            </p:txBody>
          </p:sp>
          <p:sp>
            <p:nvSpPr>
              <p:cNvPr id="43050" name="Text Box 178"/>
              <p:cNvSpPr txBox="1">
                <a:spLocks noChangeArrowheads="1"/>
              </p:cNvSpPr>
              <p:nvPr/>
            </p:nvSpPr>
            <p:spPr bwMode="auto">
              <a:xfrm>
                <a:off x="3553" y="1959"/>
                <a:ext cx="408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EJE</a:t>
                </a:r>
              </a:p>
            </p:txBody>
          </p:sp>
        </p:grpSp>
      </p:grp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1301693" y="338266"/>
            <a:ext cx="1991791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SOLENOIDE</a:t>
            </a:r>
          </a:p>
        </p:txBody>
      </p:sp>
      <p:grpSp>
        <p:nvGrpSpPr>
          <p:cNvPr id="3" name="Group 173"/>
          <p:cNvGrpSpPr>
            <a:grpSpLocks/>
          </p:cNvGrpSpPr>
          <p:nvPr/>
        </p:nvGrpSpPr>
        <p:grpSpPr bwMode="auto">
          <a:xfrm>
            <a:off x="5952666" y="3498143"/>
            <a:ext cx="2181225" cy="728662"/>
            <a:chOff x="1447" y="2132"/>
            <a:chExt cx="1374" cy="459"/>
          </a:xfrm>
        </p:grpSpPr>
        <p:sp>
          <p:nvSpPr>
            <p:cNvPr id="43043" name="Rectangle 4"/>
            <p:cNvSpPr>
              <a:spLocks noChangeArrowheads="1"/>
            </p:cNvSpPr>
            <p:nvPr/>
          </p:nvSpPr>
          <p:spPr bwMode="auto">
            <a:xfrm>
              <a:off x="1447" y="2132"/>
              <a:ext cx="1374" cy="459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3044" name="Object 5"/>
            <p:cNvGraphicFramePr>
              <a:graphicFrameLocks noChangeAspect="1"/>
            </p:cNvGraphicFramePr>
            <p:nvPr/>
          </p:nvGraphicFramePr>
          <p:xfrm>
            <a:off x="1491" y="2132"/>
            <a:ext cx="131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4" imgW="812447" imgH="266584" progId="Equation.3">
                    <p:embed/>
                  </p:oleObj>
                </mc:Choice>
                <mc:Fallback>
                  <p:oleObj name="Ecuación" r:id="rId4" imgW="812447" imgH="266584" progId="Equation.3">
                    <p:embed/>
                    <p:pic>
                      <p:nvPicPr>
                        <p:cNvPr id="4304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1" y="2132"/>
                          <a:ext cx="131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6199" name="Text Box 7"/>
          <p:cNvSpPr txBox="1">
            <a:spLocks noChangeArrowheads="1"/>
          </p:cNvSpPr>
          <p:nvPr/>
        </p:nvSpPr>
        <p:spPr bwMode="auto">
          <a:xfrm>
            <a:off x="5940596" y="1763582"/>
            <a:ext cx="1106691" cy="48777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Dentro</a:t>
            </a:r>
          </a:p>
        </p:txBody>
      </p:sp>
      <p:sp>
        <p:nvSpPr>
          <p:cNvPr id="776275" name="Text Box 83"/>
          <p:cNvSpPr txBox="1">
            <a:spLocks noChangeArrowheads="1"/>
          </p:cNvSpPr>
          <p:nvPr/>
        </p:nvSpPr>
        <p:spPr bwMode="auto">
          <a:xfrm>
            <a:off x="5933595" y="4622394"/>
            <a:ext cx="463490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n: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vueltas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por unidad de longitud</a:t>
            </a:r>
          </a:p>
        </p:txBody>
      </p:sp>
      <p:sp>
        <p:nvSpPr>
          <p:cNvPr id="776282" name="Text Box 90"/>
          <p:cNvSpPr txBox="1">
            <a:spLocks noChangeArrowheads="1"/>
          </p:cNvSpPr>
          <p:nvPr/>
        </p:nvSpPr>
        <p:spPr bwMode="auto">
          <a:xfrm>
            <a:off x="5930516" y="2265547"/>
            <a:ext cx="4344693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Considerándola larga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(L &gt;&gt; d)</a:t>
            </a:r>
            <a:r>
              <a:rPr lang="es-ES" sz="2400" dirty="0">
                <a:latin typeface="Arial" panose="020B0604020202020204" pitchFamily="34" charset="0"/>
              </a:rPr>
              <a:t>, es despreciable el efecto de borde y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resulta </a:t>
            </a:r>
            <a:r>
              <a:rPr lang="es-ES" sz="2400" b="1" dirty="0">
                <a:latin typeface="Arial" panose="020B0604020202020204" pitchFamily="34" charset="0"/>
              </a:rPr>
              <a:t>uniforme</a:t>
            </a:r>
            <a:r>
              <a:rPr lang="es-ES" sz="2400" dirty="0">
                <a:latin typeface="Arial" panose="020B0604020202020204" pitchFamily="34" charset="0"/>
              </a:rPr>
              <a:t>:</a:t>
            </a:r>
          </a:p>
        </p:txBody>
      </p:sp>
      <p:grpSp>
        <p:nvGrpSpPr>
          <p:cNvPr id="4" name="Group 148"/>
          <p:cNvGrpSpPr>
            <a:grpSpLocks/>
          </p:cNvGrpSpPr>
          <p:nvPr/>
        </p:nvGrpSpPr>
        <p:grpSpPr bwMode="auto">
          <a:xfrm>
            <a:off x="2056822" y="3503446"/>
            <a:ext cx="3090862" cy="630238"/>
            <a:chOff x="4032" y="1853"/>
            <a:chExt cx="1947" cy="397"/>
          </a:xfrm>
        </p:grpSpPr>
        <p:sp>
          <p:nvSpPr>
            <p:cNvPr id="43039" name="Line 119"/>
            <p:cNvSpPr>
              <a:spLocks noChangeShapeType="1"/>
            </p:cNvSpPr>
            <p:nvPr/>
          </p:nvSpPr>
          <p:spPr bwMode="auto">
            <a:xfrm>
              <a:off x="4076" y="2248"/>
              <a:ext cx="17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43040" name="Line 120"/>
            <p:cNvSpPr>
              <a:spLocks noChangeShapeType="1"/>
            </p:cNvSpPr>
            <p:nvPr/>
          </p:nvSpPr>
          <p:spPr bwMode="auto">
            <a:xfrm>
              <a:off x="5744" y="2250"/>
              <a:ext cx="17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graphicFrame>
          <p:nvGraphicFramePr>
            <p:cNvPr id="43041" name="Object 122"/>
            <p:cNvGraphicFramePr>
              <a:graphicFrameLocks noChangeAspect="1"/>
            </p:cNvGraphicFramePr>
            <p:nvPr/>
          </p:nvGraphicFramePr>
          <p:xfrm>
            <a:off x="4032" y="1859"/>
            <a:ext cx="245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52268" imgH="203024" progId="Equation.3">
                    <p:embed/>
                  </p:oleObj>
                </mc:Choice>
                <mc:Fallback>
                  <p:oleObj name="Ecuación" r:id="rId6" imgW="152268" imgH="203024" progId="Equation.3">
                    <p:embed/>
                    <p:pic>
                      <p:nvPicPr>
                        <p:cNvPr id="43041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859"/>
                          <a:ext cx="245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2" name="Object 123"/>
            <p:cNvGraphicFramePr>
              <a:graphicFrameLocks noChangeAspect="1"/>
            </p:cNvGraphicFramePr>
            <p:nvPr/>
          </p:nvGraphicFramePr>
          <p:xfrm>
            <a:off x="5734" y="1853"/>
            <a:ext cx="245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52268" imgH="203024" progId="Equation.3">
                    <p:embed/>
                  </p:oleObj>
                </mc:Choice>
                <mc:Fallback>
                  <p:oleObj name="Ecuación" r:id="rId6" imgW="152268" imgH="203024" progId="Equation.3">
                    <p:embed/>
                    <p:pic>
                      <p:nvPicPr>
                        <p:cNvPr id="43042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4" y="1853"/>
                          <a:ext cx="245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47"/>
          <p:cNvGrpSpPr>
            <a:grpSpLocks/>
          </p:cNvGrpSpPr>
          <p:nvPr/>
        </p:nvGrpSpPr>
        <p:grpSpPr bwMode="auto">
          <a:xfrm>
            <a:off x="2013959" y="5332246"/>
            <a:ext cx="1111250" cy="331788"/>
            <a:chOff x="4005" y="3037"/>
            <a:chExt cx="700" cy="209"/>
          </a:xfrm>
        </p:grpSpPr>
        <p:sp>
          <p:nvSpPr>
            <p:cNvPr id="43036" name="Oval 136"/>
            <p:cNvSpPr>
              <a:spLocks noChangeArrowheads="1"/>
            </p:cNvSpPr>
            <p:nvPr/>
          </p:nvSpPr>
          <p:spPr bwMode="auto">
            <a:xfrm>
              <a:off x="4005" y="3086"/>
              <a:ext cx="700" cy="160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7" name="Line 137"/>
            <p:cNvSpPr>
              <a:spLocks noChangeShapeType="1"/>
            </p:cNvSpPr>
            <p:nvPr/>
          </p:nvSpPr>
          <p:spPr bwMode="auto">
            <a:xfrm flipV="1">
              <a:off x="4356" y="3239"/>
              <a:ext cx="117" cy="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43038" name="Rectangle 141"/>
            <p:cNvSpPr>
              <a:spLocks noChangeArrowheads="1"/>
            </p:cNvSpPr>
            <p:nvPr/>
          </p:nvSpPr>
          <p:spPr bwMode="auto">
            <a:xfrm>
              <a:off x="4330" y="3037"/>
              <a:ext cx="72" cy="94"/>
            </a:xfrm>
            <a:prstGeom prst="rect">
              <a:avLst/>
            </a:prstGeom>
            <a:solidFill>
              <a:srgbClr val="BD78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3034" name="Text Box 84"/>
          <p:cNvSpPr txBox="1">
            <a:spLocks noChangeArrowheads="1"/>
          </p:cNvSpPr>
          <p:nvPr/>
        </p:nvSpPr>
        <p:spPr bwMode="auto">
          <a:xfrm>
            <a:off x="8494116" y="3593452"/>
            <a:ext cx="1352551" cy="53657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n = N / L</a:t>
            </a:r>
          </a:p>
        </p:txBody>
      </p:sp>
      <p:sp>
        <p:nvSpPr>
          <p:cNvPr id="43035" name="Text Box 142"/>
          <p:cNvSpPr txBox="1">
            <a:spLocks noChangeArrowheads="1"/>
          </p:cNvSpPr>
          <p:nvPr/>
        </p:nvSpPr>
        <p:spPr bwMode="auto">
          <a:xfrm>
            <a:off x="5892203" y="5014269"/>
            <a:ext cx="1550988" cy="536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N: vueltas</a:t>
            </a:r>
          </a:p>
        </p:txBody>
      </p:sp>
      <p:sp>
        <p:nvSpPr>
          <p:cNvPr id="776335" name="Text Box 143"/>
          <p:cNvSpPr txBox="1">
            <a:spLocks noChangeArrowheads="1"/>
          </p:cNvSpPr>
          <p:nvPr/>
        </p:nvSpPr>
        <p:spPr bwMode="auto">
          <a:xfrm>
            <a:off x="5865577" y="5613307"/>
            <a:ext cx="4669075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siendo cada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vuelta</a:t>
            </a:r>
            <a:r>
              <a:rPr lang="es-ES" sz="2400" dirty="0">
                <a:latin typeface="Arial" panose="020B0604020202020204" pitchFamily="34" charset="0"/>
              </a:rPr>
              <a:t> una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espira </a:t>
            </a:r>
            <a:r>
              <a:rPr lang="es-ES" sz="2400" dirty="0">
                <a:latin typeface="Arial" panose="020B0604020202020204" pitchFamily="34" charset="0"/>
              </a:rPr>
              <a:t>(un circuito “cerrado”)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 al eje</a:t>
            </a:r>
            <a:r>
              <a:rPr lang="es-ES" sz="2400" dirty="0">
                <a:latin typeface="Arial" panose="020B0604020202020204" pitchFamily="34" charset="0"/>
              </a:rPr>
              <a:t>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Para ello </a:t>
            </a:r>
            <a:r>
              <a:rPr lang="es-ES" sz="2400">
                <a:latin typeface="Arial" panose="020B0604020202020204" pitchFamily="34" charset="0"/>
              </a:rPr>
              <a:t>deben estar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apretadas</a:t>
            </a:r>
          </a:p>
        </p:txBody>
      </p:sp>
      <p:graphicFrame>
        <p:nvGraphicFramePr>
          <p:cNvPr id="59" name="Object 166"/>
          <p:cNvGraphicFramePr>
            <a:graphicFrameLocks noChangeAspect="1"/>
          </p:cNvGraphicFramePr>
          <p:nvPr/>
        </p:nvGraphicFramePr>
        <p:xfrm>
          <a:off x="2866129" y="5010618"/>
          <a:ext cx="2921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52268" imgH="203024" progId="Equation.3">
                  <p:embed/>
                </p:oleObj>
              </mc:Choice>
              <mc:Fallback>
                <p:oleObj name="Ecuación" r:id="rId8" imgW="152268" imgH="203024" progId="Equation.3">
                  <p:embed/>
                  <p:pic>
                    <p:nvPicPr>
                      <p:cNvPr id="59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129" y="5010618"/>
                        <a:ext cx="292100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Group 147"/>
          <p:cNvGrpSpPr>
            <a:grpSpLocks/>
          </p:cNvGrpSpPr>
          <p:nvPr/>
        </p:nvGrpSpPr>
        <p:grpSpPr bwMode="auto">
          <a:xfrm>
            <a:off x="4148194" y="2801136"/>
            <a:ext cx="1111250" cy="312738"/>
            <a:chOff x="4005" y="3049"/>
            <a:chExt cx="700" cy="197"/>
          </a:xfrm>
        </p:grpSpPr>
        <p:sp>
          <p:nvSpPr>
            <p:cNvPr id="43031" name="Oval 136"/>
            <p:cNvSpPr>
              <a:spLocks noChangeArrowheads="1"/>
            </p:cNvSpPr>
            <p:nvPr/>
          </p:nvSpPr>
          <p:spPr bwMode="auto">
            <a:xfrm>
              <a:off x="4005" y="3086"/>
              <a:ext cx="700" cy="160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2" name="Line 137"/>
            <p:cNvSpPr>
              <a:spLocks noChangeShapeType="1"/>
            </p:cNvSpPr>
            <p:nvPr/>
          </p:nvSpPr>
          <p:spPr bwMode="auto">
            <a:xfrm flipV="1">
              <a:off x="4426" y="3239"/>
              <a:ext cx="117" cy="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43033" name="Rectangle 141"/>
            <p:cNvSpPr>
              <a:spLocks noChangeArrowheads="1"/>
            </p:cNvSpPr>
            <p:nvPr/>
          </p:nvSpPr>
          <p:spPr bwMode="auto">
            <a:xfrm>
              <a:off x="4324" y="3049"/>
              <a:ext cx="72" cy="94"/>
            </a:xfrm>
            <a:prstGeom prst="rect">
              <a:avLst/>
            </a:prstGeom>
            <a:solidFill>
              <a:srgbClr val="BD78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75" name="Object 166"/>
          <p:cNvGraphicFramePr>
            <a:graphicFrameLocks noChangeAspect="1"/>
          </p:cNvGraphicFramePr>
          <p:nvPr/>
        </p:nvGraphicFramePr>
        <p:xfrm>
          <a:off x="4082789" y="2423629"/>
          <a:ext cx="2921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52268" imgH="203024" progId="Equation.3">
                  <p:embed/>
                </p:oleObj>
              </mc:Choice>
              <mc:Fallback>
                <p:oleObj name="Ecuación" r:id="rId8" imgW="152268" imgH="203024" progId="Equation.3">
                  <p:embed/>
                  <p:pic>
                    <p:nvPicPr>
                      <p:cNvPr id="75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2789" y="2423629"/>
                        <a:ext cx="29210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143"/>
          <p:cNvSpPr txBox="1">
            <a:spLocks noChangeArrowheads="1"/>
          </p:cNvSpPr>
          <p:nvPr/>
        </p:nvSpPr>
        <p:spPr bwMode="auto">
          <a:xfrm>
            <a:off x="1301693" y="5948337"/>
            <a:ext cx="4264189" cy="905881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es antihoraria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respecto </a:t>
            </a:r>
            <a:r>
              <a:rPr lang="es-ES" sz="2400" dirty="0">
                <a:latin typeface="Arial" panose="020B0604020202020204" pitchFamily="34" charset="0"/>
              </a:rPr>
              <a:t>al sentido de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1311113" y="4190733"/>
            <a:ext cx="815559" cy="474662"/>
            <a:chOff x="1421296" y="4122637"/>
            <a:chExt cx="815559" cy="474662"/>
          </a:xfrm>
        </p:grpSpPr>
        <p:grpSp>
          <p:nvGrpSpPr>
            <p:cNvPr id="12" name="Grupo 11"/>
            <p:cNvGrpSpPr>
              <a:grpSpLocks/>
            </p:cNvGrpSpPr>
            <p:nvPr/>
          </p:nvGrpSpPr>
          <p:grpSpPr bwMode="auto">
            <a:xfrm>
              <a:off x="1421296" y="4122637"/>
              <a:ext cx="552450" cy="474662"/>
              <a:chOff x="4826269" y="2437601"/>
              <a:chExt cx="552052" cy="474994"/>
            </a:xfrm>
          </p:grpSpPr>
          <p:sp>
            <p:nvSpPr>
              <p:cNvPr id="43029" name="Text Box 75"/>
              <p:cNvSpPr txBox="1">
                <a:spLocks noChangeArrowheads="1"/>
              </p:cNvSpPr>
              <p:nvPr/>
            </p:nvSpPr>
            <p:spPr bwMode="auto">
              <a:xfrm>
                <a:off x="4826269" y="2437601"/>
                <a:ext cx="552052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 err="1">
                    <a:latin typeface="Arial" panose="020B0604020202020204" pitchFamily="34" charset="0"/>
                  </a:rPr>
                  <a:t>e</a:t>
                </a:r>
                <a:r>
                  <a:rPr lang="es-ES" sz="2400" baseline="-25000" dirty="0" err="1">
                    <a:latin typeface="Arial" panose="020B0604020202020204" pitchFamily="34" charset="0"/>
                  </a:rPr>
                  <a:t>eje</a:t>
                </a:r>
                <a:endParaRPr lang="es-ES" sz="2400" baseline="-25000" dirty="0">
                  <a:latin typeface="Arial" panose="020B0604020202020204" pitchFamily="34" charset="0"/>
                </a:endParaRPr>
              </a:p>
            </p:txBody>
          </p:sp>
          <p:cxnSp>
            <p:nvCxnSpPr>
              <p:cNvPr id="43030" name="Conector recto de flecha 10"/>
              <p:cNvCxnSpPr>
                <a:cxnSpLocks noChangeShapeType="1"/>
              </p:cNvCxnSpPr>
              <p:nvPr/>
            </p:nvCxnSpPr>
            <p:spPr bwMode="auto">
              <a:xfrm>
                <a:off x="4917469" y="2571051"/>
                <a:ext cx="211378" cy="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51" name="Conector recto de flecha 10"/>
            <p:cNvCxnSpPr>
              <a:cxnSpLocks noChangeShapeType="1"/>
            </p:cNvCxnSpPr>
            <p:nvPr/>
          </p:nvCxnSpPr>
          <p:spPr bwMode="auto">
            <a:xfrm flipV="1">
              <a:off x="1966980" y="4384675"/>
              <a:ext cx="269875" cy="635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6917" name="Text Box 53"/>
          <p:cNvSpPr txBox="1">
            <a:spLocks noChangeArrowheads="1"/>
          </p:cNvSpPr>
          <p:nvPr/>
        </p:nvSpPr>
        <p:spPr bwMode="auto">
          <a:xfrm>
            <a:off x="5943350" y="321509"/>
            <a:ext cx="4344693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sz="2400" dirty="0">
                <a:solidFill>
                  <a:srgbClr val="000000"/>
                </a:solidFill>
              </a:rPr>
              <a:t>Con el núcleo ferro</a:t>
            </a:r>
            <a:r>
              <a:rPr lang="es-ES" sz="24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s-ES" sz="2400" dirty="0">
                <a:solidFill>
                  <a:srgbClr val="000000"/>
                </a:solidFill>
              </a:rPr>
              <a:t>crece, al magnetizarse: el campo, el flujo y la autoinducción</a:t>
            </a:r>
          </a:p>
        </p:txBody>
      </p:sp>
      <p:sp>
        <p:nvSpPr>
          <p:cNvPr id="52" name="CuadroTexto 51"/>
          <p:cNvSpPr txBox="1">
            <a:spLocks noChangeArrowheads="1"/>
          </p:cNvSpPr>
          <p:nvPr/>
        </p:nvSpPr>
        <p:spPr bwMode="auto">
          <a:xfrm>
            <a:off x="1302489" y="1245146"/>
            <a:ext cx="4263393" cy="83099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El cable tiene un aislante que rodea al conductor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es-ES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baseline="-25000" dirty="0" err="1">
                <a:solidFill>
                  <a:schemeClr val="tx1"/>
                </a:solidFill>
              </a:rPr>
              <a:t>en</a:t>
            </a:r>
            <a:r>
              <a:rPr lang="es-ES" baseline="-25000" dirty="0">
                <a:solidFill>
                  <a:schemeClr val="tx1"/>
                </a:solidFill>
              </a:rPr>
              <a:t> espiral</a:t>
            </a:r>
            <a:endParaRPr lang="es-ES" sz="2400" baseline="-25000" dirty="0">
              <a:solidFill>
                <a:schemeClr val="tx1"/>
              </a:solidFill>
            </a:endParaRPr>
          </a:p>
        </p:txBody>
      </p:sp>
      <p:sp>
        <p:nvSpPr>
          <p:cNvPr id="53" name="CuadroTexto 52"/>
          <p:cNvSpPr txBox="1">
            <a:spLocks noChangeArrowheads="1"/>
          </p:cNvSpPr>
          <p:nvPr/>
        </p:nvSpPr>
        <p:spPr bwMode="auto">
          <a:xfrm>
            <a:off x="3392136" y="418054"/>
            <a:ext cx="207649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dirty="0">
                <a:solidFill>
                  <a:srgbClr val="FF0000"/>
                </a:solidFill>
              </a:rPr>
              <a:t>(bobinado con forma de tubo)</a:t>
            </a:r>
          </a:p>
        </p:txBody>
      </p:sp>
      <p:sp>
        <p:nvSpPr>
          <p:cNvPr id="54" name="Text Box 83"/>
          <p:cNvSpPr txBox="1">
            <a:spLocks noChangeArrowheads="1"/>
          </p:cNvSpPr>
          <p:nvPr/>
        </p:nvSpPr>
        <p:spPr bwMode="auto">
          <a:xfrm>
            <a:off x="5939877" y="4230518"/>
            <a:ext cx="395843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: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permeabilidad del núcleo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9B93648-920B-484F-91F4-C167178B1913}"/>
              </a:ext>
            </a:extLst>
          </p:cNvPr>
          <p:cNvGrpSpPr/>
          <p:nvPr/>
        </p:nvGrpSpPr>
        <p:grpSpPr>
          <a:xfrm>
            <a:off x="2072318" y="2355685"/>
            <a:ext cx="3076387" cy="3036721"/>
            <a:chOff x="2131701" y="2287589"/>
            <a:chExt cx="3076387" cy="3036721"/>
          </a:xfrm>
        </p:grpSpPr>
        <p:sp>
          <p:nvSpPr>
            <p:cNvPr id="55" name="Text Box 115">
              <a:extLst>
                <a:ext uri="{FF2B5EF4-FFF2-40B4-BE49-F238E27FC236}">
                  <a16:creationId xmlns:a16="http://schemas.microsoft.com/office/drawing/2014/main" id="{FF3062FA-7729-4DF4-92A5-44372B56C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1701" y="4746356"/>
              <a:ext cx="320675" cy="469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56" name="Line 117">
              <a:extLst>
                <a:ext uri="{FF2B5EF4-FFF2-40B4-BE49-F238E27FC236}">
                  <a16:creationId xmlns:a16="http://schemas.microsoft.com/office/drawing/2014/main" id="{58AA7C63-D1DD-4CBF-AA90-64BE1525D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3844" y="4814722"/>
              <a:ext cx="46038" cy="509588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57" name="Text Box 116">
              <a:extLst>
                <a:ext uri="{FF2B5EF4-FFF2-40B4-BE49-F238E27FC236}">
                  <a16:creationId xmlns:a16="http://schemas.microsoft.com/office/drawing/2014/main" id="{BE9D9A83-F0C9-49FB-A715-414F80D08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7413" y="2287589"/>
              <a:ext cx="320675" cy="469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58" name="Line 118">
              <a:extLst>
                <a:ext uri="{FF2B5EF4-FFF2-40B4-BE49-F238E27FC236}">
                  <a16:creationId xmlns:a16="http://schemas.microsoft.com/office/drawing/2014/main" id="{A4E9C010-EAC4-4B06-98D9-816010421C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41693" y="2378510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ECA6D202-8676-4206-80B8-6EB74868761C}"/>
              </a:ext>
            </a:extLst>
          </p:cNvPr>
          <p:cNvGrpSpPr/>
          <p:nvPr/>
        </p:nvGrpSpPr>
        <p:grpSpPr>
          <a:xfrm>
            <a:off x="2634432" y="3795731"/>
            <a:ext cx="2014476" cy="440600"/>
            <a:chOff x="2693815" y="3727635"/>
            <a:chExt cx="2014476" cy="440600"/>
          </a:xfrm>
        </p:grpSpPr>
        <p:sp>
          <p:nvSpPr>
            <p:cNvPr id="60" name="Line 118">
              <a:extLst>
                <a:ext uri="{FF2B5EF4-FFF2-40B4-BE49-F238E27FC236}">
                  <a16:creationId xmlns:a16="http://schemas.microsoft.com/office/drawing/2014/main" id="{5C9BEB8B-FAA8-4FB8-9DED-60CFBBFDB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3815" y="3737370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1" name="Line 118">
              <a:extLst>
                <a:ext uri="{FF2B5EF4-FFF2-40B4-BE49-F238E27FC236}">
                  <a16:creationId xmlns:a16="http://schemas.microsoft.com/office/drawing/2014/main" id="{98313412-84AB-427A-AD32-49194182B7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5399" y="3734125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2" name="Line 118">
              <a:extLst>
                <a:ext uri="{FF2B5EF4-FFF2-40B4-BE49-F238E27FC236}">
                  <a16:creationId xmlns:a16="http://schemas.microsoft.com/office/drawing/2014/main" id="{690C8224-4855-4A58-A990-F41D33006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6983" y="3730877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3" name="Line 118">
              <a:extLst>
                <a:ext uri="{FF2B5EF4-FFF2-40B4-BE49-F238E27FC236}">
                  <a16:creationId xmlns:a16="http://schemas.microsoft.com/office/drawing/2014/main" id="{0AA88D1D-34FD-4013-B892-FFBE111D9C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67" y="3727635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4" name="Line 118">
              <a:extLst>
                <a:ext uri="{FF2B5EF4-FFF2-40B4-BE49-F238E27FC236}">
                  <a16:creationId xmlns:a16="http://schemas.microsoft.com/office/drawing/2014/main" id="{DB7B54AE-7FA8-4FAF-9267-4E6AFFEB7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0423" y="3743848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5" name="Line 118">
              <a:extLst>
                <a:ext uri="{FF2B5EF4-FFF2-40B4-BE49-F238E27FC236}">
                  <a16:creationId xmlns:a16="http://schemas.microsoft.com/office/drawing/2014/main" id="{F8CA0199-B9DC-42C2-A64E-02BA79293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2006" y="3740604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6" name="Line 118">
              <a:extLst>
                <a:ext uri="{FF2B5EF4-FFF2-40B4-BE49-F238E27FC236}">
                  <a16:creationId xmlns:a16="http://schemas.microsoft.com/office/drawing/2014/main" id="{50A90CCC-E2A7-4115-A3D7-5A72EAFFA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590" y="3747088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7" name="Line 118">
              <a:extLst>
                <a:ext uri="{FF2B5EF4-FFF2-40B4-BE49-F238E27FC236}">
                  <a16:creationId xmlns:a16="http://schemas.microsoft.com/office/drawing/2014/main" id="{08C3F6D8-E52F-47C1-8330-3FD0808AE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5174" y="3743840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8" name="Line 118">
              <a:extLst>
                <a:ext uri="{FF2B5EF4-FFF2-40B4-BE49-F238E27FC236}">
                  <a16:creationId xmlns:a16="http://schemas.microsoft.com/office/drawing/2014/main" id="{C064973A-BF82-43C7-B655-EBC16E204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030" y="3740593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69" name="Line 118">
              <a:extLst>
                <a:ext uri="{FF2B5EF4-FFF2-40B4-BE49-F238E27FC236}">
                  <a16:creationId xmlns:a16="http://schemas.microsoft.com/office/drawing/2014/main" id="{DB26E153-0E99-41D4-BC8D-014F2CBE8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1856" y="3740596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71" name="Line 118">
              <a:extLst>
                <a:ext uri="{FF2B5EF4-FFF2-40B4-BE49-F238E27FC236}">
                  <a16:creationId xmlns:a16="http://schemas.microsoft.com/office/drawing/2014/main" id="{377C0674-691D-45AD-B6C5-2E485632B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6953" y="3740598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  <p:sp>
          <p:nvSpPr>
            <p:cNvPr id="72" name="Line 118">
              <a:extLst>
                <a:ext uri="{FF2B5EF4-FFF2-40B4-BE49-F238E27FC236}">
                  <a16:creationId xmlns:a16="http://schemas.microsoft.com/office/drawing/2014/main" id="{09EBEBFC-76C8-4D3C-A679-C7CAAF301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1778" y="3730868"/>
              <a:ext cx="36513" cy="421147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/>
            <a:lstStyle/>
            <a:p>
              <a:endParaRPr lang="en-GB"/>
            </a:p>
          </p:txBody>
        </p:sp>
      </p:grpSp>
      <p:sp>
        <p:nvSpPr>
          <p:cNvPr id="73" name="CuadroTexto 72">
            <a:extLst>
              <a:ext uri="{FF2B5EF4-FFF2-40B4-BE49-F238E27FC236}">
                <a16:creationId xmlns:a16="http://schemas.microsoft.com/office/drawing/2014/main" id="{F8983715-FACB-46DD-B42D-DB5A449D9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444" y="2459296"/>
            <a:ext cx="3044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>
                <a:solidFill>
                  <a:schemeClr val="tx1"/>
                </a:solidFill>
              </a:rPr>
              <a:t>d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4A9FE54D-2839-400C-8234-6B15E96B8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8378" y="5048726"/>
            <a:ext cx="3044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FF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>
                <a:solidFill>
                  <a:schemeClr val="tx1"/>
                </a:solidFill>
              </a:rPr>
              <a:t>d</a:t>
            </a:r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80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76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76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7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76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77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77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8915" grpId="0" animBg="1"/>
      <p:bldP spid="776199" grpId="0" animBg="1"/>
      <p:bldP spid="776275" grpId="0"/>
      <p:bldP spid="776282" grpId="0"/>
      <p:bldP spid="43034" grpId="0"/>
      <p:bldP spid="43035" grpId="0"/>
      <p:bldP spid="776335" grpId="0"/>
      <p:bldP spid="76" grpId="0" animBg="1"/>
      <p:bldP spid="36917" grpId="0" animBg="1"/>
      <p:bldP spid="52" grpId="0" animBg="1"/>
      <p:bldP spid="53" grpId="0"/>
      <p:bldP spid="54" grpId="0"/>
      <p:bldP spid="73" grpId="0"/>
      <p:bldP spid="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15"/>
          <p:cNvSpPr txBox="1">
            <a:spLocks noChangeArrowheads="1"/>
          </p:cNvSpPr>
          <p:nvPr/>
        </p:nvSpPr>
        <p:spPr bwMode="auto">
          <a:xfrm>
            <a:off x="1438852" y="334417"/>
            <a:ext cx="1700452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TOROIDE</a:t>
            </a:r>
          </a:p>
        </p:txBody>
      </p:sp>
      <p:sp>
        <p:nvSpPr>
          <p:cNvPr id="45083" name="Text Box 20"/>
          <p:cNvSpPr txBox="1">
            <a:spLocks noChangeArrowheads="1"/>
          </p:cNvSpPr>
          <p:nvPr/>
        </p:nvSpPr>
        <p:spPr bwMode="auto">
          <a:xfrm>
            <a:off x="5768690" y="2508272"/>
            <a:ext cx="1106691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Dentro</a:t>
            </a:r>
          </a:p>
        </p:txBody>
      </p:sp>
      <p:sp>
        <p:nvSpPr>
          <p:cNvPr id="45079" name="Text Box 24"/>
          <p:cNvSpPr txBox="1">
            <a:spLocks noChangeArrowheads="1"/>
          </p:cNvSpPr>
          <p:nvPr/>
        </p:nvSpPr>
        <p:spPr bwMode="auto">
          <a:xfrm>
            <a:off x="5761048" y="1788752"/>
            <a:ext cx="2476504" cy="536574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Fuera del núcleo</a:t>
            </a: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7891989" y="5071075"/>
            <a:ext cx="1742077" cy="556816"/>
            <a:chOff x="5962764" y="4924495"/>
            <a:chExt cx="1742077" cy="557418"/>
          </a:xfrm>
        </p:grpSpPr>
        <p:sp>
          <p:nvSpPr>
            <p:cNvPr id="45076" name="Rectángulo 2"/>
            <p:cNvSpPr>
              <a:spLocks noChangeArrowheads="1"/>
            </p:cNvSpPr>
            <p:nvPr/>
          </p:nvSpPr>
          <p:spPr bwMode="auto">
            <a:xfrm>
              <a:off x="5962764" y="4931029"/>
              <a:ext cx="1742077" cy="55088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45077" name="Text Box 46"/>
            <p:cNvSpPr txBox="1">
              <a:spLocks noChangeArrowheads="1"/>
            </p:cNvSpPr>
            <p:nvPr/>
          </p:nvSpPr>
          <p:spPr bwMode="auto">
            <a:xfrm>
              <a:off x="6032500" y="4924495"/>
              <a:ext cx="1658124" cy="537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n = N/(2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</a:t>
              </a:r>
              <a:r>
                <a:rPr lang="es-ES" sz="2400" dirty="0">
                  <a:latin typeface="Arial" panose="020B0604020202020204" pitchFamily="34" charset="0"/>
                </a:rPr>
                <a:t>r)</a:t>
              </a:r>
            </a:p>
          </p:txBody>
        </p:sp>
      </p:grpSp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1440434" y="1233474"/>
            <a:ext cx="3840163" cy="4271963"/>
            <a:chOff x="1176" y="1347"/>
            <a:chExt cx="2419" cy="2691"/>
          </a:xfrm>
        </p:grpSpPr>
        <p:pic>
          <p:nvPicPr>
            <p:cNvPr id="45071" name="Picture 14" descr="imagesCAVQP5R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" y="1347"/>
              <a:ext cx="2419" cy="2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72" name="Text Box 59"/>
            <p:cNvSpPr txBox="1">
              <a:spLocks noChangeArrowheads="1"/>
            </p:cNvSpPr>
            <p:nvPr/>
          </p:nvSpPr>
          <p:spPr bwMode="auto">
            <a:xfrm>
              <a:off x="1204" y="3728"/>
              <a:ext cx="40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EJE</a:t>
              </a:r>
            </a:p>
          </p:txBody>
        </p:sp>
        <p:sp>
          <p:nvSpPr>
            <p:cNvPr id="45073" name="Line 60"/>
            <p:cNvSpPr>
              <a:spLocks noChangeShapeType="1"/>
            </p:cNvSpPr>
            <p:nvPr/>
          </p:nvSpPr>
          <p:spPr bwMode="auto">
            <a:xfrm flipV="1">
              <a:off x="1648" y="3656"/>
              <a:ext cx="240" cy="1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45068" name="40 CuadroTexto"/>
          <p:cNvSpPr txBox="1">
            <a:spLocks noChangeArrowheads="1"/>
          </p:cNvSpPr>
          <p:nvPr/>
        </p:nvSpPr>
        <p:spPr bwMode="auto">
          <a:xfrm>
            <a:off x="7445288" y="3611977"/>
            <a:ext cx="24765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r: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radio de línea de campo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7215" name="Text Box 47"/>
          <p:cNvSpPr txBox="1">
            <a:spLocks noChangeArrowheads="1"/>
          </p:cNvSpPr>
          <p:nvPr/>
        </p:nvSpPr>
        <p:spPr bwMode="auto">
          <a:xfrm>
            <a:off x="3157412" y="360071"/>
            <a:ext cx="4857654" cy="474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(bobinado con forma de toro, de “dónut”)</a:t>
            </a:r>
          </a:p>
        </p:txBody>
      </p:sp>
      <p:sp>
        <p:nvSpPr>
          <p:cNvPr id="29" name="Text Box 143"/>
          <p:cNvSpPr txBox="1">
            <a:spLocks noChangeArrowheads="1"/>
          </p:cNvSpPr>
          <p:nvPr/>
        </p:nvSpPr>
        <p:spPr bwMode="auto">
          <a:xfrm>
            <a:off x="1440433" y="5757859"/>
            <a:ext cx="3840164" cy="905881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es antihoraria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respecto </a:t>
            </a:r>
            <a:r>
              <a:rPr lang="es-ES" sz="2400" dirty="0">
                <a:latin typeface="Arial" panose="020B0604020202020204" pitchFamily="34" charset="0"/>
              </a:rPr>
              <a:t>al sentido de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</a:p>
        </p:txBody>
      </p:sp>
      <p:grpSp>
        <p:nvGrpSpPr>
          <p:cNvPr id="32" name="Group 44">
            <a:extLst>
              <a:ext uri="{FF2B5EF4-FFF2-40B4-BE49-F238E27FC236}">
                <a16:creationId xmlns:a16="http://schemas.microsoft.com/office/drawing/2014/main" id="{EAC886F6-AB39-4206-80F9-DD520ED449EC}"/>
              </a:ext>
            </a:extLst>
          </p:cNvPr>
          <p:cNvGrpSpPr>
            <a:grpSpLocks/>
          </p:cNvGrpSpPr>
          <p:nvPr/>
        </p:nvGrpSpPr>
        <p:grpSpPr bwMode="auto">
          <a:xfrm>
            <a:off x="8593614" y="1801055"/>
            <a:ext cx="1038226" cy="515937"/>
            <a:chOff x="4743" y="2260"/>
            <a:chExt cx="654" cy="325"/>
          </a:xfrm>
        </p:grpSpPr>
        <p:sp>
          <p:nvSpPr>
            <p:cNvPr id="34" name="Rectangle 22">
              <a:extLst>
                <a:ext uri="{FF2B5EF4-FFF2-40B4-BE49-F238E27FC236}">
                  <a16:creationId xmlns:a16="http://schemas.microsoft.com/office/drawing/2014/main" id="{04F633F0-A6E5-4A07-A9E9-4F49ABAD6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2260"/>
              <a:ext cx="654" cy="32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" name="Object 23">
              <a:extLst>
                <a:ext uri="{FF2B5EF4-FFF2-40B4-BE49-F238E27FC236}">
                  <a16:creationId xmlns:a16="http://schemas.microsoft.com/office/drawing/2014/main" id="{C7BC0606-5769-4CC7-B046-25C8C0A888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2" y="2265"/>
            <a:ext cx="511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4" imgW="380835" imgH="215806" progId="Equation.3">
                    <p:embed/>
                  </p:oleObj>
                </mc:Choice>
                <mc:Fallback>
                  <p:oleObj name="Ecuación" r:id="rId4" imgW="380835" imgH="215806" progId="Equation.3">
                    <p:embed/>
                    <p:pic>
                      <p:nvPicPr>
                        <p:cNvPr id="35" name="Object 23">
                          <a:extLst>
                            <a:ext uri="{FF2B5EF4-FFF2-40B4-BE49-F238E27FC236}">
                              <a16:creationId xmlns:a16="http://schemas.microsoft.com/office/drawing/2014/main" id="{C7BC0606-5769-4CC7-B046-25C8C0A888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2" y="2265"/>
                          <a:ext cx="511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Group 56">
            <a:extLst>
              <a:ext uri="{FF2B5EF4-FFF2-40B4-BE49-F238E27FC236}">
                <a16:creationId xmlns:a16="http://schemas.microsoft.com/office/drawing/2014/main" id="{BC706679-698E-46C8-ABAE-8A2CCD8C8DFD}"/>
              </a:ext>
            </a:extLst>
          </p:cNvPr>
          <p:cNvGrpSpPr>
            <a:grpSpLocks/>
          </p:cNvGrpSpPr>
          <p:nvPr/>
        </p:nvGrpSpPr>
        <p:grpSpPr bwMode="auto">
          <a:xfrm>
            <a:off x="7555390" y="2514871"/>
            <a:ext cx="2076450" cy="1014413"/>
            <a:chOff x="5146" y="2640"/>
            <a:chExt cx="1308" cy="639"/>
          </a:xfrm>
        </p:grpSpPr>
        <p:sp>
          <p:nvSpPr>
            <p:cNvPr id="39" name="Rectangle 18">
              <a:extLst>
                <a:ext uri="{FF2B5EF4-FFF2-40B4-BE49-F238E27FC236}">
                  <a16:creationId xmlns:a16="http://schemas.microsoft.com/office/drawing/2014/main" id="{2C63E4DD-3653-4292-8FB5-AE74164B7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" y="2640"/>
              <a:ext cx="1308" cy="639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0" name="Object 19">
              <a:extLst>
                <a:ext uri="{FF2B5EF4-FFF2-40B4-BE49-F238E27FC236}">
                  <a16:creationId xmlns:a16="http://schemas.microsoft.com/office/drawing/2014/main" id="{0A6272E4-4B7A-444C-87BD-07B621CD67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6" y="2701"/>
            <a:ext cx="1157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863225" imgH="393529" progId="Equation.3">
                    <p:embed/>
                  </p:oleObj>
                </mc:Choice>
                <mc:Fallback>
                  <p:oleObj name="Ecuación" r:id="rId6" imgW="863225" imgH="393529" progId="Equation.3">
                    <p:embed/>
                    <p:pic>
                      <p:nvPicPr>
                        <p:cNvPr id="40" name="Object 19">
                          <a:extLst>
                            <a:ext uri="{FF2B5EF4-FFF2-40B4-BE49-F238E27FC236}">
                              <a16:creationId xmlns:a16="http://schemas.microsoft.com/office/drawing/2014/main" id="{0A6272E4-4B7A-444C-87BD-07B621CD67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6" y="2701"/>
                          <a:ext cx="1157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 Box 46">
            <a:extLst>
              <a:ext uri="{FF2B5EF4-FFF2-40B4-BE49-F238E27FC236}">
                <a16:creationId xmlns:a16="http://schemas.microsoft.com/office/drawing/2014/main" id="{6EF19B54-CAF5-4A69-9F95-F88262461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946" y="4527618"/>
            <a:ext cx="416882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Es como el de un </a:t>
            </a:r>
            <a:r>
              <a:rPr lang="es-ES" sz="2400" dirty="0">
                <a:latin typeface="Arial" panose="020B0604020202020204" pitchFamily="34" charset="0"/>
              </a:rPr>
              <a:t>solenoide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con: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1" name="Text Box 47">
            <a:extLst>
              <a:ext uri="{FF2B5EF4-FFF2-40B4-BE49-F238E27FC236}">
                <a16:creationId xmlns:a16="http://schemas.microsoft.com/office/drawing/2014/main" id="{1D3A1476-DE35-454F-B8E3-1C5F40503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0" y="1088617"/>
            <a:ext cx="493009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 vueltas apretadas y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 al eje</a:t>
            </a:r>
            <a:r>
              <a:rPr lang="es-ES" sz="2400">
                <a:latin typeface="Arial" panose="020B0604020202020204" pitchFamily="34" charset="0"/>
              </a:rPr>
              <a:t>: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0822808-6D09-0D01-34F1-8EE1121A0966}"/>
              </a:ext>
            </a:extLst>
          </p:cNvPr>
          <p:cNvGrpSpPr/>
          <p:nvPr/>
        </p:nvGrpSpPr>
        <p:grpSpPr>
          <a:xfrm>
            <a:off x="6405720" y="5566765"/>
            <a:ext cx="4139439" cy="1133239"/>
            <a:chOff x="6405720" y="5566765"/>
            <a:chExt cx="4139439" cy="1133239"/>
          </a:xfrm>
        </p:grpSpPr>
        <p:grpSp>
          <p:nvGrpSpPr>
            <p:cNvPr id="6" name="Grupo 5"/>
            <p:cNvGrpSpPr/>
            <p:nvPr/>
          </p:nvGrpSpPr>
          <p:grpSpPr>
            <a:xfrm>
              <a:off x="6405720" y="5577782"/>
              <a:ext cx="4139439" cy="1122222"/>
              <a:chOff x="5641099" y="5467595"/>
              <a:chExt cx="4139439" cy="1122222"/>
            </a:xfrm>
          </p:grpSpPr>
          <p:sp>
            <p:nvSpPr>
              <p:cNvPr id="45074" name="Text Box 53"/>
              <p:cNvSpPr txBox="1">
                <a:spLocks noChangeArrowheads="1"/>
              </p:cNvSpPr>
              <p:nvPr/>
            </p:nvSpPr>
            <p:spPr bwMode="auto">
              <a:xfrm>
                <a:off x="5641099" y="5683936"/>
                <a:ext cx="4139439" cy="9058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Longitud de circunferencia correspondiente</a:t>
                </a:r>
              </a:p>
            </p:txBody>
          </p:sp>
          <p:cxnSp>
            <p:nvCxnSpPr>
              <p:cNvPr id="5" name="Conector recto de flecha 4"/>
              <p:cNvCxnSpPr/>
              <p:nvPr/>
            </p:nvCxnSpPr>
            <p:spPr bwMode="auto">
              <a:xfrm flipH="1">
                <a:off x="8467344" y="5467595"/>
                <a:ext cx="0" cy="288000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triangle" w="lg" len="med"/>
              </a:ln>
              <a:effectLst/>
            </p:spPr>
          </p:cxnSp>
        </p:grp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DAFCC7EE-8B16-27F4-E1EF-4B6061F0BA00}"/>
                </a:ext>
              </a:extLst>
            </p:cNvPr>
            <p:cNvCxnSpPr/>
            <p:nvPr/>
          </p:nvCxnSpPr>
          <p:spPr bwMode="auto">
            <a:xfrm>
              <a:off x="9020992" y="5566765"/>
              <a:ext cx="39991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9" name="40 CuadroTexto">
            <a:extLst>
              <a:ext uri="{FF2B5EF4-FFF2-40B4-BE49-F238E27FC236}">
                <a16:creationId xmlns:a16="http://schemas.microsoft.com/office/drawing/2014/main" id="{C1C3379F-BC1E-885D-C3E2-2B1F85B76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9918" y="2769920"/>
            <a:ext cx="995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 1/r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74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nimBg="1"/>
      <p:bldP spid="45083" grpId="0" animBg="1"/>
      <p:bldP spid="45079" grpId="0" animBg="1"/>
      <p:bldP spid="45068" grpId="0"/>
      <p:bldP spid="7215" grpId="0"/>
      <p:bldP spid="29" grpId="0" animBg="1"/>
      <p:bldP spid="33" grpId="0"/>
      <p:bldP spid="31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/>
          <p:cNvGrpSpPr/>
          <p:nvPr/>
        </p:nvGrpSpPr>
        <p:grpSpPr>
          <a:xfrm>
            <a:off x="1181292" y="340965"/>
            <a:ext cx="5081588" cy="536575"/>
            <a:chOff x="1444817" y="320645"/>
            <a:chExt cx="5081588" cy="536575"/>
          </a:xfrm>
        </p:grpSpPr>
        <p:sp>
          <p:nvSpPr>
            <p:cNvPr id="79" name="Rectángulo 60"/>
            <p:cNvSpPr>
              <a:spLocks noChangeArrowheads="1"/>
            </p:cNvSpPr>
            <p:nvPr/>
          </p:nvSpPr>
          <p:spPr bwMode="auto">
            <a:xfrm>
              <a:off x="1729895" y="350076"/>
              <a:ext cx="4655985" cy="47499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/>
            </a:p>
          </p:txBody>
        </p:sp>
        <p:sp>
          <p:nvSpPr>
            <p:cNvPr id="42016" name="Text Box 92"/>
            <p:cNvSpPr txBox="1">
              <a:spLocks noChangeArrowheads="1"/>
            </p:cNvSpPr>
            <p:nvPr/>
          </p:nvSpPr>
          <p:spPr bwMode="auto">
            <a:xfrm>
              <a:off x="1444817" y="320645"/>
              <a:ext cx="5081588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Arial" panose="020B0604020202020204" pitchFamily="34" charset="0"/>
                </a:rPr>
                <a:t>Una bobina se caracteriza con un:</a:t>
              </a:r>
            </a:p>
          </p:txBody>
        </p:sp>
      </p:grpSp>
      <p:sp>
        <p:nvSpPr>
          <p:cNvPr id="42017" name="Text Box 93"/>
          <p:cNvSpPr txBox="1">
            <a:spLocks noChangeArrowheads="1"/>
          </p:cNvSpPr>
          <p:nvPr/>
        </p:nvSpPr>
        <p:spPr bwMode="auto">
          <a:xfrm>
            <a:off x="1480783" y="970453"/>
            <a:ext cx="2593975" cy="1254126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cap="small" dirty="0">
                <a:solidFill>
                  <a:srgbClr val="FFFFFF"/>
                </a:solidFill>
                <a:latin typeface="Arial" panose="020B0604020202020204" pitchFamily="34" charset="0"/>
              </a:rPr>
              <a:t>Coeficiente 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cap="small">
                <a:solidFill>
                  <a:srgbClr val="FFFFFF"/>
                </a:solidFill>
                <a:latin typeface="Arial" panose="020B0604020202020204" pitchFamily="34" charset="0"/>
              </a:rPr>
              <a:t>Autoinducción</a:t>
            </a:r>
            <a:endParaRPr lang="es-ES" sz="2400" cap="small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cap="small">
                <a:solidFill>
                  <a:srgbClr val="FFFFFF"/>
                </a:solidFill>
                <a:latin typeface="Arial" panose="020B0604020202020204" pitchFamily="34" charset="0"/>
              </a:rPr>
              <a:t>o Autoinducción</a:t>
            </a:r>
            <a:endParaRPr lang="es-ES" sz="2400" cap="small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Group 108"/>
          <p:cNvGrpSpPr>
            <a:grpSpLocks/>
          </p:cNvGrpSpPr>
          <p:nvPr/>
        </p:nvGrpSpPr>
        <p:grpSpPr bwMode="auto">
          <a:xfrm>
            <a:off x="4330197" y="1107198"/>
            <a:ext cx="1296988" cy="1063625"/>
            <a:chOff x="2629" y="2838"/>
            <a:chExt cx="817" cy="670"/>
          </a:xfrm>
        </p:grpSpPr>
        <p:sp>
          <p:nvSpPr>
            <p:cNvPr id="42014" name="Rectangle 96"/>
            <p:cNvSpPr>
              <a:spLocks noChangeArrowheads="1"/>
            </p:cNvSpPr>
            <p:nvPr/>
          </p:nvSpPr>
          <p:spPr bwMode="auto">
            <a:xfrm>
              <a:off x="2629" y="2838"/>
              <a:ext cx="817" cy="67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15" name="Object 95"/>
            <p:cNvGraphicFramePr>
              <a:graphicFrameLocks noChangeAspect="1"/>
            </p:cNvGraphicFramePr>
            <p:nvPr/>
          </p:nvGraphicFramePr>
          <p:xfrm>
            <a:off x="2745" y="2873"/>
            <a:ext cx="607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393529" imgH="393529" progId="Equation.3">
                    <p:embed/>
                  </p:oleObj>
                </mc:Choice>
                <mc:Fallback>
                  <p:oleObj name="Ecuación" r:id="rId3" imgW="393529" imgH="393529" progId="Equation.3">
                    <p:embed/>
                    <p:pic>
                      <p:nvPicPr>
                        <p:cNvPr id="42015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5" y="2873"/>
                          <a:ext cx="607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09"/>
          <p:cNvGrpSpPr>
            <a:grpSpLocks/>
          </p:cNvGrpSpPr>
          <p:nvPr/>
        </p:nvGrpSpPr>
        <p:grpSpPr bwMode="auto">
          <a:xfrm>
            <a:off x="5760282" y="869898"/>
            <a:ext cx="4614862" cy="906462"/>
            <a:chOff x="3760" y="116"/>
            <a:chExt cx="2907" cy="571"/>
          </a:xfrm>
        </p:grpSpPr>
        <p:sp>
          <p:nvSpPr>
            <p:cNvPr id="42012" name="Line 97"/>
            <p:cNvSpPr>
              <a:spLocks noChangeShapeType="1"/>
            </p:cNvSpPr>
            <p:nvPr/>
          </p:nvSpPr>
          <p:spPr bwMode="auto">
            <a:xfrm flipV="1">
              <a:off x="3760" y="323"/>
              <a:ext cx="498" cy="121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2013" name="Text Box 98"/>
            <p:cNvSpPr txBox="1">
              <a:spLocks noChangeArrowheads="1"/>
            </p:cNvSpPr>
            <p:nvPr/>
          </p:nvSpPr>
          <p:spPr bwMode="auto">
            <a:xfrm>
              <a:off x="4119" y="116"/>
              <a:ext cx="2548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Flujo debido a la bobina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a través de su interior</a:t>
              </a:r>
            </a:p>
          </p:txBody>
        </p:sp>
      </p:grpSp>
      <p:grpSp>
        <p:nvGrpSpPr>
          <p:cNvPr id="8" name="Group 110"/>
          <p:cNvGrpSpPr>
            <a:grpSpLocks/>
          </p:cNvGrpSpPr>
          <p:nvPr/>
        </p:nvGrpSpPr>
        <p:grpSpPr bwMode="auto">
          <a:xfrm>
            <a:off x="5760282" y="1688003"/>
            <a:ext cx="3862388" cy="906463"/>
            <a:chOff x="3185" y="2771"/>
            <a:chExt cx="2433" cy="571"/>
          </a:xfrm>
        </p:grpSpPr>
        <p:sp>
          <p:nvSpPr>
            <p:cNvPr id="42010" name="Line 99"/>
            <p:cNvSpPr>
              <a:spLocks noChangeShapeType="1"/>
            </p:cNvSpPr>
            <p:nvPr/>
          </p:nvSpPr>
          <p:spPr bwMode="auto">
            <a:xfrm>
              <a:off x="3185" y="2893"/>
              <a:ext cx="516" cy="3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2011" name="Text Box 100"/>
            <p:cNvSpPr txBox="1">
              <a:spLocks noChangeArrowheads="1"/>
            </p:cNvSpPr>
            <p:nvPr/>
          </p:nvSpPr>
          <p:spPr bwMode="auto">
            <a:xfrm>
              <a:off x="3721" y="2771"/>
              <a:ext cx="1897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Corriente que circula por la bobina</a:t>
              </a:r>
            </a:p>
          </p:txBody>
        </p:sp>
      </p:grpSp>
      <p:sp>
        <p:nvSpPr>
          <p:cNvPr id="749670" name="Text Box 102"/>
          <p:cNvSpPr txBox="1">
            <a:spLocks noChangeArrowheads="1"/>
          </p:cNvSpPr>
          <p:nvPr/>
        </p:nvSpPr>
        <p:spPr bwMode="auto">
          <a:xfrm>
            <a:off x="2749546" y="2309792"/>
            <a:ext cx="1325525" cy="536549"/>
          </a:xfrm>
          <a:prstGeom prst="rect">
            <a:avLst/>
          </a:prstGeom>
          <a:solidFill>
            <a:srgbClr val="993366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cap="small">
                <a:solidFill>
                  <a:srgbClr val="FFFFFF"/>
                </a:solidFill>
                <a:latin typeface="Arial" panose="020B0604020202020204" pitchFamily="34" charset="0"/>
              </a:rPr>
              <a:t>Unidad</a:t>
            </a:r>
          </a:p>
        </p:txBody>
      </p:sp>
      <p:sp>
        <p:nvSpPr>
          <p:cNvPr id="35860" name="Text Box 127"/>
          <p:cNvSpPr txBox="1">
            <a:spLocks noChangeArrowheads="1"/>
          </p:cNvSpPr>
          <p:nvPr/>
        </p:nvSpPr>
        <p:spPr bwMode="auto">
          <a:xfrm>
            <a:off x="4180933" y="2850126"/>
            <a:ext cx="548854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99FF"/>
                </a:solidFill>
                <a:latin typeface="Arial" panose="020B0604020202020204" pitchFamily="34" charset="0"/>
              </a:rPr>
              <a:t>En honor de Henry, en inglés “</a:t>
            </a:r>
            <a:r>
              <a:rPr lang="es-ES" sz="2400" dirty="0" err="1">
                <a:solidFill>
                  <a:srgbClr val="3399FF"/>
                </a:solidFill>
                <a:latin typeface="Arial" panose="020B0604020202020204" pitchFamily="34" charset="0"/>
              </a:rPr>
              <a:t>henry</a:t>
            </a:r>
            <a:r>
              <a:rPr lang="es-ES" sz="2400" dirty="0">
                <a:solidFill>
                  <a:srgbClr val="3399FF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4337874" y="2305228"/>
            <a:ext cx="1672253" cy="55861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Henrio (H)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213549" y="3446812"/>
            <a:ext cx="2652714" cy="536575"/>
            <a:chOff x="1375474" y="3789337"/>
            <a:chExt cx="2652714" cy="536575"/>
          </a:xfrm>
        </p:grpSpPr>
        <p:sp>
          <p:nvSpPr>
            <p:cNvPr id="38" name="Rectángulo 60"/>
            <p:cNvSpPr>
              <a:spLocks noChangeArrowheads="1"/>
            </p:cNvSpPr>
            <p:nvPr/>
          </p:nvSpPr>
          <p:spPr bwMode="auto">
            <a:xfrm>
              <a:off x="1625118" y="3827788"/>
              <a:ext cx="2298293" cy="47499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/>
            </a:p>
          </p:txBody>
        </p:sp>
        <p:sp>
          <p:nvSpPr>
            <p:cNvPr id="44" name="Text Box 22"/>
            <p:cNvSpPr txBox="1">
              <a:spLocks noChangeArrowheads="1"/>
            </p:cNvSpPr>
            <p:nvPr/>
          </p:nvSpPr>
          <p:spPr bwMode="auto">
            <a:xfrm>
              <a:off x="1375474" y="3789337"/>
              <a:ext cx="2652714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Representación:</a:t>
              </a:r>
            </a:p>
          </p:txBody>
        </p:sp>
      </p:grpSp>
      <p:grpSp>
        <p:nvGrpSpPr>
          <p:cNvPr id="51" name="Grupo 50"/>
          <p:cNvGrpSpPr>
            <a:grpSpLocks/>
          </p:cNvGrpSpPr>
          <p:nvPr/>
        </p:nvGrpSpPr>
        <p:grpSpPr bwMode="auto">
          <a:xfrm>
            <a:off x="1205422" y="6279478"/>
            <a:ext cx="6128899" cy="536549"/>
            <a:chOff x="1357896" y="6333567"/>
            <a:chExt cx="6128932" cy="537412"/>
          </a:xfrm>
        </p:grpSpPr>
        <p:sp>
          <p:nvSpPr>
            <p:cNvPr id="52" name="Rectángulo 61"/>
            <p:cNvSpPr>
              <a:spLocks noChangeArrowheads="1"/>
            </p:cNvSpPr>
            <p:nvPr/>
          </p:nvSpPr>
          <p:spPr bwMode="auto">
            <a:xfrm>
              <a:off x="1626196" y="6352978"/>
              <a:ext cx="5819037" cy="47499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/>
            </a:p>
          </p:txBody>
        </p:sp>
        <p:sp>
          <p:nvSpPr>
            <p:cNvPr id="53" name="Text Box 26"/>
            <p:cNvSpPr txBox="1">
              <a:spLocks noChangeArrowheads="1"/>
            </p:cNvSpPr>
            <p:nvPr/>
          </p:nvSpPr>
          <p:spPr bwMode="auto">
            <a:xfrm>
              <a:off x="1357896" y="6333567"/>
              <a:ext cx="6128932" cy="537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Ecuaciones asociaciones serie y paralelo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54" name="Grupo 53"/>
          <p:cNvGrpSpPr>
            <a:grpSpLocks/>
          </p:cNvGrpSpPr>
          <p:nvPr/>
        </p:nvGrpSpPr>
        <p:grpSpPr bwMode="auto">
          <a:xfrm>
            <a:off x="1213549" y="5397593"/>
            <a:ext cx="2121391" cy="536549"/>
            <a:chOff x="1478551" y="5609234"/>
            <a:chExt cx="2121021" cy="536921"/>
          </a:xfrm>
        </p:grpSpPr>
        <p:sp>
          <p:nvSpPr>
            <p:cNvPr id="55" name="Rectángulo 2"/>
            <p:cNvSpPr>
              <a:spLocks noChangeArrowheads="1"/>
            </p:cNvSpPr>
            <p:nvPr/>
          </p:nvSpPr>
          <p:spPr bwMode="auto">
            <a:xfrm>
              <a:off x="1725804" y="5665395"/>
              <a:ext cx="1641803" cy="45509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 baseline="-2500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478551" y="5609234"/>
              <a:ext cx="2121021" cy="536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Symbol" panose="05050102010706020507" pitchFamily="18" charset="2"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Cable ideal: 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57" name="Group 50"/>
          <p:cNvGrpSpPr>
            <a:grpSpLocks/>
          </p:cNvGrpSpPr>
          <p:nvPr/>
        </p:nvGrpSpPr>
        <p:grpSpPr bwMode="auto">
          <a:xfrm>
            <a:off x="7175251" y="3500432"/>
            <a:ext cx="3224214" cy="1641475"/>
            <a:chOff x="4040" y="2436"/>
            <a:chExt cx="2031" cy="1034"/>
          </a:xfrm>
        </p:grpSpPr>
        <p:sp>
          <p:nvSpPr>
            <p:cNvPr id="58" name="Text Box 39"/>
            <p:cNvSpPr txBox="1">
              <a:spLocks noChangeArrowheads="1"/>
            </p:cNvSpPr>
            <p:nvPr/>
          </p:nvSpPr>
          <p:spPr bwMode="auto">
            <a:xfrm>
              <a:off x="4040" y="2436"/>
              <a:ext cx="2031" cy="33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L, R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, "C"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o Cable Real</a:t>
              </a:r>
            </a:p>
          </p:txBody>
        </p:sp>
        <p:grpSp>
          <p:nvGrpSpPr>
            <p:cNvPr id="59" name="Group 46"/>
            <p:cNvGrpSpPr>
              <a:grpSpLocks/>
            </p:cNvGrpSpPr>
            <p:nvPr/>
          </p:nvGrpSpPr>
          <p:grpSpPr bwMode="auto">
            <a:xfrm>
              <a:off x="4114" y="2855"/>
              <a:ext cx="1953" cy="615"/>
              <a:chOff x="4114" y="2875"/>
              <a:chExt cx="1953" cy="615"/>
            </a:xfrm>
          </p:grpSpPr>
          <p:sp>
            <p:nvSpPr>
              <p:cNvPr id="60" name="Line 30"/>
              <p:cNvSpPr>
                <a:spLocks noChangeShapeType="1"/>
              </p:cNvSpPr>
              <p:nvPr/>
            </p:nvSpPr>
            <p:spPr bwMode="auto">
              <a:xfrm>
                <a:off x="4228" y="3012"/>
                <a:ext cx="14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1" name="Freeform 31"/>
              <p:cNvSpPr>
                <a:spLocks/>
              </p:cNvSpPr>
              <p:nvPr/>
            </p:nvSpPr>
            <p:spPr bwMode="auto">
              <a:xfrm>
                <a:off x="4377" y="2875"/>
                <a:ext cx="137" cy="145"/>
              </a:xfrm>
              <a:custGeom>
                <a:avLst/>
                <a:gdLst>
                  <a:gd name="T0" fmla="*/ 0 w 180"/>
                  <a:gd name="T1" fmla="*/ 1 h 214"/>
                  <a:gd name="T2" fmla="*/ 2 w 180"/>
                  <a:gd name="T3" fmla="*/ 1 h 214"/>
                  <a:gd name="T4" fmla="*/ 2 w 180"/>
                  <a:gd name="T5" fmla="*/ 1 h 214"/>
                  <a:gd name="T6" fmla="*/ 2 w 180"/>
                  <a:gd name="T7" fmla="*/ 1 h 214"/>
                  <a:gd name="T8" fmla="*/ 2 w 180"/>
                  <a:gd name="T9" fmla="*/ 1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2" name="Freeform 32"/>
              <p:cNvSpPr>
                <a:spLocks/>
              </p:cNvSpPr>
              <p:nvPr/>
            </p:nvSpPr>
            <p:spPr bwMode="auto">
              <a:xfrm>
                <a:off x="4517" y="2879"/>
                <a:ext cx="137" cy="145"/>
              </a:xfrm>
              <a:custGeom>
                <a:avLst/>
                <a:gdLst>
                  <a:gd name="T0" fmla="*/ 0 w 180"/>
                  <a:gd name="T1" fmla="*/ 1 h 214"/>
                  <a:gd name="T2" fmla="*/ 2 w 180"/>
                  <a:gd name="T3" fmla="*/ 1 h 214"/>
                  <a:gd name="T4" fmla="*/ 2 w 180"/>
                  <a:gd name="T5" fmla="*/ 1 h 214"/>
                  <a:gd name="T6" fmla="*/ 2 w 180"/>
                  <a:gd name="T7" fmla="*/ 1 h 214"/>
                  <a:gd name="T8" fmla="*/ 2 w 180"/>
                  <a:gd name="T9" fmla="*/ 1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3" name="Freeform 33"/>
              <p:cNvSpPr>
                <a:spLocks/>
              </p:cNvSpPr>
              <p:nvPr/>
            </p:nvSpPr>
            <p:spPr bwMode="auto">
              <a:xfrm>
                <a:off x="4657" y="2883"/>
                <a:ext cx="137" cy="145"/>
              </a:xfrm>
              <a:custGeom>
                <a:avLst/>
                <a:gdLst>
                  <a:gd name="T0" fmla="*/ 0 w 180"/>
                  <a:gd name="T1" fmla="*/ 1 h 214"/>
                  <a:gd name="T2" fmla="*/ 2 w 180"/>
                  <a:gd name="T3" fmla="*/ 1 h 214"/>
                  <a:gd name="T4" fmla="*/ 2 w 180"/>
                  <a:gd name="T5" fmla="*/ 1 h 214"/>
                  <a:gd name="T6" fmla="*/ 2 w 180"/>
                  <a:gd name="T7" fmla="*/ 1 h 214"/>
                  <a:gd name="T8" fmla="*/ 2 w 180"/>
                  <a:gd name="T9" fmla="*/ 1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4" name="Line 34"/>
              <p:cNvSpPr>
                <a:spLocks noChangeShapeType="1"/>
              </p:cNvSpPr>
              <p:nvPr/>
            </p:nvSpPr>
            <p:spPr bwMode="auto">
              <a:xfrm>
                <a:off x="4797" y="3019"/>
                <a:ext cx="261" cy="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5" name="Line 35"/>
              <p:cNvSpPr>
                <a:spLocks noChangeShapeType="1"/>
              </p:cNvSpPr>
              <p:nvPr/>
            </p:nvSpPr>
            <p:spPr bwMode="auto">
              <a:xfrm rot="16200000">
                <a:off x="4858" y="3380"/>
                <a:ext cx="22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6" name="Line 36"/>
              <p:cNvSpPr>
                <a:spLocks noChangeShapeType="1"/>
              </p:cNvSpPr>
              <p:nvPr/>
            </p:nvSpPr>
            <p:spPr bwMode="auto">
              <a:xfrm rot="16200000">
                <a:off x="4749" y="3379"/>
                <a:ext cx="22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7" name="Line 37"/>
              <p:cNvSpPr>
                <a:spLocks noChangeShapeType="1"/>
              </p:cNvSpPr>
              <p:nvPr/>
            </p:nvSpPr>
            <p:spPr bwMode="auto">
              <a:xfrm>
                <a:off x="4219" y="3379"/>
                <a:ext cx="638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8" name="Line 38"/>
              <p:cNvSpPr>
                <a:spLocks noChangeShapeType="1"/>
              </p:cNvSpPr>
              <p:nvPr/>
            </p:nvSpPr>
            <p:spPr bwMode="auto">
              <a:xfrm>
                <a:off x="4973" y="3379"/>
                <a:ext cx="638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69" name="Line 40"/>
              <p:cNvSpPr>
                <a:spLocks noChangeShapeType="1"/>
              </p:cNvSpPr>
              <p:nvPr/>
            </p:nvSpPr>
            <p:spPr bwMode="auto">
              <a:xfrm rot="16200000">
                <a:off x="4036" y="3191"/>
                <a:ext cx="36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0" name="Line 41"/>
              <p:cNvSpPr>
                <a:spLocks noChangeShapeType="1"/>
              </p:cNvSpPr>
              <p:nvPr/>
            </p:nvSpPr>
            <p:spPr bwMode="auto">
              <a:xfrm rot="16200000">
                <a:off x="5418" y="3205"/>
                <a:ext cx="36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1" name="Line 42"/>
              <p:cNvSpPr>
                <a:spLocks noChangeShapeType="1"/>
              </p:cNvSpPr>
              <p:nvPr/>
            </p:nvSpPr>
            <p:spPr bwMode="auto">
              <a:xfrm>
                <a:off x="4114" y="3205"/>
                <a:ext cx="10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72" name="Line 43"/>
              <p:cNvSpPr>
                <a:spLocks noChangeShapeType="1"/>
              </p:cNvSpPr>
              <p:nvPr/>
            </p:nvSpPr>
            <p:spPr bwMode="auto">
              <a:xfrm>
                <a:off x="5596" y="3194"/>
                <a:ext cx="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3" name="Freeform 44"/>
              <p:cNvSpPr>
                <a:spLocks/>
              </p:cNvSpPr>
              <p:nvPr/>
            </p:nvSpPr>
            <p:spPr bwMode="auto">
              <a:xfrm>
                <a:off x="5067" y="2900"/>
                <a:ext cx="325" cy="210"/>
              </a:xfrm>
              <a:custGeom>
                <a:avLst/>
                <a:gdLst>
                  <a:gd name="T0" fmla="*/ 0 w 325"/>
                  <a:gd name="T1" fmla="*/ 116 h 210"/>
                  <a:gd name="T2" fmla="*/ 95 w 325"/>
                  <a:gd name="T3" fmla="*/ 0 h 210"/>
                  <a:gd name="T4" fmla="*/ 95 w 325"/>
                  <a:gd name="T5" fmla="*/ 210 h 210"/>
                  <a:gd name="T6" fmla="*/ 178 w 325"/>
                  <a:gd name="T7" fmla="*/ 0 h 210"/>
                  <a:gd name="T8" fmla="*/ 178 w 325"/>
                  <a:gd name="T9" fmla="*/ 210 h 210"/>
                  <a:gd name="T10" fmla="*/ 262 w 325"/>
                  <a:gd name="T11" fmla="*/ 11 h 210"/>
                  <a:gd name="T12" fmla="*/ 262 w 325"/>
                  <a:gd name="T13" fmla="*/ 210 h 210"/>
                  <a:gd name="T14" fmla="*/ 325 w 325"/>
                  <a:gd name="T15" fmla="*/ 116 h 21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5"/>
                  <a:gd name="T25" fmla="*/ 0 h 210"/>
                  <a:gd name="T26" fmla="*/ 325 w 325"/>
                  <a:gd name="T27" fmla="*/ 210 h 21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5" h="210">
                    <a:moveTo>
                      <a:pt x="0" y="116"/>
                    </a:moveTo>
                    <a:lnTo>
                      <a:pt x="95" y="0"/>
                    </a:lnTo>
                    <a:lnTo>
                      <a:pt x="95" y="210"/>
                    </a:lnTo>
                    <a:lnTo>
                      <a:pt x="178" y="0"/>
                    </a:lnTo>
                    <a:lnTo>
                      <a:pt x="178" y="210"/>
                    </a:lnTo>
                    <a:lnTo>
                      <a:pt x="262" y="11"/>
                    </a:lnTo>
                    <a:lnTo>
                      <a:pt x="262" y="210"/>
                    </a:lnTo>
                    <a:lnTo>
                      <a:pt x="325" y="116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4" name="Line 45"/>
              <p:cNvSpPr>
                <a:spLocks noChangeShapeType="1"/>
              </p:cNvSpPr>
              <p:nvPr/>
            </p:nvSpPr>
            <p:spPr bwMode="auto">
              <a:xfrm>
                <a:off x="5381" y="3027"/>
                <a:ext cx="22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75" name="Text Box 61"/>
          <p:cNvSpPr txBox="1">
            <a:spLocks noChangeArrowheads="1"/>
          </p:cNvSpPr>
          <p:nvPr/>
        </p:nvSpPr>
        <p:spPr bwMode="auto">
          <a:xfrm>
            <a:off x="3990795" y="5342441"/>
            <a:ext cx="2575042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eaLnBrk="1" hangingPunct="1">
              <a:spcBef>
                <a:spcPts val="0"/>
              </a:spcBef>
              <a:buFont typeface="Symbol" panose="05050102010706020507" pitchFamily="18" charset="2"/>
              <a:buChar char="Þ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L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= 0 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1571265" y="3497255"/>
            <a:ext cx="5286103" cy="1463676"/>
            <a:chOff x="1933215" y="3669975"/>
            <a:chExt cx="5286103" cy="1463676"/>
          </a:xfrm>
        </p:grpSpPr>
        <p:grpSp>
          <p:nvGrpSpPr>
            <p:cNvPr id="11" name="Grupo 10"/>
            <p:cNvGrpSpPr/>
            <p:nvPr/>
          </p:nvGrpSpPr>
          <p:grpSpPr>
            <a:xfrm>
              <a:off x="3725229" y="3669975"/>
              <a:ext cx="3494089" cy="1463676"/>
              <a:chOff x="3350325" y="3754055"/>
              <a:chExt cx="3494089" cy="1463676"/>
            </a:xfrm>
          </p:grpSpPr>
          <p:sp>
            <p:nvSpPr>
              <p:cNvPr id="40" name="Line 3"/>
              <p:cNvSpPr>
                <a:spLocks noChangeShapeType="1"/>
              </p:cNvSpPr>
              <p:nvPr/>
            </p:nvSpPr>
            <p:spPr bwMode="auto">
              <a:xfrm>
                <a:off x="3350325" y="4914518"/>
                <a:ext cx="3492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1" name="Freeform 4"/>
              <p:cNvSpPr>
                <a:spLocks/>
              </p:cNvSpPr>
              <p:nvPr/>
            </p:nvSpPr>
            <p:spPr bwMode="auto">
              <a:xfrm>
                <a:off x="3682113" y="4593843"/>
                <a:ext cx="914400" cy="623888"/>
              </a:xfrm>
              <a:custGeom>
                <a:avLst/>
                <a:gdLst>
                  <a:gd name="T0" fmla="*/ 0 w 576"/>
                  <a:gd name="T1" fmla="*/ 192 h 393"/>
                  <a:gd name="T2" fmla="*/ 147 w 576"/>
                  <a:gd name="T3" fmla="*/ 3 h 393"/>
                  <a:gd name="T4" fmla="*/ 251 w 576"/>
                  <a:gd name="T5" fmla="*/ 212 h 393"/>
                  <a:gd name="T6" fmla="*/ 136 w 576"/>
                  <a:gd name="T7" fmla="*/ 390 h 393"/>
                  <a:gd name="T8" fmla="*/ 84 w 576"/>
                  <a:gd name="T9" fmla="*/ 192 h 393"/>
                  <a:gd name="T10" fmla="*/ 272 w 576"/>
                  <a:gd name="T11" fmla="*/ 3 h 393"/>
                  <a:gd name="T12" fmla="*/ 367 w 576"/>
                  <a:gd name="T13" fmla="*/ 212 h 393"/>
                  <a:gd name="T14" fmla="*/ 272 w 576"/>
                  <a:gd name="T15" fmla="*/ 380 h 393"/>
                  <a:gd name="T16" fmla="*/ 189 w 576"/>
                  <a:gd name="T17" fmla="*/ 181 h 393"/>
                  <a:gd name="T18" fmla="*/ 388 w 576"/>
                  <a:gd name="T19" fmla="*/ 24 h 393"/>
                  <a:gd name="T20" fmla="*/ 482 w 576"/>
                  <a:gd name="T21" fmla="*/ 202 h 393"/>
                  <a:gd name="T22" fmla="*/ 388 w 576"/>
                  <a:gd name="T23" fmla="*/ 380 h 393"/>
                  <a:gd name="T24" fmla="*/ 304 w 576"/>
                  <a:gd name="T25" fmla="*/ 192 h 393"/>
                  <a:gd name="T26" fmla="*/ 503 w 576"/>
                  <a:gd name="T27" fmla="*/ 24 h 393"/>
                  <a:gd name="T28" fmla="*/ 576 w 576"/>
                  <a:gd name="T29" fmla="*/ 233 h 3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6"/>
                  <a:gd name="T46" fmla="*/ 0 h 393"/>
                  <a:gd name="T47" fmla="*/ 576 w 576"/>
                  <a:gd name="T48" fmla="*/ 393 h 39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6" h="393">
                    <a:moveTo>
                      <a:pt x="0" y="192"/>
                    </a:moveTo>
                    <a:cubicBezTo>
                      <a:pt x="52" y="96"/>
                      <a:pt x="105" y="0"/>
                      <a:pt x="147" y="3"/>
                    </a:cubicBezTo>
                    <a:cubicBezTo>
                      <a:pt x="189" y="6"/>
                      <a:pt x="253" y="148"/>
                      <a:pt x="251" y="212"/>
                    </a:cubicBezTo>
                    <a:cubicBezTo>
                      <a:pt x="249" y="276"/>
                      <a:pt x="164" y="393"/>
                      <a:pt x="136" y="390"/>
                    </a:cubicBezTo>
                    <a:cubicBezTo>
                      <a:pt x="108" y="387"/>
                      <a:pt x="61" y="256"/>
                      <a:pt x="84" y="192"/>
                    </a:cubicBezTo>
                    <a:cubicBezTo>
                      <a:pt x="107" y="128"/>
                      <a:pt x="225" y="0"/>
                      <a:pt x="272" y="3"/>
                    </a:cubicBezTo>
                    <a:cubicBezTo>
                      <a:pt x="319" y="6"/>
                      <a:pt x="367" y="149"/>
                      <a:pt x="367" y="212"/>
                    </a:cubicBezTo>
                    <a:cubicBezTo>
                      <a:pt x="367" y="275"/>
                      <a:pt x="302" y="385"/>
                      <a:pt x="272" y="380"/>
                    </a:cubicBezTo>
                    <a:cubicBezTo>
                      <a:pt x="242" y="375"/>
                      <a:pt x="170" y="240"/>
                      <a:pt x="189" y="181"/>
                    </a:cubicBezTo>
                    <a:cubicBezTo>
                      <a:pt x="208" y="122"/>
                      <a:pt x="339" y="21"/>
                      <a:pt x="388" y="24"/>
                    </a:cubicBezTo>
                    <a:cubicBezTo>
                      <a:pt x="437" y="27"/>
                      <a:pt x="482" y="143"/>
                      <a:pt x="482" y="202"/>
                    </a:cubicBezTo>
                    <a:cubicBezTo>
                      <a:pt x="482" y="261"/>
                      <a:pt x="418" y="382"/>
                      <a:pt x="388" y="380"/>
                    </a:cubicBezTo>
                    <a:cubicBezTo>
                      <a:pt x="358" y="378"/>
                      <a:pt x="285" y="251"/>
                      <a:pt x="304" y="192"/>
                    </a:cubicBezTo>
                    <a:cubicBezTo>
                      <a:pt x="323" y="133"/>
                      <a:pt x="458" y="17"/>
                      <a:pt x="503" y="24"/>
                    </a:cubicBezTo>
                    <a:cubicBezTo>
                      <a:pt x="548" y="31"/>
                      <a:pt x="564" y="198"/>
                      <a:pt x="576" y="233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2" name="Line 5"/>
              <p:cNvSpPr>
                <a:spLocks noChangeShapeType="1"/>
              </p:cNvSpPr>
              <p:nvPr/>
            </p:nvSpPr>
            <p:spPr bwMode="auto">
              <a:xfrm>
                <a:off x="4598100" y="4944680"/>
                <a:ext cx="3492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grpSp>
            <p:nvGrpSpPr>
              <p:cNvPr id="43" name="Group 28"/>
              <p:cNvGrpSpPr>
                <a:grpSpLocks/>
              </p:cNvGrpSpPr>
              <p:nvPr/>
            </p:nvGrpSpPr>
            <p:grpSpPr bwMode="auto">
              <a:xfrm>
                <a:off x="5118801" y="4638293"/>
                <a:ext cx="1725613" cy="358775"/>
                <a:chOff x="2659" y="2925"/>
                <a:chExt cx="1087" cy="226"/>
              </a:xfrm>
            </p:grpSpPr>
            <p:sp>
              <p:nvSpPr>
                <p:cNvPr id="46" name="Line 6"/>
                <p:cNvSpPr>
                  <a:spLocks noChangeShapeType="1"/>
                </p:cNvSpPr>
                <p:nvPr/>
              </p:nvSpPr>
              <p:spPr bwMode="auto">
                <a:xfrm>
                  <a:off x="2659" y="3128"/>
                  <a:ext cx="22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47" name="Freeform 8"/>
                <p:cNvSpPr>
                  <a:spLocks/>
                </p:cNvSpPr>
                <p:nvPr/>
              </p:nvSpPr>
              <p:spPr bwMode="auto">
                <a:xfrm>
                  <a:off x="2877" y="2925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15965 w 180"/>
                    <a:gd name="T3" fmla="*/ 47 h 214"/>
                    <a:gd name="T4" fmla="*/ 52817 w 180"/>
                    <a:gd name="T5" fmla="*/ 5 h 214"/>
                    <a:gd name="T6" fmla="*/ 84291 w 180"/>
                    <a:gd name="T7" fmla="*/ 78 h 214"/>
                    <a:gd name="T8" fmla="*/ 89530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48" name="Freeform 9"/>
                <p:cNvSpPr>
                  <a:spLocks/>
                </p:cNvSpPr>
                <p:nvPr/>
              </p:nvSpPr>
              <p:spPr bwMode="auto">
                <a:xfrm>
                  <a:off x="3093" y="2931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15965 w 180"/>
                    <a:gd name="T3" fmla="*/ 47 h 214"/>
                    <a:gd name="T4" fmla="*/ 52817 w 180"/>
                    <a:gd name="T5" fmla="*/ 5 h 214"/>
                    <a:gd name="T6" fmla="*/ 84291 w 180"/>
                    <a:gd name="T7" fmla="*/ 78 h 214"/>
                    <a:gd name="T8" fmla="*/ 89530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49" name="Freeform 10"/>
                <p:cNvSpPr>
                  <a:spLocks/>
                </p:cNvSpPr>
                <p:nvPr/>
              </p:nvSpPr>
              <p:spPr bwMode="auto">
                <a:xfrm>
                  <a:off x="3309" y="2937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15965 w 180"/>
                    <a:gd name="T3" fmla="*/ 47 h 214"/>
                    <a:gd name="T4" fmla="*/ 52817 w 180"/>
                    <a:gd name="T5" fmla="*/ 5 h 214"/>
                    <a:gd name="T6" fmla="*/ 84291 w 180"/>
                    <a:gd name="T7" fmla="*/ 78 h 214"/>
                    <a:gd name="T8" fmla="*/ 89530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0" name="Line 11"/>
                <p:cNvSpPr>
                  <a:spLocks noChangeShapeType="1"/>
                </p:cNvSpPr>
                <p:nvPr/>
              </p:nvSpPr>
              <p:spPr bwMode="auto">
                <a:xfrm>
                  <a:off x="3526" y="3137"/>
                  <a:ext cx="22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45" name="Text Box 25"/>
              <p:cNvSpPr txBox="1">
                <a:spLocks noChangeArrowheads="1"/>
              </p:cNvSpPr>
              <p:nvPr/>
            </p:nvSpPr>
            <p:spPr bwMode="auto">
              <a:xfrm>
                <a:off x="4102800" y="3754055"/>
                <a:ext cx="1879601" cy="536575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Bobina ideal</a:t>
                </a:r>
              </a:p>
            </p:txBody>
          </p:sp>
        </p:grpSp>
        <p:grpSp>
          <p:nvGrpSpPr>
            <p:cNvPr id="9" name="Grupo 8"/>
            <p:cNvGrpSpPr/>
            <p:nvPr/>
          </p:nvGrpSpPr>
          <p:grpSpPr>
            <a:xfrm>
              <a:off x="1933215" y="4612923"/>
              <a:ext cx="1597025" cy="360000"/>
              <a:chOff x="1933215" y="4612923"/>
              <a:chExt cx="1597025" cy="360000"/>
            </a:xfrm>
          </p:grpSpPr>
          <p:sp>
            <p:nvSpPr>
              <p:cNvPr id="76" name="Line 3"/>
              <p:cNvSpPr>
                <a:spLocks noChangeShapeType="1"/>
              </p:cNvSpPr>
              <p:nvPr/>
            </p:nvSpPr>
            <p:spPr bwMode="auto">
              <a:xfrm>
                <a:off x="1933215" y="4793111"/>
                <a:ext cx="3492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7" name="Line 5"/>
              <p:cNvSpPr>
                <a:spLocks noChangeShapeType="1"/>
              </p:cNvSpPr>
              <p:nvPr/>
            </p:nvSpPr>
            <p:spPr bwMode="auto">
              <a:xfrm>
                <a:off x="3180990" y="4823273"/>
                <a:ext cx="3492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" name="Rectángulo 3"/>
              <p:cNvSpPr/>
              <p:nvPr/>
            </p:nvSpPr>
            <p:spPr bwMode="auto">
              <a:xfrm>
                <a:off x="2198381" y="4612923"/>
                <a:ext cx="1080000" cy="360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none" lIns="90000" tIns="82800" rIns="90000" bIns="82800" numCol="1" rtlCol="0" anchor="t" anchorCtr="1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solidFill>
                      <a:srgbClr val="3333FF"/>
                    </a:solidFill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</p:grpSp>
      </p:grpSp>
      <p:cxnSp>
        <p:nvCxnSpPr>
          <p:cNvPr id="14" name="Conector recto 13"/>
          <p:cNvCxnSpPr/>
          <p:nvPr/>
        </p:nvCxnSpPr>
        <p:spPr bwMode="auto">
          <a:xfrm>
            <a:off x="7024562" y="3631622"/>
            <a:ext cx="0" cy="147694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78" name="Text Box 61"/>
          <p:cNvSpPr txBox="1">
            <a:spLocks noChangeArrowheads="1"/>
          </p:cNvSpPr>
          <p:nvPr/>
        </p:nvSpPr>
        <p:spPr bwMode="auto">
          <a:xfrm>
            <a:off x="8050371" y="5359868"/>
            <a:ext cx="2594278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 produce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autoinducción</a:t>
            </a:r>
          </a:p>
        </p:txBody>
      </p:sp>
      <p:sp>
        <p:nvSpPr>
          <p:cNvPr id="82" name="Text Box 27">
            <a:extLst>
              <a:ext uri="{FF2B5EF4-FFF2-40B4-BE49-F238E27FC236}">
                <a16:creationId xmlns:a16="http://schemas.microsoft.com/office/drawing/2014/main" id="{2A1948E4-6A83-4366-BB45-992CCA709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696" y="5407627"/>
            <a:ext cx="862842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 = 0</a:t>
            </a:r>
          </a:p>
        </p:txBody>
      </p:sp>
      <p:sp>
        <p:nvSpPr>
          <p:cNvPr id="85" name="Text Box 26">
            <a:extLst>
              <a:ext uri="{FF2B5EF4-FFF2-40B4-BE49-F238E27FC236}">
                <a16:creationId xmlns:a16="http://schemas.microsoft.com/office/drawing/2014/main" id="{6E355191-1A30-42A4-9E06-927A369BC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719" y="6275721"/>
            <a:ext cx="2647176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Iguales a las 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80" name="Text Box 61">
            <a:extLst>
              <a:ext uri="{FF2B5EF4-FFF2-40B4-BE49-F238E27FC236}">
                <a16:creationId xmlns:a16="http://schemas.microsoft.com/office/drawing/2014/main" id="{9A3CC6A3-E9AC-4405-873E-767395846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009" y="5335104"/>
            <a:ext cx="1791173" cy="5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d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dt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173072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49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49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7" grpId="0" animBg="1"/>
      <p:bldP spid="749670" grpId="0" animBg="1"/>
      <p:bldP spid="35860" grpId="0"/>
      <p:bldP spid="3" grpId="0" animBg="1"/>
      <p:bldP spid="75" grpId="0"/>
      <p:bldP spid="78" grpId="0"/>
      <p:bldP spid="82" grpId="0" animBg="1"/>
      <p:bldP spid="85" grpId="0" animBg="1"/>
      <p:bldP spid="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84" name="Text Box 12"/>
          <p:cNvSpPr txBox="1">
            <a:spLocks noChangeArrowheads="1"/>
          </p:cNvSpPr>
          <p:nvPr/>
        </p:nvSpPr>
        <p:spPr bwMode="auto">
          <a:xfrm>
            <a:off x="1554437" y="5067693"/>
            <a:ext cx="8420422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La autoinducción de una bobina depende de su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geometría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(aquí a través de N, S, </a:t>
            </a:r>
            <a:r>
              <a:rPr lang="es-ES" sz="2400" dirty="0">
                <a:solidFill>
                  <a:srgbClr val="000000"/>
                </a:solidFill>
                <a:latin typeface="Mistral" panose="03090702030407020403" pitchFamily="66" charset="0"/>
                <a:sym typeface="Symbol" panose="05050102010706020507" pitchFamily="18" charset="2"/>
              </a:rPr>
              <a:t>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 y de las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propiedades magnéticas de su núcleo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(a través de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). Si el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núcleo no es lineal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también depende de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e 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al depender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de ellos</a:t>
            </a:r>
            <a:endParaRPr lang="es-ES" sz="2400" dirty="0"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745530" name="Text Box 58"/>
          <p:cNvSpPr txBox="1">
            <a:spLocks noChangeArrowheads="1"/>
          </p:cNvSpPr>
          <p:nvPr/>
        </p:nvSpPr>
        <p:spPr bwMode="auto">
          <a:xfrm>
            <a:off x="7549584" y="3610319"/>
            <a:ext cx="1360488" cy="598104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= L </a:t>
            </a:r>
            <a:r>
              <a:rPr lang="es-ES" sz="28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3A39ACC-404D-4BAF-B0AA-3CBB558684C9}"/>
              </a:ext>
            </a:extLst>
          </p:cNvPr>
          <p:cNvGrpSpPr/>
          <p:nvPr/>
        </p:nvGrpSpPr>
        <p:grpSpPr>
          <a:xfrm>
            <a:off x="1800424" y="3623134"/>
            <a:ext cx="2327276" cy="941388"/>
            <a:chOff x="1800424" y="3604084"/>
            <a:chExt cx="2327276" cy="941388"/>
          </a:xfrm>
        </p:grpSpPr>
        <p:sp>
          <p:nvSpPr>
            <p:cNvPr id="11304" name="Text Box 14"/>
            <p:cNvSpPr txBox="1">
              <a:spLocks noChangeArrowheads="1"/>
            </p:cNvSpPr>
            <p:nvPr/>
          </p:nvSpPr>
          <p:spPr bwMode="auto">
            <a:xfrm>
              <a:off x="1800424" y="3604084"/>
              <a:ext cx="2171700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En el interior:</a:t>
              </a:r>
            </a:p>
          </p:txBody>
        </p:sp>
        <p:sp>
          <p:nvSpPr>
            <p:cNvPr id="11303" name="CuadroTexto 8"/>
            <p:cNvSpPr txBox="1">
              <a:spLocks noChangeArrowheads="1"/>
            </p:cNvSpPr>
            <p:nvPr/>
          </p:nvSpPr>
          <p:spPr bwMode="auto">
            <a:xfrm>
              <a:off x="2062362" y="4083509"/>
              <a:ext cx="2065338" cy="46196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b="1" dirty="0">
                  <a:solidFill>
                    <a:srgbClr val="FF0000"/>
                  </a:solidFill>
                </a:rPr>
                <a:t>B</a:t>
              </a:r>
              <a:r>
                <a:rPr lang="es-ES" sz="2400" dirty="0">
                  <a:solidFill>
                    <a:srgbClr val="FF0000"/>
                  </a:solidFill>
                </a:rPr>
                <a:t> // eje y </a:t>
              </a:r>
              <a:r>
                <a:rPr lang="es-ES" sz="2400" dirty="0" err="1">
                  <a:solidFill>
                    <a:srgbClr val="FF0000"/>
                  </a:solidFill>
                </a:rPr>
                <a:t>unif</a:t>
              </a:r>
              <a:r>
                <a:rPr lang="es-ES" sz="2400" dirty="0">
                  <a:solidFill>
                    <a:srgbClr val="FF0000"/>
                  </a:solidFill>
                </a:rPr>
                <a:t>.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CF826CFA-F655-419B-82F3-364EB02ACCEC}"/>
              </a:ext>
            </a:extLst>
          </p:cNvPr>
          <p:cNvGrpSpPr/>
          <p:nvPr/>
        </p:nvGrpSpPr>
        <p:grpSpPr>
          <a:xfrm>
            <a:off x="4913194" y="2573601"/>
            <a:ext cx="2485625" cy="674974"/>
            <a:chOff x="4913194" y="2573601"/>
            <a:chExt cx="2485625" cy="674974"/>
          </a:xfrm>
        </p:grpSpPr>
        <p:sp>
          <p:nvSpPr>
            <p:cNvPr id="11300" name="Text Box 13"/>
            <p:cNvSpPr txBox="1">
              <a:spLocks noChangeArrowheads="1"/>
            </p:cNvSpPr>
            <p:nvPr/>
          </p:nvSpPr>
          <p:spPr bwMode="auto">
            <a:xfrm>
              <a:off x="5186055" y="2573601"/>
              <a:ext cx="2212764" cy="659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 = </a:t>
              </a:r>
              <a:r>
                <a:rPr lang="es-ES" sz="32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</a:t>
              </a: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s-ES" sz="2800" baseline="30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S/</a:t>
              </a:r>
              <a:r>
                <a:rPr lang="es-ES" sz="2800" dirty="0">
                  <a:solidFill>
                    <a:srgbClr val="000000"/>
                  </a:solidFill>
                  <a:latin typeface="Mistral" panose="03090702030407020403" pitchFamily="66" charset="0"/>
                  <a:cs typeface="Aharoni" panose="02010803020104030203" pitchFamily="2" charset="-79"/>
                  <a:sym typeface="Symbol" panose="05050102010706020507" pitchFamily="18" charset="2"/>
                </a:rPr>
                <a:t>l</a:t>
              </a: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endParaRPr lang="es-ES" sz="32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1301" name="Flecha derecha 68"/>
            <p:cNvSpPr>
              <a:spLocks noChangeArrowheads="1"/>
            </p:cNvSpPr>
            <p:nvPr/>
          </p:nvSpPr>
          <p:spPr bwMode="auto">
            <a:xfrm>
              <a:off x="4913194" y="2686600"/>
              <a:ext cx="325484" cy="56197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aseline="-25000"/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82D8D3DC-4BCE-493C-ABEB-6DD5F3EEA58E}"/>
              </a:ext>
            </a:extLst>
          </p:cNvPr>
          <p:cNvGrpSpPr/>
          <p:nvPr/>
        </p:nvGrpSpPr>
        <p:grpSpPr>
          <a:xfrm>
            <a:off x="4890495" y="3612445"/>
            <a:ext cx="1360488" cy="1174415"/>
            <a:chOff x="4890495" y="3612445"/>
            <a:chExt cx="1360488" cy="1174415"/>
          </a:xfrm>
        </p:grpSpPr>
        <p:sp>
          <p:nvSpPr>
            <p:cNvPr id="11305" name="Text Box 13"/>
            <p:cNvSpPr txBox="1">
              <a:spLocks noChangeArrowheads="1"/>
            </p:cNvSpPr>
            <p:nvPr/>
          </p:nvSpPr>
          <p:spPr bwMode="auto">
            <a:xfrm>
              <a:off x="4890495" y="3612445"/>
              <a:ext cx="1360488" cy="5984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B =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</a:t>
              </a: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</a:t>
              </a: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  <a:r>
                <a:rPr lang="es-ES" sz="2400" dirty="0" err="1">
                  <a:solidFill>
                    <a:srgbClr val="000000"/>
                  </a:solidFill>
                  <a:latin typeface="Comic Sans MS" panose="030F0702030302020204" pitchFamily="66" charset="0"/>
                </a:rPr>
                <a:t>I</a:t>
              </a:r>
              <a:endParaRPr lang="es-ES" sz="240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71" name="Text Box 58"/>
            <p:cNvSpPr txBox="1">
              <a:spLocks noChangeArrowheads="1"/>
            </p:cNvSpPr>
            <p:nvPr/>
          </p:nvSpPr>
          <p:spPr bwMode="auto">
            <a:xfrm>
              <a:off x="4942520" y="4250311"/>
              <a:ext cx="1095469" cy="53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 = N/</a:t>
              </a:r>
              <a:r>
                <a:rPr lang="es-ES" sz="2400">
                  <a:solidFill>
                    <a:srgbClr val="FF0000"/>
                  </a:solidFill>
                  <a:latin typeface="Mistral" panose="03090702030407020403" pitchFamily="66" charset="0"/>
                  <a:cs typeface="Aharoni" panose="02010803020104030203" pitchFamily="2" charset="-79"/>
                  <a:sym typeface="Symbol" panose="05050102010706020507" pitchFamily="18" charset="2"/>
                </a:rPr>
                <a:t>l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7AEB32E1-8789-F6AD-3186-E4A07237889B}"/>
              </a:ext>
            </a:extLst>
          </p:cNvPr>
          <p:cNvGrpSpPr/>
          <p:nvPr/>
        </p:nvGrpSpPr>
        <p:grpSpPr>
          <a:xfrm>
            <a:off x="8108682" y="2478868"/>
            <a:ext cx="2138648" cy="931220"/>
            <a:chOff x="8108682" y="2478868"/>
            <a:chExt cx="2138648" cy="931220"/>
          </a:xfrm>
        </p:grpSpPr>
        <p:sp>
          <p:nvSpPr>
            <p:cNvPr id="11297" name="Rectangle 15"/>
            <p:cNvSpPr>
              <a:spLocks noChangeArrowheads="1"/>
            </p:cNvSpPr>
            <p:nvPr/>
          </p:nvSpPr>
          <p:spPr bwMode="auto">
            <a:xfrm>
              <a:off x="8108682" y="2478868"/>
              <a:ext cx="2138648" cy="9312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98" name="Text Box 13"/>
            <p:cNvSpPr txBox="1">
              <a:spLocks noChangeArrowheads="1"/>
            </p:cNvSpPr>
            <p:nvPr/>
          </p:nvSpPr>
          <p:spPr bwMode="auto">
            <a:xfrm>
              <a:off x="8177814" y="2625713"/>
              <a:ext cx="2007383" cy="598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L = </a:t>
              </a: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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N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 / </a:t>
              </a:r>
              <a:r>
                <a:rPr lang="es-ES" sz="2400" dirty="0">
                  <a:solidFill>
                    <a:srgbClr val="000000"/>
                  </a:solidFill>
                  <a:latin typeface="Mistral" panose="03090702030407020403" pitchFamily="66" charset="0"/>
                  <a:sym typeface="Symbol" panose="05050102010706020507" pitchFamily="18" charset="2"/>
                </a:rPr>
                <a:t>l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</a:p>
          </p:txBody>
        </p:sp>
      </p:grpSp>
      <p:sp>
        <p:nvSpPr>
          <p:cNvPr id="11299" name="Flecha derecha 73"/>
          <p:cNvSpPr>
            <a:spLocks noChangeArrowheads="1"/>
          </p:cNvSpPr>
          <p:nvPr/>
        </p:nvSpPr>
        <p:spPr bwMode="auto">
          <a:xfrm>
            <a:off x="7572390" y="2662338"/>
            <a:ext cx="315435" cy="56197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baseline="-25000"/>
          </a:p>
        </p:txBody>
      </p:sp>
      <p:sp>
        <p:nvSpPr>
          <p:cNvPr id="11282" name="Text Box 57"/>
          <p:cNvSpPr txBox="1">
            <a:spLocks noChangeArrowheads="1"/>
          </p:cNvSpPr>
          <p:nvPr/>
        </p:nvSpPr>
        <p:spPr bwMode="auto">
          <a:xfrm>
            <a:off x="1633315" y="1215868"/>
            <a:ext cx="8348885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Calculemos 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flujo interior </a:t>
            </a:r>
            <a:r>
              <a:rPr lang="es-ES" sz="2400" dirty="0">
                <a:latin typeface="Arial" panose="020B0604020202020204" pitchFamily="34" charset="0"/>
              </a:rPr>
              <a:t>debido a la bobina, al solenoide, a través de sus N espiras, iguales, de área S,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 al eje: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5" name="Text Box 2"/>
          <p:cNvSpPr txBox="1">
            <a:spLocks noChangeArrowheads="1"/>
          </p:cNvSpPr>
          <p:nvPr/>
        </p:nvSpPr>
        <p:spPr bwMode="auto">
          <a:xfrm>
            <a:off x="2907762" y="445665"/>
            <a:ext cx="5794270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AUTOINDUCCIÓN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DE UN SOLENOIDE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1510937" y="2560475"/>
            <a:ext cx="2941638" cy="836612"/>
            <a:chOff x="4352196" y="3396394"/>
            <a:chExt cx="2941638" cy="836612"/>
          </a:xfrm>
        </p:grpSpPr>
        <p:graphicFrame>
          <p:nvGraphicFramePr>
            <p:cNvPr id="11284" name="Object 75"/>
            <p:cNvGraphicFramePr>
              <a:graphicFrameLocks noChangeAspect="1"/>
            </p:cNvGraphicFramePr>
            <p:nvPr/>
          </p:nvGraphicFramePr>
          <p:xfrm>
            <a:off x="4768121" y="3513869"/>
            <a:ext cx="2525713" cy="719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44060" imgH="355446" progId="Equation.3">
                    <p:embed/>
                  </p:oleObj>
                </mc:Choice>
                <mc:Fallback>
                  <p:oleObj name="Ecuación" r:id="rId3" imgW="1244060" imgH="355446" progId="Equation.3">
                    <p:embed/>
                    <p:pic>
                      <p:nvPicPr>
                        <p:cNvPr id="11284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121" y="3513869"/>
                          <a:ext cx="2525713" cy="719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1" name="Text Box 13"/>
            <p:cNvSpPr txBox="1">
              <a:spLocks noChangeArrowheads="1"/>
            </p:cNvSpPr>
            <p:nvPr/>
          </p:nvSpPr>
          <p:spPr bwMode="auto">
            <a:xfrm>
              <a:off x="4352196" y="3396394"/>
              <a:ext cx="468313" cy="598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 </a:t>
              </a:r>
              <a:endParaRPr lang="es-ES" sz="32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2922543" y="2129315"/>
            <a:ext cx="442054" cy="602859"/>
            <a:chOff x="5598607" y="1405962"/>
            <a:chExt cx="442054" cy="602859"/>
          </a:xfrm>
        </p:grpSpPr>
        <p:sp>
          <p:nvSpPr>
            <p:cNvPr id="11285" name="Line 77"/>
            <p:cNvSpPr>
              <a:spLocks noChangeShapeType="1"/>
            </p:cNvSpPr>
            <p:nvPr/>
          </p:nvSpPr>
          <p:spPr bwMode="auto">
            <a:xfrm flipV="1">
              <a:off x="5598607" y="1808191"/>
              <a:ext cx="134451" cy="2006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11286" name="Text Box 78"/>
            <p:cNvSpPr txBox="1">
              <a:spLocks noChangeArrowheads="1"/>
            </p:cNvSpPr>
            <p:nvPr/>
          </p:nvSpPr>
          <p:spPr bwMode="auto">
            <a:xfrm>
              <a:off x="5653311" y="1405962"/>
              <a:ext cx="387350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B</a:t>
              </a:r>
            </a:p>
          </p:txBody>
        </p:sp>
      </p:grpSp>
      <p:sp>
        <p:nvSpPr>
          <p:cNvPr id="11287" name="Freeform 79"/>
          <p:cNvSpPr>
            <a:spLocks/>
          </p:cNvSpPr>
          <p:nvPr/>
        </p:nvSpPr>
        <p:spPr bwMode="auto">
          <a:xfrm>
            <a:off x="2561004" y="2423518"/>
            <a:ext cx="358775" cy="369887"/>
          </a:xfrm>
          <a:custGeom>
            <a:avLst/>
            <a:gdLst>
              <a:gd name="T0" fmla="*/ 226 w 226"/>
              <a:gd name="T1" fmla="*/ 7 h 233"/>
              <a:gd name="T2" fmla="*/ 41 w 226"/>
              <a:gd name="T3" fmla="*/ 38 h 233"/>
              <a:gd name="T4" fmla="*/ 0 w 226"/>
              <a:gd name="T5" fmla="*/ 233 h 23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6" h="233">
                <a:moveTo>
                  <a:pt x="226" y="7"/>
                </a:moveTo>
                <a:cubicBezTo>
                  <a:pt x="152" y="3"/>
                  <a:pt x="79" y="0"/>
                  <a:pt x="41" y="38"/>
                </a:cubicBezTo>
                <a:cubicBezTo>
                  <a:pt x="3" y="76"/>
                  <a:pt x="1" y="154"/>
                  <a:pt x="0" y="233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/>
          <a:p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4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4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484" grpId="0" animBg="1"/>
      <p:bldP spid="745530" grpId="0" animBg="1"/>
      <p:bldP spid="11299" grpId="0" animBg="1"/>
      <p:bldP spid="11282" grpId="0" animBg="1"/>
      <p:bldP spid="75" grpId="0" animBg="1"/>
      <p:bldP spid="112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ext Box 65"/>
          <p:cNvSpPr txBox="1">
            <a:spLocks noChangeArrowheads="1"/>
          </p:cNvSpPr>
          <p:nvPr/>
        </p:nvSpPr>
        <p:spPr bwMode="auto">
          <a:xfrm>
            <a:off x="3631095" y="437767"/>
            <a:ext cx="4286087" cy="536549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FFFF"/>
                </a:solidFill>
              </a:rPr>
              <a:t>ECUACIÓN DE UNA BOBINA</a:t>
            </a:r>
          </a:p>
        </p:txBody>
      </p:sp>
      <p:grpSp>
        <p:nvGrpSpPr>
          <p:cNvPr id="13348" name="Group 36"/>
          <p:cNvGrpSpPr>
            <a:grpSpLocks/>
          </p:cNvGrpSpPr>
          <p:nvPr/>
        </p:nvGrpSpPr>
        <p:grpSpPr bwMode="auto">
          <a:xfrm>
            <a:off x="6367463" y="2355046"/>
            <a:ext cx="2787650" cy="1044575"/>
            <a:chOff x="2826" y="3547"/>
            <a:chExt cx="1756" cy="658"/>
          </a:xfrm>
        </p:grpSpPr>
        <p:sp>
          <p:nvSpPr>
            <p:cNvPr id="13334" name="Rectangle 67"/>
            <p:cNvSpPr>
              <a:spLocks noChangeArrowheads="1"/>
            </p:cNvSpPr>
            <p:nvPr/>
          </p:nvSpPr>
          <p:spPr bwMode="auto">
            <a:xfrm>
              <a:off x="2826" y="3547"/>
              <a:ext cx="1756" cy="65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13335" name="Object 43"/>
            <p:cNvGraphicFramePr>
              <a:graphicFrameLocks noChangeAspect="1"/>
            </p:cNvGraphicFramePr>
            <p:nvPr/>
          </p:nvGraphicFramePr>
          <p:xfrm>
            <a:off x="3230" y="3584"/>
            <a:ext cx="814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45863" imgH="393529" progId="Equation.3">
                    <p:embed/>
                  </p:oleObj>
                </mc:Choice>
                <mc:Fallback>
                  <p:oleObj name="Ecuación" r:id="rId3" imgW="545863" imgH="393529" progId="Equation.3">
                    <p:embed/>
                    <p:pic>
                      <p:nvPicPr>
                        <p:cNvPr id="13335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0" y="3584"/>
                          <a:ext cx="814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32" name="Text Box 49"/>
          <p:cNvSpPr txBox="1">
            <a:spLocks noChangeArrowheads="1"/>
          </p:cNvSpPr>
          <p:nvPr/>
        </p:nvSpPr>
        <p:spPr bwMode="auto">
          <a:xfrm>
            <a:off x="1983930" y="5431950"/>
            <a:ext cx="8201973" cy="598104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El trabajo del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INDUCIDO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en las 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espiras de la bobina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sp>
        <p:nvSpPr>
          <p:cNvPr id="43095" name="Text Box 87"/>
          <p:cNvSpPr txBox="1">
            <a:spLocks noChangeArrowheads="1"/>
          </p:cNvSpPr>
          <p:nvPr/>
        </p:nvSpPr>
        <p:spPr bwMode="auto">
          <a:xfrm>
            <a:off x="1149470" y="1686698"/>
            <a:ext cx="717538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chemeClr val="tx1"/>
                </a:solidFill>
              </a:rPr>
              <a:t>Para </a:t>
            </a:r>
            <a:r>
              <a:rPr lang="es-ES" sz="2400" dirty="0">
                <a:solidFill>
                  <a:schemeClr val="tx1"/>
                </a:solidFill>
              </a:rPr>
              <a:t>una espira </a:t>
            </a:r>
            <a:r>
              <a:rPr lang="es-ES" sz="2400">
                <a:solidFill>
                  <a:schemeClr val="tx1"/>
                </a:solidFill>
              </a:rPr>
              <a:t>se verifica la Ley de Inducción: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2" name="Text Box 87"/>
          <p:cNvSpPr txBox="1">
            <a:spLocks noChangeArrowheads="1"/>
          </p:cNvSpPr>
          <p:nvPr/>
        </p:nvSpPr>
        <p:spPr bwMode="auto">
          <a:xfrm>
            <a:off x="4352254" y="974316"/>
            <a:ext cx="2911672" cy="474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dirty="0">
                <a:solidFill>
                  <a:srgbClr val="FF0000"/>
                </a:solidFill>
              </a:rPr>
              <a:t>(relación entre su V e </a:t>
            </a:r>
            <a:r>
              <a:rPr lang="es-ES" dirty="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  <a:r>
              <a:rPr lang="es-E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5" name="Text Box 87"/>
          <p:cNvSpPr txBox="1">
            <a:spLocks noChangeArrowheads="1"/>
          </p:cNvSpPr>
          <p:nvPr/>
        </p:nvSpPr>
        <p:spPr bwMode="auto">
          <a:xfrm>
            <a:off x="1278001" y="4897210"/>
            <a:ext cx="869198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chemeClr val="tx1"/>
                </a:solidFill>
              </a:rPr>
              <a:t>Para una bobina con N espiras, </a:t>
            </a:r>
            <a:r>
              <a:rPr lang="es-ES" sz="2400" dirty="0">
                <a:solidFill>
                  <a:schemeClr val="tx1"/>
                </a:solidFill>
              </a:rPr>
              <a:t>se verifica </a:t>
            </a:r>
            <a:r>
              <a:rPr lang="es-ES" sz="2400">
                <a:solidFill>
                  <a:schemeClr val="tx1"/>
                </a:solidFill>
              </a:rPr>
              <a:t>lo mismo, </a:t>
            </a:r>
            <a:r>
              <a:rPr lang="es-ES" sz="2400" dirty="0">
                <a:solidFill>
                  <a:schemeClr val="tx1"/>
                </a:solidFill>
              </a:rPr>
              <a:t>siendo:</a:t>
            </a:r>
          </a:p>
        </p:txBody>
      </p:sp>
      <p:sp>
        <p:nvSpPr>
          <p:cNvPr id="76" name="Text Box 49"/>
          <p:cNvSpPr txBox="1">
            <a:spLocks noChangeArrowheads="1"/>
          </p:cNvSpPr>
          <p:nvPr/>
        </p:nvSpPr>
        <p:spPr bwMode="auto">
          <a:xfrm>
            <a:off x="1983930" y="6007735"/>
            <a:ext cx="8425902" cy="598104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El flujo magnético a través de las N espiras de la bobina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4" name="Group 183">
            <a:extLst>
              <a:ext uri="{FF2B5EF4-FFF2-40B4-BE49-F238E27FC236}">
                <a16:creationId xmlns:a16="http://schemas.microsoft.com/office/drawing/2014/main" id="{034F0672-B6DD-49FB-ABF9-3110A73A5784}"/>
              </a:ext>
            </a:extLst>
          </p:cNvPr>
          <p:cNvGrpSpPr>
            <a:grpSpLocks/>
          </p:cNvGrpSpPr>
          <p:nvPr/>
        </p:nvGrpSpPr>
        <p:grpSpPr bwMode="auto">
          <a:xfrm>
            <a:off x="2454179" y="2360403"/>
            <a:ext cx="2787650" cy="1054100"/>
            <a:chOff x="4343" y="1006"/>
            <a:chExt cx="1756" cy="664"/>
          </a:xfrm>
        </p:grpSpPr>
        <p:sp>
          <p:nvSpPr>
            <p:cNvPr id="35" name="Rectangle 152">
              <a:extLst>
                <a:ext uri="{FF2B5EF4-FFF2-40B4-BE49-F238E27FC236}">
                  <a16:creationId xmlns:a16="http://schemas.microsoft.com/office/drawing/2014/main" id="{D76EBCC6-40B8-4659-BCE5-7FBAE245E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1006"/>
              <a:ext cx="1756" cy="6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6" name="Object 153">
              <a:extLst>
                <a:ext uri="{FF2B5EF4-FFF2-40B4-BE49-F238E27FC236}">
                  <a16:creationId xmlns:a16="http://schemas.microsoft.com/office/drawing/2014/main" id="{9B8B5C16-0A77-406A-BA0B-74D2F6B7EF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92" y="1030"/>
            <a:ext cx="1672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231366" imgH="444307" progId="Equation.3">
                    <p:embed/>
                  </p:oleObj>
                </mc:Choice>
                <mc:Fallback>
                  <p:oleObj name="Ecuación" r:id="rId5" imgW="1231366" imgH="444307" progId="Equation.3">
                    <p:embed/>
                    <p:pic>
                      <p:nvPicPr>
                        <p:cNvPr id="36" name="Object 153">
                          <a:extLst>
                            <a:ext uri="{FF2B5EF4-FFF2-40B4-BE49-F238E27FC236}">
                              <a16:creationId xmlns:a16="http://schemas.microsoft.com/office/drawing/2014/main" id="{9B8B5C16-0A77-406A-BA0B-74D2F6B7EF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" y="1030"/>
                          <a:ext cx="1672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AutoShape 86">
            <a:extLst>
              <a:ext uri="{FF2B5EF4-FFF2-40B4-BE49-F238E27FC236}">
                <a16:creationId xmlns:a16="http://schemas.microsoft.com/office/drawing/2014/main" id="{7624E5EC-F4B2-4EE8-9F0E-71273B9C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45" y="2574132"/>
            <a:ext cx="261630" cy="673100"/>
          </a:xfrm>
          <a:prstGeom prst="rightArrow">
            <a:avLst>
              <a:gd name="adj1" fmla="val 50000"/>
              <a:gd name="adj2" fmla="val 4840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rot="10800000" vert="eaVert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 Box 49">
            <a:extLst>
              <a:ext uri="{FF2B5EF4-FFF2-40B4-BE49-F238E27FC236}">
                <a16:creationId xmlns:a16="http://schemas.microsoft.com/office/drawing/2014/main" id="{7C97D10A-AF19-47AD-955B-080C4330D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658" y="3618893"/>
            <a:ext cx="5272833" cy="598104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Trabajo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del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INDUCIDO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en la espira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sp>
        <p:nvSpPr>
          <p:cNvPr id="40" name="Text Box 49">
            <a:extLst>
              <a:ext uri="{FF2B5EF4-FFF2-40B4-BE49-F238E27FC236}">
                <a16:creationId xmlns:a16="http://schemas.microsoft.com/office/drawing/2014/main" id="{D7BD2C84-E77D-4AF8-A86C-8D58CABF6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930" y="4100618"/>
            <a:ext cx="5608124" cy="598104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Flujo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magnético a través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de la espira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3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  <p:bldP spid="13332" grpId="0"/>
      <p:bldP spid="43095" grpId="0"/>
      <p:bldP spid="32" grpId="0"/>
      <p:bldP spid="75" grpId="0"/>
      <p:bldP spid="76" grpId="0"/>
      <p:bldP spid="38" grpId="0" animBg="1"/>
      <p:bldP spid="39" grpId="0"/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upo 76"/>
          <p:cNvGrpSpPr/>
          <p:nvPr/>
        </p:nvGrpSpPr>
        <p:grpSpPr>
          <a:xfrm>
            <a:off x="4695891" y="423198"/>
            <a:ext cx="2160000" cy="1624405"/>
            <a:chOff x="860620" y="634700"/>
            <a:chExt cx="2160000" cy="1624405"/>
          </a:xfrm>
        </p:grpSpPr>
        <p:sp>
          <p:nvSpPr>
            <p:cNvPr id="78" name="Rectángulo 77"/>
            <p:cNvSpPr/>
            <p:nvPr/>
          </p:nvSpPr>
          <p:spPr bwMode="auto">
            <a:xfrm>
              <a:off x="860620" y="634700"/>
              <a:ext cx="2160000" cy="1624405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79" name="Group 22"/>
            <p:cNvGrpSpPr>
              <a:grpSpLocks/>
            </p:cNvGrpSpPr>
            <p:nvPr/>
          </p:nvGrpSpPr>
          <p:grpSpPr bwMode="auto">
            <a:xfrm>
              <a:off x="1015671" y="781098"/>
              <a:ext cx="1866901" cy="581025"/>
              <a:chOff x="1406" y="3270"/>
              <a:chExt cx="1176" cy="366"/>
            </a:xfrm>
          </p:grpSpPr>
          <p:sp>
            <p:nvSpPr>
              <p:cNvPr id="80" name="Text Box 23"/>
              <p:cNvSpPr txBox="1">
                <a:spLocks noChangeArrowheads="1"/>
              </p:cNvSpPr>
              <p:nvPr/>
            </p:nvSpPr>
            <p:spPr bwMode="auto">
              <a:xfrm>
                <a:off x="1406" y="3270"/>
                <a:ext cx="221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</a:p>
            </p:txBody>
          </p:sp>
          <p:grpSp>
            <p:nvGrpSpPr>
              <p:cNvPr id="81" name="Group 24"/>
              <p:cNvGrpSpPr>
                <a:grpSpLocks/>
              </p:cNvGrpSpPr>
              <p:nvPr/>
            </p:nvGrpSpPr>
            <p:grpSpPr bwMode="auto">
              <a:xfrm>
                <a:off x="1483" y="3410"/>
                <a:ext cx="1099" cy="226"/>
                <a:chOff x="2472" y="2949"/>
                <a:chExt cx="1099" cy="226"/>
              </a:xfrm>
            </p:grpSpPr>
            <p:sp>
              <p:nvSpPr>
                <p:cNvPr id="84" name="Line 25"/>
                <p:cNvSpPr>
                  <a:spLocks noChangeShapeType="1"/>
                </p:cNvSpPr>
                <p:nvPr/>
              </p:nvSpPr>
              <p:spPr bwMode="auto">
                <a:xfrm>
                  <a:off x="2472" y="3152"/>
                  <a:ext cx="22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5" name="Freeform 26"/>
                <p:cNvSpPr>
                  <a:spLocks/>
                </p:cNvSpPr>
                <p:nvPr/>
              </p:nvSpPr>
              <p:spPr bwMode="auto">
                <a:xfrm>
                  <a:off x="2702" y="2949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7045 w 180"/>
                    <a:gd name="T3" fmla="*/ 47 h 214"/>
                    <a:gd name="T4" fmla="*/ 23306 w 180"/>
                    <a:gd name="T5" fmla="*/ 5 h 214"/>
                    <a:gd name="T6" fmla="*/ 37193 w 180"/>
                    <a:gd name="T7" fmla="*/ 78 h 214"/>
                    <a:gd name="T8" fmla="*/ 39505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6" name="Freeform 27"/>
                <p:cNvSpPr>
                  <a:spLocks/>
                </p:cNvSpPr>
                <p:nvPr/>
              </p:nvSpPr>
              <p:spPr bwMode="auto">
                <a:xfrm>
                  <a:off x="2918" y="2955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7045 w 180"/>
                    <a:gd name="T3" fmla="*/ 47 h 214"/>
                    <a:gd name="T4" fmla="*/ 23306 w 180"/>
                    <a:gd name="T5" fmla="*/ 5 h 214"/>
                    <a:gd name="T6" fmla="*/ 37193 w 180"/>
                    <a:gd name="T7" fmla="*/ 78 h 214"/>
                    <a:gd name="T8" fmla="*/ 39505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7" name="Freeform 28"/>
                <p:cNvSpPr>
                  <a:spLocks/>
                </p:cNvSpPr>
                <p:nvPr/>
              </p:nvSpPr>
              <p:spPr bwMode="auto">
                <a:xfrm>
                  <a:off x="3134" y="2961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7045 w 180"/>
                    <a:gd name="T3" fmla="*/ 47 h 214"/>
                    <a:gd name="T4" fmla="*/ 23306 w 180"/>
                    <a:gd name="T5" fmla="*/ 5 h 214"/>
                    <a:gd name="T6" fmla="*/ 37193 w 180"/>
                    <a:gd name="T7" fmla="*/ 78 h 214"/>
                    <a:gd name="T8" fmla="*/ 39505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8" name="Line 29"/>
                <p:cNvSpPr>
                  <a:spLocks noChangeShapeType="1"/>
                </p:cNvSpPr>
                <p:nvPr/>
              </p:nvSpPr>
              <p:spPr bwMode="auto">
                <a:xfrm>
                  <a:off x="3351" y="3161"/>
                  <a:ext cx="22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82" name="Line 32"/>
              <p:cNvSpPr>
                <a:spLocks noChangeShapeType="1"/>
              </p:cNvSpPr>
              <p:nvPr/>
            </p:nvSpPr>
            <p:spPr bwMode="auto">
              <a:xfrm rot="5400000" flipV="1">
                <a:off x="1582" y="3524"/>
                <a:ext cx="0" cy="17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83" name="Line 33"/>
              <p:cNvSpPr>
                <a:spLocks noChangeShapeType="1"/>
              </p:cNvSpPr>
              <p:nvPr/>
            </p:nvSpPr>
            <p:spPr bwMode="auto">
              <a:xfrm rot="5400000" flipV="1">
                <a:off x="2440" y="3533"/>
                <a:ext cx="0" cy="17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89" name="Text Box 61"/>
          <p:cNvSpPr txBox="1">
            <a:spLocks noChangeArrowheads="1"/>
          </p:cNvSpPr>
          <p:nvPr/>
        </p:nvSpPr>
        <p:spPr bwMode="auto">
          <a:xfrm>
            <a:off x="5087086" y="1022203"/>
            <a:ext cx="148339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+            -</a:t>
            </a:r>
          </a:p>
        </p:txBody>
      </p:sp>
      <p:grpSp>
        <p:nvGrpSpPr>
          <p:cNvPr id="90" name="Group 56"/>
          <p:cNvGrpSpPr>
            <a:grpSpLocks/>
          </p:cNvGrpSpPr>
          <p:nvPr/>
        </p:nvGrpSpPr>
        <p:grpSpPr bwMode="auto">
          <a:xfrm>
            <a:off x="5566434" y="1255269"/>
            <a:ext cx="658813" cy="625475"/>
            <a:chOff x="3449" y="915"/>
            <a:chExt cx="415" cy="394"/>
          </a:xfrm>
        </p:grpSpPr>
        <p:sp>
          <p:nvSpPr>
            <p:cNvPr id="91" name="Line 73"/>
            <p:cNvSpPr>
              <a:spLocks noChangeShapeType="1"/>
            </p:cNvSpPr>
            <p:nvPr/>
          </p:nvSpPr>
          <p:spPr bwMode="auto">
            <a:xfrm flipH="1">
              <a:off x="3465" y="915"/>
              <a:ext cx="28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92" name="Text Box 58"/>
            <p:cNvSpPr txBox="1">
              <a:spLocks noChangeArrowheads="1"/>
            </p:cNvSpPr>
            <p:nvPr/>
          </p:nvSpPr>
          <p:spPr bwMode="auto">
            <a:xfrm>
              <a:off x="3449" y="971"/>
              <a:ext cx="41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ind</a:t>
              </a:r>
              <a:endParaRPr lang="es-E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3" name="Line 62"/>
            <p:cNvSpPr>
              <a:spLocks noChangeShapeType="1"/>
            </p:cNvSpPr>
            <p:nvPr/>
          </p:nvSpPr>
          <p:spPr bwMode="auto">
            <a:xfrm>
              <a:off x="3528" y="1029"/>
              <a:ext cx="11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94" name="CuadroTexto 93"/>
          <p:cNvSpPr txBox="1"/>
          <p:nvPr/>
        </p:nvSpPr>
        <p:spPr>
          <a:xfrm>
            <a:off x="1557815" y="3209894"/>
            <a:ext cx="8425902" cy="1695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108000" tIns="108000" rIns="108000" bIns="108000" rtlCol="0" anchor="ctr" anchorCtr="0">
            <a:spAutoFit/>
          </a:bodyPr>
          <a:lstStyle/>
          <a:p>
            <a:pPr algn="ctr"/>
            <a:r>
              <a:rPr lang="es-ES" sz="2400" dirty="0">
                <a:solidFill>
                  <a:srgbClr val="008000"/>
                </a:solidFill>
              </a:rPr>
              <a:t>Ocurre como en una R:</a:t>
            </a:r>
            <a:r>
              <a:rPr lang="es-ES" sz="2400" dirty="0"/>
              <a:t> </a:t>
            </a:r>
            <a:r>
              <a:rPr lang="es-ES" sz="2400" dirty="0">
                <a:solidFill>
                  <a:schemeClr val="tx1"/>
                </a:solidFill>
              </a:rPr>
              <a:t>Para lograr el objetivo (aumentar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), hay que aplicar un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en contra que realice un W igual pero de signo contrario al del </a:t>
            </a:r>
            <a:r>
              <a:rPr lang="es-ES" sz="2400" b="1" dirty="0" err="1">
                <a:solidFill>
                  <a:schemeClr val="tx1"/>
                </a:solidFill>
              </a:rPr>
              <a:t>E</a:t>
            </a:r>
            <a:r>
              <a:rPr lang="es-ES" sz="2400" baseline="-25000" dirty="0" err="1">
                <a:solidFill>
                  <a:schemeClr val="tx1"/>
                </a:solidFill>
              </a:rPr>
              <a:t>ind</a:t>
            </a:r>
            <a:r>
              <a:rPr lang="es-ES" sz="2400" dirty="0">
                <a:solidFill>
                  <a:schemeClr val="tx1"/>
                </a:solidFill>
              </a:rPr>
              <a:t>, -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chemeClr val="tx1"/>
                </a:solidFill>
              </a:rPr>
              <a:t>. Ese </a:t>
            </a:r>
            <a:r>
              <a:rPr lang="es-ES" sz="2400">
                <a:solidFill>
                  <a:schemeClr val="tx1"/>
                </a:solidFill>
              </a:rPr>
              <a:t>W </a:t>
            </a:r>
            <a:r>
              <a:rPr lang="es-ES" sz="2400" u="sng">
                <a:solidFill>
                  <a:schemeClr val="tx1"/>
                </a:solidFill>
              </a:rPr>
              <a:t>en el sentido de</a:t>
            </a:r>
            <a:r>
              <a:rPr lang="es-ES" sz="2400" u="sng">
                <a:solidFill>
                  <a:schemeClr val="tx1"/>
                </a:solidFill>
                <a:latin typeface="Comic Sans MS" panose="030F0702030302020204" pitchFamily="66" charset="0"/>
              </a:rPr>
              <a:t> I</a:t>
            </a:r>
            <a:r>
              <a:rPr lang="es-ES" sz="2400">
                <a:solidFill>
                  <a:schemeClr val="tx1"/>
                </a:solidFill>
              </a:rPr>
              <a:t> es &gt;0 e igual </a:t>
            </a:r>
            <a:r>
              <a:rPr lang="es-ES" sz="2400" dirty="0">
                <a:solidFill>
                  <a:schemeClr val="tx1"/>
                </a:solidFill>
              </a:rPr>
              <a:t>a la caída de potencial </a:t>
            </a:r>
            <a:r>
              <a:rPr lang="es-ES" sz="2400">
                <a:solidFill>
                  <a:schemeClr val="tx1"/>
                </a:solidFill>
              </a:rPr>
              <a:t>V que hay que aplicar</a:t>
            </a:r>
            <a:endParaRPr lang="es-ES" sz="2400" u="sng" dirty="0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1A5EF41-C972-490E-B322-91F28A3A17D6}"/>
              </a:ext>
            </a:extLst>
          </p:cNvPr>
          <p:cNvSpPr txBox="1"/>
          <p:nvPr/>
        </p:nvSpPr>
        <p:spPr>
          <a:xfrm>
            <a:off x="1562934" y="2473931"/>
            <a:ext cx="8425902" cy="587441"/>
          </a:xfrm>
          <a:prstGeom prst="rect">
            <a:avLst/>
          </a:prstGeom>
          <a:solidFill>
            <a:srgbClr val="FF99CC"/>
          </a:solidFill>
        </p:spPr>
        <p:txBody>
          <a:bodyPr wrap="square" lIns="108000" tIns="108000" rIns="108000" bIns="108000" rtlCol="0" anchor="ctr" anchorCtr="0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Si se intenta aumentar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, la bobina (L) se opone, crea </a:t>
            </a:r>
            <a:r>
              <a:rPr lang="es-ES" sz="2400" b="1" dirty="0" err="1">
                <a:solidFill>
                  <a:srgbClr val="FF0000"/>
                </a:solidFill>
              </a:rPr>
              <a:t>E</a:t>
            </a:r>
            <a:r>
              <a:rPr lang="es-ES" sz="2400" baseline="-25000" dirty="0" err="1">
                <a:solidFill>
                  <a:srgbClr val="FF0000"/>
                </a:solidFill>
              </a:rPr>
              <a:t>ind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FB1821D-8C1C-4F31-B7EB-5846B8285DF7}"/>
              </a:ext>
            </a:extLst>
          </p:cNvPr>
          <p:cNvSpPr txBox="1"/>
          <p:nvPr/>
        </p:nvSpPr>
        <p:spPr>
          <a:xfrm>
            <a:off x="1557815" y="5880128"/>
            <a:ext cx="8425902" cy="956773"/>
          </a:xfrm>
          <a:prstGeom prst="rect">
            <a:avLst/>
          </a:prstGeom>
          <a:solidFill>
            <a:srgbClr val="FFFF99"/>
          </a:solidFill>
        </p:spPr>
        <p:txBody>
          <a:bodyPr wrap="square" lIns="108000" tIns="108000" rIns="108000" bIns="108000" rtlCol="0" anchor="ctr" anchorCtr="0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A crear el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necesario, la V, </a:t>
            </a:r>
            <a:r>
              <a:rPr lang="es-ES" sz="2400" dirty="0">
                <a:solidFill>
                  <a:schemeClr val="tx1"/>
                </a:solidFill>
              </a:rPr>
              <a:t>para </a:t>
            </a:r>
            <a:r>
              <a:rPr lang="es-ES" sz="2400">
                <a:solidFill>
                  <a:schemeClr val="tx1"/>
                </a:solidFill>
              </a:rPr>
              <a:t>aumentar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, contribuyen </a:t>
            </a:r>
            <a:r>
              <a:rPr lang="es-ES" sz="2400" dirty="0">
                <a:solidFill>
                  <a:schemeClr val="tx1"/>
                </a:solidFill>
              </a:rPr>
              <a:t>los </a:t>
            </a:r>
            <a:r>
              <a:rPr lang="es-ES" sz="2400" dirty="0">
                <a:solidFill>
                  <a:srgbClr val="FF0000"/>
                </a:solidFill>
              </a:rPr>
              <a:t>excesos de carga </a:t>
            </a:r>
            <a:r>
              <a:rPr lang="es-ES" sz="2400" dirty="0">
                <a:solidFill>
                  <a:schemeClr val="tx1"/>
                </a:solidFill>
              </a:rPr>
              <a:t>que se acumulan en los extremos de L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CC489C4-6A81-17AE-01FF-754E1B204D1D}"/>
              </a:ext>
            </a:extLst>
          </p:cNvPr>
          <p:cNvGrpSpPr/>
          <p:nvPr/>
        </p:nvGrpSpPr>
        <p:grpSpPr>
          <a:xfrm>
            <a:off x="5048395" y="5069204"/>
            <a:ext cx="1462574" cy="633375"/>
            <a:chOff x="5048395" y="5069204"/>
            <a:chExt cx="1462574" cy="633375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AEA96858-6733-E1F7-5560-2D5C04895912}"/>
                </a:ext>
              </a:extLst>
            </p:cNvPr>
            <p:cNvSpPr/>
            <p:nvPr/>
          </p:nvSpPr>
          <p:spPr bwMode="auto">
            <a:xfrm>
              <a:off x="5048395" y="5069204"/>
              <a:ext cx="1462574" cy="633375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2" name="Object 43">
              <a:extLst>
                <a:ext uri="{FF2B5EF4-FFF2-40B4-BE49-F238E27FC236}">
                  <a16:creationId xmlns:a16="http://schemas.microsoft.com/office/drawing/2014/main" id="{02D6D03E-97E3-5919-5FEC-16EA866711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0029554"/>
                </p:ext>
              </p:extLst>
            </p:nvPr>
          </p:nvGraphicFramePr>
          <p:xfrm>
            <a:off x="5162472" y="5166021"/>
            <a:ext cx="1264285" cy="447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33169" imgH="190417" progId="Equation.3">
                    <p:embed/>
                  </p:oleObj>
                </mc:Choice>
                <mc:Fallback>
                  <p:oleObj name="Ecuación" r:id="rId3" imgW="533169" imgH="190417" progId="Equation.3">
                    <p:embed/>
                    <p:pic>
                      <p:nvPicPr>
                        <p:cNvPr id="57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2472" y="5166021"/>
                          <a:ext cx="1264285" cy="4470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940809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4" grpId="0" animBg="1"/>
      <p:bldP spid="31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o 48">
            <a:extLst>
              <a:ext uri="{FF2B5EF4-FFF2-40B4-BE49-F238E27FC236}">
                <a16:creationId xmlns:a16="http://schemas.microsoft.com/office/drawing/2014/main" id="{919940D7-8CB3-4D51-8870-A6B0250C2F1B}"/>
              </a:ext>
            </a:extLst>
          </p:cNvPr>
          <p:cNvGrpSpPr/>
          <p:nvPr/>
        </p:nvGrpSpPr>
        <p:grpSpPr>
          <a:xfrm>
            <a:off x="4695891" y="423198"/>
            <a:ext cx="2160000" cy="1624405"/>
            <a:chOff x="860620" y="634700"/>
            <a:chExt cx="2160000" cy="162440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90E3FA88-E3B0-4893-8F23-AF11B9F7CE5A}"/>
                </a:ext>
              </a:extLst>
            </p:cNvPr>
            <p:cNvSpPr/>
            <p:nvPr/>
          </p:nvSpPr>
          <p:spPr bwMode="auto">
            <a:xfrm>
              <a:off x="860620" y="634700"/>
              <a:ext cx="2160000" cy="1624405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8" name="Group 22">
              <a:extLst>
                <a:ext uri="{FF2B5EF4-FFF2-40B4-BE49-F238E27FC236}">
                  <a16:creationId xmlns:a16="http://schemas.microsoft.com/office/drawing/2014/main" id="{F729303E-A83F-49AB-8AA4-E6EE92A9EA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5671" y="781098"/>
              <a:ext cx="1866901" cy="581025"/>
              <a:chOff x="1406" y="3270"/>
              <a:chExt cx="1176" cy="366"/>
            </a:xfrm>
          </p:grpSpPr>
          <p:sp>
            <p:nvSpPr>
              <p:cNvPr id="69" name="Text Box 23">
                <a:extLst>
                  <a:ext uri="{FF2B5EF4-FFF2-40B4-BE49-F238E27FC236}">
                    <a16:creationId xmlns:a16="http://schemas.microsoft.com/office/drawing/2014/main" id="{1FB4EFB0-58A2-461C-A71F-00C724BE11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6" y="3270"/>
                <a:ext cx="221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</a:p>
            </p:txBody>
          </p:sp>
          <p:grpSp>
            <p:nvGrpSpPr>
              <p:cNvPr id="75" name="Group 24">
                <a:extLst>
                  <a:ext uri="{FF2B5EF4-FFF2-40B4-BE49-F238E27FC236}">
                    <a16:creationId xmlns:a16="http://schemas.microsoft.com/office/drawing/2014/main" id="{6C488D35-7F9E-4224-B9BC-2EE1E46C09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3" y="3410"/>
                <a:ext cx="1099" cy="226"/>
                <a:chOff x="2472" y="2949"/>
                <a:chExt cx="1099" cy="226"/>
              </a:xfrm>
            </p:grpSpPr>
            <p:sp>
              <p:nvSpPr>
                <p:cNvPr id="79" name="Line 25">
                  <a:extLst>
                    <a:ext uri="{FF2B5EF4-FFF2-40B4-BE49-F238E27FC236}">
                      <a16:creationId xmlns:a16="http://schemas.microsoft.com/office/drawing/2014/main" id="{BC9CCF55-025E-4156-A3A9-2299B9F374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2" y="3152"/>
                  <a:ext cx="22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0" name="Freeform 26">
                  <a:extLst>
                    <a:ext uri="{FF2B5EF4-FFF2-40B4-BE49-F238E27FC236}">
                      <a16:creationId xmlns:a16="http://schemas.microsoft.com/office/drawing/2014/main" id="{FF08C1D4-EB20-4B34-848F-A7205CD84E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02" y="2949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7045 w 180"/>
                    <a:gd name="T3" fmla="*/ 47 h 214"/>
                    <a:gd name="T4" fmla="*/ 23306 w 180"/>
                    <a:gd name="T5" fmla="*/ 5 h 214"/>
                    <a:gd name="T6" fmla="*/ 37193 w 180"/>
                    <a:gd name="T7" fmla="*/ 78 h 214"/>
                    <a:gd name="T8" fmla="*/ 39505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1" name="Freeform 27">
                  <a:extLst>
                    <a:ext uri="{FF2B5EF4-FFF2-40B4-BE49-F238E27FC236}">
                      <a16:creationId xmlns:a16="http://schemas.microsoft.com/office/drawing/2014/main" id="{869EA12D-A216-4A6D-9357-22D0DBC1D3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8" y="2955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7045 w 180"/>
                    <a:gd name="T3" fmla="*/ 47 h 214"/>
                    <a:gd name="T4" fmla="*/ 23306 w 180"/>
                    <a:gd name="T5" fmla="*/ 5 h 214"/>
                    <a:gd name="T6" fmla="*/ 37193 w 180"/>
                    <a:gd name="T7" fmla="*/ 78 h 214"/>
                    <a:gd name="T8" fmla="*/ 39505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2" name="Freeform 28">
                  <a:extLst>
                    <a:ext uri="{FF2B5EF4-FFF2-40B4-BE49-F238E27FC236}">
                      <a16:creationId xmlns:a16="http://schemas.microsoft.com/office/drawing/2014/main" id="{49116A3D-B89E-4088-B729-0D349964CA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2961"/>
                  <a:ext cx="212" cy="214"/>
                </a:xfrm>
                <a:custGeom>
                  <a:avLst/>
                  <a:gdLst>
                    <a:gd name="T0" fmla="*/ 0 w 180"/>
                    <a:gd name="T1" fmla="*/ 194 h 214"/>
                    <a:gd name="T2" fmla="*/ 7045 w 180"/>
                    <a:gd name="T3" fmla="*/ 47 h 214"/>
                    <a:gd name="T4" fmla="*/ 23306 w 180"/>
                    <a:gd name="T5" fmla="*/ 5 h 214"/>
                    <a:gd name="T6" fmla="*/ 37193 w 180"/>
                    <a:gd name="T7" fmla="*/ 78 h 214"/>
                    <a:gd name="T8" fmla="*/ 39505 w 180"/>
                    <a:gd name="T9" fmla="*/ 214 h 2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0"/>
                    <a:gd name="T16" fmla="*/ 0 h 214"/>
                    <a:gd name="T17" fmla="*/ 180 w 180"/>
                    <a:gd name="T18" fmla="*/ 214 h 2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0" h="214">
                      <a:moveTo>
                        <a:pt x="0" y="194"/>
                      </a:moveTo>
                      <a:cubicBezTo>
                        <a:pt x="7" y="136"/>
                        <a:pt x="14" y="78"/>
                        <a:pt x="31" y="47"/>
                      </a:cubicBezTo>
                      <a:cubicBezTo>
                        <a:pt x="48" y="16"/>
                        <a:pt x="82" y="0"/>
                        <a:pt x="105" y="5"/>
                      </a:cubicBezTo>
                      <a:cubicBezTo>
                        <a:pt x="128" y="10"/>
                        <a:pt x="156" y="43"/>
                        <a:pt x="168" y="78"/>
                      </a:cubicBezTo>
                      <a:cubicBezTo>
                        <a:pt x="180" y="113"/>
                        <a:pt x="179" y="163"/>
                        <a:pt x="178" y="214"/>
                      </a:cubicBezTo>
                    </a:path>
                  </a:pathLst>
                </a:cu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3" name="Line 29">
                  <a:extLst>
                    <a:ext uri="{FF2B5EF4-FFF2-40B4-BE49-F238E27FC236}">
                      <a16:creationId xmlns:a16="http://schemas.microsoft.com/office/drawing/2014/main" id="{C7386A68-6847-4217-94B6-CAC3109A9F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1" y="3161"/>
                  <a:ext cx="22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82800" rIns="90000" bIns="82800" anchorCtr="1">
                  <a:sp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76" name="Line 32">
                <a:extLst>
                  <a:ext uri="{FF2B5EF4-FFF2-40B4-BE49-F238E27FC236}">
                    <a16:creationId xmlns:a16="http://schemas.microsoft.com/office/drawing/2014/main" id="{CE09E4D6-1CDB-4B9C-A0EB-E405F9EF3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1582" y="3524"/>
                <a:ext cx="0" cy="17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78" name="Line 33">
                <a:extLst>
                  <a:ext uri="{FF2B5EF4-FFF2-40B4-BE49-F238E27FC236}">
                    <a16:creationId xmlns:a16="http://schemas.microsoft.com/office/drawing/2014/main" id="{546180A9-91C7-4D3F-8AA4-301D5F462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440" y="3533"/>
                <a:ext cx="0" cy="17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41" name="Text Box 66"/>
          <p:cNvSpPr txBox="1">
            <a:spLocks noChangeArrowheads="1"/>
          </p:cNvSpPr>
          <p:nvPr/>
        </p:nvSpPr>
        <p:spPr bwMode="auto">
          <a:xfrm>
            <a:off x="5053955" y="1073393"/>
            <a:ext cx="148339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-            +</a:t>
            </a:r>
          </a:p>
        </p:txBody>
      </p:sp>
      <p:grpSp>
        <p:nvGrpSpPr>
          <p:cNvPr id="42" name="Group 64"/>
          <p:cNvGrpSpPr>
            <a:grpSpLocks/>
          </p:cNvGrpSpPr>
          <p:nvPr/>
        </p:nvGrpSpPr>
        <p:grpSpPr bwMode="auto">
          <a:xfrm>
            <a:off x="5504809" y="1338151"/>
            <a:ext cx="658813" cy="569912"/>
            <a:chOff x="3449" y="919"/>
            <a:chExt cx="415" cy="359"/>
          </a:xfrm>
        </p:grpSpPr>
        <p:sp>
          <p:nvSpPr>
            <p:cNvPr id="43" name="Line 81"/>
            <p:cNvSpPr>
              <a:spLocks noChangeShapeType="1"/>
            </p:cNvSpPr>
            <p:nvPr/>
          </p:nvSpPr>
          <p:spPr bwMode="auto">
            <a:xfrm flipV="1">
              <a:off x="3497" y="919"/>
              <a:ext cx="28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44" name="Text Box 58"/>
            <p:cNvSpPr txBox="1">
              <a:spLocks noChangeArrowheads="1"/>
            </p:cNvSpPr>
            <p:nvPr/>
          </p:nvSpPr>
          <p:spPr bwMode="auto">
            <a:xfrm>
              <a:off x="3449" y="940"/>
              <a:ext cx="41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ind</a:t>
              </a:r>
              <a:endParaRPr lang="es-E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Line 62"/>
            <p:cNvSpPr>
              <a:spLocks noChangeShapeType="1"/>
            </p:cNvSpPr>
            <p:nvPr/>
          </p:nvSpPr>
          <p:spPr bwMode="auto">
            <a:xfrm>
              <a:off x="3535" y="991"/>
              <a:ext cx="11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51" name="CuadroTexto 50"/>
          <p:cNvSpPr txBox="1"/>
          <p:nvPr/>
        </p:nvSpPr>
        <p:spPr>
          <a:xfrm>
            <a:off x="1831145" y="2228956"/>
            <a:ext cx="7866087" cy="884070"/>
          </a:xfrm>
          <a:prstGeom prst="rect">
            <a:avLst/>
          </a:prstGeom>
          <a:solidFill>
            <a:srgbClr val="FF99CC"/>
          </a:solidFill>
        </p:spPr>
        <p:txBody>
          <a:bodyPr wrap="square" lIns="108000" tIns="72000" rIns="108000" bIns="72000" rtlCol="0" anchor="ctr" anchorCtr="0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Si se intenta disminuir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, L se opone, </a:t>
            </a:r>
            <a:r>
              <a:rPr lang="es-ES" sz="2400">
                <a:solidFill>
                  <a:schemeClr val="tx1"/>
                </a:solidFill>
              </a:rPr>
              <a:t>crea </a:t>
            </a:r>
            <a:r>
              <a:rPr lang="es-ES" sz="2400" b="1">
                <a:solidFill>
                  <a:srgbClr val="FF0000"/>
                </a:solidFill>
              </a:rPr>
              <a:t>E</a:t>
            </a:r>
            <a:r>
              <a:rPr lang="es-ES" sz="2400" baseline="-25000">
                <a:solidFill>
                  <a:srgbClr val="FF0000"/>
                </a:solidFill>
              </a:rPr>
              <a:t>ind</a:t>
            </a:r>
            <a:r>
              <a:rPr lang="es-ES" sz="2400">
                <a:solidFill>
                  <a:schemeClr val="tx1"/>
                </a:solidFill>
              </a:rPr>
              <a:t>, cuya acción acumula carga en los extremos de L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EF70AD7-550F-4DE3-8DEB-E50A22FE0C16}"/>
              </a:ext>
            </a:extLst>
          </p:cNvPr>
          <p:cNvSpPr txBox="1"/>
          <p:nvPr/>
        </p:nvSpPr>
        <p:spPr>
          <a:xfrm>
            <a:off x="1842162" y="3237991"/>
            <a:ext cx="7857204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108000" tIns="72000" rIns="108000" bIns="72000" rtlCol="0" anchor="ctr" anchorCtr="0">
            <a:spAutoFit/>
          </a:bodyPr>
          <a:lstStyle/>
          <a:p>
            <a:pPr algn="ctr"/>
            <a:r>
              <a:rPr lang="es-ES" sz="2400" dirty="0">
                <a:solidFill>
                  <a:srgbClr val="008000"/>
                </a:solidFill>
              </a:rPr>
              <a:t>L funciona como una pila:</a:t>
            </a:r>
            <a:r>
              <a:rPr lang="es-ES" sz="2400" dirty="0"/>
              <a:t> </a:t>
            </a:r>
            <a:r>
              <a:rPr lang="es-ES" sz="2400" dirty="0">
                <a:solidFill>
                  <a:schemeClr val="tx1"/>
                </a:solidFill>
              </a:rPr>
              <a:t>El </a:t>
            </a:r>
            <a:r>
              <a:rPr lang="es-ES" sz="2400" b="1" dirty="0" err="1">
                <a:solidFill>
                  <a:schemeClr val="tx1"/>
                </a:solidFill>
              </a:rPr>
              <a:t>E</a:t>
            </a:r>
            <a:r>
              <a:rPr lang="es-ES" sz="2400" baseline="-25000" dirty="0" err="1">
                <a:solidFill>
                  <a:schemeClr val="tx1"/>
                </a:solidFill>
              </a:rPr>
              <a:t>ind</a:t>
            </a:r>
            <a:r>
              <a:rPr lang="es-ES" sz="2400" dirty="0">
                <a:solidFill>
                  <a:schemeClr val="tx1"/>
                </a:solidFill>
              </a:rPr>
              <a:t> realiza un W para mantener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, &gt;0, </a:t>
            </a:r>
            <a:r>
              <a:rPr lang="es-ES" sz="2400" dirty="0">
                <a:solidFill>
                  <a:schemeClr val="tx1"/>
                </a:solidFill>
              </a:rPr>
              <a:t>opuesto al que realiza el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asociado a los </a:t>
            </a:r>
            <a:r>
              <a:rPr lang="es-ES" sz="2400" dirty="0">
                <a:solidFill>
                  <a:srgbClr val="FF0000"/>
                </a:solidFill>
              </a:rPr>
              <a:t>excesos de Q </a:t>
            </a:r>
            <a:r>
              <a:rPr lang="es-ES" sz="2400" dirty="0">
                <a:solidFill>
                  <a:schemeClr val="tx1"/>
                </a:solidFill>
              </a:rPr>
              <a:t>que se acumulan en </a:t>
            </a:r>
            <a:r>
              <a:rPr lang="es-ES" sz="2400">
                <a:solidFill>
                  <a:schemeClr val="tx1"/>
                </a:solidFill>
              </a:rPr>
              <a:t>los extremos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25468CB-497E-4A56-A280-12404AB7760C}"/>
              </a:ext>
            </a:extLst>
          </p:cNvPr>
          <p:cNvSpPr txBox="1"/>
          <p:nvPr/>
        </p:nvSpPr>
        <p:spPr>
          <a:xfrm>
            <a:off x="1859139" y="5473318"/>
            <a:ext cx="7866088" cy="1622734"/>
          </a:xfrm>
          <a:prstGeom prst="rect">
            <a:avLst/>
          </a:prstGeom>
          <a:solidFill>
            <a:srgbClr val="FFFF99"/>
          </a:solidFill>
        </p:spPr>
        <p:txBody>
          <a:bodyPr wrap="square" lIns="108000" tIns="72000" rIns="108000" bIns="72000" rtlCol="0" anchor="ctr" anchorCtr="0">
            <a:spAutoFit/>
          </a:bodyPr>
          <a:lstStyle/>
          <a:p>
            <a:pPr algn="ctr"/>
            <a:r>
              <a:rPr lang="es-ES" sz="2400">
                <a:solidFill>
                  <a:schemeClr val="tx1"/>
                </a:solidFill>
              </a:rPr>
              <a:t>El </a:t>
            </a:r>
            <a:r>
              <a:rPr lang="es-ES" sz="2400" dirty="0">
                <a:solidFill>
                  <a:schemeClr val="tx1"/>
                </a:solidFill>
              </a:rPr>
              <a:t>W de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u="sng">
                <a:solidFill>
                  <a:schemeClr val="tx1"/>
                </a:solidFill>
              </a:rPr>
              <a:t>en el sentido de </a:t>
            </a:r>
            <a:r>
              <a:rPr lang="es-ES" sz="2400" u="sng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, la V anterior, es ahora  una </a:t>
            </a:r>
            <a:r>
              <a:rPr lang="es-ES" sz="2400" dirty="0">
                <a:solidFill>
                  <a:schemeClr val="tx1"/>
                </a:solidFill>
              </a:rPr>
              <a:t>caída de </a:t>
            </a:r>
            <a:r>
              <a:rPr lang="es-ES" sz="2400">
                <a:solidFill>
                  <a:schemeClr val="tx1"/>
                </a:solidFill>
              </a:rPr>
              <a:t>potencial &lt; 0 ya que el potencial sube. </a:t>
            </a:r>
            <a:r>
              <a:rPr lang="es-ES" sz="2400" dirty="0">
                <a:solidFill>
                  <a:schemeClr val="tx1"/>
                </a:solidFill>
              </a:rPr>
              <a:t>Fuera </a:t>
            </a:r>
            <a:r>
              <a:rPr lang="es-ES" sz="2400">
                <a:solidFill>
                  <a:schemeClr val="tx1"/>
                </a:solidFill>
              </a:rPr>
              <a:t>de la bobina,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realiza ese </a:t>
            </a:r>
            <a:r>
              <a:rPr lang="es-ES" sz="2400" dirty="0">
                <a:solidFill>
                  <a:schemeClr val="tx1"/>
                </a:solidFill>
              </a:rPr>
              <a:t>mismo W pero </a:t>
            </a:r>
            <a:r>
              <a:rPr lang="es-ES" sz="2400">
                <a:solidFill>
                  <a:schemeClr val="tx1"/>
                </a:solidFill>
              </a:rPr>
              <a:t>en sen-tido </a:t>
            </a:r>
            <a:r>
              <a:rPr lang="es-ES" sz="2400" dirty="0">
                <a:solidFill>
                  <a:schemeClr val="tx1"/>
                </a:solidFill>
              </a:rPr>
              <a:t>contrario</a:t>
            </a:r>
            <a:r>
              <a:rPr lang="es-ES" sz="2400">
                <a:solidFill>
                  <a:schemeClr val="tx1"/>
                </a:solidFill>
              </a:rPr>
              <a:t>, &gt;0 e igual a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chemeClr val="tx1"/>
                </a:solidFill>
              </a:rPr>
              <a:t>, tendiendo a </a:t>
            </a:r>
            <a:r>
              <a:rPr lang="es-ES" sz="2400" dirty="0">
                <a:solidFill>
                  <a:schemeClr val="tx1"/>
                </a:solidFill>
              </a:rPr>
              <a:t>mantener </a:t>
            </a:r>
            <a:r>
              <a:rPr lang="es-ES" sz="2400">
                <a:solidFill>
                  <a:schemeClr val="tx1"/>
                </a:solidFill>
              </a:rPr>
              <a:t>a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 I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BAD19FF-788A-045D-7F81-7FBEED3B7727}"/>
              </a:ext>
            </a:extLst>
          </p:cNvPr>
          <p:cNvGrpSpPr/>
          <p:nvPr/>
        </p:nvGrpSpPr>
        <p:grpSpPr>
          <a:xfrm>
            <a:off x="5070429" y="4650562"/>
            <a:ext cx="1462574" cy="633375"/>
            <a:chOff x="5048395" y="5069204"/>
            <a:chExt cx="1462574" cy="633375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F9C31653-E42B-D6FA-80B4-27294C0E330F}"/>
                </a:ext>
              </a:extLst>
            </p:cNvPr>
            <p:cNvSpPr/>
            <p:nvPr/>
          </p:nvSpPr>
          <p:spPr bwMode="auto">
            <a:xfrm>
              <a:off x="5048395" y="5069204"/>
              <a:ext cx="1462574" cy="633375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4" name="Object 43">
              <a:extLst>
                <a:ext uri="{FF2B5EF4-FFF2-40B4-BE49-F238E27FC236}">
                  <a16:creationId xmlns:a16="http://schemas.microsoft.com/office/drawing/2014/main" id="{8503661A-3D63-A261-D979-FD9828C798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1812972"/>
                </p:ext>
              </p:extLst>
            </p:nvPr>
          </p:nvGraphicFramePr>
          <p:xfrm>
            <a:off x="5162472" y="5166021"/>
            <a:ext cx="1264285" cy="447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33169" imgH="190417" progId="Equation.3">
                    <p:embed/>
                  </p:oleObj>
                </mc:Choice>
                <mc:Fallback>
                  <p:oleObj name="Ecuación" r:id="rId3" imgW="533169" imgH="190417" progId="Equation.3">
                    <p:embed/>
                    <p:pic>
                      <p:nvPicPr>
                        <p:cNvPr id="2" name="Object 43">
                          <a:extLst>
                            <a:ext uri="{FF2B5EF4-FFF2-40B4-BE49-F238E27FC236}">
                              <a16:creationId xmlns:a16="http://schemas.microsoft.com/office/drawing/2014/main" id="{02D6D03E-97E3-5919-5FEC-16EA866711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2472" y="5166021"/>
                          <a:ext cx="1264285" cy="4470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260246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1" grpId="0" animBg="1"/>
      <p:bldP spid="46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44"/>
          <p:cNvSpPr txBox="1">
            <a:spLocks noChangeArrowheads="1"/>
          </p:cNvSpPr>
          <p:nvPr/>
        </p:nvSpPr>
        <p:spPr bwMode="auto">
          <a:xfrm>
            <a:off x="6320723" y="2555780"/>
            <a:ext cx="187914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y si L es cte.</a:t>
            </a:r>
          </a:p>
        </p:txBody>
      </p:sp>
      <p:sp>
        <p:nvSpPr>
          <p:cNvPr id="55" name="50 CuadroTexto"/>
          <p:cNvSpPr txBox="1">
            <a:spLocks noChangeArrowheads="1"/>
          </p:cNvSpPr>
          <p:nvPr/>
        </p:nvSpPr>
        <p:spPr bwMode="auto">
          <a:xfrm>
            <a:off x="5978269" y="823237"/>
            <a:ext cx="25202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Si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solo se debe a la bobina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4446566" y="1590211"/>
            <a:ext cx="1323975" cy="1162050"/>
            <a:chOff x="4446566" y="3531712"/>
            <a:chExt cx="1323975" cy="1162050"/>
          </a:xfrm>
        </p:grpSpPr>
        <p:sp>
          <p:nvSpPr>
            <p:cNvPr id="59" name="Rectangle 42"/>
            <p:cNvSpPr>
              <a:spLocks noChangeArrowheads="1"/>
            </p:cNvSpPr>
            <p:nvPr/>
          </p:nvSpPr>
          <p:spPr bwMode="auto">
            <a:xfrm>
              <a:off x="4446566" y="3531712"/>
              <a:ext cx="1323975" cy="11620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60" name="Object 43"/>
            <p:cNvGraphicFramePr>
              <a:graphicFrameLocks noChangeAspect="1"/>
            </p:cNvGraphicFramePr>
            <p:nvPr/>
          </p:nvGraphicFramePr>
          <p:xfrm>
            <a:off x="4497366" y="3639662"/>
            <a:ext cx="1204913" cy="950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58558" imgH="444307" progId="Equation.3">
                    <p:embed/>
                  </p:oleObj>
                </mc:Choice>
                <mc:Fallback>
                  <p:oleObj name="Ecuación" r:id="rId3" imgW="558558" imgH="444307" progId="Equation.3">
                    <p:embed/>
                    <p:pic>
                      <p:nvPicPr>
                        <p:cNvPr id="6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7366" y="3639662"/>
                          <a:ext cx="1204913" cy="950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upo 7"/>
          <p:cNvGrpSpPr/>
          <p:nvPr/>
        </p:nvGrpSpPr>
        <p:grpSpPr>
          <a:xfrm>
            <a:off x="3149812" y="1174439"/>
            <a:ext cx="1122129" cy="1961214"/>
            <a:chOff x="3149812" y="3115940"/>
            <a:chExt cx="1122129" cy="1961214"/>
          </a:xfrm>
        </p:grpSpPr>
        <p:sp>
          <p:nvSpPr>
            <p:cNvPr id="61" name="AutoShape 71"/>
            <p:cNvSpPr>
              <a:spLocks/>
            </p:cNvSpPr>
            <p:nvPr/>
          </p:nvSpPr>
          <p:spPr bwMode="auto">
            <a:xfrm>
              <a:off x="3149812" y="3115940"/>
              <a:ext cx="220324" cy="1961214"/>
            </a:xfrm>
            <a:prstGeom prst="rightBrace">
              <a:avLst>
                <a:gd name="adj1" fmla="val 70317"/>
                <a:gd name="adj2" fmla="val 50000"/>
              </a:avLst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3333FF"/>
                </a:solidFill>
              </a:endParaRPr>
            </a:p>
          </p:txBody>
        </p:sp>
        <p:sp>
          <p:nvSpPr>
            <p:cNvPr id="62" name="AutoShape 72"/>
            <p:cNvSpPr>
              <a:spLocks noChangeArrowheads="1"/>
            </p:cNvSpPr>
            <p:nvPr/>
          </p:nvSpPr>
          <p:spPr bwMode="auto">
            <a:xfrm>
              <a:off x="3549628" y="3965099"/>
              <a:ext cx="722313" cy="322262"/>
            </a:xfrm>
            <a:prstGeom prst="rightArrow">
              <a:avLst>
                <a:gd name="adj1" fmla="val 50000"/>
                <a:gd name="adj2" fmla="val 67734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3333FF"/>
                </a:solidFill>
              </a:endParaRPr>
            </a:p>
          </p:txBody>
        </p:sp>
      </p:grpSp>
      <p:grpSp>
        <p:nvGrpSpPr>
          <p:cNvPr id="63" name="Group 77"/>
          <p:cNvGrpSpPr>
            <a:grpSpLocks/>
          </p:cNvGrpSpPr>
          <p:nvPr/>
        </p:nvGrpSpPr>
        <p:grpSpPr bwMode="auto">
          <a:xfrm>
            <a:off x="8721128" y="1579098"/>
            <a:ext cx="1584325" cy="1185863"/>
            <a:chOff x="5117" y="1369"/>
            <a:chExt cx="998" cy="747"/>
          </a:xfrm>
        </p:grpSpPr>
        <p:sp>
          <p:nvSpPr>
            <p:cNvPr id="64" name="Rectangle 97"/>
            <p:cNvSpPr>
              <a:spLocks noChangeArrowheads="1"/>
            </p:cNvSpPr>
            <p:nvPr/>
          </p:nvSpPr>
          <p:spPr bwMode="auto">
            <a:xfrm>
              <a:off x="5117" y="1369"/>
              <a:ext cx="998" cy="74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65" name="Object 43"/>
            <p:cNvGraphicFramePr>
              <a:graphicFrameLocks noChangeAspect="1"/>
            </p:cNvGraphicFramePr>
            <p:nvPr/>
          </p:nvGraphicFramePr>
          <p:xfrm>
            <a:off x="5165" y="1435"/>
            <a:ext cx="898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660113" imgH="444307" progId="Equation.3">
                    <p:embed/>
                  </p:oleObj>
                </mc:Choice>
                <mc:Fallback>
                  <p:oleObj name="Ecuación" r:id="rId5" imgW="660113" imgH="444307" progId="Equation.3">
                    <p:embed/>
                    <p:pic>
                      <p:nvPicPr>
                        <p:cNvPr id="65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5" y="1435"/>
                          <a:ext cx="898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AutoShape 74"/>
          <p:cNvSpPr>
            <a:spLocks noChangeArrowheads="1"/>
          </p:cNvSpPr>
          <p:nvPr/>
        </p:nvSpPr>
        <p:spPr bwMode="auto">
          <a:xfrm>
            <a:off x="6001346" y="1999786"/>
            <a:ext cx="2497195" cy="322262"/>
          </a:xfrm>
          <a:prstGeom prst="rightArrow">
            <a:avLst>
              <a:gd name="adj1" fmla="val 50000"/>
              <a:gd name="adj2" fmla="val 6773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3333FF"/>
              </a:solidFill>
            </a:endParaRPr>
          </a:p>
        </p:txBody>
      </p:sp>
      <p:sp>
        <p:nvSpPr>
          <p:cNvPr id="67" name="Text Box 55"/>
          <p:cNvSpPr txBox="1">
            <a:spLocks noChangeArrowheads="1"/>
          </p:cNvSpPr>
          <p:nvPr/>
        </p:nvSpPr>
        <p:spPr bwMode="auto">
          <a:xfrm>
            <a:off x="1819072" y="4031753"/>
            <a:ext cx="5690681" cy="5365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/>
              <a:t>Para un C se tiene una relación similar:</a:t>
            </a:r>
            <a:endParaRPr lang="es-ES" sz="2400">
              <a:latin typeface="Comic Sans MS" panose="030F0702030302020204" pitchFamily="66" charset="0"/>
            </a:endParaRPr>
          </a:p>
        </p:txBody>
      </p:sp>
      <p:sp>
        <p:nvSpPr>
          <p:cNvPr id="68" name="Text Box 92"/>
          <p:cNvSpPr txBox="1">
            <a:spLocks noChangeArrowheads="1"/>
          </p:cNvSpPr>
          <p:nvPr/>
        </p:nvSpPr>
        <p:spPr bwMode="auto">
          <a:xfrm>
            <a:off x="4446566" y="5122496"/>
            <a:ext cx="1325905" cy="53654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 = C V</a:t>
            </a:r>
          </a:p>
        </p:txBody>
      </p:sp>
      <p:sp>
        <p:nvSpPr>
          <p:cNvPr id="70" name="AutoShape 58"/>
          <p:cNvSpPr>
            <a:spLocks noChangeArrowheads="1"/>
          </p:cNvSpPr>
          <p:nvPr/>
        </p:nvSpPr>
        <p:spPr bwMode="auto">
          <a:xfrm>
            <a:off x="6001346" y="5229636"/>
            <a:ext cx="2471445" cy="322262"/>
          </a:xfrm>
          <a:prstGeom prst="rightArrow">
            <a:avLst>
              <a:gd name="adj1" fmla="val 50000"/>
              <a:gd name="adj2" fmla="val 5874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3333FF"/>
              </a:solidFill>
            </a:endParaRPr>
          </a:p>
        </p:txBody>
      </p:sp>
      <p:sp>
        <p:nvSpPr>
          <p:cNvPr id="71" name="Text Box 92"/>
          <p:cNvSpPr txBox="1">
            <a:spLocks noChangeArrowheads="1"/>
          </p:cNvSpPr>
          <p:nvPr/>
        </p:nvSpPr>
        <p:spPr bwMode="auto">
          <a:xfrm>
            <a:off x="6507165" y="5115336"/>
            <a:ext cx="1457325" cy="590549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I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dQ/dt</a:t>
            </a:r>
          </a:p>
        </p:txBody>
      </p:sp>
      <p:sp>
        <p:nvSpPr>
          <p:cNvPr id="72" name="Text Box 92"/>
          <p:cNvSpPr txBox="1">
            <a:spLocks noChangeArrowheads="1"/>
          </p:cNvSpPr>
          <p:nvPr/>
        </p:nvSpPr>
        <p:spPr bwMode="auto">
          <a:xfrm>
            <a:off x="6339945" y="5827910"/>
            <a:ext cx="194185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y si C es cte.</a:t>
            </a:r>
          </a:p>
        </p:txBody>
      </p:sp>
      <p:grpSp>
        <p:nvGrpSpPr>
          <p:cNvPr id="73" name="Group 76"/>
          <p:cNvGrpSpPr>
            <a:grpSpLocks/>
          </p:cNvGrpSpPr>
          <p:nvPr/>
        </p:nvGrpSpPr>
        <p:grpSpPr bwMode="auto">
          <a:xfrm>
            <a:off x="8709408" y="4877216"/>
            <a:ext cx="1600200" cy="1090612"/>
            <a:chOff x="5110" y="3210"/>
            <a:chExt cx="1008" cy="687"/>
          </a:xfrm>
        </p:grpSpPr>
        <p:sp>
          <p:nvSpPr>
            <p:cNvPr id="74" name="Rectangle 65"/>
            <p:cNvSpPr>
              <a:spLocks noChangeArrowheads="1"/>
            </p:cNvSpPr>
            <p:nvPr/>
          </p:nvSpPr>
          <p:spPr bwMode="auto">
            <a:xfrm>
              <a:off x="5110" y="3210"/>
              <a:ext cx="1008" cy="68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3333FF"/>
                </a:solidFill>
              </a:endParaRPr>
            </a:p>
          </p:txBody>
        </p:sp>
        <p:graphicFrame>
          <p:nvGraphicFramePr>
            <p:cNvPr id="77" name="Object 43"/>
            <p:cNvGraphicFramePr>
              <a:graphicFrameLocks noChangeAspect="1"/>
            </p:cNvGraphicFramePr>
            <p:nvPr/>
          </p:nvGraphicFramePr>
          <p:xfrm>
            <a:off x="5185" y="3283"/>
            <a:ext cx="855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685502" imgH="444307" progId="Equation.3">
                    <p:embed/>
                  </p:oleObj>
                </mc:Choice>
                <mc:Fallback>
                  <p:oleObj name="Ecuación" r:id="rId7" imgW="685502" imgH="444307" progId="Equation.3">
                    <p:embed/>
                    <p:pic>
                      <p:nvPicPr>
                        <p:cNvPr id="77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5" y="3283"/>
                          <a:ext cx="855" cy="5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" name="Text Box 98"/>
          <p:cNvSpPr txBox="1">
            <a:spLocks noChangeArrowheads="1"/>
          </p:cNvSpPr>
          <p:nvPr/>
        </p:nvSpPr>
        <p:spPr bwMode="auto">
          <a:xfrm>
            <a:off x="6513838" y="1813868"/>
            <a:ext cx="1470618" cy="590204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non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= L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95932E6-EC9B-A03A-1728-4F464CA8D7A3}"/>
              </a:ext>
            </a:extLst>
          </p:cNvPr>
          <p:cNvGrpSpPr/>
          <p:nvPr/>
        </p:nvGrpSpPr>
        <p:grpSpPr>
          <a:xfrm>
            <a:off x="1391374" y="2567117"/>
            <a:ext cx="1462574" cy="633375"/>
            <a:chOff x="5048395" y="5069204"/>
            <a:chExt cx="1462574" cy="633375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F01F11D2-FDDE-6CCF-9FAD-2C7C18886800}"/>
                </a:ext>
              </a:extLst>
            </p:cNvPr>
            <p:cNvSpPr/>
            <p:nvPr/>
          </p:nvSpPr>
          <p:spPr bwMode="auto">
            <a:xfrm>
              <a:off x="5048395" y="5069204"/>
              <a:ext cx="1462574" cy="633375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-2500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4" name="Object 43">
              <a:extLst>
                <a:ext uri="{FF2B5EF4-FFF2-40B4-BE49-F238E27FC236}">
                  <a16:creationId xmlns:a16="http://schemas.microsoft.com/office/drawing/2014/main" id="{F3C7BAA3-20B3-E79A-0342-2BFE7508B9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5108466"/>
                </p:ext>
              </p:extLst>
            </p:nvPr>
          </p:nvGraphicFramePr>
          <p:xfrm>
            <a:off x="5140438" y="5166021"/>
            <a:ext cx="1264285" cy="447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533169" imgH="190417" progId="Equation.3">
                    <p:embed/>
                  </p:oleObj>
                </mc:Choice>
                <mc:Fallback>
                  <p:oleObj name="Ecuación" r:id="rId9" imgW="533169" imgH="190417" progId="Equation.3">
                    <p:embed/>
                    <p:pic>
                      <p:nvPicPr>
                        <p:cNvPr id="4" name="Object 43">
                          <a:extLst>
                            <a:ext uri="{FF2B5EF4-FFF2-40B4-BE49-F238E27FC236}">
                              <a16:creationId xmlns:a16="http://schemas.microsoft.com/office/drawing/2014/main" id="{8503661A-3D63-A261-D979-FD9828C798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0438" y="5166021"/>
                          <a:ext cx="1264285" cy="4470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6">
            <a:extLst>
              <a:ext uri="{FF2B5EF4-FFF2-40B4-BE49-F238E27FC236}">
                <a16:creationId xmlns:a16="http://schemas.microsoft.com/office/drawing/2014/main" id="{910EE993-4490-3868-A760-DE1316F2C5A3}"/>
              </a:ext>
            </a:extLst>
          </p:cNvPr>
          <p:cNvGrpSpPr>
            <a:grpSpLocks/>
          </p:cNvGrpSpPr>
          <p:nvPr/>
        </p:nvGrpSpPr>
        <p:grpSpPr bwMode="auto">
          <a:xfrm>
            <a:off x="1386423" y="1174439"/>
            <a:ext cx="1462088" cy="1044575"/>
            <a:chOff x="2826" y="3547"/>
            <a:chExt cx="921" cy="658"/>
          </a:xfrm>
        </p:grpSpPr>
        <p:sp>
          <p:nvSpPr>
            <p:cNvPr id="6" name="Rectangle 67">
              <a:extLst>
                <a:ext uri="{FF2B5EF4-FFF2-40B4-BE49-F238E27FC236}">
                  <a16:creationId xmlns:a16="http://schemas.microsoft.com/office/drawing/2014/main" id="{0795E59F-5CEE-10E7-D4AF-3EF9189F7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6" y="3547"/>
              <a:ext cx="921" cy="65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7" name="Object 43">
              <a:extLst>
                <a:ext uri="{FF2B5EF4-FFF2-40B4-BE49-F238E27FC236}">
                  <a16:creationId xmlns:a16="http://schemas.microsoft.com/office/drawing/2014/main" id="{6F3E6C80-E5B2-81CE-D316-A3B4FC3FD8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5076314"/>
                </p:ext>
              </p:extLst>
            </p:nvPr>
          </p:nvGraphicFramePr>
          <p:xfrm>
            <a:off x="2873" y="3584"/>
            <a:ext cx="814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545863" imgH="393529" progId="Equation.3">
                    <p:embed/>
                  </p:oleObj>
                </mc:Choice>
                <mc:Fallback>
                  <p:oleObj name="Ecuación" r:id="rId11" imgW="545863" imgH="393529" progId="Equation.3">
                    <p:embed/>
                    <p:pic>
                      <p:nvPicPr>
                        <p:cNvPr id="13335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3" y="3584"/>
                          <a:ext cx="814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785289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66" grpId="0" animBg="1"/>
      <p:bldP spid="67" grpId="0" animBg="1"/>
      <p:bldP spid="68" grpId="0" animBg="1"/>
      <p:bldP spid="70" grpId="0" animBg="1"/>
      <p:bldP spid="71" grpId="0" animBg="1"/>
      <p:bldP spid="72" grpId="0"/>
      <p:bldP spid="5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501" name="Text Box 5"/>
          <p:cNvSpPr txBox="1">
            <a:spLocks noChangeArrowheads="1"/>
          </p:cNvSpPr>
          <p:nvPr/>
        </p:nvSpPr>
        <p:spPr bwMode="auto">
          <a:xfrm>
            <a:off x="1807880" y="981791"/>
            <a:ext cx="7928387" cy="9785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Una bobina almacena energía en 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campo magnético</a:t>
            </a:r>
            <a:r>
              <a:rPr lang="es-ES" sz="2400" dirty="0">
                <a:latin typeface="Arial" panose="020B0604020202020204" pitchFamily="34" charset="0"/>
              </a:rPr>
              <a:t> asociado a la corriente que circula por ella</a:t>
            </a:r>
          </a:p>
        </p:txBody>
      </p:sp>
      <p:sp>
        <p:nvSpPr>
          <p:cNvPr id="17430" name="Text Box 8"/>
          <p:cNvSpPr txBox="1">
            <a:spLocks noChangeArrowheads="1"/>
          </p:cNvSpPr>
          <p:nvPr/>
        </p:nvSpPr>
        <p:spPr bwMode="auto">
          <a:xfrm>
            <a:off x="1391955" y="3786424"/>
            <a:ext cx="651522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En una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OEM</a:t>
            </a:r>
            <a:r>
              <a:rPr lang="es-ES" sz="2400" dirty="0">
                <a:latin typeface="Arial" panose="020B0604020202020204" pitchFamily="34" charset="0"/>
              </a:rPr>
              <a:t> se almacena en su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y en su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46513" name="Text Box 17"/>
          <p:cNvSpPr txBox="1">
            <a:spLocks noChangeArrowheads="1"/>
          </p:cNvSpPr>
          <p:nvPr/>
        </p:nvSpPr>
        <p:spPr bwMode="auto">
          <a:xfrm>
            <a:off x="1570615" y="5376540"/>
            <a:ext cx="1731862" cy="67080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</a:rPr>
              <a:t>U = ½ 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 </a:t>
            </a:r>
            <a:r>
              <a:rPr lang="es-ES" sz="2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endParaRPr lang="es-ES" sz="28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416" name="Text Box 6"/>
          <p:cNvSpPr txBox="1">
            <a:spLocks noChangeArrowheads="1"/>
          </p:cNvSpPr>
          <p:nvPr/>
        </p:nvSpPr>
        <p:spPr bwMode="auto">
          <a:xfrm>
            <a:off x="1807881" y="2078991"/>
            <a:ext cx="7928387" cy="164454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Al establecer una corriente, el W del </a:t>
            </a:r>
            <a:r>
              <a:rPr lang="es-ES" sz="2400" b="1" dirty="0" err="1">
                <a:latin typeface="Arial" panose="020B0604020202020204" pitchFamily="34" charset="0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</a:rPr>
              <a:t>inducido</a:t>
            </a:r>
            <a:r>
              <a:rPr lang="es-ES" sz="2400" dirty="0">
                <a:latin typeface="Arial" panose="020B0604020202020204" pitchFamily="34" charset="0"/>
              </a:rPr>
              <a:t>, que se opone a que se establezca, transforma energía cinética en magnética (se aumenta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). Y hace lo contrario, al oponerse a su disminución (se reduce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746519" name="Text Box 23"/>
          <p:cNvSpPr txBox="1">
            <a:spLocks noChangeArrowheads="1"/>
          </p:cNvSpPr>
          <p:nvPr/>
        </p:nvSpPr>
        <p:spPr bwMode="auto">
          <a:xfrm>
            <a:off x="6329958" y="5401557"/>
            <a:ext cx="3961906" cy="1347916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Con la misma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, a mayor L,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mayor es la energía almacenada</a:t>
            </a:r>
          </a:p>
        </p:txBody>
      </p:sp>
      <p:sp>
        <p:nvSpPr>
          <p:cNvPr id="17418" name="Text Box 8"/>
          <p:cNvSpPr txBox="1">
            <a:spLocks noChangeArrowheads="1"/>
          </p:cNvSpPr>
          <p:nvPr/>
        </p:nvSpPr>
        <p:spPr bwMode="auto">
          <a:xfrm>
            <a:off x="1382216" y="4767295"/>
            <a:ext cx="876102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En un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C </a:t>
            </a:r>
            <a:r>
              <a:rPr lang="es-ES" sz="2400" dirty="0">
                <a:latin typeface="Arial" panose="020B0604020202020204" pitchFamily="34" charset="0"/>
              </a:rPr>
              <a:t>se almacena en el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creado por su distribución de Q</a:t>
            </a:r>
          </a:p>
        </p:txBody>
      </p:sp>
      <p:sp>
        <p:nvSpPr>
          <p:cNvPr id="17" name="Text Box 65"/>
          <p:cNvSpPr txBox="1">
            <a:spLocks noChangeArrowheads="1"/>
          </p:cNvSpPr>
          <p:nvPr/>
        </p:nvSpPr>
        <p:spPr bwMode="auto">
          <a:xfrm>
            <a:off x="2638602" y="337055"/>
            <a:ext cx="6286955" cy="536549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FFFF"/>
                </a:solidFill>
              </a:rPr>
              <a:t>ENERGÍA  ALMACENADA EN UNA BOBINA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3195108" y="5384354"/>
            <a:ext cx="2933601" cy="67080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½ L </a:t>
            </a:r>
            <a:r>
              <a:rPr lang="es-ES" sz="2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800" baseline="30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½ </a:t>
            </a:r>
            <a:r>
              <a:rPr lang="es-ES" sz="2800" baseline="30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/L</a:t>
            </a:r>
          </a:p>
        </p:txBody>
      </p:sp>
      <p:sp>
        <p:nvSpPr>
          <p:cNvPr id="17422" name="Text Box 22"/>
          <p:cNvSpPr txBox="1">
            <a:spLocks noChangeArrowheads="1"/>
          </p:cNvSpPr>
          <p:nvPr/>
        </p:nvSpPr>
        <p:spPr bwMode="auto">
          <a:xfrm>
            <a:off x="4639039" y="6255170"/>
            <a:ext cx="1245077" cy="54483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L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56F7380-E5BD-4A14-9ABB-8688954EB847}"/>
              </a:ext>
            </a:extLst>
          </p:cNvPr>
          <p:cNvGrpSpPr/>
          <p:nvPr/>
        </p:nvGrpSpPr>
        <p:grpSpPr>
          <a:xfrm>
            <a:off x="1890903" y="5902128"/>
            <a:ext cx="2668626" cy="1034388"/>
            <a:chOff x="1890903" y="5560604"/>
            <a:chExt cx="2668626" cy="1034388"/>
          </a:xfrm>
        </p:grpSpPr>
        <p:sp>
          <p:nvSpPr>
            <p:cNvPr id="17423" name="50 CuadroTexto"/>
            <p:cNvSpPr txBox="1">
              <a:spLocks noChangeArrowheads="1"/>
            </p:cNvSpPr>
            <p:nvPr/>
          </p:nvSpPr>
          <p:spPr bwMode="auto">
            <a:xfrm>
              <a:off x="1890903" y="5763995"/>
              <a:ext cx="266862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Si 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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sólo se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debe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a la bobina</a:t>
              </a:r>
            </a:p>
          </p:txBody>
        </p:sp>
        <p:sp>
          <p:nvSpPr>
            <p:cNvPr id="17424" name="Line 26"/>
            <p:cNvSpPr>
              <a:spLocks noChangeShapeType="1"/>
            </p:cNvSpPr>
            <p:nvPr/>
          </p:nvSpPr>
          <p:spPr bwMode="auto">
            <a:xfrm flipV="1">
              <a:off x="3396770" y="5560604"/>
              <a:ext cx="0" cy="26193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3" name="50 CuadroTexto">
            <a:extLst>
              <a:ext uri="{FF2B5EF4-FFF2-40B4-BE49-F238E27FC236}">
                <a16:creationId xmlns:a16="http://schemas.microsoft.com/office/drawing/2014/main" id="{75E0D97B-D4E2-F95A-9E86-8CCC529C1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7" y="4270065"/>
            <a:ext cx="81656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(Una OEM es sólo un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y un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que se van induciendo)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74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74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4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501" grpId="0" animBg="1"/>
      <p:bldP spid="17430" grpId="0"/>
      <p:bldP spid="746513" grpId="0" animBg="1"/>
      <p:bldP spid="17416" grpId="0" animBg="1"/>
      <p:bldP spid="746519" grpId="0" animBg="1"/>
      <p:bldP spid="17418" grpId="0"/>
      <p:bldP spid="17" grpId="0" animBg="1"/>
      <p:bldP spid="14" grpId="0" animBg="1"/>
      <p:bldP spid="17422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cto 9"/>
          <p:cNvCxnSpPr>
            <a:cxnSpLocks/>
          </p:cNvCxnSpPr>
          <p:nvPr/>
        </p:nvCxnSpPr>
        <p:spPr bwMode="auto">
          <a:xfrm flipH="1">
            <a:off x="7903903" y="3102123"/>
            <a:ext cx="597840" cy="111113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3333FF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8491" name="Text Box 33"/>
          <p:cNvSpPr txBox="1">
            <a:spLocks noChangeArrowheads="1"/>
          </p:cNvSpPr>
          <p:nvPr/>
        </p:nvSpPr>
        <p:spPr bwMode="auto">
          <a:xfrm>
            <a:off x="1922052" y="343503"/>
            <a:ext cx="3055943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TRANSFORMADOR</a:t>
            </a:r>
          </a:p>
        </p:txBody>
      </p:sp>
      <p:sp>
        <p:nvSpPr>
          <p:cNvPr id="18494" name="Text Box 38"/>
          <p:cNvSpPr txBox="1">
            <a:spLocks noChangeArrowheads="1"/>
          </p:cNvSpPr>
          <p:nvPr/>
        </p:nvSpPr>
        <p:spPr bwMode="auto">
          <a:xfrm>
            <a:off x="2306608" y="797898"/>
            <a:ext cx="2203145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(corriente alterna)</a:t>
            </a:r>
          </a:p>
        </p:txBody>
      </p:sp>
      <p:sp>
        <p:nvSpPr>
          <p:cNvPr id="744487" name="Text Box 39"/>
          <p:cNvSpPr txBox="1">
            <a:spLocks noChangeArrowheads="1"/>
          </p:cNvSpPr>
          <p:nvPr/>
        </p:nvSpPr>
        <p:spPr bwMode="auto">
          <a:xfrm>
            <a:off x="1654521" y="4940354"/>
            <a:ext cx="3428369" cy="208658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magnetización del núcleo ferromagnético confina las líneas de campo magnético en él (solo hay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en él)</a:t>
            </a:r>
          </a:p>
        </p:txBody>
      </p:sp>
      <p:grpSp>
        <p:nvGrpSpPr>
          <p:cNvPr id="15437" name="Group 77"/>
          <p:cNvGrpSpPr>
            <a:grpSpLocks/>
          </p:cNvGrpSpPr>
          <p:nvPr/>
        </p:nvGrpSpPr>
        <p:grpSpPr bwMode="auto">
          <a:xfrm>
            <a:off x="2716015" y="1255441"/>
            <a:ext cx="1138237" cy="782636"/>
            <a:chOff x="2032" y="1299"/>
            <a:chExt cx="717" cy="493"/>
          </a:xfrm>
        </p:grpSpPr>
        <p:sp>
          <p:nvSpPr>
            <p:cNvPr id="18495" name="Text Box 36"/>
            <p:cNvSpPr txBox="1">
              <a:spLocks noChangeArrowheads="1"/>
            </p:cNvSpPr>
            <p:nvPr/>
          </p:nvSpPr>
          <p:spPr bwMode="auto">
            <a:xfrm>
              <a:off x="2199" y="1299"/>
              <a:ext cx="429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aseline="-25000" dirty="0" err="1">
                  <a:solidFill>
                    <a:srgbClr val="3333FF"/>
                  </a:solidFill>
                  <a:latin typeface="Arial" panose="020B0604020202020204" pitchFamily="34" charset="0"/>
                </a:rPr>
                <a:t>p</a:t>
              </a: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(t)</a:t>
              </a:r>
            </a:p>
          </p:txBody>
        </p:sp>
        <p:sp>
          <p:nvSpPr>
            <p:cNvPr id="18496" name="Text Box 43"/>
            <p:cNvSpPr txBox="1">
              <a:spLocks noChangeArrowheads="1"/>
            </p:cNvSpPr>
            <p:nvPr/>
          </p:nvSpPr>
          <p:spPr bwMode="auto">
            <a:xfrm>
              <a:off x="2032" y="1493"/>
              <a:ext cx="717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aplicada</a:t>
              </a:r>
            </a:p>
          </p:txBody>
        </p:sp>
      </p:grpSp>
      <p:grpSp>
        <p:nvGrpSpPr>
          <p:cNvPr id="15439" name="Group 79"/>
          <p:cNvGrpSpPr>
            <a:grpSpLocks/>
          </p:cNvGrpSpPr>
          <p:nvPr/>
        </p:nvGrpSpPr>
        <p:grpSpPr bwMode="auto">
          <a:xfrm>
            <a:off x="2790629" y="4141304"/>
            <a:ext cx="1138237" cy="763589"/>
            <a:chOff x="2079" y="3057"/>
            <a:chExt cx="717" cy="481"/>
          </a:xfrm>
        </p:grpSpPr>
        <p:sp>
          <p:nvSpPr>
            <p:cNvPr id="18493" name="Text Box 37"/>
            <p:cNvSpPr txBox="1">
              <a:spLocks noChangeArrowheads="1"/>
            </p:cNvSpPr>
            <p:nvPr/>
          </p:nvSpPr>
          <p:spPr bwMode="auto">
            <a:xfrm>
              <a:off x="2222" y="3057"/>
              <a:ext cx="42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s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(t)</a:t>
              </a:r>
            </a:p>
          </p:txBody>
        </p:sp>
        <p:sp>
          <p:nvSpPr>
            <p:cNvPr id="2" name="Text Box 44"/>
            <p:cNvSpPr txBox="1">
              <a:spLocks noChangeArrowheads="1"/>
            </p:cNvSpPr>
            <p:nvPr/>
          </p:nvSpPr>
          <p:spPr bwMode="auto">
            <a:xfrm>
              <a:off x="2079" y="3239"/>
              <a:ext cx="717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inducida</a:t>
              </a:r>
            </a:p>
          </p:txBody>
        </p:sp>
      </p:grpSp>
      <p:sp>
        <p:nvSpPr>
          <p:cNvPr id="744501" name="Text Box 53"/>
          <p:cNvSpPr txBox="1">
            <a:spLocks noChangeArrowheads="1"/>
          </p:cNvSpPr>
          <p:nvPr/>
        </p:nvSpPr>
        <p:spPr bwMode="auto">
          <a:xfrm>
            <a:off x="5872221" y="4329516"/>
            <a:ext cx="4511286" cy="587441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Coeficiente de Inducción Mutua</a:t>
            </a:r>
          </a:p>
        </p:txBody>
      </p:sp>
      <p:sp>
        <p:nvSpPr>
          <p:cNvPr id="744502" name="Text Box 54"/>
          <p:cNvSpPr txBox="1">
            <a:spLocks noChangeArrowheads="1"/>
          </p:cNvSpPr>
          <p:nvPr/>
        </p:nvSpPr>
        <p:spPr bwMode="auto">
          <a:xfrm>
            <a:off x="5872221" y="5049510"/>
            <a:ext cx="4511286" cy="956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08000" rIns="90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Depende del núcleo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y de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geometría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 las bobinas</a:t>
            </a:r>
          </a:p>
        </p:txBody>
      </p:sp>
      <p:sp>
        <p:nvSpPr>
          <p:cNvPr id="3" name="Text Box 64"/>
          <p:cNvSpPr txBox="1">
            <a:spLocks noChangeArrowheads="1"/>
          </p:cNvSpPr>
          <p:nvPr/>
        </p:nvSpPr>
        <p:spPr bwMode="auto">
          <a:xfrm>
            <a:off x="4457440" y="1781668"/>
            <a:ext cx="10842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s-ES" sz="2000" dirty="0" err="1">
                <a:solidFill>
                  <a:srgbClr val="D60093"/>
                </a:solidFill>
                <a:latin typeface="Arial" panose="020B0604020202020204" pitchFamily="34" charset="0"/>
              </a:rPr>
              <a:t>autoind</a:t>
            </a:r>
            <a:r>
              <a:rPr lang="es-ES" sz="2000" dirty="0">
                <a:solidFill>
                  <a:srgbClr val="D60093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8492" name="Text Box 65"/>
          <p:cNvSpPr txBox="1">
            <a:spLocks noChangeArrowheads="1"/>
          </p:cNvSpPr>
          <p:nvPr/>
        </p:nvSpPr>
        <p:spPr bwMode="auto">
          <a:xfrm>
            <a:off x="4247890" y="3494580"/>
            <a:ext cx="12557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D60093"/>
                </a:solidFill>
                <a:latin typeface="Arial" panose="020B0604020202020204" pitchFamily="34" charset="0"/>
              </a:rPr>
              <a:t>inducción</a:t>
            </a:r>
          </a:p>
        </p:txBody>
      </p:sp>
      <p:grpSp>
        <p:nvGrpSpPr>
          <p:cNvPr id="15440" name="Group 80"/>
          <p:cNvGrpSpPr>
            <a:grpSpLocks/>
          </p:cNvGrpSpPr>
          <p:nvPr/>
        </p:nvGrpSpPr>
        <p:grpSpPr bwMode="auto">
          <a:xfrm>
            <a:off x="4247890" y="2205530"/>
            <a:ext cx="1265238" cy="2184400"/>
            <a:chOff x="2876" y="1869"/>
            <a:chExt cx="797" cy="1376"/>
          </a:xfrm>
        </p:grpSpPr>
        <p:sp>
          <p:nvSpPr>
            <p:cNvPr id="18489" name="Text Box 74"/>
            <p:cNvSpPr txBox="1">
              <a:spLocks noChangeArrowheads="1"/>
            </p:cNvSpPr>
            <p:nvPr/>
          </p:nvSpPr>
          <p:spPr bwMode="auto">
            <a:xfrm>
              <a:off x="2876" y="1869"/>
              <a:ext cx="79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D60093"/>
                  </a:solidFill>
                  <a:latin typeface="Arial" panose="020B0604020202020204" pitchFamily="34" charset="0"/>
                </a:rPr>
                <a:t>inducción</a:t>
              </a:r>
            </a:p>
          </p:txBody>
        </p:sp>
        <p:sp>
          <p:nvSpPr>
            <p:cNvPr id="18490" name="Text Box 75"/>
            <p:cNvSpPr txBox="1">
              <a:spLocks noChangeArrowheads="1"/>
            </p:cNvSpPr>
            <p:nvPr/>
          </p:nvSpPr>
          <p:spPr bwMode="auto">
            <a:xfrm>
              <a:off x="2990" y="2949"/>
              <a:ext cx="68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 err="1">
                  <a:solidFill>
                    <a:srgbClr val="D60093"/>
                  </a:solidFill>
                  <a:latin typeface="Arial" panose="020B0604020202020204" pitchFamily="34" charset="0"/>
                </a:rPr>
                <a:t>autoind</a:t>
              </a:r>
              <a:r>
                <a:rPr lang="es-ES" sz="2000" dirty="0">
                  <a:solidFill>
                    <a:srgbClr val="D6009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5387" name="Text Box 52"/>
          <p:cNvSpPr txBox="1">
            <a:spLocks noChangeArrowheads="1"/>
          </p:cNvSpPr>
          <p:nvPr/>
        </p:nvSpPr>
        <p:spPr bwMode="auto">
          <a:xfrm>
            <a:off x="5964955" y="1980211"/>
            <a:ext cx="3323644" cy="1244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primario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secundario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205" name="Text Box 61"/>
          <p:cNvSpPr txBox="1">
            <a:spLocks noChangeArrowheads="1"/>
          </p:cNvSpPr>
          <p:nvPr/>
        </p:nvSpPr>
        <p:spPr bwMode="auto">
          <a:xfrm>
            <a:off x="5826712" y="6048469"/>
            <a:ext cx="4624388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Cable ideal: M = 0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(no hay </a:t>
            </a:r>
            <a:r>
              <a:rPr lang="es-ES" sz="2400" dirty="0" err="1">
                <a:latin typeface="Arial" panose="020B0604020202020204" pitchFamily="34" charset="0"/>
              </a:rPr>
              <a:t>ind</a:t>
            </a:r>
            <a:r>
              <a:rPr lang="es-ES" sz="2400" dirty="0">
                <a:latin typeface="Arial" panose="020B0604020202020204" pitchFamily="34" charset="0"/>
              </a:rPr>
              <a:t>. mutua: ni la ejerce, ni la padece)</a:t>
            </a:r>
          </a:p>
        </p:txBody>
      </p:sp>
      <p:grpSp>
        <p:nvGrpSpPr>
          <p:cNvPr id="23616" name="Group 64"/>
          <p:cNvGrpSpPr>
            <a:grpSpLocks/>
          </p:cNvGrpSpPr>
          <p:nvPr/>
        </p:nvGrpSpPr>
        <p:grpSpPr bwMode="auto">
          <a:xfrm>
            <a:off x="5772368" y="393011"/>
            <a:ext cx="4511673" cy="1490663"/>
            <a:chOff x="3624" y="335"/>
            <a:chExt cx="2842" cy="939"/>
          </a:xfrm>
        </p:grpSpPr>
        <p:sp>
          <p:nvSpPr>
            <p:cNvPr id="18483" name="Text Box 53"/>
            <p:cNvSpPr txBox="1">
              <a:spLocks noChangeArrowheads="1"/>
            </p:cNvSpPr>
            <p:nvPr/>
          </p:nvSpPr>
          <p:spPr bwMode="auto">
            <a:xfrm>
              <a:off x="5084" y="671"/>
              <a:ext cx="1255" cy="603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108000" rIns="108000" bIns="1080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 b="1" cap="all" dirty="0">
                  <a:solidFill>
                    <a:schemeClr val="tx1"/>
                  </a:solidFill>
                </a:rPr>
                <a:t>Inducción Mutua</a:t>
              </a:r>
            </a:p>
          </p:txBody>
        </p:sp>
        <p:sp>
          <p:nvSpPr>
            <p:cNvPr id="18484" name="66 CuadroTexto"/>
            <p:cNvSpPr txBox="1">
              <a:spLocks noChangeArrowheads="1"/>
            </p:cNvSpPr>
            <p:nvPr/>
          </p:nvSpPr>
          <p:spPr bwMode="auto">
            <a:xfrm>
              <a:off x="3624" y="335"/>
              <a:ext cx="284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La inducción </a:t>
              </a:r>
              <a:r>
                <a:rPr lang="es-ES" sz="2400">
                  <a:latin typeface="Arial" panose="020B0604020202020204" pitchFamily="34" charset="0"/>
                </a:rPr>
                <a:t>entre bobinas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se </a:t>
              </a:r>
              <a:r>
                <a:rPr lang="es-ES" sz="2400" dirty="0">
                  <a:latin typeface="Arial" panose="020B0604020202020204" pitchFamily="34" charset="0"/>
                </a:rPr>
                <a:t>denomina:</a:t>
              </a:r>
            </a:p>
          </p:txBody>
        </p:sp>
      </p:grpSp>
      <p:grpSp>
        <p:nvGrpSpPr>
          <p:cNvPr id="15435" name="Group 75"/>
          <p:cNvGrpSpPr>
            <a:grpSpLocks/>
          </p:cNvGrpSpPr>
          <p:nvPr/>
        </p:nvGrpSpPr>
        <p:grpSpPr bwMode="auto">
          <a:xfrm>
            <a:off x="5390890" y="2511920"/>
            <a:ext cx="328613" cy="1549401"/>
            <a:chOff x="3596" y="2062"/>
            <a:chExt cx="207" cy="976"/>
          </a:xfrm>
        </p:grpSpPr>
        <p:sp>
          <p:nvSpPr>
            <p:cNvPr id="18481" name="Freeform 72"/>
            <p:cNvSpPr>
              <a:spLocks/>
            </p:cNvSpPr>
            <p:nvPr/>
          </p:nvSpPr>
          <p:spPr bwMode="auto">
            <a:xfrm flipV="1">
              <a:off x="3596" y="2062"/>
              <a:ext cx="200" cy="493"/>
            </a:xfrm>
            <a:custGeom>
              <a:avLst/>
              <a:gdLst>
                <a:gd name="T0" fmla="*/ 0 w 200"/>
                <a:gd name="T1" fmla="*/ 0 h 493"/>
                <a:gd name="T2" fmla="*/ 192 w 200"/>
                <a:gd name="T3" fmla="*/ 274 h 493"/>
                <a:gd name="T4" fmla="*/ 48 w 200"/>
                <a:gd name="T5" fmla="*/ 493 h 4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493">
                  <a:moveTo>
                    <a:pt x="0" y="0"/>
                  </a:moveTo>
                  <a:cubicBezTo>
                    <a:pt x="92" y="96"/>
                    <a:pt x="184" y="192"/>
                    <a:pt x="192" y="274"/>
                  </a:cubicBezTo>
                  <a:cubicBezTo>
                    <a:pt x="200" y="356"/>
                    <a:pt x="124" y="424"/>
                    <a:pt x="48" y="493"/>
                  </a:cubicBezTo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  <p:sp>
          <p:nvSpPr>
            <p:cNvPr id="18482" name="Freeform 73"/>
            <p:cNvSpPr>
              <a:spLocks/>
            </p:cNvSpPr>
            <p:nvPr/>
          </p:nvSpPr>
          <p:spPr bwMode="auto">
            <a:xfrm>
              <a:off x="3603" y="2545"/>
              <a:ext cx="200" cy="493"/>
            </a:xfrm>
            <a:custGeom>
              <a:avLst/>
              <a:gdLst>
                <a:gd name="T0" fmla="*/ 0 w 200"/>
                <a:gd name="T1" fmla="*/ 0 h 493"/>
                <a:gd name="T2" fmla="*/ 192 w 200"/>
                <a:gd name="T3" fmla="*/ 274 h 493"/>
                <a:gd name="T4" fmla="*/ 48 w 200"/>
                <a:gd name="T5" fmla="*/ 493 h 4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493">
                  <a:moveTo>
                    <a:pt x="0" y="0"/>
                  </a:moveTo>
                  <a:cubicBezTo>
                    <a:pt x="92" y="96"/>
                    <a:pt x="184" y="192"/>
                    <a:pt x="192" y="274"/>
                  </a:cubicBezTo>
                  <a:cubicBezTo>
                    <a:pt x="200" y="356"/>
                    <a:pt x="124" y="424"/>
                    <a:pt x="48" y="493"/>
                  </a:cubicBezTo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18479" name="Freeform 71"/>
          <p:cNvSpPr>
            <a:spLocks/>
          </p:cNvSpPr>
          <p:nvPr/>
        </p:nvSpPr>
        <p:spPr bwMode="auto">
          <a:xfrm>
            <a:off x="5419465" y="2929431"/>
            <a:ext cx="317500" cy="782638"/>
          </a:xfrm>
          <a:custGeom>
            <a:avLst/>
            <a:gdLst>
              <a:gd name="T0" fmla="*/ 0 w 200"/>
              <a:gd name="T1" fmla="*/ 0 h 493"/>
              <a:gd name="T2" fmla="*/ 192 w 200"/>
              <a:gd name="T3" fmla="*/ 274 h 493"/>
              <a:gd name="T4" fmla="*/ 48 w 200"/>
              <a:gd name="T5" fmla="*/ 493 h 49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0" h="493">
                <a:moveTo>
                  <a:pt x="0" y="0"/>
                </a:moveTo>
                <a:cubicBezTo>
                  <a:pt x="92" y="96"/>
                  <a:pt x="184" y="192"/>
                  <a:pt x="192" y="274"/>
                </a:cubicBezTo>
                <a:cubicBezTo>
                  <a:pt x="200" y="356"/>
                  <a:pt x="124" y="424"/>
                  <a:pt x="48" y="493"/>
                </a:cubicBezTo>
              </a:path>
            </a:pathLst>
          </a:cu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Ctr="1">
            <a:spAutoFit/>
          </a:bodyPr>
          <a:lstStyle/>
          <a:p>
            <a:endParaRPr lang="en-GB"/>
          </a:p>
        </p:txBody>
      </p:sp>
      <p:sp>
        <p:nvSpPr>
          <p:cNvPr id="18480" name="Freeform 74"/>
          <p:cNvSpPr>
            <a:spLocks/>
          </p:cNvSpPr>
          <p:nvPr/>
        </p:nvSpPr>
        <p:spPr bwMode="auto">
          <a:xfrm flipV="1">
            <a:off x="5435340" y="2149968"/>
            <a:ext cx="322263" cy="782638"/>
          </a:xfrm>
          <a:custGeom>
            <a:avLst/>
            <a:gdLst>
              <a:gd name="T0" fmla="*/ 0 w 200"/>
              <a:gd name="T1" fmla="*/ 0 h 493"/>
              <a:gd name="T2" fmla="*/ 266 w 200"/>
              <a:gd name="T3" fmla="*/ 274 h 493"/>
              <a:gd name="T4" fmla="*/ 70 w 200"/>
              <a:gd name="T5" fmla="*/ 493 h 49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0" h="493">
                <a:moveTo>
                  <a:pt x="0" y="0"/>
                </a:moveTo>
                <a:cubicBezTo>
                  <a:pt x="92" y="96"/>
                  <a:pt x="184" y="192"/>
                  <a:pt x="192" y="274"/>
                </a:cubicBezTo>
                <a:cubicBezTo>
                  <a:pt x="200" y="356"/>
                  <a:pt x="124" y="424"/>
                  <a:pt x="48" y="493"/>
                </a:cubicBezTo>
              </a:path>
            </a:pathLst>
          </a:cu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Ctr="1">
            <a:spAutoFit/>
          </a:bodyPr>
          <a:lstStyle/>
          <a:p>
            <a:endParaRPr lang="en-GB"/>
          </a:p>
        </p:txBody>
      </p:sp>
      <p:cxnSp>
        <p:nvCxnSpPr>
          <p:cNvPr id="4" name="Conector recto 3"/>
          <p:cNvCxnSpPr>
            <a:cxnSpLocks noChangeShapeType="1"/>
          </p:cNvCxnSpPr>
          <p:nvPr/>
        </p:nvCxnSpPr>
        <p:spPr bwMode="auto">
          <a:xfrm>
            <a:off x="4259003" y="2934193"/>
            <a:ext cx="1165225" cy="0"/>
          </a:xfrm>
          <a:prstGeom prst="line">
            <a:avLst/>
          </a:prstGeom>
          <a:noFill/>
          <a:ln w="25400" algn="ctr">
            <a:solidFill>
              <a:srgbClr val="3333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Conector recto 62"/>
          <p:cNvCxnSpPr>
            <a:cxnSpLocks noChangeShapeType="1"/>
          </p:cNvCxnSpPr>
          <p:nvPr/>
        </p:nvCxnSpPr>
        <p:spPr bwMode="auto">
          <a:xfrm>
            <a:off x="2645459" y="3283062"/>
            <a:ext cx="2751282" cy="0"/>
          </a:xfrm>
          <a:prstGeom prst="line">
            <a:avLst/>
          </a:prstGeom>
          <a:noFill/>
          <a:ln w="25400" algn="ctr">
            <a:solidFill>
              <a:srgbClr val="3333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8498" name="Group 66"/>
          <p:cNvGrpSpPr>
            <a:grpSpLocks/>
          </p:cNvGrpSpPr>
          <p:nvPr/>
        </p:nvGrpSpPr>
        <p:grpSpPr bwMode="auto">
          <a:xfrm>
            <a:off x="152187" y="1833294"/>
            <a:ext cx="4241817" cy="2541588"/>
            <a:chOff x="-1457" y="1134"/>
            <a:chExt cx="2672" cy="1601"/>
          </a:xfrm>
        </p:grpSpPr>
        <p:sp>
          <p:nvSpPr>
            <p:cNvPr id="18458" name="Rectangle 5"/>
            <p:cNvSpPr>
              <a:spLocks noChangeArrowheads="1"/>
            </p:cNvSpPr>
            <p:nvPr/>
          </p:nvSpPr>
          <p:spPr bwMode="auto">
            <a:xfrm rot="10800000">
              <a:off x="54" y="2216"/>
              <a:ext cx="925" cy="269"/>
            </a:xfrm>
            <a:prstGeom prst="rect">
              <a:avLst/>
            </a:prstGeom>
            <a:solidFill>
              <a:srgbClr val="969696">
                <a:alpha val="49804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459" name="Line 6"/>
            <p:cNvSpPr>
              <a:spLocks noChangeShapeType="1"/>
            </p:cNvSpPr>
            <p:nvPr/>
          </p:nvSpPr>
          <p:spPr bwMode="auto">
            <a:xfrm rot="10800000">
              <a:off x="889" y="2170"/>
              <a:ext cx="0" cy="56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0" name="Line 7"/>
            <p:cNvSpPr>
              <a:spLocks noChangeShapeType="1"/>
            </p:cNvSpPr>
            <p:nvPr/>
          </p:nvSpPr>
          <p:spPr bwMode="auto">
            <a:xfrm rot="10800000">
              <a:off x="726" y="2178"/>
              <a:ext cx="84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1" name="Line 8"/>
            <p:cNvSpPr>
              <a:spLocks noChangeShapeType="1"/>
            </p:cNvSpPr>
            <p:nvPr/>
          </p:nvSpPr>
          <p:spPr bwMode="auto">
            <a:xfrm rot="10800000">
              <a:off x="600" y="2170"/>
              <a:ext cx="85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2" name="Line 9"/>
            <p:cNvSpPr>
              <a:spLocks noChangeShapeType="1"/>
            </p:cNvSpPr>
            <p:nvPr/>
          </p:nvSpPr>
          <p:spPr bwMode="auto">
            <a:xfrm rot="10800000">
              <a:off x="475" y="2172"/>
              <a:ext cx="8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3" name="Line 10"/>
            <p:cNvSpPr>
              <a:spLocks noChangeShapeType="1"/>
            </p:cNvSpPr>
            <p:nvPr/>
          </p:nvSpPr>
          <p:spPr bwMode="auto">
            <a:xfrm rot="10800000">
              <a:off x="349" y="2172"/>
              <a:ext cx="8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4" name="Line 11"/>
            <p:cNvSpPr>
              <a:spLocks noChangeShapeType="1"/>
            </p:cNvSpPr>
            <p:nvPr/>
          </p:nvSpPr>
          <p:spPr bwMode="auto">
            <a:xfrm rot="10800000">
              <a:off x="224" y="2172"/>
              <a:ext cx="8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5" name="Line 12"/>
            <p:cNvSpPr>
              <a:spLocks noChangeShapeType="1"/>
            </p:cNvSpPr>
            <p:nvPr/>
          </p:nvSpPr>
          <p:spPr bwMode="auto">
            <a:xfrm rot="10800000">
              <a:off x="136" y="2171"/>
              <a:ext cx="0" cy="56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6" name="Rectangle 14"/>
            <p:cNvSpPr>
              <a:spLocks noChangeArrowheads="1"/>
            </p:cNvSpPr>
            <p:nvPr/>
          </p:nvSpPr>
          <p:spPr bwMode="auto">
            <a:xfrm rot="10800000" flipV="1">
              <a:off x="55" y="1389"/>
              <a:ext cx="925" cy="269"/>
            </a:xfrm>
            <a:prstGeom prst="rect">
              <a:avLst/>
            </a:prstGeom>
            <a:solidFill>
              <a:srgbClr val="969696">
                <a:alpha val="49804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467" name="Line 15"/>
            <p:cNvSpPr>
              <a:spLocks noChangeShapeType="1"/>
            </p:cNvSpPr>
            <p:nvPr/>
          </p:nvSpPr>
          <p:spPr bwMode="auto">
            <a:xfrm rot="10800000" flipV="1">
              <a:off x="891" y="1135"/>
              <a:ext cx="0" cy="56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8" name="Line 16"/>
            <p:cNvSpPr>
              <a:spLocks noChangeShapeType="1"/>
            </p:cNvSpPr>
            <p:nvPr/>
          </p:nvSpPr>
          <p:spPr bwMode="auto">
            <a:xfrm rot="10800000" flipV="1">
              <a:off x="728" y="1359"/>
              <a:ext cx="84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69" name="Line 17"/>
            <p:cNvSpPr>
              <a:spLocks noChangeShapeType="1"/>
            </p:cNvSpPr>
            <p:nvPr/>
          </p:nvSpPr>
          <p:spPr bwMode="auto">
            <a:xfrm rot="10800000" flipV="1">
              <a:off x="601" y="1367"/>
              <a:ext cx="85" cy="33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70" name="Line 18"/>
            <p:cNvSpPr>
              <a:spLocks noChangeShapeType="1"/>
            </p:cNvSpPr>
            <p:nvPr/>
          </p:nvSpPr>
          <p:spPr bwMode="auto">
            <a:xfrm rot="10800000" flipV="1">
              <a:off x="476" y="1365"/>
              <a:ext cx="8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71" name="Line 19"/>
            <p:cNvSpPr>
              <a:spLocks noChangeShapeType="1"/>
            </p:cNvSpPr>
            <p:nvPr/>
          </p:nvSpPr>
          <p:spPr bwMode="auto">
            <a:xfrm rot="10800000" flipV="1">
              <a:off x="350" y="1365"/>
              <a:ext cx="8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72" name="Line 20"/>
            <p:cNvSpPr>
              <a:spLocks noChangeShapeType="1"/>
            </p:cNvSpPr>
            <p:nvPr/>
          </p:nvSpPr>
          <p:spPr bwMode="auto">
            <a:xfrm rot="10800000" flipV="1">
              <a:off x="225" y="1365"/>
              <a:ext cx="85" cy="33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73" name="Line 21"/>
            <p:cNvSpPr>
              <a:spLocks noChangeShapeType="1"/>
            </p:cNvSpPr>
            <p:nvPr/>
          </p:nvSpPr>
          <p:spPr bwMode="auto">
            <a:xfrm rot="10800000" flipV="1">
              <a:off x="138" y="1134"/>
              <a:ext cx="0" cy="56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474" name="Rectangle 22"/>
            <p:cNvSpPr>
              <a:spLocks noChangeArrowheads="1"/>
            </p:cNvSpPr>
            <p:nvPr/>
          </p:nvSpPr>
          <p:spPr bwMode="auto">
            <a:xfrm>
              <a:off x="-178" y="1387"/>
              <a:ext cx="237" cy="1098"/>
            </a:xfrm>
            <a:prstGeom prst="rect">
              <a:avLst/>
            </a:prstGeom>
            <a:solidFill>
              <a:srgbClr val="969696">
                <a:alpha val="49804"/>
              </a:srgbClr>
            </a:solidFill>
            <a:ln w="9525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475" name="Rectangle 23"/>
            <p:cNvSpPr>
              <a:spLocks noChangeArrowheads="1"/>
            </p:cNvSpPr>
            <p:nvPr/>
          </p:nvSpPr>
          <p:spPr bwMode="auto">
            <a:xfrm>
              <a:off x="978" y="1387"/>
              <a:ext cx="237" cy="1098"/>
            </a:xfrm>
            <a:prstGeom prst="rect">
              <a:avLst/>
            </a:prstGeom>
            <a:solidFill>
              <a:srgbClr val="969696">
                <a:alpha val="49804"/>
              </a:srgbClr>
            </a:solidFill>
            <a:ln w="9525">
              <a:noFill/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476" name="Text Box 34"/>
            <p:cNvSpPr txBox="1">
              <a:spLocks noChangeArrowheads="1"/>
            </p:cNvSpPr>
            <p:nvPr/>
          </p:nvSpPr>
          <p:spPr bwMode="auto">
            <a:xfrm>
              <a:off x="-1457" y="1159"/>
              <a:ext cx="1177" cy="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 cap="all" dirty="0">
                  <a:latin typeface="Arial" panose="020B0604020202020204" pitchFamily="34" charset="0"/>
                </a:rPr>
                <a:t>Bobina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 cap="all" dirty="0">
                  <a:latin typeface="Arial" panose="020B0604020202020204" pitchFamily="34" charset="0"/>
                </a:rPr>
                <a:t>Primaria</a:t>
              </a:r>
            </a:p>
          </p:txBody>
        </p:sp>
        <p:sp>
          <p:nvSpPr>
            <p:cNvPr id="18477" name="Text Box 35"/>
            <p:cNvSpPr txBox="1">
              <a:spLocks noChangeArrowheads="1"/>
            </p:cNvSpPr>
            <p:nvPr/>
          </p:nvSpPr>
          <p:spPr bwMode="auto">
            <a:xfrm>
              <a:off x="-1457" y="2233"/>
              <a:ext cx="1177" cy="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 cap="all" dirty="0">
                  <a:latin typeface="Arial" panose="020B0604020202020204" pitchFamily="34" charset="0"/>
                </a:rPr>
                <a:t>Bobina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 cap="all" dirty="0">
                  <a:latin typeface="Arial" panose="020B0604020202020204" pitchFamily="34" charset="0"/>
                </a:rPr>
                <a:t>Secundaria</a:t>
              </a:r>
            </a:p>
          </p:txBody>
        </p:sp>
        <p:sp>
          <p:nvSpPr>
            <p:cNvPr id="18478" name="Text Box 39"/>
            <p:cNvSpPr txBox="1">
              <a:spLocks noChangeArrowheads="1"/>
            </p:cNvSpPr>
            <p:nvPr/>
          </p:nvSpPr>
          <p:spPr bwMode="auto">
            <a:xfrm>
              <a:off x="-1457" y="1696"/>
              <a:ext cx="1173" cy="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 typeface="Symbol" panose="05050102010706020507" pitchFamily="18" charset="2"/>
                <a:buNone/>
              </a:pPr>
              <a:r>
                <a:rPr lang="es-ES" sz="2000" cap="all" dirty="0">
                  <a:latin typeface="Arial" panose="020B0604020202020204" pitchFamily="34" charset="0"/>
                  <a:sym typeface="Symbol" panose="05050102010706020507" pitchFamily="18" charset="2"/>
                </a:rPr>
                <a:t>Núcleo</a:t>
              </a:r>
            </a:p>
            <a:p>
              <a:pPr algn="ctr" eaLnBrk="1" hangingPunct="1">
                <a:spcBef>
                  <a:spcPts val="0"/>
                </a:spcBef>
                <a:buFont typeface="Symbol" panose="05050102010706020507" pitchFamily="18" charset="2"/>
                <a:buNone/>
              </a:pPr>
              <a:r>
                <a:rPr lang="es-ES" sz="2000" cap="all" dirty="0" err="1">
                  <a:latin typeface="Arial" panose="020B0604020202020204" pitchFamily="34" charset="0"/>
                  <a:sym typeface="Symbol" panose="05050102010706020507" pitchFamily="18" charset="2"/>
                </a:rPr>
                <a:t>Ferromag</a:t>
              </a:r>
              <a:r>
                <a:rPr lang="es-ES" sz="2000" cap="all" dirty="0">
                  <a:latin typeface="Arial" panose="020B0604020202020204" pitchFamily="34" charset="0"/>
                  <a:sym typeface="Symbol" panose="05050102010706020507" pitchFamily="18" charset="2"/>
                </a:rPr>
                <a:t>.</a:t>
              </a:r>
            </a:p>
          </p:txBody>
        </p:sp>
      </p:grpSp>
      <p:sp>
        <p:nvSpPr>
          <p:cNvPr id="744488" name="Text Box 40"/>
          <p:cNvSpPr txBox="1">
            <a:spLocks noChangeArrowheads="1"/>
          </p:cNvSpPr>
          <p:nvPr/>
        </p:nvSpPr>
        <p:spPr bwMode="auto">
          <a:xfrm>
            <a:off x="2729161" y="2193930"/>
            <a:ext cx="6492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000" baseline="-25000">
                <a:solidFill>
                  <a:srgbClr val="3333FF"/>
                </a:solidFill>
                <a:latin typeface="Arial" panose="020B0604020202020204" pitchFamily="34" charset="0"/>
              </a:rPr>
              <a:t>p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(t)</a:t>
            </a:r>
          </a:p>
        </p:txBody>
      </p:sp>
      <p:sp>
        <p:nvSpPr>
          <p:cNvPr id="744489" name="Text Box 41"/>
          <p:cNvSpPr txBox="1">
            <a:spLocks noChangeArrowheads="1"/>
          </p:cNvSpPr>
          <p:nvPr/>
        </p:nvSpPr>
        <p:spPr bwMode="auto">
          <a:xfrm>
            <a:off x="3227715" y="3513474"/>
            <a:ext cx="6397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000" baseline="-25000">
                <a:solidFill>
                  <a:srgbClr val="3333FF"/>
                </a:solidFill>
                <a:latin typeface="Arial" panose="020B0604020202020204" pitchFamily="34" charset="0"/>
              </a:rPr>
              <a:t>s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(t)</a:t>
            </a:r>
          </a:p>
        </p:txBody>
      </p:sp>
      <p:sp>
        <p:nvSpPr>
          <p:cNvPr id="64" name="Text Box 42"/>
          <p:cNvSpPr txBox="1">
            <a:spLocks noChangeArrowheads="1"/>
          </p:cNvSpPr>
          <p:nvPr/>
        </p:nvSpPr>
        <p:spPr bwMode="auto">
          <a:xfrm>
            <a:off x="2892653" y="1921645"/>
            <a:ext cx="335646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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5" name="Text Box 42"/>
          <p:cNvSpPr txBox="1">
            <a:spLocks noChangeArrowheads="1"/>
          </p:cNvSpPr>
          <p:nvPr/>
        </p:nvSpPr>
        <p:spPr bwMode="auto">
          <a:xfrm>
            <a:off x="3200010" y="3902562"/>
            <a:ext cx="335646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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6126773" y="3251960"/>
            <a:ext cx="2081527" cy="1000127"/>
            <a:chOff x="6380773" y="3183864"/>
            <a:chExt cx="2081527" cy="1000127"/>
          </a:xfrm>
        </p:grpSpPr>
        <p:grpSp>
          <p:nvGrpSpPr>
            <p:cNvPr id="15441" name="Group 81"/>
            <p:cNvGrpSpPr>
              <a:grpSpLocks/>
            </p:cNvGrpSpPr>
            <p:nvPr/>
          </p:nvGrpSpPr>
          <p:grpSpPr bwMode="auto">
            <a:xfrm>
              <a:off x="6380773" y="3183864"/>
              <a:ext cx="1778000" cy="1000127"/>
              <a:chOff x="4044" y="1272"/>
              <a:chExt cx="1120" cy="630"/>
            </a:xfrm>
          </p:grpSpPr>
          <p:sp>
            <p:nvSpPr>
              <p:cNvPr id="18487" name="Text Box 80"/>
              <p:cNvSpPr txBox="1">
                <a:spLocks noChangeArrowheads="1"/>
              </p:cNvSpPr>
              <p:nvPr/>
            </p:nvSpPr>
            <p:spPr bwMode="auto">
              <a:xfrm>
                <a:off x="4044" y="1331"/>
                <a:ext cx="1120" cy="5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Debido a su corriente</a:t>
                </a:r>
              </a:p>
            </p:txBody>
          </p:sp>
          <p:sp>
            <p:nvSpPr>
              <p:cNvPr id="18488" name="Line 81"/>
              <p:cNvSpPr>
                <a:spLocks noChangeShapeType="1"/>
              </p:cNvSpPr>
              <p:nvPr/>
            </p:nvSpPr>
            <p:spPr bwMode="auto">
              <a:xfrm flipV="1">
                <a:off x="4892" y="1272"/>
                <a:ext cx="109" cy="14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  <p:cxnSp>
          <p:nvCxnSpPr>
            <p:cNvPr id="6" name="Conector recto 5"/>
            <p:cNvCxnSpPr/>
            <p:nvPr/>
          </p:nvCxnSpPr>
          <p:spPr bwMode="auto">
            <a:xfrm>
              <a:off x="7809267" y="3183864"/>
              <a:ext cx="65303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grpSp>
        <p:nvGrpSpPr>
          <p:cNvPr id="8" name="Grupo 7"/>
          <p:cNvGrpSpPr/>
          <p:nvPr/>
        </p:nvGrpSpPr>
        <p:grpSpPr>
          <a:xfrm>
            <a:off x="8390441" y="3235424"/>
            <a:ext cx="1896407" cy="995363"/>
            <a:chOff x="8644441" y="3167328"/>
            <a:chExt cx="1896407" cy="995363"/>
          </a:xfrm>
        </p:grpSpPr>
        <p:grpSp>
          <p:nvGrpSpPr>
            <p:cNvPr id="15442" name="Group 82"/>
            <p:cNvGrpSpPr>
              <a:grpSpLocks/>
            </p:cNvGrpSpPr>
            <p:nvPr/>
          </p:nvGrpSpPr>
          <p:grpSpPr bwMode="auto">
            <a:xfrm>
              <a:off x="8644441" y="3173678"/>
              <a:ext cx="1896407" cy="989013"/>
              <a:chOff x="5521" y="1385"/>
              <a:chExt cx="949" cy="623"/>
            </a:xfrm>
          </p:grpSpPr>
          <p:sp>
            <p:nvSpPr>
              <p:cNvPr id="18485" name="Text Box 82"/>
              <p:cNvSpPr txBox="1">
                <a:spLocks noChangeArrowheads="1"/>
              </p:cNvSpPr>
              <p:nvPr/>
            </p:nvSpPr>
            <p:spPr bwMode="auto">
              <a:xfrm>
                <a:off x="5521" y="1437"/>
                <a:ext cx="949" cy="5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82800" rIns="90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Debido a</a:t>
                </a:r>
              </a:p>
              <a:p>
                <a:pPr algn="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la de la otra</a:t>
                </a:r>
              </a:p>
            </p:txBody>
          </p:sp>
          <p:sp>
            <p:nvSpPr>
              <p:cNvPr id="18486" name="Line 83"/>
              <p:cNvSpPr>
                <a:spLocks noChangeShapeType="1"/>
              </p:cNvSpPr>
              <p:nvPr/>
            </p:nvSpPr>
            <p:spPr bwMode="auto">
              <a:xfrm flipH="1" flipV="1">
                <a:off x="5704" y="1385"/>
                <a:ext cx="75" cy="11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82800" rIns="90000" bIns="82800" anchorCtr="1">
                <a:spAutoFit/>
              </a:bodyPr>
              <a:lstStyle/>
              <a:p>
                <a:pPr algn="r"/>
                <a:endParaRPr lang="en-GB"/>
              </a:p>
            </p:txBody>
          </p:sp>
        </p:grpSp>
        <p:cxnSp>
          <p:nvCxnSpPr>
            <p:cNvPr id="68" name="Conector recto 67"/>
            <p:cNvCxnSpPr/>
            <p:nvPr/>
          </p:nvCxnSpPr>
          <p:spPr bwMode="auto">
            <a:xfrm>
              <a:off x="8752242" y="3167328"/>
              <a:ext cx="65303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744490" name="Text Box 42"/>
          <p:cNvSpPr txBox="1">
            <a:spLocks noChangeArrowheads="1"/>
          </p:cNvSpPr>
          <p:nvPr/>
        </p:nvSpPr>
        <p:spPr bwMode="auto">
          <a:xfrm>
            <a:off x="3303064" y="2280004"/>
            <a:ext cx="1031349" cy="37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600"/>
              </a:lnSpc>
              <a:spcBef>
                <a:spcPts val="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B</a:t>
            </a:r>
            <a:r>
              <a:rPr lang="es-ES" sz="200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(t)</a:t>
            </a:r>
          </a:p>
        </p:txBody>
      </p:sp>
      <p:sp>
        <p:nvSpPr>
          <p:cNvPr id="744519" name="Text Box 71"/>
          <p:cNvSpPr txBox="1">
            <a:spLocks noChangeArrowheads="1"/>
          </p:cNvSpPr>
          <p:nvPr/>
        </p:nvSpPr>
        <p:spPr bwMode="auto">
          <a:xfrm>
            <a:off x="2334289" y="3507085"/>
            <a:ext cx="1031349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ts val="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000" baseline="-25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t) 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2319AA83-7817-480C-AFED-3E45F9FDEEB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24752" y="2580914"/>
            <a:ext cx="230314" cy="360365"/>
          </a:xfrm>
          <a:prstGeom prst="line">
            <a:avLst/>
          </a:prstGeom>
          <a:noFill/>
          <a:ln w="25400" algn="ctr">
            <a:solidFill>
              <a:srgbClr val="3333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5ADCD651-F44F-442D-8D57-B64FF25CC8D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49520" y="3278685"/>
            <a:ext cx="109339" cy="283106"/>
          </a:xfrm>
          <a:prstGeom prst="line">
            <a:avLst/>
          </a:prstGeom>
          <a:noFill/>
          <a:ln w="25400" algn="ctr">
            <a:solidFill>
              <a:srgbClr val="3333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4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4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4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74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74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1" dur="500"/>
                                        <p:tgtEl>
                                          <p:spTgt spid="1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1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74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74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91" grpId="0" animBg="1"/>
      <p:bldP spid="18494" grpId="0"/>
      <p:bldP spid="744487" grpId="0" animBg="1"/>
      <p:bldP spid="744501" grpId="0" animBg="1"/>
      <p:bldP spid="744502" grpId="0" animBg="1"/>
      <p:bldP spid="3" grpId="0"/>
      <p:bldP spid="18492" grpId="0"/>
      <p:bldP spid="15387" grpId="0"/>
      <p:bldP spid="6205" grpId="0"/>
      <p:bldP spid="18479" grpId="0" animBg="1"/>
      <p:bldP spid="18480" grpId="0" animBg="1"/>
      <p:bldP spid="744488" grpId="0"/>
      <p:bldP spid="744489" grpId="0"/>
      <p:bldP spid="64" grpId="0"/>
      <p:bldP spid="65" grpId="0"/>
      <p:bldP spid="744490" grpId="0"/>
      <p:bldP spid="7445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8" name="Text Box 45"/>
          <p:cNvSpPr txBox="1">
            <a:spLocks noChangeArrowheads="1"/>
          </p:cNvSpPr>
          <p:nvPr/>
        </p:nvSpPr>
        <p:spPr bwMode="auto">
          <a:xfrm>
            <a:off x="1347664" y="3319351"/>
            <a:ext cx="8612187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Sin pérdidas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(ciclo de histéresis, corrientes de Foucault,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                       R de bobina, emisión OEM):</a:t>
            </a:r>
          </a:p>
        </p:txBody>
      </p:sp>
      <p:sp>
        <p:nvSpPr>
          <p:cNvPr id="52260" name="Text Box 46"/>
          <p:cNvSpPr txBox="1">
            <a:spLocks noChangeArrowheads="1"/>
          </p:cNvSpPr>
          <p:nvPr/>
        </p:nvSpPr>
        <p:spPr bwMode="auto">
          <a:xfrm>
            <a:off x="7648652" y="1120492"/>
            <a:ext cx="2188051" cy="63469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108000" tIns="108000" rIns="108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/V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N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/N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52261" name="Text Box 47"/>
          <p:cNvSpPr txBox="1">
            <a:spLocks noChangeArrowheads="1"/>
          </p:cNvSpPr>
          <p:nvPr/>
        </p:nvSpPr>
        <p:spPr bwMode="auto">
          <a:xfrm>
            <a:off x="1251712" y="817353"/>
            <a:ext cx="6114639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Cambiando la relación entre los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números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  de espiras</a:t>
            </a:r>
            <a:r>
              <a:rPr lang="es-ES" sz="2400" dirty="0">
                <a:latin typeface="Arial" panose="020B0604020202020204" pitchFamily="34" charset="0"/>
              </a:rPr>
              <a:t> de cada bobina, N</a:t>
            </a:r>
            <a:r>
              <a:rPr lang="es-ES" sz="2400" baseline="-25000" dirty="0">
                <a:latin typeface="Arial" panose="020B0604020202020204" pitchFamily="34" charset="0"/>
              </a:rPr>
              <a:t>P</a:t>
            </a:r>
            <a:r>
              <a:rPr lang="es-ES" sz="2400" dirty="0">
                <a:latin typeface="Arial" panose="020B0604020202020204" pitchFamily="34" charset="0"/>
              </a:rPr>
              <a:t> y N</a:t>
            </a:r>
            <a:r>
              <a:rPr lang="es-ES" sz="2400" baseline="-25000" dirty="0">
                <a:latin typeface="Arial" panose="020B0604020202020204" pitchFamily="34" charset="0"/>
              </a:rPr>
              <a:t>S</a:t>
            </a:r>
            <a:r>
              <a:rPr lang="es-ES" sz="2400" dirty="0">
                <a:latin typeface="Arial" panose="020B0604020202020204" pitchFamily="34" charset="0"/>
              </a:rPr>
              <a:t>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se puede variar la V</a:t>
            </a:r>
            <a:r>
              <a:rPr lang="es-ES" sz="2400" baseline="-25000" dirty="0">
                <a:latin typeface="Arial" panose="020B0604020202020204" pitchFamily="34" charset="0"/>
              </a:rPr>
              <a:t>S</a:t>
            </a:r>
            <a:r>
              <a:rPr lang="es-ES" sz="2400" dirty="0">
                <a:latin typeface="Arial" panose="020B0604020202020204" pitchFamily="34" charset="0"/>
              </a:rPr>
              <a:t> para una V</a:t>
            </a:r>
            <a:r>
              <a:rPr lang="es-ES" sz="2400" baseline="-25000" dirty="0">
                <a:latin typeface="Arial" panose="020B0604020202020204" pitchFamily="34" charset="0"/>
              </a:rPr>
              <a:t>P</a:t>
            </a:r>
            <a:r>
              <a:rPr lang="es-ES" sz="2400" dirty="0">
                <a:latin typeface="Arial" panose="020B0604020202020204" pitchFamily="34" charset="0"/>
              </a:rPr>
              <a:t> dada</a:t>
            </a:r>
          </a:p>
        </p:txBody>
      </p:sp>
      <p:sp>
        <p:nvSpPr>
          <p:cNvPr id="52284" name="Text Box 30"/>
          <p:cNvSpPr txBox="1">
            <a:spLocks noChangeArrowheads="1"/>
          </p:cNvSpPr>
          <p:nvPr/>
        </p:nvSpPr>
        <p:spPr bwMode="auto">
          <a:xfrm>
            <a:off x="7652307" y="4269818"/>
            <a:ext cx="2184396" cy="60925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V</a:t>
            </a:r>
            <a:r>
              <a:rPr lang="es-ES" sz="2400" baseline="-25000">
                <a:latin typeface="Arial" panose="020B0604020202020204" pitchFamily="34" charset="0"/>
              </a:rPr>
              <a:t>p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latin typeface="Arial" panose="020B0604020202020204" pitchFamily="34" charset="0"/>
              </a:rPr>
              <a:t>p</a:t>
            </a:r>
            <a:r>
              <a:rPr lang="es-ES" sz="2400">
                <a:latin typeface="Arial" panose="020B0604020202020204" pitchFamily="34" charset="0"/>
              </a:rPr>
              <a:t> = V</a:t>
            </a:r>
            <a:r>
              <a:rPr lang="es-ES" sz="2400" baseline="-25000">
                <a:latin typeface="Arial" panose="020B0604020202020204" pitchFamily="34" charset="0"/>
              </a:rPr>
              <a:t>s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2" name="Text Box 30"/>
          <p:cNvSpPr txBox="1">
            <a:spLocks noChangeArrowheads="1"/>
          </p:cNvSpPr>
          <p:nvPr/>
        </p:nvSpPr>
        <p:spPr bwMode="auto">
          <a:xfrm>
            <a:off x="3460147" y="4276297"/>
            <a:ext cx="3132491" cy="609252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tIns="1188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P</a:t>
            </a:r>
            <a:r>
              <a:rPr lang="es-ES" sz="2400" baseline="-25000">
                <a:latin typeface="Arial" panose="020B0604020202020204" pitchFamily="34" charset="0"/>
              </a:rPr>
              <a:t>consumida</a:t>
            </a:r>
            <a:r>
              <a:rPr lang="es-ES" sz="2400">
                <a:latin typeface="Arial" panose="020B0604020202020204" pitchFamily="34" charset="0"/>
              </a:rPr>
              <a:t> = P</a:t>
            </a:r>
            <a:r>
              <a:rPr lang="es-ES" sz="2400" baseline="-25000">
                <a:latin typeface="Arial" panose="020B0604020202020204" pitchFamily="34" charset="0"/>
              </a:rPr>
              <a:t>suministrada</a:t>
            </a:r>
          </a:p>
        </p:txBody>
      </p:sp>
      <p:sp>
        <p:nvSpPr>
          <p:cNvPr id="52287" name="Text Box 63"/>
          <p:cNvSpPr txBox="1">
            <a:spLocks noChangeArrowheads="1"/>
          </p:cNvSpPr>
          <p:nvPr/>
        </p:nvSpPr>
        <p:spPr bwMode="auto">
          <a:xfrm>
            <a:off x="1153109" y="2097038"/>
            <a:ext cx="8779571" cy="1275213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Si las bobinas P y S (y los circuitos en que están) no están </a:t>
            </a:r>
          </a:p>
          <a:p>
            <a:r>
              <a:rPr lang="es-ES" sz="2400" dirty="0"/>
              <a:t>   conectadas, pueden tener una referencia de potencial, una</a:t>
            </a:r>
          </a:p>
          <a:p>
            <a:r>
              <a:rPr lang="es-ES" sz="2400" dirty="0"/>
              <a:t>   tierra, diferente. Se dice que hay </a:t>
            </a:r>
            <a:r>
              <a:rPr lang="es-ES" sz="2400" dirty="0">
                <a:solidFill>
                  <a:srgbClr val="3333FF"/>
                </a:solidFill>
              </a:rPr>
              <a:t>aislamiento galvánico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1332127" y="304925"/>
            <a:ext cx="87464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Se usa para pasar de V</a:t>
            </a:r>
            <a:r>
              <a:rPr lang="es-ES" sz="2400" baseline="-25000" dirty="0"/>
              <a:t>P</a:t>
            </a:r>
            <a:r>
              <a:rPr lang="es-ES" sz="2400" dirty="0"/>
              <a:t> a V</a:t>
            </a:r>
            <a:r>
              <a:rPr lang="es-ES" sz="2400" baseline="-25000" dirty="0"/>
              <a:t>S</a:t>
            </a:r>
            <a:r>
              <a:rPr lang="es-ES" sz="2400" dirty="0"/>
              <a:t> </a:t>
            </a:r>
            <a:r>
              <a:rPr lang="es-ES" sz="2400" dirty="0">
                <a:solidFill>
                  <a:srgbClr val="FF0000"/>
                </a:solidFill>
              </a:rPr>
              <a:t>(para transformar una en otra)</a:t>
            </a:r>
          </a:p>
        </p:txBody>
      </p:sp>
      <p:sp>
        <p:nvSpPr>
          <p:cNvPr id="4" name="CuadroTexto 1"/>
          <p:cNvSpPr txBox="1">
            <a:spLocks noChangeArrowheads="1"/>
          </p:cNvSpPr>
          <p:nvPr/>
        </p:nvSpPr>
        <p:spPr bwMode="auto">
          <a:xfrm>
            <a:off x="1359735" y="5032896"/>
            <a:ext cx="8908215" cy="206476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tIns="108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/>
              <a:t>Usar </a:t>
            </a:r>
            <a:r>
              <a:rPr lang="es-ES" sz="2400" dirty="0">
                <a:solidFill>
                  <a:schemeClr val="tx1"/>
                </a:solidFill>
              </a:rPr>
              <a:t>transformadores</a:t>
            </a:r>
            <a:r>
              <a:rPr lang="es-ES" sz="2400" dirty="0"/>
              <a:t> conlleva una </a:t>
            </a:r>
            <a:r>
              <a:rPr lang="es-ES" sz="2400" dirty="0">
                <a:latin typeface="Comic Sans MS" panose="030F0702030302020204" pitchFamily="66" charset="0"/>
              </a:rPr>
              <a:t>I </a:t>
            </a:r>
            <a:r>
              <a:rPr lang="es-ES" sz="2400" dirty="0"/>
              <a:t>mucho menor en la red eléctrica (V</a:t>
            </a:r>
            <a:r>
              <a:rPr lang="es-ES" sz="2400" baseline="-25000" dirty="0"/>
              <a:t>P</a:t>
            </a:r>
            <a:r>
              <a:rPr lang="es-ES" sz="2400" dirty="0"/>
              <a:t> </a:t>
            </a:r>
            <a:r>
              <a:rPr lang="es-ES" sz="2400" dirty="0">
                <a:sym typeface="Symbol" panose="05050102010706020507" pitchFamily="18" charset="2"/>
              </a:rPr>
              <a:t></a:t>
            </a:r>
            <a:r>
              <a:rPr lang="es-ES" sz="2400" dirty="0"/>
              <a:t> 10</a:t>
            </a:r>
            <a:r>
              <a:rPr lang="es-ES" sz="2400" baseline="30000" dirty="0"/>
              <a:t>1</a:t>
            </a:r>
            <a:r>
              <a:rPr lang="es-ES" sz="2400" dirty="0"/>
              <a:t>-10</a:t>
            </a:r>
            <a:r>
              <a:rPr lang="es-ES" sz="2400" baseline="30000" dirty="0"/>
              <a:t>2</a:t>
            </a:r>
            <a:r>
              <a:rPr lang="es-ES" sz="2400" dirty="0"/>
              <a:t> kV y V</a:t>
            </a:r>
            <a:r>
              <a:rPr lang="es-ES" sz="2400" baseline="-25000" dirty="0"/>
              <a:t>S</a:t>
            </a:r>
            <a:r>
              <a:rPr lang="es-ES" sz="2400" dirty="0"/>
              <a:t> = 240 V </a:t>
            </a:r>
            <a:r>
              <a:rPr lang="es-ES" sz="2400" dirty="0">
                <a:sym typeface="Symbol" panose="05050102010706020507" pitchFamily="18" charset="2"/>
              </a:rPr>
              <a:t>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/>
              <a:t>S</a:t>
            </a:r>
            <a:r>
              <a:rPr lang="es-ES" sz="2400" dirty="0"/>
              <a:t>/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/>
              <a:t>P</a:t>
            </a:r>
            <a:r>
              <a:rPr lang="es-ES" sz="2400" dirty="0"/>
              <a:t> </a:t>
            </a:r>
            <a:r>
              <a:rPr lang="es-ES" sz="2400" dirty="0">
                <a:sym typeface="Symbol" panose="05050102010706020507" pitchFamily="18" charset="2"/>
              </a:rPr>
              <a:t></a:t>
            </a:r>
            <a:r>
              <a:rPr lang="es-ES" sz="2400" dirty="0"/>
              <a:t> 10</a:t>
            </a:r>
            <a:r>
              <a:rPr lang="es-ES" sz="2400" baseline="30000" dirty="0"/>
              <a:t>2</a:t>
            </a:r>
            <a:r>
              <a:rPr lang="es-ES" sz="2400" dirty="0"/>
              <a:t>-10</a:t>
            </a:r>
            <a:r>
              <a:rPr lang="es-ES" sz="2400" baseline="30000" dirty="0"/>
              <a:t>3</a:t>
            </a:r>
            <a:r>
              <a:rPr lang="es-ES" sz="2400" dirty="0"/>
              <a:t>). Esto reduce las pérdidas en sus cables (P = R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30000" dirty="0"/>
              <a:t>2</a:t>
            </a:r>
            <a:r>
              <a:rPr lang="es-ES" sz="2400" dirty="0"/>
              <a:t>) y el coste de la red, ya que pueden ser de mayor R (más delgados y ligeros). Por estas razones se usa </a:t>
            </a:r>
            <a:r>
              <a:rPr lang="es-ES" sz="2400" dirty="0">
                <a:solidFill>
                  <a:schemeClr val="tx1"/>
                </a:solidFill>
              </a:rPr>
              <a:t>alterna</a:t>
            </a:r>
            <a:r>
              <a:rPr lang="es-ES" sz="2400" dirty="0"/>
              <a:t> y no continua </a:t>
            </a:r>
            <a:r>
              <a:rPr lang="es-ES" sz="2400" dirty="0">
                <a:solidFill>
                  <a:srgbClr val="3333FF"/>
                </a:solidFill>
              </a:rPr>
              <a:t>(lo propuso Tesla)</a:t>
            </a:r>
          </a:p>
        </p:txBody>
      </p:sp>
      <p:sp>
        <p:nvSpPr>
          <p:cNvPr id="5" name="Flecha derecha 4"/>
          <p:cNvSpPr/>
          <p:nvPr/>
        </p:nvSpPr>
        <p:spPr bwMode="auto">
          <a:xfrm>
            <a:off x="6949052" y="4380001"/>
            <a:ext cx="346841" cy="429526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1482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5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58" grpId="0"/>
      <p:bldP spid="52260" grpId="0" animBg="1"/>
      <p:bldP spid="52261" grpId="0"/>
      <p:bldP spid="52284" grpId="0" animBg="1"/>
      <p:bldP spid="2" grpId="0" animBg="1"/>
      <p:bldP spid="52287" grpId="0"/>
      <p:bldP spid="3" grpId="0"/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-2500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-2500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16129</TotalTime>
  <Words>1980</Words>
  <Application>Microsoft Office PowerPoint</Application>
  <PresentationFormat>Personalizado</PresentationFormat>
  <Paragraphs>324</Paragraphs>
  <Slides>20</Slides>
  <Notes>19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Comic Sans MS</vt:lpstr>
      <vt:lpstr>Mistral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KIKE</cp:lastModifiedBy>
  <cp:revision>2289</cp:revision>
  <dcterms:created xsi:type="dcterms:W3CDTF">2012-02-20T13:06:36Z</dcterms:created>
  <dcterms:modified xsi:type="dcterms:W3CDTF">2024-12-10T20:10:12Z</dcterms:modified>
</cp:coreProperties>
</file>