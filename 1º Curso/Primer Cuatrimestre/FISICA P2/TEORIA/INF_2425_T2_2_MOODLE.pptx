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427" r:id="rId2"/>
    <p:sldId id="284" r:id="rId3"/>
    <p:sldId id="493" r:id="rId4"/>
    <p:sldId id="467" r:id="rId5"/>
    <p:sldId id="469" r:id="rId6"/>
    <p:sldId id="468" r:id="rId7"/>
    <p:sldId id="458" r:id="rId8"/>
    <p:sldId id="478" r:id="rId9"/>
    <p:sldId id="456" r:id="rId10"/>
    <p:sldId id="488" r:id="rId11"/>
    <p:sldId id="449" r:id="rId12"/>
    <p:sldId id="479" r:id="rId13"/>
    <p:sldId id="496" r:id="rId14"/>
    <p:sldId id="445" r:id="rId15"/>
    <p:sldId id="489" r:id="rId16"/>
    <p:sldId id="444" r:id="rId17"/>
    <p:sldId id="454" r:id="rId18"/>
    <p:sldId id="461" r:id="rId19"/>
    <p:sldId id="442" r:id="rId20"/>
    <p:sldId id="443" r:id="rId21"/>
    <p:sldId id="435" r:id="rId22"/>
    <p:sldId id="452" r:id="rId23"/>
    <p:sldId id="490" r:id="rId24"/>
    <p:sldId id="491" r:id="rId25"/>
    <p:sldId id="497" r:id="rId26"/>
    <p:sldId id="498" r:id="rId27"/>
    <p:sldId id="327" r:id="rId28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008000"/>
    <a:srgbClr val="3333FF"/>
    <a:srgbClr val="C0C0C0"/>
    <a:srgbClr val="CCFFCC"/>
    <a:srgbClr val="FFFF99"/>
    <a:srgbClr val="FFFFCC"/>
    <a:srgbClr val="66669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77" autoAdjust="0"/>
    <p:restoredTop sz="91127" autoAdjust="0"/>
  </p:normalViewPr>
  <p:slideViewPr>
    <p:cSldViewPr snapToGrid="0" showGuides="1">
      <p:cViewPr varScale="1">
        <p:scale>
          <a:sx n="103" d="100"/>
          <a:sy n="103" d="100"/>
        </p:scale>
        <p:origin x="1098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EDCF62F-3785-472B-9060-6BA6BB01E23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795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716BD47-3972-4666-888B-96229125DBE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614315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BAB767-8B7B-44DC-9755-A16338281BE6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60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514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D055690-C3DD-427A-AE0A-CDE33BFF4A53}" type="slidenum">
              <a:rPr lang="es-ES"/>
              <a:pPr algn="r" eaLnBrk="1" hangingPunct="1"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271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CDA59C-734B-4EFB-8D5C-76E91787B8B9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200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CDA59C-734B-4EFB-8D5C-76E91787B8B9}" type="slidenum">
              <a:rPr lang="es-ES"/>
              <a:pPr algn="r" eaLnBrk="1" hangingPunct="1"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268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F7BA083-7C70-4D14-811D-A199FF473D13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39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454EBC-FB88-4A44-A0AD-7DB57A177329}" type="slidenum">
              <a:rPr lang="es-ES"/>
              <a:pPr algn="r" eaLnBrk="1" hangingPunct="1"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30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2454EBC-FB88-4A44-A0AD-7DB57A177329}" type="slidenum">
              <a:rPr lang="es-ES"/>
              <a:pPr algn="r" eaLnBrk="1" hangingPunct="1"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35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8B2E174-5F66-4307-BCA9-82FB9BD48F0E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354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76EA2D-EF07-4DCB-AEFD-5E9343D7C07E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630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76EA2D-EF07-4DCB-AEFD-5E9343D7C07E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33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E07322-486A-46FC-9798-76359A78A85B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192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76EA2D-EF07-4DCB-AEFD-5E9343D7C07E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46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A8F06D8-03CB-4CA1-9690-30519220C460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263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883B13C-E43E-4EA0-B0BB-7C02D4C84400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534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072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072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BF09E80-450F-4BD6-B3BA-E7DCB7F37337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701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0F7A9A-E0A3-4197-BDE1-952F9CCB3F1B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434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90F7A9A-E0A3-4197-BDE1-952F9CCB3F1B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318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4C96BB3-7BC6-4D88-A2E0-0E48E4A3D330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i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D2C5D49-1201-4FE4-BB01-8CE5F3FFF105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78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A48047-CB05-4A80-9414-672591FFFE37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684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A48047-CB05-4A80-9414-672591FFFE37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389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A48047-CB05-4A80-9414-672591FFFE37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058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9A48047-CB05-4A80-9414-672591FFFE37}" type="slidenum">
              <a:rPr lang="es-ES"/>
              <a:pPr algn="r" eaLnBrk="1" hangingPunct="1"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242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CBBF8A2-9982-466E-8B96-0A9803F7F483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2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4676FCB-C757-4A62-BC4D-387D6BC61F94}" type="slidenum">
              <a:rPr lang="es-ES"/>
              <a:pPr algn="r" eaLnBrk="1" hangingPunct="1"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7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46FEB-D09E-475D-915E-8DC26855CAF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5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FFBF7-674B-4751-A0A3-E985C11CE6E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7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D8B03-C698-4B39-967B-7339558E544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102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F0B89-D9B3-4042-ABCA-69C526BA31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83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A9262-736F-45A8-B1A6-52A90FFB4CD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10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5CE15-F242-41C8-882B-E9190A8F7FA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13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824A4-09DC-4D6C-8EC4-2628D0DE175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3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1948D-A0C4-48EF-AA4F-539184C4336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442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73E02-C3B4-462A-9BC5-8638F73FE8A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88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DB5B4F-BBDC-4659-834D-E3A3BA2F203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701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6B1D1-812A-47D9-9E3C-AEC5C39FD8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536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1312-6814-4625-8518-E563B43066E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06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FFDF500-39FC-4877-A646-9DB2DEFE6D0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46.png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14.wmf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1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29.png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6.bin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0.png"/><Relationship Id="rId4" Type="http://schemas.openxmlformats.org/officeDocument/2006/relationships/image" Target="../media/image28.wmf"/><Relationship Id="rId9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image" Target="../media/image2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7.png"/><Relationship Id="rId4" Type="http://schemas.openxmlformats.org/officeDocument/2006/relationships/image" Target="../media/image3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6.wmf"/><Relationship Id="rId5" Type="http://schemas.openxmlformats.org/officeDocument/2006/relationships/image" Target="../media/image30.png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33.wmf"/><Relationship Id="rId9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1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7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image" Target="../media/image52.png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30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63.bin"/><Relationship Id="rId3" Type="http://schemas.openxmlformats.org/officeDocument/2006/relationships/image" Target="../media/image30.png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5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56.wmf"/><Relationship Id="rId4" Type="http://schemas.openxmlformats.org/officeDocument/2006/relationships/image" Target="../media/image53.png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5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8.bin"/><Relationship Id="rId3" Type="http://schemas.openxmlformats.org/officeDocument/2006/relationships/image" Target="../media/image30.png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1.wmf"/><Relationship Id="rId4" Type="http://schemas.openxmlformats.org/officeDocument/2006/relationships/image" Target="../media/image53.png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5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1030"/>
          <p:cNvSpPr txBox="1">
            <a:spLocks noChangeArrowheads="1"/>
          </p:cNvSpPr>
          <p:nvPr/>
        </p:nvSpPr>
        <p:spPr bwMode="auto">
          <a:xfrm>
            <a:off x="2557463" y="3221038"/>
            <a:ext cx="6429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LEY DE GAUSS. POTENCIAL ELÉCTRICO</a:t>
            </a:r>
          </a:p>
        </p:txBody>
      </p:sp>
      <p:sp>
        <p:nvSpPr>
          <p:cNvPr id="5124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(2/3)</a:t>
            </a:r>
          </a:p>
        </p:txBody>
      </p:sp>
      <p:sp>
        <p:nvSpPr>
          <p:cNvPr id="5125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2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8C80DD6F-C01B-499C-9C81-6916B67B4D38}"/>
              </a:ext>
            </a:extLst>
          </p:cNvPr>
          <p:cNvGrpSpPr/>
          <p:nvPr/>
        </p:nvGrpSpPr>
        <p:grpSpPr>
          <a:xfrm>
            <a:off x="6094004" y="5040797"/>
            <a:ext cx="4360864" cy="1865782"/>
            <a:chOff x="6310314" y="5021133"/>
            <a:chExt cx="4360864" cy="186578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6E8FCB0-F3B4-4547-8890-7722D921A98F}"/>
                </a:ext>
              </a:extLst>
            </p:cNvPr>
            <p:cNvGrpSpPr/>
            <p:nvPr/>
          </p:nvGrpSpPr>
          <p:grpSpPr>
            <a:xfrm>
              <a:off x="6310314" y="5021133"/>
              <a:ext cx="4360864" cy="1865782"/>
              <a:chOff x="6310314" y="5021133"/>
              <a:chExt cx="4360864" cy="1865782"/>
            </a:xfrm>
          </p:grpSpPr>
          <p:grpSp>
            <p:nvGrpSpPr>
              <p:cNvPr id="13" name="Group 14">
                <a:extLst>
                  <a:ext uri="{FF2B5EF4-FFF2-40B4-BE49-F238E27FC236}">
                    <a16:creationId xmlns:a16="http://schemas.microsoft.com/office/drawing/2014/main" id="{811F1A6E-DEC6-475D-9953-9AF390E00D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10314" y="5021133"/>
                <a:ext cx="4360864" cy="1865313"/>
                <a:chOff x="3975" y="3030"/>
                <a:chExt cx="2747" cy="1175"/>
              </a:xfrm>
            </p:grpSpPr>
            <p:sp>
              <p:nvSpPr>
                <p:cNvPr id="21" name="AutoShape 1056">
                  <a:extLst>
                    <a:ext uri="{FF2B5EF4-FFF2-40B4-BE49-F238E27FC236}">
                      <a16:creationId xmlns:a16="http://schemas.microsoft.com/office/drawing/2014/main" id="{3EBA9822-B445-4027-A8E9-D96917961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5" y="3030"/>
                  <a:ext cx="2747" cy="1175"/>
                </a:xfrm>
                <a:prstGeom prst="foldedCorner">
                  <a:avLst>
                    <a:gd name="adj" fmla="val 12500"/>
                  </a:avLst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Trebuchet MS" panose="020B0603020202020204" pitchFamily="34" charset="0"/>
                  </a:endParaRPr>
                </a:p>
              </p:txBody>
            </p:sp>
            <p:sp>
              <p:nvSpPr>
                <p:cNvPr id="22" name="Text Box 1057">
                  <a:extLst>
                    <a:ext uri="{FF2B5EF4-FFF2-40B4-BE49-F238E27FC236}">
                      <a16:creationId xmlns:a16="http://schemas.microsoft.com/office/drawing/2014/main" id="{663DB6BF-7FAF-4923-A745-2654B3279F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70" y="3120"/>
                  <a:ext cx="2561" cy="523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b="1">
                      <a:latin typeface="Trebuchet MS" panose="020B0603020202020204" pitchFamily="34" charset="0"/>
                    </a:rPr>
                    <a:t>PROBLEMA PROPUESTO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s-ES" sz="2400" b="1">
                      <a:latin typeface="Trebuchet MS" panose="020B0603020202020204" pitchFamily="34" charset="0"/>
                    </a:rPr>
                    <a:t>(1ª SESIÓN DE PROBLEMAS)</a:t>
                  </a:r>
                </a:p>
              </p:txBody>
            </p:sp>
            <p:sp>
              <p:nvSpPr>
                <p:cNvPr id="23" name="Text Box 1058">
                  <a:extLst>
                    <a:ext uri="{FF2B5EF4-FFF2-40B4-BE49-F238E27FC236}">
                      <a16:creationId xmlns:a16="http://schemas.microsoft.com/office/drawing/2014/main" id="{15DB1801-9080-43C6-A7E6-F0194576D7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0" y="3767"/>
                  <a:ext cx="950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8000" tIns="72000" rIns="108000" bIns="72000" anchor="ctr" anchorCtr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FF0000"/>
                      </a:solidFill>
                      <a:latin typeface="Trebuchet MS" panose="020B0603020202020204" pitchFamily="34" charset="0"/>
                      <a:sym typeface="Wingdings" panose="05000000000000000000" pitchFamily="2" charset="2"/>
                    </a:rPr>
                    <a:t>Problema</a:t>
                  </a:r>
                  <a:endParaRPr lang="es-ES" sz="48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endParaRPr>
                </a:p>
              </p:txBody>
            </p:sp>
            <p:sp>
              <p:nvSpPr>
                <p:cNvPr id="24" name="Text Box 1062">
                  <a:extLst>
                    <a:ext uri="{FF2B5EF4-FFF2-40B4-BE49-F238E27FC236}">
                      <a16:creationId xmlns:a16="http://schemas.microsoft.com/office/drawing/2014/main" id="{85B6D13A-9EBA-4F16-8FBA-383FD8EF12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28" y="3767"/>
                  <a:ext cx="753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8000" tIns="72000" rIns="108000" bIns="72000" anchor="ctr" anchorCtr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400">
                      <a:solidFill>
                        <a:srgbClr val="0000FF"/>
                      </a:solidFill>
                      <a:latin typeface="Trebuchet MS" panose="020B0603020202020204" pitchFamily="34" charset="0"/>
                    </a:rPr>
                    <a:t>Boletín</a:t>
                  </a:r>
                </a:p>
              </p:txBody>
            </p:sp>
          </p:grpSp>
          <p:sp>
            <p:nvSpPr>
              <p:cNvPr id="14" name="Text Box 1058">
                <a:extLst>
                  <a:ext uri="{FF2B5EF4-FFF2-40B4-BE49-F238E27FC236}">
                    <a16:creationId xmlns:a16="http://schemas.microsoft.com/office/drawing/2014/main" id="{61D46859-55C4-41F8-836C-7EB622EB26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03294" y="6053737"/>
                <a:ext cx="729985" cy="833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48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</a:t>
                </a:r>
              </a:p>
            </p:txBody>
          </p:sp>
          <p:sp>
            <p:nvSpPr>
              <p:cNvPr id="15" name="Text Box 1058">
                <a:extLst>
                  <a:ext uri="{FF2B5EF4-FFF2-40B4-BE49-F238E27FC236}">
                    <a16:creationId xmlns:a16="http://schemas.microsoft.com/office/drawing/2014/main" id="{A63FBCE2-292B-43CB-9F3F-58B4EC6144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36895" y="6053737"/>
                <a:ext cx="729985" cy="833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4800">
                    <a:solidFill>
                      <a:srgbClr val="0000FF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</a:t>
                </a:r>
              </a:p>
            </p:txBody>
          </p:sp>
        </p:grpSp>
        <p:sp>
          <p:nvSpPr>
            <p:cNvPr id="12" name="Text Box 1058">
              <a:extLst>
                <a:ext uri="{FF2B5EF4-FFF2-40B4-BE49-F238E27FC236}">
                  <a16:creationId xmlns:a16="http://schemas.microsoft.com/office/drawing/2014/main" id="{7428B287-2472-41DB-8277-539D435F9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3866" y="6045504"/>
              <a:ext cx="603294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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9922DF5-4D89-407B-BF88-7A39D2D54D16}"/>
              </a:ext>
            </a:extLst>
          </p:cNvPr>
          <p:cNvGrpSpPr/>
          <p:nvPr/>
        </p:nvGrpSpPr>
        <p:grpSpPr>
          <a:xfrm>
            <a:off x="7242774" y="291340"/>
            <a:ext cx="3209926" cy="2463332"/>
            <a:chOff x="7242774" y="330668"/>
            <a:chExt cx="3209926" cy="2463332"/>
          </a:xfrm>
        </p:grpSpPr>
        <p:grpSp>
          <p:nvGrpSpPr>
            <p:cNvPr id="25" name="Group 23">
              <a:extLst>
                <a:ext uri="{FF2B5EF4-FFF2-40B4-BE49-F238E27FC236}">
                  <a16:creationId xmlns:a16="http://schemas.microsoft.com/office/drawing/2014/main" id="{012E6FAE-3086-466C-AB3E-A09538DB4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2774" y="330668"/>
              <a:ext cx="3209926" cy="2463332"/>
              <a:chOff x="4896" y="372"/>
              <a:chExt cx="2022" cy="1272"/>
            </a:xfrm>
          </p:grpSpPr>
          <p:sp>
            <p:nvSpPr>
              <p:cNvPr id="27" name="AutoShape 1067">
                <a:extLst>
                  <a:ext uri="{FF2B5EF4-FFF2-40B4-BE49-F238E27FC236}">
                    <a16:creationId xmlns:a16="http://schemas.microsoft.com/office/drawing/2014/main" id="{82AFDFC2-B96C-4735-8222-095223A89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372"/>
                <a:ext cx="2022" cy="1272"/>
              </a:xfrm>
              <a:prstGeom prst="foldedCorner">
                <a:avLst>
                  <a:gd name="adj" fmla="val 6795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Text Box 1068">
                <a:extLst>
                  <a:ext uri="{FF2B5EF4-FFF2-40B4-BE49-F238E27FC236}">
                    <a16:creationId xmlns:a16="http://schemas.microsoft.com/office/drawing/2014/main" id="{2AB5E478-26D6-4D1C-8DF6-AE4518400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7" y="450"/>
                <a:ext cx="1786" cy="429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latin typeface="Trebuchet MS" panose="020B0603020202020204" pitchFamily="34" charset="0"/>
                  </a:rPr>
                  <a:t>1ª SESIÓN DE PROBLEMAS</a:t>
                </a:r>
              </a:p>
            </p:txBody>
          </p:sp>
          <p:sp>
            <p:nvSpPr>
              <p:cNvPr id="29" name="Text Box 1069">
                <a:extLst>
                  <a:ext uri="{FF2B5EF4-FFF2-40B4-BE49-F238E27FC236}">
                    <a16:creationId xmlns:a16="http://schemas.microsoft.com/office/drawing/2014/main" id="{D2EBC8E6-8F21-47C2-9D99-16F0006742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7" y="1311"/>
                <a:ext cx="1786" cy="2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solidFill>
                      <a:srgbClr val="FFFFFF"/>
                    </a:solidFill>
                    <a:latin typeface="Trebuchet MS" panose="020B0603020202020204" pitchFamily="34" charset="0"/>
                  </a:rPr>
                  <a:t>14/10 a 17/10</a:t>
                </a:r>
                <a:endPara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endParaRPr>
              </a:p>
            </p:txBody>
          </p:sp>
        </p:grpSp>
        <p:sp>
          <p:nvSpPr>
            <p:cNvPr id="26" name="Text Box 1069">
              <a:extLst>
                <a:ext uri="{FF2B5EF4-FFF2-40B4-BE49-F238E27FC236}">
                  <a16:creationId xmlns:a16="http://schemas.microsoft.com/office/drawing/2014/main" id="{4C630B4A-A152-438D-AEFB-EC1C05702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520" y="1313614"/>
              <a:ext cx="283527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Trebuchet MS" panose="020B0603020202020204" pitchFamily="34" charset="0"/>
                </a:rPr>
                <a:t>BOLETÍN 1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Trebuchet MS" panose="020B0603020202020204" pitchFamily="34" charset="0"/>
                </a:rPr>
                <a:t>PROBS. 6, 11 Y 20</a:t>
              </a:r>
            </a:p>
          </p:txBody>
        </p:sp>
      </p:grpSp>
      <p:grpSp>
        <p:nvGrpSpPr>
          <p:cNvPr id="2" name="Group 23">
            <a:extLst>
              <a:ext uri="{FF2B5EF4-FFF2-40B4-BE49-F238E27FC236}">
                <a16:creationId xmlns:a16="http://schemas.microsoft.com/office/drawing/2014/main" id="{B28DF658-5221-539B-A6DB-03E7EB2D8CCB}"/>
              </a:ext>
            </a:extLst>
          </p:cNvPr>
          <p:cNvGrpSpPr>
            <a:grpSpLocks/>
          </p:cNvGrpSpPr>
          <p:nvPr/>
        </p:nvGrpSpPr>
        <p:grpSpPr bwMode="auto">
          <a:xfrm>
            <a:off x="1271588" y="320676"/>
            <a:ext cx="2571750" cy="2473325"/>
            <a:chOff x="4896" y="276"/>
            <a:chExt cx="1620" cy="1558"/>
          </a:xfrm>
        </p:grpSpPr>
        <p:sp>
          <p:nvSpPr>
            <p:cNvPr id="3" name="AutoShape 1067">
              <a:extLst>
                <a:ext uri="{FF2B5EF4-FFF2-40B4-BE49-F238E27FC236}">
                  <a16:creationId xmlns:a16="http://schemas.microsoft.com/office/drawing/2014/main" id="{83B6461A-E674-1411-A3A4-FFC5A3B57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1620" cy="1558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" name="Text Box 1068">
              <a:extLst>
                <a:ext uri="{FF2B5EF4-FFF2-40B4-BE49-F238E27FC236}">
                  <a16:creationId xmlns:a16="http://schemas.microsoft.com/office/drawing/2014/main" id="{C93BA5B6-A54A-05D0-FA8E-06F0B7A4A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450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5" name="Text Box 1069">
              <a:extLst>
                <a:ext uri="{FF2B5EF4-FFF2-40B4-BE49-F238E27FC236}">
                  <a16:creationId xmlns:a16="http://schemas.microsoft.com/office/drawing/2014/main" id="{B88F612E-57C9-2147-6329-8BD63ACF6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1036"/>
              <a:ext cx="1336" cy="46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APUNTARSE FIN 11/10 12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6" name="Text Box 1062">
              <a:extLst>
                <a:ext uri="{FF2B5EF4-FFF2-40B4-BE49-F238E27FC236}">
                  <a16:creationId xmlns:a16="http://schemas.microsoft.com/office/drawing/2014/main" id="{F5B8720A-24E6-BAB0-0C51-8BE627E29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6" y="1498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 2">
            <a:extLst>
              <a:ext uri="{FF2B5EF4-FFF2-40B4-BE49-F238E27FC236}">
                <a16:creationId xmlns:a16="http://schemas.microsoft.com/office/drawing/2014/main" id="{60285E6C-8978-4647-9A76-036D0DE4D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095"/>
              </p:ext>
            </p:extLst>
          </p:nvPr>
        </p:nvGraphicFramePr>
        <p:xfrm>
          <a:off x="1137424" y="946302"/>
          <a:ext cx="9336139" cy="433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361">
                  <a:extLst>
                    <a:ext uri="{9D8B030D-6E8A-4147-A177-3AD203B41FA5}">
                      <a16:colId xmlns:a16="http://schemas.microsoft.com/office/drawing/2014/main" val="3889970370"/>
                    </a:ext>
                  </a:extLst>
                </a:gridCol>
                <a:gridCol w="931419">
                  <a:extLst>
                    <a:ext uri="{9D8B030D-6E8A-4147-A177-3AD203B41FA5}">
                      <a16:colId xmlns:a16="http://schemas.microsoft.com/office/drawing/2014/main" val="2960715721"/>
                    </a:ext>
                  </a:extLst>
                </a:gridCol>
                <a:gridCol w="1022571">
                  <a:extLst>
                    <a:ext uri="{9D8B030D-6E8A-4147-A177-3AD203B41FA5}">
                      <a16:colId xmlns:a16="http://schemas.microsoft.com/office/drawing/2014/main" val="1251989476"/>
                    </a:ext>
                  </a:extLst>
                </a:gridCol>
                <a:gridCol w="976020">
                  <a:extLst>
                    <a:ext uri="{9D8B030D-6E8A-4147-A177-3AD203B41FA5}">
                      <a16:colId xmlns:a16="http://schemas.microsoft.com/office/drawing/2014/main" val="1868777160"/>
                    </a:ext>
                  </a:extLst>
                </a:gridCol>
                <a:gridCol w="972724">
                  <a:extLst>
                    <a:ext uri="{9D8B030D-6E8A-4147-A177-3AD203B41FA5}">
                      <a16:colId xmlns:a16="http://schemas.microsoft.com/office/drawing/2014/main" val="2286851830"/>
                    </a:ext>
                  </a:extLst>
                </a:gridCol>
                <a:gridCol w="1445104">
                  <a:extLst>
                    <a:ext uri="{9D8B030D-6E8A-4147-A177-3AD203B41FA5}">
                      <a16:colId xmlns:a16="http://schemas.microsoft.com/office/drawing/2014/main" val="1015353480"/>
                    </a:ext>
                  </a:extLst>
                </a:gridCol>
                <a:gridCol w="1175932">
                  <a:extLst>
                    <a:ext uri="{9D8B030D-6E8A-4147-A177-3AD203B41FA5}">
                      <a16:colId xmlns:a16="http://schemas.microsoft.com/office/drawing/2014/main" val="966296471"/>
                    </a:ext>
                  </a:extLst>
                </a:gridCol>
                <a:gridCol w="1438008">
                  <a:extLst>
                    <a:ext uri="{9D8B030D-6E8A-4147-A177-3AD203B41FA5}">
                      <a16:colId xmlns:a16="http://schemas.microsoft.com/office/drawing/2014/main" val="1808274697"/>
                    </a:ext>
                  </a:extLst>
                </a:gridCol>
              </a:tblGrid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GRUPO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47091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TURNOS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 Y T3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Y 3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 Y T3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399902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8780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</a:p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</a:t>
                      </a:r>
                    </a:p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</a:p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15/10</a:t>
                      </a:r>
                      <a:endParaRPr lang="es-ES" sz="20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0575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HORARIO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– 17:30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9-10:30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16 -17:30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9-10:30</a:t>
                      </a:r>
                      <a:endParaRPr lang="es-ES" sz="2000" b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720824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JESÚS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FERNANDO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JESÚS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FERNANDO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803400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146C738-4E84-56EA-BF77-D99337DBE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438" y="342569"/>
            <a:ext cx="5974397" cy="4699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PRIMERA SESIÓN DE PROBLEMAS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11F51-3D88-27AF-5FAC-2991F2D36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780" y="5574513"/>
            <a:ext cx="7159083" cy="37754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1800" b="1">
                <a:latin typeface="Arial" panose="020B0604020202020204" pitchFamily="34" charset="0"/>
              </a:rPr>
              <a:t>IM 1.2: AULARIO ISIDORO MORALES - PLANTA 1 - PUERTA 2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B766F3-816F-6A5C-9358-7F18B30E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628" y="6038424"/>
            <a:ext cx="7170235" cy="37754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1800" b="1">
                <a:latin typeface="Arial" panose="020B0604020202020204" pitchFamily="34" charset="0"/>
              </a:rPr>
              <a:t>  G 2.11: AULARIO GALILEO - PLANTA 2 - PUERTA 11</a:t>
            </a:r>
            <a:endParaRPr lang="es-ES" sz="1800" b="1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4967BE-BDCD-5EB8-FD48-FC6494F07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248" y="6505173"/>
            <a:ext cx="8242776" cy="377541"/>
          </a:xfrm>
          <a:prstGeom prst="rect">
            <a:avLst/>
          </a:prstGeom>
          <a:noFill/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1800">
                <a:solidFill>
                  <a:srgbClr val="FF0000"/>
                </a:solidFill>
                <a:latin typeface="Arial" panose="020B0604020202020204" pitchFamily="34" charset="0"/>
              </a:rPr>
              <a:t>  En rojo los cambios por el retraso en el inicio de las clases</a:t>
            </a:r>
            <a:endParaRPr lang="es-ES" sz="1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extLst>
              <a:ext uri="{FF2B5EF4-FFF2-40B4-BE49-F238E27FC236}">
                <a16:creationId xmlns:a16="http://schemas.microsoft.com/office/drawing/2014/main" id="{27C8CB0E-8BD4-D6AD-1121-427E1C4D7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6" y="4351671"/>
            <a:ext cx="7537450" cy="41365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48B7D634-F75B-4868-9E25-9E19A1412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5030250"/>
            <a:ext cx="7537450" cy="41365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2CDBD479-B660-4C4B-AE18-E9B16A4F2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3906196"/>
            <a:ext cx="7537450" cy="41365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Line 17"/>
          <p:cNvSpPr>
            <a:spLocks noChangeShapeType="1"/>
          </p:cNvSpPr>
          <p:nvPr/>
        </p:nvSpPr>
        <p:spPr bwMode="auto">
          <a:xfrm>
            <a:off x="5483803" y="2492371"/>
            <a:ext cx="215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76DD32E-3F02-40F4-8576-DDC017B0A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776" y="647233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D527052-69E6-4333-936E-BA3B22A37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25" y="357272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15"/>
          <p:cNvSpPr>
            <a:spLocks noChangeArrowheads="1"/>
          </p:cNvSpPr>
          <p:nvPr/>
        </p:nvSpPr>
        <p:spPr bwMode="auto">
          <a:xfrm>
            <a:off x="2574925" y="1683756"/>
            <a:ext cx="7796213" cy="527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Flujo y Circulación.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Gauss para E.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Aplicaciones de la Ley de Gauss.</a:t>
            </a:r>
            <a:endParaRPr lang="es-ES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Trabajo.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Fuerza y Campo Conservativos.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Energía Potencial Eléctrica y Potencial </a:t>
            </a:r>
            <a:r>
              <a:rPr lang="es-ES" sz="2400" b="1">
                <a:latin typeface="Arial" panose="020B0604020202020204" pitchFamily="34" charset="0"/>
              </a:rPr>
              <a:t>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Potenciales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Fuerza </a:t>
            </a:r>
            <a:r>
              <a:rPr lang="es-ES" sz="2400" b="1" dirty="0">
                <a:latin typeface="Arial" panose="020B0604020202020204" pitchFamily="34" charset="0"/>
              </a:rPr>
              <a:t>Electromotriz.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Gradiente </a:t>
            </a:r>
            <a:r>
              <a:rPr lang="es-ES" sz="2400" b="1" dirty="0">
                <a:latin typeface="Arial" panose="020B0604020202020204" pitchFamily="34" charset="0"/>
              </a:rPr>
              <a:t>y Superficies Equipotenciales.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Ruptura Dieléctrica.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47850" y="245599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847850" y="5027754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1847850" y="1740906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8"/>
          <p:cNvSpPr>
            <a:spLocks noChangeArrowheads="1"/>
          </p:cNvSpPr>
          <p:nvPr/>
        </p:nvSpPr>
        <p:spPr bwMode="auto">
          <a:xfrm>
            <a:off x="1465263" y="588963"/>
            <a:ext cx="76755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2: LEY DE GAUSS.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POTENCIAL ELÉCTRICO</a:t>
            </a:r>
          </a:p>
        </p:txBody>
      </p:sp>
      <p:sp>
        <p:nvSpPr>
          <p:cNvPr id="7176" name="Rectangle 14"/>
          <p:cNvSpPr>
            <a:spLocks noChangeArrowheads="1"/>
          </p:cNvSpPr>
          <p:nvPr/>
        </p:nvSpPr>
        <p:spPr bwMode="auto">
          <a:xfrm>
            <a:off x="1825625" y="1683756"/>
            <a:ext cx="708025" cy="527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2.4</a:t>
            </a:r>
            <a:r>
              <a:rPr lang="es-ES" sz="2400" b="1" dirty="0"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2.5.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EFDA5EB0-7307-4DD7-9338-3549B8010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716" y="309608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10/10/24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09/10/24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09/10/24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85" name="Text Box 17"/>
          <p:cNvSpPr txBox="1">
            <a:spLocks noChangeArrowheads="1"/>
          </p:cNvSpPr>
          <p:nvPr/>
        </p:nvSpPr>
        <p:spPr bwMode="auto">
          <a:xfrm>
            <a:off x="4580360" y="2883726"/>
            <a:ext cx="30464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Si  </a:t>
            </a:r>
            <a:r>
              <a:rPr lang="es-ES" sz="2400">
                <a:latin typeface="Arial" panose="020B0604020202020204" pitchFamily="34" charset="0"/>
              </a:rPr>
              <a:t>W</a:t>
            </a:r>
            <a:r>
              <a:rPr lang="es-ES" sz="2400" baseline="-25000">
                <a:latin typeface="Arial" panose="020B0604020202020204" pitchFamily="34" charset="0"/>
              </a:rPr>
              <a:t>A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B,C1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 </a:t>
            </a:r>
            <a:r>
              <a:rPr lang="es-ES" sz="2400">
                <a:latin typeface="Arial" panose="020B0604020202020204" pitchFamily="34" charset="0"/>
              </a:rPr>
              <a:t>W</a:t>
            </a:r>
            <a:r>
              <a:rPr lang="es-ES" sz="2400" baseline="-25000">
                <a:latin typeface="Arial" panose="020B0604020202020204" pitchFamily="34" charset="0"/>
              </a:rPr>
              <a:t>A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B,C2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 </a:t>
            </a:r>
            <a:endParaRPr lang="es-ES" sz="2400" baseline="-250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7587" name="Text Box 19"/>
          <p:cNvSpPr txBox="1">
            <a:spLocks noChangeArrowheads="1"/>
          </p:cNvSpPr>
          <p:nvPr/>
        </p:nvSpPr>
        <p:spPr bwMode="auto">
          <a:xfrm>
            <a:off x="4575720" y="4013208"/>
            <a:ext cx="29845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 </a:t>
            </a:r>
            <a:r>
              <a:rPr lang="es-ES" sz="2400" dirty="0">
                <a:latin typeface="Arial" panose="020B0604020202020204" pitchFamily="34" charset="0"/>
              </a:rPr>
              <a:t>W</a:t>
            </a:r>
            <a:r>
              <a:rPr lang="es-ES" sz="2400" baseline="-25000" dirty="0">
                <a:latin typeface="Arial" panose="020B0604020202020204" pitchFamily="34" charset="0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B,C1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 dirty="0">
                <a:latin typeface="Arial" panose="020B0604020202020204" pitchFamily="34" charset="0"/>
              </a:rPr>
              <a:t>W</a:t>
            </a:r>
            <a:r>
              <a:rPr lang="es-ES" sz="2400" baseline="-25000" dirty="0">
                <a:latin typeface="Arial" panose="020B0604020202020204" pitchFamily="34" charset="0"/>
              </a:rPr>
              <a:t>A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B,C2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559487" y="1299246"/>
            <a:ext cx="2549378" cy="848995"/>
            <a:chOff x="1539875" y="1695609"/>
            <a:chExt cx="2903538" cy="849154"/>
          </a:xfrm>
        </p:grpSpPr>
        <p:sp>
          <p:nvSpPr>
            <p:cNvPr id="39972" name="Freeform 8"/>
            <p:cNvSpPr>
              <a:spLocks/>
            </p:cNvSpPr>
            <p:nvPr/>
          </p:nvSpPr>
          <p:spPr bwMode="auto">
            <a:xfrm>
              <a:off x="1539875" y="2044700"/>
              <a:ext cx="2903538" cy="500063"/>
            </a:xfrm>
            <a:custGeom>
              <a:avLst/>
              <a:gdLst>
                <a:gd name="T0" fmla="*/ 0 w 2209"/>
                <a:gd name="T1" fmla="*/ 2147483646 h 315"/>
                <a:gd name="T2" fmla="*/ 2147483646 w 2209"/>
                <a:gd name="T3" fmla="*/ 2147483646 h 315"/>
                <a:gd name="T4" fmla="*/ 2147483646 w 2209"/>
                <a:gd name="T5" fmla="*/ 2147483646 h 315"/>
                <a:gd name="T6" fmla="*/ 2147483646 w 2209"/>
                <a:gd name="T7" fmla="*/ 2147483646 h 3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09"/>
                <a:gd name="T13" fmla="*/ 0 h 315"/>
                <a:gd name="T14" fmla="*/ 2209 w 2209"/>
                <a:gd name="T15" fmla="*/ 315 h 3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09" h="315">
                  <a:moveTo>
                    <a:pt x="0" y="315"/>
                  </a:moveTo>
                  <a:cubicBezTo>
                    <a:pt x="182" y="173"/>
                    <a:pt x="364" y="32"/>
                    <a:pt x="619" y="16"/>
                  </a:cubicBezTo>
                  <a:cubicBezTo>
                    <a:pt x="874" y="0"/>
                    <a:pt x="1266" y="223"/>
                    <a:pt x="1531" y="220"/>
                  </a:cubicBezTo>
                  <a:cubicBezTo>
                    <a:pt x="1796" y="217"/>
                    <a:pt x="2002" y="109"/>
                    <a:pt x="2209" y="1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grpSp>
          <p:nvGrpSpPr>
            <p:cNvPr id="39973" name="38 Grupo"/>
            <p:cNvGrpSpPr>
              <a:grpSpLocks/>
            </p:cNvGrpSpPr>
            <p:nvPr/>
          </p:nvGrpSpPr>
          <p:grpSpPr bwMode="auto">
            <a:xfrm>
              <a:off x="2940050" y="1695609"/>
              <a:ext cx="585643" cy="611029"/>
              <a:chOff x="2940050" y="1876584"/>
              <a:chExt cx="585643" cy="611029"/>
            </a:xfrm>
          </p:grpSpPr>
          <p:sp>
            <p:nvSpPr>
              <p:cNvPr id="39974" name="Text Box 9"/>
              <p:cNvSpPr txBox="1">
                <a:spLocks noChangeArrowheads="1"/>
              </p:cNvSpPr>
              <p:nvPr/>
            </p:nvSpPr>
            <p:spPr bwMode="auto">
              <a:xfrm>
                <a:off x="3068493" y="1876584"/>
                <a:ext cx="457200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1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75" name="Line 38"/>
              <p:cNvSpPr>
                <a:spLocks noChangeShapeType="1"/>
              </p:cNvSpPr>
              <p:nvPr/>
            </p:nvSpPr>
            <p:spPr bwMode="auto">
              <a:xfrm>
                <a:off x="2940050" y="2405063"/>
                <a:ext cx="196850" cy="8255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 type="none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</p:grpSp>
      </p:grpSp>
      <p:sp>
        <p:nvSpPr>
          <p:cNvPr id="37921" name="Text Box 40"/>
          <p:cNvSpPr txBox="1">
            <a:spLocks noChangeArrowheads="1"/>
          </p:cNvSpPr>
          <p:nvPr/>
        </p:nvSpPr>
        <p:spPr bwMode="auto">
          <a:xfrm>
            <a:off x="2722228" y="5783421"/>
            <a:ext cx="6099193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72000" tIns="72000" rIns="72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Una fuerza es conservativa si el trabajo que realiza no depende del camino</a:t>
            </a:r>
          </a:p>
        </p:txBody>
      </p:sp>
      <p:sp>
        <p:nvSpPr>
          <p:cNvPr id="237609" name="Text Box 41"/>
          <p:cNvSpPr txBox="1">
            <a:spLocks noChangeArrowheads="1"/>
          </p:cNvSpPr>
          <p:nvPr/>
        </p:nvSpPr>
        <p:spPr bwMode="auto">
          <a:xfrm>
            <a:off x="6134372" y="4634441"/>
            <a:ext cx="1483396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 C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y C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s-ES" sz="24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7610" name="Text Box 42"/>
          <p:cNvSpPr txBox="1">
            <a:spLocks noChangeArrowheads="1"/>
          </p:cNvSpPr>
          <p:nvPr/>
        </p:nvSpPr>
        <p:spPr bwMode="auto">
          <a:xfrm>
            <a:off x="6131615" y="5147186"/>
            <a:ext cx="1906589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: Para todo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532500" y="1649766"/>
            <a:ext cx="2520000" cy="1308100"/>
            <a:chOff x="1512888" y="2046288"/>
            <a:chExt cx="2914650" cy="1308100"/>
          </a:xfrm>
        </p:grpSpPr>
        <p:grpSp>
          <p:nvGrpSpPr>
            <p:cNvPr id="39968" name="Group 46"/>
            <p:cNvGrpSpPr>
              <a:grpSpLocks/>
            </p:cNvGrpSpPr>
            <p:nvPr/>
          </p:nvGrpSpPr>
          <p:grpSpPr bwMode="auto">
            <a:xfrm>
              <a:off x="1512888" y="2046288"/>
              <a:ext cx="2914650" cy="1308100"/>
              <a:chOff x="953" y="1403"/>
              <a:chExt cx="1836" cy="824"/>
            </a:xfrm>
          </p:grpSpPr>
          <p:sp>
            <p:nvSpPr>
              <p:cNvPr id="39970" name="Freeform 15"/>
              <p:cNvSpPr>
                <a:spLocks/>
              </p:cNvSpPr>
              <p:nvPr/>
            </p:nvSpPr>
            <p:spPr bwMode="auto">
              <a:xfrm>
                <a:off x="953" y="1403"/>
                <a:ext cx="1836" cy="824"/>
              </a:xfrm>
              <a:custGeom>
                <a:avLst/>
                <a:gdLst>
                  <a:gd name="T0" fmla="*/ 0 w 2217"/>
                  <a:gd name="T1" fmla="*/ 321 h 824"/>
                  <a:gd name="T2" fmla="*/ 10 w 2217"/>
                  <a:gd name="T3" fmla="*/ 656 h 824"/>
                  <a:gd name="T4" fmla="*/ 23 w 2217"/>
                  <a:gd name="T5" fmla="*/ 715 h 824"/>
                  <a:gd name="T6" fmla="*/ 29 w 2217"/>
                  <a:gd name="T7" fmla="*/ 0 h 8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17"/>
                  <a:gd name="T13" fmla="*/ 0 h 824"/>
                  <a:gd name="T14" fmla="*/ 2217 w 2217"/>
                  <a:gd name="T15" fmla="*/ 824 h 8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17" h="824">
                    <a:moveTo>
                      <a:pt x="0" y="321"/>
                    </a:moveTo>
                    <a:cubicBezTo>
                      <a:pt x="212" y="455"/>
                      <a:pt x="424" y="590"/>
                      <a:pt x="722" y="656"/>
                    </a:cubicBezTo>
                    <a:cubicBezTo>
                      <a:pt x="1020" y="722"/>
                      <a:pt x="1537" y="824"/>
                      <a:pt x="1786" y="715"/>
                    </a:cubicBezTo>
                    <a:cubicBezTo>
                      <a:pt x="2035" y="606"/>
                      <a:pt x="2126" y="303"/>
                      <a:pt x="2217" y="0"/>
                    </a:cubicBezTo>
                  </a:path>
                </a:pathLst>
              </a:cu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9971" name="Text Box 16"/>
              <p:cNvSpPr txBox="1">
                <a:spLocks noChangeArrowheads="1"/>
              </p:cNvSpPr>
              <p:nvPr/>
            </p:nvSpPr>
            <p:spPr bwMode="auto">
              <a:xfrm>
                <a:off x="1929" y="1761"/>
                <a:ext cx="288" cy="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2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969" name="Line 45"/>
            <p:cNvSpPr>
              <a:spLocks noChangeShapeType="1"/>
            </p:cNvSpPr>
            <p:nvPr/>
          </p:nvSpPr>
          <p:spPr bwMode="auto">
            <a:xfrm>
              <a:off x="2883909" y="3189865"/>
              <a:ext cx="196850" cy="3333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sp>
        <p:nvSpPr>
          <p:cNvPr id="39957" name="Rectangle 2"/>
          <p:cNvSpPr>
            <a:spLocks noChangeArrowheads="1"/>
          </p:cNvSpPr>
          <p:nvPr/>
        </p:nvSpPr>
        <p:spPr bwMode="auto">
          <a:xfrm>
            <a:off x="1257094" y="503250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2.3.2. FUERZA Y CAMPO CONSERVATIVOS</a:t>
            </a:r>
          </a:p>
        </p:txBody>
      </p:sp>
      <p:grpSp>
        <p:nvGrpSpPr>
          <p:cNvPr id="62504" name="Group 40"/>
          <p:cNvGrpSpPr>
            <a:grpSpLocks/>
          </p:cNvGrpSpPr>
          <p:nvPr/>
        </p:nvGrpSpPr>
        <p:grpSpPr bwMode="auto">
          <a:xfrm>
            <a:off x="8190158" y="2850912"/>
            <a:ext cx="2505075" cy="609600"/>
            <a:chOff x="5164" y="1024"/>
            <a:chExt cx="1578" cy="384"/>
          </a:xfrm>
        </p:grpSpPr>
        <p:sp>
          <p:nvSpPr>
            <p:cNvPr id="39961" name="Rectangle 33"/>
            <p:cNvSpPr>
              <a:spLocks noChangeArrowheads="1"/>
            </p:cNvSpPr>
            <p:nvPr/>
          </p:nvSpPr>
          <p:spPr bwMode="auto">
            <a:xfrm>
              <a:off x="5164" y="1024"/>
              <a:ext cx="1578" cy="38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962" name="Object 4"/>
            <p:cNvGraphicFramePr>
              <a:graphicFrameLocks noChangeAspect="1"/>
            </p:cNvGraphicFramePr>
            <p:nvPr/>
          </p:nvGraphicFramePr>
          <p:xfrm>
            <a:off x="5245" y="1054"/>
            <a:ext cx="18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68" imgH="215713" progId="Equation.3">
                    <p:embed/>
                  </p:oleObj>
                </mc:Choice>
                <mc:Fallback>
                  <p:oleObj name="Ecuación" r:id="rId3" imgW="152268" imgH="215713" progId="Equation.3">
                    <p:embed/>
                    <p:pic>
                      <p:nvPicPr>
                        <p:cNvPr id="3996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" y="1054"/>
                          <a:ext cx="18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3" name="Text Box 39"/>
            <p:cNvSpPr txBox="1">
              <a:spLocks noChangeArrowheads="1"/>
            </p:cNvSpPr>
            <p:nvPr/>
          </p:nvSpPr>
          <p:spPr bwMode="auto">
            <a:xfrm>
              <a:off x="5419" y="1085"/>
              <a:ext cx="1323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NO CONSERVATIVA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E9BE5FCF-C55B-4ABE-997F-EF35FC182EDA}"/>
              </a:ext>
            </a:extLst>
          </p:cNvPr>
          <p:cNvGrpSpPr/>
          <p:nvPr/>
        </p:nvGrpSpPr>
        <p:grpSpPr>
          <a:xfrm>
            <a:off x="1343289" y="1128849"/>
            <a:ext cx="2887019" cy="1659154"/>
            <a:chOff x="1343289" y="1128849"/>
            <a:chExt cx="2887019" cy="1659154"/>
          </a:xfrm>
        </p:grpSpPr>
        <p:sp>
          <p:nvSpPr>
            <p:cNvPr id="39938" name="Oval 15"/>
            <p:cNvSpPr>
              <a:spLocks noChangeArrowheads="1"/>
            </p:cNvSpPr>
            <p:nvPr/>
          </p:nvSpPr>
          <p:spPr bwMode="auto">
            <a:xfrm>
              <a:off x="1427725" y="2040291"/>
              <a:ext cx="288925" cy="287337"/>
            </a:xfrm>
            <a:prstGeom prst="ellipse">
              <a:avLst/>
            </a:prstGeom>
            <a:gradFill rotWithShape="1">
              <a:gsLst>
                <a:gs pos="0">
                  <a:srgbClr val="D6D6FF"/>
                </a:gs>
                <a:gs pos="100000">
                  <a:srgbClr val="3333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39" name="Text Box 83"/>
            <p:cNvSpPr txBox="1">
              <a:spLocks noChangeArrowheads="1"/>
            </p:cNvSpPr>
            <p:nvPr/>
          </p:nvSpPr>
          <p:spPr bwMode="auto">
            <a:xfrm>
              <a:off x="1343289" y="2318103"/>
              <a:ext cx="392112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39945" name="Text Box 12"/>
            <p:cNvSpPr txBox="1">
              <a:spLocks noChangeArrowheads="1"/>
            </p:cNvSpPr>
            <p:nvPr/>
          </p:nvSpPr>
          <p:spPr bwMode="auto">
            <a:xfrm>
              <a:off x="1384068" y="1526735"/>
              <a:ext cx="350837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9946" name="Text Box 13"/>
            <p:cNvSpPr txBox="1">
              <a:spLocks noChangeArrowheads="1"/>
            </p:cNvSpPr>
            <p:nvPr/>
          </p:nvSpPr>
          <p:spPr bwMode="auto">
            <a:xfrm>
              <a:off x="3879471" y="1128849"/>
              <a:ext cx="350837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39959" name="Oval 11"/>
            <p:cNvSpPr>
              <a:spLocks noChangeArrowheads="1"/>
            </p:cNvSpPr>
            <p:nvPr/>
          </p:nvSpPr>
          <p:spPr bwMode="auto">
            <a:xfrm>
              <a:off x="4000915" y="1622201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60" name="Oval 10"/>
            <p:cNvSpPr>
              <a:spLocks noChangeArrowheads="1"/>
            </p:cNvSpPr>
            <p:nvPr/>
          </p:nvSpPr>
          <p:spPr bwMode="auto">
            <a:xfrm>
              <a:off x="1494400" y="2127603"/>
              <a:ext cx="107950" cy="107950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4575504" y="1340431"/>
            <a:ext cx="5602908" cy="1284588"/>
            <a:chOff x="2527366" y="3117419"/>
            <a:chExt cx="5602908" cy="1284588"/>
          </a:xfrm>
        </p:grpSpPr>
        <p:graphicFrame>
          <p:nvGraphicFramePr>
            <p:cNvPr id="47" name="Object 4"/>
            <p:cNvGraphicFramePr>
              <a:graphicFrameLocks noChangeAspect="1"/>
            </p:cNvGraphicFramePr>
            <p:nvPr/>
          </p:nvGraphicFramePr>
          <p:xfrm>
            <a:off x="5205891" y="3117419"/>
            <a:ext cx="344139" cy="477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52268" imgH="215713" progId="Equation.3">
                    <p:embed/>
                  </p:oleObj>
                </mc:Choice>
                <mc:Fallback>
                  <p:oleObj name="Ecuación" r:id="rId5" imgW="152268" imgH="215713" progId="Equation.3">
                    <p:embed/>
                    <p:pic>
                      <p:nvPicPr>
                        <p:cNvPr id="4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891" y="3117419"/>
                          <a:ext cx="344139" cy="477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39"/>
            <p:cNvSpPr txBox="1">
              <a:spLocks noChangeArrowheads="1"/>
            </p:cNvSpPr>
            <p:nvPr/>
          </p:nvSpPr>
          <p:spPr bwMode="auto">
            <a:xfrm>
              <a:off x="2527366" y="3199497"/>
              <a:ext cx="5602908" cy="1202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Consideremos una    aplicada a lo largo de C1 y C2, en cada punto, con un determinado valor.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BE411046-9B05-42A2-B0AE-A8980AC463B5}"/>
              </a:ext>
            </a:extLst>
          </p:cNvPr>
          <p:cNvGrpSpPr/>
          <p:nvPr/>
        </p:nvGrpSpPr>
        <p:grpSpPr>
          <a:xfrm>
            <a:off x="7655877" y="3954484"/>
            <a:ext cx="3039356" cy="1188000"/>
            <a:chOff x="7655877" y="3849709"/>
            <a:chExt cx="3039356" cy="1188000"/>
          </a:xfrm>
        </p:grpSpPr>
        <p:grpSp>
          <p:nvGrpSpPr>
            <p:cNvPr id="4" name="Grupo 3"/>
            <p:cNvGrpSpPr/>
            <p:nvPr/>
          </p:nvGrpSpPr>
          <p:grpSpPr>
            <a:xfrm>
              <a:off x="8190157" y="3849709"/>
              <a:ext cx="2505076" cy="658813"/>
              <a:chOff x="8409304" y="2037607"/>
              <a:chExt cx="2505076" cy="658813"/>
            </a:xfrm>
          </p:grpSpPr>
          <p:sp>
            <p:nvSpPr>
              <p:cNvPr id="39976" name="Rectangle 34"/>
              <p:cNvSpPr>
                <a:spLocks noChangeArrowheads="1"/>
              </p:cNvSpPr>
              <p:nvPr/>
            </p:nvSpPr>
            <p:spPr bwMode="auto">
              <a:xfrm>
                <a:off x="8409304" y="2037607"/>
                <a:ext cx="2505076" cy="65881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42" name="Object 4"/>
              <p:cNvGraphicFramePr>
                <a:graphicFrameLocks noChangeAspect="1"/>
              </p:cNvGraphicFramePr>
              <p:nvPr/>
            </p:nvGraphicFramePr>
            <p:xfrm>
              <a:off x="8523786" y="2108858"/>
              <a:ext cx="290513" cy="403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52268" imgH="215713" progId="Equation.3">
                      <p:embed/>
                    </p:oleObj>
                  </mc:Choice>
                  <mc:Fallback>
                    <p:oleObj name="Ecuación" r:id="rId6" imgW="152268" imgH="215713" progId="Equation.3">
                      <p:embed/>
                      <p:pic>
                        <p:nvPicPr>
                          <p:cNvPr id="42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23786" y="2108858"/>
                            <a:ext cx="290513" cy="403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Text Box 39"/>
              <p:cNvSpPr txBox="1">
                <a:spLocks noChangeArrowheads="1"/>
              </p:cNvSpPr>
              <p:nvPr/>
            </p:nvSpPr>
            <p:spPr bwMode="auto">
              <a:xfrm>
                <a:off x="8798389" y="2126731"/>
                <a:ext cx="1792968" cy="3407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0C0C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CONSERVATIVA</a:t>
                </a:r>
              </a:p>
            </p:txBody>
          </p:sp>
        </p:grp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A42CB6D-F834-4BEA-A36F-79EE2851DF2D}"/>
                </a:ext>
              </a:extLst>
            </p:cNvPr>
            <p:cNvCxnSpPr/>
            <p:nvPr/>
          </p:nvCxnSpPr>
          <p:spPr bwMode="auto">
            <a:xfrm>
              <a:off x="7742583" y="3849709"/>
              <a:ext cx="0" cy="1188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4A14BFD6-54BD-44A8-BAB5-6E514F0B9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5877" y="3898542"/>
              <a:ext cx="501935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</a:t>
              </a:r>
              <a:endPara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9" name="Text Box 42">
            <a:extLst>
              <a:ext uri="{FF2B5EF4-FFF2-40B4-BE49-F238E27FC236}">
                <a16:creationId xmlns:a16="http://schemas.microsoft.com/office/drawing/2014/main" id="{45CBC45C-40FB-4857-9456-497F19079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490" y="3360785"/>
            <a:ext cx="2235205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Ej.: rozamiento</a:t>
            </a:r>
          </a:p>
        </p:txBody>
      </p:sp>
    </p:spTree>
    <p:extLst>
      <p:ext uri="{BB962C8B-B14F-4D97-AF65-F5344CB8AC3E}">
        <p14:creationId xmlns:p14="http://schemas.microsoft.com/office/powerpoint/2010/main" val="19802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5" grpId="0"/>
      <p:bldP spid="237587" grpId="0"/>
      <p:bldP spid="37921" grpId="0" animBg="1"/>
      <p:bldP spid="237609" grpId="0"/>
      <p:bldP spid="237610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val 15"/>
          <p:cNvSpPr>
            <a:spLocks noChangeArrowheads="1"/>
          </p:cNvSpPr>
          <p:nvPr/>
        </p:nvSpPr>
        <p:spPr bwMode="auto">
          <a:xfrm>
            <a:off x="1427725" y="2040291"/>
            <a:ext cx="288925" cy="287337"/>
          </a:xfrm>
          <a:prstGeom prst="ellipse">
            <a:avLst/>
          </a:prstGeom>
          <a:gradFill rotWithShape="1">
            <a:gsLst>
              <a:gs pos="0">
                <a:srgbClr val="D6D6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Text Box 83"/>
          <p:cNvSpPr txBox="1">
            <a:spLocks noChangeArrowheads="1"/>
          </p:cNvSpPr>
          <p:nvPr/>
        </p:nvSpPr>
        <p:spPr bwMode="auto">
          <a:xfrm>
            <a:off x="1343289" y="2318103"/>
            <a:ext cx="39211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237590" name="Text Box 22"/>
          <p:cNvSpPr txBox="1">
            <a:spLocks noChangeArrowheads="1"/>
          </p:cNvSpPr>
          <p:nvPr/>
        </p:nvSpPr>
        <p:spPr bwMode="auto">
          <a:xfrm>
            <a:off x="6796075" y="3429241"/>
            <a:ext cx="3013880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B,C1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B,C2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37591" name="Text Box 23"/>
          <p:cNvSpPr txBox="1">
            <a:spLocks noChangeArrowheads="1"/>
          </p:cNvSpPr>
          <p:nvPr/>
        </p:nvSpPr>
        <p:spPr bwMode="auto">
          <a:xfrm>
            <a:off x="2016125" y="5764293"/>
            <a:ext cx="7505700" cy="9990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 </a:t>
            </a:r>
            <a:r>
              <a:rPr lang="es-ES" sz="2400" dirty="0">
                <a:latin typeface="Arial" panose="020B0604020202020204" pitchFamily="34" charset="0"/>
              </a:rPr>
              <a:t>Una fuerza es conservativa si el trabajo que realiza a lo largo de cualquier camino cerrado es nulo</a:t>
            </a:r>
          </a:p>
        </p:txBody>
      </p:sp>
      <p:sp>
        <p:nvSpPr>
          <p:cNvPr id="39945" name="Text Box 12"/>
          <p:cNvSpPr txBox="1">
            <a:spLocks noChangeArrowheads="1"/>
          </p:cNvSpPr>
          <p:nvPr/>
        </p:nvSpPr>
        <p:spPr bwMode="auto">
          <a:xfrm>
            <a:off x="1384068" y="1526735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9946" name="Text Box 13"/>
          <p:cNvSpPr txBox="1">
            <a:spLocks noChangeArrowheads="1"/>
          </p:cNvSpPr>
          <p:nvPr/>
        </p:nvSpPr>
        <p:spPr bwMode="auto">
          <a:xfrm>
            <a:off x="3879471" y="1128849"/>
            <a:ext cx="3508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237603" name="Text Box 35"/>
          <p:cNvSpPr txBox="1">
            <a:spLocks noChangeArrowheads="1"/>
          </p:cNvSpPr>
          <p:nvPr/>
        </p:nvSpPr>
        <p:spPr bwMode="auto">
          <a:xfrm>
            <a:off x="6793989" y="1425201"/>
            <a:ext cx="303651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 W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B,C1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A,C2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1559487" y="1299246"/>
            <a:ext cx="2549378" cy="848995"/>
            <a:chOff x="1539875" y="1695609"/>
            <a:chExt cx="2903538" cy="849154"/>
          </a:xfrm>
        </p:grpSpPr>
        <p:sp>
          <p:nvSpPr>
            <p:cNvPr id="39972" name="Freeform 8"/>
            <p:cNvSpPr>
              <a:spLocks/>
            </p:cNvSpPr>
            <p:nvPr/>
          </p:nvSpPr>
          <p:spPr bwMode="auto">
            <a:xfrm>
              <a:off x="1539875" y="2044700"/>
              <a:ext cx="2903538" cy="500063"/>
            </a:xfrm>
            <a:custGeom>
              <a:avLst/>
              <a:gdLst>
                <a:gd name="T0" fmla="*/ 0 w 2209"/>
                <a:gd name="T1" fmla="*/ 2147483646 h 315"/>
                <a:gd name="T2" fmla="*/ 2147483646 w 2209"/>
                <a:gd name="T3" fmla="*/ 2147483646 h 315"/>
                <a:gd name="T4" fmla="*/ 2147483646 w 2209"/>
                <a:gd name="T5" fmla="*/ 2147483646 h 315"/>
                <a:gd name="T6" fmla="*/ 2147483646 w 2209"/>
                <a:gd name="T7" fmla="*/ 2147483646 h 3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09"/>
                <a:gd name="T13" fmla="*/ 0 h 315"/>
                <a:gd name="T14" fmla="*/ 2209 w 2209"/>
                <a:gd name="T15" fmla="*/ 315 h 3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09" h="315">
                  <a:moveTo>
                    <a:pt x="0" y="315"/>
                  </a:moveTo>
                  <a:cubicBezTo>
                    <a:pt x="182" y="173"/>
                    <a:pt x="364" y="32"/>
                    <a:pt x="619" y="16"/>
                  </a:cubicBezTo>
                  <a:cubicBezTo>
                    <a:pt x="874" y="0"/>
                    <a:pt x="1266" y="223"/>
                    <a:pt x="1531" y="220"/>
                  </a:cubicBezTo>
                  <a:cubicBezTo>
                    <a:pt x="1796" y="217"/>
                    <a:pt x="2002" y="109"/>
                    <a:pt x="2209" y="1"/>
                  </a:cubicBezTo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  <p:grpSp>
          <p:nvGrpSpPr>
            <p:cNvPr id="39973" name="38 Grupo"/>
            <p:cNvGrpSpPr>
              <a:grpSpLocks/>
            </p:cNvGrpSpPr>
            <p:nvPr/>
          </p:nvGrpSpPr>
          <p:grpSpPr bwMode="auto">
            <a:xfrm>
              <a:off x="2940050" y="1695609"/>
              <a:ext cx="585643" cy="611029"/>
              <a:chOff x="2940050" y="1876584"/>
              <a:chExt cx="585643" cy="611029"/>
            </a:xfrm>
          </p:grpSpPr>
          <p:sp>
            <p:nvSpPr>
              <p:cNvPr id="39974" name="Text Box 9"/>
              <p:cNvSpPr txBox="1">
                <a:spLocks noChangeArrowheads="1"/>
              </p:cNvSpPr>
              <p:nvPr/>
            </p:nvSpPr>
            <p:spPr bwMode="auto">
              <a:xfrm>
                <a:off x="3068493" y="1876584"/>
                <a:ext cx="457200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8000"/>
                    </a:solidFill>
                    <a:latin typeface="Arial" panose="020B0604020202020204" pitchFamily="34" charset="0"/>
                  </a:rPr>
                  <a:t>C</a:t>
                </a:r>
                <a:r>
                  <a:rPr lang="es-ES" sz="2400" baseline="-25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1</a:t>
                </a:r>
                <a:endParaRPr lang="es-ES" sz="2400">
                  <a:solidFill>
                    <a:srgbClr val="008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75" name="Line 38"/>
              <p:cNvSpPr>
                <a:spLocks noChangeShapeType="1"/>
              </p:cNvSpPr>
              <p:nvPr/>
            </p:nvSpPr>
            <p:spPr bwMode="auto">
              <a:xfrm>
                <a:off x="2940050" y="2405063"/>
                <a:ext cx="196850" cy="8255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</p:grpSp>
      </p:grpSp>
      <p:sp>
        <p:nvSpPr>
          <p:cNvPr id="37920" name="Text Box 36"/>
          <p:cNvSpPr txBox="1">
            <a:spLocks noChangeArrowheads="1"/>
          </p:cNvSpPr>
          <p:nvPr/>
        </p:nvSpPr>
        <p:spPr bwMode="auto">
          <a:xfrm>
            <a:off x="9718940" y="3502119"/>
            <a:ext cx="70273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 0</a:t>
            </a:r>
          </a:p>
        </p:txBody>
      </p:sp>
      <p:sp>
        <p:nvSpPr>
          <p:cNvPr id="237611" name="Text Box 43"/>
          <p:cNvSpPr txBox="1">
            <a:spLocks noChangeArrowheads="1"/>
          </p:cNvSpPr>
          <p:nvPr/>
        </p:nvSpPr>
        <p:spPr bwMode="auto">
          <a:xfrm>
            <a:off x="4462490" y="1421085"/>
            <a:ext cx="23730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CAMINO CERRADO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970" name="Freeform 15"/>
          <p:cNvSpPr>
            <a:spLocks/>
          </p:cNvSpPr>
          <p:nvPr/>
        </p:nvSpPr>
        <p:spPr bwMode="auto">
          <a:xfrm>
            <a:off x="1532500" y="1649766"/>
            <a:ext cx="2520000" cy="1308100"/>
          </a:xfrm>
          <a:custGeom>
            <a:avLst/>
            <a:gdLst>
              <a:gd name="T0" fmla="*/ 0 w 2217"/>
              <a:gd name="T1" fmla="*/ 321 h 824"/>
              <a:gd name="T2" fmla="*/ 10 w 2217"/>
              <a:gd name="T3" fmla="*/ 656 h 824"/>
              <a:gd name="T4" fmla="*/ 23 w 2217"/>
              <a:gd name="T5" fmla="*/ 715 h 824"/>
              <a:gd name="T6" fmla="*/ 29 w 2217"/>
              <a:gd name="T7" fmla="*/ 0 h 824"/>
              <a:gd name="T8" fmla="*/ 0 60000 65536"/>
              <a:gd name="T9" fmla="*/ 0 60000 65536"/>
              <a:gd name="T10" fmla="*/ 0 60000 65536"/>
              <a:gd name="T11" fmla="*/ 0 60000 65536"/>
              <a:gd name="T12" fmla="*/ 0 w 2217"/>
              <a:gd name="T13" fmla="*/ 0 h 824"/>
              <a:gd name="T14" fmla="*/ 2217 w 2217"/>
              <a:gd name="T15" fmla="*/ 824 h 8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17" h="824">
                <a:moveTo>
                  <a:pt x="0" y="321"/>
                </a:moveTo>
                <a:cubicBezTo>
                  <a:pt x="212" y="455"/>
                  <a:pt x="424" y="590"/>
                  <a:pt x="722" y="656"/>
                </a:cubicBezTo>
                <a:cubicBezTo>
                  <a:pt x="1020" y="722"/>
                  <a:pt x="1537" y="824"/>
                  <a:pt x="1786" y="715"/>
                </a:cubicBezTo>
                <a:cubicBezTo>
                  <a:pt x="2035" y="606"/>
                  <a:pt x="2126" y="303"/>
                  <a:pt x="2217" y="0"/>
                </a:cubicBezTo>
              </a:path>
            </a:pathLst>
          </a:custGeom>
          <a:noFill/>
          <a:ln w="2540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82800" rIns="90000" bIns="82800"/>
          <a:lstStyle/>
          <a:p>
            <a:endParaRPr lang="en-GB" sz="2400"/>
          </a:p>
        </p:txBody>
      </p:sp>
      <p:sp>
        <p:nvSpPr>
          <p:cNvPr id="39959" name="Oval 11"/>
          <p:cNvSpPr>
            <a:spLocks noChangeArrowheads="1"/>
          </p:cNvSpPr>
          <p:nvPr/>
        </p:nvSpPr>
        <p:spPr bwMode="auto">
          <a:xfrm>
            <a:off x="4000915" y="1622201"/>
            <a:ext cx="107950" cy="107950"/>
          </a:xfrm>
          <a:prstGeom prst="ellipse">
            <a:avLst/>
          </a:prstGeom>
          <a:solidFill>
            <a:srgbClr val="FF0000"/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60" name="Oval 10"/>
          <p:cNvSpPr>
            <a:spLocks noChangeArrowheads="1"/>
          </p:cNvSpPr>
          <p:nvPr/>
        </p:nvSpPr>
        <p:spPr bwMode="auto">
          <a:xfrm>
            <a:off x="1494400" y="2127603"/>
            <a:ext cx="107950" cy="107950"/>
          </a:xfrm>
          <a:prstGeom prst="ellipse">
            <a:avLst/>
          </a:prstGeom>
          <a:solidFill>
            <a:srgbClr val="FF0000"/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42"/>
          <p:cNvSpPr txBox="1">
            <a:spLocks noChangeArrowheads="1"/>
          </p:cNvSpPr>
          <p:nvPr/>
        </p:nvSpPr>
        <p:spPr bwMode="auto">
          <a:xfrm>
            <a:off x="6224175" y="1898322"/>
            <a:ext cx="3830192" cy="1275213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 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CONSERVATIVA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cumple la propiedad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del W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1624773" y="4381346"/>
            <a:ext cx="3972176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F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 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CONSERVATIVA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 no depende del camino</a:t>
            </a:r>
            <a:endParaRPr lang="es-ES" sz="280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681130" y="2218091"/>
            <a:ext cx="586272" cy="596971"/>
            <a:chOff x="2578390" y="2218091"/>
            <a:chExt cx="586272" cy="596971"/>
          </a:xfrm>
        </p:grpSpPr>
        <p:sp>
          <p:nvSpPr>
            <p:cNvPr id="39971" name="Text Box 16"/>
            <p:cNvSpPr txBox="1">
              <a:spLocks noChangeArrowheads="1"/>
            </p:cNvSpPr>
            <p:nvPr/>
          </p:nvSpPr>
          <p:spPr bwMode="auto">
            <a:xfrm>
              <a:off x="2769368" y="2218091"/>
              <a:ext cx="395294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baseline="-25000" dirty="0">
                  <a:solidFill>
                    <a:srgbClr val="008000"/>
                  </a:solidFill>
                  <a:latin typeface="Arial" panose="020B0604020202020204" pitchFamily="34" charset="0"/>
                </a:rPr>
                <a:t>2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 flipH="1" flipV="1">
              <a:off x="2578390" y="2781725"/>
              <a:ext cx="170196" cy="3333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5617731" y="4586793"/>
            <a:ext cx="3173295" cy="536549"/>
            <a:chOff x="5617731" y="4782000"/>
            <a:chExt cx="3173295" cy="536549"/>
          </a:xfrm>
        </p:grpSpPr>
        <p:sp>
          <p:nvSpPr>
            <p:cNvPr id="6" name="Flecha derecha 5"/>
            <p:cNvSpPr/>
            <p:nvPr/>
          </p:nvSpPr>
          <p:spPr bwMode="auto">
            <a:xfrm>
              <a:off x="5617731" y="4815620"/>
              <a:ext cx="305087" cy="485976"/>
            </a:xfrm>
            <a:prstGeom prst="rightArrow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Text Box 22"/>
            <p:cNvSpPr txBox="1">
              <a:spLocks noChangeArrowheads="1"/>
            </p:cNvSpPr>
            <p:nvPr/>
          </p:nvSpPr>
          <p:spPr bwMode="auto">
            <a:xfrm>
              <a:off x="6126601" y="4782000"/>
              <a:ext cx="266442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W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B,C1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W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B,C2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8" name="Forma libre 7"/>
          <p:cNvSpPr/>
          <p:nvPr/>
        </p:nvSpPr>
        <p:spPr bwMode="auto">
          <a:xfrm>
            <a:off x="8869774" y="4077928"/>
            <a:ext cx="1019198" cy="843322"/>
          </a:xfrm>
          <a:custGeom>
            <a:avLst/>
            <a:gdLst>
              <a:gd name="connsiteX0" fmla="*/ 0 w 1298864"/>
              <a:gd name="connsiteY0" fmla="*/ 280555 h 280555"/>
              <a:gd name="connsiteX1" fmla="*/ 1298864 w 1298864"/>
              <a:gd name="connsiteY1" fmla="*/ 280555 h 280555"/>
              <a:gd name="connsiteX2" fmla="*/ 1298864 w 1298864"/>
              <a:gd name="connsiteY2" fmla="*/ 0 h 280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8864" h="280555">
                <a:moveTo>
                  <a:pt x="0" y="280555"/>
                </a:moveTo>
                <a:lnTo>
                  <a:pt x="1298864" y="280555"/>
                </a:lnTo>
                <a:lnTo>
                  <a:pt x="1298864" y="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44F79D47-B264-8243-C8CB-02277BF85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625" y="3092930"/>
            <a:ext cx="367706" cy="536549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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802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90" grpId="0"/>
      <p:bldP spid="237591" grpId="0" animBg="1"/>
      <p:bldP spid="237603" grpId="0"/>
      <p:bldP spid="37920" grpId="0"/>
      <p:bldP spid="237611" grpId="0"/>
      <p:bldP spid="44" grpId="0"/>
      <p:bldP spid="45" grpId="0"/>
      <p:bldP spid="8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668" name="Object 5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561790" y="3728200"/>
          <a:ext cx="11525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469800" imgH="380880" progId="Equation.3">
                  <p:embed/>
                </p:oleObj>
              </mc:Choice>
              <mc:Fallback>
                <p:oleObj name="Ecuación" r:id="rId3" imgW="469800" imgH="380880" progId="Equation.3">
                  <p:embed/>
                  <p:pic>
                    <p:nvPicPr>
                      <p:cNvPr id="239668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790" y="3728200"/>
                        <a:ext cx="1152525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9" name="Text Box 79"/>
          <p:cNvSpPr txBox="1">
            <a:spLocks noChangeArrowheads="1"/>
          </p:cNvSpPr>
          <p:nvPr/>
        </p:nvSpPr>
        <p:spPr bwMode="auto">
          <a:xfrm>
            <a:off x="6629648" y="2154259"/>
            <a:ext cx="3649240" cy="90588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no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siempre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(Tema 5)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 Q que crea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fija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sí</a:t>
            </a:r>
          </a:p>
        </p:txBody>
      </p:sp>
      <p:grpSp>
        <p:nvGrpSpPr>
          <p:cNvPr id="5" name="Group 96"/>
          <p:cNvGrpSpPr>
            <a:grpSpLocks/>
          </p:cNvGrpSpPr>
          <p:nvPr/>
        </p:nvGrpSpPr>
        <p:grpSpPr bwMode="auto">
          <a:xfrm>
            <a:off x="1464359" y="4772982"/>
            <a:ext cx="1831974" cy="1247776"/>
            <a:chOff x="1131" y="3530"/>
            <a:chExt cx="1154" cy="786"/>
          </a:xfrm>
        </p:grpSpPr>
        <p:sp>
          <p:nvSpPr>
            <p:cNvPr id="42015" name="Rectangle 51"/>
            <p:cNvSpPr>
              <a:spLocks noChangeArrowheads="1"/>
            </p:cNvSpPr>
            <p:nvPr/>
          </p:nvSpPr>
          <p:spPr bwMode="auto">
            <a:xfrm>
              <a:off x="1131" y="3530"/>
              <a:ext cx="1154" cy="78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16" name="Object 86"/>
            <p:cNvGraphicFramePr>
              <a:graphicFrameLocks noChangeAspect="1"/>
            </p:cNvGraphicFramePr>
            <p:nvPr/>
          </p:nvGraphicFramePr>
          <p:xfrm>
            <a:off x="1192" y="3628"/>
            <a:ext cx="994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685800" imgH="381000" progId="Equation.3">
                    <p:embed/>
                  </p:oleObj>
                </mc:Choice>
                <mc:Fallback>
                  <p:oleObj name="Ecuación" r:id="rId5" imgW="685800" imgH="381000" progId="Equation.3">
                    <p:embed/>
                    <p:pic>
                      <p:nvPicPr>
                        <p:cNvPr id="42016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628"/>
                          <a:ext cx="994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9704" name="Object 88"/>
          <p:cNvGraphicFramePr>
            <a:graphicFrameLocks noChangeAspect="1"/>
          </p:cNvGraphicFramePr>
          <p:nvPr/>
        </p:nvGraphicFramePr>
        <p:xfrm>
          <a:off x="6535127" y="3808220"/>
          <a:ext cx="1860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825500" imgH="203200" progId="Equation.3">
                  <p:embed/>
                </p:oleObj>
              </mc:Choice>
              <mc:Fallback>
                <p:oleObj name="Ecuación" r:id="rId7" imgW="825500" imgH="203200" progId="Equation.3">
                  <p:embed/>
                  <p:pic>
                    <p:nvPicPr>
                      <p:cNvPr id="239704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127" y="3808220"/>
                        <a:ext cx="1860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716" name="Text Box 100"/>
          <p:cNvSpPr txBox="1">
            <a:spLocks noChangeArrowheads="1"/>
          </p:cNvSpPr>
          <p:nvPr/>
        </p:nvSpPr>
        <p:spPr bwMode="auto">
          <a:xfrm>
            <a:off x="2575263" y="5447871"/>
            <a:ext cx="5905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 C</a:t>
            </a:r>
          </a:p>
        </p:txBody>
      </p:sp>
      <p:grpSp>
        <p:nvGrpSpPr>
          <p:cNvPr id="41996" name="Group 50"/>
          <p:cNvGrpSpPr>
            <a:grpSpLocks/>
          </p:cNvGrpSpPr>
          <p:nvPr/>
        </p:nvGrpSpPr>
        <p:grpSpPr bwMode="auto">
          <a:xfrm>
            <a:off x="1433537" y="944225"/>
            <a:ext cx="4367211" cy="1165224"/>
            <a:chOff x="2277" y="3680"/>
            <a:chExt cx="2751" cy="734"/>
          </a:xfrm>
        </p:grpSpPr>
        <p:sp>
          <p:nvSpPr>
            <p:cNvPr id="42010" name="Rectangle 25"/>
            <p:cNvSpPr>
              <a:spLocks noChangeArrowheads="1"/>
            </p:cNvSpPr>
            <p:nvPr/>
          </p:nvSpPr>
          <p:spPr bwMode="auto">
            <a:xfrm>
              <a:off x="2277" y="3680"/>
              <a:ext cx="2751" cy="73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11" name="Object 21"/>
            <p:cNvGraphicFramePr>
              <a:graphicFrameLocks noChangeAspect="1"/>
            </p:cNvGraphicFramePr>
            <p:nvPr/>
          </p:nvGraphicFramePr>
          <p:xfrm>
            <a:off x="2344" y="3739"/>
            <a:ext cx="2665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815840" imgH="380880" progId="Equation.3">
                    <p:embed/>
                  </p:oleObj>
                </mc:Choice>
                <mc:Fallback>
                  <p:oleObj name="Ecuación" r:id="rId9" imgW="1815840" imgH="380880" progId="Equation.3">
                    <p:embed/>
                    <p:pic>
                      <p:nvPicPr>
                        <p:cNvPr id="42011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4" y="3739"/>
                          <a:ext cx="2665" cy="5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7" name="Text Box 51"/>
          <p:cNvSpPr txBox="1">
            <a:spLocks noChangeArrowheads="1"/>
          </p:cNvSpPr>
          <p:nvPr/>
        </p:nvSpPr>
        <p:spPr bwMode="auto">
          <a:xfrm>
            <a:off x="2523945" y="1541127"/>
            <a:ext cx="5905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 C</a:t>
            </a:r>
          </a:p>
        </p:txBody>
      </p:sp>
      <p:graphicFrame>
        <p:nvGraphicFramePr>
          <p:cNvPr id="4200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561824"/>
              </p:ext>
            </p:extLst>
          </p:nvPr>
        </p:nvGraphicFramePr>
        <p:xfrm>
          <a:off x="6561916" y="1444065"/>
          <a:ext cx="22971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990360" imgH="253800" progId="Equation.3">
                  <p:embed/>
                </p:oleObj>
              </mc:Choice>
              <mc:Fallback>
                <p:oleObj name="Ecuación" r:id="rId11" imgW="990360" imgH="253800" progId="Equation.3">
                  <p:embed/>
                  <p:pic>
                    <p:nvPicPr>
                      <p:cNvPr id="4200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916" y="1444065"/>
                        <a:ext cx="22971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3116946" y="4772978"/>
            <a:ext cx="2677142" cy="1246671"/>
            <a:chOff x="3273425" y="4594081"/>
            <a:chExt cx="2677142" cy="1246671"/>
          </a:xfrm>
        </p:grpSpPr>
        <p:sp>
          <p:nvSpPr>
            <p:cNvPr id="42004" name="Rectangle 51"/>
            <p:cNvSpPr>
              <a:spLocks noChangeArrowheads="1"/>
            </p:cNvSpPr>
            <p:nvPr/>
          </p:nvSpPr>
          <p:spPr bwMode="auto">
            <a:xfrm>
              <a:off x="3273425" y="4594081"/>
              <a:ext cx="2677142" cy="124667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05" name="Object 21"/>
            <p:cNvGraphicFramePr>
              <a:graphicFrameLocks noChangeAspect="1"/>
            </p:cNvGraphicFramePr>
            <p:nvPr/>
          </p:nvGraphicFramePr>
          <p:xfrm>
            <a:off x="3383237" y="4756489"/>
            <a:ext cx="251460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079280" imgH="253800" progId="Equation.3">
                    <p:embed/>
                  </p:oleObj>
                </mc:Choice>
                <mc:Fallback>
                  <p:oleObj name="Ecuación" r:id="rId13" imgW="1079280" imgH="253800" progId="Equation.3">
                    <p:embed/>
                    <p:pic>
                      <p:nvPicPr>
                        <p:cNvPr id="4200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3237" y="4756489"/>
                          <a:ext cx="251460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6621147" y="422099"/>
            <a:ext cx="1452642" cy="46166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Ejemplos</a:t>
            </a:r>
          </a:p>
        </p:txBody>
      </p:sp>
      <p:sp>
        <p:nvSpPr>
          <p:cNvPr id="36" name="Text Box 51"/>
          <p:cNvSpPr txBox="1">
            <a:spLocks noChangeArrowheads="1"/>
          </p:cNvSpPr>
          <p:nvPr/>
        </p:nvSpPr>
        <p:spPr bwMode="auto">
          <a:xfrm>
            <a:off x="5791713" y="4160361"/>
            <a:ext cx="59055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 C</a:t>
            </a:r>
          </a:p>
        </p:txBody>
      </p:sp>
      <p:sp>
        <p:nvSpPr>
          <p:cNvPr id="31" name="Text Box 79"/>
          <p:cNvSpPr txBox="1">
            <a:spLocks noChangeArrowheads="1"/>
          </p:cNvSpPr>
          <p:nvPr/>
        </p:nvSpPr>
        <p:spPr bwMode="auto">
          <a:xfrm>
            <a:off x="1130323" y="288102"/>
            <a:ext cx="488207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Matemáticamente se expresa así:</a:t>
            </a:r>
          </a:p>
        </p:txBody>
      </p:sp>
      <p:sp>
        <p:nvSpPr>
          <p:cNvPr id="34" name="Text Box 117"/>
          <p:cNvSpPr txBox="1">
            <a:spLocks noChangeArrowheads="1"/>
          </p:cNvSpPr>
          <p:nvPr/>
        </p:nvSpPr>
        <p:spPr bwMode="auto">
          <a:xfrm>
            <a:off x="4205488" y="2756238"/>
            <a:ext cx="1443855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q está en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todo C</a:t>
            </a:r>
          </a:p>
        </p:txBody>
      </p:sp>
      <p:graphicFrame>
        <p:nvGraphicFramePr>
          <p:cNvPr id="42008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2815"/>
              </p:ext>
            </p:extLst>
          </p:nvPr>
        </p:nvGraphicFramePr>
        <p:xfrm>
          <a:off x="6571441" y="868250"/>
          <a:ext cx="27670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1193760" imgH="253800" progId="Equation.3">
                  <p:embed/>
                </p:oleObj>
              </mc:Choice>
              <mc:Fallback>
                <p:oleObj name="Ecuación" r:id="rId15" imgW="1193760" imgH="253800" progId="Equation.3">
                  <p:embed/>
                  <p:pic>
                    <p:nvPicPr>
                      <p:cNvPr id="42008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1441" y="868250"/>
                        <a:ext cx="27670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17"/>
          <p:cNvSpPr txBox="1">
            <a:spLocks noChangeArrowheads="1"/>
          </p:cNvSpPr>
          <p:nvPr/>
        </p:nvSpPr>
        <p:spPr bwMode="auto">
          <a:xfrm>
            <a:off x="6071584" y="4789799"/>
            <a:ext cx="4315812" cy="16590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72000" rIns="90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 </a:t>
            </a:r>
            <a:r>
              <a:rPr lang="es-ES" sz="2400">
                <a:latin typeface="Arial" panose="020B0604020202020204" pitchFamily="34" charset="0"/>
              </a:rPr>
              <a:t>Una fuerza que proviene de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un campo conservativo, 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conservativa. P.ej.: </a:t>
            </a:r>
            <a:r>
              <a:rPr lang="es-ES" sz="2400" b="1"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latin typeface="Arial" panose="020B0604020202020204" pitchFamily="34" charset="0"/>
              </a:rPr>
              <a:t>G</a:t>
            </a:r>
            <a:r>
              <a:rPr lang="es-ES" sz="2400">
                <a:latin typeface="Arial" panose="020B0604020202020204" pitchFamily="34" charset="0"/>
              </a:rPr>
              <a:t> de </a:t>
            </a:r>
            <a:r>
              <a:rPr lang="es-ES" sz="2400" b="1">
                <a:latin typeface="Arial" panose="020B0604020202020204" pitchFamily="34" charset="0"/>
              </a:rPr>
              <a:t>g </a:t>
            </a:r>
            <a:r>
              <a:rPr lang="es-ES" sz="2400">
                <a:latin typeface="Arial" panose="020B0604020202020204" pitchFamily="34" charset="0"/>
              </a:rPr>
              <a:t>(basta razonar al revés)</a:t>
            </a:r>
            <a:endParaRPr lang="es-ES" sz="2400" dirty="0">
              <a:latin typeface="Arial" panose="020B0604020202020204" pitchFamily="34" charset="0"/>
            </a:endParaRPr>
          </a:p>
        </p:txBody>
      </p:sp>
      <p:graphicFrame>
        <p:nvGraphicFramePr>
          <p:cNvPr id="42" name="Object 52"/>
          <p:cNvGraphicFramePr>
            <a:graphicFrameLocks noChangeAspect="1"/>
          </p:cNvGraphicFramePr>
          <p:nvPr/>
        </p:nvGraphicFramePr>
        <p:xfrm>
          <a:off x="2596166" y="3720202"/>
          <a:ext cx="17145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698400" imgH="380880" progId="Equation.3">
                  <p:embed/>
                </p:oleObj>
              </mc:Choice>
              <mc:Fallback>
                <p:oleObj name="Ecuación" r:id="rId17" imgW="698400" imgH="380880" progId="Equation.3">
                  <p:embed/>
                  <p:pic>
                    <p:nvPicPr>
                      <p:cNvPr id="42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166" y="3720202"/>
                        <a:ext cx="17145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2"/>
          <p:cNvGraphicFramePr>
            <a:graphicFrameLocks noChangeAspect="1"/>
          </p:cNvGraphicFramePr>
          <p:nvPr/>
        </p:nvGraphicFramePr>
        <p:xfrm>
          <a:off x="4181793" y="3725668"/>
          <a:ext cx="17462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9" imgW="711000" imgH="380880" progId="Equation.3">
                  <p:embed/>
                </p:oleObj>
              </mc:Choice>
              <mc:Fallback>
                <p:oleObj name="Ecuación" r:id="rId19" imgW="711000" imgH="380880" progId="Equation.3">
                  <p:embed/>
                  <p:pic>
                    <p:nvPicPr>
                      <p:cNvPr id="43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793" y="3725668"/>
                        <a:ext cx="17462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2"/>
          <p:cNvGraphicFramePr>
            <a:graphicFrameLocks noChangeAspect="1"/>
          </p:cNvGraphicFramePr>
          <p:nvPr/>
        </p:nvGraphicFramePr>
        <p:xfrm>
          <a:off x="5768839" y="3818186"/>
          <a:ext cx="5921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1" imgW="241200" imgH="177480" progId="Equation.3">
                  <p:embed/>
                </p:oleObj>
              </mc:Choice>
              <mc:Fallback>
                <p:oleObj name="Ecuación" r:id="rId21" imgW="241200" imgH="177480" progId="Equation.3">
                  <p:embed/>
                  <p:pic>
                    <p:nvPicPr>
                      <p:cNvPr id="44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8839" y="3818186"/>
                        <a:ext cx="5921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8C9959C2-B89C-4495-A265-5CC99B774015}"/>
              </a:ext>
            </a:extLst>
          </p:cNvPr>
          <p:cNvGrpSpPr/>
          <p:nvPr/>
        </p:nvGrpSpPr>
        <p:grpSpPr>
          <a:xfrm>
            <a:off x="1481556" y="2623425"/>
            <a:ext cx="2565359" cy="1288533"/>
            <a:chOff x="1519656" y="2984673"/>
            <a:chExt cx="2565359" cy="1288533"/>
          </a:xfrm>
        </p:grpSpPr>
        <p:sp>
          <p:nvSpPr>
            <p:cNvPr id="41" name="Text Box 117"/>
            <p:cNvSpPr txBox="1">
              <a:spLocks noChangeArrowheads="1"/>
            </p:cNvSpPr>
            <p:nvPr/>
          </p:nvSpPr>
          <p:spPr bwMode="auto">
            <a:xfrm>
              <a:off x="1519656" y="2984673"/>
              <a:ext cx="2565359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Si consideramos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eléctrica</a:t>
              </a:r>
              <a:endPara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C3BDC724-AAB1-497F-AF06-C53B63839F8B}"/>
                </a:ext>
              </a:extLst>
            </p:cNvPr>
            <p:cNvCxnSpPr/>
            <p:nvPr/>
          </p:nvCxnSpPr>
          <p:spPr bwMode="auto">
            <a:xfrm>
              <a:off x="2802335" y="3923712"/>
              <a:ext cx="0" cy="349494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8" name="Abrir llave 7">
            <a:extLst>
              <a:ext uri="{FF2B5EF4-FFF2-40B4-BE49-F238E27FC236}">
                <a16:creationId xmlns:a16="http://schemas.microsoft.com/office/drawing/2014/main" id="{669DC01E-4B1B-4323-803B-908BF0EBA536}"/>
              </a:ext>
            </a:extLst>
          </p:cNvPr>
          <p:cNvSpPr/>
          <p:nvPr/>
        </p:nvSpPr>
        <p:spPr bwMode="auto">
          <a:xfrm>
            <a:off x="6009638" y="944225"/>
            <a:ext cx="263356" cy="1165224"/>
          </a:xfrm>
          <a:prstGeom prst="lef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F00499A-C090-418A-94A9-1F6C7CB24DE4}"/>
              </a:ext>
            </a:extLst>
          </p:cNvPr>
          <p:cNvGrpSpPr/>
          <p:nvPr/>
        </p:nvGrpSpPr>
        <p:grpSpPr>
          <a:xfrm>
            <a:off x="2882384" y="3172827"/>
            <a:ext cx="1323104" cy="687783"/>
            <a:chOff x="2882384" y="3534075"/>
            <a:chExt cx="1323104" cy="687783"/>
          </a:xfrm>
        </p:grpSpPr>
        <p:sp>
          <p:nvSpPr>
            <p:cNvPr id="35" name="Freeform 104"/>
            <p:cNvSpPr>
              <a:spLocks/>
            </p:cNvSpPr>
            <p:nvPr/>
          </p:nvSpPr>
          <p:spPr bwMode="auto">
            <a:xfrm>
              <a:off x="2882384" y="3999608"/>
              <a:ext cx="414056" cy="222250"/>
            </a:xfrm>
            <a:custGeom>
              <a:avLst/>
              <a:gdLst>
                <a:gd name="T0" fmla="*/ 2147483646 w 317"/>
                <a:gd name="T1" fmla="*/ 2147483646 h 140"/>
                <a:gd name="T2" fmla="*/ 2147483646 w 317"/>
                <a:gd name="T3" fmla="*/ 2147483646 h 140"/>
                <a:gd name="T4" fmla="*/ 2147483646 w 317"/>
                <a:gd name="T5" fmla="*/ 2147483646 h 140"/>
                <a:gd name="T6" fmla="*/ 0 w 317"/>
                <a:gd name="T7" fmla="*/ 2147483646 h 1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7" h="140">
                  <a:moveTo>
                    <a:pt x="317" y="76"/>
                  </a:moveTo>
                  <a:cubicBezTo>
                    <a:pt x="288" y="43"/>
                    <a:pt x="260" y="10"/>
                    <a:pt x="217" y="5"/>
                  </a:cubicBezTo>
                  <a:cubicBezTo>
                    <a:pt x="174" y="0"/>
                    <a:pt x="95" y="24"/>
                    <a:pt x="59" y="46"/>
                  </a:cubicBezTo>
                  <a:cubicBezTo>
                    <a:pt x="23" y="68"/>
                    <a:pt x="11" y="104"/>
                    <a:pt x="0" y="14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en-GB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2556691F-D3FB-428C-95FE-16B0BB8A1521}"/>
                </a:ext>
              </a:extLst>
            </p:cNvPr>
            <p:cNvCxnSpPr>
              <a:cxnSpLocks/>
              <a:stCxn id="34" idx="1"/>
            </p:cNvCxnSpPr>
            <p:nvPr/>
          </p:nvCxnSpPr>
          <p:spPr bwMode="auto">
            <a:xfrm flipH="1">
              <a:off x="3297731" y="3534075"/>
              <a:ext cx="907757" cy="572154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Text Box 117">
            <a:extLst>
              <a:ext uri="{FF2B5EF4-FFF2-40B4-BE49-F238E27FC236}">
                <a16:creationId xmlns:a16="http://schemas.microsoft.com/office/drawing/2014/main" id="{33F17567-B9DB-467B-9450-63285829D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7" y="6083880"/>
            <a:ext cx="4736226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Un campo es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conservativo por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lo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mismo que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una fuerza 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 y 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9A34B52-0559-4DFB-883C-C95B5EC147E6}"/>
              </a:ext>
            </a:extLst>
          </p:cNvPr>
          <p:cNvGrpSpPr/>
          <p:nvPr/>
        </p:nvGrpSpPr>
        <p:grpSpPr>
          <a:xfrm>
            <a:off x="5437356" y="3187132"/>
            <a:ext cx="2069142" cy="771112"/>
            <a:chOff x="5437356" y="3187132"/>
            <a:chExt cx="2069142" cy="771112"/>
          </a:xfrm>
        </p:grpSpPr>
        <p:sp>
          <p:nvSpPr>
            <p:cNvPr id="39" name="Text Box 117">
              <a:extLst>
                <a:ext uri="{FF2B5EF4-FFF2-40B4-BE49-F238E27FC236}">
                  <a16:creationId xmlns:a16="http://schemas.microsoft.com/office/drawing/2014/main" id="{A2FFA976-CCD3-459A-B71B-5B77C46D5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356" y="3187132"/>
              <a:ext cx="206914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Si </a:t>
              </a:r>
              <a:r>
                <a:rPr lang="es-E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 cons.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D78D9A3E-CAFF-410F-B5DF-B5762F436AF7}"/>
                </a:ext>
              </a:extLst>
            </p:cNvPr>
            <p:cNvCxnSpPr/>
            <p:nvPr/>
          </p:nvCxnSpPr>
          <p:spPr bwMode="auto">
            <a:xfrm>
              <a:off x="5930028" y="3608750"/>
              <a:ext cx="0" cy="349494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25198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3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9" grpId="0" animBg="1"/>
      <p:bldP spid="239716" grpId="0"/>
      <p:bldP spid="41997" grpId="0"/>
      <p:bldP spid="2" grpId="0" animBg="1"/>
      <p:bldP spid="36" grpId="0"/>
      <p:bldP spid="31" grpId="0"/>
      <p:bldP spid="34" grpId="0"/>
      <p:bldP spid="38" grpId="0" animBg="1"/>
      <p:bldP spid="8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9" name="Text Box 45"/>
          <p:cNvSpPr txBox="1">
            <a:spLocks noChangeArrowheads="1"/>
          </p:cNvSpPr>
          <p:nvPr/>
        </p:nvSpPr>
        <p:spPr bwMode="auto">
          <a:xfrm>
            <a:off x="1736361" y="4701834"/>
            <a:ext cx="8063621" cy="95677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y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fuesen </a:t>
            </a:r>
            <a:r>
              <a:rPr lang="es-ES" sz="2400" b="1" dirty="0">
                <a:latin typeface="Arial" panose="020B0604020202020204" pitchFamily="34" charset="0"/>
              </a:rPr>
              <a:t>conservativos</a:t>
            </a:r>
            <a:r>
              <a:rPr lang="es-ES" sz="2400" dirty="0">
                <a:latin typeface="Arial" panose="020B0604020202020204" pitchFamily="34" charset="0"/>
              </a:rPr>
              <a:t>, los valores de W</a:t>
            </a:r>
            <a:r>
              <a:rPr lang="es-ES" sz="2400" b="1" baseline="-25000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y W</a:t>
            </a:r>
            <a:r>
              <a:rPr lang="es-ES" sz="2400" b="1" baseline="-25000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no dependerían del camino empleado </a:t>
            </a:r>
            <a:r>
              <a:rPr lang="es-ES" sz="2400">
                <a:latin typeface="Arial" panose="020B0604020202020204" pitchFamily="34" charset="0"/>
              </a:rPr>
              <a:t>para evaluarlos</a:t>
            </a:r>
            <a:endParaRPr lang="es-ES" sz="2400" b="1" baseline="-25000" dirty="0">
              <a:latin typeface="Arial" panose="020B0604020202020204" pitchFamily="34" charset="0"/>
            </a:endParaRPr>
          </a:p>
        </p:txBody>
      </p:sp>
      <p:sp>
        <p:nvSpPr>
          <p:cNvPr id="9227" name="Rectangle 6"/>
          <p:cNvSpPr>
            <a:spLocks noChangeArrowheads="1"/>
          </p:cNvSpPr>
          <p:nvPr/>
        </p:nvSpPr>
        <p:spPr bwMode="auto">
          <a:xfrm>
            <a:off x="1206500" y="487363"/>
            <a:ext cx="85375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2.3.3. ENERGÍA POTENCIAL Y POTENCIAL ELÉCTRICOS</a:t>
            </a:r>
          </a:p>
        </p:txBody>
      </p:sp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4001990" y="2218990"/>
            <a:ext cx="227047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(caso eléctrico)</a:t>
            </a:r>
          </a:p>
        </p:txBody>
      </p:sp>
      <p:sp>
        <p:nvSpPr>
          <p:cNvPr id="27" name="Text Box 40">
            <a:extLst>
              <a:ext uri="{FF2B5EF4-FFF2-40B4-BE49-F238E27FC236}">
                <a16:creationId xmlns:a16="http://schemas.microsoft.com/office/drawing/2014/main" id="{BEB91D83-7B91-4A28-A551-9ACFB3294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91" y="2889424"/>
            <a:ext cx="2006774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es fuerza por unidad de carga</a:t>
            </a:r>
          </a:p>
        </p:txBody>
      </p:sp>
      <p:sp>
        <p:nvSpPr>
          <p:cNvPr id="29" name="Text Box 40">
            <a:extLst>
              <a:ext uri="{FF2B5EF4-FFF2-40B4-BE49-F238E27FC236}">
                <a16:creationId xmlns:a16="http://schemas.microsoft.com/office/drawing/2014/main" id="{7A93B997-73C4-467A-AC49-975B98C4F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5" y="3088204"/>
            <a:ext cx="2902211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W</a:t>
            </a:r>
            <a:r>
              <a:rPr lang="es-ES" sz="2400" b="1" baseline="-25000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es </a:t>
            </a:r>
            <a:r>
              <a:rPr lang="es-ES" sz="2400">
                <a:latin typeface="Arial" panose="020B0604020202020204" pitchFamily="34" charset="0"/>
              </a:rPr>
              <a:t>trabajo por </a:t>
            </a:r>
            <a:r>
              <a:rPr lang="es-ES" sz="2400" dirty="0">
                <a:latin typeface="Arial" panose="020B0604020202020204" pitchFamily="34" charset="0"/>
              </a:rPr>
              <a:t>unidad de carga</a:t>
            </a:r>
          </a:p>
        </p:txBody>
      </p:sp>
      <p:sp>
        <p:nvSpPr>
          <p:cNvPr id="31" name="Flecha derecha 7">
            <a:extLst>
              <a:ext uri="{FF2B5EF4-FFF2-40B4-BE49-F238E27FC236}">
                <a16:creationId xmlns:a16="http://schemas.microsoft.com/office/drawing/2014/main" id="{631944E8-3B50-4B1E-9875-569F45011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461" y="3380586"/>
            <a:ext cx="911885" cy="327992"/>
          </a:xfrm>
          <a:prstGeom prst="rightArrow">
            <a:avLst>
              <a:gd name="adj1" fmla="val 50000"/>
              <a:gd name="adj2" fmla="val 8523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26A9B7EC-7445-4600-A61D-F2D4376AB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933" y="2230438"/>
            <a:ext cx="302869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(W</a:t>
            </a:r>
            <a:r>
              <a:rPr lang="es-ES" sz="2400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= W del campo)</a:t>
            </a:r>
          </a:p>
        </p:txBody>
      </p:sp>
      <p:sp>
        <p:nvSpPr>
          <p:cNvPr id="33" name="Text Box 45">
            <a:extLst>
              <a:ext uri="{FF2B5EF4-FFF2-40B4-BE49-F238E27FC236}">
                <a16:creationId xmlns:a16="http://schemas.microsoft.com/office/drawing/2014/main" id="{63CB8BCE-208E-42F6-BB2F-562398DDA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361" y="5787411"/>
            <a:ext cx="8063621" cy="956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es así, para evaluar la integral correspondiente en cada caso, resultaría útil establecer un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campo escalar</a:t>
            </a:r>
            <a:endParaRPr lang="es-ES" sz="2400" b="1" baseline="-250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2B77F1D3-B65F-47B3-B00E-F1AA9BA6B1FF}"/>
                  </a:ext>
                </a:extLst>
              </p:cNvPr>
              <p:cNvSpPr txBox="1"/>
              <p:nvPr/>
            </p:nvSpPr>
            <p:spPr bwMode="auto">
              <a:xfrm>
                <a:off x="1556305" y="1207177"/>
                <a:ext cx="2710002" cy="98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sub>
                      </m:sSub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//</m:t>
                              </m:r>
                            </m:sub>
                          </m:sSub>
                          <m: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2B77F1D3-B65F-47B3-B00E-F1AA9BA6B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305" y="1207177"/>
                <a:ext cx="2710002" cy="983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8">
                <a:extLst>
                  <a:ext uri="{FF2B5EF4-FFF2-40B4-BE49-F238E27FC236}">
                    <a16:creationId xmlns:a16="http://schemas.microsoft.com/office/drawing/2014/main" id="{B936DD6C-A778-4967-B5C6-6891746D4095}"/>
                  </a:ext>
                </a:extLst>
              </p:cNvPr>
              <p:cNvSpPr txBox="1"/>
              <p:nvPr/>
            </p:nvSpPr>
            <p:spPr bwMode="auto">
              <a:xfrm>
                <a:off x="6366557" y="1171366"/>
                <a:ext cx="3850859" cy="913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acc>
                                <m:accPr>
                                  <m:chr m:val="⃗"/>
                                  <m:ctrlP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den>
                      </m:f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//</m:t>
                              </m:r>
                            </m:sub>
                          </m:sSub>
                          <m: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sSub>
                        <m:sSub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Object 68">
                <a:extLst>
                  <a:ext uri="{FF2B5EF4-FFF2-40B4-BE49-F238E27FC236}">
                    <a16:creationId xmlns:a16="http://schemas.microsoft.com/office/drawing/2014/main" id="{B936DD6C-A778-4967-B5C6-6891746D4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557" y="1171366"/>
                <a:ext cx="3850859" cy="913687"/>
              </a:xfrm>
              <a:prstGeom prst="rect">
                <a:avLst/>
              </a:prstGeom>
              <a:blipFill>
                <a:blip r:embed="rId5"/>
                <a:stretch>
                  <a:fillRect b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 derecha 7">
            <a:extLst>
              <a:ext uri="{FF2B5EF4-FFF2-40B4-BE49-F238E27FC236}">
                <a16:creationId xmlns:a16="http://schemas.microsoft.com/office/drawing/2014/main" id="{823648DC-90B6-461F-8969-80DA56FC6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691" y="1506209"/>
            <a:ext cx="2006774" cy="327992"/>
          </a:xfrm>
          <a:prstGeom prst="rightArrow">
            <a:avLst>
              <a:gd name="adj1" fmla="val 50000"/>
              <a:gd name="adj2" fmla="val 8523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Object 68">
            <a:extLst>
              <a:ext uri="{FF2B5EF4-FFF2-40B4-BE49-F238E27FC236}">
                <a16:creationId xmlns:a16="http://schemas.microsoft.com/office/drawing/2014/main" id="{F9076C88-6817-4945-9ACF-B4EE78EE9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1702" y="1119548"/>
          <a:ext cx="101226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406048" imgH="444114" progId="Equation.3">
                  <p:embed/>
                </p:oleObj>
              </mc:Choice>
              <mc:Fallback>
                <p:oleObj name="Ecuación" r:id="rId6" imgW="406048" imgH="444114" progId="Equation.3">
                  <p:embed/>
                  <p:pic>
                    <p:nvPicPr>
                      <p:cNvPr id="9" name="Object 68">
                        <a:extLst>
                          <a:ext uri="{FF2B5EF4-FFF2-40B4-BE49-F238E27FC236}">
                            <a16:creationId xmlns:a16="http://schemas.microsoft.com/office/drawing/2014/main" id="{F9076C88-6817-4945-9ACF-B4EE78EE90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702" y="1119548"/>
                        <a:ext cx="1012265" cy="1109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1218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9" grpId="0" animBg="1"/>
      <p:bldP spid="2" grpId="0"/>
      <p:bldP spid="27" grpId="0" animBg="1"/>
      <p:bldP spid="29" grpId="0" animBg="1"/>
      <p:bldP spid="31" grpId="0" animBg="1"/>
      <p:bldP spid="32" grpId="0"/>
      <p:bldP spid="33" grpId="0" animBg="1"/>
      <p:bldP spid="5" grpId="0"/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Rectangle 6"/>
          <p:cNvSpPr>
            <a:spLocks noChangeArrowheads="1"/>
          </p:cNvSpPr>
          <p:nvPr/>
        </p:nvSpPr>
        <p:spPr bwMode="auto">
          <a:xfrm>
            <a:off x="1206500" y="487363"/>
            <a:ext cx="853757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2.3.3. ENERGÍA POTENCIAL Y POTENCIAL ELÉCTRICOS</a:t>
            </a:r>
          </a:p>
        </p:txBody>
      </p:sp>
      <p:sp>
        <p:nvSpPr>
          <p:cNvPr id="15" name="Text Box 45">
            <a:extLst>
              <a:ext uri="{FF2B5EF4-FFF2-40B4-BE49-F238E27FC236}">
                <a16:creationId xmlns:a16="http://schemas.microsoft.com/office/drawing/2014/main" id="{7598E1A8-40CE-40BE-9EE9-35E636E1C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898" y="2540818"/>
            <a:ext cx="8868517" cy="132610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decir, asociar a cada punto del espacio un valor de una magnitud escalar de manera que su diferencia entre 2 puntos sea, en principio, igual a W</a:t>
            </a:r>
            <a:r>
              <a:rPr lang="es-ES" sz="2400" b="1" baseline="-25000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o W</a:t>
            </a:r>
            <a:r>
              <a:rPr lang="es-ES" sz="2400" b="1" baseline="-25000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entre esos 2 puntos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3B16B62D-F5F2-45FD-B22C-148894267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899" y="4624575"/>
            <a:ext cx="3535362" cy="90588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ENERGÍA POTENCIAL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ELÉCTRICA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81D0F8A7-1FFE-4B29-89F9-8B8D790BB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37" y="4613837"/>
            <a:ext cx="3535362" cy="1029476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144000" rIns="108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POTENCIAL ELÉCTRICO</a:t>
            </a:r>
          </a:p>
        </p:txBody>
      </p:sp>
      <p:grpSp>
        <p:nvGrpSpPr>
          <p:cNvPr id="28" name="Group 24">
            <a:extLst>
              <a:ext uri="{FF2B5EF4-FFF2-40B4-BE49-F238E27FC236}">
                <a16:creationId xmlns:a16="http://schemas.microsoft.com/office/drawing/2014/main" id="{BC655ECB-77FB-439F-9E54-6024242F6044}"/>
              </a:ext>
            </a:extLst>
          </p:cNvPr>
          <p:cNvGrpSpPr>
            <a:grpSpLocks/>
          </p:cNvGrpSpPr>
          <p:nvPr/>
        </p:nvGrpSpPr>
        <p:grpSpPr bwMode="auto">
          <a:xfrm>
            <a:off x="1170501" y="4003719"/>
            <a:ext cx="3535362" cy="552451"/>
            <a:chOff x="771" y="2745"/>
            <a:chExt cx="2227" cy="348"/>
          </a:xfrm>
        </p:grpSpPr>
        <p:graphicFrame>
          <p:nvGraphicFramePr>
            <p:cNvPr id="30" name="Object 5">
              <a:extLst>
                <a:ext uri="{FF2B5EF4-FFF2-40B4-BE49-F238E27FC236}">
                  <a16:creationId xmlns:a16="http://schemas.microsoft.com/office/drawing/2014/main" id="{1B322029-CA44-4C27-AFF5-E7AEFCBDBB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3" y="2745"/>
            <a:ext cx="200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6835" imgH="202936" progId="Equation.3">
                    <p:embed/>
                  </p:oleObj>
                </mc:Choice>
                <mc:Fallback>
                  <p:oleObj name="Ecuación" r:id="rId3" imgW="126835" imgH="202936" progId="Equation.3">
                    <p:embed/>
                    <p:pic>
                      <p:nvPicPr>
                        <p:cNvPr id="30" name="Object 5">
                          <a:extLst>
                            <a:ext uri="{FF2B5EF4-FFF2-40B4-BE49-F238E27FC236}">
                              <a16:creationId xmlns:a16="http://schemas.microsoft.com/office/drawing/2014/main" id="{1B322029-CA44-4C27-AFF5-E7AEFCBDBB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3" y="2745"/>
                          <a:ext cx="200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CuadroTexto 12">
              <a:extLst>
                <a:ext uri="{FF2B5EF4-FFF2-40B4-BE49-F238E27FC236}">
                  <a16:creationId xmlns:a16="http://schemas.microsoft.com/office/drawing/2014/main" id="{762BF1A0-E39A-4708-A203-D39F863EA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2802"/>
              <a:ext cx="222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Para     se introduce E</a:t>
              </a:r>
              <a:r>
                <a:rPr lang="es-ES" sz="2400" baseline="-25000" dirty="0">
                  <a:latin typeface="Arial" panose="020B0604020202020204" pitchFamily="34" charset="0"/>
                </a:rPr>
                <a:t>P</a:t>
              </a:r>
              <a:r>
                <a:rPr lang="es-ES" sz="2400" dirty="0">
                  <a:latin typeface="Arial" panose="020B0604020202020204" pitchFamily="34" charset="0"/>
                </a:rPr>
                <a:t>:</a:t>
              </a:r>
            </a:p>
          </p:txBody>
        </p:sp>
      </p:grpSp>
      <p:grpSp>
        <p:nvGrpSpPr>
          <p:cNvPr id="34" name="Group 26">
            <a:extLst>
              <a:ext uri="{FF2B5EF4-FFF2-40B4-BE49-F238E27FC236}">
                <a16:creationId xmlns:a16="http://schemas.microsoft.com/office/drawing/2014/main" id="{558E3014-587D-4BA7-AEDF-FAA161DD1A95}"/>
              </a:ext>
            </a:extLst>
          </p:cNvPr>
          <p:cNvGrpSpPr>
            <a:grpSpLocks/>
          </p:cNvGrpSpPr>
          <p:nvPr/>
        </p:nvGrpSpPr>
        <p:grpSpPr bwMode="auto">
          <a:xfrm>
            <a:off x="6555050" y="3996615"/>
            <a:ext cx="3302000" cy="568325"/>
            <a:chOff x="734" y="3851"/>
            <a:chExt cx="2080" cy="358"/>
          </a:xfrm>
        </p:grpSpPr>
        <p:graphicFrame>
          <p:nvGraphicFramePr>
            <p:cNvPr id="35" name="Object 5">
              <a:extLst>
                <a:ext uri="{FF2B5EF4-FFF2-40B4-BE49-F238E27FC236}">
                  <a16:creationId xmlns:a16="http://schemas.microsoft.com/office/drawing/2014/main" id="{2F2DE3BF-620C-466D-94F3-3C7371AB60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7" y="3851"/>
            <a:ext cx="21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9639" imgH="203112" progId="Equation.3">
                    <p:embed/>
                  </p:oleObj>
                </mc:Choice>
                <mc:Fallback>
                  <p:oleObj name="Ecuación" r:id="rId5" imgW="139639" imgH="203112" progId="Equation.3">
                    <p:embed/>
                    <p:pic>
                      <p:nvPicPr>
                        <p:cNvPr id="35" name="Object 5">
                          <a:extLst>
                            <a:ext uri="{FF2B5EF4-FFF2-40B4-BE49-F238E27FC236}">
                              <a16:creationId xmlns:a16="http://schemas.microsoft.com/office/drawing/2014/main" id="{2F2DE3BF-620C-466D-94F3-3C7371AB60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3851"/>
                          <a:ext cx="219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CuadroTexto 57">
              <a:extLst>
                <a:ext uri="{FF2B5EF4-FFF2-40B4-BE49-F238E27FC236}">
                  <a16:creationId xmlns:a16="http://schemas.microsoft.com/office/drawing/2014/main" id="{48BD468C-6BE9-492F-B136-1CE1DE289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" y="3918"/>
              <a:ext cx="20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Para     se introduce V:</a:t>
              </a:r>
              <a:endParaRPr lang="es-ES" sz="2400" baseline="-250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27">
            <a:extLst>
              <a:ext uri="{FF2B5EF4-FFF2-40B4-BE49-F238E27FC236}">
                <a16:creationId xmlns:a16="http://schemas.microsoft.com/office/drawing/2014/main" id="{1A333010-0975-45FB-A74F-2BDE8D6006E8}"/>
              </a:ext>
            </a:extLst>
          </p:cNvPr>
          <p:cNvGrpSpPr>
            <a:grpSpLocks/>
          </p:cNvGrpSpPr>
          <p:nvPr/>
        </p:nvGrpSpPr>
        <p:grpSpPr bwMode="auto">
          <a:xfrm>
            <a:off x="7478674" y="5787285"/>
            <a:ext cx="1944688" cy="900115"/>
            <a:chOff x="5037" y="3760"/>
            <a:chExt cx="1225" cy="567"/>
          </a:xfrm>
        </p:grpSpPr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A0807340-D578-4EB2-A6CB-079A2405A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3760"/>
              <a:ext cx="1225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0" name="Object 37">
              <a:extLst>
                <a:ext uri="{FF2B5EF4-FFF2-40B4-BE49-F238E27FC236}">
                  <a16:creationId xmlns:a16="http://schemas.microsoft.com/office/drawing/2014/main" id="{DDF6A204-2EC1-4B83-9FA8-7ADB13F4E7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6" y="3862"/>
            <a:ext cx="1097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10891" imgH="241195" progId="Equation.3">
                    <p:embed/>
                  </p:oleObj>
                </mc:Choice>
                <mc:Fallback>
                  <p:oleObj name="Ecuación" r:id="rId7" imgW="710891" imgH="241195" progId="Equation.3">
                    <p:embed/>
                    <p:pic>
                      <p:nvPicPr>
                        <p:cNvPr id="40" name="Object 37">
                          <a:extLst>
                            <a:ext uri="{FF2B5EF4-FFF2-40B4-BE49-F238E27FC236}">
                              <a16:creationId xmlns:a16="http://schemas.microsoft.com/office/drawing/2014/main" id="{DDF6A204-2EC1-4B83-9FA8-7ADB13F4E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6" y="3862"/>
                          <a:ext cx="1097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Group 25">
            <a:extLst>
              <a:ext uri="{FF2B5EF4-FFF2-40B4-BE49-F238E27FC236}">
                <a16:creationId xmlns:a16="http://schemas.microsoft.com/office/drawing/2014/main" id="{3C5AF24E-DB2C-4F5F-9609-729D5821E3CB}"/>
              </a:ext>
            </a:extLst>
          </p:cNvPr>
          <p:cNvGrpSpPr>
            <a:grpSpLocks/>
          </p:cNvGrpSpPr>
          <p:nvPr/>
        </p:nvGrpSpPr>
        <p:grpSpPr bwMode="auto">
          <a:xfrm>
            <a:off x="2144236" y="5797224"/>
            <a:ext cx="1944688" cy="900115"/>
            <a:chOff x="5037" y="3042"/>
            <a:chExt cx="1225" cy="567"/>
          </a:xfrm>
        </p:grpSpPr>
        <p:sp>
          <p:nvSpPr>
            <p:cNvPr id="42" name="Rectangle 59">
              <a:extLst>
                <a:ext uri="{FF2B5EF4-FFF2-40B4-BE49-F238E27FC236}">
                  <a16:creationId xmlns:a16="http://schemas.microsoft.com/office/drawing/2014/main" id="{43594876-DF84-463E-AC0A-A0D9EB9E9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3042"/>
              <a:ext cx="1225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3" name="Object 60">
              <a:extLst>
                <a:ext uri="{FF2B5EF4-FFF2-40B4-BE49-F238E27FC236}">
                  <a16:creationId xmlns:a16="http://schemas.microsoft.com/office/drawing/2014/main" id="{EC5CC3C0-FF06-48BA-83B8-3263868F2D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95" y="3127"/>
            <a:ext cx="115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748975" imgH="241195" progId="Equation.3">
                    <p:embed/>
                  </p:oleObj>
                </mc:Choice>
                <mc:Fallback>
                  <p:oleObj name="Ecuación" r:id="rId9" imgW="748975" imgH="241195" progId="Equation.3">
                    <p:embed/>
                    <p:pic>
                      <p:nvPicPr>
                        <p:cNvPr id="43" name="Object 60">
                          <a:extLst>
                            <a:ext uri="{FF2B5EF4-FFF2-40B4-BE49-F238E27FC236}">
                              <a16:creationId xmlns:a16="http://schemas.microsoft.com/office/drawing/2014/main" id="{EC5CC3C0-FF06-48BA-83B8-3263868F2D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5" y="3127"/>
                          <a:ext cx="1156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F8DEC60-56E3-46E1-926B-E12110EF2CF9}"/>
                  </a:ext>
                </a:extLst>
              </p:cNvPr>
              <p:cNvSpPr txBox="1"/>
              <p:nvPr/>
            </p:nvSpPr>
            <p:spPr bwMode="auto">
              <a:xfrm>
                <a:off x="1556305" y="1207177"/>
                <a:ext cx="2710002" cy="98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sub>
                      </m:sSub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//</m:t>
                              </m:r>
                            </m:sub>
                          </m:sSub>
                          <m: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FF8DEC60-56E3-46E1-926B-E12110EF2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305" y="1207177"/>
                <a:ext cx="2710002" cy="9837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8">
                <a:extLst>
                  <a:ext uri="{FF2B5EF4-FFF2-40B4-BE49-F238E27FC236}">
                    <a16:creationId xmlns:a16="http://schemas.microsoft.com/office/drawing/2014/main" id="{C49A4309-819E-4C87-A1BC-54A7C9E5CF3F}"/>
                  </a:ext>
                </a:extLst>
              </p:cNvPr>
              <p:cNvSpPr txBox="1"/>
              <p:nvPr/>
            </p:nvSpPr>
            <p:spPr bwMode="auto">
              <a:xfrm>
                <a:off x="6366557" y="1171366"/>
                <a:ext cx="3850859" cy="913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acc>
                                <m:accPr>
                                  <m:chr m:val="⃗"/>
                                  <m:ctrlP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den>
                      </m:f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//</m:t>
                              </m:r>
                            </m:sub>
                          </m:sSub>
                          <m: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sSub>
                        <m:sSubPr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s-ES" sz="2400"/>
              </a:p>
            </p:txBody>
          </p:sp>
        </mc:Choice>
        <mc:Fallback xmlns="">
          <p:sp>
            <p:nvSpPr>
              <p:cNvPr id="7" name="Object 68">
                <a:extLst>
                  <a:ext uri="{FF2B5EF4-FFF2-40B4-BE49-F238E27FC236}">
                    <a16:creationId xmlns:a16="http://schemas.microsoft.com/office/drawing/2014/main" id="{C49A4309-819E-4C87-A1BC-54A7C9E5C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6557" y="1171366"/>
                <a:ext cx="3850859" cy="913687"/>
              </a:xfrm>
              <a:prstGeom prst="rect">
                <a:avLst/>
              </a:prstGeom>
              <a:blipFill>
                <a:blip r:embed="rId13"/>
                <a:stretch>
                  <a:fillRect b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 derecha 7">
            <a:extLst>
              <a:ext uri="{FF2B5EF4-FFF2-40B4-BE49-F238E27FC236}">
                <a16:creationId xmlns:a16="http://schemas.microsoft.com/office/drawing/2014/main" id="{6D13F2D5-7458-4BDA-8D6A-DDC4E77E5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9691" y="1506209"/>
            <a:ext cx="2006774" cy="327992"/>
          </a:xfrm>
          <a:prstGeom prst="rightArrow">
            <a:avLst>
              <a:gd name="adj1" fmla="val 50000"/>
              <a:gd name="adj2" fmla="val 8523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Object 68">
            <a:extLst>
              <a:ext uri="{FF2B5EF4-FFF2-40B4-BE49-F238E27FC236}">
                <a16:creationId xmlns:a16="http://schemas.microsoft.com/office/drawing/2014/main" id="{E0EBD7CB-9495-4D47-A8AA-0DF8A0616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1702" y="1119548"/>
          <a:ext cx="101226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406048" imgH="444114" progId="Equation.3">
                  <p:embed/>
                </p:oleObj>
              </mc:Choice>
              <mc:Fallback>
                <p:oleObj name="Ecuación" r:id="rId14" imgW="406048" imgH="444114" progId="Equation.3">
                  <p:embed/>
                  <p:pic>
                    <p:nvPicPr>
                      <p:cNvPr id="10" name="Object 68">
                        <a:extLst>
                          <a:ext uri="{FF2B5EF4-FFF2-40B4-BE49-F238E27FC236}">
                            <a16:creationId xmlns:a16="http://schemas.microsoft.com/office/drawing/2014/main" id="{E0EBD7CB-9495-4D47-A8AA-0DF8A06167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702" y="1119548"/>
                        <a:ext cx="1012265" cy="1109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67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19" name="Text Box 51"/>
          <p:cNvSpPr txBox="1">
            <a:spLocks noChangeArrowheads="1"/>
          </p:cNvSpPr>
          <p:nvPr/>
        </p:nvSpPr>
        <p:spPr bwMode="auto">
          <a:xfrm>
            <a:off x="2524298" y="2621975"/>
            <a:ext cx="6471892" cy="978584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En un sistema aislado, la energía, no se crea, ni se destruye, sólo se transforma</a:t>
            </a:r>
          </a:p>
        </p:txBody>
      </p:sp>
      <p:sp>
        <p:nvSpPr>
          <p:cNvPr id="31" name="Text Box 51"/>
          <p:cNvSpPr txBox="1">
            <a:spLocks noChangeArrowheads="1"/>
          </p:cNvSpPr>
          <p:nvPr/>
        </p:nvSpPr>
        <p:spPr bwMode="auto">
          <a:xfrm>
            <a:off x="2577478" y="1634991"/>
            <a:ext cx="630520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El signo “–” se introduce para que se cumpla el </a:t>
            </a:r>
            <a:r>
              <a:rPr lang="es-ES" sz="2400" dirty="0" err="1">
                <a:solidFill>
                  <a:srgbClr val="D60093"/>
                </a:solidFill>
                <a:latin typeface="Arial" panose="020B0604020202020204" pitchFamily="34" charset="0"/>
              </a:rPr>
              <a:t>Ppo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</a:rPr>
              <a:t>. de Conservación de la Energía</a:t>
            </a:r>
          </a:p>
        </p:txBody>
      </p:sp>
      <p:sp>
        <p:nvSpPr>
          <p:cNvPr id="32" name="Text Box 51"/>
          <p:cNvSpPr txBox="1">
            <a:spLocks noChangeArrowheads="1"/>
          </p:cNvSpPr>
          <p:nvPr/>
        </p:nvSpPr>
        <p:spPr bwMode="auto">
          <a:xfrm>
            <a:off x="1451113" y="3733410"/>
            <a:ext cx="8671947" cy="1622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4000" tIns="72000" rIns="144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la única contribución al W se debe a una fuerza eléctrica conservativa, y por efecto del W la E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 dirty="0">
                <a:latin typeface="Arial" panose="020B0604020202020204" pitchFamily="34" charset="0"/>
              </a:rPr>
              <a:t>, p.ej., crece (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&gt; 0),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dirty="0" err="1">
                <a:latin typeface="Arial" panose="020B0604020202020204" pitchFamily="34" charset="0"/>
              </a:rPr>
              <a:t>Ep</a:t>
            </a:r>
            <a:r>
              <a:rPr lang="es-ES" sz="2400" dirty="0">
                <a:latin typeface="Arial" panose="020B0604020202020204" pitchFamily="34" charset="0"/>
              </a:rPr>
              <a:t> eléctrica debe decrecer (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 &lt; 0), y viceversa.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Esto obliga a establecer la relación con el signo “–”</a:t>
            </a:r>
          </a:p>
        </p:txBody>
      </p:sp>
      <p:sp>
        <p:nvSpPr>
          <p:cNvPr id="38919" name="CuadroTexto 5"/>
          <p:cNvSpPr txBox="1">
            <a:spLocks noChangeArrowheads="1"/>
          </p:cNvSpPr>
          <p:nvPr/>
        </p:nvSpPr>
        <p:spPr bwMode="auto">
          <a:xfrm>
            <a:off x="2044652" y="5507485"/>
            <a:ext cx="7467090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Que una variación en E</a:t>
            </a:r>
            <a:r>
              <a:rPr lang="es-ES" sz="2400" baseline="-25000" dirty="0">
                <a:solidFill>
                  <a:schemeClr val="tx1"/>
                </a:solidFill>
              </a:rPr>
              <a:t>C</a:t>
            </a:r>
            <a:r>
              <a:rPr lang="es-ES" sz="2400" dirty="0">
                <a:solidFill>
                  <a:schemeClr val="tx1"/>
                </a:solidFill>
              </a:rPr>
              <a:t> deba ser compensada con la de "algo", refleja que ese "algo", E</a:t>
            </a:r>
            <a:r>
              <a:rPr lang="es-ES" sz="2400" baseline="-25000" dirty="0">
                <a:solidFill>
                  <a:schemeClr val="tx1"/>
                </a:solidFill>
              </a:rPr>
              <a:t>P</a:t>
            </a:r>
            <a:r>
              <a:rPr lang="es-ES" sz="2400" dirty="0">
                <a:solidFill>
                  <a:schemeClr val="tx1"/>
                </a:solidFill>
              </a:rPr>
              <a:t> (y V), existe.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Es algo real, no </a:t>
            </a:r>
            <a:r>
              <a:rPr lang="es-ES" sz="2400" dirty="0">
                <a:solidFill>
                  <a:schemeClr val="tx1"/>
                </a:solidFill>
              </a:rPr>
              <a:t>es un artificio matemático</a:t>
            </a:r>
          </a:p>
        </p:txBody>
      </p:sp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2522651" y="866832"/>
            <a:ext cx="3370263" cy="711200"/>
            <a:chOff x="2576" y="944"/>
            <a:chExt cx="2123" cy="448"/>
          </a:xfrm>
        </p:grpSpPr>
        <p:sp>
          <p:nvSpPr>
            <p:cNvPr id="13" name="Rectangle 59"/>
            <p:cNvSpPr>
              <a:spLocks noChangeArrowheads="1"/>
            </p:cNvSpPr>
            <p:nvPr/>
          </p:nvSpPr>
          <p:spPr bwMode="auto">
            <a:xfrm>
              <a:off x="2576" y="944"/>
              <a:ext cx="1418" cy="44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60"/>
                <p:cNvSpPr txBox="1"/>
                <p:nvPr/>
              </p:nvSpPr>
              <p:spPr bwMode="auto">
                <a:xfrm>
                  <a:off x="2635" y="982"/>
                  <a:ext cx="2064" cy="3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acc>
                              <m:accPr>
                                <m:chr m:val="⃗"/>
                                <m:ctrlPr>
                                  <a:rPr lang="es-E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</m:acc>
                          </m:sub>
                        </m:sSub>
                        <m: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m:rPr>
                            <m:sty m:val="p"/>
                          </m:rP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s-E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s-ES" sz="2800"/>
                </a:p>
              </p:txBody>
            </p:sp>
          </mc:Choice>
          <mc:Fallback xmlns="">
            <p:sp>
              <p:nvSpPr>
                <p:cNvPr id="14" name="Object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35" y="982"/>
                  <a:ext cx="2064" cy="37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CuadroTexto 2"/>
          <p:cNvSpPr txBox="1">
            <a:spLocks noChangeArrowheads="1"/>
          </p:cNvSpPr>
          <p:nvPr/>
        </p:nvSpPr>
        <p:spPr bwMode="auto">
          <a:xfrm>
            <a:off x="4860886" y="102457"/>
            <a:ext cx="1821604" cy="62283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¿Por qué?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F73A7B8-F90D-4A1D-BB0A-F2C7DD40945A}"/>
              </a:ext>
            </a:extLst>
          </p:cNvPr>
          <p:cNvSpPr/>
          <p:nvPr/>
        </p:nvSpPr>
        <p:spPr bwMode="auto">
          <a:xfrm rot="19992542">
            <a:off x="3668851" y="511344"/>
            <a:ext cx="982651" cy="271322"/>
          </a:xfrm>
          <a:custGeom>
            <a:avLst/>
            <a:gdLst>
              <a:gd name="connsiteX0" fmla="*/ 0 w 2879388"/>
              <a:gd name="connsiteY0" fmla="*/ 433466 h 433466"/>
              <a:gd name="connsiteX1" fmla="*/ 603115 w 2879388"/>
              <a:gd name="connsiteY1" fmla="*/ 63815 h 433466"/>
              <a:gd name="connsiteX2" fmla="*/ 1926077 w 2879388"/>
              <a:gd name="connsiteY2" fmla="*/ 15176 h 433466"/>
              <a:gd name="connsiteX3" fmla="*/ 2879388 w 2879388"/>
              <a:gd name="connsiteY3" fmla="*/ 229185 h 433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9388" h="433466">
                <a:moveTo>
                  <a:pt x="0" y="433466"/>
                </a:moveTo>
                <a:cubicBezTo>
                  <a:pt x="141051" y="283498"/>
                  <a:pt x="282102" y="133530"/>
                  <a:pt x="603115" y="63815"/>
                </a:cubicBezTo>
                <a:cubicBezTo>
                  <a:pt x="924128" y="-5900"/>
                  <a:pt x="1546698" y="-12386"/>
                  <a:pt x="1926077" y="15176"/>
                </a:cubicBezTo>
                <a:cubicBezTo>
                  <a:pt x="2305456" y="42738"/>
                  <a:pt x="2592422" y="135961"/>
                  <a:pt x="2879388" y="229185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6A7F419-4914-470D-8DCC-813C807D2DF0}"/>
              </a:ext>
            </a:extLst>
          </p:cNvPr>
          <p:cNvGrpSpPr/>
          <p:nvPr/>
        </p:nvGrpSpPr>
        <p:grpSpPr>
          <a:xfrm>
            <a:off x="4548411" y="869576"/>
            <a:ext cx="1344503" cy="711200"/>
            <a:chOff x="4464327" y="722435"/>
            <a:chExt cx="1344503" cy="711200"/>
          </a:xfrm>
        </p:grpSpPr>
        <p:sp>
          <p:nvSpPr>
            <p:cNvPr id="6" name="Rectangle 59">
              <a:extLst>
                <a:ext uri="{FF2B5EF4-FFF2-40B4-BE49-F238E27FC236}">
                  <a16:creationId xmlns:a16="http://schemas.microsoft.com/office/drawing/2014/main" id="{9226DD7B-4CFD-4FA6-89D1-764396B76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967" y="722435"/>
              <a:ext cx="1013634" cy="7112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bject 60">
                  <a:extLst>
                    <a:ext uri="{FF2B5EF4-FFF2-40B4-BE49-F238E27FC236}">
                      <a16:creationId xmlns:a16="http://schemas.microsoft.com/office/drawing/2014/main" id="{50BE7FDC-853B-4901-B20E-635C91CC9B6F}"/>
                    </a:ext>
                  </a:extLst>
                </p:cNvPr>
                <p:cNvSpPr txBox="1"/>
                <p:nvPr/>
              </p:nvSpPr>
              <p:spPr bwMode="auto">
                <a:xfrm>
                  <a:off x="4464327" y="756431"/>
                  <a:ext cx="1344503" cy="5905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s-E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oMath>
                    </m:oMathPara>
                  </a14:m>
                  <a:endParaRPr lang="es-ES" sz="2800" dirty="0"/>
                </a:p>
              </p:txBody>
            </p:sp>
          </mc:Choice>
          <mc:Fallback xmlns="">
            <p:sp>
              <p:nvSpPr>
                <p:cNvPr id="5" name="Object 60">
                  <a:extLst>
                    <a:ext uri="{FF2B5EF4-FFF2-40B4-BE49-F238E27FC236}">
                      <a16:creationId xmlns:a16="http://schemas.microsoft.com/office/drawing/2014/main" id="{50BE7FDC-853B-4901-B20E-635C91CC9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64327" y="756431"/>
                  <a:ext cx="1344503" cy="5905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025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8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19" grpId="0" animBg="1"/>
      <p:bldP spid="31" grpId="0"/>
      <p:bldP spid="32" grpId="0" animBg="1"/>
      <p:bldP spid="38919" grpId="0" animBg="1"/>
      <p:bldP spid="16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Text Box 54"/>
          <p:cNvSpPr txBox="1">
            <a:spLocks noChangeArrowheads="1"/>
          </p:cNvSpPr>
          <p:nvPr/>
        </p:nvSpPr>
        <p:spPr bwMode="auto">
          <a:xfrm>
            <a:off x="1793622" y="5640651"/>
            <a:ext cx="7938776" cy="1029476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44000" tIns="144000" rIns="144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En cada punto, el potencial eléctrico es la energía potencial eléctrica por unidad de carga (por culombio)</a:t>
            </a:r>
          </a:p>
        </p:txBody>
      </p:sp>
      <p:grpSp>
        <p:nvGrpSpPr>
          <p:cNvPr id="13347" name="Group 35"/>
          <p:cNvGrpSpPr>
            <a:grpSpLocks/>
          </p:cNvGrpSpPr>
          <p:nvPr/>
        </p:nvGrpSpPr>
        <p:grpSpPr bwMode="auto">
          <a:xfrm>
            <a:off x="4892537" y="4555323"/>
            <a:ext cx="1757366" cy="720725"/>
            <a:chOff x="932" y="2674"/>
            <a:chExt cx="1107" cy="454"/>
          </a:xfrm>
        </p:grpSpPr>
        <p:sp>
          <p:nvSpPr>
            <p:cNvPr id="15398" name="Rectangle 69"/>
            <p:cNvSpPr>
              <a:spLocks noChangeArrowheads="1"/>
            </p:cNvSpPr>
            <p:nvPr/>
          </p:nvSpPr>
          <p:spPr bwMode="auto">
            <a:xfrm>
              <a:off x="932" y="2674"/>
              <a:ext cx="1107" cy="45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399" name="Object 55"/>
            <p:cNvGraphicFramePr>
              <a:graphicFrameLocks noChangeAspect="1"/>
            </p:cNvGraphicFramePr>
            <p:nvPr/>
          </p:nvGraphicFramePr>
          <p:xfrm>
            <a:off x="1052" y="2733"/>
            <a:ext cx="87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58558" imgH="215806" progId="Equation.3">
                    <p:embed/>
                  </p:oleObj>
                </mc:Choice>
                <mc:Fallback>
                  <p:oleObj name="Ecuación" r:id="rId3" imgW="558558" imgH="215806" progId="Equation.3">
                    <p:embed/>
                    <p:pic>
                      <p:nvPicPr>
                        <p:cNvPr id="15399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" y="2733"/>
                          <a:ext cx="871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43" name="Group 31"/>
          <p:cNvGrpSpPr>
            <a:grpSpLocks/>
          </p:cNvGrpSpPr>
          <p:nvPr/>
        </p:nvGrpSpPr>
        <p:grpSpPr bwMode="auto">
          <a:xfrm>
            <a:off x="7653816" y="4585753"/>
            <a:ext cx="1746252" cy="720725"/>
            <a:chOff x="-913" y="2060"/>
            <a:chExt cx="1100" cy="454"/>
          </a:xfrm>
        </p:grpSpPr>
        <p:sp>
          <p:nvSpPr>
            <p:cNvPr id="15400" name="Rectangle 74"/>
            <p:cNvSpPr>
              <a:spLocks noChangeArrowheads="1"/>
            </p:cNvSpPr>
            <p:nvPr/>
          </p:nvSpPr>
          <p:spPr bwMode="auto">
            <a:xfrm>
              <a:off x="-913" y="2060"/>
              <a:ext cx="1100" cy="4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401" name="Object 34"/>
            <p:cNvGraphicFramePr>
              <a:graphicFrameLocks noChangeAspect="1"/>
            </p:cNvGraphicFramePr>
            <p:nvPr/>
          </p:nvGraphicFramePr>
          <p:xfrm>
            <a:off x="-850" y="2111"/>
            <a:ext cx="100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647419" imgH="215806" progId="Equation.3">
                    <p:embed/>
                  </p:oleObj>
                </mc:Choice>
                <mc:Fallback>
                  <p:oleObj name="Ecuación" r:id="rId5" imgW="647419" imgH="215806" progId="Equation.3">
                    <p:embed/>
                    <p:pic>
                      <p:nvPicPr>
                        <p:cNvPr id="15401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50" y="2111"/>
                          <a:ext cx="1009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38"/>
          <p:cNvSpPr txBox="1">
            <a:spLocks noChangeArrowheads="1"/>
          </p:cNvSpPr>
          <p:nvPr/>
        </p:nvSpPr>
        <p:spPr bwMode="auto">
          <a:xfrm>
            <a:off x="4611956" y="3459684"/>
            <a:ext cx="2318388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un punto 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verifica que: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752D9AD-D665-4567-B4D8-6C2A9F364955}"/>
              </a:ext>
            </a:extLst>
          </p:cNvPr>
          <p:cNvGrpSpPr/>
          <p:nvPr/>
        </p:nvGrpSpPr>
        <p:grpSpPr>
          <a:xfrm>
            <a:off x="4165274" y="1415817"/>
            <a:ext cx="2528487" cy="2138400"/>
            <a:chOff x="509562" y="3079109"/>
            <a:chExt cx="2528487" cy="2138400"/>
          </a:xfrm>
        </p:grpSpPr>
        <p:graphicFrame>
          <p:nvGraphicFramePr>
            <p:cNvPr id="45" name="Object 55"/>
            <p:cNvGraphicFramePr>
              <a:graphicFrameLocks noChangeAspect="1"/>
            </p:cNvGraphicFramePr>
            <p:nvPr/>
          </p:nvGraphicFramePr>
          <p:xfrm>
            <a:off x="1183849" y="3924438"/>
            <a:ext cx="1854200" cy="534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749160" imgH="215640" progId="Equation.3">
                    <p:embed/>
                  </p:oleObj>
                </mc:Choice>
                <mc:Fallback>
                  <p:oleObj name="Ecuación" r:id="rId7" imgW="749160" imgH="215640" progId="Equation.3">
                    <p:embed/>
                    <p:pic>
                      <p:nvPicPr>
                        <p:cNvPr id="45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3849" y="3924438"/>
                          <a:ext cx="1854200" cy="534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Flecha derecha 7">
              <a:extLst>
                <a:ext uri="{FF2B5EF4-FFF2-40B4-BE49-F238E27FC236}">
                  <a16:creationId xmlns:a16="http://schemas.microsoft.com/office/drawing/2014/main" id="{B66166E4-B111-4064-8C98-96630F493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895" y="4029469"/>
              <a:ext cx="475937" cy="327992"/>
            </a:xfrm>
            <a:prstGeom prst="rightArrow">
              <a:avLst>
                <a:gd name="adj1" fmla="val 50000"/>
                <a:gd name="adj2" fmla="val 8523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58CE3BC0-8221-4F99-82F4-DF50226F785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9562" y="3079109"/>
              <a:ext cx="12333" cy="2138400"/>
            </a:xfrm>
            <a:prstGeom prst="line">
              <a:avLst/>
            </a:prstGeom>
            <a:noFill/>
            <a:ln w="762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1" name="Rectangle 59">
            <a:extLst>
              <a:ext uri="{FF2B5EF4-FFF2-40B4-BE49-F238E27FC236}">
                <a16:creationId xmlns:a16="http://schemas.microsoft.com/office/drawing/2014/main" id="{3E698E96-66D9-4C07-8864-40D8D40A2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622" y="2172113"/>
            <a:ext cx="1779211" cy="676184"/>
          </a:xfrm>
          <a:prstGeom prst="rect">
            <a:avLst/>
          </a:prstGeom>
          <a:noFill/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2" name="Object 60">
            <a:extLst>
              <a:ext uri="{FF2B5EF4-FFF2-40B4-BE49-F238E27FC236}">
                <a16:creationId xmlns:a16="http://schemas.microsoft.com/office/drawing/2014/main" id="{95D688C1-4347-4E13-A21B-31D115C177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622" y="1303133"/>
          <a:ext cx="1747460" cy="627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672808" imgH="241195" progId="Equation.3">
                  <p:embed/>
                </p:oleObj>
              </mc:Choice>
              <mc:Fallback>
                <p:oleObj name="Ecuación" r:id="rId9" imgW="672808" imgH="241195" progId="Equation.3">
                  <p:embed/>
                  <p:pic>
                    <p:nvPicPr>
                      <p:cNvPr id="52" name="Object 60">
                        <a:extLst>
                          <a:ext uri="{FF2B5EF4-FFF2-40B4-BE49-F238E27FC236}">
                            <a16:creationId xmlns:a16="http://schemas.microsoft.com/office/drawing/2014/main" id="{95D688C1-4347-4E13-A21B-31D115C17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622" y="1303133"/>
                        <a:ext cx="1747460" cy="627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0">
            <a:extLst>
              <a:ext uri="{FF2B5EF4-FFF2-40B4-BE49-F238E27FC236}">
                <a16:creationId xmlns:a16="http://schemas.microsoft.com/office/drawing/2014/main" id="{9914D263-541C-497D-A747-C541679F7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8973" y="3013075"/>
          <a:ext cx="1810854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723586" imgH="241195" progId="Equation.3">
                  <p:embed/>
                </p:oleObj>
              </mc:Choice>
              <mc:Fallback>
                <p:oleObj name="Ecuación" r:id="rId11" imgW="723586" imgH="241195" progId="Equation.3">
                  <p:embed/>
                  <p:pic>
                    <p:nvPicPr>
                      <p:cNvPr id="63" name="Object 60">
                        <a:extLst>
                          <a:ext uri="{FF2B5EF4-FFF2-40B4-BE49-F238E27FC236}">
                            <a16:creationId xmlns:a16="http://schemas.microsoft.com/office/drawing/2014/main" id="{9914D263-541C-497D-A747-C541679F71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973" y="3013075"/>
                        <a:ext cx="1810854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CuadroTexto 8">
            <a:extLst>
              <a:ext uri="{FF2B5EF4-FFF2-40B4-BE49-F238E27FC236}">
                <a16:creationId xmlns:a16="http://schemas.microsoft.com/office/drawing/2014/main" id="{F202B9CE-3381-493C-9780-55F98CA6E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170" y="431641"/>
            <a:ext cx="2025761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¿QUÉ ES V?</a:t>
            </a:r>
          </a:p>
        </p:txBody>
      </p:sp>
      <p:sp>
        <p:nvSpPr>
          <p:cNvPr id="4" name="Flecha derecha 7">
            <a:extLst>
              <a:ext uri="{FF2B5EF4-FFF2-40B4-BE49-F238E27FC236}">
                <a16:creationId xmlns:a16="http://schemas.microsoft.com/office/drawing/2014/main" id="{3276AA08-5FFD-4DC6-9060-60B8FC0A8B0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528692" y="3022137"/>
            <a:ext cx="475937" cy="327992"/>
          </a:xfrm>
          <a:prstGeom prst="rightArrow">
            <a:avLst>
              <a:gd name="adj1" fmla="val 50000"/>
              <a:gd name="adj2" fmla="val 8523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Flecha derecha 7">
            <a:extLst>
              <a:ext uri="{FF2B5EF4-FFF2-40B4-BE49-F238E27FC236}">
                <a16:creationId xmlns:a16="http://schemas.microsoft.com/office/drawing/2014/main" id="{73D4F86B-157D-A938-378A-5F232F10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754" y="4783836"/>
            <a:ext cx="475937" cy="327992"/>
          </a:xfrm>
          <a:prstGeom prst="rightArrow">
            <a:avLst>
              <a:gd name="adj1" fmla="val 50000"/>
              <a:gd name="adj2" fmla="val 8523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45D73A56-D23A-B952-699B-D9D4F5A8BC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8973" y="2151744"/>
          <a:ext cx="1835150" cy="590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748975" imgH="241195" progId="Equation.3">
                  <p:embed/>
                </p:oleObj>
              </mc:Choice>
              <mc:Fallback>
                <p:oleObj name="Ecuación" r:id="rId13" imgW="748975" imgH="241195" progId="Equation.3">
                  <p:embed/>
                  <p:pic>
                    <p:nvPicPr>
                      <p:cNvPr id="9" name="Object 60">
                        <a:extLst>
                          <a:ext uri="{FF2B5EF4-FFF2-40B4-BE49-F238E27FC236}">
                            <a16:creationId xmlns:a16="http://schemas.microsoft.com/office/drawing/2014/main" id="{45D73A56-D23A-B952-699B-D9D4F5A8B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973" y="2151744"/>
                        <a:ext cx="1835150" cy="590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588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/>
      <p:bldP spid="37" grpId="0"/>
      <p:bldP spid="67" grpId="0" animBg="1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9">
            <a:extLst>
              <a:ext uri="{FF2B5EF4-FFF2-40B4-BE49-F238E27FC236}">
                <a16:creationId xmlns:a16="http://schemas.microsoft.com/office/drawing/2014/main" id="{253B8A97-BBDE-4B93-BECD-850280AAB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445" y="1319612"/>
            <a:ext cx="1874841" cy="7207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B19843EF-F2CB-4F4B-B96D-BD8976C6A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948" y="2401035"/>
            <a:ext cx="8563364" cy="24341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16000" tIns="108000" rIns="216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El </a:t>
            </a:r>
            <a:r>
              <a:rPr lang="es-ES" sz="2400">
                <a:latin typeface="Arial" panose="020B0604020202020204" pitchFamily="34" charset="0"/>
              </a:rPr>
              <a:t>potencial eléctrico en </a:t>
            </a:r>
            <a:r>
              <a:rPr lang="es-ES" sz="2400" dirty="0">
                <a:latin typeface="Arial" panose="020B0604020202020204" pitchFamily="34" charset="0"/>
              </a:rPr>
              <a:t>un punto, como ocurre con </a:t>
            </a:r>
            <a:r>
              <a:rPr lang="es-ES" sz="2400">
                <a:latin typeface="Arial" panose="020B0604020202020204" pitchFamily="34" charset="0"/>
              </a:rPr>
              <a:t>el campo eléctrico en el punto, </a:t>
            </a:r>
            <a:r>
              <a:rPr lang="es-ES" sz="2400" dirty="0">
                <a:latin typeface="Arial" panose="020B0604020202020204" pitchFamily="34" charset="0"/>
              </a:rPr>
              <a:t>caracteriza el efecto de una distribución </a:t>
            </a:r>
            <a:r>
              <a:rPr lang="es-ES" sz="2400">
                <a:latin typeface="Arial" panose="020B0604020202020204" pitchFamily="34" charset="0"/>
              </a:rPr>
              <a:t>de carga en </a:t>
            </a:r>
            <a:r>
              <a:rPr lang="es-ES" sz="2400" dirty="0">
                <a:latin typeface="Arial" panose="020B0604020202020204" pitchFamily="34" charset="0"/>
              </a:rPr>
              <a:t>el punto. Si una partícula </a:t>
            </a:r>
            <a:r>
              <a:rPr lang="es-ES" sz="2400">
                <a:latin typeface="Arial" panose="020B0604020202020204" pitchFamily="34" charset="0"/>
              </a:rPr>
              <a:t>con carga está </a:t>
            </a:r>
            <a:r>
              <a:rPr lang="es-ES" sz="2400" dirty="0">
                <a:latin typeface="Arial" panose="020B0604020202020204" pitchFamily="34" charset="0"/>
              </a:rPr>
              <a:t>en el punto, </a:t>
            </a:r>
            <a:r>
              <a:rPr lang="es-ES" sz="2400">
                <a:latin typeface="Arial" panose="020B0604020202020204" pitchFamily="34" charset="0"/>
              </a:rPr>
              <a:t>siente el campo y el potencial eléctricos creados </a:t>
            </a:r>
            <a:r>
              <a:rPr lang="es-ES" sz="2400" dirty="0">
                <a:latin typeface="Arial" panose="020B0604020202020204" pitchFamily="34" charset="0"/>
              </a:rPr>
              <a:t>por </a:t>
            </a:r>
            <a:r>
              <a:rPr lang="es-ES" sz="2400">
                <a:latin typeface="Arial" panose="020B0604020202020204" pitchFamily="34" charset="0"/>
              </a:rPr>
              <a:t>la distribución, y por ello, sufre una fuerza eléctrica y se </a:t>
            </a:r>
            <a:r>
              <a:rPr lang="es-ES" sz="2400" dirty="0">
                <a:latin typeface="Arial" panose="020B0604020202020204" pitchFamily="34" charset="0"/>
              </a:rPr>
              <a:t>le asocia una energía </a:t>
            </a:r>
            <a:r>
              <a:rPr lang="es-ES" sz="2400">
                <a:latin typeface="Arial" panose="020B0604020202020204" pitchFamily="34" charset="0"/>
              </a:rPr>
              <a:t>potencial eléctrica</a:t>
            </a:r>
            <a:endParaRPr lang="es-ES" sz="2400" b="1" baseline="-25000" dirty="0">
              <a:latin typeface="Arial" panose="020B0604020202020204" pitchFamily="34" charset="0"/>
            </a:endParaRPr>
          </a:p>
        </p:txBody>
      </p:sp>
      <p:sp>
        <p:nvSpPr>
          <p:cNvPr id="50" name="Text Box 31">
            <a:extLst>
              <a:ext uri="{FF2B5EF4-FFF2-40B4-BE49-F238E27FC236}">
                <a16:creationId xmlns:a16="http://schemas.microsoft.com/office/drawing/2014/main" id="{701029C1-B7F0-4144-A6E8-5D91F25D4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4" y="5060223"/>
            <a:ext cx="6695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Ocurre igual en el caso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gravitatorio: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9" name="Rectangle 69">
            <a:extLst>
              <a:ext uri="{FF2B5EF4-FFF2-40B4-BE49-F238E27FC236}">
                <a16:creationId xmlns:a16="http://schemas.microsoft.com/office/drawing/2014/main" id="{A6E9B04F-4B85-45C2-9B11-CB0B78D14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957" y="1314487"/>
            <a:ext cx="1874841" cy="7207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0" name="Object 55">
            <a:extLst>
              <a:ext uri="{FF2B5EF4-FFF2-40B4-BE49-F238E27FC236}">
                <a16:creationId xmlns:a16="http://schemas.microsoft.com/office/drawing/2014/main" id="{3D8C81EE-CD7E-4128-B066-0D7E64E114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482" y="1408150"/>
          <a:ext cx="138271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58558" imgH="215806" progId="Equation.3">
                  <p:embed/>
                </p:oleObj>
              </mc:Choice>
              <mc:Fallback>
                <p:oleObj name="Ecuación" r:id="rId3" imgW="558558" imgH="215806" progId="Equation.3">
                  <p:embed/>
                  <p:pic>
                    <p:nvPicPr>
                      <p:cNvPr id="30" name="Object 55">
                        <a:extLst>
                          <a:ext uri="{FF2B5EF4-FFF2-40B4-BE49-F238E27FC236}">
                            <a16:creationId xmlns:a16="http://schemas.microsoft.com/office/drawing/2014/main" id="{3D8C81EE-CD7E-4128-B066-0D7E64E114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482" y="1408150"/>
                        <a:ext cx="138271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8">
            <a:extLst>
              <a:ext uri="{FF2B5EF4-FFF2-40B4-BE49-F238E27FC236}">
                <a16:creationId xmlns:a16="http://schemas.microsoft.com/office/drawing/2014/main" id="{D7CE03A6-25F6-4D00-A93A-612F736A9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5205" y="1378747"/>
          <a:ext cx="1138555" cy="602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457200" imgH="241300" progId="Equation.3">
                  <p:embed/>
                </p:oleObj>
              </mc:Choice>
              <mc:Fallback>
                <p:oleObj name="Ecuación" r:id="rId5" imgW="457200" imgH="241300" progId="Equation.3">
                  <p:embed/>
                  <p:pic>
                    <p:nvPicPr>
                      <p:cNvPr id="2" name="Object 68">
                        <a:extLst>
                          <a:ext uri="{FF2B5EF4-FFF2-40B4-BE49-F238E27FC236}">
                            <a16:creationId xmlns:a16="http://schemas.microsoft.com/office/drawing/2014/main" id="{D7CE03A6-25F6-4D00-A93A-612F736A9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205" y="1378747"/>
                        <a:ext cx="1138555" cy="602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1">
            <a:extLst>
              <a:ext uri="{FF2B5EF4-FFF2-40B4-BE49-F238E27FC236}">
                <a16:creationId xmlns:a16="http://schemas.microsoft.com/office/drawing/2014/main" id="{6C42C596-A001-C8D8-96EE-BD996F551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860" y="5746975"/>
            <a:ext cx="12749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F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= m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4" name="Text Box 31">
            <a:extLst>
              <a:ext uri="{FF2B5EF4-FFF2-40B4-BE49-F238E27FC236}">
                <a16:creationId xmlns:a16="http://schemas.microsoft.com/office/drawing/2014/main" id="{54EB72F0-5C48-1284-BA79-B561024BB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357" y="5727498"/>
            <a:ext cx="310977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s-E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= </a:t>
            </a:r>
            <a:r>
              <a:rPr lang="es-E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mV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    = </a:t>
            </a:r>
            <a:r>
              <a:rPr lang="es-ES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mgh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 (si h &lt;&lt; R)</a:t>
            </a:r>
          </a:p>
        </p:txBody>
      </p:sp>
      <p:sp>
        <p:nvSpPr>
          <p:cNvPr id="6" name="CuadroTexto 8">
            <a:extLst>
              <a:ext uri="{FF2B5EF4-FFF2-40B4-BE49-F238E27FC236}">
                <a16:creationId xmlns:a16="http://schemas.microsoft.com/office/drawing/2014/main" id="{2FF92163-B461-9C65-04B1-8E622529A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441" y="453132"/>
            <a:ext cx="5002353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INTRODUCCIÓN DIRECTA DE V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26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/>
      <p:bldP spid="3" grpId="0"/>
      <p:bldP spid="4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805" name="Object 37"/>
          <p:cNvGraphicFramePr>
            <a:graphicFrameLocks noChangeAspect="1"/>
          </p:cNvGraphicFramePr>
          <p:nvPr/>
        </p:nvGraphicFramePr>
        <p:xfrm>
          <a:off x="6454316" y="2285195"/>
          <a:ext cx="33686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511280" imgH="266400" progId="Equation.3">
                  <p:embed/>
                </p:oleObj>
              </mc:Choice>
              <mc:Fallback>
                <p:oleObj name="Ecuación" r:id="rId3" imgW="1511280" imgH="266400" progId="Equation.3">
                  <p:embed/>
                  <p:pic>
                    <p:nvPicPr>
                      <p:cNvPr id="28880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316" y="2285195"/>
                        <a:ext cx="336867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28" name="Object 60"/>
          <p:cNvGraphicFramePr>
            <a:graphicFrameLocks noChangeAspect="1"/>
          </p:cNvGraphicFramePr>
          <p:nvPr/>
        </p:nvGraphicFramePr>
        <p:xfrm>
          <a:off x="1639723" y="2285195"/>
          <a:ext cx="35941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612800" imgH="266400" progId="Equation.3">
                  <p:embed/>
                </p:oleObj>
              </mc:Choice>
              <mc:Fallback>
                <p:oleObj name="Ecuación" r:id="rId5" imgW="1612800" imgH="266400" progId="Equation.3">
                  <p:embed/>
                  <p:pic>
                    <p:nvPicPr>
                      <p:cNvPr id="28882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723" y="2285195"/>
                        <a:ext cx="35941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8" name="CuadroTexto 8"/>
          <p:cNvSpPr txBox="1">
            <a:spLocks noChangeArrowheads="1"/>
          </p:cNvSpPr>
          <p:nvPr/>
        </p:nvSpPr>
        <p:spPr bwMode="auto">
          <a:xfrm>
            <a:off x="3965668" y="458047"/>
            <a:ext cx="1440000" cy="54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Ppunto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64529" name="CuadroTexto 42"/>
          <p:cNvSpPr txBox="1">
            <a:spLocks noChangeArrowheads="1"/>
          </p:cNvSpPr>
          <p:nvPr/>
        </p:nvSpPr>
        <p:spPr bwMode="auto">
          <a:xfrm>
            <a:off x="8641657" y="458047"/>
            <a:ext cx="1404000" cy="540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punto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0" name="CuadroTexto 9"/>
          <p:cNvSpPr txBox="1">
            <a:spLocks noChangeArrowheads="1"/>
          </p:cNvSpPr>
          <p:nvPr/>
        </p:nvSpPr>
        <p:spPr bwMode="auto">
          <a:xfrm>
            <a:off x="1373358" y="1233058"/>
            <a:ext cx="8810355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Para conocer su valor en un punto hay que conocer su valor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 otro punto </a:t>
            </a:r>
            <a:r>
              <a:rPr lang="es-ES" sz="2400" b="1" dirty="0">
                <a:latin typeface="Arial" panose="020B0604020202020204" pitchFamily="34" charset="0"/>
              </a:rPr>
              <a:t>(referencia) </a:t>
            </a:r>
            <a:r>
              <a:rPr lang="es-ES" sz="2400" dirty="0">
                <a:latin typeface="Arial" panose="020B0604020202020204" pitchFamily="34" charset="0"/>
              </a:rPr>
              <a:t>y el W entre ambos de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o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</a:p>
        </p:txBody>
      </p:sp>
      <p:graphicFrame>
        <p:nvGraphicFramePr>
          <p:cNvPr id="2" name="Object 60"/>
          <p:cNvGraphicFramePr>
            <a:graphicFrameLocks noChangeAspect="1"/>
          </p:cNvGraphicFramePr>
          <p:nvPr/>
        </p:nvGraphicFramePr>
        <p:xfrm>
          <a:off x="1866736" y="3022589"/>
          <a:ext cx="31400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409400" imgH="266400" progId="Equation.3">
                  <p:embed/>
                </p:oleObj>
              </mc:Choice>
              <mc:Fallback>
                <p:oleObj name="Ecuación" r:id="rId7" imgW="1409400" imgH="266400" progId="Equation.3">
                  <p:embed/>
                  <p:pic>
                    <p:nvPicPr>
                      <p:cNvPr id="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736" y="3022589"/>
                        <a:ext cx="3140075" cy="5937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7"/>
          <p:cNvGraphicFramePr>
            <a:graphicFrameLocks noChangeAspect="1"/>
          </p:cNvGraphicFramePr>
          <p:nvPr/>
        </p:nvGraphicFramePr>
        <p:xfrm>
          <a:off x="6694028" y="3022589"/>
          <a:ext cx="28892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295280" imgH="266400" progId="Equation.3">
                  <p:embed/>
                </p:oleObj>
              </mc:Choice>
              <mc:Fallback>
                <p:oleObj name="Ecuación" r:id="rId9" imgW="1295280" imgH="266400" progId="Equation.3">
                  <p:embed/>
                  <p:pic>
                    <p:nvPicPr>
                      <p:cNvPr id="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028" y="3022589"/>
                        <a:ext cx="2889250" cy="5937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1353377" y="5162590"/>
            <a:ext cx="8830336" cy="830997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ym typeface="Symbol" panose="05050102010706020507" pitchFamily="18" charset="2"/>
              </a:rPr>
              <a:t>No es problema, ya que lo relevante es E</a:t>
            </a:r>
            <a:r>
              <a:rPr lang="es-ES" sz="2400" baseline="-25000" dirty="0">
                <a:sym typeface="Symbol" panose="05050102010706020507" pitchFamily="18" charset="2"/>
              </a:rPr>
              <a:t>P</a:t>
            </a:r>
            <a:r>
              <a:rPr lang="es-ES" sz="2400" dirty="0">
                <a:sym typeface="Symbol" panose="05050102010706020507" pitchFamily="18" charset="2"/>
              </a:rPr>
              <a:t> o V, la diferencia, que es la que está relacionada con W</a:t>
            </a:r>
            <a:r>
              <a:rPr lang="es-ES" sz="2400" b="1" baseline="-25000" dirty="0">
                <a:sym typeface="Symbol" panose="05050102010706020507" pitchFamily="18" charset="2"/>
              </a:rPr>
              <a:t>F</a:t>
            </a:r>
            <a:r>
              <a:rPr lang="es-ES" sz="2400" dirty="0">
                <a:sym typeface="Symbol" panose="05050102010706020507" pitchFamily="18" charset="2"/>
              </a:rPr>
              <a:t>, con W</a:t>
            </a:r>
            <a:r>
              <a:rPr lang="es-ES" sz="2400" b="1" baseline="-25000" dirty="0">
                <a:sym typeface="Symbol" panose="05050102010706020507" pitchFamily="18" charset="2"/>
              </a:rPr>
              <a:t>E</a:t>
            </a:r>
            <a:r>
              <a:rPr lang="es-ES" sz="2400" dirty="0">
                <a:sym typeface="Symbol" panose="05050102010706020507" pitchFamily="18" charset="2"/>
              </a:rPr>
              <a:t> o con E</a:t>
            </a:r>
            <a:r>
              <a:rPr lang="es-ES" sz="2400" baseline="-25000" dirty="0">
                <a:sym typeface="Symbol" panose="05050102010706020507" pitchFamily="18" charset="2"/>
              </a:rPr>
              <a:t>C</a:t>
            </a:r>
            <a:endParaRPr lang="es-ES" sz="2400" dirty="0">
              <a:sym typeface="Symbol" panose="05050102010706020507" pitchFamily="18" charset="2"/>
            </a:endParaRPr>
          </a:p>
        </p:txBody>
      </p: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1391477" y="3783304"/>
            <a:ext cx="8830336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El valor de referencia y el punto de referencia son arbitrarios, pueden ser cualesquiera, y se dice, por ello, que el valor de E</a:t>
            </a:r>
            <a:r>
              <a:rPr lang="es-ES" sz="2400" baseline="-25000" dirty="0">
                <a:solidFill>
                  <a:schemeClr val="tx1"/>
                </a:solidFill>
              </a:rPr>
              <a:t>P</a:t>
            </a:r>
            <a:r>
              <a:rPr lang="es-ES" sz="2400" dirty="0">
                <a:solidFill>
                  <a:schemeClr val="tx1"/>
                </a:solidFill>
              </a:rPr>
              <a:t> o V en cualquier punto queda </a:t>
            </a:r>
            <a:r>
              <a:rPr lang="es-ES" sz="2400" dirty="0">
                <a:solidFill>
                  <a:srgbClr val="0000FF"/>
                </a:solidFill>
              </a:rPr>
              <a:t>indeterminado en una constante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1353377" y="6426503"/>
            <a:ext cx="88303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(En el caso gravitatorio pasa lo mismo, p.ej., al caer un objeto)</a:t>
            </a:r>
          </a:p>
        </p:txBody>
      </p:sp>
      <p:grpSp>
        <p:nvGrpSpPr>
          <p:cNvPr id="13326" name="Group 28"/>
          <p:cNvGrpSpPr>
            <a:grpSpLocks/>
          </p:cNvGrpSpPr>
          <p:nvPr/>
        </p:nvGrpSpPr>
        <p:grpSpPr bwMode="auto">
          <a:xfrm>
            <a:off x="1485520" y="416897"/>
            <a:ext cx="1931989" cy="622300"/>
            <a:chOff x="-959" y="848"/>
            <a:chExt cx="1217" cy="392"/>
          </a:xfrm>
        </p:grpSpPr>
        <p:sp>
          <p:nvSpPr>
            <p:cNvPr id="13330" name="Rectangle 59"/>
            <p:cNvSpPr>
              <a:spLocks noChangeArrowheads="1"/>
            </p:cNvSpPr>
            <p:nvPr/>
          </p:nvSpPr>
          <p:spPr bwMode="auto">
            <a:xfrm>
              <a:off x="-959" y="848"/>
              <a:ext cx="1217" cy="39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3331" name="Object 60"/>
            <p:cNvGraphicFramePr>
              <a:graphicFrameLocks noChangeAspect="1"/>
            </p:cNvGraphicFramePr>
            <p:nvPr/>
          </p:nvGraphicFramePr>
          <p:xfrm>
            <a:off x="-933" y="854"/>
            <a:ext cx="115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748975" imgH="241195" progId="Equation.3">
                    <p:embed/>
                  </p:oleObj>
                </mc:Choice>
                <mc:Fallback>
                  <p:oleObj name="Ecuación" r:id="rId11" imgW="748975" imgH="241195" progId="Equation.3">
                    <p:embed/>
                    <p:pic>
                      <p:nvPicPr>
                        <p:cNvPr id="13331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33" y="854"/>
                          <a:ext cx="1156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7" name="Group 29"/>
          <p:cNvGrpSpPr>
            <a:grpSpLocks/>
          </p:cNvGrpSpPr>
          <p:nvPr/>
        </p:nvGrpSpPr>
        <p:grpSpPr bwMode="auto">
          <a:xfrm>
            <a:off x="6119437" y="400228"/>
            <a:ext cx="1801814" cy="655638"/>
            <a:chOff x="5685" y="1510"/>
            <a:chExt cx="1135" cy="413"/>
          </a:xfrm>
        </p:grpSpPr>
        <p:sp>
          <p:nvSpPr>
            <p:cNvPr id="5" name="Rectangle 36"/>
            <p:cNvSpPr>
              <a:spLocks noChangeArrowheads="1"/>
            </p:cNvSpPr>
            <p:nvPr/>
          </p:nvSpPr>
          <p:spPr bwMode="auto">
            <a:xfrm>
              <a:off x="5685" y="1510"/>
              <a:ext cx="1135" cy="41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3329" name="Object 37"/>
            <p:cNvGraphicFramePr>
              <a:graphicFrameLocks noChangeAspect="1"/>
            </p:cNvGraphicFramePr>
            <p:nvPr/>
          </p:nvGraphicFramePr>
          <p:xfrm>
            <a:off x="5712" y="1528"/>
            <a:ext cx="1097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710891" imgH="241195" progId="Equation.3">
                    <p:embed/>
                  </p:oleObj>
                </mc:Choice>
                <mc:Fallback>
                  <p:oleObj name="Ecuación" r:id="rId13" imgW="710891" imgH="241195" progId="Equation.3">
                    <p:embed/>
                    <p:pic>
                      <p:nvPicPr>
                        <p:cNvPr id="1332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2" y="1528"/>
                          <a:ext cx="1097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31">
            <a:extLst>
              <a:ext uri="{FF2B5EF4-FFF2-40B4-BE49-F238E27FC236}">
                <a16:creationId xmlns:a16="http://schemas.microsoft.com/office/drawing/2014/main" id="{05C3DE8A-1648-40AE-90A2-344D70738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857" y="6002670"/>
            <a:ext cx="88303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Al hacer la diferencia entre dos puntos se cancela la referencia</a:t>
            </a:r>
          </a:p>
        </p:txBody>
      </p:sp>
    </p:spTree>
    <p:extLst>
      <p:ext uri="{BB962C8B-B14F-4D97-AF65-F5344CB8AC3E}">
        <p14:creationId xmlns:p14="http://schemas.microsoft.com/office/powerpoint/2010/main" val="172025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8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8" grpId="0" animBg="1"/>
      <p:bldP spid="64529" grpId="0" animBg="1"/>
      <p:bldP spid="10" grpId="0" animBg="1"/>
      <p:bldP spid="64543" grpId="0" animBg="1"/>
      <p:bldP spid="4" grpId="0" animBg="1"/>
      <p:bldP spid="20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7" name="Text Box 38"/>
          <p:cNvSpPr txBox="1">
            <a:spLocks noChangeArrowheads="1"/>
          </p:cNvSpPr>
          <p:nvPr/>
        </p:nvSpPr>
        <p:spPr bwMode="auto">
          <a:xfrm>
            <a:off x="1220986" y="2894857"/>
            <a:ext cx="1595859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 err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W</a:t>
            </a:r>
            <a:r>
              <a:rPr lang="es-ES" sz="2400" b="1" baseline="-250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endParaRPr lang="es-ES" sz="2400" b="1" baseline="-250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93" name="Text Box 37"/>
          <p:cNvSpPr txBox="1">
            <a:spLocks noChangeArrowheads="1"/>
          </p:cNvSpPr>
          <p:nvPr/>
        </p:nvSpPr>
        <p:spPr bwMode="auto">
          <a:xfrm>
            <a:off x="1261717" y="876261"/>
            <a:ext cx="423294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15390" name="CuadroTexto 8"/>
          <p:cNvSpPr txBox="1">
            <a:spLocks noChangeArrowheads="1"/>
          </p:cNvSpPr>
          <p:nvPr/>
        </p:nvSpPr>
        <p:spPr bwMode="auto">
          <a:xfrm>
            <a:off x="4858434" y="286475"/>
            <a:ext cx="1809892" cy="514738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UNIDADES</a:t>
            </a:r>
          </a:p>
        </p:txBody>
      </p:sp>
      <p:sp>
        <p:nvSpPr>
          <p:cNvPr id="15389" name="Text Box 39"/>
          <p:cNvSpPr txBox="1">
            <a:spLocks noChangeArrowheads="1"/>
          </p:cNvSpPr>
          <p:nvPr/>
        </p:nvSpPr>
        <p:spPr bwMode="auto">
          <a:xfrm>
            <a:off x="1476565" y="6107593"/>
            <a:ext cx="4932349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Ej.: W sobre 1 e- si hay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V = </a:t>
            </a:r>
            <a:r>
              <a:rPr lang="es-ES" sz="2400" dirty="0">
                <a:solidFill>
                  <a:schemeClr val="tx1"/>
                </a:solidFill>
              </a:rPr>
              <a:t>10 V:</a:t>
            </a:r>
          </a:p>
        </p:txBody>
      </p:sp>
      <p:graphicFrame>
        <p:nvGraphicFramePr>
          <p:cNvPr id="13326" name="Object 68"/>
          <p:cNvGraphicFramePr>
            <a:graphicFrameLocks noChangeAspect="1"/>
          </p:cNvGraphicFramePr>
          <p:nvPr/>
        </p:nvGraphicFramePr>
        <p:xfrm>
          <a:off x="4510333" y="1370760"/>
          <a:ext cx="1138555" cy="602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457200" imgH="241300" progId="Equation.3">
                  <p:embed/>
                </p:oleObj>
              </mc:Choice>
              <mc:Fallback>
                <p:oleObj name="Ecuación" r:id="rId3" imgW="457200" imgH="241300" progId="Equation.3">
                  <p:embed/>
                  <p:pic>
                    <p:nvPicPr>
                      <p:cNvPr id="1332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333" y="1370760"/>
                        <a:ext cx="1138555" cy="602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385" name="Object 60"/>
              <p:cNvSpPr txBox="1"/>
              <p:nvPr/>
            </p:nvSpPr>
            <p:spPr bwMode="auto">
              <a:xfrm>
                <a:off x="4437958" y="4225798"/>
                <a:ext cx="3033773" cy="549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acc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sSub>
                        <m:sSubPr>
                          <m:ctrlPr>
                            <a:rPr lang="es-E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sub>
                      </m:sSub>
                      <m:r>
                        <a:rPr lang="es-E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ΔV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5385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7958" y="4225798"/>
                <a:ext cx="3033773" cy="549275"/>
              </a:xfrm>
              <a:prstGeom prst="rect">
                <a:avLst/>
              </a:prstGeom>
              <a:blipFill>
                <a:blip r:embed="rId5"/>
                <a:stretch>
                  <a:fillRect l="-40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Object 46"/>
          <p:cNvGraphicFramePr>
            <a:graphicFrameLocks noChangeAspect="1"/>
          </p:cNvGraphicFramePr>
          <p:nvPr/>
        </p:nvGraphicFramePr>
        <p:xfrm>
          <a:off x="4454203" y="3491363"/>
          <a:ext cx="284638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31560" imgH="393480" progId="Equation.3">
                  <p:embed/>
                </p:oleObj>
              </mc:Choice>
              <mc:Fallback>
                <p:oleObj name="Ecuación" r:id="rId6" imgW="1231560" imgH="393480" progId="Equation.3">
                  <p:embed/>
                  <p:pic>
                    <p:nvPicPr>
                      <p:cNvPr id="77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203" y="3491363"/>
                        <a:ext cx="284638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5" name="Text Box 56"/>
          <p:cNvSpPr txBox="1">
            <a:spLocks noChangeArrowheads="1"/>
          </p:cNvSpPr>
          <p:nvPr/>
        </p:nvSpPr>
        <p:spPr bwMode="auto">
          <a:xfrm>
            <a:off x="8320213" y="1788806"/>
            <a:ext cx="93482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</a:rPr>
              <a:t>N / C </a:t>
            </a:r>
            <a:endParaRPr lang="es-ES" sz="2400" dirty="0">
              <a:solidFill>
                <a:schemeClr val="tx2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Cerrar llave 2"/>
          <p:cNvSpPr/>
          <p:nvPr/>
        </p:nvSpPr>
        <p:spPr bwMode="auto">
          <a:xfrm>
            <a:off x="7477076" y="1470438"/>
            <a:ext cx="193040" cy="1136073"/>
          </a:xfrm>
          <a:prstGeom prst="righ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5" name="Text Box 38"/>
          <p:cNvSpPr txBox="1">
            <a:spLocks noChangeArrowheads="1"/>
          </p:cNvSpPr>
          <p:nvPr/>
        </p:nvSpPr>
        <p:spPr bwMode="auto">
          <a:xfrm>
            <a:off x="2906404" y="4858362"/>
            <a:ext cx="3036830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Electronvoltio   eV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5388" name="Text Box 38"/>
          <p:cNvSpPr txBox="1">
            <a:spLocks noChangeArrowheads="1"/>
          </p:cNvSpPr>
          <p:nvPr/>
        </p:nvSpPr>
        <p:spPr bwMode="auto">
          <a:xfrm>
            <a:off x="1263517" y="5340551"/>
            <a:ext cx="9158565" cy="88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chemeClr val="tx1"/>
                </a:solidFill>
              </a:rPr>
              <a:t>Se usa en </a:t>
            </a:r>
            <a:r>
              <a:rPr lang="es-ES" sz="2400" dirty="0">
                <a:solidFill>
                  <a:schemeClr val="tx1"/>
                </a:solidFill>
              </a:rPr>
              <a:t>el interior de </a:t>
            </a:r>
            <a:r>
              <a:rPr lang="es-ES" sz="2400">
                <a:solidFill>
                  <a:schemeClr val="tx1"/>
                </a:solidFill>
              </a:rPr>
              <a:t>la materia, o tratando con partículas,</a:t>
            </a:r>
          </a:p>
          <a:p>
            <a:r>
              <a:rPr lang="es-ES" sz="2400">
                <a:solidFill>
                  <a:schemeClr val="tx1"/>
                </a:solidFill>
              </a:rPr>
              <a:t>  donde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q =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Ne con N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Z</a:t>
            </a:r>
          </a:p>
        </p:txBody>
      </p:sp>
      <p:sp>
        <p:nvSpPr>
          <p:cNvPr id="26" name="Text Box 39"/>
          <p:cNvSpPr txBox="1">
            <a:spLocks noChangeArrowheads="1"/>
          </p:cNvSpPr>
          <p:nvPr/>
        </p:nvSpPr>
        <p:spPr bwMode="auto">
          <a:xfrm>
            <a:off x="7869137" y="6492898"/>
            <a:ext cx="2286722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(la “e” se deja)</a:t>
            </a: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EF1CA173-0B5E-4C85-B72A-20D3F38E5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011" y="1399116"/>
            <a:ext cx="2614598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CFAB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</a:rPr>
              <a:t>(en inglés “volt”, en honor a Volta)</a:t>
            </a:r>
          </a:p>
        </p:txBody>
      </p:sp>
      <p:sp>
        <p:nvSpPr>
          <p:cNvPr id="28" name="Text Box 38">
            <a:extLst>
              <a:ext uri="{FF2B5EF4-FFF2-40B4-BE49-F238E27FC236}">
                <a16:creationId xmlns:a16="http://schemas.microsoft.com/office/drawing/2014/main" id="{E51DFF16-4315-4158-BDBA-9F7A2CBED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011" y="3464071"/>
            <a:ext cx="2614598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B0F0"/>
                </a:solidFill>
                <a:latin typeface="Arial" panose="020B0604020202020204" pitchFamily="34" charset="0"/>
              </a:rPr>
              <a:t>(en inglés “joule”, en honor a Joule)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F61CBAE1-421A-4115-8499-E9EB7CC93F2D}"/>
              </a:ext>
            </a:extLst>
          </p:cNvPr>
          <p:cNvGrpSpPr/>
          <p:nvPr/>
        </p:nvGrpSpPr>
        <p:grpSpPr>
          <a:xfrm>
            <a:off x="1801276" y="881157"/>
            <a:ext cx="2085224" cy="525536"/>
            <a:chOff x="1261717" y="1071965"/>
            <a:chExt cx="2085224" cy="525536"/>
          </a:xfrm>
          <a:solidFill>
            <a:srgbClr val="FFFF99"/>
          </a:solidFill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329DE9AE-EA00-44C7-BA3F-EF74989E51A2}"/>
                </a:ext>
              </a:extLst>
            </p:cNvPr>
            <p:cNvSpPr/>
            <p:nvPr/>
          </p:nvSpPr>
          <p:spPr bwMode="auto">
            <a:xfrm>
              <a:off x="1261717" y="1071965"/>
              <a:ext cx="2085224" cy="49623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Text Box 37">
              <a:extLst>
                <a:ext uri="{FF2B5EF4-FFF2-40B4-BE49-F238E27FC236}">
                  <a16:creationId xmlns:a16="http://schemas.microsoft.com/office/drawing/2014/main" id="{145661D5-0E63-442E-9FB6-60307C8C3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1717" y="1082763"/>
              <a:ext cx="2085224" cy="51473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VOLTIO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 V</a:t>
              </a:r>
              <a:endParaRPr lang="es-ES" sz="2400" dirty="0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4" name="Text Box 38">
            <a:extLst>
              <a:ext uri="{FF2B5EF4-FFF2-40B4-BE49-F238E27FC236}">
                <a16:creationId xmlns:a16="http://schemas.microsoft.com/office/drawing/2014/main" id="{349CA2C2-667C-4530-822A-446BDF620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888" y="2895362"/>
            <a:ext cx="1886836" cy="5147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JULIO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J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FDDF6EA-2B91-4EEF-92E3-1AAA9EE50E90}"/>
                  </a:ext>
                </a:extLst>
              </p:cNvPr>
              <p:cNvSpPr txBox="1"/>
              <p:nvPr/>
            </p:nvSpPr>
            <p:spPr>
              <a:xfrm>
                <a:off x="4351839" y="1838866"/>
                <a:ext cx="3086742" cy="10610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acc>
                            <m:accPr>
                              <m:chr m:val="⃗"/>
                              <m:ctrlPr>
                                <a:rPr lang="es-E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ES" sz="24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</m:sub>
                      </m:sSub>
                      <m:r>
                        <a:rPr lang="es-E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4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es-E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s-E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2400" b="0" i="0" smtClean="0">
                              <a:latin typeface="Cambria Math" panose="02040503050406030204" pitchFamily="18" charset="0"/>
                            </a:rPr>
                            <m:t>dl</m:t>
                          </m:r>
                        </m:e>
                      </m:nary>
                      <m:r>
                        <a:rPr lang="es-ES" sz="2400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l-GR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s-E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FDDF6EA-2B91-4EEF-92E3-1AAA9EE50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839" y="1838866"/>
                <a:ext cx="3086742" cy="1061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D7F32F5C-6CD2-4F55-952F-DF85939E7C7F}"/>
              </a:ext>
            </a:extLst>
          </p:cNvPr>
          <p:cNvGrpSpPr/>
          <p:nvPr/>
        </p:nvGrpSpPr>
        <p:grpSpPr>
          <a:xfrm>
            <a:off x="7811142" y="1760813"/>
            <a:ext cx="423294" cy="576000"/>
            <a:chOff x="7811142" y="1947851"/>
            <a:chExt cx="423294" cy="576000"/>
          </a:xfrm>
        </p:grpSpPr>
        <p:sp>
          <p:nvSpPr>
            <p:cNvPr id="35" name="Text Box 56">
              <a:extLst>
                <a:ext uri="{FF2B5EF4-FFF2-40B4-BE49-F238E27FC236}">
                  <a16:creationId xmlns:a16="http://schemas.microsoft.com/office/drawing/2014/main" id="{612E6CD4-EC32-4D21-AC5D-D2D8361E7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1142" y="1947851"/>
              <a:ext cx="423294" cy="576000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s-ES" sz="24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D3C1FB36-71A8-4403-B142-186C34B5A218}"/>
                </a:ext>
              </a:extLst>
            </p:cNvPr>
            <p:cNvCxnSpPr/>
            <p:nvPr/>
          </p:nvCxnSpPr>
          <p:spPr bwMode="auto">
            <a:xfrm>
              <a:off x="7921488" y="2051349"/>
              <a:ext cx="23343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6" name="Text Box 38">
            <a:extLst>
              <a:ext uri="{FF2B5EF4-FFF2-40B4-BE49-F238E27FC236}">
                <a16:creationId xmlns:a16="http://schemas.microsoft.com/office/drawing/2014/main" id="{39FCE26E-3E6D-4FC0-BA9A-CB9371E83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986" y="4855303"/>
            <a:ext cx="1595859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 err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W</a:t>
            </a:r>
            <a:r>
              <a:rPr lang="es-ES" sz="2400" b="1" baseline="-25000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endParaRPr lang="es-ES" sz="24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3BFCF0B-CB1C-496C-8713-FE8B412CCB07}"/>
              </a:ext>
            </a:extLst>
          </p:cNvPr>
          <p:cNvGrpSpPr/>
          <p:nvPr/>
        </p:nvGrpSpPr>
        <p:grpSpPr>
          <a:xfrm>
            <a:off x="7478961" y="3538210"/>
            <a:ext cx="2306826" cy="1136073"/>
            <a:chOff x="7478961" y="3725248"/>
            <a:chExt cx="2306826" cy="1136073"/>
          </a:xfrm>
        </p:grpSpPr>
        <p:sp>
          <p:nvSpPr>
            <p:cNvPr id="49" name="Text Box 38"/>
            <p:cNvSpPr txBox="1">
              <a:spLocks noChangeArrowheads="1"/>
            </p:cNvSpPr>
            <p:nvPr/>
          </p:nvSpPr>
          <p:spPr bwMode="auto">
            <a:xfrm>
              <a:off x="8330159" y="4039434"/>
              <a:ext cx="1455628" cy="5147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J  = N m </a:t>
              </a:r>
              <a:endParaRPr lang="es-ES" sz="2400" dirty="0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Cerrar llave 52"/>
            <p:cNvSpPr/>
            <p:nvPr/>
          </p:nvSpPr>
          <p:spPr bwMode="auto">
            <a:xfrm>
              <a:off x="7478961" y="3725248"/>
              <a:ext cx="193040" cy="1136073"/>
            </a:xfrm>
            <a:prstGeom prst="rightBrac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E377445A-14DF-4822-98DA-694F5E2E36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62476" y="4293574"/>
              <a:ext cx="562435" cy="3645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2" name="Text Box 39">
            <a:extLst>
              <a:ext uri="{FF2B5EF4-FFF2-40B4-BE49-F238E27FC236}">
                <a16:creationId xmlns:a16="http://schemas.microsoft.com/office/drawing/2014/main" id="{0BA2C8A2-7ABC-47A1-BA61-63B9C8891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189" y="6107593"/>
            <a:ext cx="2752458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W = - (-1 e)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 </a:t>
            </a:r>
            <a:r>
              <a:rPr lang="es-ES" sz="2400" dirty="0">
                <a:solidFill>
                  <a:schemeClr val="tx1"/>
                </a:solidFill>
              </a:rPr>
              <a:t>10 V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9DF3579B-9870-421A-973F-068381459D4E}"/>
              </a:ext>
            </a:extLst>
          </p:cNvPr>
          <p:cNvGrpSpPr/>
          <p:nvPr/>
        </p:nvGrpSpPr>
        <p:grpSpPr>
          <a:xfrm>
            <a:off x="4694200" y="822775"/>
            <a:ext cx="667869" cy="604961"/>
            <a:chOff x="4694200" y="1009813"/>
            <a:chExt cx="667869" cy="604961"/>
          </a:xfrm>
        </p:grpSpPr>
        <p:sp>
          <p:nvSpPr>
            <p:cNvPr id="33" name="Text Box 39">
              <a:extLst>
                <a:ext uri="{FF2B5EF4-FFF2-40B4-BE49-F238E27FC236}">
                  <a16:creationId xmlns:a16="http://schemas.microsoft.com/office/drawing/2014/main" id="{66B69BEC-2646-466F-906C-F975FEC65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N</a:t>
              </a:r>
            </a:p>
          </p:txBody>
        </p:sp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5620DF4A-C93B-44E3-8147-9F815E5F5581}"/>
                </a:ext>
              </a:extLst>
            </p:cNvPr>
            <p:cNvCxnSpPr/>
            <p:nvPr/>
          </p:nvCxnSpPr>
          <p:spPr bwMode="auto">
            <a:xfrm flipV="1">
              <a:off x="4694200" y="1406745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AFBCC2C-34CA-42B9-8CB8-1398A8DB3781}"/>
              </a:ext>
            </a:extLst>
          </p:cNvPr>
          <p:cNvGrpSpPr/>
          <p:nvPr/>
        </p:nvGrpSpPr>
        <p:grpSpPr>
          <a:xfrm>
            <a:off x="5315550" y="820660"/>
            <a:ext cx="667869" cy="604961"/>
            <a:chOff x="4694200" y="1009813"/>
            <a:chExt cx="667869" cy="604961"/>
          </a:xfrm>
        </p:grpSpPr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56443317-B461-40B4-A2BC-86DD1F36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C</a:t>
              </a: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D52EAFA9-943A-4D55-B20A-0975CA47E231}"/>
                </a:ext>
              </a:extLst>
            </p:cNvPr>
            <p:cNvCxnSpPr/>
            <p:nvPr/>
          </p:nvCxnSpPr>
          <p:spPr bwMode="auto">
            <a:xfrm flipV="1">
              <a:off x="4694200" y="1406745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15ECE79-8430-45BC-91F3-98533455941B}"/>
              </a:ext>
            </a:extLst>
          </p:cNvPr>
          <p:cNvGrpSpPr/>
          <p:nvPr/>
        </p:nvGrpSpPr>
        <p:grpSpPr>
          <a:xfrm>
            <a:off x="6238730" y="2546279"/>
            <a:ext cx="677686" cy="546299"/>
            <a:chOff x="4684383" y="978252"/>
            <a:chExt cx="677686" cy="546299"/>
          </a:xfrm>
        </p:grpSpPr>
        <p:sp>
          <p:nvSpPr>
            <p:cNvPr id="41" name="Text Box 39">
              <a:extLst>
                <a:ext uri="{FF2B5EF4-FFF2-40B4-BE49-F238E27FC236}">
                  <a16:creationId xmlns:a16="http://schemas.microsoft.com/office/drawing/2014/main" id="{20574084-25D3-4C95-B000-8CFDFA282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m</a:t>
              </a:r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EAD32A74-B7AB-40CF-B9E1-4DCAF9DCD1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4383" y="978252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A390786-A6D7-497E-9F81-0640F2A06481}"/>
              </a:ext>
            </a:extLst>
          </p:cNvPr>
          <p:cNvGrpSpPr/>
          <p:nvPr/>
        </p:nvGrpSpPr>
        <p:grpSpPr>
          <a:xfrm>
            <a:off x="7151968" y="2552711"/>
            <a:ext cx="677686" cy="559384"/>
            <a:chOff x="4684383" y="965167"/>
            <a:chExt cx="677686" cy="559384"/>
          </a:xfrm>
        </p:grpSpPr>
        <p:sp>
          <p:nvSpPr>
            <p:cNvPr id="44" name="Text Box 39">
              <a:extLst>
                <a:ext uri="{FF2B5EF4-FFF2-40B4-BE49-F238E27FC236}">
                  <a16:creationId xmlns:a16="http://schemas.microsoft.com/office/drawing/2014/main" id="{BA1B797E-377A-407F-A804-BE874C098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V</a:t>
              </a:r>
            </a:p>
          </p:txBody>
        </p: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2C2D6B8B-3E0D-4293-A582-650D86F4403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4383" y="965167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1E1B0016-CCA1-4F61-B3A4-D6620E89C8F3}"/>
              </a:ext>
            </a:extLst>
          </p:cNvPr>
          <p:cNvGrpSpPr/>
          <p:nvPr/>
        </p:nvGrpSpPr>
        <p:grpSpPr>
          <a:xfrm>
            <a:off x="5697255" y="2957085"/>
            <a:ext cx="667869" cy="604961"/>
            <a:chOff x="4694200" y="1009813"/>
            <a:chExt cx="667869" cy="604961"/>
          </a:xfrm>
        </p:grpSpPr>
        <p:sp>
          <p:nvSpPr>
            <p:cNvPr id="47" name="Text Box 39">
              <a:extLst>
                <a:ext uri="{FF2B5EF4-FFF2-40B4-BE49-F238E27FC236}">
                  <a16:creationId xmlns:a16="http://schemas.microsoft.com/office/drawing/2014/main" id="{26ADDAB4-1E49-4B86-9B66-BC7F7ED02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N</a:t>
              </a:r>
            </a:p>
          </p:txBody>
        </p: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CAEFB2F6-ACF1-471A-9B6D-FA67121A0F86}"/>
                </a:ext>
              </a:extLst>
            </p:cNvPr>
            <p:cNvCxnSpPr/>
            <p:nvPr/>
          </p:nvCxnSpPr>
          <p:spPr bwMode="auto">
            <a:xfrm flipV="1">
              <a:off x="4694200" y="1406745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7A2A5D9C-D2CE-4E34-9C39-E86CF61D38EC}"/>
              </a:ext>
            </a:extLst>
          </p:cNvPr>
          <p:cNvGrpSpPr/>
          <p:nvPr/>
        </p:nvGrpSpPr>
        <p:grpSpPr>
          <a:xfrm>
            <a:off x="6127399" y="2955982"/>
            <a:ext cx="667869" cy="604961"/>
            <a:chOff x="4694200" y="1009813"/>
            <a:chExt cx="667869" cy="604961"/>
          </a:xfrm>
        </p:grpSpPr>
        <p:sp>
          <p:nvSpPr>
            <p:cNvPr id="51" name="Text Box 39">
              <a:extLst>
                <a:ext uri="{FF2B5EF4-FFF2-40B4-BE49-F238E27FC236}">
                  <a16:creationId xmlns:a16="http://schemas.microsoft.com/office/drawing/2014/main" id="{AA823B71-C96D-4660-873C-F9639B392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m</a:t>
              </a:r>
            </a:p>
          </p:txBody>
        </p: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0B0C91CE-7790-424A-9BC4-67B282912EC0}"/>
                </a:ext>
              </a:extLst>
            </p:cNvPr>
            <p:cNvCxnSpPr/>
            <p:nvPr/>
          </p:nvCxnSpPr>
          <p:spPr bwMode="auto">
            <a:xfrm flipV="1">
              <a:off x="4694200" y="1406745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C465B52E-53F8-4AFD-BD28-66F92CD5899C}"/>
              </a:ext>
            </a:extLst>
          </p:cNvPr>
          <p:cNvGrpSpPr/>
          <p:nvPr/>
        </p:nvGrpSpPr>
        <p:grpSpPr>
          <a:xfrm>
            <a:off x="4849950" y="2964687"/>
            <a:ext cx="667869" cy="604961"/>
            <a:chOff x="4694200" y="1009813"/>
            <a:chExt cx="667869" cy="604961"/>
          </a:xfrm>
        </p:grpSpPr>
        <p:sp>
          <p:nvSpPr>
            <p:cNvPr id="56" name="Text Box 39">
              <a:extLst>
                <a:ext uri="{FF2B5EF4-FFF2-40B4-BE49-F238E27FC236}">
                  <a16:creationId xmlns:a16="http://schemas.microsoft.com/office/drawing/2014/main" id="{9464587C-9CFF-4C84-B98D-EEE89F6CC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J</a:t>
              </a:r>
            </a:p>
          </p:txBody>
        </p: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D4DE9EEC-688E-4F08-BEE3-EDCE528E9870}"/>
                </a:ext>
              </a:extLst>
            </p:cNvPr>
            <p:cNvCxnSpPr/>
            <p:nvPr/>
          </p:nvCxnSpPr>
          <p:spPr bwMode="auto">
            <a:xfrm flipV="1">
              <a:off x="4694200" y="1406745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F795ECF2-82B0-4F00-B496-B5CA854DCF4C}"/>
              </a:ext>
            </a:extLst>
          </p:cNvPr>
          <p:cNvGrpSpPr/>
          <p:nvPr/>
        </p:nvGrpSpPr>
        <p:grpSpPr>
          <a:xfrm>
            <a:off x="6761103" y="4717700"/>
            <a:ext cx="677686" cy="546299"/>
            <a:chOff x="4684383" y="978252"/>
            <a:chExt cx="677686" cy="546299"/>
          </a:xfrm>
        </p:grpSpPr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BC4E431E-B060-4A9E-83FF-A52448ED9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C</a:t>
              </a:r>
            </a:p>
          </p:txBody>
        </p: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B498177C-4B02-4A81-A0BE-C25047884E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4383" y="978252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87AB81AB-FFD3-4525-9878-26F3FDAC83DC}"/>
              </a:ext>
            </a:extLst>
          </p:cNvPr>
          <p:cNvGrpSpPr/>
          <p:nvPr/>
        </p:nvGrpSpPr>
        <p:grpSpPr>
          <a:xfrm>
            <a:off x="7230608" y="4704615"/>
            <a:ext cx="677686" cy="559384"/>
            <a:chOff x="4684383" y="965167"/>
            <a:chExt cx="677686" cy="559384"/>
          </a:xfrm>
        </p:grpSpPr>
        <p:sp>
          <p:nvSpPr>
            <p:cNvPr id="62" name="Text Box 39">
              <a:extLst>
                <a:ext uri="{FF2B5EF4-FFF2-40B4-BE49-F238E27FC236}">
                  <a16:creationId xmlns:a16="http://schemas.microsoft.com/office/drawing/2014/main" id="{B5607AE4-E6A6-4D7C-96CE-08D12123F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818" y="1009813"/>
              <a:ext cx="666251" cy="514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V</a:t>
              </a:r>
            </a:p>
          </p:txBody>
        </p: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F384A214-ED8B-4997-8BAE-5C776D5148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84383" y="965167"/>
              <a:ext cx="212787" cy="208029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4" name="Text Box 56">
            <a:extLst>
              <a:ext uri="{FF2B5EF4-FFF2-40B4-BE49-F238E27FC236}">
                <a16:creationId xmlns:a16="http://schemas.microsoft.com/office/drawing/2014/main" id="{FDEB688C-EC2C-4C87-BFFC-DCFB39F57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038" y="1786316"/>
            <a:ext cx="1298260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chemeClr val="tx2"/>
                </a:solidFill>
                <a:latin typeface="Arial" panose="020B0604020202020204" pitchFamily="34" charset="0"/>
              </a:rPr>
              <a:t>=  V / m</a:t>
            </a:r>
            <a:endParaRPr lang="es-ES" sz="2400" dirty="0">
              <a:solidFill>
                <a:schemeClr val="tx2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067DFFFD-A802-4832-A7CF-3C67F678F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678" y="3853145"/>
            <a:ext cx="995566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= C V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 Box 39">
            <a:extLst>
              <a:ext uri="{FF2B5EF4-FFF2-40B4-BE49-F238E27FC236}">
                <a16:creationId xmlns:a16="http://schemas.microsoft.com/office/drawing/2014/main" id="{40129765-0B36-4ABB-9F74-627FBA728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7761" y="6107593"/>
            <a:ext cx="1287313" cy="5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= 10 eV</a:t>
            </a:r>
          </a:p>
        </p:txBody>
      </p:sp>
    </p:spTree>
    <p:extLst>
      <p:ext uri="{BB962C8B-B14F-4D97-AF65-F5344CB8AC3E}">
        <p14:creationId xmlns:p14="http://schemas.microsoft.com/office/powerpoint/2010/main" val="396333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7" grpId="0" animBg="1"/>
      <p:bldP spid="15393" grpId="0" animBg="1"/>
      <p:bldP spid="15390" grpId="0" animBg="1"/>
      <p:bldP spid="15389" grpId="0"/>
      <p:bldP spid="15385" grpId="0"/>
      <p:bldP spid="15395" grpId="0" animBg="1"/>
      <p:bldP spid="3" grpId="0" animBg="1"/>
      <p:bldP spid="55" grpId="0" animBg="1"/>
      <p:bldP spid="15388" grpId="0"/>
      <p:bldP spid="26" grpId="0"/>
      <p:bldP spid="27" grpId="0"/>
      <p:bldP spid="28" grpId="0"/>
      <p:bldP spid="34" grpId="0" animBg="1"/>
      <p:bldP spid="7" grpId="0"/>
      <p:bldP spid="36" grpId="0" animBg="1"/>
      <p:bldP spid="32" grpId="0"/>
      <p:bldP spid="64" grpId="0" animBg="1"/>
      <p:bldP spid="4" grpId="0" animBg="1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C225367-DDC7-49AB-B3EF-35B962D40307}"/>
              </a:ext>
            </a:extLst>
          </p:cNvPr>
          <p:cNvGrpSpPr/>
          <p:nvPr/>
        </p:nvGrpSpPr>
        <p:grpSpPr>
          <a:xfrm>
            <a:off x="1516697" y="1239858"/>
            <a:ext cx="3651203" cy="861975"/>
            <a:chOff x="1516697" y="1220808"/>
            <a:chExt cx="3651203" cy="861975"/>
          </a:xfrm>
        </p:grpSpPr>
        <p:sp>
          <p:nvSpPr>
            <p:cNvPr id="25645" name="Rectangle 75"/>
            <p:cNvSpPr>
              <a:spLocks noChangeArrowheads="1"/>
            </p:cNvSpPr>
            <p:nvPr/>
          </p:nvSpPr>
          <p:spPr bwMode="auto">
            <a:xfrm>
              <a:off x="1516697" y="1220808"/>
              <a:ext cx="3651203" cy="8619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6" name="Object 37">
              <a:extLst>
                <a:ext uri="{FF2B5EF4-FFF2-40B4-BE49-F238E27FC236}">
                  <a16:creationId xmlns:a16="http://schemas.microsoft.com/office/drawing/2014/main" id="{A493DEED-8B44-4A89-9DF0-7F5519F677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1788617"/>
                </p:ext>
              </p:extLst>
            </p:nvPr>
          </p:nvGraphicFramePr>
          <p:xfrm>
            <a:off x="1635769" y="1287240"/>
            <a:ext cx="3423002" cy="703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95280" imgH="266400" progId="Equation.3">
                    <p:embed/>
                  </p:oleObj>
                </mc:Choice>
                <mc:Fallback>
                  <p:oleObj name="Ecuación" r:id="rId3" imgW="1295280" imgH="266400" progId="Equation.3">
                    <p:embed/>
                    <p:pic>
                      <p:nvPicPr>
                        <p:cNvPr id="3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5769" y="1287240"/>
                          <a:ext cx="3423002" cy="703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129518" y="454667"/>
            <a:ext cx="93821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2.4.1. POTENCIALES DEBIDOS A DISTRIBUCIONES DE CARGA</a:t>
            </a:r>
          </a:p>
        </p:txBody>
      </p:sp>
      <p:sp>
        <p:nvSpPr>
          <p:cNvPr id="38" name="Text Box 64"/>
          <p:cNvSpPr txBox="1">
            <a:spLocks noChangeArrowheads="1"/>
          </p:cNvSpPr>
          <p:nvPr/>
        </p:nvSpPr>
        <p:spPr bwMode="auto">
          <a:xfrm>
            <a:off x="5798775" y="2271850"/>
            <a:ext cx="382698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el </a:t>
            </a:r>
            <a:r>
              <a:rPr lang="es-ES" sz="2400" dirty="0">
                <a:latin typeface="Arial" panose="020B0604020202020204" pitchFamily="34" charset="0"/>
              </a:rPr>
              <a:t>sistema no es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infinito:</a:t>
            </a:r>
          </a:p>
        </p:txBody>
      </p:sp>
      <p:sp>
        <p:nvSpPr>
          <p:cNvPr id="25647" name="Text Box 65"/>
          <p:cNvSpPr txBox="1">
            <a:spLocks noChangeArrowheads="1"/>
          </p:cNvSpPr>
          <p:nvPr/>
        </p:nvSpPr>
        <p:spPr bwMode="auto">
          <a:xfrm>
            <a:off x="8228528" y="3781225"/>
            <a:ext cx="158908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1" name="Text Box 96"/>
          <p:cNvSpPr txBox="1">
            <a:spLocks noChangeArrowheads="1"/>
          </p:cNvSpPr>
          <p:nvPr/>
        </p:nvSpPr>
        <p:spPr bwMode="auto">
          <a:xfrm>
            <a:off x="5796712" y="2917095"/>
            <a:ext cx="42950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Lejos de él parece una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puntual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642" name="Text Box 149"/>
          <p:cNvSpPr txBox="1">
            <a:spLocks noChangeArrowheads="1"/>
          </p:cNvSpPr>
          <p:nvPr/>
        </p:nvSpPr>
        <p:spPr bwMode="auto">
          <a:xfrm>
            <a:off x="8228528" y="4321252"/>
            <a:ext cx="221276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q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56" name="Group 41"/>
          <p:cNvGrpSpPr>
            <a:grpSpLocks/>
          </p:cNvGrpSpPr>
          <p:nvPr/>
        </p:nvGrpSpPr>
        <p:grpSpPr bwMode="auto">
          <a:xfrm>
            <a:off x="1560058" y="2004127"/>
            <a:ext cx="3705226" cy="728663"/>
            <a:chOff x="865" y="1296"/>
            <a:chExt cx="2334" cy="459"/>
          </a:xfrm>
        </p:grpSpPr>
        <p:sp>
          <p:nvSpPr>
            <p:cNvPr id="25640" name="Text Box 34"/>
            <p:cNvSpPr txBox="1">
              <a:spLocks noChangeArrowheads="1"/>
            </p:cNvSpPr>
            <p:nvPr/>
          </p:nvSpPr>
          <p:spPr bwMode="auto">
            <a:xfrm>
              <a:off x="865" y="1464"/>
              <a:ext cx="233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Valor y punto arbitrarios</a:t>
              </a:r>
            </a:p>
          </p:txBody>
        </p:sp>
        <p:sp>
          <p:nvSpPr>
            <p:cNvPr id="25641" name="Line 40"/>
            <p:cNvSpPr>
              <a:spLocks noChangeShapeType="1"/>
            </p:cNvSpPr>
            <p:nvPr/>
          </p:nvSpPr>
          <p:spPr bwMode="auto">
            <a:xfrm flipH="1">
              <a:off x="1913" y="1296"/>
              <a:ext cx="8" cy="20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2" name="Group 5"/>
          <p:cNvGrpSpPr>
            <a:grpSpLocks/>
          </p:cNvGrpSpPr>
          <p:nvPr/>
        </p:nvGrpSpPr>
        <p:grpSpPr bwMode="auto">
          <a:xfrm>
            <a:off x="1477665" y="3012048"/>
            <a:ext cx="2857500" cy="2954337"/>
            <a:chOff x="4242" y="2597"/>
            <a:chExt cx="1800" cy="1861"/>
          </a:xfrm>
        </p:grpSpPr>
        <p:sp>
          <p:nvSpPr>
            <p:cNvPr id="25631" name="Rectangle 63"/>
            <p:cNvSpPr>
              <a:spLocks noChangeArrowheads="1"/>
            </p:cNvSpPr>
            <p:nvPr/>
          </p:nvSpPr>
          <p:spPr bwMode="auto">
            <a:xfrm>
              <a:off x="4318" y="2978"/>
              <a:ext cx="1602" cy="82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2" name="Line 8"/>
            <p:cNvSpPr>
              <a:spLocks noChangeShapeType="1"/>
            </p:cNvSpPr>
            <p:nvPr/>
          </p:nvSpPr>
          <p:spPr bwMode="auto">
            <a:xfrm flipV="1">
              <a:off x="4585" y="4089"/>
              <a:ext cx="1018" cy="24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  <p:sp>
          <p:nvSpPr>
            <p:cNvPr id="25633" name="Text Box 10"/>
            <p:cNvSpPr txBox="1">
              <a:spLocks noChangeArrowheads="1"/>
            </p:cNvSpPr>
            <p:nvPr/>
          </p:nvSpPr>
          <p:spPr bwMode="auto">
            <a:xfrm>
              <a:off x="4242" y="2597"/>
              <a:ext cx="180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CARGA </a:t>
              </a:r>
              <a:r>
                <a:rPr lang="es-ES" sz="2400" b="1">
                  <a:latin typeface="Arial" panose="020B0604020202020204" pitchFamily="34" charset="0"/>
                </a:rPr>
                <a:t>PUNTUAL</a:t>
              </a:r>
            </a:p>
          </p:txBody>
        </p:sp>
        <p:pic>
          <p:nvPicPr>
            <p:cNvPr id="25634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3" y="418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35" name="Text Box 13"/>
            <p:cNvSpPr txBox="1">
              <a:spLocks noChangeArrowheads="1"/>
            </p:cNvSpPr>
            <p:nvPr/>
          </p:nvSpPr>
          <p:spPr bwMode="auto">
            <a:xfrm>
              <a:off x="4884" y="3858"/>
              <a:ext cx="1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5636" name="Text Box 23"/>
            <p:cNvSpPr txBox="1">
              <a:spLocks noChangeArrowheads="1"/>
            </p:cNvSpPr>
            <p:nvPr/>
          </p:nvSpPr>
          <p:spPr bwMode="auto">
            <a:xfrm>
              <a:off x="4295" y="3876"/>
              <a:ext cx="26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graphicFrame>
          <p:nvGraphicFramePr>
            <p:cNvPr id="25637" name="Object 62"/>
            <p:cNvGraphicFramePr>
              <a:graphicFrameLocks noChangeAspect="1"/>
            </p:cNvGraphicFramePr>
            <p:nvPr/>
          </p:nvGraphicFramePr>
          <p:xfrm>
            <a:off x="4489" y="3067"/>
            <a:ext cx="1243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761669" imgH="393529" progId="Equation.3">
                    <p:embed/>
                  </p:oleObj>
                </mc:Choice>
                <mc:Fallback>
                  <p:oleObj name="Ecuación" r:id="rId6" imgW="761669" imgH="393529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" y="3067"/>
                          <a:ext cx="1243" cy="6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Group 147"/>
          <p:cNvGrpSpPr>
            <a:grpSpLocks/>
          </p:cNvGrpSpPr>
          <p:nvPr/>
        </p:nvGrpSpPr>
        <p:grpSpPr bwMode="auto">
          <a:xfrm>
            <a:off x="3513790" y="5134884"/>
            <a:ext cx="439738" cy="804862"/>
            <a:chOff x="2080" y="1091"/>
            <a:chExt cx="277" cy="507"/>
          </a:xfrm>
        </p:grpSpPr>
        <p:pic>
          <p:nvPicPr>
            <p:cNvPr id="25629" name="Picture 14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0" y="109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30" name="Text Box 143"/>
            <p:cNvSpPr txBox="1">
              <a:spLocks noChangeArrowheads="1"/>
            </p:cNvSpPr>
            <p:nvPr/>
          </p:nvSpPr>
          <p:spPr bwMode="auto">
            <a:xfrm>
              <a:off x="2084" y="1264"/>
              <a:ext cx="23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</p:grpSp>
      <p:grpSp>
        <p:nvGrpSpPr>
          <p:cNvPr id="73" name="Grupo 72"/>
          <p:cNvGrpSpPr>
            <a:grpSpLocks/>
          </p:cNvGrpSpPr>
          <p:nvPr/>
        </p:nvGrpSpPr>
        <p:grpSpPr bwMode="auto">
          <a:xfrm>
            <a:off x="3341388" y="4392335"/>
            <a:ext cx="1932548" cy="461665"/>
            <a:chOff x="3836922" y="5315740"/>
            <a:chExt cx="1933068" cy="461734"/>
          </a:xfrm>
        </p:grpSpPr>
        <p:sp>
          <p:nvSpPr>
            <p:cNvPr id="25627" name="Line 40"/>
            <p:cNvSpPr>
              <a:spLocks noChangeShapeType="1"/>
            </p:cNvSpPr>
            <p:nvPr/>
          </p:nvSpPr>
          <p:spPr bwMode="auto">
            <a:xfrm rot="16200000" flipH="1">
              <a:off x="4390957" y="5010353"/>
              <a:ext cx="0" cy="110806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5628" name="CuadroTexto 7"/>
            <p:cNvSpPr txBox="1">
              <a:spLocks noChangeArrowheads="1"/>
            </p:cNvSpPr>
            <p:nvPr/>
          </p:nvSpPr>
          <p:spPr bwMode="auto">
            <a:xfrm>
              <a:off x="4977572" y="5315740"/>
              <a:ext cx="792418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FF0000"/>
                  </a:solidFill>
                  <a:sym typeface="Symbol" panose="05050102010706020507" pitchFamily="18" charset="2"/>
                </a:rPr>
                <a:t> </a:t>
              </a:r>
              <a:endParaRPr lang="es-ES" sz="240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upo 75"/>
          <p:cNvGrpSpPr>
            <a:grpSpLocks/>
          </p:cNvGrpSpPr>
          <p:nvPr/>
        </p:nvGrpSpPr>
        <p:grpSpPr bwMode="auto">
          <a:xfrm>
            <a:off x="3919575" y="3988485"/>
            <a:ext cx="1451920" cy="461666"/>
            <a:chOff x="4414434" y="4911794"/>
            <a:chExt cx="1452783" cy="461734"/>
          </a:xfrm>
        </p:grpSpPr>
        <p:sp>
          <p:nvSpPr>
            <p:cNvPr id="25624" name="Line 40"/>
            <p:cNvSpPr>
              <a:spLocks noChangeShapeType="1"/>
            </p:cNvSpPr>
            <p:nvPr/>
          </p:nvSpPr>
          <p:spPr bwMode="auto">
            <a:xfrm rot="16200000" flipH="1">
              <a:off x="4758446" y="4838383"/>
              <a:ext cx="0" cy="6880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25625" name="CuadroTexto 49"/>
            <p:cNvSpPr txBox="1">
              <a:spLocks noChangeArrowheads="1"/>
            </p:cNvSpPr>
            <p:nvPr/>
          </p:nvSpPr>
          <p:spPr bwMode="auto">
            <a:xfrm>
              <a:off x="5122661" y="4911794"/>
              <a:ext cx="744556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FF0000"/>
                  </a:solidFill>
                  <a:sym typeface="Symbol" panose="05050102010706020507" pitchFamily="18" charset="2"/>
                </a:rPr>
                <a:t> 0</a:t>
              </a:r>
              <a:endParaRPr lang="es-ES" sz="2400">
                <a:solidFill>
                  <a:srgbClr val="FF0000"/>
                </a:solidFill>
              </a:endParaRPr>
            </a:p>
          </p:txBody>
        </p:sp>
        <p:sp>
          <p:nvSpPr>
            <p:cNvPr id="25626" name="Line 66"/>
            <p:cNvSpPr>
              <a:spLocks noChangeShapeType="1"/>
            </p:cNvSpPr>
            <p:nvPr/>
          </p:nvSpPr>
          <p:spPr bwMode="auto">
            <a:xfrm>
              <a:off x="5587572" y="4944963"/>
              <a:ext cx="1793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80" name="CuadroTexto 79"/>
          <p:cNvSpPr txBox="1">
            <a:spLocks noChangeArrowheads="1"/>
          </p:cNvSpPr>
          <p:nvPr/>
        </p:nvSpPr>
        <p:spPr bwMode="auto">
          <a:xfrm>
            <a:off x="2705702" y="5041370"/>
            <a:ext cx="8691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 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100" name="Text Box 70"/>
          <p:cNvSpPr txBox="1">
            <a:spLocks noChangeArrowheads="1"/>
          </p:cNvSpPr>
          <p:nvPr/>
        </p:nvSpPr>
        <p:spPr bwMode="auto">
          <a:xfrm>
            <a:off x="5954770" y="5171020"/>
            <a:ext cx="4108450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interacción del sistema sería nula con una q en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23" name="Text Box 100"/>
          <p:cNvSpPr txBox="1">
            <a:spLocks noChangeArrowheads="1"/>
          </p:cNvSpPr>
          <p:nvPr/>
        </p:nvSpPr>
        <p:spPr bwMode="auto">
          <a:xfrm>
            <a:off x="2327460" y="6361833"/>
            <a:ext cx="5939366" cy="463846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Ya que V también la caracteriza, se toma: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954770" y="1265758"/>
            <a:ext cx="410845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400" dirty="0"/>
              <a:t>¿Qué punto y valor tomar como referencia?</a:t>
            </a:r>
          </a:p>
        </p:txBody>
      </p:sp>
      <p:grpSp>
        <p:nvGrpSpPr>
          <p:cNvPr id="53" name="Group 19"/>
          <p:cNvGrpSpPr>
            <a:grpSpLocks/>
          </p:cNvGrpSpPr>
          <p:nvPr/>
        </p:nvGrpSpPr>
        <p:grpSpPr bwMode="auto">
          <a:xfrm>
            <a:off x="8266412" y="6298340"/>
            <a:ext cx="2128837" cy="588963"/>
            <a:chOff x="1556" y="1041"/>
            <a:chExt cx="1341" cy="371"/>
          </a:xfrm>
        </p:grpSpPr>
        <p:sp>
          <p:nvSpPr>
            <p:cNvPr id="54" name="Rectangle 75"/>
            <p:cNvSpPr>
              <a:spLocks noChangeArrowheads="1"/>
            </p:cNvSpPr>
            <p:nvPr/>
          </p:nvSpPr>
          <p:spPr bwMode="auto">
            <a:xfrm>
              <a:off x="1556" y="1041"/>
              <a:ext cx="1341" cy="37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5621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2042948"/>
                </p:ext>
              </p:extLst>
            </p:nvPr>
          </p:nvGraphicFramePr>
          <p:xfrm>
            <a:off x="1582" y="1051"/>
            <a:ext cx="128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838200" imgH="228600" progId="Equation.3">
                    <p:embed/>
                  </p:oleObj>
                </mc:Choice>
                <mc:Fallback>
                  <p:oleObj name="Ecuación" r:id="rId8" imgW="838200" imgH="22860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2" y="1051"/>
                          <a:ext cx="128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Text Box 65"/>
          <p:cNvSpPr txBox="1">
            <a:spLocks noChangeArrowheads="1"/>
          </p:cNvSpPr>
          <p:nvPr/>
        </p:nvSpPr>
        <p:spPr bwMode="auto">
          <a:xfrm>
            <a:off x="5829667" y="3787329"/>
            <a:ext cx="257975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puntual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: Si r </a:t>
            </a:r>
            <a:r>
              <a:rPr lang="es-ES" sz="2400">
                <a:sym typeface="Symbol" panose="05050102010706020507" pitchFamily="18" charset="2"/>
              </a:rPr>
              <a:t> 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" name="Text Box 65"/>
          <p:cNvSpPr txBox="1">
            <a:spLocks noChangeArrowheads="1"/>
          </p:cNvSpPr>
          <p:nvPr/>
        </p:nvSpPr>
        <p:spPr bwMode="auto">
          <a:xfrm>
            <a:off x="6459579" y="4322707"/>
            <a:ext cx="181135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q en</a:t>
            </a:r>
            <a:r>
              <a:rPr lang="es-ES" sz="2400">
                <a:sym typeface="Symbol" panose="05050102010706020507" pitchFamily="18" charset="2"/>
              </a:rPr>
              <a:t> 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5647" grpId="0"/>
      <p:bldP spid="51" grpId="0"/>
      <p:bldP spid="25642" grpId="0"/>
      <p:bldP spid="80" grpId="0"/>
      <p:bldP spid="100" grpId="0" animBg="1"/>
      <p:bldP spid="25623" grpId="0"/>
      <p:bldP spid="2" grpId="0" animBg="1"/>
      <p:bldP spid="47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9" name="Group 45"/>
          <p:cNvGrpSpPr>
            <a:grpSpLocks/>
          </p:cNvGrpSpPr>
          <p:nvPr/>
        </p:nvGrpSpPr>
        <p:grpSpPr bwMode="auto">
          <a:xfrm>
            <a:off x="7224852" y="5185032"/>
            <a:ext cx="2117725" cy="1179512"/>
            <a:chOff x="4935" y="3246"/>
            <a:chExt cx="1334" cy="743"/>
          </a:xfrm>
        </p:grpSpPr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4935" y="3246"/>
              <a:ext cx="1334" cy="74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7682" name="Object 11"/>
            <p:cNvGraphicFramePr>
              <a:graphicFrameLocks noChangeAspect="1"/>
            </p:cNvGraphicFramePr>
            <p:nvPr/>
          </p:nvGraphicFramePr>
          <p:xfrm>
            <a:off x="5056" y="3288"/>
            <a:ext cx="1085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723586" imgH="444307" progId="Equation.3">
                    <p:embed/>
                  </p:oleObj>
                </mc:Choice>
                <mc:Fallback>
                  <p:oleObj name="Ecuación" r:id="rId3" imgW="723586" imgH="444307" progId="Equation.3">
                    <p:embed/>
                    <p:pic>
                      <p:nvPicPr>
                        <p:cNvPr id="2768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6" y="3288"/>
                          <a:ext cx="1085" cy="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75" name="Text Box 10"/>
          <p:cNvSpPr txBox="1">
            <a:spLocks noChangeArrowheads="1"/>
          </p:cNvSpPr>
          <p:nvPr/>
        </p:nvSpPr>
        <p:spPr bwMode="auto">
          <a:xfrm>
            <a:off x="4824856" y="599378"/>
            <a:ext cx="1861862" cy="83317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CARGA </a:t>
            </a:r>
            <a:r>
              <a:rPr lang="es-ES" sz="2400" b="1" dirty="0">
                <a:latin typeface="Arial" panose="020B0604020202020204" pitchFamily="34" charset="0"/>
              </a:rPr>
              <a:t>PUNTUAL</a:t>
            </a:r>
          </a:p>
        </p:txBody>
      </p:sp>
      <p:sp>
        <p:nvSpPr>
          <p:cNvPr id="27676" name="CuadroTexto 1"/>
          <p:cNvSpPr txBox="1">
            <a:spLocks noChangeArrowheads="1"/>
          </p:cNvSpPr>
          <p:nvPr/>
        </p:nvSpPr>
        <p:spPr bwMode="auto">
          <a:xfrm>
            <a:off x="1496060" y="585341"/>
            <a:ext cx="2531680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Sistema no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</a:p>
          <a:p>
            <a:pPr algn="ctr"/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más simple</a:t>
            </a:r>
            <a:endParaRPr lang="es-E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74" name="Object 61"/>
              <p:cNvSpPr txBox="1"/>
              <p:nvPr/>
            </p:nvSpPr>
            <p:spPr bwMode="auto">
              <a:xfrm>
                <a:off x="6638650" y="1873202"/>
                <a:ext cx="3076575" cy="1353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E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s-ES" sz="28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s-E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s-E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27674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8650" y="1873202"/>
                <a:ext cx="3076575" cy="13530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101"/>
          <p:cNvGrpSpPr>
            <a:grpSpLocks/>
          </p:cNvGrpSpPr>
          <p:nvPr/>
        </p:nvGrpSpPr>
        <p:grpSpPr bwMode="auto">
          <a:xfrm>
            <a:off x="7364137" y="1967889"/>
            <a:ext cx="736600" cy="929263"/>
            <a:chOff x="4727" y="2282"/>
            <a:chExt cx="464" cy="644"/>
          </a:xfrm>
        </p:grpSpPr>
        <p:sp>
          <p:nvSpPr>
            <p:cNvPr id="27666" name="Line 102"/>
            <p:cNvSpPr>
              <a:spLocks noChangeShapeType="1"/>
            </p:cNvSpPr>
            <p:nvPr/>
          </p:nvSpPr>
          <p:spPr bwMode="auto">
            <a:xfrm flipV="1">
              <a:off x="4727" y="2524"/>
              <a:ext cx="267" cy="40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7667" name="Text Box 103"/>
            <p:cNvSpPr txBox="1">
              <a:spLocks noChangeArrowheads="1"/>
            </p:cNvSpPr>
            <p:nvPr/>
          </p:nvSpPr>
          <p:spPr bwMode="auto">
            <a:xfrm>
              <a:off x="4968" y="2282"/>
              <a:ext cx="223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32" name="AutoShape 24">
            <a:extLst>
              <a:ext uri="{FF2B5EF4-FFF2-40B4-BE49-F238E27FC236}">
                <a16:creationId xmlns:a16="http://schemas.microsoft.com/office/drawing/2014/main" id="{89289038-944B-43FD-B753-D3F86B271C9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255643" y="863650"/>
            <a:ext cx="341313" cy="395288"/>
          </a:xfrm>
          <a:prstGeom prst="leftArrow">
            <a:avLst>
              <a:gd name="adj1" fmla="val 50000"/>
              <a:gd name="adj2" fmla="val 5720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" name="Text Box 103">
            <a:extLst>
              <a:ext uri="{FF2B5EF4-FFF2-40B4-BE49-F238E27FC236}">
                <a16:creationId xmlns:a16="http://schemas.microsoft.com/office/drawing/2014/main" id="{1B05D73E-E7F5-47D2-AC0B-6A69E017C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7676" y="3601598"/>
            <a:ext cx="3770554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Ir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 un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punto es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ir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cierta r,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a cierta distancia de Q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02794FD-6801-6487-F41C-6360DC901339}"/>
              </a:ext>
            </a:extLst>
          </p:cNvPr>
          <p:cNvGrpSpPr/>
          <p:nvPr/>
        </p:nvGrpSpPr>
        <p:grpSpPr>
          <a:xfrm>
            <a:off x="1510439" y="2155582"/>
            <a:ext cx="3651203" cy="861975"/>
            <a:chOff x="1516697" y="1220808"/>
            <a:chExt cx="3651203" cy="861975"/>
          </a:xfrm>
        </p:grpSpPr>
        <p:sp>
          <p:nvSpPr>
            <p:cNvPr id="12" name="Rectangle 75">
              <a:extLst>
                <a:ext uri="{FF2B5EF4-FFF2-40B4-BE49-F238E27FC236}">
                  <a16:creationId xmlns:a16="http://schemas.microsoft.com/office/drawing/2014/main" id="{F98FBE3B-DAB1-2D09-5399-F4BB2F320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697" y="1220808"/>
              <a:ext cx="3651203" cy="8619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3" name="Object 37">
              <a:extLst>
                <a:ext uri="{FF2B5EF4-FFF2-40B4-BE49-F238E27FC236}">
                  <a16:creationId xmlns:a16="http://schemas.microsoft.com/office/drawing/2014/main" id="{E69A3F58-8367-9AFA-ECF9-B13CFD2270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484586"/>
                </p:ext>
              </p:extLst>
            </p:nvPr>
          </p:nvGraphicFramePr>
          <p:xfrm>
            <a:off x="1635769" y="1287240"/>
            <a:ext cx="3423002" cy="703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295280" imgH="266400" progId="Equation.3">
                    <p:embed/>
                  </p:oleObj>
                </mc:Choice>
                <mc:Fallback>
                  <p:oleObj name="Ecuación" r:id="rId6" imgW="1295280" imgH="266400" progId="Equation.3">
                    <p:embed/>
                    <p:pic>
                      <p:nvPicPr>
                        <p:cNvPr id="46" name="Object 37">
                          <a:extLst>
                            <a:ext uri="{FF2B5EF4-FFF2-40B4-BE49-F238E27FC236}">
                              <a16:creationId xmlns:a16="http://schemas.microsoft.com/office/drawing/2014/main" id="{A493DEED-8B44-4A89-9DF0-7F5519F677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5769" y="1287240"/>
                          <a:ext cx="3423002" cy="703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AutoShape 24">
            <a:extLst>
              <a:ext uri="{FF2B5EF4-FFF2-40B4-BE49-F238E27FC236}">
                <a16:creationId xmlns:a16="http://schemas.microsoft.com/office/drawing/2014/main" id="{6D22A6CE-129B-A133-FFA0-84EBD255226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633716" y="2362363"/>
            <a:ext cx="341313" cy="395288"/>
          </a:xfrm>
          <a:prstGeom prst="leftArrow">
            <a:avLst>
              <a:gd name="adj1" fmla="val 50000"/>
              <a:gd name="adj2" fmla="val 5720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4EE5E287-0CFA-A34E-3509-B37B9705EABF}"/>
              </a:ext>
            </a:extLst>
          </p:cNvPr>
          <p:cNvSpPr/>
          <p:nvPr/>
        </p:nvSpPr>
        <p:spPr bwMode="auto">
          <a:xfrm>
            <a:off x="8856324" y="1913231"/>
            <a:ext cx="1231052" cy="1477241"/>
          </a:xfrm>
          <a:custGeom>
            <a:avLst/>
            <a:gdLst>
              <a:gd name="connsiteX0" fmla="*/ 1130157 w 1231052"/>
              <a:gd name="connsiteY0" fmla="*/ 1477241 h 1477241"/>
              <a:gd name="connsiteX1" fmla="*/ 1119883 w 1231052"/>
              <a:gd name="connsiteY1" fmla="*/ 192971 h 1477241"/>
              <a:gd name="connsiteX2" fmla="*/ 0 w 1231052"/>
              <a:gd name="connsiteY2" fmla="*/ 28585 h 1477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1052" h="1477241">
                <a:moveTo>
                  <a:pt x="1130157" y="1477241"/>
                </a:moveTo>
                <a:cubicBezTo>
                  <a:pt x="1219199" y="955827"/>
                  <a:pt x="1308242" y="434414"/>
                  <a:pt x="1119883" y="192971"/>
                </a:cubicBezTo>
                <a:cubicBezTo>
                  <a:pt x="931524" y="-48472"/>
                  <a:pt x="465762" y="-9944"/>
                  <a:pt x="0" y="28585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" name="Text Box 103">
            <a:extLst>
              <a:ext uri="{FF2B5EF4-FFF2-40B4-BE49-F238E27FC236}">
                <a16:creationId xmlns:a16="http://schemas.microsoft.com/office/drawing/2014/main" id="{4248699A-E563-C5B7-80C6-0A4FA7E1A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875" y="5097876"/>
            <a:ext cx="482884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Sustituyendo el campo que crea una Q puntual y evaluando: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5" grpId="0" animBg="1"/>
      <p:bldP spid="27676" grpId="0" animBg="1"/>
      <p:bldP spid="27674" grpId="0"/>
      <p:bldP spid="32" grpId="0" animBg="1"/>
      <p:bldP spid="3" grpId="0"/>
      <p:bldP spid="14" grpId="0" animBg="1"/>
      <p:bldP spid="15" grpId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59" name="Text Box 27"/>
          <p:cNvSpPr txBox="1">
            <a:spLocks noChangeArrowheads="1"/>
          </p:cNvSpPr>
          <p:nvPr/>
        </p:nvSpPr>
        <p:spPr bwMode="auto">
          <a:xfrm>
            <a:off x="4609238" y="2296014"/>
            <a:ext cx="124134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V  Q</a:t>
            </a:r>
          </a:p>
        </p:txBody>
      </p:sp>
      <p:sp>
        <p:nvSpPr>
          <p:cNvPr id="223260" name="Text Box 28"/>
          <p:cNvSpPr txBox="1">
            <a:spLocks noChangeArrowheads="1"/>
          </p:cNvSpPr>
          <p:nvPr/>
        </p:nvSpPr>
        <p:spPr bwMode="auto">
          <a:xfrm>
            <a:off x="4604476" y="2773060"/>
            <a:ext cx="1361568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V  1/r</a:t>
            </a:r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6472330" y="2795285"/>
            <a:ext cx="1898574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 2  V / 2</a:t>
            </a:r>
          </a:p>
        </p:txBody>
      </p:sp>
      <p:grpSp>
        <p:nvGrpSpPr>
          <p:cNvPr id="29701" name="Group 45"/>
          <p:cNvGrpSpPr>
            <a:grpSpLocks/>
          </p:cNvGrpSpPr>
          <p:nvPr/>
        </p:nvGrpSpPr>
        <p:grpSpPr bwMode="auto">
          <a:xfrm>
            <a:off x="1511196" y="513715"/>
            <a:ext cx="2857501" cy="1847850"/>
            <a:chOff x="4661" y="2825"/>
            <a:chExt cx="1800" cy="1164"/>
          </a:xfrm>
        </p:grpSpPr>
        <p:sp>
          <p:nvSpPr>
            <p:cNvPr id="29726" name="Rectangle 9"/>
            <p:cNvSpPr>
              <a:spLocks noChangeArrowheads="1"/>
            </p:cNvSpPr>
            <p:nvPr/>
          </p:nvSpPr>
          <p:spPr bwMode="auto">
            <a:xfrm>
              <a:off x="4923" y="3246"/>
              <a:ext cx="1334" cy="74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9727" name="Object 11"/>
            <p:cNvGraphicFramePr>
              <a:graphicFrameLocks noChangeAspect="1"/>
            </p:cNvGraphicFramePr>
            <p:nvPr/>
          </p:nvGraphicFramePr>
          <p:xfrm>
            <a:off x="5056" y="3288"/>
            <a:ext cx="1085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723586" imgH="444307" progId="Equation.3">
                    <p:embed/>
                  </p:oleObj>
                </mc:Choice>
                <mc:Fallback>
                  <p:oleObj name="Ecuación" r:id="rId3" imgW="723586" imgH="444307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6" y="3288"/>
                          <a:ext cx="1085" cy="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8" name="Text Box 10"/>
            <p:cNvSpPr txBox="1">
              <a:spLocks noChangeArrowheads="1"/>
            </p:cNvSpPr>
            <p:nvPr/>
          </p:nvSpPr>
          <p:spPr bwMode="auto">
            <a:xfrm>
              <a:off x="4661" y="2825"/>
              <a:ext cx="1800" cy="292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CARGA </a:t>
              </a:r>
              <a:r>
                <a:rPr lang="es-ES" sz="2400" b="1">
                  <a:latin typeface="Arial" panose="020B0604020202020204" pitchFamily="34" charset="0"/>
                </a:rPr>
                <a:t>PUNTUAL</a:t>
              </a:r>
            </a:p>
          </p:txBody>
        </p:sp>
      </p:grp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6402009" y="2276462"/>
            <a:ext cx="211017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Q 2  V  2</a:t>
            </a:r>
          </a:p>
        </p:txBody>
      </p:sp>
      <p:grpSp>
        <p:nvGrpSpPr>
          <p:cNvPr id="79908" name="Group 36"/>
          <p:cNvGrpSpPr>
            <a:grpSpLocks/>
          </p:cNvGrpSpPr>
          <p:nvPr/>
        </p:nvGrpSpPr>
        <p:grpSpPr bwMode="auto">
          <a:xfrm>
            <a:off x="4594944" y="3309685"/>
            <a:ext cx="5713406" cy="536575"/>
            <a:chOff x="3757" y="2086"/>
            <a:chExt cx="3599" cy="338"/>
          </a:xfrm>
        </p:grpSpPr>
        <p:sp>
          <p:nvSpPr>
            <p:cNvPr id="29724" name="Text Box 30"/>
            <p:cNvSpPr txBox="1">
              <a:spLocks noChangeArrowheads="1"/>
            </p:cNvSpPr>
            <p:nvPr/>
          </p:nvSpPr>
          <p:spPr bwMode="auto">
            <a:xfrm>
              <a:off x="3757" y="2086"/>
              <a:ext cx="966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V  V(q)</a:t>
              </a:r>
            </a:p>
          </p:txBody>
        </p:sp>
        <p:sp>
          <p:nvSpPr>
            <p:cNvPr id="29725" name="Text Box 38"/>
            <p:cNvSpPr txBox="1">
              <a:spLocks noChangeArrowheads="1"/>
            </p:cNvSpPr>
            <p:nvPr/>
          </p:nvSpPr>
          <p:spPr bwMode="auto">
            <a:xfrm>
              <a:off x="4886" y="2121"/>
              <a:ext cx="24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3333FF"/>
                  </a:solidFill>
                </a:rPr>
                <a:t>No </a:t>
              </a:r>
              <a:r>
                <a:rPr lang="es-ES" sz="2400" dirty="0">
                  <a:solidFill>
                    <a:srgbClr val="3333FF"/>
                  </a:solidFill>
                </a:rPr>
                <a:t>depende de q (como </a:t>
              </a:r>
              <a:r>
                <a:rPr lang="es-ES" sz="2400" b="1" dirty="0">
                  <a:solidFill>
                    <a:srgbClr val="3333FF"/>
                  </a:solidFill>
                </a:rPr>
                <a:t>E</a:t>
              </a:r>
              <a:r>
                <a:rPr lang="es-ES" sz="2400" dirty="0">
                  <a:solidFill>
                    <a:srgbClr val="3333FF"/>
                  </a:solidFill>
                </a:rPr>
                <a:t>)</a:t>
              </a:r>
              <a:endParaRPr lang="es-ES" sz="2400" b="1" dirty="0">
                <a:solidFill>
                  <a:srgbClr val="3333FF"/>
                </a:solidFill>
              </a:endParaRPr>
            </a:p>
          </p:txBody>
        </p:sp>
      </p:grpSp>
      <p:sp>
        <p:nvSpPr>
          <p:cNvPr id="79911" name="Text Box 39"/>
          <p:cNvSpPr txBox="1">
            <a:spLocks noChangeArrowheads="1"/>
          </p:cNvSpPr>
          <p:nvPr/>
        </p:nvSpPr>
        <p:spPr bwMode="auto">
          <a:xfrm>
            <a:off x="1824725" y="2590514"/>
            <a:ext cx="2264396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(es un número, un escalar)</a:t>
            </a:r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 flipV="1">
            <a:off x="2201761" y="3852166"/>
            <a:ext cx="1616075" cy="381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82800" rIns="90000" bIns="82800"/>
          <a:lstStyle/>
          <a:p>
            <a:endParaRPr lang="en-GB"/>
          </a:p>
        </p:txBody>
      </p:sp>
      <p:pic>
        <p:nvPicPr>
          <p:cNvPr id="29707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211" y="3998216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2600223" y="3587054"/>
            <a:ext cx="3000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</a:p>
        </p:txBody>
      </p:sp>
      <p:sp>
        <p:nvSpPr>
          <p:cNvPr id="29709" name="Text Box 23"/>
          <p:cNvSpPr txBox="1">
            <a:spLocks noChangeArrowheads="1"/>
          </p:cNvSpPr>
          <p:nvPr/>
        </p:nvSpPr>
        <p:spPr bwMode="auto">
          <a:xfrm>
            <a:off x="1741386" y="3514029"/>
            <a:ext cx="4175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917191" y="4853806"/>
            <a:ext cx="2117725" cy="1306513"/>
            <a:chOff x="2451101" y="5326546"/>
            <a:chExt cx="2117725" cy="1306513"/>
          </a:xfrm>
        </p:grpSpPr>
        <p:sp>
          <p:nvSpPr>
            <p:cNvPr id="29722" name="Rectangle 63"/>
            <p:cNvSpPr>
              <a:spLocks noChangeArrowheads="1"/>
            </p:cNvSpPr>
            <p:nvPr/>
          </p:nvSpPr>
          <p:spPr bwMode="auto">
            <a:xfrm>
              <a:off x="2451101" y="5326546"/>
              <a:ext cx="2117725" cy="130651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9723" name="Object 62"/>
            <p:cNvGraphicFramePr>
              <a:graphicFrameLocks noChangeAspect="1"/>
            </p:cNvGraphicFramePr>
            <p:nvPr/>
          </p:nvGraphicFramePr>
          <p:xfrm>
            <a:off x="2563813" y="5467834"/>
            <a:ext cx="1874838" cy="1020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723586" imgH="393529" progId="Equation.3">
                    <p:embed/>
                  </p:oleObj>
                </mc:Choice>
                <mc:Fallback>
                  <p:oleObj name="Ecuación" r:id="rId6" imgW="723586" imgH="393529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813" y="5467834"/>
                          <a:ext cx="1874838" cy="1020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9711" name="Picture 1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98" y="3652141"/>
            <a:ext cx="439738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2" name="Text Box 143"/>
          <p:cNvSpPr txBox="1">
            <a:spLocks noChangeArrowheads="1"/>
          </p:cNvSpPr>
          <p:nvPr/>
        </p:nvSpPr>
        <p:spPr bwMode="auto">
          <a:xfrm>
            <a:off x="3625748" y="3926779"/>
            <a:ext cx="3667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q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BE0FC15-0DDA-441C-8F4D-3EAE06584C97}"/>
              </a:ext>
            </a:extLst>
          </p:cNvPr>
          <p:cNvGrpSpPr/>
          <p:nvPr/>
        </p:nvGrpSpPr>
        <p:grpSpPr>
          <a:xfrm>
            <a:off x="4741000" y="4129501"/>
            <a:ext cx="1616712" cy="1638459"/>
            <a:chOff x="4867120" y="4160323"/>
            <a:chExt cx="1616712" cy="1638459"/>
          </a:xfrm>
        </p:grpSpPr>
        <p:grpSp>
          <p:nvGrpSpPr>
            <p:cNvPr id="29714" name="Group 45"/>
            <p:cNvGrpSpPr>
              <a:grpSpLocks/>
            </p:cNvGrpSpPr>
            <p:nvPr/>
          </p:nvGrpSpPr>
          <p:grpSpPr bwMode="auto">
            <a:xfrm>
              <a:off x="4867120" y="4160323"/>
              <a:ext cx="1592265" cy="731481"/>
              <a:chOff x="5089" y="3363"/>
              <a:chExt cx="1003" cy="461"/>
            </a:xfrm>
          </p:grpSpPr>
          <p:sp>
            <p:nvSpPr>
              <p:cNvPr id="29720" name="Rectangle 9"/>
              <p:cNvSpPr>
                <a:spLocks noChangeArrowheads="1"/>
              </p:cNvSpPr>
              <p:nvPr/>
            </p:nvSpPr>
            <p:spPr bwMode="auto">
              <a:xfrm>
                <a:off x="5089" y="3363"/>
                <a:ext cx="1003" cy="461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9721" name="Object 11"/>
              <p:cNvGraphicFramePr>
                <a:graphicFrameLocks noChangeAspect="1"/>
              </p:cNvGraphicFramePr>
              <p:nvPr/>
            </p:nvGraphicFramePr>
            <p:xfrm>
              <a:off x="5180" y="3419"/>
              <a:ext cx="837" cy="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558800" imgH="228600" progId="Equation.3">
                      <p:embed/>
                    </p:oleObj>
                  </mc:Choice>
                  <mc:Fallback>
                    <p:oleObj name="Ecuación" r:id="rId8" imgW="558800" imgH="2286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80" y="3419"/>
                            <a:ext cx="837" cy="3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715" name="Group 45"/>
            <p:cNvGrpSpPr>
              <a:grpSpLocks/>
            </p:cNvGrpSpPr>
            <p:nvPr/>
          </p:nvGrpSpPr>
          <p:grpSpPr bwMode="auto">
            <a:xfrm>
              <a:off x="4891567" y="5067301"/>
              <a:ext cx="1592265" cy="731481"/>
              <a:chOff x="5089" y="3153"/>
              <a:chExt cx="1003" cy="461"/>
            </a:xfrm>
          </p:grpSpPr>
          <p:sp>
            <p:nvSpPr>
              <p:cNvPr id="29718" name="Rectangle 9"/>
              <p:cNvSpPr>
                <a:spLocks noChangeArrowheads="1"/>
              </p:cNvSpPr>
              <p:nvPr/>
            </p:nvSpPr>
            <p:spPr bwMode="auto">
              <a:xfrm>
                <a:off x="5089" y="3153"/>
                <a:ext cx="1003" cy="461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9719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0227202"/>
                  </p:ext>
                </p:extLst>
              </p:nvPr>
            </p:nvGraphicFramePr>
            <p:xfrm>
              <a:off x="5256" y="3200"/>
              <a:ext cx="685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457200" imgH="241300" progId="Equation.3">
                      <p:embed/>
                    </p:oleObj>
                  </mc:Choice>
                  <mc:Fallback>
                    <p:oleObj name="Ecuación" r:id="rId10" imgW="457200" imgH="2413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6" y="3200"/>
                            <a:ext cx="685" cy="3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B8D34ACC-E699-4B8B-9F0C-AA2E86C0BF26}"/>
              </a:ext>
            </a:extLst>
          </p:cNvPr>
          <p:cNvGrpSpPr/>
          <p:nvPr/>
        </p:nvGrpSpPr>
        <p:grpSpPr>
          <a:xfrm>
            <a:off x="6636790" y="4133645"/>
            <a:ext cx="2997539" cy="1615068"/>
            <a:chOff x="6762910" y="4164467"/>
            <a:chExt cx="2997539" cy="1615068"/>
          </a:xfrm>
        </p:grpSpPr>
        <p:sp>
          <p:nvSpPr>
            <p:cNvPr id="29716" name="Cerrar llave 1"/>
            <p:cNvSpPr>
              <a:spLocks/>
            </p:cNvSpPr>
            <p:nvPr/>
          </p:nvSpPr>
          <p:spPr bwMode="auto">
            <a:xfrm>
              <a:off x="6762910" y="4164467"/>
              <a:ext cx="223520" cy="1615068"/>
            </a:xfrm>
            <a:prstGeom prst="rightBrace">
              <a:avLst>
                <a:gd name="adj1" fmla="val 8342"/>
                <a:gd name="adj2" fmla="val 50000"/>
              </a:avLst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9717" name="Text Box 38"/>
            <p:cNvSpPr txBox="1">
              <a:spLocks noChangeArrowheads="1"/>
            </p:cNvSpPr>
            <p:nvPr/>
          </p:nvSpPr>
          <p:spPr bwMode="auto">
            <a:xfrm>
              <a:off x="7095491" y="4759600"/>
              <a:ext cx="26649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3333FF"/>
                  </a:solidFill>
                </a:rPr>
                <a:t>Sí dependen de q</a:t>
              </a:r>
              <a:endParaRPr lang="es-ES" sz="2400" b="1" dirty="0">
                <a:solidFill>
                  <a:srgbClr val="3333FF"/>
                </a:solidFill>
              </a:endParaRPr>
            </a:p>
          </p:txBody>
        </p:sp>
      </p:grpSp>
      <p:sp>
        <p:nvSpPr>
          <p:cNvPr id="32" name="Text Box 42"/>
          <p:cNvSpPr txBox="1">
            <a:spLocks noChangeArrowheads="1"/>
          </p:cNvSpPr>
          <p:nvPr/>
        </p:nvSpPr>
        <p:spPr bwMode="auto">
          <a:xfrm>
            <a:off x="4603676" y="6006863"/>
            <a:ext cx="5833101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Como V se obtiene a partir de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también verifica el </a:t>
            </a:r>
            <a:r>
              <a:rPr lang="es-ES" sz="2400" dirty="0" err="1">
                <a:solidFill>
                  <a:srgbClr val="3333FF"/>
                </a:solidFill>
              </a:rPr>
              <a:t>Ppo</a:t>
            </a:r>
            <a:r>
              <a:rPr lang="es-ES" sz="2400" dirty="0">
                <a:solidFill>
                  <a:srgbClr val="3333FF"/>
                </a:solidFill>
              </a:rPr>
              <a:t>. de Superposición</a:t>
            </a: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6398817" y="1068539"/>
            <a:ext cx="213261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Q= 0  V = 0</a:t>
            </a:r>
          </a:p>
        </p:txBody>
      </p: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4586993" y="1058692"/>
            <a:ext cx="1491412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V = f(Q)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B91B7B2D-7974-46D4-AB05-692FCAE38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246" y="1785951"/>
            <a:ext cx="49120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u="sng" dirty="0">
                <a:solidFill>
                  <a:schemeClr val="tx1"/>
                </a:solidFill>
              </a:rPr>
              <a:t>Si el medio es ideal (K</a:t>
            </a:r>
            <a:r>
              <a:rPr lang="es-ES" sz="2400" u="sng" dirty="0">
                <a:solidFill>
                  <a:schemeClr val="tx1"/>
                </a:solidFill>
                <a:sym typeface="Symbol" panose="05050102010706020507" pitchFamily="18" charset="2"/>
              </a:rPr>
              <a:t>K</a:t>
            </a:r>
            <a:r>
              <a:rPr lang="es-ES" sz="2400" u="sng" dirty="0">
                <a:solidFill>
                  <a:schemeClr val="tx1"/>
                </a:solidFill>
              </a:rPr>
              <a:t>(</a:t>
            </a:r>
            <a:r>
              <a:rPr lang="es-ES" sz="2400" u="sng" err="1">
                <a:solidFill>
                  <a:schemeClr val="tx1"/>
                </a:solidFill>
              </a:rPr>
              <a:t>Q</a:t>
            </a:r>
            <a:r>
              <a:rPr lang="es-ES" sz="2400" u="sng">
                <a:solidFill>
                  <a:schemeClr val="tx1"/>
                </a:solidFill>
              </a:rPr>
              <a:t>,q,</a:t>
            </a:r>
            <a:r>
              <a:rPr lang="es-ES" sz="2400" b="1" u="sng">
                <a:solidFill>
                  <a:schemeClr val="tx1"/>
                </a:solidFill>
              </a:rPr>
              <a:t>r</a:t>
            </a:r>
            <a:r>
              <a:rPr lang="es-ES" sz="2400" u="sng" dirty="0">
                <a:solidFill>
                  <a:schemeClr val="tx1"/>
                </a:solidFill>
              </a:rPr>
              <a:t>))</a:t>
            </a:r>
            <a:r>
              <a:rPr lang="es-ES" sz="2400" dirty="0">
                <a:solidFill>
                  <a:schemeClr val="tx1"/>
                </a:solidFill>
              </a:rPr>
              <a:t>:</a:t>
            </a:r>
            <a:endParaRPr lang="es-ES" sz="2400" b="1" dirty="0">
              <a:solidFill>
                <a:schemeClr val="tx1"/>
              </a:solidFill>
            </a:endParaRPr>
          </a:p>
        </p:txBody>
      </p:sp>
      <p:sp>
        <p:nvSpPr>
          <p:cNvPr id="36" name="Text Box 39">
            <a:extLst>
              <a:ext uri="{FF2B5EF4-FFF2-40B4-BE49-F238E27FC236}">
                <a16:creationId xmlns:a16="http://schemas.microsoft.com/office/drawing/2014/main" id="{0AC4F594-9BE5-4E41-BF34-C4096223C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451" y="6238056"/>
            <a:ext cx="226439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(es un vector)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59" grpId="0"/>
      <p:bldP spid="223260" grpId="0"/>
      <p:bldP spid="6" grpId="0"/>
      <p:bldP spid="5" grpId="0"/>
      <p:bldP spid="79911" grpId="0"/>
      <p:bldP spid="32" grpId="0"/>
      <p:bldP spid="33" grpId="0"/>
      <p:bldP spid="34" grpId="0"/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3" name="Text Box 92"/>
          <p:cNvSpPr txBox="1">
            <a:spLocks noChangeArrowheads="1"/>
          </p:cNvSpPr>
          <p:nvPr/>
        </p:nvSpPr>
        <p:spPr bwMode="auto">
          <a:xfrm>
            <a:off x="1319313" y="351003"/>
            <a:ext cx="8942820" cy="55050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s-ES" sz="2400" b="1" dirty="0">
                <a:latin typeface="Arial" panose="020B0604020202020204" pitchFamily="34" charset="0"/>
              </a:rPr>
              <a:t>Potencial debido a distribución de carga sin cargas en el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grpSp>
        <p:nvGrpSpPr>
          <p:cNvPr id="81958" name="Group 38"/>
          <p:cNvGrpSpPr>
            <a:grpSpLocks/>
          </p:cNvGrpSpPr>
          <p:nvPr/>
        </p:nvGrpSpPr>
        <p:grpSpPr bwMode="auto">
          <a:xfrm>
            <a:off x="1492569" y="1388209"/>
            <a:ext cx="2865438" cy="1404941"/>
            <a:chOff x="670" y="1364"/>
            <a:chExt cx="1805" cy="885"/>
          </a:xfrm>
        </p:grpSpPr>
        <p:grpSp>
          <p:nvGrpSpPr>
            <p:cNvPr id="31779" name="Group 39"/>
            <p:cNvGrpSpPr>
              <a:grpSpLocks/>
            </p:cNvGrpSpPr>
            <p:nvPr/>
          </p:nvGrpSpPr>
          <p:grpSpPr bwMode="auto">
            <a:xfrm>
              <a:off x="670" y="1700"/>
              <a:ext cx="1805" cy="549"/>
              <a:chOff x="1318" y="1646"/>
              <a:chExt cx="1805" cy="549"/>
            </a:xfrm>
          </p:grpSpPr>
          <p:sp>
            <p:nvSpPr>
              <p:cNvPr id="3" name="Rectangle 86"/>
              <p:cNvSpPr>
                <a:spLocks noChangeArrowheads="1"/>
              </p:cNvSpPr>
              <p:nvPr/>
            </p:nvSpPr>
            <p:spPr bwMode="auto">
              <a:xfrm>
                <a:off x="1318" y="1646"/>
                <a:ext cx="1805" cy="54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1782" name="Object 8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2308022"/>
                  </p:ext>
                </p:extLst>
              </p:nvPr>
            </p:nvGraphicFramePr>
            <p:xfrm>
              <a:off x="1386" y="1703"/>
              <a:ext cx="1641" cy="4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838080" imgH="228600" progId="Equation.3">
                      <p:embed/>
                    </p:oleObj>
                  </mc:Choice>
                  <mc:Fallback>
                    <p:oleObj name="Ecuación" r:id="rId3" imgW="83808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6" y="1703"/>
                            <a:ext cx="1641" cy="4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80" name="Text Box 42"/>
            <p:cNvSpPr txBox="1">
              <a:spLocks noChangeArrowheads="1"/>
            </p:cNvSpPr>
            <p:nvPr/>
          </p:nvSpPr>
          <p:spPr bwMode="auto">
            <a:xfrm>
              <a:off x="825" y="1364"/>
              <a:ext cx="70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Tomar:</a:t>
              </a:r>
            </a:p>
          </p:txBody>
        </p:sp>
      </p:grpSp>
      <p:grpSp>
        <p:nvGrpSpPr>
          <p:cNvPr id="31773" name="Group 10"/>
          <p:cNvGrpSpPr>
            <a:grpSpLocks/>
          </p:cNvGrpSpPr>
          <p:nvPr/>
        </p:nvGrpSpPr>
        <p:grpSpPr bwMode="auto">
          <a:xfrm>
            <a:off x="6947362" y="3509345"/>
            <a:ext cx="3429075" cy="1632522"/>
            <a:chOff x="661" y="3148"/>
            <a:chExt cx="2160" cy="1028"/>
          </a:xfrm>
        </p:grpSpPr>
        <p:sp>
          <p:nvSpPr>
            <p:cNvPr id="31775" name="Text Box 7"/>
            <p:cNvSpPr txBox="1">
              <a:spLocks noChangeArrowheads="1"/>
            </p:cNvSpPr>
            <p:nvPr/>
          </p:nvSpPr>
          <p:spPr bwMode="auto">
            <a:xfrm>
              <a:off x="661" y="3148"/>
              <a:ext cx="2149" cy="32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Discreta</a:t>
              </a:r>
            </a:p>
          </p:txBody>
        </p:sp>
        <p:grpSp>
          <p:nvGrpSpPr>
            <p:cNvPr id="31776" name="Group 73"/>
            <p:cNvGrpSpPr>
              <a:grpSpLocks/>
            </p:cNvGrpSpPr>
            <p:nvPr/>
          </p:nvGrpSpPr>
          <p:grpSpPr bwMode="auto">
            <a:xfrm>
              <a:off x="661" y="3497"/>
              <a:ext cx="2160" cy="679"/>
              <a:chOff x="558" y="3223"/>
              <a:chExt cx="2160" cy="679"/>
            </a:xfrm>
          </p:grpSpPr>
          <p:sp>
            <p:nvSpPr>
              <p:cNvPr id="31777" name="Rectangle 5"/>
              <p:cNvSpPr>
                <a:spLocks noChangeArrowheads="1"/>
              </p:cNvSpPr>
              <p:nvPr/>
            </p:nvSpPr>
            <p:spPr bwMode="auto">
              <a:xfrm>
                <a:off x="558" y="3223"/>
                <a:ext cx="2160" cy="67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1778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43677737"/>
                  </p:ext>
                </p:extLst>
              </p:nvPr>
            </p:nvGraphicFramePr>
            <p:xfrm>
              <a:off x="765" y="3241"/>
              <a:ext cx="1827" cy="6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5" imgW="1041400" imgH="368300" progId="Equation.3">
                      <p:embed/>
                    </p:oleObj>
                  </mc:Choice>
                  <mc:Fallback>
                    <p:oleObj name="Ecuación" r:id="rId5" imgW="1041400" imgH="368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5" y="3241"/>
                            <a:ext cx="1827" cy="6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1759" name="Group 5"/>
          <p:cNvGrpSpPr>
            <a:grpSpLocks/>
          </p:cNvGrpSpPr>
          <p:nvPr/>
        </p:nvGrpSpPr>
        <p:grpSpPr bwMode="auto">
          <a:xfrm>
            <a:off x="6957183" y="5217426"/>
            <a:ext cx="3429414" cy="1646238"/>
            <a:chOff x="2857" y="3210"/>
            <a:chExt cx="2160" cy="1037"/>
          </a:xfrm>
        </p:grpSpPr>
        <p:sp>
          <p:nvSpPr>
            <p:cNvPr id="31761" name="Text Box 8"/>
            <p:cNvSpPr txBox="1">
              <a:spLocks noChangeArrowheads="1"/>
            </p:cNvSpPr>
            <p:nvPr/>
          </p:nvSpPr>
          <p:spPr bwMode="auto">
            <a:xfrm>
              <a:off x="2857" y="3210"/>
              <a:ext cx="2160" cy="324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72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Distribución Continua</a:t>
              </a:r>
            </a:p>
          </p:txBody>
        </p:sp>
        <p:grpSp>
          <p:nvGrpSpPr>
            <p:cNvPr id="31762" name="Group 74"/>
            <p:cNvGrpSpPr>
              <a:grpSpLocks/>
            </p:cNvGrpSpPr>
            <p:nvPr/>
          </p:nvGrpSpPr>
          <p:grpSpPr bwMode="auto">
            <a:xfrm>
              <a:off x="2857" y="3568"/>
              <a:ext cx="2160" cy="679"/>
              <a:chOff x="4376" y="3292"/>
              <a:chExt cx="2160" cy="679"/>
            </a:xfrm>
          </p:grpSpPr>
          <p:sp>
            <p:nvSpPr>
              <p:cNvPr id="31763" name="Rectangle 4"/>
              <p:cNvSpPr>
                <a:spLocks noChangeArrowheads="1"/>
              </p:cNvSpPr>
              <p:nvPr/>
            </p:nvSpPr>
            <p:spPr bwMode="auto">
              <a:xfrm>
                <a:off x="4376" y="3292"/>
                <a:ext cx="2160" cy="67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176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0112521"/>
                  </p:ext>
                </p:extLst>
              </p:nvPr>
            </p:nvGraphicFramePr>
            <p:xfrm>
              <a:off x="4578" y="3348"/>
              <a:ext cx="1746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7" imgW="952087" imgH="330057" progId="Equation.3">
                      <p:embed/>
                    </p:oleObj>
                  </mc:Choice>
                  <mc:Fallback>
                    <p:oleObj name="Ecuación" r:id="rId7" imgW="952087" imgH="3300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8" y="3348"/>
                            <a:ext cx="1746" cy="6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" name="Grupo 10"/>
          <p:cNvGrpSpPr/>
          <p:nvPr/>
        </p:nvGrpSpPr>
        <p:grpSpPr>
          <a:xfrm>
            <a:off x="1480877" y="4080245"/>
            <a:ext cx="1869383" cy="2596617"/>
            <a:chOff x="1480877" y="4088663"/>
            <a:chExt cx="1869383" cy="2596617"/>
          </a:xfrm>
        </p:grpSpPr>
        <p:sp>
          <p:nvSpPr>
            <p:cNvPr id="45" name="Rectangle 55"/>
            <p:cNvSpPr>
              <a:spLocks noChangeArrowheads="1"/>
            </p:cNvSpPr>
            <p:nvPr/>
          </p:nvSpPr>
          <p:spPr bwMode="auto">
            <a:xfrm>
              <a:off x="1480877" y="5520116"/>
              <a:ext cx="1869383" cy="11651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" name="Text Box 6"/>
            <p:cNvSpPr txBox="1">
              <a:spLocks noChangeArrowheads="1"/>
            </p:cNvSpPr>
            <p:nvPr/>
          </p:nvSpPr>
          <p:spPr bwMode="auto">
            <a:xfrm>
              <a:off x="1502094" y="4823857"/>
              <a:ext cx="1848165" cy="58744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144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Q</a:t>
              </a:r>
              <a:r>
                <a:rPr lang="es-ES" sz="2400" b="1" baseline="-25000">
                  <a:latin typeface="Arial" panose="020B0604020202020204" pitchFamily="34" charset="0"/>
                </a:rPr>
                <a:t>PUNTUAL</a:t>
              </a:r>
            </a:p>
          </p:txBody>
        </p:sp>
        <p:graphicFrame>
          <p:nvGraphicFramePr>
            <p:cNvPr id="3178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2818207"/>
                </p:ext>
              </p:extLst>
            </p:nvPr>
          </p:nvGraphicFramePr>
          <p:xfrm>
            <a:off x="1653459" y="5595765"/>
            <a:ext cx="1561516" cy="942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545863" imgH="330057" progId="Equation.3">
                    <p:embed/>
                  </p:oleObj>
                </mc:Choice>
                <mc:Fallback>
                  <p:oleObj name="Ecuación" r:id="rId9" imgW="545863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3459" y="5595765"/>
                          <a:ext cx="1561516" cy="942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1745517" y="4088663"/>
              <a:ext cx="1122272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Tomar:</a:t>
              </a:r>
            </a:p>
          </p:txBody>
        </p:sp>
      </p:grpSp>
      <p:sp>
        <p:nvSpPr>
          <p:cNvPr id="46" name="Line 35"/>
          <p:cNvSpPr>
            <a:spLocks noChangeShapeType="1"/>
          </p:cNvSpPr>
          <p:nvPr/>
        </p:nvSpPr>
        <p:spPr bwMode="auto">
          <a:xfrm rot="16200000">
            <a:off x="3677697" y="4979454"/>
            <a:ext cx="0" cy="4131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3" name="Grupo 12"/>
          <p:cNvGrpSpPr/>
          <p:nvPr/>
        </p:nvGrpSpPr>
        <p:grpSpPr>
          <a:xfrm>
            <a:off x="4051724" y="4088624"/>
            <a:ext cx="2353309" cy="1577035"/>
            <a:chOff x="4081868" y="4058942"/>
            <a:chExt cx="2353309" cy="1577035"/>
          </a:xfrm>
        </p:grpSpPr>
        <p:sp>
          <p:nvSpPr>
            <p:cNvPr id="31785" name="Text Box 27"/>
            <p:cNvSpPr txBox="1">
              <a:spLocks noChangeArrowheads="1"/>
            </p:cNvSpPr>
            <p:nvPr/>
          </p:nvSpPr>
          <p:spPr bwMode="auto">
            <a:xfrm>
              <a:off x="4081868" y="4679204"/>
              <a:ext cx="2353309" cy="956773"/>
            </a:xfrm>
            <a:prstGeom prst="rect">
              <a:avLst/>
            </a:prstGeom>
            <a:solidFill>
              <a:srgbClr val="66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108000" rIns="108000" bIns="108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Arial" panose="020B0604020202020204" pitchFamily="34" charset="0"/>
                </a:rPr>
                <a:t>Principio de 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Arial" panose="020B0604020202020204" pitchFamily="34" charset="0"/>
                </a:rPr>
                <a:t>Superposición</a:t>
              </a:r>
            </a:p>
          </p:txBody>
        </p:sp>
        <p:sp>
          <p:nvSpPr>
            <p:cNvPr id="47" name="Text Box 42"/>
            <p:cNvSpPr txBox="1">
              <a:spLocks noChangeArrowheads="1"/>
            </p:cNvSpPr>
            <p:nvPr/>
          </p:nvSpPr>
          <p:spPr bwMode="auto">
            <a:xfrm>
              <a:off x="4081868" y="4058942"/>
              <a:ext cx="1785595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Y aplicar el:</a:t>
              </a:r>
            </a:p>
          </p:txBody>
        </p:sp>
      </p:grpSp>
      <p:sp>
        <p:nvSpPr>
          <p:cNvPr id="48" name="Text Box 42"/>
          <p:cNvSpPr txBox="1">
            <a:spLocks noChangeArrowheads="1"/>
          </p:cNvSpPr>
          <p:nvPr/>
        </p:nvSpPr>
        <p:spPr bwMode="auto">
          <a:xfrm>
            <a:off x="3503164" y="909707"/>
            <a:ext cx="451788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(2 posibilidades para calcularlo)</a:t>
            </a:r>
          </a:p>
        </p:txBody>
      </p:sp>
      <p:sp>
        <p:nvSpPr>
          <p:cNvPr id="5" name="Abrir llave 4"/>
          <p:cNvSpPr/>
          <p:nvPr/>
        </p:nvSpPr>
        <p:spPr bwMode="auto">
          <a:xfrm>
            <a:off x="6571988" y="3516996"/>
            <a:ext cx="219972" cy="3348000"/>
          </a:xfrm>
          <a:prstGeom prst="leftBrace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58F13E4-0E5B-46C8-8F38-4502525AE1BB}"/>
              </a:ext>
            </a:extLst>
          </p:cNvPr>
          <p:cNvGrpSpPr/>
          <p:nvPr/>
        </p:nvGrpSpPr>
        <p:grpSpPr>
          <a:xfrm>
            <a:off x="4727833" y="1743094"/>
            <a:ext cx="2088000" cy="590886"/>
            <a:chOff x="4727833" y="1743094"/>
            <a:chExt cx="2088000" cy="590886"/>
          </a:xfrm>
        </p:grpSpPr>
        <p:sp>
          <p:nvSpPr>
            <p:cNvPr id="31755" name="Line 35"/>
            <p:cNvSpPr>
              <a:spLocks noChangeShapeType="1"/>
            </p:cNvSpPr>
            <p:nvPr/>
          </p:nvSpPr>
          <p:spPr bwMode="auto">
            <a:xfrm rot="16200000">
              <a:off x="5771833" y="1289980"/>
              <a:ext cx="0" cy="2088000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4922594" y="1743094"/>
              <a:ext cx="1460185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Y aplicar: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4065349E-199D-495B-A968-2687DE2A8F02}"/>
              </a:ext>
            </a:extLst>
          </p:cNvPr>
          <p:cNvGrpSpPr/>
          <p:nvPr/>
        </p:nvGrpSpPr>
        <p:grpSpPr>
          <a:xfrm>
            <a:off x="6947366" y="1888275"/>
            <a:ext cx="2088000" cy="895350"/>
            <a:chOff x="6947366" y="1888275"/>
            <a:chExt cx="2088000" cy="895350"/>
          </a:xfrm>
        </p:grpSpPr>
        <p:sp>
          <p:nvSpPr>
            <p:cNvPr id="31767" name="Rectangle 55"/>
            <p:cNvSpPr>
              <a:spLocks noChangeArrowheads="1"/>
            </p:cNvSpPr>
            <p:nvPr/>
          </p:nvSpPr>
          <p:spPr bwMode="auto">
            <a:xfrm>
              <a:off x="6947366" y="1888275"/>
              <a:ext cx="2088000" cy="89535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5" name="Object 37">
              <a:extLst>
                <a:ext uri="{FF2B5EF4-FFF2-40B4-BE49-F238E27FC236}">
                  <a16:creationId xmlns:a16="http://schemas.microsoft.com/office/drawing/2014/main" id="{D3E5A7E3-5C09-48A4-892F-48D1648037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9232748"/>
                </p:ext>
              </p:extLst>
            </p:nvPr>
          </p:nvGraphicFramePr>
          <p:xfrm>
            <a:off x="7130545" y="2068762"/>
            <a:ext cx="1679575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723600" imgH="241200" progId="Equation.3">
                    <p:embed/>
                  </p:oleObj>
                </mc:Choice>
                <mc:Fallback>
                  <p:oleObj name="Ecuación" r:id="rId11" imgW="723600" imgH="241200" progId="Equation.3">
                    <p:embed/>
                    <p:pic>
                      <p:nvPicPr>
                        <p:cNvPr id="35" name="Object 37">
                          <a:extLst>
                            <a:ext uri="{FF2B5EF4-FFF2-40B4-BE49-F238E27FC236}">
                              <a16:creationId xmlns:a16="http://schemas.microsoft.com/office/drawing/2014/main" id="{7F46E3B2-61EC-4BC9-BEDF-53FFCAAF5D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0545" y="2068762"/>
                          <a:ext cx="1679575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42">
            <a:extLst>
              <a:ext uri="{FF2B5EF4-FFF2-40B4-BE49-F238E27FC236}">
                <a16:creationId xmlns:a16="http://schemas.microsoft.com/office/drawing/2014/main" id="{4F1765E0-AF11-4657-BA8E-261F64F46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587" y="1264950"/>
            <a:ext cx="638614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4000" dirty="0">
                <a:solidFill>
                  <a:schemeClr val="tx1"/>
                </a:solidFill>
                <a:sym typeface="Wingdings" panose="05000000000000000000" pitchFamily="2" charset="2"/>
              </a:rPr>
              <a:t></a:t>
            </a:r>
            <a:endParaRPr lang="es-ES" sz="4000" dirty="0">
              <a:solidFill>
                <a:schemeClr val="tx1"/>
              </a:solidFill>
            </a:endParaRPr>
          </a:p>
        </p:txBody>
      </p:sp>
      <p:sp>
        <p:nvSpPr>
          <p:cNvPr id="37" name="Text Box 42">
            <a:extLst>
              <a:ext uri="{FF2B5EF4-FFF2-40B4-BE49-F238E27FC236}">
                <a16:creationId xmlns:a16="http://schemas.microsoft.com/office/drawing/2014/main" id="{A56FD86B-A322-4BC0-A63F-268ED4095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587" y="3926348"/>
            <a:ext cx="638614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4000" dirty="0">
                <a:solidFill>
                  <a:schemeClr val="tx1"/>
                </a:solidFill>
                <a:sym typeface="Wingdings" panose="05000000000000000000" pitchFamily="2" charset="2"/>
              </a:rPr>
              <a:t></a:t>
            </a:r>
            <a:endParaRPr lang="es-ES" sz="4000" dirty="0">
              <a:solidFill>
                <a:schemeClr val="tx1"/>
              </a:solidFill>
            </a:endParaRPr>
          </a:p>
        </p:txBody>
      </p:sp>
      <p:sp>
        <p:nvSpPr>
          <p:cNvPr id="38" name="Text Box 42">
            <a:extLst>
              <a:ext uri="{FF2B5EF4-FFF2-40B4-BE49-F238E27FC236}">
                <a16:creationId xmlns:a16="http://schemas.microsoft.com/office/drawing/2014/main" id="{92FEC6FE-7303-4474-B555-1186487DE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109" y="2881830"/>
            <a:ext cx="574898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(es lo que hemos hecho con una </a:t>
            </a:r>
            <a:r>
              <a:rPr lang="es-ES" sz="2400" dirty="0" err="1">
                <a:solidFill>
                  <a:srgbClr val="FF0000"/>
                </a:solidFill>
              </a:rPr>
              <a:t>Q</a:t>
            </a:r>
            <a:r>
              <a:rPr lang="es-ES" sz="2400" baseline="-25000" dirty="0" err="1">
                <a:solidFill>
                  <a:srgbClr val="FF0000"/>
                </a:solidFill>
              </a:rPr>
              <a:t>puntual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28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1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3" grpId="0" animBg="1"/>
      <p:bldP spid="46" grpId="0" animBg="1"/>
      <p:bldP spid="48" grpId="0"/>
      <p:bldP spid="5" grpId="0" animBg="1"/>
      <p:bldP spid="36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1336749" y="1208347"/>
            <a:ext cx="894282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u="sng">
                <a:solidFill>
                  <a:schemeClr val="tx1"/>
                </a:solidFill>
              </a:rPr>
              <a:t>Ejs.</a:t>
            </a:r>
            <a:r>
              <a:rPr lang="es-ES" sz="2400">
                <a:solidFill>
                  <a:schemeClr val="tx1"/>
                </a:solidFill>
              </a:rPr>
              <a:t>: </a:t>
            </a:r>
            <a:r>
              <a:rPr lang="es-ES" sz="2400" dirty="0">
                <a:solidFill>
                  <a:schemeClr val="tx1"/>
                </a:solidFill>
              </a:rPr>
              <a:t>un hilo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 recto, </a:t>
            </a:r>
            <a:r>
              <a:rPr lang="es-ES" sz="2400">
                <a:solidFill>
                  <a:schemeClr val="tx1"/>
                </a:solidFill>
              </a:rPr>
              <a:t>o </a:t>
            </a:r>
            <a:r>
              <a:rPr lang="es-ES" sz="2400" dirty="0">
                <a:solidFill>
                  <a:schemeClr val="tx1"/>
                </a:solidFill>
              </a:rPr>
              <a:t>un </a:t>
            </a:r>
            <a:r>
              <a:rPr lang="es-ES" sz="2400">
                <a:solidFill>
                  <a:schemeClr val="tx1"/>
                </a:solidFill>
              </a:rPr>
              <a:t>plano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, cargados uniformemente.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47" name="Group 38"/>
          <p:cNvGrpSpPr>
            <a:grpSpLocks/>
          </p:cNvGrpSpPr>
          <p:nvPr/>
        </p:nvGrpSpPr>
        <p:grpSpPr bwMode="auto">
          <a:xfrm>
            <a:off x="1788883" y="5029362"/>
            <a:ext cx="2886075" cy="1519241"/>
            <a:chOff x="639" y="1328"/>
            <a:chExt cx="1818" cy="957"/>
          </a:xfrm>
        </p:grpSpPr>
        <p:grpSp>
          <p:nvGrpSpPr>
            <p:cNvPr id="48" name="Group 39"/>
            <p:cNvGrpSpPr>
              <a:grpSpLocks/>
            </p:cNvGrpSpPr>
            <p:nvPr/>
          </p:nvGrpSpPr>
          <p:grpSpPr bwMode="auto">
            <a:xfrm>
              <a:off x="646" y="1736"/>
              <a:ext cx="1811" cy="549"/>
              <a:chOff x="1294" y="1682"/>
              <a:chExt cx="1811" cy="549"/>
            </a:xfrm>
          </p:grpSpPr>
          <p:sp>
            <p:nvSpPr>
              <p:cNvPr id="50" name="Rectangle 86"/>
              <p:cNvSpPr>
                <a:spLocks noChangeArrowheads="1"/>
              </p:cNvSpPr>
              <p:nvPr/>
            </p:nvSpPr>
            <p:spPr bwMode="auto">
              <a:xfrm>
                <a:off x="1300" y="1682"/>
                <a:ext cx="1805" cy="549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51" name="Object 87"/>
              <p:cNvGraphicFramePr>
                <a:graphicFrameLocks noChangeAspect="1"/>
              </p:cNvGraphicFramePr>
              <p:nvPr/>
            </p:nvGraphicFramePr>
            <p:xfrm>
              <a:off x="1294" y="1733"/>
              <a:ext cx="1765" cy="4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3" imgW="901440" imgH="228600" progId="Equation.3">
                      <p:embed/>
                    </p:oleObj>
                  </mc:Choice>
                  <mc:Fallback>
                    <p:oleObj name="Ecuación" r:id="rId3" imgW="9014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4" y="1733"/>
                            <a:ext cx="1765" cy="4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" name="Text Box 42"/>
            <p:cNvSpPr txBox="1">
              <a:spLocks noChangeArrowheads="1"/>
            </p:cNvSpPr>
            <p:nvPr/>
          </p:nvSpPr>
          <p:spPr bwMode="auto">
            <a:xfrm>
              <a:off x="639" y="1328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Se toma: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D3FDF0FD-E2A8-423E-B36D-5B6077678970}"/>
              </a:ext>
            </a:extLst>
          </p:cNvPr>
          <p:cNvGrpSpPr/>
          <p:nvPr/>
        </p:nvGrpSpPr>
        <p:grpSpPr>
          <a:xfrm>
            <a:off x="4844667" y="5429853"/>
            <a:ext cx="1767961" cy="678630"/>
            <a:chOff x="4897217" y="4605762"/>
            <a:chExt cx="1767961" cy="678630"/>
          </a:xfrm>
        </p:grpSpPr>
        <p:sp>
          <p:nvSpPr>
            <p:cNvPr id="46" name="Line 35"/>
            <p:cNvSpPr>
              <a:spLocks noChangeShapeType="1"/>
            </p:cNvSpPr>
            <p:nvPr/>
          </p:nvSpPr>
          <p:spPr bwMode="auto">
            <a:xfrm rot="16200000">
              <a:off x="5850660" y="4636150"/>
              <a:ext cx="0" cy="1296484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4897217" y="4605762"/>
              <a:ext cx="1767961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Y se aplica: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CA72C519-431B-4EC1-8789-686DD3E5323F}"/>
              </a:ext>
            </a:extLst>
          </p:cNvPr>
          <p:cNvGrpSpPr/>
          <p:nvPr/>
        </p:nvGrpSpPr>
        <p:grpSpPr>
          <a:xfrm>
            <a:off x="6782158" y="5662778"/>
            <a:ext cx="2088000" cy="895350"/>
            <a:chOff x="6845218" y="4838687"/>
            <a:chExt cx="2088000" cy="895350"/>
          </a:xfrm>
        </p:grpSpPr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6845218" y="4838687"/>
              <a:ext cx="2088000" cy="89535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0" name="Object 37">
              <a:extLst>
                <a:ext uri="{FF2B5EF4-FFF2-40B4-BE49-F238E27FC236}">
                  <a16:creationId xmlns:a16="http://schemas.microsoft.com/office/drawing/2014/main" id="{C62AD7E6-4EDB-4D84-A81F-554DDBDCA1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5930699"/>
                </p:ext>
              </p:extLst>
            </p:nvPr>
          </p:nvGraphicFramePr>
          <p:xfrm>
            <a:off x="7029198" y="5022249"/>
            <a:ext cx="1679575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723600" imgH="241200" progId="Equation.3">
                    <p:embed/>
                  </p:oleObj>
                </mc:Choice>
                <mc:Fallback>
                  <p:oleObj name="Ecuación" r:id="rId5" imgW="723600" imgH="241200" progId="Equation.3">
                    <p:embed/>
                    <p:pic>
                      <p:nvPicPr>
                        <p:cNvPr id="35" name="Object 37">
                          <a:extLst>
                            <a:ext uri="{FF2B5EF4-FFF2-40B4-BE49-F238E27FC236}">
                              <a16:creationId xmlns:a16="http://schemas.microsoft.com/office/drawing/2014/main" id="{7F46E3B2-61EC-4BC9-BEDF-53FFCAAF5D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29198" y="5022249"/>
                          <a:ext cx="1679575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92">
            <a:extLst>
              <a:ext uri="{FF2B5EF4-FFF2-40B4-BE49-F238E27FC236}">
                <a16:creationId xmlns:a16="http://schemas.microsoft.com/office/drawing/2014/main" id="{9A1AC617-A06A-4475-9464-BE1CA4FD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788" y="351003"/>
            <a:ext cx="8942820" cy="55050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  <a:defRPr/>
            </a:pPr>
            <a:r>
              <a:rPr lang="es-ES" sz="2400" b="1" dirty="0">
                <a:latin typeface="Arial" panose="020B0604020202020204" pitchFamily="34" charset="0"/>
              </a:rPr>
              <a:t>Potencial debido a distribución de carga con cargas en el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" name="Text Box 42">
            <a:extLst>
              <a:ext uri="{FF2B5EF4-FFF2-40B4-BE49-F238E27FC236}">
                <a16:creationId xmlns:a16="http://schemas.microsoft.com/office/drawing/2014/main" id="{85852BE5-3E13-4A83-980A-66B183028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715" y="2055385"/>
            <a:ext cx="893589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Son situaciones irreales, pero de muy alta simetría. 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F110A6D4-7F7C-4E07-9217-D3FAD58C3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242" y="2772012"/>
            <a:ext cx="911053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Hay situaciones con objetos cargados que se pueden aproximar por ellos, simplificando la obtención de V (o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con Gauss).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58A7E507-A902-4558-BEB8-DD5461AAE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891" y="3828407"/>
            <a:ext cx="8179709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Ej.: Una pared cargada parece un plano  cargado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    si estamos cerca de ella. </a:t>
            </a:r>
            <a:endParaRPr lang="es-E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50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1" grpId="0" animBg="1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 txBox="1">
            <a:spLocks noChangeArrowheads="1"/>
          </p:cNvSpPr>
          <p:nvPr/>
        </p:nvSpPr>
        <p:spPr bwMode="auto">
          <a:xfrm>
            <a:off x="4337031" y="2045210"/>
            <a:ext cx="857250" cy="4635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 &gt; R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FDAF8F8-A829-A719-7CB7-FC71B6078B87}"/>
              </a:ext>
            </a:extLst>
          </p:cNvPr>
          <p:cNvGrpSpPr/>
          <p:nvPr/>
        </p:nvGrpSpPr>
        <p:grpSpPr>
          <a:xfrm>
            <a:off x="5356206" y="2051560"/>
            <a:ext cx="2117725" cy="1258888"/>
            <a:chOff x="5356206" y="2051560"/>
            <a:chExt cx="2117725" cy="1258888"/>
          </a:xfrm>
        </p:grpSpPr>
        <p:sp>
          <p:nvSpPr>
            <p:cNvPr id="33839" name="Rectangle 5"/>
            <p:cNvSpPr>
              <a:spLocks noChangeArrowheads="1"/>
            </p:cNvSpPr>
            <p:nvPr/>
          </p:nvSpPr>
          <p:spPr bwMode="auto">
            <a:xfrm>
              <a:off x="5356206" y="2051560"/>
              <a:ext cx="2117725" cy="12588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41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721694"/>
                </p:ext>
              </p:extLst>
            </p:nvPr>
          </p:nvGraphicFramePr>
          <p:xfrm>
            <a:off x="5419706" y="2191260"/>
            <a:ext cx="2001838" cy="1001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63225" imgH="431613" progId="Equation.3">
                    <p:embed/>
                  </p:oleObj>
                </mc:Choice>
                <mc:Fallback>
                  <p:oleObj name="Ecuación" r:id="rId3" imgW="863225" imgH="43161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9706" y="2191260"/>
                          <a:ext cx="2001838" cy="1001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36" name="Text Box 43"/>
          <p:cNvSpPr txBox="1">
            <a:spLocks noChangeArrowheads="1"/>
          </p:cNvSpPr>
          <p:nvPr/>
        </p:nvSpPr>
        <p:spPr bwMode="auto">
          <a:xfrm>
            <a:off x="4344409" y="3600997"/>
            <a:ext cx="845401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</a:p>
        </p:txBody>
      </p:sp>
      <p:grpSp>
        <p:nvGrpSpPr>
          <p:cNvPr id="33837" name="Group 82"/>
          <p:cNvGrpSpPr>
            <a:grpSpLocks/>
          </p:cNvGrpSpPr>
          <p:nvPr/>
        </p:nvGrpSpPr>
        <p:grpSpPr bwMode="auto">
          <a:xfrm>
            <a:off x="5370494" y="3593513"/>
            <a:ext cx="2103437" cy="1193800"/>
            <a:chOff x="4510" y="2602"/>
            <a:chExt cx="1276" cy="752"/>
          </a:xfrm>
        </p:grpSpPr>
        <p:sp>
          <p:nvSpPr>
            <p:cNvPr id="33840" name="Rectangle 51"/>
            <p:cNvSpPr>
              <a:spLocks noChangeArrowheads="1"/>
            </p:cNvSpPr>
            <p:nvPr/>
          </p:nvSpPr>
          <p:spPr bwMode="auto">
            <a:xfrm>
              <a:off x="4510" y="2602"/>
              <a:ext cx="1276" cy="752"/>
            </a:xfrm>
            <a:prstGeom prst="rect">
              <a:avLst/>
            </a:prstGeom>
            <a:solidFill>
              <a:srgbClr val="99CC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38" name="Object 52"/>
            <p:cNvGraphicFramePr>
              <a:graphicFrameLocks noChangeAspect="1"/>
            </p:cNvGraphicFramePr>
            <p:nvPr/>
          </p:nvGraphicFramePr>
          <p:xfrm>
            <a:off x="4595" y="2632"/>
            <a:ext cx="1088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83947" imgH="368140" progId="Equation.3">
                    <p:embed/>
                  </p:oleObj>
                </mc:Choice>
                <mc:Fallback>
                  <p:oleObj name="Ecuación" r:id="rId5" imgW="583947" imgH="36814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5" y="2632"/>
                          <a:ext cx="1088" cy="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2CC717E-6A15-EC12-6EE6-08891B3FA422}"/>
              </a:ext>
            </a:extLst>
          </p:cNvPr>
          <p:cNvGrpSpPr/>
          <p:nvPr/>
        </p:nvGrpSpPr>
        <p:grpSpPr>
          <a:xfrm>
            <a:off x="1270357" y="5763298"/>
            <a:ext cx="1192213" cy="661987"/>
            <a:chOff x="1270357" y="5763298"/>
            <a:chExt cx="1192213" cy="661987"/>
          </a:xfrm>
        </p:grpSpPr>
        <p:sp>
          <p:nvSpPr>
            <p:cNvPr id="6" name="Rectangle 28"/>
            <p:cNvSpPr>
              <a:spLocks noChangeArrowheads="1"/>
            </p:cNvSpPr>
            <p:nvPr/>
          </p:nvSpPr>
          <p:spPr bwMode="auto">
            <a:xfrm>
              <a:off x="1270357" y="5763298"/>
              <a:ext cx="1192213" cy="6619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3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4416577"/>
                </p:ext>
              </p:extLst>
            </p:nvPr>
          </p:nvGraphicFramePr>
          <p:xfrm>
            <a:off x="1349732" y="5787111"/>
            <a:ext cx="1006476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342751" imgH="190417" progId="Equation.3">
                    <p:embed/>
                  </p:oleObj>
                </mc:Choice>
                <mc:Fallback>
                  <p:oleObj name="Ecuación" r:id="rId7" imgW="342751" imgH="190417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732" y="5787111"/>
                          <a:ext cx="1006476" cy="560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53"/>
          <p:cNvSpPr txBox="1">
            <a:spLocks noChangeArrowheads="1"/>
          </p:cNvSpPr>
          <p:nvPr/>
        </p:nvSpPr>
        <p:spPr bwMode="auto">
          <a:xfrm>
            <a:off x="1268769" y="5148936"/>
            <a:ext cx="857251" cy="4635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&lt; R</a:t>
            </a:r>
          </a:p>
        </p:txBody>
      </p: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4077729" y="5786915"/>
            <a:ext cx="758825" cy="1150938"/>
            <a:chOff x="2813" y="3693"/>
            <a:chExt cx="478" cy="725"/>
          </a:xfrm>
        </p:grpSpPr>
        <p:sp>
          <p:nvSpPr>
            <p:cNvPr id="33831" name="Line 64"/>
            <p:cNvSpPr>
              <a:spLocks noChangeShapeType="1"/>
            </p:cNvSpPr>
            <p:nvPr/>
          </p:nvSpPr>
          <p:spPr bwMode="auto">
            <a:xfrm>
              <a:off x="2813" y="3693"/>
              <a:ext cx="282" cy="4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33832" name="Text Box 65"/>
            <p:cNvSpPr txBox="1">
              <a:spLocks noChangeArrowheads="1"/>
            </p:cNvSpPr>
            <p:nvPr/>
          </p:nvSpPr>
          <p:spPr bwMode="auto">
            <a:xfrm>
              <a:off x="3034" y="4080"/>
              <a:ext cx="25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245827" name="Text Box 67"/>
          <p:cNvSpPr txBox="1">
            <a:spLocks noChangeArrowheads="1"/>
          </p:cNvSpPr>
          <p:nvPr/>
        </p:nvSpPr>
        <p:spPr bwMode="auto">
          <a:xfrm>
            <a:off x="4786867" y="5807470"/>
            <a:ext cx="6127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0</a:t>
            </a:r>
          </a:p>
        </p:txBody>
      </p:sp>
      <p:sp>
        <p:nvSpPr>
          <p:cNvPr id="245828" name="Text Box 68"/>
          <p:cNvSpPr txBox="1">
            <a:spLocks noChangeArrowheads="1"/>
          </p:cNvSpPr>
          <p:nvPr/>
        </p:nvSpPr>
        <p:spPr bwMode="auto">
          <a:xfrm>
            <a:off x="5339896" y="5774870"/>
            <a:ext cx="2177497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V = cte.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</a:p>
        </p:txBody>
      </p:sp>
      <p:sp>
        <p:nvSpPr>
          <p:cNvPr id="33829" name="Text Box 61"/>
          <p:cNvSpPr txBox="1">
            <a:spLocks noChangeArrowheads="1"/>
          </p:cNvSpPr>
          <p:nvPr/>
        </p:nvSpPr>
        <p:spPr bwMode="auto">
          <a:xfrm>
            <a:off x="9523063" y="4920971"/>
            <a:ext cx="845401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D8925AA-AC65-6BC3-0029-12D6BEC785DC}"/>
              </a:ext>
            </a:extLst>
          </p:cNvPr>
          <p:cNvGrpSpPr/>
          <p:nvPr/>
        </p:nvGrpSpPr>
        <p:grpSpPr>
          <a:xfrm>
            <a:off x="8283450" y="5514286"/>
            <a:ext cx="2103437" cy="1192211"/>
            <a:chOff x="8283450" y="5514286"/>
            <a:chExt cx="2103437" cy="1192211"/>
          </a:xfrm>
        </p:grpSpPr>
        <p:sp>
          <p:nvSpPr>
            <p:cNvPr id="64" name="Rectangle 51"/>
            <p:cNvSpPr>
              <a:spLocks noChangeArrowheads="1"/>
            </p:cNvSpPr>
            <p:nvPr/>
          </p:nvSpPr>
          <p:spPr bwMode="auto">
            <a:xfrm>
              <a:off x="8283450" y="5514286"/>
              <a:ext cx="2103437" cy="1192211"/>
            </a:xfrm>
            <a:prstGeom prst="rect">
              <a:avLst/>
            </a:prstGeom>
            <a:solidFill>
              <a:srgbClr val="99CC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3830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364066"/>
                </p:ext>
              </p:extLst>
            </p:nvPr>
          </p:nvGraphicFramePr>
          <p:xfrm>
            <a:off x="8496008" y="5607092"/>
            <a:ext cx="1736724" cy="1007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634725" imgH="368140" progId="Equation.3">
                    <p:embed/>
                  </p:oleObj>
                </mc:Choice>
                <mc:Fallback>
                  <p:oleObj name="Ecuación" r:id="rId9" imgW="634725" imgH="36814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96008" y="5607092"/>
                          <a:ext cx="1736724" cy="1007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26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798415"/>
              </p:ext>
            </p:extLst>
          </p:nvPr>
        </p:nvGraphicFramePr>
        <p:xfrm>
          <a:off x="8035007" y="2102150"/>
          <a:ext cx="1957241" cy="5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838080" imgH="228600" progId="Equation.3">
                  <p:embed/>
                </p:oleObj>
              </mc:Choice>
              <mc:Fallback>
                <p:oleObj name="Ecuación" r:id="rId11" imgW="838080" imgH="2286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007" y="2102150"/>
                        <a:ext cx="1957241" cy="5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5" name="Text Box 46"/>
          <p:cNvSpPr txBox="1">
            <a:spLocks noChangeArrowheads="1"/>
          </p:cNvSpPr>
          <p:nvPr/>
        </p:nvSpPr>
        <p:spPr bwMode="auto">
          <a:xfrm>
            <a:off x="7828044" y="3131452"/>
            <a:ext cx="27613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0000FF"/>
                </a:solidFill>
              </a:rPr>
              <a:t>Mismo </a:t>
            </a:r>
            <a:r>
              <a:rPr lang="es-ES" sz="2400" b="1">
                <a:solidFill>
                  <a:srgbClr val="0000FF"/>
                </a:solidFill>
              </a:rPr>
              <a:t>E</a:t>
            </a:r>
            <a:r>
              <a:rPr lang="es-ES" sz="2400">
                <a:solidFill>
                  <a:srgbClr val="0000FF"/>
                </a:solidFill>
              </a:rPr>
              <a:t> Q</a:t>
            </a:r>
            <a:r>
              <a:rPr lang="es-ES" sz="2400" baseline="-25000">
                <a:solidFill>
                  <a:srgbClr val="0000FF"/>
                </a:solidFill>
              </a:rPr>
              <a:t>puntual</a:t>
            </a:r>
            <a:endParaRPr lang="es-ES" sz="2400" dirty="0">
              <a:solidFill>
                <a:srgbClr val="0000FF"/>
              </a:solidFill>
            </a:endParaRPr>
          </a:p>
        </p:txBody>
      </p:sp>
      <p:sp>
        <p:nvSpPr>
          <p:cNvPr id="15388" name="Text Box 103"/>
          <p:cNvSpPr txBox="1">
            <a:spLocks noChangeArrowheads="1"/>
          </p:cNvSpPr>
          <p:nvPr/>
        </p:nvSpPr>
        <p:spPr bwMode="auto">
          <a:xfrm>
            <a:off x="6335558" y="6129669"/>
            <a:ext cx="2143125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l alcanzado desde fuera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3823" name="Text Box 52"/>
          <p:cNvSpPr txBox="1">
            <a:spLocks noChangeArrowheads="1"/>
          </p:cNvSpPr>
          <p:nvPr/>
        </p:nvSpPr>
        <p:spPr bwMode="auto">
          <a:xfrm>
            <a:off x="1263581" y="4584131"/>
            <a:ext cx="1106691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Dentro</a:t>
            </a:r>
          </a:p>
        </p:txBody>
      </p:sp>
      <p:sp>
        <p:nvSpPr>
          <p:cNvPr id="17461" name="Text Box 53"/>
          <p:cNvSpPr txBox="1">
            <a:spLocks noChangeArrowheads="1"/>
          </p:cNvSpPr>
          <p:nvPr/>
        </p:nvSpPr>
        <p:spPr bwMode="auto">
          <a:xfrm>
            <a:off x="4775270" y="5032401"/>
            <a:ext cx="2392247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 par de puntos interiores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1F1385E-FBED-4216-A5A4-AD5813828383}"/>
              </a:ext>
            </a:extLst>
          </p:cNvPr>
          <p:cNvGrpSpPr/>
          <p:nvPr/>
        </p:nvGrpSpPr>
        <p:grpSpPr>
          <a:xfrm>
            <a:off x="1343025" y="1433987"/>
            <a:ext cx="2603500" cy="2606675"/>
            <a:chOff x="1343025" y="1162685"/>
            <a:chExt cx="2603500" cy="2606675"/>
          </a:xfrm>
        </p:grpSpPr>
        <p:sp>
          <p:nvSpPr>
            <p:cNvPr id="33798" name="Text Box 57"/>
            <p:cNvSpPr txBox="1">
              <a:spLocks noChangeArrowheads="1"/>
            </p:cNvSpPr>
            <p:nvPr/>
          </p:nvSpPr>
          <p:spPr bwMode="auto">
            <a:xfrm>
              <a:off x="1385888" y="1162685"/>
              <a:ext cx="417512" cy="53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33812" name="Oval 4"/>
            <p:cNvSpPr>
              <a:spLocks noChangeArrowheads="1"/>
            </p:cNvSpPr>
            <p:nvPr/>
          </p:nvSpPr>
          <p:spPr bwMode="auto">
            <a:xfrm>
              <a:off x="1511300" y="1407160"/>
              <a:ext cx="2243138" cy="220821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008000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3" name="Line 15"/>
            <p:cNvSpPr>
              <a:spLocks noChangeShapeType="1"/>
            </p:cNvSpPr>
            <p:nvPr/>
          </p:nvSpPr>
          <p:spPr bwMode="auto">
            <a:xfrm>
              <a:off x="2619375" y="1318260"/>
              <a:ext cx="12700" cy="2451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3814" name="Line 16"/>
            <p:cNvSpPr>
              <a:spLocks noChangeShapeType="1"/>
            </p:cNvSpPr>
            <p:nvPr/>
          </p:nvSpPr>
          <p:spPr bwMode="auto">
            <a:xfrm flipH="1">
              <a:off x="1495425" y="1838960"/>
              <a:ext cx="2197100" cy="134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3815" name="Line 17"/>
            <p:cNvSpPr>
              <a:spLocks noChangeShapeType="1"/>
            </p:cNvSpPr>
            <p:nvPr/>
          </p:nvSpPr>
          <p:spPr bwMode="auto">
            <a:xfrm flipV="1">
              <a:off x="1343025" y="2486660"/>
              <a:ext cx="2603500" cy="2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  <p:sp>
          <p:nvSpPr>
            <p:cNvPr id="33816" name="Oval 42"/>
            <p:cNvSpPr>
              <a:spLocks noChangeArrowheads="1"/>
            </p:cNvSpPr>
            <p:nvPr/>
          </p:nvSpPr>
          <p:spPr bwMode="auto">
            <a:xfrm>
              <a:off x="1508125" y="2250123"/>
              <a:ext cx="2232025" cy="522287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7" name="Oval 43"/>
            <p:cNvSpPr>
              <a:spLocks noChangeArrowheads="1"/>
            </p:cNvSpPr>
            <p:nvPr/>
          </p:nvSpPr>
          <p:spPr bwMode="auto">
            <a:xfrm rot="5400000">
              <a:off x="1495425" y="2094548"/>
              <a:ext cx="2232025" cy="86677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8" name="Text Box 45"/>
            <p:cNvSpPr txBox="1">
              <a:spLocks noChangeArrowheads="1"/>
            </p:cNvSpPr>
            <p:nvPr/>
          </p:nvSpPr>
          <p:spPr bwMode="auto">
            <a:xfrm>
              <a:off x="1797050" y="1881823"/>
              <a:ext cx="3651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33819" name="Line 46"/>
            <p:cNvSpPr>
              <a:spLocks noChangeShapeType="1"/>
            </p:cNvSpPr>
            <p:nvPr/>
          </p:nvSpPr>
          <p:spPr bwMode="auto">
            <a:xfrm flipH="1" flipV="1">
              <a:off x="1938338" y="1708785"/>
              <a:ext cx="695325" cy="8032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/>
            </a:p>
          </p:txBody>
        </p:sp>
      </p:grpSp>
      <p:sp>
        <p:nvSpPr>
          <p:cNvPr id="33821" name="Text Box 9"/>
          <p:cNvSpPr txBox="1">
            <a:spLocks noChangeArrowheads="1"/>
          </p:cNvSpPr>
          <p:nvPr/>
        </p:nvSpPr>
        <p:spPr bwMode="auto">
          <a:xfrm>
            <a:off x="4337031" y="352740"/>
            <a:ext cx="5824106" cy="73633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Superficie esférica de radio R uniformemente cargada (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 = cte.)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61">
                <a:extLst>
                  <a:ext uri="{FF2B5EF4-FFF2-40B4-BE49-F238E27FC236}">
                    <a16:creationId xmlns:a16="http://schemas.microsoft.com/office/drawing/2014/main" id="{6F8182C4-4B4D-49AB-8972-B74BF64F6037}"/>
                  </a:ext>
                </a:extLst>
              </p:cNvPr>
              <p:cNvSpPr txBox="1"/>
              <p:nvPr/>
            </p:nvSpPr>
            <p:spPr bwMode="auto">
              <a:xfrm>
                <a:off x="2542019" y="5776648"/>
                <a:ext cx="2351462" cy="725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s-E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E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=−∫</m:t>
                      </m:r>
                      <m:sSub>
                        <m:sSubPr>
                          <m:ctrlP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s-E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𝑑𝑙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52" name="Object 61">
                <a:extLst>
                  <a:ext uri="{FF2B5EF4-FFF2-40B4-BE49-F238E27FC236}">
                    <a16:creationId xmlns:a16="http://schemas.microsoft.com/office/drawing/2014/main" id="{6F8182C4-4B4D-49AB-8972-B74BF64F6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2019" y="5776648"/>
                <a:ext cx="2351462" cy="7257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61">
                <a:extLst>
                  <a:ext uri="{FF2B5EF4-FFF2-40B4-BE49-F238E27FC236}">
                    <a16:creationId xmlns:a16="http://schemas.microsoft.com/office/drawing/2014/main" id="{7A4C9DD8-5F35-4B70-AB1C-F91E3C114010}"/>
                  </a:ext>
                </a:extLst>
              </p:cNvPr>
              <p:cNvSpPr txBox="1"/>
              <p:nvPr/>
            </p:nvSpPr>
            <p:spPr bwMode="auto">
              <a:xfrm>
                <a:off x="8040444" y="2611532"/>
                <a:ext cx="2376712" cy="725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s-E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E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=−∫</m:t>
                      </m:r>
                      <m:sSub>
                        <m:sSubPr>
                          <m:ctrlP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s-E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𝑑𝑙</m:t>
                      </m:r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53" name="Object 61">
                <a:extLst>
                  <a:ext uri="{FF2B5EF4-FFF2-40B4-BE49-F238E27FC236}">
                    <a16:creationId xmlns:a16="http://schemas.microsoft.com/office/drawing/2014/main" id="{7A4C9DD8-5F35-4B70-AB1C-F91E3C114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0444" y="2611532"/>
                <a:ext cx="2376712" cy="72576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CuadroTexto 1">
            <a:extLst>
              <a:ext uri="{FF2B5EF4-FFF2-40B4-BE49-F238E27FC236}">
                <a16:creationId xmlns:a16="http://schemas.microsoft.com/office/drawing/2014/main" id="{EE786A8A-ECD7-485E-A359-9B9BE6329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21" y="305409"/>
            <a:ext cx="2480009" cy="830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Otro ejemplo de sistema no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D8BEBAB1-6DB1-4F8F-8DD4-1B7FADCE35B4}"/>
              </a:ext>
            </a:extLst>
          </p:cNvPr>
          <p:cNvSpPr/>
          <p:nvPr/>
        </p:nvSpPr>
        <p:spPr bwMode="auto">
          <a:xfrm>
            <a:off x="7545807" y="2565324"/>
            <a:ext cx="304746" cy="1578428"/>
          </a:xfrm>
          <a:custGeom>
            <a:avLst/>
            <a:gdLst>
              <a:gd name="connsiteX0" fmla="*/ 0 w 402771"/>
              <a:gd name="connsiteY0" fmla="*/ 0 h 1578428"/>
              <a:gd name="connsiteX1" fmla="*/ 402771 w 402771"/>
              <a:gd name="connsiteY1" fmla="*/ 0 h 1578428"/>
              <a:gd name="connsiteX2" fmla="*/ 402771 w 402771"/>
              <a:gd name="connsiteY2" fmla="*/ 1578428 h 1578428"/>
              <a:gd name="connsiteX3" fmla="*/ 0 w 402771"/>
              <a:gd name="connsiteY3" fmla="*/ 1567543 h 157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2771" h="1578428">
                <a:moveTo>
                  <a:pt x="0" y="0"/>
                </a:moveTo>
                <a:lnTo>
                  <a:pt x="402771" y="0"/>
                </a:lnTo>
                <a:lnTo>
                  <a:pt x="402771" y="1578428"/>
                </a:lnTo>
                <a:lnTo>
                  <a:pt x="0" y="1567543"/>
                </a:ln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E80A9EEB-A7BA-4D26-94DF-2077A4A0EB4D}"/>
              </a:ext>
            </a:extLst>
          </p:cNvPr>
          <p:cNvSpPr/>
          <p:nvPr/>
        </p:nvSpPr>
        <p:spPr bwMode="auto">
          <a:xfrm>
            <a:off x="7546312" y="4431318"/>
            <a:ext cx="612950" cy="1656000"/>
          </a:xfrm>
          <a:custGeom>
            <a:avLst/>
            <a:gdLst>
              <a:gd name="connsiteX0" fmla="*/ 0 w 612950"/>
              <a:gd name="connsiteY0" fmla="*/ 0 h 2311121"/>
              <a:gd name="connsiteX1" fmla="*/ 311499 w 612950"/>
              <a:gd name="connsiteY1" fmla="*/ 0 h 2311121"/>
              <a:gd name="connsiteX2" fmla="*/ 301451 w 612950"/>
              <a:gd name="connsiteY2" fmla="*/ 2311121 h 2311121"/>
              <a:gd name="connsiteX3" fmla="*/ 612950 w 612950"/>
              <a:gd name="connsiteY3" fmla="*/ 2311121 h 231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50" h="2311121">
                <a:moveTo>
                  <a:pt x="0" y="0"/>
                </a:moveTo>
                <a:lnTo>
                  <a:pt x="311499" y="0"/>
                </a:lnTo>
                <a:cubicBezTo>
                  <a:pt x="308150" y="770374"/>
                  <a:pt x="304800" y="1540747"/>
                  <a:pt x="301451" y="2311121"/>
                </a:cubicBezTo>
                <a:lnTo>
                  <a:pt x="612950" y="2311121"/>
                </a:lnTo>
              </a:path>
            </a:pathLst>
          </a:custGeom>
          <a:noFill/>
          <a:ln w="3810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" name="Text Box 52">
            <a:extLst>
              <a:ext uri="{FF2B5EF4-FFF2-40B4-BE49-F238E27FC236}">
                <a16:creationId xmlns:a16="http://schemas.microsoft.com/office/drawing/2014/main" id="{CDADE093-A036-4E6D-A18E-BBEE221DE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825" y="4946100"/>
            <a:ext cx="8572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3333FF"/>
                </a:solidFill>
              </a:rPr>
              <a:t>r = R</a:t>
            </a:r>
          </a:p>
        </p:txBody>
      </p:sp>
      <p:sp>
        <p:nvSpPr>
          <p:cNvPr id="12" name="Text Box 52">
            <a:extLst>
              <a:ext uri="{FF2B5EF4-FFF2-40B4-BE49-F238E27FC236}">
                <a16:creationId xmlns:a16="http://schemas.microsoft.com/office/drawing/2014/main" id="{9DD2C509-091E-4FE7-91E3-C0D878E5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496" y="1430603"/>
            <a:ext cx="986465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Fuera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5" name="Text Box 46">
            <a:extLst>
              <a:ext uri="{FF2B5EF4-FFF2-40B4-BE49-F238E27FC236}">
                <a16:creationId xmlns:a16="http://schemas.microsoft.com/office/drawing/2014/main" id="{52CC0283-1DCA-BEB3-7A47-48937432A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8086" y="3499770"/>
            <a:ext cx="27613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FF"/>
                </a:solidFill>
                <a:sym typeface="Symbol" panose="05050102010706020507" pitchFamily="18" charset="2"/>
              </a:rPr>
              <a:t>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FF"/>
                </a:solidFill>
                <a:sym typeface="Symbol" panose="05050102010706020507" pitchFamily="18" charset="2"/>
              </a:rPr>
              <a:t>Igual</a:t>
            </a:r>
            <a:r>
              <a:rPr lang="es-ES" sz="2400">
                <a:solidFill>
                  <a:srgbClr val="0000FF"/>
                </a:solidFill>
              </a:rPr>
              <a:t> resultado</a:t>
            </a:r>
            <a:endParaRPr lang="es-E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3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45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3836" grpId="0" animBg="1"/>
      <p:bldP spid="7" grpId="0" animBg="1"/>
      <p:bldP spid="245827" grpId="0"/>
      <p:bldP spid="33829" grpId="0" animBg="1"/>
      <p:bldP spid="33825" grpId="0"/>
      <p:bldP spid="15388" grpId="0"/>
      <p:bldP spid="33823" grpId="0" animBg="1"/>
      <p:bldP spid="17461" grpId="0"/>
      <p:bldP spid="33821" grpId="0" animBg="1"/>
      <p:bldP spid="52" grpId="0"/>
      <p:bldP spid="53" grpId="0"/>
      <p:bldP spid="49" grpId="0" animBg="1"/>
      <p:bldP spid="3" grpId="0" animBg="1"/>
      <p:bldP spid="4" grpId="0" animBg="1"/>
      <p:bldP spid="9" grpId="0"/>
      <p:bldP spid="12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85B06D91-DFC2-439D-957C-1F319848FDC4}"/>
              </a:ext>
            </a:extLst>
          </p:cNvPr>
          <p:cNvGrpSpPr/>
          <p:nvPr/>
        </p:nvGrpSpPr>
        <p:grpSpPr>
          <a:xfrm>
            <a:off x="6300575" y="571807"/>
            <a:ext cx="3932238" cy="3352800"/>
            <a:chOff x="6300575" y="879716"/>
            <a:chExt cx="3932238" cy="3352800"/>
          </a:xfrm>
        </p:grpSpPr>
        <p:grpSp>
          <p:nvGrpSpPr>
            <p:cNvPr id="17449" name="Group 41"/>
            <p:cNvGrpSpPr>
              <a:grpSpLocks/>
            </p:cNvGrpSpPr>
            <p:nvPr/>
          </p:nvGrpSpPr>
          <p:grpSpPr bwMode="auto">
            <a:xfrm>
              <a:off x="6300575" y="879716"/>
              <a:ext cx="3932238" cy="3352800"/>
              <a:chOff x="4010" y="1105"/>
              <a:chExt cx="2477" cy="2112"/>
            </a:xfrm>
          </p:grpSpPr>
          <p:sp>
            <p:nvSpPr>
              <p:cNvPr id="2" name="Rectangle 57"/>
              <p:cNvSpPr>
                <a:spLocks noChangeArrowheads="1"/>
              </p:cNvSpPr>
              <p:nvPr/>
            </p:nvSpPr>
            <p:spPr bwMode="auto">
              <a:xfrm>
                <a:off x="4010" y="1105"/>
                <a:ext cx="2477" cy="21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863" name="Line 58"/>
              <p:cNvSpPr>
                <a:spLocks noChangeShapeType="1"/>
              </p:cNvSpPr>
              <p:nvPr/>
            </p:nvSpPr>
            <p:spPr bwMode="auto">
              <a:xfrm flipV="1">
                <a:off x="4345" y="1520"/>
                <a:ext cx="0" cy="14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5864" name="Line 59"/>
              <p:cNvSpPr>
                <a:spLocks noChangeShapeType="1"/>
              </p:cNvSpPr>
              <p:nvPr/>
            </p:nvSpPr>
            <p:spPr bwMode="auto">
              <a:xfrm>
                <a:off x="4347" y="2818"/>
                <a:ext cx="19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5865" name="Line 60"/>
              <p:cNvSpPr>
                <a:spLocks noChangeShapeType="1"/>
              </p:cNvSpPr>
              <p:nvPr/>
            </p:nvSpPr>
            <p:spPr bwMode="auto">
              <a:xfrm>
                <a:off x="4801" y="1558"/>
                <a:ext cx="0" cy="13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5866" name="Line 61"/>
              <p:cNvSpPr>
                <a:spLocks noChangeShapeType="1"/>
              </p:cNvSpPr>
              <p:nvPr/>
            </p:nvSpPr>
            <p:spPr bwMode="auto">
              <a:xfrm>
                <a:off x="4345" y="2829"/>
                <a:ext cx="45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5868" name="Line 63"/>
              <p:cNvSpPr>
                <a:spLocks noChangeShapeType="1"/>
              </p:cNvSpPr>
              <p:nvPr/>
            </p:nvSpPr>
            <p:spPr bwMode="auto">
              <a:xfrm>
                <a:off x="4360" y="1805"/>
                <a:ext cx="437" cy="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/>
              <a:p>
                <a:endParaRPr lang="en-GB" sz="2400"/>
              </a:p>
            </p:txBody>
          </p:sp>
          <p:sp>
            <p:nvSpPr>
              <p:cNvPr id="35870" name="Text Box 67"/>
              <p:cNvSpPr txBox="1">
                <a:spLocks noChangeArrowheads="1"/>
              </p:cNvSpPr>
              <p:nvPr/>
            </p:nvSpPr>
            <p:spPr bwMode="auto">
              <a:xfrm>
                <a:off x="4697" y="2813"/>
                <a:ext cx="230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35871" name="Text Box 67"/>
              <p:cNvSpPr txBox="1">
                <a:spLocks noChangeArrowheads="1"/>
              </p:cNvSpPr>
              <p:nvPr/>
            </p:nvSpPr>
            <p:spPr bwMode="auto">
              <a:xfrm>
                <a:off x="6114" y="2795"/>
                <a:ext cx="230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35872" name="Text Box 33"/>
              <p:cNvSpPr txBox="1">
                <a:spLocks noChangeArrowheads="1"/>
              </p:cNvSpPr>
              <p:nvPr/>
            </p:nvSpPr>
            <p:spPr bwMode="auto">
              <a:xfrm>
                <a:off x="4359" y="1308"/>
                <a:ext cx="244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0C0C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3333FF"/>
                    </a:solidFill>
                  </a:rPr>
                  <a:t>V</a:t>
                </a:r>
              </a:p>
            </p:txBody>
          </p:sp>
          <p:sp>
            <p:nvSpPr>
              <p:cNvPr id="35873" name="Text Box 34"/>
              <p:cNvSpPr txBox="1">
                <a:spLocks noChangeArrowheads="1"/>
              </p:cNvSpPr>
              <p:nvPr/>
            </p:nvSpPr>
            <p:spPr bwMode="auto">
              <a:xfrm>
                <a:off x="4056" y="1308"/>
                <a:ext cx="297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0C0C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b="1" dirty="0">
                    <a:solidFill>
                      <a:srgbClr val="FF0000"/>
                    </a:solidFill>
                  </a:rPr>
                  <a:t> E</a:t>
                </a:r>
              </a:p>
            </p:txBody>
          </p:sp>
          <p:sp>
            <p:nvSpPr>
              <p:cNvPr id="35874" name="Line 35"/>
              <p:cNvSpPr>
                <a:spLocks noChangeShapeType="1"/>
              </p:cNvSpPr>
              <p:nvPr/>
            </p:nvSpPr>
            <p:spPr bwMode="auto">
              <a:xfrm>
                <a:off x="4166" y="1342"/>
                <a:ext cx="113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/>
              <a:lstStyle/>
              <a:p>
                <a:endParaRPr lang="en-GB" sz="2400"/>
              </a:p>
            </p:txBody>
          </p:sp>
          <p:sp>
            <p:nvSpPr>
              <p:cNvPr id="35875" name="Text Box 36"/>
              <p:cNvSpPr txBox="1">
                <a:spLocks noChangeArrowheads="1"/>
              </p:cNvSpPr>
              <p:nvPr/>
            </p:nvSpPr>
            <p:spPr bwMode="auto">
              <a:xfrm>
                <a:off x="5570" y="1559"/>
                <a:ext cx="533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0C0C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3333FF"/>
                    </a:solidFill>
                    <a:sym typeface="Symbol" panose="05050102010706020507" pitchFamily="18" charset="2"/>
                  </a:rPr>
                  <a:t> 1/r</a:t>
                </a:r>
              </a:p>
            </p:txBody>
          </p:sp>
          <p:sp>
            <p:nvSpPr>
              <p:cNvPr id="35876" name="Text Box 37"/>
              <p:cNvSpPr txBox="1">
                <a:spLocks noChangeArrowheads="1"/>
              </p:cNvSpPr>
              <p:nvPr/>
            </p:nvSpPr>
            <p:spPr bwMode="auto">
              <a:xfrm>
                <a:off x="5566" y="1848"/>
                <a:ext cx="604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0C0C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FF0000"/>
                    </a:solidFill>
                    <a:sym typeface="Symbol" panose="05050102010706020507" pitchFamily="18" charset="2"/>
                  </a:rPr>
                  <a:t> 1/r</a:t>
                </a:r>
                <a:r>
                  <a:rPr lang="es-ES" sz="2400" baseline="30000">
                    <a:solidFill>
                      <a:srgbClr val="FF0000"/>
                    </a:solidFill>
                    <a:sym typeface="Symbol" panose="05050102010706020507" pitchFamily="18" charset="2"/>
                  </a:rPr>
                  <a:t>2</a:t>
                </a:r>
              </a:p>
            </p:txBody>
          </p:sp>
        </p:grp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CFCD78FB-3269-4EEE-A2DD-EDA6F955C8D0}"/>
                </a:ext>
              </a:extLst>
            </p:cNvPr>
            <p:cNvSpPr/>
            <p:nvPr/>
          </p:nvSpPr>
          <p:spPr bwMode="auto">
            <a:xfrm>
              <a:off x="7565571" y="1985388"/>
              <a:ext cx="2155372" cy="1066800"/>
            </a:xfrm>
            <a:custGeom>
              <a:avLst/>
              <a:gdLst>
                <a:gd name="connsiteX0" fmla="*/ 0 w 2155372"/>
                <a:gd name="connsiteY0" fmla="*/ 0 h 1066800"/>
                <a:gd name="connsiteX1" fmla="*/ 718458 w 2155372"/>
                <a:gd name="connsiteY1" fmla="*/ 707572 h 1066800"/>
                <a:gd name="connsiteX2" fmla="*/ 2155372 w 2155372"/>
                <a:gd name="connsiteY2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5372" h="1066800">
                  <a:moveTo>
                    <a:pt x="0" y="0"/>
                  </a:moveTo>
                  <a:cubicBezTo>
                    <a:pt x="179614" y="264886"/>
                    <a:pt x="359229" y="529772"/>
                    <a:pt x="718458" y="707572"/>
                  </a:cubicBezTo>
                  <a:cubicBezTo>
                    <a:pt x="1077687" y="885372"/>
                    <a:pt x="1616529" y="976086"/>
                    <a:pt x="2155372" y="1066800"/>
                  </a:cubicBezTo>
                </a:path>
              </a:pathLst>
            </a:custGeom>
            <a:noFill/>
            <a:ln w="381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78E14E56-A874-493B-ADA9-1A041A2B6522}"/>
                </a:ext>
              </a:extLst>
            </p:cNvPr>
            <p:cNvSpPr/>
            <p:nvPr/>
          </p:nvSpPr>
          <p:spPr bwMode="auto">
            <a:xfrm>
              <a:off x="7554686" y="2166257"/>
              <a:ext cx="2177143" cy="1368000"/>
            </a:xfrm>
            <a:custGeom>
              <a:avLst/>
              <a:gdLst>
                <a:gd name="connsiteX0" fmla="*/ 0 w 2177143"/>
                <a:gd name="connsiteY0" fmla="*/ 0 h 1415143"/>
                <a:gd name="connsiteX1" fmla="*/ 729343 w 2177143"/>
                <a:gd name="connsiteY1" fmla="*/ 1121229 h 1415143"/>
                <a:gd name="connsiteX2" fmla="*/ 2177143 w 2177143"/>
                <a:gd name="connsiteY2" fmla="*/ 1415143 h 141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77143" h="1415143">
                  <a:moveTo>
                    <a:pt x="0" y="0"/>
                  </a:moveTo>
                  <a:cubicBezTo>
                    <a:pt x="183243" y="442686"/>
                    <a:pt x="366486" y="885372"/>
                    <a:pt x="729343" y="1121229"/>
                  </a:cubicBezTo>
                  <a:cubicBezTo>
                    <a:pt x="1092200" y="1357086"/>
                    <a:pt x="1634671" y="1386114"/>
                    <a:pt x="2177143" y="1415143"/>
                  </a:cubicBez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5842" name="Text Box 19"/>
          <p:cNvSpPr txBox="1">
            <a:spLocks noChangeArrowheads="1"/>
          </p:cNvSpPr>
          <p:nvPr/>
        </p:nvSpPr>
        <p:spPr bwMode="auto">
          <a:xfrm>
            <a:off x="3643313" y="342556"/>
            <a:ext cx="856623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&gt; R</a:t>
            </a:r>
          </a:p>
        </p:txBody>
      </p:sp>
      <p:sp>
        <p:nvSpPr>
          <p:cNvPr id="35843" name="Rectangle 5"/>
          <p:cNvSpPr>
            <a:spLocks noChangeArrowheads="1"/>
          </p:cNvSpPr>
          <p:nvPr/>
        </p:nvSpPr>
        <p:spPr bwMode="auto">
          <a:xfrm>
            <a:off x="3667125" y="936710"/>
            <a:ext cx="2117725" cy="125888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4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334731"/>
              </p:ext>
            </p:extLst>
          </p:nvPr>
        </p:nvGraphicFramePr>
        <p:xfrm>
          <a:off x="3797300" y="1022435"/>
          <a:ext cx="189865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799753" imgH="444307" progId="Equation.3">
                  <p:embed/>
                </p:oleObj>
              </mc:Choice>
              <mc:Fallback>
                <p:oleObj name="Ecuación" r:id="rId3" imgW="799753" imgH="444307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1022435"/>
                        <a:ext cx="1898650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Text Box 43"/>
          <p:cNvSpPr txBox="1">
            <a:spLocks noChangeArrowheads="1"/>
          </p:cNvSpPr>
          <p:nvPr/>
        </p:nvSpPr>
        <p:spPr bwMode="auto">
          <a:xfrm>
            <a:off x="3663409" y="2398311"/>
            <a:ext cx="845401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</a:p>
        </p:txBody>
      </p:sp>
      <p:sp>
        <p:nvSpPr>
          <p:cNvPr id="35846" name="Rectangle 51"/>
          <p:cNvSpPr>
            <a:spLocks noChangeArrowheads="1"/>
          </p:cNvSpPr>
          <p:nvPr/>
        </p:nvSpPr>
        <p:spPr bwMode="auto">
          <a:xfrm>
            <a:off x="3686194" y="2973134"/>
            <a:ext cx="2068512" cy="1193800"/>
          </a:xfrm>
          <a:prstGeom prst="rect">
            <a:avLst/>
          </a:prstGeom>
          <a:solidFill>
            <a:srgbClr val="99CC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47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6832"/>
              </p:ext>
            </p:extLst>
          </p:nvPr>
        </p:nvGraphicFramePr>
        <p:xfrm>
          <a:off x="3905269" y="3031350"/>
          <a:ext cx="15748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660113" imgH="444307" progId="Equation.3">
                  <p:embed/>
                </p:oleObj>
              </mc:Choice>
              <mc:Fallback>
                <p:oleObj name="Ecuación" r:id="rId5" imgW="660113" imgH="444307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69" y="3031350"/>
                        <a:ext cx="15748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Rectangle 28"/>
          <p:cNvSpPr>
            <a:spLocks noChangeArrowheads="1"/>
          </p:cNvSpPr>
          <p:nvPr/>
        </p:nvSpPr>
        <p:spPr bwMode="auto">
          <a:xfrm>
            <a:off x="1357313" y="936710"/>
            <a:ext cx="1990725" cy="12287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260982"/>
              </p:ext>
            </p:extLst>
          </p:nvPr>
        </p:nvGraphicFramePr>
        <p:xfrm>
          <a:off x="1839913" y="1262147"/>
          <a:ext cx="1016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419100" imgH="228600" progId="Equation.3">
                  <p:embed/>
                </p:oleObj>
              </mc:Choice>
              <mc:Fallback>
                <p:oleObj name="Ecuación" r:id="rId7" imgW="41910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1262147"/>
                        <a:ext cx="1016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Text Box 53"/>
          <p:cNvSpPr txBox="1">
            <a:spLocks noChangeArrowheads="1"/>
          </p:cNvSpPr>
          <p:nvPr/>
        </p:nvSpPr>
        <p:spPr bwMode="auto">
          <a:xfrm>
            <a:off x="1357313" y="342556"/>
            <a:ext cx="856623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&lt; R</a:t>
            </a:r>
          </a:p>
        </p:txBody>
      </p:sp>
      <p:sp>
        <p:nvSpPr>
          <p:cNvPr id="35851" name="Text Box 61"/>
          <p:cNvSpPr txBox="1">
            <a:spLocks noChangeArrowheads="1"/>
          </p:cNvSpPr>
          <p:nvPr/>
        </p:nvSpPr>
        <p:spPr bwMode="auto">
          <a:xfrm>
            <a:off x="1357313" y="2398311"/>
            <a:ext cx="845401" cy="4638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R</a:t>
            </a:r>
          </a:p>
        </p:txBody>
      </p:sp>
      <p:sp>
        <p:nvSpPr>
          <p:cNvPr id="35852" name="Rectangle 60"/>
          <p:cNvSpPr>
            <a:spLocks noChangeArrowheads="1"/>
          </p:cNvSpPr>
          <p:nvPr/>
        </p:nvSpPr>
        <p:spPr bwMode="auto">
          <a:xfrm>
            <a:off x="1357313" y="2963087"/>
            <a:ext cx="1943100" cy="1160463"/>
          </a:xfrm>
          <a:prstGeom prst="rect">
            <a:avLst/>
          </a:prstGeom>
          <a:solidFill>
            <a:srgbClr val="99CC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5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988136"/>
              </p:ext>
            </p:extLst>
          </p:nvPr>
        </p:nvGraphicFramePr>
        <p:xfrm>
          <a:off x="1593850" y="3071037"/>
          <a:ext cx="14668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672808" imgH="444307" progId="Equation.3">
                  <p:embed/>
                </p:oleObj>
              </mc:Choice>
              <mc:Fallback>
                <p:oleObj name="Ecuación" r:id="rId9" imgW="672808" imgH="444307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3071037"/>
                        <a:ext cx="14668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1357313" y="5123163"/>
            <a:ext cx="4789487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Al cruzar una distribución de carga no volumétrica     (superficial, longitudinal, puntual)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8727628" y="808787"/>
            <a:ext cx="944489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Q &gt; 0</a:t>
            </a:r>
          </a:p>
        </p:txBody>
      </p:sp>
      <p:sp>
        <p:nvSpPr>
          <p:cNvPr id="35860" name="Text Box 96"/>
          <p:cNvSpPr txBox="1">
            <a:spLocks noChangeArrowheads="1"/>
          </p:cNvSpPr>
          <p:nvPr/>
        </p:nvSpPr>
        <p:spPr bwMode="auto">
          <a:xfrm>
            <a:off x="7140576" y="5863432"/>
            <a:ext cx="2585964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es discontinuo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35862" name="Text Box 62"/>
          <p:cNvSpPr txBox="1">
            <a:spLocks noChangeArrowheads="1"/>
          </p:cNvSpPr>
          <p:nvPr/>
        </p:nvSpPr>
        <p:spPr bwMode="auto">
          <a:xfrm>
            <a:off x="7140575" y="5070182"/>
            <a:ext cx="2585963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V es continuo</a:t>
            </a:r>
            <a:endParaRPr lang="es-ES" sz="2400">
              <a:latin typeface="Arial" panose="020B0604020202020204" pitchFamily="34" charset="0"/>
            </a:endParaRPr>
          </a:p>
        </p:txBody>
      </p:sp>
      <p:sp>
        <p:nvSpPr>
          <p:cNvPr id="35861" name="Abrir llave 3"/>
          <p:cNvSpPr>
            <a:spLocks/>
          </p:cNvSpPr>
          <p:nvPr/>
        </p:nvSpPr>
        <p:spPr bwMode="auto">
          <a:xfrm>
            <a:off x="6496051" y="5008659"/>
            <a:ext cx="388643" cy="1470025"/>
          </a:xfrm>
          <a:prstGeom prst="leftBrace">
            <a:avLst>
              <a:gd name="adj1" fmla="val 29246"/>
              <a:gd name="adj2" fmla="val 50000"/>
            </a:avLst>
          </a:prstGeom>
          <a:noFill/>
          <a:ln w="381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8" name="Text Box 111">
            <a:extLst>
              <a:ext uri="{FF2B5EF4-FFF2-40B4-BE49-F238E27FC236}">
                <a16:creationId xmlns:a16="http://schemas.microsoft.com/office/drawing/2014/main" id="{DF42B51D-3FA5-403A-9912-9E058D99E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986" y="4378015"/>
            <a:ext cx="7708827" cy="514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 y V como los de Q</a:t>
            </a:r>
            <a:r>
              <a:rPr lang="es-ES" sz="2400" baseline="-25000">
                <a:latin typeface="Arial" panose="020B0604020202020204" pitchFamily="34" charset="0"/>
              </a:rPr>
              <a:t>puntual</a:t>
            </a:r>
            <a:r>
              <a:rPr lang="es-ES" sz="2400">
                <a:latin typeface="Arial" panose="020B0604020202020204" pitchFamily="34" charset="0"/>
              </a:rPr>
              <a:t> con Q de esfera en su centro</a:t>
            </a:r>
            <a:endParaRPr lang="es-ES" sz="2400" baseline="-25000">
              <a:latin typeface="Arial" panose="020B0604020202020204" pitchFamily="34" charset="0"/>
            </a:endParaRPr>
          </a:p>
        </p:txBody>
      </p:sp>
      <p:sp>
        <p:nvSpPr>
          <p:cNvPr id="9" name="Text Box 52">
            <a:extLst>
              <a:ext uri="{FF2B5EF4-FFF2-40B4-BE49-F238E27FC236}">
                <a16:creationId xmlns:a16="http://schemas.microsoft.com/office/drawing/2014/main" id="{47BE3CD5-0CCF-487C-8B84-5EEC607F5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6" y="4373539"/>
            <a:ext cx="986465" cy="510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</a:rPr>
              <a:t>Fuera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" name="Text Box 111">
            <a:extLst>
              <a:ext uri="{FF2B5EF4-FFF2-40B4-BE49-F238E27FC236}">
                <a16:creationId xmlns:a16="http://schemas.microsoft.com/office/drawing/2014/main" id="{23952F60-9496-B75B-2E8F-1AED7FB92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173" y="6446162"/>
            <a:ext cx="6428140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(para una volumétrica ambos son continuos)</a:t>
            </a:r>
            <a:endParaRPr lang="es-ES" sz="2400" baseline="-25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4" grpId="0" animBg="1"/>
      <p:bldP spid="3" grpId="0" animBg="1"/>
      <p:bldP spid="35860" grpId="0" animBg="1"/>
      <p:bldP spid="35862" grpId="0" animBg="1"/>
      <p:bldP spid="35861" grpId="0" animBg="1"/>
      <p:bldP spid="38" grpId="0" animBg="1"/>
      <p:bldP spid="9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0" name="Text Box 30"/>
          <p:cNvSpPr txBox="1">
            <a:spLocks noChangeArrowheads="1"/>
          </p:cNvSpPr>
          <p:nvPr/>
        </p:nvSpPr>
        <p:spPr bwMode="auto">
          <a:xfrm>
            <a:off x="5953125" y="2442834"/>
            <a:ext cx="4368800" cy="115093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=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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=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7892" name="Line 28"/>
          <p:cNvSpPr>
            <a:spLocks noChangeShapeType="1"/>
          </p:cNvSpPr>
          <p:nvPr/>
        </p:nvSpPr>
        <p:spPr bwMode="auto">
          <a:xfrm flipH="1">
            <a:off x="1790700" y="3383915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3" name="Line 27"/>
          <p:cNvSpPr>
            <a:spLocks noChangeShapeType="1"/>
          </p:cNvSpPr>
          <p:nvPr/>
        </p:nvSpPr>
        <p:spPr bwMode="auto">
          <a:xfrm>
            <a:off x="1797050" y="3379153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4" name="Text Box 2"/>
          <p:cNvSpPr txBox="1">
            <a:spLocks noChangeArrowheads="1"/>
          </p:cNvSpPr>
          <p:nvPr/>
        </p:nvSpPr>
        <p:spPr bwMode="auto">
          <a:xfrm>
            <a:off x="1190625" y="622032"/>
            <a:ext cx="44831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Calcular el trabajo que se debe realizar para transportar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sz="2400" dirty="0"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del punto 1 al punto 2</a:t>
            </a:r>
          </a:p>
        </p:txBody>
      </p:sp>
      <p:sp>
        <p:nvSpPr>
          <p:cNvPr id="37895" name="Line 4"/>
          <p:cNvSpPr>
            <a:spLocks noChangeShapeType="1"/>
          </p:cNvSpPr>
          <p:nvPr/>
        </p:nvSpPr>
        <p:spPr bwMode="auto">
          <a:xfrm>
            <a:off x="1354138" y="1841500"/>
            <a:ext cx="4319587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37896" name="Rectangle 14"/>
          <p:cNvSpPr>
            <a:spLocks noChangeArrowheads="1"/>
          </p:cNvSpPr>
          <p:nvPr/>
        </p:nvSpPr>
        <p:spPr bwMode="auto">
          <a:xfrm>
            <a:off x="1803400" y="3369628"/>
            <a:ext cx="2879725" cy="28797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897" name="Picture 1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31553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1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1489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9" name="Text Box 17"/>
          <p:cNvSpPr txBox="1">
            <a:spLocks noChangeArrowheads="1"/>
          </p:cNvSpPr>
          <p:nvPr/>
        </p:nvSpPr>
        <p:spPr bwMode="auto">
          <a:xfrm>
            <a:off x="1139825" y="2566793"/>
            <a:ext cx="1316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2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0" name="Text Box 18"/>
          <p:cNvSpPr txBox="1">
            <a:spLocks noChangeArrowheads="1"/>
          </p:cNvSpPr>
          <p:nvPr/>
        </p:nvSpPr>
        <p:spPr bwMode="auto">
          <a:xfrm>
            <a:off x="1276985" y="4630103"/>
            <a:ext cx="1300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 = 20 cm</a:t>
            </a:r>
          </a:p>
        </p:txBody>
      </p:sp>
      <p:sp>
        <p:nvSpPr>
          <p:cNvPr id="37901" name="Text Box 19"/>
          <p:cNvSpPr txBox="1">
            <a:spLocks noChangeArrowheads="1"/>
          </p:cNvSpPr>
          <p:nvPr/>
        </p:nvSpPr>
        <p:spPr bwMode="auto">
          <a:xfrm>
            <a:off x="3773170" y="2577905"/>
            <a:ext cx="1525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4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902" name="Picture 2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60382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2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60318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4" name="Text Box 22"/>
          <p:cNvSpPr txBox="1">
            <a:spLocks noChangeArrowheads="1"/>
          </p:cNvSpPr>
          <p:nvPr/>
        </p:nvSpPr>
        <p:spPr bwMode="auto">
          <a:xfrm>
            <a:off x="1139825" y="6480640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1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5" name="Text Box 24"/>
          <p:cNvSpPr txBox="1">
            <a:spLocks noChangeArrowheads="1"/>
          </p:cNvSpPr>
          <p:nvPr/>
        </p:nvSpPr>
        <p:spPr bwMode="auto">
          <a:xfrm>
            <a:off x="3773170" y="6482227"/>
            <a:ext cx="1535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pic>
        <p:nvPicPr>
          <p:cNvPr id="37906" name="Picture 2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88" y="461105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7" name="Text Box 26"/>
          <p:cNvSpPr txBox="1">
            <a:spLocks noChangeArrowheads="1"/>
          </p:cNvSpPr>
          <p:nvPr/>
        </p:nvSpPr>
        <p:spPr bwMode="auto">
          <a:xfrm>
            <a:off x="3552667" y="4590415"/>
            <a:ext cx="1150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= 3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8" name="Text Box 29"/>
          <p:cNvSpPr txBox="1">
            <a:spLocks noChangeArrowheads="1"/>
          </p:cNvSpPr>
          <p:nvPr/>
        </p:nvSpPr>
        <p:spPr bwMode="auto">
          <a:xfrm>
            <a:off x="3025775" y="3145790"/>
            <a:ext cx="43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</a:t>
            </a:r>
          </a:p>
        </p:txBody>
      </p:sp>
      <p:sp>
        <p:nvSpPr>
          <p:cNvPr id="37909" name="Text Box 32"/>
          <p:cNvSpPr txBox="1">
            <a:spLocks noChangeArrowheads="1"/>
          </p:cNvSpPr>
          <p:nvPr/>
        </p:nvSpPr>
        <p:spPr bwMode="auto">
          <a:xfrm>
            <a:off x="3089275" y="4101465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10" name="Text Box 33"/>
          <p:cNvSpPr txBox="1">
            <a:spLocks noChangeArrowheads="1"/>
          </p:cNvSpPr>
          <p:nvPr/>
        </p:nvSpPr>
        <p:spPr bwMode="auto">
          <a:xfrm>
            <a:off x="3084513" y="2752090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3596" name="Text Box 120"/>
          <p:cNvSpPr txBox="1">
            <a:spLocks noChangeArrowheads="1"/>
          </p:cNvSpPr>
          <p:nvPr/>
        </p:nvSpPr>
        <p:spPr bwMode="auto">
          <a:xfrm>
            <a:off x="6213698" y="3782846"/>
            <a:ext cx="3847655" cy="83317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 una distribución de carga discreta no </a:t>
            </a:r>
          </a:p>
        </p:txBody>
      </p:sp>
      <p:sp>
        <p:nvSpPr>
          <p:cNvPr id="37918" name="Text Box 44"/>
          <p:cNvSpPr txBox="1">
            <a:spLocks noChangeArrowheads="1"/>
          </p:cNvSpPr>
          <p:nvPr/>
        </p:nvSpPr>
        <p:spPr bwMode="auto">
          <a:xfrm>
            <a:off x="3663166" y="123597"/>
            <a:ext cx="4275117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21</a:t>
            </a:r>
          </a:p>
        </p:txBody>
      </p:sp>
      <p:sp>
        <p:nvSpPr>
          <p:cNvPr id="37920" name="Text Box 38"/>
          <p:cNvSpPr txBox="1">
            <a:spLocks noChangeArrowheads="1"/>
          </p:cNvSpPr>
          <p:nvPr/>
        </p:nvSpPr>
        <p:spPr bwMode="auto">
          <a:xfrm>
            <a:off x="6213698" y="4702599"/>
            <a:ext cx="3847655" cy="238320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Optemos por emplear la expresión del potencial V generado por una </a:t>
            </a:r>
            <a:r>
              <a:rPr lang="es-ES" sz="2400" dirty="0" err="1">
                <a:latin typeface="Arial" panose="020B0604020202020204" pitchFamily="34" charset="0"/>
              </a:rPr>
              <a:t>Q</a:t>
            </a:r>
            <a:r>
              <a:rPr lang="es-ES" sz="2400" baseline="-25000" dirty="0" err="1">
                <a:latin typeface="Arial" panose="020B0604020202020204" pitchFamily="34" charset="0"/>
              </a:rPr>
              <a:t>puntual</a:t>
            </a:r>
            <a:endParaRPr lang="es-ES" sz="2400" baseline="-250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y aplicar el Principio de Superposición para obtener V</a:t>
            </a:r>
            <a:r>
              <a:rPr lang="es-ES" sz="2400" baseline="-25000" dirty="0">
                <a:latin typeface="Arial" panose="020B0604020202020204" pitchFamily="34" charset="0"/>
              </a:rPr>
              <a:t>1</a:t>
            </a:r>
            <a:r>
              <a:rPr lang="es-ES" sz="2400" dirty="0">
                <a:latin typeface="Arial" panose="020B0604020202020204" pitchFamily="34" charset="0"/>
              </a:rPr>
              <a:t> y V</a:t>
            </a:r>
            <a:r>
              <a:rPr lang="es-ES" sz="2400" baseline="-25000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5E9FAD54-EA82-4DCA-9DBF-A9F795529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807" y="726872"/>
            <a:ext cx="44831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 carga «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sz="2400"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sentirá el </a:t>
            </a:r>
            <a:r>
              <a:rPr lang="es-ES" sz="2400" b="1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total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creado por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las cargas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sz="2400"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sufrirá una </a:t>
            </a:r>
            <a:r>
              <a:rPr lang="es-ES" sz="2400" b="1" err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 err="1">
                <a:latin typeface="Arial" panose="020B0604020202020204" pitchFamily="34" charset="0"/>
                <a:sym typeface="Symbol" panose="05050102010706020507" pitchFamily="18" charset="2"/>
              </a:rPr>
              <a:t>eléctrica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trabajo de esa fuerza entre 1 y 2 será:</a:t>
            </a:r>
          </a:p>
        </p:txBody>
      </p:sp>
    </p:spTree>
    <p:extLst>
      <p:ext uri="{BB962C8B-B14F-4D97-AF65-F5344CB8AC3E}">
        <p14:creationId xmlns:p14="http://schemas.microsoft.com/office/powerpoint/2010/main" val="91294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0" grpId="0" animBg="1"/>
      <p:bldP spid="23596" grpId="0" animBg="1"/>
      <p:bldP spid="37920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4" name="AutoShape 44"/>
          <p:cNvSpPr>
            <a:spLocks noChangeArrowheads="1"/>
          </p:cNvSpPr>
          <p:nvPr/>
        </p:nvSpPr>
        <p:spPr bwMode="auto">
          <a:xfrm>
            <a:off x="1778000" y="3352165"/>
            <a:ext cx="2905125" cy="2894013"/>
          </a:xfrm>
          <a:prstGeom prst="rtTriangle">
            <a:avLst/>
          </a:prstGeom>
          <a:solidFill>
            <a:srgbClr val="CCECFF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Line 28"/>
          <p:cNvSpPr>
            <a:spLocks noChangeShapeType="1"/>
          </p:cNvSpPr>
          <p:nvPr/>
        </p:nvSpPr>
        <p:spPr bwMode="auto">
          <a:xfrm flipH="1">
            <a:off x="1790700" y="3383915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3" name="Line 27"/>
          <p:cNvSpPr>
            <a:spLocks noChangeShapeType="1"/>
          </p:cNvSpPr>
          <p:nvPr/>
        </p:nvSpPr>
        <p:spPr bwMode="auto">
          <a:xfrm>
            <a:off x="1797050" y="3379153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4" name="Text Box 2"/>
          <p:cNvSpPr txBox="1">
            <a:spLocks noChangeArrowheads="1"/>
          </p:cNvSpPr>
          <p:nvPr/>
        </p:nvSpPr>
        <p:spPr bwMode="auto">
          <a:xfrm>
            <a:off x="1190625" y="622032"/>
            <a:ext cx="44831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Calcular el trabajo que se debe realizar para transportar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sz="2400"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del punto 1 al punto 2</a:t>
            </a:r>
          </a:p>
        </p:txBody>
      </p:sp>
      <p:sp>
        <p:nvSpPr>
          <p:cNvPr id="37895" name="Line 4"/>
          <p:cNvSpPr>
            <a:spLocks noChangeShapeType="1"/>
          </p:cNvSpPr>
          <p:nvPr/>
        </p:nvSpPr>
        <p:spPr bwMode="auto">
          <a:xfrm>
            <a:off x="1354138" y="1841500"/>
            <a:ext cx="4319587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37896" name="Rectangle 14"/>
          <p:cNvSpPr>
            <a:spLocks noChangeArrowheads="1"/>
          </p:cNvSpPr>
          <p:nvPr/>
        </p:nvSpPr>
        <p:spPr bwMode="auto">
          <a:xfrm>
            <a:off x="1803400" y="3369628"/>
            <a:ext cx="2879725" cy="28797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897" name="Picture 1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31553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1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1489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9" name="Text Box 17"/>
          <p:cNvSpPr txBox="1">
            <a:spLocks noChangeArrowheads="1"/>
          </p:cNvSpPr>
          <p:nvPr/>
        </p:nvSpPr>
        <p:spPr bwMode="auto">
          <a:xfrm>
            <a:off x="1139825" y="2566793"/>
            <a:ext cx="1316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2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0" name="Text Box 18"/>
          <p:cNvSpPr txBox="1">
            <a:spLocks noChangeArrowheads="1"/>
          </p:cNvSpPr>
          <p:nvPr/>
        </p:nvSpPr>
        <p:spPr bwMode="auto">
          <a:xfrm>
            <a:off x="1276985" y="4630103"/>
            <a:ext cx="1300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 = 20 cm</a:t>
            </a:r>
          </a:p>
        </p:txBody>
      </p:sp>
      <p:sp>
        <p:nvSpPr>
          <p:cNvPr id="37901" name="Text Box 19"/>
          <p:cNvSpPr txBox="1">
            <a:spLocks noChangeArrowheads="1"/>
          </p:cNvSpPr>
          <p:nvPr/>
        </p:nvSpPr>
        <p:spPr bwMode="auto">
          <a:xfrm>
            <a:off x="3773170" y="2577905"/>
            <a:ext cx="1525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4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902" name="Picture 2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60382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2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60318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4" name="Text Box 22"/>
          <p:cNvSpPr txBox="1">
            <a:spLocks noChangeArrowheads="1"/>
          </p:cNvSpPr>
          <p:nvPr/>
        </p:nvSpPr>
        <p:spPr bwMode="auto">
          <a:xfrm>
            <a:off x="1139825" y="6480640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1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5" name="Text Box 24"/>
          <p:cNvSpPr txBox="1">
            <a:spLocks noChangeArrowheads="1"/>
          </p:cNvSpPr>
          <p:nvPr/>
        </p:nvSpPr>
        <p:spPr bwMode="auto">
          <a:xfrm>
            <a:off x="3773170" y="6482227"/>
            <a:ext cx="1535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pic>
        <p:nvPicPr>
          <p:cNvPr id="37906" name="Picture 2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88" y="461105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7" name="Text Box 26"/>
          <p:cNvSpPr txBox="1">
            <a:spLocks noChangeArrowheads="1"/>
          </p:cNvSpPr>
          <p:nvPr/>
        </p:nvSpPr>
        <p:spPr bwMode="auto">
          <a:xfrm>
            <a:off x="3552667" y="4590415"/>
            <a:ext cx="1150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= 3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8" name="Text Box 29"/>
          <p:cNvSpPr txBox="1">
            <a:spLocks noChangeArrowheads="1"/>
          </p:cNvSpPr>
          <p:nvPr/>
        </p:nvSpPr>
        <p:spPr bwMode="auto">
          <a:xfrm>
            <a:off x="3025775" y="3145790"/>
            <a:ext cx="43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</a:t>
            </a:r>
          </a:p>
        </p:txBody>
      </p:sp>
      <p:sp>
        <p:nvSpPr>
          <p:cNvPr id="37909" name="Text Box 32"/>
          <p:cNvSpPr txBox="1">
            <a:spLocks noChangeArrowheads="1"/>
          </p:cNvSpPr>
          <p:nvPr/>
        </p:nvSpPr>
        <p:spPr bwMode="auto">
          <a:xfrm>
            <a:off x="3089275" y="4101465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10" name="Text Box 33"/>
          <p:cNvSpPr txBox="1">
            <a:spLocks noChangeArrowheads="1"/>
          </p:cNvSpPr>
          <p:nvPr/>
        </p:nvSpPr>
        <p:spPr bwMode="auto">
          <a:xfrm>
            <a:off x="3084513" y="2752090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21543" name="Group 39"/>
          <p:cNvGrpSpPr>
            <a:grpSpLocks/>
          </p:cNvGrpSpPr>
          <p:nvPr/>
        </p:nvGrpSpPr>
        <p:grpSpPr bwMode="auto">
          <a:xfrm>
            <a:off x="5676403" y="2973388"/>
            <a:ext cx="2654300" cy="601663"/>
            <a:chOff x="3560" y="2356"/>
            <a:chExt cx="1672" cy="379"/>
          </a:xfrm>
        </p:grpSpPr>
        <p:sp>
          <p:nvSpPr>
            <p:cNvPr id="37926" name="Text Box 34"/>
            <p:cNvSpPr txBox="1">
              <a:spLocks noChangeArrowheads="1"/>
            </p:cNvSpPr>
            <p:nvPr/>
          </p:nvSpPr>
          <p:spPr bwMode="auto">
            <a:xfrm>
              <a:off x="3560" y="2356"/>
              <a:ext cx="20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graphicFrame>
          <p:nvGraphicFramePr>
            <p:cNvPr id="37927" name="Object 35"/>
            <p:cNvGraphicFramePr>
              <a:graphicFrameLocks noChangeAspect="1"/>
            </p:cNvGraphicFramePr>
            <p:nvPr/>
          </p:nvGraphicFramePr>
          <p:xfrm>
            <a:off x="3791" y="2379"/>
            <a:ext cx="1441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977900" imgH="241300" progId="Equation.3">
                    <p:embed/>
                  </p:oleObj>
                </mc:Choice>
                <mc:Fallback>
                  <p:oleObj name="Ecuación" r:id="rId5" imgW="977900" imgH="241300" progId="Equation.3">
                    <p:embed/>
                    <p:pic>
                      <p:nvPicPr>
                        <p:cNvPr id="37927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1" y="2379"/>
                          <a:ext cx="1441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5676403" y="2166970"/>
            <a:ext cx="4292600" cy="600075"/>
            <a:chOff x="3750" y="1292"/>
            <a:chExt cx="2704" cy="378"/>
          </a:xfrm>
        </p:grpSpPr>
        <p:sp>
          <p:nvSpPr>
            <p:cNvPr id="37924" name="Text Box 37"/>
            <p:cNvSpPr txBox="1">
              <a:spLocks noChangeArrowheads="1"/>
            </p:cNvSpPr>
            <p:nvPr/>
          </p:nvSpPr>
          <p:spPr bwMode="auto">
            <a:xfrm>
              <a:off x="3750" y="1310"/>
              <a:ext cx="20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graphicFrame>
          <p:nvGraphicFramePr>
            <p:cNvPr id="37925" name="Object 38"/>
            <p:cNvGraphicFramePr>
              <a:graphicFrameLocks noChangeAspect="1"/>
            </p:cNvGraphicFramePr>
            <p:nvPr/>
          </p:nvGraphicFramePr>
          <p:xfrm>
            <a:off x="3940" y="1292"/>
            <a:ext cx="251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69449" imgH="190417" progId="Equation.3">
                    <p:embed/>
                  </p:oleObj>
                </mc:Choice>
                <mc:Fallback>
                  <p:oleObj name="Ecuación" r:id="rId7" imgW="1269449" imgH="190417" progId="Equation.3">
                    <p:embed/>
                    <p:pic>
                      <p:nvPicPr>
                        <p:cNvPr id="37925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0" y="1292"/>
                          <a:ext cx="2514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4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666086"/>
              </p:ext>
            </p:extLst>
          </p:nvPr>
        </p:nvGraphicFramePr>
        <p:xfrm>
          <a:off x="5689563" y="4020295"/>
          <a:ext cx="45767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524000" imgH="190500" progId="Equation.3">
                  <p:embed/>
                </p:oleObj>
              </mc:Choice>
              <mc:Fallback>
                <p:oleObj name="Ecuación" r:id="rId9" imgW="1524000" imgH="190500" progId="Equation.3">
                  <p:embed/>
                  <p:pic>
                    <p:nvPicPr>
                      <p:cNvPr id="25604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563" y="4020295"/>
                        <a:ext cx="457676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5" name="Object 45"/>
          <p:cNvGraphicFramePr>
            <a:graphicFrameLocks noChangeAspect="1"/>
          </p:cNvGraphicFramePr>
          <p:nvPr/>
        </p:nvGraphicFramePr>
        <p:xfrm>
          <a:off x="5800725" y="5050422"/>
          <a:ext cx="45926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727200" imgH="228600" progId="Equation.3">
                  <p:embed/>
                </p:oleObj>
              </mc:Choice>
              <mc:Fallback>
                <p:oleObj name="Ecuación" r:id="rId11" imgW="1727200" imgH="228600" progId="Equation.3">
                  <p:embed/>
                  <p:pic>
                    <p:nvPicPr>
                      <p:cNvPr id="25604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5050422"/>
                        <a:ext cx="4592638" cy="608013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3259138" y="4822190"/>
            <a:ext cx="1412875" cy="1412875"/>
            <a:chOff x="2165" y="2858"/>
            <a:chExt cx="890" cy="890"/>
          </a:xfrm>
        </p:grpSpPr>
        <p:sp>
          <p:nvSpPr>
            <p:cNvPr id="37922" name="Text Box 39"/>
            <p:cNvSpPr txBox="1">
              <a:spLocks noChangeArrowheads="1"/>
            </p:cNvSpPr>
            <p:nvPr/>
          </p:nvSpPr>
          <p:spPr bwMode="auto">
            <a:xfrm>
              <a:off x="2420" y="3255"/>
              <a:ext cx="20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37923" name="Line 46"/>
            <p:cNvSpPr>
              <a:spLocks noChangeShapeType="1"/>
            </p:cNvSpPr>
            <p:nvPr/>
          </p:nvSpPr>
          <p:spPr bwMode="auto">
            <a:xfrm>
              <a:off x="2165" y="2858"/>
              <a:ext cx="890" cy="89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aphicFrame>
        <p:nvGraphicFramePr>
          <p:cNvPr id="256048" name="Object 48"/>
          <p:cNvGraphicFramePr>
            <a:graphicFrameLocks noChangeAspect="1"/>
          </p:cNvGraphicFramePr>
          <p:nvPr/>
        </p:nvGraphicFramePr>
        <p:xfrm>
          <a:off x="5676900" y="5842029"/>
          <a:ext cx="480536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1600200" imgH="368300" progId="Equation.3">
                  <p:embed/>
                </p:oleObj>
              </mc:Choice>
              <mc:Fallback>
                <p:oleObj name="Ecuación" r:id="rId13" imgW="1600200" imgH="368300" progId="Equation.3">
                  <p:embed/>
                  <p:pic>
                    <p:nvPicPr>
                      <p:cNvPr id="25604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5842029"/>
                        <a:ext cx="4805363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8" name="Text Box 44"/>
          <p:cNvSpPr txBox="1">
            <a:spLocks noChangeArrowheads="1"/>
          </p:cNvSpPr>
          <p:nvPr/>
        </p:nvSpPr>
        <p:spPr bwMode="auto">
          <a:xfrm>
            <a:off x="3663166" y="123597"/>
            <a:ext cx="4275117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21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961702A6-41D6-49A3-8283-8466A999B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731745"/>
            <a:ext cx="4368800" cy="115093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=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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=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Text Box 38">
            <a:extLst>
              <a:ext uri="{FF2B5EF4-FFF2-40B4-BE49-F238E27FC236}">
                <a16:creationId xmlns:a16="http://schemas.microsoft.com/office/drawing/2014/main" id="{FBA9BB9F-FA4D-4BD4-9904-B94FCE2C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762" y="2759478"/>
            <a:ext cx="2102155" cy="120251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La expresión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por separado:</a:t>
            </a:r>
            <a:endParaRPr lang="es-ES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La </a:t>
            </a:r>
            <a:r>
              <a:rPr lang="es-ES" sz="2400" dirty="0">
                <a:solidFill>
                  <a:srgbClr val="FF0000"/>
                </a:solidFill>
              </a:rPr>
              <a:t>de </a:t>
            </a:r>
            <a:r>
              <a:rPr lang="es-ES" sz="2400" dirty="0" err="1">
                <a:solidFill>
                  <a:srgbClr val="FF0000"/>
                </a:solidFill>
              </a:rPr>
              <a:t>Q</a:t>
            </a:r>
            <a:r>
              <a:rPr lang="es-ES" sz="2400" baseline="-25000" dirty="0" err="1">
                <a:solidFill>
                  <a:srgbClr val="FF0000"/>
                </a:solidFill>
              </a:rPr>
              <a:t>puntual</a:t>
            </a:r>
            <a:endParaRPr lang="es-ES" sz="24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34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4" grpId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utoShape 2">
            <a:extLst>
              <a:ext uri="{FF2B5EF4-FFF2-40B4-BE49-F238E27FC236}">
                <a16:creationId xmlns:a16="http://schemas.microsoft.com/office/drawing/2014/main" id="{5541096B-8F26-4A3F-B4B2-7FC4DB115BD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106707" y="4090733"/>
            <a:ext cx="2905125" cy="1493837"/>
          </a:xfrm>
          <a:prstGeom prst="rtTriangle">
            <a:avLst/>
          </a:prstGeom>
          <a:solidFill>
            <a:srgbClr val="CCECFF"/>
          </a:solidFill>
          <a:ln>
            <a:noFill/>
          </a:ln>
        </p:spPr>
        <p:txBody>
          <a:bodyPr rot="10800000" vert="eaVert"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Line 28"/>
          <p:cNvSpPr>
            <a:spLocks noChangeShapeType="1"/>
          </p:cNvSpPr>
          <p:nvPr/>
        </p:nvSpPr>
        <p:spPr bwMode="auto">
          <a:xfrm flipH="1">
            <a:off x="1790700" y="3383915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3" name="Line 27"/>
          <p:cNvSpPr>
            <a:spLocks noChangeShapeType="1"/>
          </p:cNvSpPr>
          <p:nvPr/>
        </p:nvSpPr>
        <p:spPr bwMode="auto">
          <a:xfrm>
            <a:off x="1797050" y="3379153"/>
            <a:ext cx="2906713" cy="287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37894" name="Text Box 2"/>
          <p:cNvSpPr txBox="1">
            <a:spLocks noChangeArrowheads="1"/>
          </p:cNvSpPr>
          <p:nvPr/>
        </p:nvSpPr>
        <p:spPr bwMode="auto">
          <a:xfrm>
            <a:off x="1190625" y="622032"/>
            <a:ext cx="44831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1008063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Calcular el trabajo que se debe realizar para transportar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«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sz="2400">
                <a:latin typeface="Arial" panose="020B0604020202020204" pitchFamily="34" charset="0"/>
                <a:sym typeface="Symbol" panose="05050102010706020507" pitchFamily="18" charset="2"/>
              </a:rPr>
              <a:t>»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del punto 1 al punto 2</a:t>
            </a:r>
          </a:p>
        </p:txBody>
      </p:sp>
      <p:sp>
        <p:nvSpPr>
          <p:cNvPr id="37895" name="Line 4"/>
          <p:cNvSpPr>
            <a:spLocks noChangeShapeType="1"/>
          </p:cNvSpPr>
          <p:nvPr/>
        </p:nvSpPr>
        <p:spPr bwMode="auto">
          <a:xfrm>
            <a:off x="1354138" y="1841500"/>
            <a:ext cx="4319587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37896" name="Rectangle 14"/>
          <p:cNvSpPr>
            <a:spLocks noChangeArrowheads="1"/>
          </p:cNvSpPr>
          <p:nvPr/>
        </p:nvSpPr>
        <p:spPr bwMode="auto">
          <a:xfrm>
            <a:off x="1803400" y="3369628"/>
            <a:ext cx="2879725" cy="28797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897" name="Picture 1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8" y="31553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1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50" y="31489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9" name="Text Box 17"/>
          <p:cNvSpPr txBox="1">
            <a:spLocks noChangeArrowheads="1"/>
          </p:cNvSpPr>
          <p:nvPr/>
        </p:nvSpPr>
        <p:spPr bwMode="auto">
          <a:xfrm>
            <a:off x="1139825" y="2566793"/>
            <a:ext cx="1316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1" name="Text Box 19"/>
          <p:cNvSpPr txBox="1">
            <a:spLocks noChangeArrowheads="1"/>
          </p:cNvSpPr>
          <p:nvPr/>
        </p:nvSpPr>
        <p:spPr bwMode="auto">
          <a:xfrm>
            <a:off x="3773170" y="2577905"/>
            <a:ext cx="1525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4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7902" name="Picture 2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6038215"/>
            <a:ext cx="439737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21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6031865"/>
            <a:ext cx="449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4" name="Text Box 22"/>
          <p:cNvSpPr txBox="1">
            <a:spLocks noChangeArrowheads="1"/>
          </p:cNvSpPr>
          <p:nvPr/>
        </p:nvSpPr>
        <p:spPr bwMode="auto">
          <a:xfrm>
            <a:off x="1139825" y="6480640"/>
            <a:ext cx="1325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1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sp>
        <p:nvSpPr>
          <p:cNvPr id="37905" name="Text Box 24"/>
          <p:cNvSpPr txBox="1">
            <a:spLocks noChangeArrowheads="1"/>
          </p:cNvSpPr>
          <p:nvPr/>
        </p:nvSpPr>
        <p:spPr bwMode="auto">
          <a:xfrm>
            <a:off x="3773170" y="6482227"/>
            <a:ext cx="1535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C</a:t>
            </a:r>
          </a:p>
        </p:txBody>
      </p:sp>
      <p:pic>
        <p:nvPicPr>
          <p:cNvPr id="37906" name="Picture 2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88" y="4611053"/>
            <a:ext cx="439737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908" name="Text Box 29"/>
          <p:cNvSpPr txBox="1">
            <a:spLocks noChangeArrowheads="1"/>
          </p:cNvSpPr>
          <p:nvPr/>
        </p:nvSpPr>
        <p:spPr bwMode="auto">
          <a:xfrm>
            <a:off x="3025775" y="3145790"/>
            <a:ext cx="43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Webdings" panose="05030102010509060703" pitchFamily="18" charset="2"/>
              </a:rPr>
              <a:t></a:t>
            </a:r>
          </a:p>
        </p:txBody>
      </p:sp>
      <p:sp>
        <p:nvSpPr>
          <p:cNvPr id="37909" name="Text Box 32"/>
          <p:cNvSpPr txBox="1">
            <a:spLocks noChangeArrowheads="1"/>
          </p:cNvSpPr>
          <p:nvPr/>
        </p:nvSpPr>
        <p:spPr bwMode="auto">
          <a:xfrm>
            <a:off x="3089275" y="4101465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7910" name="Text Box 33"/>
          <p:cNvSpPr txBox="1">
            <a:spLocks noChangeArrowheads="1"/>
          </p:cNvSpPr>
          <p:nvPr/>
        </p:nvSpPr>
        <p:spPr bwMode="auto">
          <a:xfrm>
            <a:off x="3084513" y="2752090"/>
            <a:ext cx="322262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3366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7918" name="Text Box 44"/>
          <p:cNvSpPr txBox="1">
            <a:spLocks noChangeArrowheads="1"/>
          </p:cNvSpPr>
          <p:nvPr/>
        </p:nvSpPr>
        <p:spPr bwMode="auto">
          <a:xfrm>
            <a:off x="3663166" y="123597"/>
            <a:ext cx="4275117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1 - PROBLEMA 21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C47C5A-E0DE-4C71-A174-E44488FCD6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832988" y="3400964"/>
            <a:ext cx="1446213" cy="2894013"/>
            <a:chOff x="2032" y="1925"/>
            <a:chExt cx="911" cy="1823"/>
          </a:xfrm>
        </p:grpSpPr>
        <p:sp>
          <p:nvSpPr>
            <p:cNvPr id="38" name="Text Box 28">
              <a:extLst>
                <a:ext uri="{FF2B5EF4-FFF2-40B4-BE49-F238E27FC236}">
                  <a16:creationId xmlns:a16="http://schemas.microsoft.com/office/drawing/2014/main" id="{9D8D9A45-BCB2-42EC-B216-C7AAE454E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" y="2492"/>
              <a:ext cx="20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40" name="Line 31">
              <a:extLst>
                <a:ext uri="{FF2B5EF4-FFF2-40B4-BE49-F238E27FC236}">
                  <a16:creationId xmlns:a16="http://schemas.microsoft.com/office/drawing/2014/main" id="{79F38AC1-C93F-4866-BC07-210C2BBA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" y="1925"/>
              <a:ext cx="911" cy="182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grpSp>
        <p:nvGrpSpPr>
          <p:cNvPr id="41" name="Group 33">
            <a:extLst>
              <a:ext uri="{FF2B5EF4-FFF2-40B4-BE49-F238E27FC236}">
                <a16:creationId xmlns:a16="http://schemas.microsoft.com/office/drawing/2014/main" id="{49536473-59DA-4BC5-B6F0-3C8EE2F7EE57}"/>
              </a:ext>
            </a:extLst>
          </p:cNvPr>
          <p:cNvGrpSpPr>
            <a:grpSpLocks/>
          </p:cNvGrpSpPr>
          <p:nvPr/>
        </p:nvGrpSpPr>
        <p:grpSpPr bwMode="auto">
          <a:xfrm>
            <a:off x="5682365" y="2187990"/>
            <a:ext cx="4352925" cy="600075"/>
            <a:chOff x="3750" y="1292"/>
            <a:chExt cx="2742" cy="378"/>
          </a:xfrm>
        </p:grpSpPr>
        <p:sp>
          <p:nvSpPr>
            <p:cNvPr id="42" name="Text Box 26">
              <a:extLst>
                <a:ext uri="{FF2B5EF4-FFF2-40B4-BE49-F238E27FC236}">
                  <a16:creationId xmlns:a16="http://schemas.microsoft.com/office/drawing/2014/main" id="{2D877B24-8E65-4CF5-8F82-415437E13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310"/>
              <a:ext cx="20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graphicFrame>
          <p:nvGraphicFramePr>
            <p:cNvPr id="43" name="Object 27">
              <a:extLst>
                <a:ext uri="{FF2B5EF4-FFF2-40B4-BE49-F238E27FC236}">
                  <a16:creationId xmlns:a16="http://schemas.microsoft.com/office/drawing/2014/main" id="{8CD33860-A7BE-4414-B13C-C4E1029D1E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2" y="1292"/>
            <a:ext cx="2590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08100" imgH="190500" progId="Equation.3">
                    <p:embed/>
                  </p:oleObj>
                </mc:Choice>
                <mc:Fallback>
                  <p:oleObj name="Ecuación" r:id="rId5" imgW="1308100" imgH="190500" progId="Equation.3">
                    <p:embed/>
                    <p:pic>
                      <p:nvPicPr>
                        <p:cNvPr id="43" name="Object 27">
                          <a:extLst>
                            <a:ext uri="{FF2B5EF4-FFF2-40B4-BE49-F238E27FC236}">
                              <a16:creationId xmlns:a16="http://schemas.microsoft.com/office/drawing/2014/main" id="{8CD33860-A7BE-4414-B13C-C4E1029D1E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2" y="1292"/>
                          <a:ext cx="2590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" name="Object 29">
            <a:extLst>
              <a:ext uri="{FF2B5EF4-FFF2-40B4-BE49-F238E27FC236}">
                <a16:creationId xmlns:a16="http://schemas.microsoft.com/office/drawing/2014/main" id="{750ACBCA-4DE1-4BD4-BFD7-BC0CA4BE08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470770"/>
              </p:ext>
            </p:extLst>
          </p:nvPr>
        </p:nvGraphicFramePr>
        <p:xfrm>
          <a:off x="5705382" y="3684833"/>
          <a:ext cx="450056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498600" imgH="419100" progId="Equation.3">
                  <p:embed/>
                </p:oleObj>
              </mc:Choice>
              <mc:Fallback>
                <p:oleObj name="Ecuación" r:id="rId7" imgW="1498600" imgH="419100" progId="Equation.3">
                  <p:embed/>
                  <p:pic>
                    <p:nvPicPr>
                      <p:cNvPr id="44" name="Object 29">
                        <a:extLst>
                          <a:ext uri="{FF2B5EF4-FFF2-40B4-BE49-F238E27FC236}">
                            <a16:creationId xmlns:a16="http://schemas.microsoft.com/office/drawing/2014/main" id="{750ACBCA-4DE1-4BD4-BFD7-BC0CA4BE08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382" y="3684833"/>
                        <a:ext cx="4500563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0">
            <a:extLst>
              <a:ext uri="{FF2B5EF4-FFF2-40B4-BE49-F238E27FC236}">
                <a16:creationId xmlns:a16="http://schemas.microsoft.com/office/drawing/2014/main" id="{16AE0176-683A-4235-9DFF-FD435521AD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6217" y="5053179"/>
          <a:ext cx="54371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2044700" imgH="254000" progId="Equation.3">
                  <p:embed/>
                </p:oleObj>
              </mc:Choice>
              <mc:Fallback>
                <p:oleObj name="Ecuación" r:id="rId9" imgW="2044700" imgH="254000" progId="Equation.3">
                  <p:embed/>
                  <p:pic>
                    <p:nvPicPr>
                      <p:cNvPr id="45" name="Object 30">
                        <a:extLst>
                          <a:ext uri="{FF2B5EF4-FFF2-40B4-BE49-F238E27FC236}">
                            <a16:creationId xmlns:a16="http://schemas.microsoft.com/office/drawing/2014/main" id="{16AE0176-683A-4235-9DFF-FD435521AD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217" y="5053179"/>
                        <a:ext cx="5437188" cy="67627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35">
            <a:extLst>
              <a:ext uri="{FF2B5EF4-FFF2-40B4-BE49-F238E27FC236}">
                <a16:creationId xmlns:a16="http://schemas.microsoft.com/office/drawing/2014/main" id="{FB400DE2-9BDB-4014-A9DE-EEADAEB94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088" y="2899805"/>
            <a:ext cx="5476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L/2</a:t>
            </a:r>
          </a:p>
        </p:txBody>
      </p:sp>
      <p:graphicFrame>
        <p:nvGraphicFramePr>
          <p:cNvPr id="47" name="Object 32">
            <a:extLst>
              <a:ext uri="{FF2B5EF4-FFF2-40B4-BE49-F238E27FC236}">
                <a16:creationId xmlns:a16="http://schemas.microsoft.com/office/drawing/2014/main" id="{F82975CC-95D5-46CE-9375-A242BCE6E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256338"/>
              </p:ext>
            </p:extLst>
          </p:nvPr>
        </p:nvGraphicFramePr>
        <p:xfrm>
          <a:off x="5705382" y="5769907"/>
          <a:ext cx="47672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586811" imgH="393529" progId="Equation.3">
                  <p:embed/>
                </p:oleObj>
              </mc:Choice>
              <mc:Fallback>
                <p:oleObj name="Ecuación" r:id="rId11" imgW="1586811" imgH="393529" progId="Equation.3">
                  <p:embed/>
                  <p:pic>
                    <p:nvPicPr>
                      <p:cNvPr id="47" name="Object 32">
                        <a:extLst>
                          <a:ext uri="{FF2B5EF4-FFF2-40B4-BE49-F238E27FC236}">
                            <a16:creationId xmlns:a16="http://schemas.microsoft.com/office/drawing/2014/main" id="{F82975CC-95D5-46CE-9375-A242BCE6EB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382" y="5769907"/>
                        <a:ext cx="47672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17F9C8B7-C541-402F-AD14-1F198BC97E84}"/>
              </a:ext>
            </a:extLst>
          </p:cNvPr>
          <p:cNvGrpSpPr>
            <a:grpSpLocks/>
          </p:cNvGrpSpPr>
          <p:nvPr/>
        </p:nvGrpSpPr>
        <p:grpSpPr bwMode="auto">
          <a:xfrm>
            <a:off x="5675030" y="3011338"/>
            <a:ext cx="2684463" cy="601663"/>
            <a:chOff x="3560" y="2356"/>
            <a:chExt cx="1691" cy="379"/>
          </a:xfrm>
        </p:grpSpPr>
        <p:sp>
          <p:nvSpPr>
            <p:cNvPr id="49" name="Text Box 34">
              <a:extLst>
                <a:ext uri="{FF2B5EF4-FFF2-40B4-BE49-F238E27FC236}">
                  <a16:creationId xmlns:a16="http://schemas.microsoft.com/office/drawing/2014/main" id="{BE3FA21A-31D0-4A90-8D3E-14B09ED22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356"/>
              <a:ext cx="202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graphicFrame>
          <p:nvGraphicFramePr>
            <p:cNvPr id="50" name="Object 35">
              <a:extLst>
                <a:ext uri="{FF2B5EF4-FFF2-40B4-BE49-F238E27FC236}">
                  <a16:creationId xmlns:a16="http://schemas.microsoft.com/office/drawing/2014/main" id="{CA6696C8-B8EC-4873-B7F7-366D8E9068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3" y="2379"/>
            <a:ext cx="147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002865" imgH="241195" progId="Equation.3">
                    <p:embed/>
                  </p:oleObj>
                </mc:Choice>
                <mc:Fallback>
                  <p:oleObj name="Ecuación" r:id="rId13" imgW="1002865" imgH="241195" progId="Equation.3">
                    <p:embed/>
                    <p:pic>
                      <p:nvPicPr>
                        <p:cNvPr id="50" name="Object 35">
                          <a:extLst>
                            <a:ext uri="{FF2B5EF4-FFF2-40B4-BE49-F238E27FC236}">
                              <a16:creationId xmlns:a16="http://schemas.microsoft.com/office/drawing/2014/main" id="{CA6696C8-B8EC-4873-B7F7-366D8E9068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3" y="2379"/>
                          <a:ext cx="1478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35">
            <a:extLst>
              <a:ext uri="{FF2B5EF4-FFF2-40B4-BE49-F238E27FC236}">
                <a16:creationId xmlns:a16="http://schemas.microsoft.com/office/drawing/2014/main" id="{55E2C838-C039-42D9-ABBD-DE9402562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2888" y="2899805"/>
            <a:ext cx="5476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8000"/>
                </a:solidFill>
                <a:latin typeface="Arial" panose="020B0604020202020204" pitchFamily="34" charset="0"/>
              </a:rPr>
              <a:t>L/2</a:t>
            </a:r>
          </a:p>
        </p:txBody>
      </p:sp>
      <p:grpSp>
        <p:nvGrpSpPr>
          <p:cNvPr id="52" name="Group 36">
            <a:extLst>
              <a:ext uri="{FF2B5EF4-FFF2-40B4-BE49-F238E27FC236}">
                <a16:creationId xmlns:a16="http://schemas.microsoft.com/office/drawing/2014/main" id="{55FFDF5C-FDFA-4A01-9D95-96CF2EE9D8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56976" y="3410489"/>
            <a:ext cx="1446212" cy="2894013"/>
            <a:chOff x="2050" y="1931"/>
            <a:chExt cx="911" cy="1823"/>
          </a:xfrm>
        </p:grpSpPr>
        <p:sp>
          <p:nvSpPr>
            <p:cNvPr id="53" name="Text Box 28">
              <a:extLst>
                <a:ext uri="{FF2B5EF4-FFF2-40B4-BE49-F238E27FC236}">
                  <a16:creationId xmlns:a16="http://schemas.microsoft.com/office/drawing/2014/main" id="{B5DADB9C-41B3-40EA-B95B-4C2DEDCD6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492"/>
              <a:ext cx="203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54" name="Line 31">
              <a:extLst>
                <a:ext uri="{FF2B5EF4-FFF2-40B4-BE49-F238E27FC236}">
                  <a16:creationId xmlns:a16="http://schemas.microsoft.com/office/drawing/2014/main" id="{4A02B5E5-AF2C-475E-8F9B-B48C01962C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0" y="1931"/>
              <a:ext cx="911" cy="182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 sz="2400"/>
            </a:p>
          </p:txBody>
        </p:sp>
      </p:grpSp>
      <p:sp>
        <p:nvSpPr>
          <p:cNvPr id="55" name="Text Box 30">
            <a:extLst>
              <a:ext uri="{FF2B5EF4-FFF2-40B4-BE49-F238E27FC236}">
                <a16:creationId xmlns:a16="http://schemas.microsoft.com/office/drawing/2014/main" id="{5BE247C5-3706-462F-8EAD-BA753FA3D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25" y="731745"/>
            <a:ext cx="4368800" cy="1150937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W =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=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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= q (V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468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6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0">
            <a:extLst>
              <a:ext uri="{FF2B5EF4-FFF2-40B4-BE49-F238E27FC236}">
                <a16:creationId xmlns:a16="http://schemas.microsoft.com/office/drawing/2014/main" id="{961702A6-41D6-49A3-8283-8466A999B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64" y="308304"/>
            <a:ext cx="6755709" cy="60925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=  q (V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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= q (V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4D04F9B-66BF-4817-87AE-41B01EA26C1E}"/>
              </a:ext>
            </a:extLst>
          </p:cNvPr>
          <p:cNvGrpSpPr/>
          <p:nvPr/>
        </p:nvGrpSpPr>
        <p:grpSpPr>
          <a:xfrm>
            <a:off x="6857103" y="2526953"/>
            <a:ext cx="3060000" cy="1080000"/>
            <a:chOff x="6920163" y="2695015"/>
            <a:chExt cx="3060000" cy="1080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3BFA4ACB-5A32-41EA-94CF-DE89BC3681A3}"/>
                </a:ext>
              </a:extLst>
            </p:cNvPr>
            <p:cNvSpPr/>
            <p:nvPr/>
          </p:nvSpPr>
          <p:spPr bwMode="auto">
            <a:xfrm>
              <a:off x="6920163" y="2695015"/>
              <a:ext cx="3060000" cy="10800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5" name="Group 37">
              <a:extLst>
                <a:ext uri="{FF2B5EF4-FFF2-40B4-BE49-F238E27FC236}">
                  <a16:creationId xmlns:a16="http://schemas.microsoft.com/office/drawing/2014/main" id="{6D0CA043-F487-45B9-B6A1-D38E5F9F43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4261" y="2760035"/>
              <a:ext cx="2878138" cy="971550"/>
              <a:chOff x="1092" y="2801"/>
              <a:chExt cx="1813" cy="612"/>
            </a:xfrm>
          </p:grpSpPr>
          <p:sp>
            <p:nvSpPr>
              <p:cNvPr id="56" name="Text Box 38">
                <a:extLst>
                  <a:ext uri="{FF2B5EF4-FFF2-40B4-BE49-F238E27FC236}">
                    <a16:creationId xmlns:a16="http://schemas.microsoft.com/office/drawing/2014/main" id="{75983385-22C0-4132-926D-D4CCBA0D77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121"/>
                <a:ext cx="1028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FF0000"/>
                    </a:solidFill>
                  </a:rPr>
                  <a:t>L = 0,20 m</a:t>
                </a:r>
              </a:p>
            </p:txBody>
          </p:sp>
          <p:sp>
            <p:nvSpPr>
              <p:cNvPr id="57" name="Text Box 39">
                <a:extLst>
                  <a:ext uri="{FF2B5EF4-FFF2-40B4-BE49-F238E27FC236}">
                    <a16:creationId xmlns:a16="http://schemas.microsoft.com/office/drawing/2014/main" id="{6CD6612D-D772-41EB-A7D9-0581A51922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2" y="2801"/>
                <a:ext cx="16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chemeClr val="tx1"/>
                    </a:solidFill>
                  </a:rPr>
                  <a:t>K </a:t>
                </a:r>
                <a:r>
                  <a:rPr lang="es-ES" sz="2400">
                    <a:solidFill>
                      <a:schemeClr val="tx1"/>
                    </a:solidFill>
                    <a:sym typeface="Symbol" panose="05050102010706020507" pitchFamily="18" charset="2"/>
                  </a:rPr>
                  <a:t></a:t>
                </a:r>
                <a:r>
                  <a:rPr lang="es-ES" sz="2400">
                    <a:solidFill>
                      <a:schemeClr val="tx1"/>
                    </a:solidFill>
                  </a:rPr>
                  <a:t> 9 10</a:t>
                </a:r>
                <a:r>
                  <a:rPr lang="es-ES" sz="2400" baseline="30000">
                    <a:solidFill>
                      <a:schemeClr val="tx1"/>
                    </a:solidFill>
                  </a:rPr>
                  <a:t>9</a:t>
                </a:r>
                <a:r>
                  <a:rPr lang="es-ES" sz="2400">
                    <a:solidFill>
                      <a:schemeClr val="tx1"/>
                    </a:solidFill>
                  </a:rPr>
                  <a:t> N m</a:t>
                </a:r>
                <a:r>
                  <a:rPr lang="es-ES" sz="2400" baseline="30000">
                    <a:solidFill>
                      <a:schemeClr val="tx1"/>
                    </a:solidFill>
                  </a:rPr>
                  <a:t>2</a:t>
                </a:r>
                <a:r>
                  <a:rPr lang="es-ES" sz="2400">
                    <a:solidFill>
                      <a:schemeClr val="tx1"/>
                    </a:solidFill>
                  </a:rPr>
                  <a:t> C</a:t>
                </a:r>
                <a:r>
                  <a:rPr lang="es-ES" sz="2400" baseline="30000">
                    <a:solidFill>
                      <a:schemeClr val="tx1"/>
                    </a:solidFill>
                  </a:rPr>
                  <a:t>-2</a:t>
                </a:r>
              </a:p>
            </p:txBody>
          </p:sp>
          <p:sp>
            <p:nvSpPr>
              <p:cNvPr id="58" name="Text Box 40">
                <a:extLst>
                  <a:ext uri="{FF2B5EF4-FFF2-40B4-BE49-F238E27FC236}">
                    <a16:creationId xmlns:a16="http://schemas.microsoft.com/office/drawing/2014/main" id="{794B7432-1732-49EE-9546-89858EAA65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2" y="3110"/>
                <a:ext cx="773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FF0000"/>
                    </a:solidFill>
                    <a:sym typeface="Symbol" panose="05050102010706020507" pitchFamily="18" charset="2"/>
                  </a:rPr>
                  <a:t></a:t>
                </a:r>
                <a:r>
                  <a:rPr lang="es-ES" sz="2400">
                    <a:solidFill>
                      <a:srgbClr val="FF0000"/>
                    </a:solidFill>
                  </a:rPr>
                  <a:t> =10</a:t>
                </a:r>
                <a:r>
                  <a:rPr lang="es-ES" sz="2400" baseline="30000">
                    <a:solidFill>
                      <a:srgbClr val="FF0000"/>
                    </a:solidFill>
                  </a:rPr>
                  <a:t>-6</a:t>
                </a:r>
              </a:p>
            </p:txBody>
          </p:sp>
        </p:grpSp>
      </p:grpSp>
      <p:sp>
        <p:nvSpPr>
          <p:cNvPr id="61" name="Text Box 43">
            <a:extLst>
              <a:ext uri="{FF2B5EF4-FFF2-40B4-BE49-F238E27FC236}">
                <a16:creationId xmlns:a16="http://schemas.microsoft.com/office/drawing/2014/main" id="{7DC7040C-00BF-4799-BE45-F6C86C48E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734" y="3695451"/>
            <a:ext cx="8986874" cy="1992066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 wrap="square" lIns="108000" tIns="72000" rIns="108000" bIns="72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El error en K hace que el </a:t>
            </a:r>
            <a:r>
              <a:rPr lang="es-ES" sz="2400" dirty="0">
                <a:solidFill>
                  <a:srgbClr val="3333FF"/>
                </a:solidFill>
              </a:rPr>
              <a:t>resultado final </a:t>
            </a:r>
            <a:r>
              <a:rPr lang="es-ES" sz="2400" dirty="0">
                <a:solidFill>
                  <a:schemeClr val="tx1"/>
                </a:solidFill>
              </a:rPr>
              <a:t>deba ser redondeado como máximo a 3 o 4 cifras significativas. Si se redondea en </a:t>
            </a:r>
            <a:r>
              <a:rPr lang="es-ES" sz="2400" dirty="0">
                <a:solidFill>
                  <a:srgbClr val="3333FF"/>
                </a:solidFill>
              </a:rPr>
              <a:t>cálculos intermedios</a:t>
            </a:r>
            <a:r>
              <a:rPr lang="es-ES" sz="2400" dirty="0">
                <a:solidFill>
                  <a:schemeClr val="tx1"/>
                </a:solidFill>
              </a:rPr>
              <a:t>, se deben tomar como mínimo 1 o 2 cifras más, para añadir un error despreciable. Por comodidad, vamos a redondear ahora a 6 cifras, hasta las unidades, y a 2 al final </a:t>
            </a:r>
          </a:p>
        </p:txBody>
      </p:sp>
      <p:graphicFrame>
        <p:nvGraphicFramePr>
          <p:cNvPr id="62" name="Object 48">
            <a:extLst>
              <a:ext uri="{FF2B5EF4-FFF2-40B4-BE49-F238E27FC236}">
                <a16:creationId xmlns:a16="http://schemas.microsoft.com/office/drawing/2014/main" id="{3E294445-EDC3-4BA1-8DA0-3B23FF3B0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1020"/>
              </p:ext>
            </p:extLst>
          </p:nvPr>
        </p:nvGraphicFramePr>
        <p:xfrm>
          <a:off x="1281733" y="1065135"/>
          <a:ext cx="4805363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600200" imgH="368300" progId="Equation.3">
                  <p:embed/>
                </p:oleObj>
              </mc:Choice>
              <mc:Fallback>
                <p:oleObj name="Ecuación" r:id="rId3" imgW="1600200" imgH="368300" progId="Equation.3">
                  <p:embed/>
                  <p:pic>
                    <p:nvPicPr>
                      <p:cNvPr id="62" name="Object 48">
                        <a:extLst>
                          <a:ext uri="{FF2B5EF4-FFF2-40B4-BE49-F238E27FC236}">
                            <a16:creationId xmlns:a16="http://schemas.microsoft.com/office/drawing/2014/main" id="{3E294445-EDC3-4BA1-8DA0-3B23FF3B0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733" y="1065135"/>
                        <a:ext cx="4805363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2">
            <a:extLst>
              <a:ext uri="{FF2B5EF4-FFF2-40B4-BE49-F238E27FC236}">
                <a16:creationId xmlns:a16="http://schemas.microsoft.com/office/drawing/2014/main" id="{15A5015F-05FC-4069-B2A8-BF03942D2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977484"/>
              </p:ext>
            </p:extLst>
          </p:nvPr>
        </p:nvGraphicFramePr>
        <p:xfrm>
          <a:off x="1337679" y="2287896"/>
          <a:ext cx="476726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586811" imgH="393529" progId="Equation.3">
                  <p:embed/>
                </p:oleObj>
              </mc:Choice>
              <mc:Fallback>
                <p:oleObj name="Ecuación" r:id="rId5" imgW="1586811" imgH="393529" progId="Equation.3">
                  <p:embed/>
                  <p:pic>
                    <p:nvPicPr>
                      <p:cNvPr id="63" name="Object 32">
                        <a:extLst>
                          <a:ext uri="{FF2B5EF4-FFF2-40B4-BE49-F238E27FC236}">
                            <a16:creationId xmlns:a16="http://schemas.microsoft.com/office/drawing/2014/main" id="{15A5015F-05FC-4069-B2A8-BF03942D23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7679" y="2287896"/>
                        <a:ext cx="4767263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55FE2610-3895-4350-9530-2A7F9482630C}"/>
              </a:ext>
            </a:extLst>
          </p:cNvPr>
          <p:cNvGrpSpPr/>
          <p:nvPr/>
        </p:nvGrpSpPr>
        <p:grpSpPr>
          <a:xfrm>
            <a:off x="6424896" y="1003673"/>
            <a:ext cx="3843712" cy="1392052"/>
            <a:chOff x="6424896" y="1114201"/>
            <a:chExt cx="3843712" cy="1392052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C1E17B5-8683-4D74-BA33-2EFCD3518556}"/>
                </a:ext>
              </a:extLst>
            </p:cNvPr>
            <p:cNvSpPr/>
            <p:nvPr/>
          </p:nvSpPr>
          <p:spPr bwMode="auto">
            <a:xfrm>
              <a:off x="6424896" y="1114201"/>
              <a:ext cx="3843712" cy="1392052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0000" tIns="46800" rIns="90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4" name="Text Box 17">
              <a:extLst>
                <a:ext uri="{FF2B5EF4-FFF2-40B4-BE49-F238E27FC236}">
                  <a16:creationId xmlns:a16="http://schemas.microsoft.com/office/drawing/2014/main" id="{6BE4DC9D-F4D7-462C-B924-C3ABF2EF5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648" y="1152021"/>
              <a:ext cx="13160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2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C</a:t>
              </a:r>
            </a:p>
          </p:txBody>
        </p:sp>
        <p:sp>
          <p:nvSpPr>
            <p:cNvPr id="65" name="Text Box 19">
              <a:extLst>
                <a:ext uri="{FF2B5EF4-FFF2-40B4-BE49-F238E27FC236}">
                  <a16:creationId xmlns:a16="http://schemas.microsoft.com/office/drawing/2014/main" id="{B6E74F7C-DF62-47C1-B525-A6D1DF7E8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6255" y="1152020"/>
              <a:ext cx="15255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4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C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Text Box 22">
              <a:extLst>
                <a:ext uri="{FF2B5EF4-FFF2-40B4-BE49-F238E27FC236}">
                  <a16:creationId xmlns:a16="http://schemas.microsoft.com/office/drawing/2014/main" id="{125FDDD3-B209-4111-ADB0-FA90D4138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648" y="1543933"/>
              <a:ext cx="13255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1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C</a:t>
              </a:r>
            </a:p>
          </p:txBody>
        </p:sp>
        <p:sp>
          <p:nvSpPr>
            <p:cNvPr id="67" name="Text Box 24">
              <a:extLst>
                <a:ext uri="{FF2B5EF4-FFF2-40B4-BE49-F238E27FC236}">
                  <a16:creationId xmlns:a16="http://schemas.microsoft.com/office/drawing/2014/main" id="{88E3F54E-F47E-4292-83CC-AFAEA3B77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6255" y="1543933"/>
              <a:ext cx="15351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2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C</a:t>
              </a:r>
            </a:p>
          </p:txBody>
        </p:sp>
        <p:sp>
          <p:nvSpPr>
            <p:cNvPr id="68" name="Text Box 18">
              <a:extLst>
                <a:ext uri="{FF2B5EF4-FFF2-40B4-BE49-F238E27FC236}">
                  <a16:creationId xmlns:a16="http://schemas.microsoft.com/office/drawing/2014/main" id="{6ADA55E3-FA2A-41C8-B8D0-CC1CC5370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733" y="1995764"/>
              <a:ext cx="13001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L  = 20 cm</a:t>
              </a:r>
            </a:p>
          </p:txBody>
        </p:sp>
        <p:sp>
          <p:nvSpPr>
            <p:cNvPr id="69" name="Text Box 26">
              <a:extLst>
                <a:ext uri="{FF2B5EF4-FFF2-40B4-BE49-F238E27FC236}">
                  <a16:creationId xmlns:a16="http://schemas.microsoft.com/office/drawing/2014/main" id="{8228B12C-52FC-439D-B4DA-D1372BB34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3409" y="1955512"/>
              <a:ext cx="11509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   =    3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C</a:t>
              </a:r>
            </a:p>
          </p:txBody>
        </p:sp>
      </p:grpSp>
      <p:grpSp>
        <p:nvGrpSpPr>
          <p:cNvPr id="70" name="Group 34">
            <a:extLst>
              <a:ext uri="{FF2B5EF4-FFF2-40B4-BE49-F238E27FC236}">
                <a16:creationId xmlns:a16="http://schemas.microsoft.com/office/drawing/2014/main" id="{A3E70221-DA40-4144-B897-4EE6C9DE977B}"/>
              </a:ext>
            </a:extLst>
          </p:cNvPr>
          <p:cNvGrpSpPr>
            <a:grpSpLocks/>
          </p:cNvGrpSpPr>
          <p:nvPr/>
        </p:nvGrpSpPr>
        <p:grpSpPr bwMode="auto">
          <a:xfrm>
            <a:off x="1392076" y="5764660"/>
            <a:ext cx="2495550" cy="1036638"/>
            <a:chOff x="1224" y="3656"/>
            <a:chExt cx="1572" cy="653"/>
          </a:xfrm>
        </p:grpSpPr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id="{E5143F1C-D8F7-4587-A578-C41D6DF14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4" y="3656"/>
              <a:ext cx="15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190 919 V</a:t>
              </a:r>
            </a:p>
          </p:txBody>
        </p:sp>
        <p:sp>
          <p:nvSpPr>
            <p:cNvPr id="72" name="Text Box 68">
              <a:extLst>
                <a:ext uri="{FF2B5EF4-FFF2-40B4-BE49-F238E27FC236}">
                  <a16:creationId xmlns:a16="http://schemas.microsoft.com/office/drawing/2014/main" id="{1416B702-2BD4-4349-B8FE-84701D477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" y="3975"/>
              <a:ext cx="15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 220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 249 V</a:t>
              </a:r>
            </a:p>
          </p:txBody>
        </p:sp>
      </p:grpSp>
      <p:sp>
        <p:nvSpPr>
          <p:cNvPr id="73" name="AutoShape 45">
            <a:extLst>
              <a:ext uri="{FF2B5EF4-FFF2-40B4-BE49-F238E27FC236}">
                <a16:creationId xmlns:a16="http://schemas.microsoft.com/office/drawing/2014/main" id="{4C55F013-A482-4B63-956D-329A18A20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626" y="6081398"/>
            <a:ext cx="912001" cy="500063"/>
          </a:xfrm>
          <a:prstGeom prst="rightArrow">
            <a:avLst>
              <a:gd name="adj1" fmla="val 49843"/>
              <a:gd name="adj2" fmla="val 5258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74" name="Text Box 69">
            <a:extLst>
              <a:ext uri="{FF2B5EF4-FFF2-40B4-BE49-F238E27FC236}">
                <a16:creationId xmlns:a16="http://schemas.microsoft.com/office/drawing/2014/main" id="{C9EA2719-C444-41C8-98F7-351081E6B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552" y="6056320"/>
            <a:ext cx="1831248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 = 0,088 J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E93C11F-55E2-48D1-8165-AFDFA00211E6}"/>
              </a:ext>
            </a:extLst>
          </p:cNvPr>
          <p:cNvGrpSpPr/>
          <p:nvPr/>
        </p:nvGrpSpPr>
        <p:grpSpPr>
          <a:xfrm>
            <a:off x="7314974" y="5670500"/>
            <a:ext cx="1396834" cy="1339691"/>
            <a:chOff x="7284494" y="5670500"/>
            <a:chExt cx="1396834" cy="1339691"/>
          </a:xfrm>
        </p:grpSpPr>
        <p:sp>
          <p:nvSpPr>
            <p:cNvPr id="25" name="Text Box 38">
              <a:extLst>
                <a:ext uri="{FF2B5EF4-FFF2-40B4-BE49-F238E27FC236}">
                  <a16:creationId xmlns:a16="http://schemas.microsoft.com/office/drawing/2014/main" id="{B7D6228C-E0B4-48EF-8416-B5502A7BE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4494" y="6546345"/>
              <a:ext cx="1396834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científica</a:t>
              </a:r>
            </a:p>
          </p:txBody>
        </p:sp>
        <p:sp>
          <p:nvSpPr>
            <p:cNvPr id="27" name="Text Box 38">
              <a:extLst>
                <a:ext uri="{FF2B5EF4-FFF2-40B4-BE49-F238E27FC236}">
                  <a16:creationId xmlns:a16="http://schemas.microsoft.com/office/drawing/2014/main" id="{20D629CC-E507-43C0-84C0-885A5643F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4942" y="5670500"/>
              <a:ext cx="1347141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notación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A20D1EBF-1764-482D-BF82-63817A2D5371}"/>
              </a:ext>
            </a:extLst>
          </p:cNvPr>
          <p:cNvGrpSpPr/>
          <p:nvPr/>
        </p:nvGrpSpPr>
        <p:grpSpPr>
          <a:xfrm>
            <a:off x="8747502" y="5670500"/>
            <a:ext cx="1347141" cy="1349851"/>
            <a:chOff x="8717022" y="5670500"/>
            <a:chExt cx="1347141" cy="1349851"/>
          </a:xfrm>
        </p:grpSpPr>
        <p:sp>
          <p:nvSpPr>
            <p:cNvPr id="26" name="Text Box 38">
              <a:extLst>
                <a:ext uri="{FF2B5EF4-FFF2-40B4-BE49-F238E27FC236}">
                  <a16:creationId xmlns:a16="http://schemas.microsoft.com/office/drawing/2014/main" id="{D99927F8-785D-4AF6-BEDE-03D549351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8654" y="6556505"/>
              <a:ext cx="1157987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técnica</a:t>
              </a:r>
            </a:p>
          </p:txBody>
        </p:sp>
        <p:sp>
          <p:nvSpPr>
            <p:cNvPr id="28" name="Text Box 38">
              <a:extLst>
                <a:ext uri="{FF2B5EF4-FFF2-40B4-BE49-F238E27FC236}">
                  <a16:creationId xmlns:a16="http://schemas.microsoft.com/office/drawing/2014/main" id="{345DE7F4-C213-43D7-84A8-158FA195A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7022" y="5670500"/>
              <a:ext cx="1347141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notación</a:t>
              </a:r>
            </a:p>
          </p:txBody>
        </p:sp>
      </p:grpSp>
      <p:sp>
        <p:nvSpPr>
          <p:cNvPr id="31" name="Text Box 69">
            <a:extLst>
              <a:ext uri="{FF2B5EF4-FFF2-40B4-BE49-F238E27FC236}">
                <a16:creationId xmlns:a16="http://schemas.microsoft.com/office/drawing/2014/main" id="{95F85633-0444-462B-A263-18C748C4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041" y="6065908"/>
            <a:ext cx="1723847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8,8 10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J</a:t>
            </a:r>
          </a:p>
        </p:txBody>
      </p:sp>
      <p:sp>
        <p:nvSpPr>
          <p:cNvPr id="32" name="Text Box 69">
            <a:extLst>
              <a:ext uri="{FF2B5EF4-FFF2-40B4-BE49-F238E27FC236}">
                <a16:creationId xmlns:a16="http://schemas.microsoft.com/office/drawing/2014/main" id="{C02A2988-EE3A-4506-81D9-67AFDD8ED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958" y="6077812"/>
            <a:ext cx="1284624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88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mJ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5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73" grpId="0" animBg="1"/>
      <p:bldP spid="74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17" name="Text Box 73"/>
          <p:cNvSpPr txBox="1">
            <a:spLocks noChangeArrowheads="1"/>
          </p:cNvSpPr>
          <p:nvPr/>
        </p:nvSpPr>
        <p:spPr bwMode="auto">
          <a:xfrm>
            <a:off x="1507758" y="4183099"/>
            <a:ext cx="5422178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DICE QUE EL CAMPO TRABAJA</a:t>
            </a:r>
          </a:p>
        </p:txBody>
      </p:sp>
      <p:sp>
        <p:nvSpPr>
          <p:cNvPr id="262230" name="Text Box 86"/>
          <p:cNvSpPr txBox="1">
            <a:spLocks noChangeArrowheads="1"/>
          </p:cNvSpPr>
          <p:nvPr/>
        </p:nvSpPr>
        <p:spPr bwMode="auto">
          <a:xfrm>
            <a:off x="6507086" y="5529643"/>
            <a:ext cx="383069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 </a:t>
            </a:r>
            <a:r>
              <a:rPr lang="es-ES" sz="2400">
                <a:latin typeface="Arial" panose="020B0604020202020204" pitchFamily="34" charset="0"/>
              </a:rPr>
              <a:t>Si </a:t>
            </a:r>
            <a:r>
              <a:rPr lang="es-ES" sz="2400" dirty="0">
                <a:latin typeface="Arial" panose="020B0604020202020204" pitchFamily="34" charset="0"/>
              </a:rPr>
              <a:t>el </a:t>
            </a:r>
            <a:r>
              <a:rPr lang="es-ES" sz="2400">
                <a:latin typeface="Arial" panose="020B0604020202020204" pitchFamily="34" charset="0"/>
              </a:rPr>
              <a:t>proceso tuviera una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etapa, sería </a:t>
            </a:r>
            <a:r>
              <a:rPr lang="es-ES" sz="2400" dirty="0">
                <a:latin typeface="Arial" panose="020B0604020202020204" pitchFamily="34" charset="0"/>
              </a:rPr>
              <a:t>espontáneo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56030" name="Text Box 30"/>
          <p:cNvSpPr txBox="1">
            <a:spLocks noChangeArrowheads="1"/>
          </p:cNvSpPr>
          <p:nvPr/>
        </p:nvSpPr>
        <p:spPr bwMode="auto">
          <a:xfrm>
            <a:off x="2160896" y="2187378"/>
            <a:ext cx="7211562" cy="60925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 V   | 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q 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q V = 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2017" name="Text Box 70"/>
          <p:cNvSpPr txBox="1">
            <a:spLocks noChangeArrowheads="1"/>
          </p:cNvSpPr>
          <p:nvPr/>
        </p:nvSpPr>
        <p:spPr bwMode="auto">
          <a:xfrm>
            <a:off x="6595500" y="3012428"/>
            <a:ext cx="1330327" cy="5905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&lt; 0</a:t>
            </a:r>
          </a:p>
        </p:txBody>
      </p:sp>
      <p:sp>
        <p:nvSpPr>
          <p:cNvPr id="41998" name="AutoShape 9"/>
          <p:cNvSpPr>
            <a:spLocks noChangeArrowheads="1"/>
          </p:cNvSpPr>
          <p:nvPr/>
        </p:nvSpPr>
        <p:spPr bwMode="auto">
          <a:xfrm>
            <a:off x="5748173" y="3057943"/>
            <a:ext cx="565151" cy="531813"/>
          </a:xfrm>
          <a:prstGeom prst="rightArrow">
            <a:avLst>
              <a:gd name="adj1" fmla="val 53889"/>
              <a:gd name="adj2" fmla="val 584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sp>
        <p:nvSpPr>
          <p:cNvPr id="3" name="Text Box 86"/>
          <p:cNvSpPr txBox="1">
            <a:spLocks noChangeArrowheads="1"/>
          </p:cNvSpPr>
          <p:nvPr/>
        </p:nvSpPr>
        <p:spPr bwMode="auto">
          <a:xfrm>
            <a:off x="1523658" y="4901032"/>
            <a:ext cx="6780588" cy="53654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dice porque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s-ES" sz="2400">
                <a:latin typeface="Arial" panose="020B0604020202020204" pitchFamily="34" charset="0"/>
              </a:rPr>
              <a:t>a Naturaleza tiende </a:t>
            </a:r>
            <a:r>
              <a:rPr lang="es-ES" sz="2400" dirty="0">
                <a:latin typeface="Arial" panose="020B0604020202020204" pitchFamily="34" charset="0"/>
              </a:rPr>
              <a:t>a </a:t>
            </a:r>
            <a:r>
              <a:rPr lang="es-ES" sz="2400">
                <a:latin typeface="Arial" panose="020B0604020202020204" pitchFamily="34" charset="0"/>
              </a:rPr>
              <a:t>reducir E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5633" name="Group 33"/>
          <p:cNvGrpSpPr>
            <a:grpSpLocks/>
          </p:cNvGrpSpPr>
          <p:nvPr/>
        </p:nvGrpSpPr>
        <p:grpSpPr bwMode="auto">
          <a:xfrm>
            <a:off x="1370013" y="3002894"/>
            <a:ext cx="3494093" cy="609600"/>
            <a:chOff x="863" y="1875"/>
            <a:chExt cx="2201" cy="384"/>
          </a:xfrm>
        </p:grpSpPr>
        <p:sp>
          <p:nvSpPr>
            <p:cNvPr id="41995" name="Text Box 69"/>
            <p:cNvSpPr txBox="1">
              <a:spLocks noChangeArrowheads="1"/>
            </p:cNvSpPr>
            <p:nvPr/>
          </p:nvSpPr>
          <p:spPr bwMode="auto">
            <a:xfrm>
              <a:off x="1940" y="1875"/>
              <a:ext cx="1124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118800" rIns="90000" bIns="118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W</a:t>
              </a:r>
              <a:r>
                <a:rPr lang="es-ES" sz="2400" b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=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88 mJ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996" name="Text Box 11"/>
            <p:cNvSpPr txBox="1">
              <a:spLocks noChangeArrowheads="1"/>
            </p:cNvSpPr>
            <p:nvPr/>
          </p:nvSpPr>
          <p:spPr bwMode="auto">
            <a:xfrm>
              <a:off x="863" y="1914"/>
              <a:ext cx="10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 Ha salido</a:t>
              </a:r>
            </a:p>
          </p:txBody>
        </p:sp>
      </p:grpSp>
      <p:sp>
        <p:nvSpPr>
          <p:cNvPr id="4" name="Text Box 73"/>
          <p:cNvSpPr txBox="1">
            <a:spLocks noChangeArrowheads="1"/>
          </p:cNvSpPr>
          <p:nvPr/>
        </p:nvSpPr>
        <p:spPr bwMode="auto">
          <a:xfrm>
            <a:off x="7042866" y="3990960"/>
            <a:ext cx="2996334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(NETAMENTE        si hay varias etapas)</a:t>
            </a:r>
          </a:p>
        </p:txBody>
      </p:sp>
      <p:sp>
        <p:nvSpPr>
          <p:cNvPr id="42009" name="Text Box 40"/>
          <p:cNvSpPr txBox="1">
            <a:spLocks noChangeArrowheads="1"/>
          </p:cNvSpPr>
          <p:nvPr/>
        </p:nvSpPr>
        <p:spPr bwMode="auto">
          <a:xfrm>
            <a:off x="1350963" y="836879"/>
            <a:ext cx="8856662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</a:rPr>
              <a:t> 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cargas</a:t>
            </a:r>
            <a:r>
              <a:rPr lang="es-ES" sz="2400" dirty="0">
                <a:latin typeface="Arial" panose="020B0604020202020204" pitchFamily="34" charset="0"/>
              </a:rPr>
              <a:t> que generan el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que </a:t>
            </a:r>
            <a:r>
              <a:rPr lang="es-ES" sz="2400">
                <a:latin typeface="Arial" panose="020B0604020202020204" pitchFamily="34" charset="0"/>
              </a:rPr>
              <a:t>sufre q: </a:t>
            </a:r>
            <a:r>
              <a:rPr lang="es-ES" sz="2400" dirty="0">
                <a:latin typeface="Arial" panose="020B0604020202020204" pitchFamily="34" charset="0"/>
              </a:rPr>
              <a:t>Q</a:t>
            </a:r>
            <a:r>
              <a:rPr lang="es-ES" sz="2400" baseline="-25000" dirty="0">
                <a:latin typeface="Arial" panose="020B0604020202020204" pitchFamily="34" charset="0"/>
              </a:rPr>
              <a:t>A</a:t>
            </a:r>
            <a:r>
              <a:rPr lang="es-ES" sz="2400" dirty="0">
                <a:latin typeface="Arial" panose="020B0604020202020204" pitchFamily="34" charset="0"/>
              </a:rPr>
              <a:t>, Q</a:t>
            </a:r>
            <a:r>
              <a:rPr lang="es-ES" sz="2400" baseline="-25000" dirty="0">
                <a:latin typeface="Arial" panose="020B0604020202020204" pitchFamily="34" charset="0"/>
              </a:rPr>
              <a:t>B</a:t>
            </a:r>
            <a:r>
              <a:rPr lang="es-ES" sz="2400" dirty="0">
                <a:latin typeface="Arial" panose="020B0604020202020204" pitchFamily="34" charset="0"/>
              </a:rPr>
              <a:t>, Q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 dirty="0">
                <a:latin typeface="Arial" panose="020B0604020202020204" pitchFamily="34" charset="0"/>
              </a:rPr>
              <a:t> y Q</a:t>
            </a:r>
            <a:r>
              <a:rPr lang="es-ES" sz="2400" baseline="-25000" dirty="0">
                <a:latin typeface="Arial" panose="020B0604020202020204" pitchFamily="34" charset="0"/>
              </a:rPr>
              <a:t>D</a:t>
            </a:r>
            <a:r>
              <a:rPr lang="es-ES" sz="2400" dirty="0">
                <a:latin typeface="Arial" panose="020B0604020202020204" pitchFamily="34" charset="0"/>
              </a:rPr>
              <a:t>, están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fijas</a:t>
            </a:r>
            <a:r>
              <a:rPr lang="es-ES" sz="2400" dirty="0">
                <a:latin typeface="Arial" panose="020B0604020202020204" pitchFamily="34" charset="0"/>
              </a:rPr>
              <a:t>. Eso hace que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y la </a:t>
            </a:r>
            <a:r>
              <a:rPr lang="es-ES" sz="2400" b="1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debida a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que sufre q sean conservativos y que sea útil usar V </a:t>
            </a:r>
            <a:r>
              <a:rPr lang="es-ES" sz="2400">
                <a:latin typeface="Arial" panose="020B0604020202020204" pitchFamily="34" charset="0"/>
              </a:rPr>
              <a:t>y E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r>
              <a:rPr lang="es-ES" sz="2400">
                <a:latin typeface="Arial" panose="020B0604020202020204" pitchFamily="34" charset="0"/>
              </a:rPr>
              <a:t> para evaluar su trabajo: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994" name="Text Box 27"/>
          <p:cNvSpPr txBox="1">
            <a:spLocks noChangeArrowheads="1"/>
          </p:cNvSpPr>
          <p:nvPr/>
        </p:nvSpPr>
        <p:spPr bwMode="auto">
          <a:xfrm>
            <a:off x="4543972" y="313281"/>
            <a:ext cx="2449623" cy="463846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COMENTARIOS</a:t>
            </a:r>
          </a:p>
        </p:txBody>
      </p:sp>
      <p:sp>
        <p:nvSpPr>
          <p:cNvPr id="14" name="Text Box 86">
            <a:extLst>
              <a:ext uri="{FF2B5EF4-FFF2-40B4-BE49-F238E27FC236}">
                <a16:creationId xmlns:a16="http://schemas.microsoft.com/office/drawing/2014/main" id="{297B104B-1FF8-4C16-9AB6-015770375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3095" y="6321995"/>
            <a:ext cx="4264629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(ej.: caída desde un edificio)</a:t>
            </a:r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7E61229-D4A7-4E92-8148-8641AF6AE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935" y="3521859"/>
            <a:ext cx="3938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(el W de la fuerza eléctrica)</a:t>
            </a:r>
          </a:p>
        </p:txBody>
      </p:sp>
      <p:sp>
        <p:nvSpPr>
          <p:cNvPr id="2" name="Text Box 69">
            <a:extLst>
              <a:ext uri="{FF2B5EF4-FFF2-40B4-BE49-F238E27FC236}">
                <a16:creationId xmlns:a16="http://schemas.microsoft.com/office/drawing/2014/main" id="{5AC2E52E-D621-39FE-01F1-EF29900E8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528" y="3006453"/>
            <a:ext cx="617775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" name="Text Box 86">
            <a:extLst>
              <a:ext uri="{FF2B5EF4-FFF2-40B4-BE49-F238E27FC236}">
                <a16:creationId xmlns:a16="http://schemas.microsoft.com/office/drawing/2014/main" id="{4E7D758A-BE07-EF81-B0CB-4C8CE8C0C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7578" y="5583975"/>
            <a:ext cx="4610907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Al ser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>
                <a:latin typeface="Arial" panose="020B0604020202020204" pitchFamily="34" charset="0"/>
              </a:rPr>
              <a:t>E</a:t>
            </a:r>
            <a:r>
              <a:rPr lang="es-ES" sz="2400" baseline="-25000">
                <a:latin typeface="Arial" panose="020B0604020202020204" pitchFamily="34" charset="0"/>
              </a:rPr>
              <a:t>P </a:t>
            </a:r>
            <a:r>
              <a:rPr lang="es-ES" sz="2400">
                <a:latin typeface="Arial" panose="020B0604020202020204" pitchFamily="34" charset="0"/>
              </a:rPr>
              <a:t>&lt; 0, la Naturaleza realiza el W, W</a:t>
            </a:r>
            <a:r>
              <a:rPr lang="es-ES" sz="2400" b="1" baseline="-25000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, que transforma </a:t>
            </a:r>
            <a:r>
              <a:rPr lang="es-ES" sz="24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en E</a:t>
            </a:r>
            <a:r>
              <a:rPr lang="es-ES" sz="2400" baseline="-25000">
                <a:latin typeface="Arial" panose="020B0604020202020204" pitchFamily="34" charset="0"/>
              </a:rPr>
              <a:t>C </a:t>
            </a:r>
            <a:r>
              <a:rPr lang="es-ES" sz="2400">
                <a:latin typeface="Arial" panose="020B0604020202020204" pitchFamily="34" charset="0"/>
              </a:rPr>
              <a:t>y lleva a q de 1 a 2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773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6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6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217" grpId="0" animBg="1"/>
      <p:bldP spid="262230" grpId="0"/>
      <p:bldP spid="256030" grpId="0" animBg="1"/>
      <p:bldP spid="42017" grpId="0" animBg="1"/>
      <p:bldP spid="41998" grpId="0" animBg="1"/>
      <p:bldP spid="3" grpId="0" animBg="1"/>
      <p:bldP spid="4" grpId="0"/>
      <p:bldP spid="42009" grpId="0"/>
      <p:bldP spid="41994" grpId="0" animBg="1"/>
      <p:bldP spid="14" grpId="0"/>
      <p:bldP spid="16" grpId="0"/>
      <p:bldP spid="2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29" name="Text Box 85"/>
          <p:cNvSpPr txBox="1">
            <a:spLocks noChangeArrowheads="1"/>
          </p:cNvSpPr>
          <p:nvPr/>
        </p:nvSpPr>
        <p:spPr bwMode="auto">
          <a:xfrm>
            <a:off x="1630524" y="3602770"/>
            <a:ext cx="8217786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Habría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que hacer, como </a:t>
            </a:r>
            <a:r>
              <a:rPr lang="es-ES" sz="2400">
                <a:latin typeface="Arial" panose="020B0604020202020204" pitchFamily="34" charset="0"/>
              </a:rPr>
              <a:t>mínimo, un </a:t>
            </a:r>
            <a:r>
              <a:rPr lang="es-ES" sz="2400" dirty="0">
                <a:latin typeface="Arial" panose="020B0604020202020204" pitchFamily="34" charset="0"/>
              </a:rPr>
              <a:t>W igual, </a:t>
            </a:r>
            <a:r>
              <a:rPr lang="es-ES" sz="2400">
                <a:latin typeface="Arial" panose="020B0604020202020204" pitchFamily="34" charset="0"/>
              </a:rPr>
              <a:t>pero positivo, dando </a:t>
            </a:r>
            <a:r>
              <a:rPr lang="es-ES" sz="2400" dirty="0">
                <a:latin typeface="Arial" panose="020B0604020202020204" pitchFamily="34" charset="0"/>
              </a:rPr>
              <a:t>E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>
                <a:latin typeface="Arial" panose="020B0604020202020204" pitchFamily="34" charset="0"/>
              </a:rPr>
              <a:t>, para que q pasara de 1 a 2, mientras la </a:t>
            </a:r>
            <a:r>
              <a:rPr lang="es-ES" sz="2400" b="1">
                <a:latin typeface="Arial" panose="020B0604020202020204" pitchFamily="34" charset="0"/>
              </a:rPr>
              <a:t>F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trabajaría en </a:t>
            </a:r>
            <a:r>
              <a:rPr lang="es-ES" sz="2400" dirty="0">
                <a:latin typeface="Arial" panose="020B0604020202020204" pitchFamily="34" charset="0"/>
              </a:rPr>
              <a:t>contra (W</a:t>
            </a:r>
            <a:r>
              <a:rPr lang="es-ES" sz="2400" b="1" baseline="-25000" dirty="0">
                <a:latin typeface="Arial" panose="020B0604020202020204" pitchFamily="34" charset="0"/>
              </a:rPr>
              <a:t>F</a:t>
            </a:r>
            <a:r>
              <a:rPr lang="es-ES" sz="2400" dirty="0">
                <a:latin typeface="Arial" panose="020B0604020202020204" pitchFamily="34" charset="0"/>
              </a:rPr>
              <a:t> &lt; 0</a:t>
            </a:r>
            <a:r>
              <a:rPr lang="es-ES" sz="2400">
                <a:latin typeface="Arial" panose="020B0604020202020204" pitchFamily="34" charset="0"/>
              </a:rPr>
              <a:t>) transformando </a:t>
            </a:r>
            <a:r>
              <a:rPr lang="es-ES" sz="2400" dirty="0">
                <a:latin typeface="Arial" panose="020B0604020202020204" pitchFamily="34" charset="0"/>
              </a:rPr>
              <a:t>esa E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 dirty="0">
                <a:latin typeface="Arial" panose="020B0604020202020204" pitchFamily="34" charset="0"/>
              </a:rPr>
              <a:t> en E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5637" name="Group 37"/>
          <p:cNvGrpSpPr>
            <a:grpSpLocks/>
          </p:cNvGrpSpPr>
          <p:nvPr/>
        </p:nvGrpSpPr>
        <p:grpSpPr bwMode="auto">
          <a:xfrm>
            <a:off x="1467082" y="1330887"/>
            <a:ext cx="3690955" cy="609600"/>
            <a:chOff x="846" y="3234"/>
            <a:chExt cx="2325" cy="384"/>
          </a:xfrm>
        </p:grpSpPr>
        <p:sp>
          <p:nvSpPr>
            <p:cNvPr id="44044" name="Text Box 69"/>
            <p:cNvSpPr txBox="1">
              <a:spLocks noChangeArrowheads="1"/>
            </p:cNvSpPr>
            <p:nvPr/>
          </p:nvSpPr>
          <p:spPr bwMode="auto">
            <a:xfrm>
              <a:off x="2467" y="3234"/>
              <a:ext cx="704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118800" rIns="90000" bIns="118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W</a:t>
              </a:r>
              <a:r>
                <a:rPr lang="es-ES" sz="2400" b="1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 &lt; 0</a:t>
              </a:r>
            </a:p>
          </p:txBody>
        </p:sp>
        <p:sp>
          <p:nvSpPr>
            <p:cNvPr id="44045" name="Text Box 16"/>
            <p:cNvSpPr txBox="1">
              <a:spLocks noChangeArrowheads="1"/>
            </p:cNvSpPr>
            <p:nvPr/>
          </p:nvSpPr>
          <p:spPr bwMode="auto">
            <a:xfrm>
              <a:off x="846" y="3292"/>
              <a:ext cx="154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 Si hubiera sido</a:t>
              </a:r>
            </a:p>
          </p:txBody>
        </p:sp>
      </p:grpSp>
      <p:sp>
        <p:nvSpPr>
          <p:cNvPr id="39" name="Text Box 73"/>
          <p:cNvSpPr txBox="1">
            <a:spLocks noChangeArrowheads="1"/>
          </p:cNvSpPr>
          <p:nvPr/>
        </p:nvSpPr>
        <p:spPr bwMode="auto">
          <a:xfrm>
            <a:off x="1630523" y="2458515"/>
            <a:ext cx="4511397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DIRÍA QUE SE TRABAJA CONTRA EL CAMPO</a:t>
            </a:r>
          </a:p>
        </p:txBody>
      </p:sp>
      <p:sp>
        <p:nvSpPr>
          <p:cNvPr id="40" name="Text Box 73"/>
          <p:cNvSpPr txBox="1">
            <a:spLocks noChangeArrowheads="1"/>
          </p:cNvSpPr>
          <p:nvPr/>
        </p:nvSpPr>
        <p:spPr bwMode="auto">
          <a:xfrm>
            <a:off x="6395714" y="2467446"/>
            <a:ext cx="3062720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(NETAMENTE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si hay varias etapas)</a:t>
            </a:r>
          </a:p>
        </p:txBody>
      </p:sp>
      <p:sp>
        <p:nvSpPr>
          <p:cNvPr id="41" name="Text Box 86"/>
          <p:cNvSpPr txBox="1">
            <a:spLocks noChangeArrowheads="1"/>
          </p:cNvSpPr>
          <p:nvPr/>
        </p:nvSpPr>
        <p:spPr bwMode="auto">
          <a:xfrm>
            <a:off x="2269839" y="4780887"/>
            <a:ext cx="698050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s lo que ocurre, p.ej., al elevar un objeto)</a:t>
            </a:r>
          </a:p>
        </p:txBody>
      </p:sp>
      <p:sp>
        <p:nvSpPr>
          <p:cNvPr id="15" name="Text Box 70">
            <a:extLst>
              <a:ext uri="{FF2B5EF4-FFF2-40B4-BE49-F238E27FC236}">
                <a16:creationId xmlns:a16="http://schemas.microsoft.com/office/drawing/2014/main" id="{D2601FBC-87EF-41F9-B2C2-0E2970342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0849" y="1373798"/>
            <a:ext cx="1330327" cy="5905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no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&gt; 0</a:t>
            </a:r>
          </a:p>
        </p:txBody>
      </p:sp>
      <p:sp>
        <p:nvSpPr>
          <p:cNvPr id="16" name="AutoShape 9">
            <a:extLst>
              <a:ext uri="{FF2B5EF4-FFF2-40B4-BE49-F238E27FC236}">
                <a16:creationId xmlns:a16="http://schemas.microsoft.com/office/drawing/2014/main" id="{186C1CDF-532C-4B23-84F2-375602B3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632" y="1429361"/>
            <a:ext cx="565151" cy="531813"/>
          </a:xfrm>
          <a:prstGeom prst="rightArrow">
            <a:avLst>
              <a:gd name="adj1" fmla="val 53889"/>
              <a:gd name="adj2" fmla="val 58448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/>
          </a:p>
        </p:txBody>
      </p:sp>
      <p:sp>
        <p:nvSpPr>
          <p:cNvPr id="18" name="Text Box 30">
            <a:extLst>
              <a:ext uri="{FF2B5EF4-FFF2-40B4-BE49-F238E27FC236}">
                <a16:creationId xmlns:a16="http://schemas.microsoft.com/office/drawing/2014/main" id="{7302FD9A-63EF-4647-9121-BD250E7C9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976" y="415420"/>
            <a:ext cx="7211562" cy="60925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26000" tIns="118800" rIns="126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 V   | 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q W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 q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V = E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2" name="Text Box 73">
            <a:extLst>
              <a:ext uri="{FF2B5EF4-FFF2-40B4-BE49-F238E27FC236}">
                <a16:creationId xmlns:a16="http://schemas.microsoft.com/office/drawing/2014/main" id="{B44EE4C6-81FD-4D74-A69A-8A5E8DF13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524" y="5492396"/>
            <a:ext cx="8217786" cy="1275213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Hay que fijarse en el signo de W</a:t>
            </a:r>
            <a:r>
              <a:rPr lang="es-ES" sz="2400" b="1" baseline="-25000">
                <a:latin typeface="Arial" panose="020B0604020202020204" pitchFamily="34" charset="0"/>
              </a:rPr>
              <a:t>F</a:t>
            </a:r>
            <a:r>
              <a:rPr lang="es-ES" sz="2400">
                <a:latin typeface="Arial" panose="020B0604020202020204" pitchFamily="34" charset="0"/>
              </a:rPr>
              <a:t>, porque la Naturaleza tiende a minimizar siempre E</a:t>
            </a:r>
            <a:r>
              <a:rPr lang="es-ES" sz="2400" baseline="-25000">
                <a:latin typeface="Arial" panose="020B0604020202020204" pitchFamily="34" charset="0"/>
              </a:rPr>
              <a:t>P</a:t>
            </a:r>
            <a:r>
              <a:rPr lang="es-ES" sz="2400">
                <a:latin typeface="Arial" panose="020B0604020202020204" pitchFamily="34" charset="0"/>
              </a:rPr>
              <a:t>, no siempre V. El signo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</a:t>
            </a:r>
            <a:r>
              <a:rPr lang="es-ES" sz="2400">
                <a:latin typeface="Arial" panose="020B0604020202020204" pitchFamily="34" charset="0"/>
              </a:rPr>
              <a:t>V, y el del W del campo, W</a:t>
            </a:r>
            <a:r>
              <a:rPr lang="es-ES" sz="2400" b="1" baseline="-25000">
                <a:latin typeface="Arial" panose="020B0604020202020204" pitchFamily="34" charset="0"/>
              </a:rPr>
              <a:t>E</a:t>
            </a:r>
            <a:r>
              <a:rPr lang="es-ES" sz="2400">
                <a:latin typeface="Arial" panose="020B0604020202020204" pitchFamily="34" charset="0"/>
              </a:rPr>
              <a:t>, dependen del signo de q</a:t>
            </a:r>
            <a:endParaRPr lang="es-ES" sz="2400" b="1" baseline="-25000" dirty="0">
              <a:latin typeface="Arial" panose="020B0604020202020204" pitchFamily="34" charset="0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C81BB96B-AC90-5028-37B7-4884EE156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5470" y="1857890"/>
            <a:ext cx="3938041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(el W de la fuerza eléctrica)</a:t>
            </a:r>
          </a:p>
        </p:txBody>
      </p:sp>
    </p:spTree>
    <p:extLst>
      <p:ext uri="{BB962C8B-B14F-4D97-AF65-F5344CB8AC3E}">
        <p14:creationId xmlns:p14="http://schemas.microsoft.com/office/powerpoint/2010/main" val="177066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229" grpId="0" animBg="1"/>
      <p:bldP spid="39" grpId="0" animBg="1"/>
      <p:bldP spid="40" grpId="0"/>
      <p:bldP spid="41" grpId="0"/>
      <p:bldP spid="15" grpId="0" animBg="1"/>
      <p:bldP spid="16" grpId="0" animBg="1"/>
      <p:bldP spid="22" grpId="0" animBg="1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9763</TotalTime>
  <Words>2763</Words>
  <Application>Microsoft Office PowerPoint</Application>
  <PresentationFormat>Personalizado</PresentationFormat>
  <Paragraphs>509</Paragraphs>
  <Slides>27</Slides>
  <Notes>26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7" baseType="lpstr">
      <vt:lpstr>Arial</vt:lpstr>
      <vt:lpstr>Calibri</vt:lpstr>
      <vt:lpstr>Cambria Math</vt:lpstr>
      <vt:lpstr>Comic Sans MS</vt:lpstr>
      <vt:lpstr>Symbol</vt:lpstr>
      <vt:lpstr>Times New Roman</vt:lpstr>
      <vt:lpstr>Trebuchet MS</vt:lpstr>
      <vt:lpstr>Wingdings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1415</cp:revision>
  <cp:lastPrinted>2024-10-04T10:09:29Z</cp:lastPrinted>
  <dcterms:created xsi:type="dcterms:W3CDTF">2012-02-20T13:06:36Z</dcterms:created>
  <dcterms:modified xsi:type="dcterms:W3CDTF">2024-10-14T06:11:28Z</dcterms:modified>
</cp:coreProperties>
</file>