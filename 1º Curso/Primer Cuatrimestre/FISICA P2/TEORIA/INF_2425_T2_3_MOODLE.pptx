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handoutMasterIdLst>
    <p:handoutMasterId r:id="rId35"/>
  </p:handoutMasterIdLst>
  <p:sldIdLst>
    <p:sldId id="316" r:id="rId2"/>
    <p:sldId id="284" r:id="rId3"/>
    <p:sldId id="272" r:id="rId4"/>
    <p:sldId id="457" r:id="rId5"/>
    <p:sldId id="493" r:id="rId6"/>
    <p:sldId id="447" r:id="rId7"/>
    <p:sldId id="482" r:id="rId8"/>
    <p:sldId id="434" r:id="rId9"/>
    <p:sldId id="489" r:id="rId10"/>
    <p:sldId id="485" r:id="rId11"/>
    <p:sldId id="486" r:id="rId12"/>
    <p:sldId id="475" r:id="rId13"/>
    <p:sldId id="487" r:id="rId14"/>
    <p:sldId id="490" r:id="rId15"/>
    <p:sldId id="421" r:id="rId16"/>
    <p:sldId id="433" r:id="rId17"/>
    <p:sldId id="439" r:id="rId18"/>
    <p:sldId id="456" r:id="rId19"/>
    <p:sldId id="458" r:id="rId20"/>
    <p:sldId id="450" r:id="rId21"/>
    <p:sldId id="451" r:id="rId22"/>
    <p:sldId id="427" r:id="rId23"/>
    <p:sldId id="461" r:id="rId24"/>
    <p:sldId id="462" r:id="rId25"/>
    <p:sldId id="449" r:id="rId26"/>
    <p:sldId id="406" r:id="rId27"/>
    <p:sldId id="413" r:id="rId28"/>
    <p:sldId id="392" r:id="rId29"/>
    <p:sldId id="455" r:id="rId30"/>
    <p:sldId id="494" r:id="rId31"/>
    <p:sldId id="460" r:id="rId32"/>
    <p:sldId id="327" r:id="rId33"/>
  </p:sldIdLst>
  <p:sldSz cx="10801350" cy="7200900"/>
  <p:notesSz cx="6815138" cy="9942513"/>
  <p:defaultTextStyle>
    <a:defPPr>
      <a:defRPr lang="es-ES"/>
    </a:defPPr>
    <a:lvl1pPr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1pPr>
    <a:lvl2pPr marL="4572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2pPr>
    <a:lvl3pPr marL="9144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3pPr>
    <a:lvl4pPr marL="13716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4pPr>
    <a:lvl5pPr marL="18288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5pPr>
    <a:lvl6pPr marL="2286000" algn="l" defTabSz="914400" rtl="0" eaLnBrk="1" latinLnBrk="0" hangingPunct="1">
      <a:defRPr sz="2000" kern="1200">
        <a:solidFill>
          <a:srgbClr val="000000"/>
        </a:solidFill>
        <a:latin typeface="Arial" panose="020B0604020202020204" pitchFamily="34" charset="0"/>
        <a:ea typeface="+mn-ea"/>
        <a:cs typeface="+mn-cs"/>
      </a:defRPr>
    </a:lvl6pPr>
    <a:lvl7pPr marL="2743200" algn="l" defTabSz="914400" rtl="0" eaLnBrk="1" latinLnBrk="0" hangingPunct="1">
      <a:defRPr sz="2000" kern="1200">
        <a:solidFill>
          <a:srgbClr val="000000"/>
        </a:solidFill>
        <a:latin typeface="Arial" panose="020B0604020202020204" pitchFamily="34" charset="0"/>
        <a:ea typeface="+mn-ea"/>
        <a:cs typeface="+mn-cs"/>
      </a:defRPr>
    </a:lvl7pPr>
    <a:lvl8pPr marL="3200400" algn="l" defTabSz="914400" rtl="0" eaLnBrk="1" latinLnBrk="0" hangingPunct="1">
      <a:defRPr sz="2000" kern="1200">
        <a:solidFill>
          <a:srgbClr val="000000"/>
        </a:solidFill>
        <a:latin typeface="Arial" panose="020B0604020202020204" pitchFamily="34" charset="0"/>
        <a:ea typeface="+mn-ea"/>
        <a:cs typeface="+mn-cs"/>
      </a:defRPr>
    </a:lvl8pPr>
    <a:lvl9pPr marL="3657600" algn="l" defTabSz="914400" rtl="0" eaLnBrk="1" latinLnBrk="0" hangingPunct="1">
      <a:defRPr sz="2000" kern="1200">
        <a:solidFill>
          <a:srgbClr val="000000"/>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268" userDrawn="1">
          <p15:clr>
            <a:srgbClr val="A4A3A4"/>
          </p15:clr>
        </p15:guide>
        <p15:guide id="2" pos="36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a:srgbClr val="CCFFCC"/>
    <a:srgbClr val="99CCFF"/>
    <a:srgbClr val="FFFF99"/>
    <a:srgbClr val="FF99FF"/>
    <a:srgbClr val="FFFFFF"/>
    <a:srgbClr val="DDDDDD"/>
    <a:srgbClr val="EAEAEA"/>
    <a:srgbClr val="3333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1" autoAdjust="0"/>
    <p:restoredTop sz="96283" autoAdjust="0"/>
  </p:normalViewPr>
  <p:slideViewPr>
    <p:cSldViewPr snapToGrid="0" showGuides="1">
      <p:cViewPr varScale="1">
        <p:scale>
          <a:sx n="103" d="100"/>
          <a:sy n="103" d="100"/>
        </p:scale>
        <p:origin x="1350" y="108"/>
      </p:cViewPr>
      <p:guideLst>
        <p:guide orient="horz" pos="2268"/>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TEMA 1: ECUACIONES DE MAXWELL</a:t>
            </a:r>
          </a:p>
        </p:txBody>
      </p:sp>
      <p:sp>
        <p:nvSpPr>
          <p:cNvPr id="5123" name="Rectangle 3"/>
          <p:cNvSpPr>
            <a:spLocks noGrp="1" noChangeArrowheads="1"/>
          </p:cNvSpPr>
          <p:nvPr>
            <p:ph type="dt" sz="quarter" idx="1"/>
          </p:nvPr>
        </p:nvSpPr>
        <p:spPr bwMode="auto">
          <a:xfrm>
            <a:off x="386080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algn="r" defTabSz="915988" eaLnBrk="1" hangingPunct="1">
              <a:spcBef>
                <a:spcPct val="0"/>
              </a:spcBef>
              <a:defRPr sz="1200">
                <a:solidFill>
                  <a:schemeClr val="tx1"/>
                </a:solidFill>
                <a:latin typeface="Arial" charset="0"/>
              </a:defRPr>
            </a:lvl1pPr>
          </a:lstStyle>
          <a:p>
            <a:pPr>
              <a:defRPr/>
            </a:pPr>
            <a:endParaRPr lang="es-ES"/>
          </a:p>
        </p:txBody>
      </p:sp>
      <p:sp>
        <p:nvSpPr>
          <p:cNvPr id="5124" name="Rectangle 4"/>
          <p:cNvSpPr>
            <a:spLocks noGrp="1" noChangeArrowheads="1"/>
          </p:cNvSpPr>
          <p:nvPr>
            <p:ph type="ftr" sz="quarter" idx="2"/>
          </p:nvPr>
        </p:nvSpPr>
        <p:spPr bwMode="auto">
          <a:xfrm>
            <a:off x="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FNT - CURSO 2005/2006</a:t>
            </a:r>
          </a:p>
        </p:txBody>
      </p:sp>
      <p:sp>
        <p:nvSpPr>
          <p:cNvPr id="5125" name="Rectangle 5"/>
          <p:cNvSpPr>
            <a:spLocks noGrp="1" noChangeArrowheads="1"/>
          </p:cNvSpPr>
          <p:nvPr>
            <p:ph type="sldNum" sz="quarter" idx="3"/>
          </p:nvPr>
        </p:nvSpPr>
        <p:spPr bwMode="auto">
          <a:xfrm>
            <a:off x="386080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algn="r" defTabSz="915988" eaLnBrk="1" hangingPunct="1">
              <a:spcBef>
                <a:spcPct val="0"/>
              </a:spcBef>
              <a:defRPr sz="1200">
                <a:solidFill>
                  <a:schemeClr val="tx1"/>
                </a:solidFill>
              </a:defRPr>
            </a:lvl1pPr>
          </a:lstStyle>
          <a:p>
            <a:pPr>
              <a:defRPr/>
            </a:pPr>
            <a:fld id="{37A21E0D-9420-44C0-8CBE-54FB352FCD9C}" type="slidenum">
              <a:rPr lang="es-ES"/>
              <a:pPr>
                <a:defRPr/>
              </a:pPr>
              <a:t>‹Nº›</a:t>
            </a:fld>
            <a:endParaRPr lang="es-ES"/>
          </a:p>
        </p:txBody>
      </p:sp>
    </p:spTree>
    <p:extLst>
      <p:ext uri="{BB962C8B-B14F-4D97-AF65-F5344CB8AC3E}">
        <p14:creationId xmlns:p14="http://schemas.microsoft.com/office/powerpoint/2010/main" val="22397104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TEMA 1: ECUACIONES DE MAXWELL</a:t>
            </a:r>
          </a:p>
        </p:txBody>
      </p:sp>
      <p:sp>
        <p:nvSpPr>
          <p:cNvPr id="3075" name="Rectangle 3"/>
          <p:cNvSpPr>
            <a:spLocks noGrp="1" noChangeArrowheads="1"/>
          </p:cNvSpPr>
          <p:nvPr>
            <p:ph type="dt" idx="1"/>
          </p:nvPr>
        </p:nvSpPr>
        <p:spPr bwMode="auto">
          <a:xfrm>
            <a:off x="386080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algn="r" defTabSz="915988" eaLnBrk="1" hangingPunct="1">
              <a:spcBef>
                <a:spcPct val="0"/>
              </a:spcBef>
              <a:defRPr sz="1200">
                <a:solidFill>
                  <a:schemeClr val="tx1"/>
                </a:solidFill>
                <a:latin typeface="Arial" charset="0"/>
              </a:defRPr>
            </a:lvl1pPr>
          </a:lstStyle>
          <a:p>
            <a:pPr>
              <a:defRPr/>
            </a:pPr>
            <a:endParaRPr lang="es-ES"/>
          </a:p>
        </p:txBody>
      </p:sp>
      <p:sp>
        <p:nvSpPr>
          <p:cNvPr id="3076" name="Rectangle 4"/>
          <p:cNvSpPr>
            <a:spLocks noGrp="1" noRot="1" noChangeAspect="1" noChangeArrowheads="1" noTextEdit="1"/>
          </p:cNvSpPr>
          <p:nvPr>
            <p:ph type="sldImg" idx="2"/>
          </p:nvPr>
        </p:nvSpPr>
        <p:spPr bwMode="auto">
          <a:xfrm>
            <a:off x="609600" y="746125"/>
            <a:ext cx="5594350" cy="37290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1038" y="4724400"/>
            <a:ext cx="5453062" cy="4471988"/>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3078" name="Rectangle 6"/>
          <p:cNvSpPr>
            <a:spLocks noGrp="1" noChangeArrowheads="1"/>
          </p:cNvSpPr>
          <p:nvPr>
            <p:ph type="ftr" sz="quarter" idx="4"/>
          </p:nvPr>
        </p:nvSpPr>
        <p:spPr bwMode="auto">
          <a:xfrm>
            <a:off x="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defTabSz="915988" eaLnBrk="1" hangingPunct="1">
              <a:spcBef>
                <a:spcPct val="0"/>
              </a:spcBef>
              <a:defRPr sz="1200">
                <a:solidFill>
                  <a:schemeClr val="tx1"/>
                </a:solidFill>
                <a:latin typeface="Arial" charset="0"/>
              </a:defRPr>
            </a:lvl1pPr>
          </a:lstStyle>
          <a:p>
            <a:pPr>
              <a:defRPr/>
            </a:pPr>
            <a:r>
              <a:rPr lang="es-ES"/>
              <a:t>FNT - CURSO 2005/2006</a:t>
            </a:r>
          </a:p>
        </p:txBody>
      </p:sp>
      <p:sp>
        <p:nvSpPr>
          <p:cNvPr id="3079" name="Rectangle 7"/>
          <p:cNvSpPr>
            <a:spLocks noGrp="1" noChangeArrowheads="1"/>
          </p:cNvSpPr>
          <p:nvPr>
            <p:ph type="sldNum" sz="quarter" idx="5"/>
          </p:nvPr>
        </p:nvSpPr>
        <p:spPr bwMode="auto">
          <a:xfrm>
            <a:off x="386080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algn="r" defTabSz="915988" eaLnBrk="1" hangingPunct="1">
              <a:spcBef>
                <a:spcPct val="0"/>
              </a:spcBef>
              <a:defRPr sz="1200">
                <a:solidFill>
                  <a:schemeClr val="tx1"/>
                </a:solidFill>
              </a:defRPr>
            </a:lvl1pPr>
          </a:lstStyle>
          <a:p>
            <a:pPr>
              <a:defRPr/>
            </a:pPr>
            <a:fld id="{053B0C6B-1AC7-4130-9596-547B100B781A}" type="slidenum">
              <a:rPr lang="es-ES"/>
              <a:pPr>
                <a:defRPr/>
              </a:pPr>
              <a:t>‹Nº›</a:t>
            </a:fld>
            <a:endParaRPr lang="es-ES"/>
          </a:p>
        </p:txBody>
      </p:sp>
    </p:spTree>
    <p:extLst>
      <p:ext uri="{BB962C8B-B14F-4D97-AF65-F5344CB8AC3E}">
        <p14:creationId xmlns:p14="http://schemas.microsoft.com/office/powerpoint/2010/main" val="4269578855"/>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61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61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007D03D-BA1D-40CB-B7FE-86F118E3906B}" type="slidenum">
              <a:rPr lang="es-ES" smtClean="0"/>
              <a:pPr>
                <a:spcBef>
                  <a:spcPct val="0"/>
                </a:spcBef>
              </a:pPr>
              <a:t>1</a:t>
            </a:fld>
            <a:endParaRPr lang="es-ES"/>
          </a:p>
        </p:txBody>
      </p:sp>
      <p:sp>
        <p:nvSpPr>
          <p:cNvPr id="6149" name="Rectangle 2"/>
          <p:cNvSpPr>
            <a:spLocks noGrp="1" noRot="1" noChangeAspect="1" noChangeArrowheads="1" noTextEdit="1"/>
          </p:cNvSpPr>
          <p:nvPr>
            <p:ph type="sldImg"/>
          </p:nvPr>
        </p:nvSpPr>
        <p:spPr>
          <a:ln/>
        </p:spPr>
      </p:sp>
      <p:sp>
        <p:nvSpPr>
          <p:cNvPr id="61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2335497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p:spPr>
        <p:txBody>
          <a:bodyPr/>
          <a:lstStyle/>
          <a:p>
            <a:pPr eaLnBrk="1" hangingPunct="1"/>
            <a:endParaRPr lang="en-US" b="1" dirty="0"/>
          </a:p>
        </p:txBody>
      </p:sp>
    </p:spTree>
    <p:extLst>
      <p:ext uri="{BB962C8B-B14F-4D97-AF65-F5344CB8AC3E}">
        <p14:creationId xmlns:p14="http://schemas.microsoft.com/office/powerpoint/2010/main" val="4135140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Marcador de imagen de diapositiva 1"/>
          <p:cNvSpPr>
            <a:spLocks noGrp="1" noRot="1" noChangeAspect="1" noTextEdit="1"/>
          </p:cNvSpPr>
          <p:nvPr>
            <p:ph type="sldImg"/>
          </p:nvPr>
        </p:nvSpPr>
        <p:spPr>
          <a:ln/>
        </p:spPr>
      </p:sp>
      <p:sp>
        <p:nvSpPr>
          <p:cNvPr id="12291" name="Marcador de notas 2"/>
          <p:cNvSpPr>
            <a:spLocks noGrp="1"/>
          </p:cNvSpPr>
          <p:nvPr>
            <p:ph type="body" idx="1"/>
          </p:nvPr>
        </p:nvSpPr>
        <p:spPr>
          <a:noFill/>
        </p:spPr>
        <p:txBody>
          <a:bodyPr/>
          <a:lstStyle/>
          <a:p>
            <a:endParaRPr lang="es-ES"/>
          </a:p>
        </p:txBody>
      </p:sp>
      <p:sp>
        <p:nvSpPr>
          <p:cNvPr id="12292" name="Marcador de número de diapositiva 3"/>
          <p:cNvSpPr>
            <a:spLocks noGrp="1"/>
          </p:cNvSpPr>
          <p:nvPr>
            <p:ph type="sldNum" sz="quarter" idx="5"/>
          </p:nvPr>
        </p:nvSpPr>
        <p:spPr>
          <a:noFill/>
        </p:spPr>
        <p:txBody>
          <a:bodyPr/>
          <a:lstStyle>
            <a:lvl1pPr>
              <a:defRPr sz="2000">
                <a:solidFill>
                  <a:schemeClr val="tx1"/>
                </a:solidFill>
                <a:latin typeface="Trebuchet MS" panose="020B0603020202020204" pitchFamily="34" charset="0"/>
              </a:defRPr>
            </a:lvl1pPr>
            <a:lvl2pPr marL="742950" indent="-285750">
              <a:defRPr sz="2000">
                <a:solidFill>
                  <a:schemeClr val="tx1"/>
                </a:solidFill>
                <a:latin typeface="Trebuchet MS" panose="020B0603020202020204" pitchFamily="34" charset="0"/>
              </a:defRPr>
            </a:lvl2pPr>
            <a:lvl3pPr marL="1143000" indent="-228600">
              <a:defRPr sz="2000">
                <a:solidFill>
                  <a:schemeClr val="tx1"/>
                </a:solidFill>
                <a:latin typeface="Trebuchet MS" panose="020B0603020202020204" pitchFamily="34" charset="0"/>
              </a:defRPr>
            </a:lvl3pPr>
            <a:lvl4pPr marL="1600200" indent="-228600">
              <a:defRPr sz="2000">
                <a:solidFill>
                  <a:schemeClr val="tx1"/>
                </a:solidFill>
                <a:latin typeface="Trebuchet MS" panose="020B0603020202020204" pitchFamily="34" charset="0"/>
              </a:defRPr>
            </a:lvl4pPr>
            <a:lvl5pPr marL="2057400" indent="-228600">
              <a:defRPr sz="2000">
                <a:solidFill>
                  <a:schemeClr val="tx1"/>
                </a:solidFill>
                <a:latin typeface="Trebuchet MS" panose="020B0603020202020204" pitchFamily="34" charset="0"/>
              </a:defRPr>
            </a:lvl5pPr>
            <a:lvl6pPr marL="2514600" indent="-228600" eaLnBrk="0" fontAlgn="base" hangingPunct="0">
              <a:spcBef>
                <a:spcPct val="0"/>
              </a:spcBef>
              <a:spcAft>
                <a:spcPct val="0"/>
              </a:spcAft>
              <a:defRPr sz="2000">
                <a:solidFill>
                  <a:schemeClr val="tx1"/>
                </a:solidFill>
                <a:latin typeface="Trebuchet MS" panose="020B0603020202020204" pitchFamily="34" charset="0"/>
              </a:defRPr>
            </a:lvl6pPr>
            <a:lvl7pPr marL="2971800" indent="-228600" eaLnBrk="0" fontAlgn="base" hangingPunct="0">
              <a:spcBef>
                <a:spcPct val="0"/>
              </a:spcBef>
              <a:spcAft>
                <a:spcPct val="0"/>
              </a:spcAft>
              <a:defRPr sz="2000">
                <a:solidFill>
                  <a:schemeClr val="tx1"/>
                </a:solidFill>
                <a:latin typeface="Trebuchet MS" panose="020B0603020202020204" pitchFamily="34" charset="0"/>
              </a:defRPr>
            </a:lvl7pPr>
            <a:lvl8pPr marL="3429000" indent="-228600" eaLnBrk="0" fontAlgn="base" hangingPunct="0">
              <a:spcBef>
                <a:spcPct val="0"/>
              </a:spcBef>
              <a:spcAft>
                <a:spcPct val="0"/>
              </a:spcAft>
              <a:defRPr sz="2000">
                <a:solidFill>
                  <a:schemeClr val="tx1"/>
                </a:solidFill>
                <a:latin typeface="Trebuchet MS" panose="020B0603020202020204" pitchFamily="34" charset="0"/>
              </a:defRPr>
            </a:lvl8pPr>
            <a:lvl9pPr marL="3886200" indent="-228600" eaLnBrk="0" fontAlgn="base" hangingPunct="0">
              <a:spcBef>
                <a:spcPct val="0"/>
              </a:spcBef>
              <a:spcAft>
                <a:spcPct val="0"/>
              </a:spcAft>
              <a:defRPr sz="2000">
                <a:solidFill>
                  <a:schemeClr val="tx1"/>
                </a:solidFill>
                <a:latin typeface="Trebuchet MS" panose="020B0603020202020204" pitchFamily="34" charset="0"/>
              </a:defRPr>
            </a:lvl9pPr>
          </a:lstStyle>
          <a:p>
            <a:fld id="{17C96A10-D6A6-40E7-9D7D-34D69B81E844}" type="slidenum">
              <a:rPr lang="es-ES" sz="1200" smtClean="0"/>
              <a:pPr/>
              <a:t>3</a:t>
            </a:fld>
            <a:endParaRPr lang="es-ES" sz="1200"/>
          </a:p>
        </p:txBody>
      </p:sp>
    </p:spTree>
    <p:extLst>
      <p:ext uri="{BB962C8B-B14F-4D97-AF65-F5344CB8AC3E}">
        <p14:creationId xmlns:p14="http://schemas.microsoft.com/office/powerpoint/2010/main" val="4140133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b="1">
              <a:latin typeface="Arial" panose="020B0604020202020204" pitchFamily="34" charset="0"/>
            </a:endParaRPr>
          </a:p>
        </p:txBody>
      </p:sp>
    </p:spTree>
    <p:extLst>
      <p:ext uri="{BB962C8B-B14F-4D97-AF65-F5344CB8AC3E}">
        <p14:creationId xmlns:p14="http://schemas.microsoft.com/office/powerpoint/2010/main" val="899796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819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819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8D055690-C3DD-427A-AE0A-CDE33BFF4A53}" type="slidenum">
              <a:rPr lang="es-ES"/>
              <a:pPr algn="r" eaLnBrk="1" hangingPunct="1">
                <a:spcBef>
                  <a:spcPct val="0"/>
                </a:spcBef>
              </a:pPr>
              <a:t>5</a:t>
            </a:fld>
            <a:endParaRPr lang="es-ES"/>
          </a:p>
        </p:txBody>
      </p:sp>
      <p:sp>
        <p:nvSpPr>
          <p:cNvPr id="8197" name="Rectangle 2"/>
          <p:cNvSpPr>
            <a:spLocks noGrp="1" noRot="1" noChangeAspect="1" noChangeArrowheads="1" noTextEdit="1"/>
          </p:cNvSpPr>
          <p:nvPr>
            <p:ph type="sldImg"/>
          </p:nvPr>
        </p:nvSpPr>
        <p:spPr>
          <a:ln/>
        </p:spPr>
      </p:sp>
      <p:sp>
        <p:nvSpPr>
          <p:cNvPr id="81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b="1">
              <a:solidFill>
                <a:srgbClr val="000000"/>
              </a:solidFill>
              <a:latin typeface="Arial" panose="020B0604020202020204" pitchFamily="34" charset="0"/>
            </a:endParaRPr>
          </a:p>
        </p:txBody>
      </p:sp>
    </p:spTree>
    <p:extLst>
      <p:ext uri="{BB962C8B-B14F-4D97-AF65-F5344CB8AC3E}">
        <p14:creationId xmlns:p14="http://schemas.microsoft.com/office/powerpoint/2010/main" val="3157271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184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184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CB9C17A-A598-4E24-B280-1DC7B47B934E}" type="slidenum">
              <a:rPr lang="es-ES" smtClean="0"/>
              <a:pPr>
                <a:spcBef>
                  <a:spcPct val="0"/>
                </a:spcBef>
              </a:pPr>
              <a:t>6</a:t>
            </a:fld>
            <a:endParaRPr lang="es-ES"/>
          </a:p>
        </p:txBody>
      </p:sp>
      <p:sp>
        <p:nvSpPr>
          <p:cNvPr id="18437" name="Rectangle 2"/>
          <p:cNvSpPr>
            <a:spLocks noGrp="1" noRot="1" noChangeAspect="1" noChangeArrowheads="1" noTextEdit="1"/>
          </p:cNvSpPr>
          <p:nvPr>
            <p:ph type="sldImg"/>
          </p:nvPr>
        </p:nvSpPr>
        <p:spPr>
          <a:ln/>
        </p:spPr>
      </p:sp>
      <p:sp>
        <p:nvSpPr>
          <p:cNvPr id="184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4163238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184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184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CB9C17A-A598-4E24-B280-1DC7B47B934E}" type="slidenum">
              <a:rPr lang="es-ES" smtClean="0"/>
              <a:pPr>
                <a:spcBef>
                  <a:spcPct val="0"/>
                </a:spcBef>
              </a:pPr>
              <a:t>7</a:t>
            </a:fld>
            <a:endParaRPr lang="es-ES"/>
          </a:p>
        </p:txBody>
      </p:sp>
      <p:sp>
        <p:nvSpPr>
          <p:cNvPr id="18437" name="Rectangle 2"/>
          <p:cNvSpPr>
            <a:spLocks noGrp="1" noRot="1" noChangeAspect="1" noChangeArrowheads="1" noTextEdit="1"/>
          </p:cNvSpPr>
          <p:nvPr>
            <p:ph type="sldImg"/>
          </p:nvPr>
        </p:nvSpPr>
        <p:spPr>
          <a:ln/>
        </p:spPr>
      </p:sp>
      <p:sp>
        <p:nvSpPr>
          <p:cNvPr id="184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751137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0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0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10315B8-F947-4196-AE28-6EF019D9BD64}" type="slidenum">
              <a:rPr lang="es-ES" smtClean="0"/>
              <a:pPr>
                <a:spcBef>
                  <a:spcPct val="0"/>
                </a:spcBef>
              </a:pPr>
              <a:t>8</a:t>
            </a:fld>
            <a:endParaRPr lang="es-ES"/>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1812454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0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0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10315B8-F947-4196-AE28-6EF019D9BD64}" type="slidenum">
              <a:rPr lang="es-ES" smtClean="0"/>
              <a:pPr>
                <a:spcBef>
                  <a:spcPct val="0"/>
                </a:spcBef>
              </a:pPr>
              <a:t>9</a:t>
            </a:fld>
            <a:endParaRPr lang="es-ES"/>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2209014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0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0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10315B8-F947-4196-AE28-6EF019D9BD64}" type="slidenum">
              <a:rPr lang="es-ES" smtClean="0"/>
              <a:pPr>
                <a:spcBef>
                  <a:spcPct val="0"/>
                </a:spcBef>
              </a:pPr>
              <a:t>10</a:t>
            </a:fld>
            <a:endParaRPr lang="es-ES"/>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3288196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0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0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10315B8-F947-4196-AE28-6EF019D9BD64}" type="slidenum">
              <a:rPr lang="es-ES" smtClean="0"/>
              <a:pPr>
                <a:spcBef>
                  <a:spcPct val="0"/>
                </a:spcBef>
              </a:pPr>
              <a:t>11</a:t>
            </a:fld>
            <a:endParaRPr lang="es-ES"/>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26390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2253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2253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8938A71E-DFDF-4232-A984-7F332BBBE230}" type="slidenum">
              <a:rPr lang="es-ES"/>
              <a:pPr algn="r" eaLnBrk="1" hangingPunct="1">
                <a:spcBef>
                  <a:spcPct val="0"/>
                </a:spcBef>
              </a:pPr>
              <a:t>12</a:t>
            </a:fld>
            <a:endParaRPr lang="es-ES"/>
          </a:p>
        </p:txBody>
      </p:sp>
      <p:sp>
        <p:nvSpPr>
          <p:cNvPr id="22533" name="Rectangle 2"/>
          <p:cNvSpPr>
            <a:spLocks noGrp="1" noRot="1" noChangeAspect="1" noChangeArrowheads="1" noTextEdit="1"/>
          </p:cNvSpPr>
          <p:nvPr>
            <p:ph type="sldImg"/>
          </p:nvPr>
        </p:nvSpPr>
        <p:spPr>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atin typeface="Arial" panose="020B0604020202020204" pitchFamily="34" charset="0"/>
            </a:endParaRPr>
          </a:p>
        </p:txBody>
      </p:sp>
    </p:spTree>
    <p:extLst>
      <p:ext uri="{BB962C8B-B14F-4D97-AF65-F5344CB8AC3E}">
        <p14:creationId xmlns:p14="http://schemas.microsoft.com/office/powerpoint/2010/main" val="2743181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2253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2253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8938A71E-DFDF-4232-A984-7F332BBBE230}" type="slidenum">
              <a:rPr lang="es-ES"/>
              <a:pPr algn="r" eaLnBrk="1" hangingPunct="1">
                <a:spcBef>
                  <a:spcPct val="0"/>
                </a:spcBef>
              </a:pPr>
              <a:t>13</a:t>
            </a:fld>
            <a:endParaRPr lang="es-ES"/>
          </a:p>
        </p:txBody>
      </p:sp>
      <p:sp>
        <p:nvSpPr>
          <p:cNvPr id="22533" name="Rectangle 2"/>
          <p:cNvSpPr>
            <a:spLocks noGrp="1" noRot="1" noChangeAspect="1" noChangeArrowheads="1" noTextEdit="1"/>
          </p:cNvSpPr>
          <p:nvPr>
            <p:ph type="sldImg"/>
          </p:nvPr>
        </p:nvSpPr>
        <p:spPr>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2629156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24579"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24580"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BA546B26-9EBA-4D9F-8C69-6FAF3D2BC1E4}" type="slidenum">
              <a:rPr lang="es-ES"/>
              <a:pPr algn="r" eaLnBrk="1" hangingPunct="1">
                <a:spcBef>
                  <a:spcPct val="0"/>
                </a:spcBef>
              </a:pPr>
              <a:t>14</a:t>
            </a:fld>
            <a:endParaRPr lang="es-ES"/>
          </a:p>
        </p:txBody>
      </p:sp>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2366756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024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024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41BDF7F0-C1FA-4FD9-AC92-A823DB3FBCD1}" type="slidenum">
              <a:rPr lang="es-ES"/>
              <a:pPr algn="r" eaLnBrk="1" hangingPunct="1">
                <a:spcBef>
                  <a:spcPct val="0"/>
                </a:spcBef>
              </a:pPr>
              <a:t>15</a:t>
            </a:fld>
            <a:endParaRPr lang="es-ES"/>
          </a:p>
        </p:txBody>
      </p:sp>
      <p:sp>
        <p:nvSpPr>
          <p:cNvPr id="10245" name="Rectangle 2"/>
          <p:cNvSpPr>
            <a:spLocks noGrp="1" noRot="1" noChangeAspect="1" noChangeArrowheads="1" noTextEdit="1"/>
          </p:cNvSpPr>
          <p:nvPr>
            <p:ph type="sldImg"/>
          </p:nvPr>
        </p:nvSpPr>
        <p:spPr>
          <a:ln/>
        </p:spPr>
      </p:sp>
      <p:sp>
        <p:nvSpPr>
          <p:cNvPr id="102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5765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4339"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4340"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A8236044-1FFC-44F3-BD9F-624C5A266AC8}" type="slidenum">
              <a:rPr lang="es-ES"/>
              <a:pPr algn="r" eaLnBrk="1" hangingPunct="1">
                <a:spcBef>
                  <a:spcPct val="0"/>
                </a:spcBef>
              </a:pPr>
              <a:t>16</a:t>
            </a:fld>
            <a:endParaRPr lang="es-ES"/>
          </a:p>
        </p:txBody>
      </p:sp>
      <p:sp>
        <p:nvSpPr>
          <p:cNvPr id="14341" name="Rectangle 2"/>
          <p:cNvSpPr>
            <a:spLocks noGrp="1" noRot="1" noChangeAspect="1" noChangeArrowheads="1" noTextEdit="1"/>
          </p:cNvSpPr>
          <p:nvPr>
            <p:ph type="sldImg"/>
          </p:nvPr>
        </p:nvSpPr>
        <p:spPr>
          <a:ln/>
        </p:spPr>
      </p:sp>
      <p:sp>
        <p:nvSpPr>
          <p:cNvPr id="143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latin typeface="Arial" panose="020B0604020202020204" pitchFamily="34" charset="0"/>
            </a:endParaRPr>
          </a:p>
        </p:txBody>
      </p:sp>
    </p:spTree>
    <p:extLst>
      <p:ext uri="{BB962C8B-B14F-4D97-AF65-F5344CB8AC3E}">
        <p14:creationId xmlns:p14="http://schemas.microsoft.com/office/powerpoint/2010/main" val="1910881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4339"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4340"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A8236044-1FFC-44F3-BD9F-624C5A266AC8}" type="slidenum">
              <a:rPr lang="es-ES"/>
              <a:pPr algn="r" eaLnBrk="1" hangingPunct="1">
                <a:spcBef>
                  <a:spcPct val="0"/>
                </a:spcBef>
              </a:pPr>
              <a:t>17</a:t>
            </a:fld>
            <a:endParaRPr lang="es-ES"/>
          </a:p>
        </p:txBody>
      </p:sp>
      <p:sp>
        <p:nvSpPr>
          <p:cNvPr id="14341" name="Rectangle 2"/>
          <p:cNvSpPr>
            <a:spLocks noGrp="1" noRot="1" noChangeAspect="1" noChangeArrowheads="1" noTextEdit="1"/>
          </p:cNvSpPr>
          <p:nvPr>
            <p:ph type="sldImg"/>
          </p:nvPr>
        </p:nvSpPr>
        <p:spPr>
          <a:ln/>
        </p:spPr>
      </p:sp>
      <p:sp>
        <p:nvSpPr>
          <p:cNvPr id="143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a:latin typeface="Arial" panose="020B0604020202020204" pitchFamily="34" charset="0"/>
            </a:endParaRPr>
          </a:p>
          <a:p>
            <a:pPr eaLnBrk="1" hangingPunct="1"/>
            <a:endParaRPr lang="es-ES" b="1">
              <a:latin typeface="Arial" panose="020B0604020202020204" pitchFamily="34" charset="0"/>
            </a:endParaRPr>
          </a:p>
        </p:txBody>
      </p:sp>
    </p:spTree>
    <p:extLst>
      <p:ext uri="{BB962C8B-B14F-4D97-AF65-F5344CB8AC3E}">
        <p14:creationId xmlns:p14="http://schemas.microsoft.com/office/powerpoint/2010/main" val="672577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638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638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D85B116B-7264-44E7-A16E-8D9F2E7ACBE8}" type="slidenum">
              <a:rPr lang="es-ES"/>
              <a:pPr algn="r" eaLnBrk="1" hangingPunct="1">
                <a:spcBef>
                  <a:spcPct val="0"/>
                </a:spcBef>
              </a:pPr>
              <a:t>18</a:t>
            </a:fld>
            <a:endParaRPr lang="es-ES"/>
          </a:p>
        </p:txBody>
      </p:sp>
      <p:sp>
        <p:nvSpPr>
          <p:cNvPr id="16389" name="Rectangle 2"/>
          <p:cNvSpPr>
            <a:spLocks noGrp="1" noRot="1" noChangeAspect="1" noChangeArrowheads="1" noTextEdit="1"/>
          </p:cNvSpPr>
          <p:nvPr>
            <p:ph type="sldImg"/>
          </p:nvPr>
        </p:nvSpPr>
        <p:spPr>
          <a:ln/>
        </p:spPr>
      </p:sp>
      <p:sp>
        <p:nvSpPr>
          <p:cNvPr id="163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latin typeface="Arial" panose="020B0604020202020204" pitchFamily="34" charset="0"/>
            </a:endParaRPr>
          </a:p>
        </p:txBody>
      </p:sp>
    </p:spTree>
    <p:extLst>
      <p:ext uri="{BB962C8B-B14F-4D97-AF65-F5344CB8AC3E}">
        <p14:creationId xmlns:p14="http://schemas.microsoft.com/office/powerpoint/2010/main" val="37940044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638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638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D85B116B-7264-44E7-A16E-8D9F2E7ACBE8}" type="slidenum">
              <a:rPr lang="es-ES"/>
              <a:pPr algn="r" eaLnBrk="1" hangingPunct="1">
                <a:spcBef>
                  <a:spcPct val="0"/>
                </a:spcBef>
              </a:pPr>
              <a:t>19</a:t>
            </a:fld>
            <a:endParaRPr lang="es-ES"/>
          </a:p>
        </p:txBody>
      </p:sp>
      <p:sp>
        <p:nvSpPr>
          <p:cNvPr id="16389" name="Rectangle 2"/>
          <p:cNvSpPr>
            <a:spLocks noGrp="1" noRot="1" noChangeAspect="1" noChangeArrowheads="1" noTextEdit="1"/>
          </p:cNvSpPr>
          <p:nvPr>
            <p:ph type="sldImg"/>
          </p:nvPr>
        </p:nvSpPr>
        <p:spPr>
          <a:ln/>
        </p:spPr>
      </p:sp>
      <p:sp>
        <p:nvSpPr>
          <p:cNvPr id="163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dirty="0">
              <a:latin typeface="Arial" panose="020B0604020202020204" pitchFamily="34" charset="0"/>
            </a:endParaRPr>
          </a:p>
        </p:txBody>
      </p:sp>
    </p:spTree>
    <p:extLst>
      <p:ext uri="{BB962C8B-B14F-4D97-AF65-F5344CB8AC3E}">
        <p14:creationId xmlns:p14="http://schemas.microsoft.com/office/powerpoint/2010/main" val="1773433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0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0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99A2C31-DE1B-4B51-866A-4B25E38D4D77}" type="slidenum">
              <a:rPr lang="es-ES" smtClean="0"/>
              <a:pPr>
                <a:spcBef>
                  <a:spcPct val="0"/>
                </a:spcBef>
              </a:pPr>
              <a:t>20</a:t>
            </a:fld>
            <a:endParaRPr lang="es-ES"/>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2019034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0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0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99A2C31-DE1B-4B51-866A-4B25E38D4D77}" type="slidenum">
              <a:rPr lang="es-ES" smtClean="0"/>
              <a:pPr>
                <a:spcBef>
                  <a:spcPct val="0"/>
                </a:spcBef>
              </a:pPr>
              <a:t>21</a:t>
            </a:fld>
            <a:endParaRPr lang="es-ES"/>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atin typeface="Arial" panose="020B0604020202020204" pitchFamily="34" charset="0"/>
            </a:endParaRPr>
          </a:p>
        </p:txBody>
      </p:sp>
    </p:spTree>
    <p:extLst>
      <p:ext uri="{BB962C8B-B14F-4D97-AF65-F5344CB8AC3E}">
        <p14:creationId xmlns:p14="http://schemas.microsoft.com/office/powerpoint/2010/main" val="28536180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25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25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680A317-BF8C-4071-A200-B0D3BBA75E72}" type="slidenum">
              <a:rPr lang="es-ES" smtClean="0"/>
              <a:pPr>
                <a:spcBef>
                  <a:spcPct val="0"/>
                </a:spcBef>
              </a:pPr>
              <a:t>22</a:t>
            </a:fld>
            <a:endParaRPr lang="es-ES"/>
          </a:p>
        </p:txBody>
      </p:sp>
      <p:sp>
        <p:nvSpPr>
          <p:cNvPr id="22533" name="Rectangle 2"/>
          <p:cNvSpPr>
            <a:spLocks noGrp="1" noRot="1" noChangeAspect="1" noChangeArrowheads="1" noTextEdit="1"/>
          </p:cNvSpPr>
          <p:nvPr>
            <p:ph type="sldImg"/>
          </p:nvPr>
        </p:nvSpPr>
        <p:spPr>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atin typeface="Arial" panose="020B0604020202020204" pitchFamily="34" charset="0"/>
            </a:endParaRPr>
          </a:p>
        </p:txBody>
      </p:sp>
    </p:spTree>
    <p:extLst>
      <p:ext uri="{BB962C8B-B14F-4D97-AF65-F5344CB8AC3E}">
        <p14:creationId xmlns:p14="http://schemas.microsoft.com/office/powerpoint/2010/main" val="944678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25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25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680A317-BF8C-4071-A200-B0D3BBA75E72}" type="slidenum">
              <a:rPr lang="es-ES" smtClean="0"/>
              <a:pPr>
                <a:spcBef>
                  <a:spcPct val="0"/>
                </a:spcBef>
              </a:pPr>
              <a:t>23</a:t>
            </a:fld>
            <a:endParaRPr lang="es-ES"/>
          </a:p>
        </p:txBody>
      </p:sp>
      <p:sp>
        <p:nvSpPr>
          <p:cNvPr id="22533" name="Rectangle 2"/>
          <p:cNvSpPr>
            <a:spLocks noGrp="1" noRot="1" noChangeAspect="1" noChangeArrowheads="1" noTextEdit="1"/>
          </p:cNvSpPr>
          <p:nvPr>
            <p:ph type="sldImg"/>
          </p:nvPr>
        </p:nvSpPr>
        <p:spPr>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atin typeface="Arial" panose="020B0604020202020204" pitchFamily="34" charset="0"/>
            </a:endParaRPr>
          </a:p>
        </p:txBody>
      </p:sp>
    </p:spTree>
    <p:extLst>
      <p:ext uri="{BB962C8B-B14F-4D97-AF65-F5344CB8AC3E}">
        <p14:creationId xmlns:p14="http://schemas.microsoft.com/office/powerpoint/2010/main" val="3585758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25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25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680A317-BF8C-4071-A200-B0D3BBA75E72}" type="slidenum">
              <a:rPr lang="es-ES" smtClean="0"/>
              <a:pPr>
                <a:spcBef>
                  <a:spcPct val="0"/>
                </a:spcBef>
              </a:pPr>
              <a:t>24</a:t>
            </a:fld>
            <a:endParaRPr lang="es-ES"/>
          </a:p>
        </p:txBody>
      </p:sp>
      <p:sp>
        <p:nvSpPr>
          <p:cNvPr id="22533" name="Rectangle 2"/>
          <p:cNvSpPr>
            <a:spLocks noGrp="1" noRot="1" noChangeAspect="1" noChangeArrowheads="1" noTextEdit="1"/>
          </p:cNvSpPr>
          <p:nvPr>
            <p:ph type="sldImg"/>
          </p:nvPr>
        </p:nvSpPr>
        <p:spPr>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atin typeface="Arial" panose="020B0604020202020204" pitchFamily="34" charset="0"/>
            </a:endParaRPr>
          </a:p>
        </p:txBody>
      </p:sp>
    </p:spTree>
    <p:extLst>
      <p:ext uri="{BB962C8B-B14F-4D97-AF65-F5344CB8AC3E}">
        <p14:creationId xmlns:p14="http://schemas.microsoft.com/office/powerpoint/2010/main" val="580687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45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45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E4E65AE-E17D-4C3E-A858-654BD9C9877A}" type="slidenum">
              <a:rPr lang="es-ES" smtClean="0"/>
              <a:pPr>
                <a:spcBef>
                  <a:spcPct val="0"/>
                </a:spcBef>
              </a:pPr>
              <a:t>25</a:t>
            </a:fld>
            <a:endParaRPr lang="es-ES"/>
          </a:p>
        </p:txBody>
      </p:sp>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749523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66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66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CFB630D-0700-4D05-96A2-36E43C515213}" type="slidenum">
              <a:rPr lang="es-ES" smtClean="0"/>
              <a:pPr>
                <a:spcBef>
                  <a:spcPct val="0"/>
                </a:spcBef>
              </a:pPr>
              <a:t>26</a:t>
            </a:fld>
            <a:endParaRPr lang="es-ES"/>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1796650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2867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2867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F355AF3A-15F7-49ED-AD1F-8B2A6A3CAB5D}" type="slidenum">
              <a:rPr lang="es-ES"/>
              <a:pPr algn="r" eaLnBrk="1" hangingPunct="1">
                <a:spcBef>
                  <a:spcPct val="0"/>
                </a:spcBef>
              </a:pPr>
              <a:t>27</a:t>
            </a:fld>
            <a:endParaRPr lang="es-ES"/>
          </a:p>
        </p:txBody>
      </p:sp>
      <p:sp>
        <p:nvSpPr>
          <p:cNvPr id="28677" name="Rectangle 2"/>
          <p:cNvSpPr>
            <a:spLocks noGrp="1" noRot="1" noChangeAspect="1" noChangeArrowheads="1" noTextEdit="1"/>
          </p:cNvSpPr>
          <p:nvPr>
            <p:ph type="sldImg"/>
          </p:nvPr>
        </p:nvSpPr>
        <p:spPr>
          <a:ln/>
        </p:spPr>
      </p:sp>
      <p:sp>
        <p:nvSpPr>
          <p:cNvPr id="286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38134770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0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0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227902-273C-4001-8A92-D6977CCF5284}" type="slidenum">
              <a:rPr lang="es-ES" smtClean="0"/>
              <a:pPr>
                <a:spcBef>
                  <a:spcPct val="0"/>
                </a:spcBef>
              </a:pPr>
              <a:t>28</a:t>
            </a:fld>
            <a:endParaRPr lang="es-ES"/>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39450336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0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0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227902-273C-4001-8A92-D6977CCF5284}" type="slidenum">
              <a:rPr lang="es-ES" smtClean="0"/>
              <a:pPr>
                <a:spcBef>
                  <a:spcPct val="0"/>
                </a:spcBef>
              </a:pPr>
              <a:t>29</a:t>
            </a:fld>
            <a:endParaRPr lang="es-ES"/>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2350094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3277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3277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3B5A3DD2-8A58-488D-A23E-0CA41EF076CA}" type="slidenum">
              <a:rPr lang="es-ES"/>
              <a:pPr algn="r" eaLnBrk="1" hangingPunct="1">
                <a:spcBef>
                  <a:spcPct val="0"/>
                </a:spcBef>
              </a:pPr>
              <a:t>30</a:t>
            </a:fld>
            <a:endParaRPr lang="es-ES"/>
          </a:p>
        </p:txBody>
      </p:sp>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a:p>
            <a:pPr eaLnBrk="1" hangingPunct="1"/>
            <a:endParaRPr lang="es-ES" dirty="0">
              <a:latin typeface="Arial" panose="020B0604020202020204" pitchFamily="34" charset="0"/>
            </a:endParaRPr>
          </a:p>
          <a:p>
            <a:pPr eaLnBrk="1" hangingPunct="1"/>
            <a:endParaRPr lang="es-ES" dirty="0">
              <a:latin typeface="Arial" panose="020B0604020202020204" pitchFamily="34" charset="0"/>
            </a:endParaRPr>
          </a:p>
          <a:p>
            <a:pPr eaLnBrk="1" hangingPunct="1"/>
            <a:endParaRPr lang="es-ES" dirty="0">
              <a:latin typeface="Arial" panose="020B0604020202020204" pitchFamily="34" charset="0"/>
            </a:endParaRPr>
          </a:p>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37929348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34819"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34820"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AA03DF5D-CA3B-4F7F-BB04-7F7B3CB40D28}" type="slidenum">
              <a:rPr lang="es-ES"/>
              <a:pPr algn="r" eaLnBrk="1" hangingPunct="1">
                <a:spcBef>
                  <a:spcPct val="0"/>
                </a:spcBef>
              </a:pPr>
              <a:t>31</a:t>
            </a:fld>
            <a:endParaRPr lang="es-ES"/>
          </a:p>
        </p:txBody>
      </p:sp>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1967547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encabezado 3"/>
          <p:cNvSpPr>
            <a:spLocks noGrp="1"/>
          </p:cNvSpPr>
          <p:nvPr>
            <p:ph type="hdr" sz="quarter" idx="10"/>
          </p:nvPr>
        </p:nvSpPr>
        <p:spPr/>
        <p:txBody>
          <a:bodyPr/>
          <a:lstStyle/>
          <a:p>
            <a:pPr>
              <a:defRPr/>
            </a:pPr>
            <a:r>
              <a:rPr lang="es-ES"/>
              <a:t>TEMA 1: ECUACIONES DE MAXWELL</a:t>
            </a:r>
          </a:p>
        </p:txBody>
      </p:sp>
      <p:sp>
        <p:nvSpPr>
          <p:cNvPr id="5" name="Marcador de pie de página 4"/>
          <p:cNvSpPr>
            <a:spLocks noGrp="1"/>
          </p:cNvSpPr>
          <p:nvPr>
            <p:ph type="ftr" sz="quarter" idx="11"/>
          </p:nvPr>
        </p:nvSpPr>
        <p:spPr/>
        <p:txBody>
          <a:bodyPr/>
          <a:lstStyle/>
          <a:p>
            <a:pPr>
              <a:defRPr/>
            </a:pPr>
            <a:r>
              <a:rPr lang="es-ES"/>
              <a:t>FNT - CURSO 2005/2006</a:t>
            </a:r>
          </a:p>
        </p:txBody>
      </p:sp>
      <p:sp>
        <p:nvSpPr>
          <p:cNvPr id="6" name="Marcador de número de diapositiva 5"/>
          <p:cNvSpPr>
            <a:spLocks noGrp="1"/>
          </p:cNvSpPr>
          <p:nvPr>
            <p:ph type="sldNum" sz="quarter" idx="12"/>
          </p:nvPr>
        </p:nvSpPr>
        <p:spPr/>
        <p:txBody>
          <a:bodyPr/>
          <a:lstStyle/>
          <a:p>
            <a:pPr>
              <a:defRPr/>
            </a:pPr>
            <a:fld id="{053B0C6B-1AC7-4130-9596-547B100B781A}" type="slidenum">
              <a:rPr lang="es-ES" smtClean="0"/>
              <a:pPr>
                <a:defRPr/>
              </a:pPr>
              <a:t>32</a:t>
            </a:fld>
            <a:endParaRPr lang="es-ES"/>
          </a:p>
        </p:txBody>
      </p:sp>
    </p:spTree>
    <p:extLst>
      <p:ext uri="{BB962C8B-B14F-4D97-AF65-F5344CB8AC3E}">
        <p14:creationId xmlns:p14="http://schemas.microsoft.com/office/powerpoint/2010/main" val="3816346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Rectangle 1026" descr="Canvas"/>
          <p:cNvSpPr>
            <a:spLocks noChangeArrowheads="1"/>
          </p:cNvSpPr>
          <p:nvPr/>
        </p:nvSpPr>
        <p:spPr bwMode="white">
          <a:xfrm>
            <a:off x="623888" y="211138"/>
            <a:ext cx="9920287" cy="67913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a:solidFill>
                  <a:srgbClr val="000000"/>
                </a:solidFill>
                <a:latin typeface="Arial" panose="020B0604020202020204" pitchFamily="34" charset="0"/>
              </a:defRPr>
            </a:lvl1pPr>
            <a:lvl2pPr marL="742950" indent="-285750" defTabSz="1028700">
              <a:spcBef>
                <a:spcPct val="50000"/>
              </a:spcBef>
              <a:defRPr sz="2000">
                <a:solidFill>
                  <a:srgbClr val="000000"/>
                </a:solidFill>
                <a:latin typeface="Arial" panose="020B0604020202020204" pitchFamily="34" charset="0"/>
              </a:defRPr>
            </a:lvl2pPr>
            <a:lvl3pPr marL="1143000" indent="-228600" defTabSz="1028700">
              <a:spcBef>
                <a:spcPct val="50000"/>
              </a:spcBef>
              <a:defRPr sz="2000">
                <a:solidFill>
                  <a:srgbClr val="000000"/>
                </a:solidFill>
                <a:latin typeface="Arial" panose="020B0604020202020204" pitchFamily="34" charset="0"/>
              </a:defRPr>
            </a:lvl3pPr>
            <a:lvl4pPr marL="1600200" indent="-228600" defTabSz="1028700">
              <a:spcBef>
                <a:spcPct val="50000"/>
              </a:spcBef>
              <a:defRPr sz="2000">
                <a:solidFill>
                  <a:srgbClr val="000000"/>
                </a:solidFill>
                <a:latin typeface="Arial" panose="020B0604020202020204" pitchFamily="34" charset="0"/>
              </a:defRPr>
            </a:lvl4pPr>
            <a:lvl5pPr marL="2057400" indent="-228600" defTabSz="1028700">
              <a:spcBef>
                <a:spcPct val="50000"/>
              </a:spcBef>
              <a:defRPr sz="2000">
                <a:solidFill>
                  <a:srgbClr val="000000"/>
                </a:solidFill>
                <a:latin typeface="Arial" panose="020B0604020202020204" pitchFamily="34" charset="0"/>
              </a:defRPr>
            </a:lvl5pPr>
            <a:lvl6pPr marL="2514600" indent="-228600" defTabSz="1028700" eaLnBrk="0" fontAlgn="base" hangingPunct="0">
              <a:spcBef>
                <a:spcPct val="50000"/>
              </a:spcBef>
              <a:spcAft>
                <a:spcPct val="0"/>
              </a:spcAft>
              <a:defRPr sz="2000">
                <a:solidFill>
                  <a:srgbClr val="000000"/>
                </a:solidFill>
                <a:latin typeface="Arial" panose="020B0604020202020204" pitchFamily="34" charset="0"/>
              </a:defRPr>
            </a:lvl6pPr>
            <a:lvl7pPr marL="2971800" indent="-228600" defTabSz="1028700" eaLnBrk="0" fontAlgn="base" hangingPunct="0">
              <a:spcBef>
                <a:spcPct val="50000"/>
              </a:spcBef>
              <a:spcAft>
                <a:spcPct val="0"/>
              </a:spcAft>
              <a:defRPr sz="2000">
                <a:solidFill>
                  <a:srgbClr val="000000"/>
                </a:solidFill>
                <a:latin typeface="Arial" panose="020B0604020202020204" pitchFamily="34" charset="0"/>
              </a:defRPr>
            </a:lvl7pPr>
            <a:lvl8pPr marL="3429000" indent="-228600" defTabSz="1028700" eaLnBrk="0" fontAlgn="base" hangingPunct="0">
              <a:spcBef>
                <a:spcPct val="50000"/>
              </a:spcBef>
              <a:spcAft>
                <a:spcPct val="0"/>
              </a:spcAft>
              <a:defRPr sz="2000">
                <a:solidFill>
                  <a:srgbClr val="000000"/>
                </a:solidFill>
                <a:latin typeface="Arial" panose="020B0604020202020204" pitchFamily="34" charset="0"/>
              </a:defRPr>
            </a:lvl8pPr>
            <a:lvl9pPr marL="3886200" indent="-228600" defTabSz="1028700" eaLnBrk="0" fontAlgn="base" hangingPunct="0">
              <a:spcBef>
                <a:spcPct val="50000"/>
              </a:spcBef>
              <a:spcAft>
                <a:spcPct val="0"/>
              </a:spcAft>
              <a:defRPr sz="2000">
                <a:solidFill>
                  <a:srgbClr val="000000"/>
                </a:solidFill>
                <a:latin typeface="Arial" panose="020B0604020202020204" pitchFamily="34" charset="0"/>
              </a:defRPr>
            </a:lvl9pPr>
          </a:lstStyle>
          <a:p>
            <a:pPr algn="ctr" eaLnBrk="1" hangingPunct="1">
              <a:spcBef>
                <a:spcPct val="0"/>
              </a:spcBef>
              <a:defRPr/>
            </a:pPr>
            <a:endParaRPr kumimoji="1" lang="es-ES" sz="2700">
              <a:solidFill>
                <a:schemeClr val="tx1"/>
              </a:solidFill>
              <a:latin typeface="Times New Roman" panose="02020603050405020304" pitchFamily="18" charset="0"/>
            </a:endParaRPr>
          </a:p>
        </p:txBody>
      </p:sp>
      <p:pic>
        <p:nvPicPr>
          <p:cNvPr id="5" name="Picture 1027" descr="minispi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53975"/>
            <a:ext cx="1395413"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028" descr="Canvas"/>
          <p:cNvSpPr>
            <a:spLocks noChangeArrowheads="1"/>
          </p:cNvSpPr>
          <p:nvPr/>
        </p:nvSpPr>
        <p:spPr bwMode="white">
          <a:xfrm>
            <a:off x="704850" y="4337050"/>
            <a:ext cx="1230313" cy="4794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a:solidFill>
                  <a:srgbClr val="000000"/>
                </a:solidFill>
                <a:latin typeface="Arial" panose="020B0604020202020204" pitchFamily="34" charset="0"/>
              </a:defRPr>
            </a:lvl1pPr>
            <a:lvl2pPr marL="742950" indent="-285750" defTabSz="1028700">
              <a:spcBef>
                <a:spcPct val="50000"/>
              </a:spcBef>
              <a:defRPr sz="2000">
                <a:solidFill>
                  <a:srgbClr val="000000"/>
                </a:solidFill>
                <a:latin typeface="Arial" panose="020B0604020202020204" pitchFamily="34" charset="0"/>
              </a:defRPr>
            </a:lvl2pPr>
            <a:lvl3pPr marL="1143000" indent="-228600" defTabSz="1028700">
              <a:spcBef>
                <a:spcPct val="50000"/>
              </a:spcBef>
              <a:defRPr sz="2000">
                <a:solidFill>
                  <a:srgbClr val="000000"/>
                </a:solidFill>
                <a:latin typeface="Arial" panose="020B0604020202020204" pitchFamily="34" charset="0"/>
              </a:defRPr>
            </a:lvl3pPr>
            <a:lvl4pPr marL="1600200" indent="-228600" defTabSz="1028700">
              <a:spcBef>
                <a:spcPct val="50000"/>
              </a:spcBef>
              <a:defRPr sz="2000">
                <a:solidFill>
                  <a:srgbClr val="000000"/>
                </a:solidFill>
                <a:latin typeface="Arial" panose="020B0604020202020204" pitchFamily="34" charset="0"/>
              </a:defRPr>
            </a:lvl4pPr>
            <a:lvl5pPr marL="2057400" indent="-228600" defTabSz="1028700">
              <a:spcBef>
                <a:spcPct val="50000"/>
              </a:spcBef>
              <a:defRPr sz="2000">
                <a:solidFill>
                  <a:srgbClr val="000000"/>
                </a:solidFill>
                <a:latin typeface="Arial" panose="020B0604020202020204" pitchFamily="34" charset="0"/>
              </a:defRPr>
            </a:lvl5pPr>
            <a:lvl6pPr marL="2514600" indent="-228600" defTabSz="1028700" eaLnBrk="0" fontAlgn="base" hangingPunct="0">
              <a:spcBef>
                <a:spcPct val="50000"/>
              </a:spcBef>
              <a:spcAft>
                <a:spcPct val="0"/>
              </a:spcAft>
              <a:defRPr sz="2000">
                <a:solidFill>
                  <a:srgbClr val="000000"/>
                </a:solidFill>
                <a:latin typeface="Arial" panose="020B0604020202020204" pitchFamily="34" charset="0"/>
              </a:defRPr>
            </a:lvl6pPr>
            <a:lvl7pPr marL="2971800" indent="-228600" defTabSz="1028700" eaLnBrk="0" fontAlgn="base" hangingPunct="0">
              <a:spcBef>
                <a:spcPct val="50000"/>
              </a:spcBef>
              <a:spcAft>
                <a:spcPct val="0"/>
              </a:spcAft>
              <a:defRPr sz="2000">
                <a:solidFill>
                  <a:srgbClr val="000000"/>
                </a:solidFill>
                <a:latin typeface="Arial" panose="020B0604020202020204" pitchFamily="34" charset="0"/>
              </a:defRPr>
            </a:lvl7pPr>
            <a:lvl8pPr marL="3429000" indent="-228600" defTabSz="1028700" eaLnBrk="0" fontAlgn="base" hangingPunct="0">
              <a:spcBef>
                <a:spcPct val="50000"/>
              </a:spcBef>
              <a:spcAft>
                <a:spcPct val="0"/>
              </a:spcAft>
              <a:defRPr sz="2000">
                <a:solidFill>
                  <a:srgbClr val="000000"/>
                </a:solidFill>
                <a:latin typeface="Arial" panose="020B0604020202020204" pitchFamily="34" charset="0"/>
              </a:defRPr>
            </a:lvl8pPr>
            <a:lvl9pPr marL="3886200" indent="-228600" defTabSz="1028700" eaLnBrk="0" fontAlgn="base" hangingPunct="0">
              <a:spcBef>
                <a:spcPct val="50000"/>
              </a:spcBef>
              <a:spcAft>
                <a:spcPct val="0"/>
              </a:spcAft>
              <a:defRPr sz="2000">
                <a:solidFill>
                  <a:srgbClr val="000000"/>
                </a:solidFill>
                <a:latin typeface="Arial" panose="020B0604020202020204" pitchFamily="34" charset="0"/>
              </a:defRPr>
            </a:lvl9pPr>
          </a:lstStyle>
          <a:p>
            <a:pPr algn="ctr" eaLnBrk="1" hangingPunct="1">
              <a:spcBef>
                <a:spcPct val="0"/>
              </a:spcBef>
              <a:defRPr/>
            </a:pPr>
            <a:endParaRPr kumimoji="1" lang="es-ES" sz="2700">
              <a:solidFill>
                <a:schemeClr val="tx1"/>
              </a:solidFill>
              <a:latin typeface="Times New Roman" panose="02020603050405020304" pitchFamily="18" charset="0"/>
            </a:endParaRPr>
          </a:p>
        </p:txBody>
      </p:sp>
      <p:pic>
        <p:nvPicPr>
          <p:cNvPr id="7" name="Picture 1029" descr="minispir"/>
          <p:cNvPicPr>
            <a:picLocks noChangeAspect="1" noChangeArrowheads="1"/>
          </p:cNvPicPr>
          <p:nvPr/>
        </p:nvPicPr>
        <p:blipFill>
          <a:blip r:embed="rId3">
            <a:extLst>
              <a:ext uri="{28A0092B-C50C-407E-A947-70E740481C1C}">
                <a14:useLocalDpi xmlns:a14="http://schemas.microsoft.com/office/drawing/2010/main" val="0"/>
              </a:ext>
            </a:extLst>
          </a:blip>
          <a:srcRect t="39999"/>
          <a:stretch>
            <a:fillRect/>
          </a:stretch>
        </p:blipFill>
        <p:spPr bwMode="ltGray">
          <a:xfrm>
            <a:off x="0" y="4433888"/>
            <a:ext cx="1395413"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4" name="Rectangle 1030"/>
          <p:cNvSpPr>
            <a:spLocks noGrp="1" noChangeArrowheads="1"/>
          </p:cNvSpPr>
          <p:nvPr>
            <p:ph type="ctrTitle"/>
          </p:nvPr>
        </p:nvSpPr>
        <p:spPr>
          <a:xfrm>
            <a:off x="1079500" y="2160588"/>
            <a:ext cx="9121775" cy="1200150"/>
          </a:xfrm>
        </p:spPr>
        <p:txBody>
          <a:bodyPr/>
          <a:lstStyle>
            <a:lvl1pPr>
              <a:defRPr/>
            </a:lvl1pPr>
          </a:lstStyle>
          <a:p>
            <a:r>
              <a:rPr lang="es-ES"/>
              <a:t>Haga clic para modificar el estilo de título del patrón</a:t>
            </a:r>
          </a:p>
        </p:txBody>
      </p:sp>
      <p:sp>
        <p:nvSpPr>
          <p:cNvPr id="94215" name="Rectangle 1031"/>
          <p:cNvSpPr>
            <a:spLocks noGrp="1" noChangeArrowheads="1"/>
          </p:cNvSpPr>
          <p:nvPr>
            <p:ph type="subTitle" idx="1"/>
          </p:nvPr>
        </p:nvSpPr>
        <p:spPr>
          <a:xfrm>
            <a:off x="1920875" y="4079875"/>
            <a:ext cx="7559675" cy="1860550"/>
          </a:xfrm>
        </p:spPr>
        <p:txBody>
          <a:bodyPr/>
          <a:lstStyle>
            <a:lvl1pPr marL="0" indent="0" algn="ctr">
              <a:buFontTx/>
              <a:buNone/>
              <a:defRPr/>
            </a:lvl1pPr>
          </a:lstStyle>
          <a:p>
            <a:r>
              <a:rPr lang="es-ES"/>
              <a:t>Haga clic para modificar el estilo de subtítulo del patrón</a:t>
            </a:r>
          </a:p>
        </p:txBody>
      </p:sp>
      <p:sp>
        <p:nvSpPr>
          <p:cNvPr id="8" name="Rectangle 1032"/>
          <p:cNvSpPr>
            <a:spLocks noGrp="1" noChangeArrowheads="1"/>
          </p:cNvSpPr>
          <p:nvPr>
            <p:ph type="dt" sz="quarter" idx="10"/>
          </p:nvPr>
        </p:nvSpPr>
        <p:spPr>
          <a:xfrm>
            <a:off x="1281113" y="6400800"/>
            <a:ext cx="2249487" cy="479425"/>
          </a:xfrm>
        </p:spPr>
        <p:txBody>
          <a:bodyPr/>
          <a:lstStyle>
            <a:lvl1pPr>
              <a:defRPr/>
            </a:lvl1pPr>
          </a:lstStyle>
          <a:p>
            <a:pPr>
              <a:defRPr/>
            </a:pPr>
            <a:endParaRPr lang="es-ES"/>
          </a:p>
        </p:txBody>
      </p:sp>
      <p:sp>
        <p:nvSpPr>
          <p:cNvPr id="9" name="Rectangle 1033"/>
          <p:cNvSpPr>
            <a:spLocks noGrp="1" noChangeArrowheads="1"/>
          </p:cNvSpPr>
          <p:nvPr>
            <p:ph type="ftr" sz="quarter" idx="11"/>
          </p:nvPr>
        </p:nvSpPr>
        <p:spPr>
          <a:xfrm>
            <a:off x="4160838" y="6400800"/>
            <a:ext cx="3421062" cy="479425"/>
          </a:xfrm>
        </p:spPr>
        <p:txBody>
          <a:bodyPr/>
          <a:lstStyle>
            <a:lvl1pPr>
              <a:defRPr/>
            </a:lvl1pPr>
          </a:lstStyle>
          <a:p>
            <a:pPr>
              <a:defRPr/>
            </a:pPr>
            <a:endParaRPr lang="es-ES"/>
          </a:p>
        </p:txBody>
      </p:sp>
      <p:sp>
        <p:nvSpPr>
          <p:cNvPr id="10" name="Rectangle 1034"/>
          <p:cNvSpPr>
            <a:spLocks noGrp="1" noChangeArrowheads="1"/>
          </p:cNvSpPr>
          <p:nvPr>
            <p:ph type="sldNum" sz="quarter" idx="12"/>
          </p:nvPr>
        </p:nvSpPr>
        <p:spPr>
          <a:xfrm>
            <a:off x="8212138" y="6400800"/>
            <a:ext cx="2249487" cy="479425"/>
          </a:xfrm>
        </p:spPr>
        <p:txBody>
          <a:bodyPr/>
          <a:lstStyle>
            <a:lvl1pPr>
              <a:defRPr/>
            </a:lvl1pPr>
          </a:lstStyle>
          <a:p>
            <a:pPr>
              <a:defRPr/>
            </a:pPr>
            <a:fld id="{A33B3501-891B-445F-AACE-30E948D80D1B}" type="slidenum">
              <a:rPr lang="es-ES"/>
              <a:pPr>
                <a:defRPr/>
              </a:pPr>
              <a:t>‹Nº›</a:t>
            </a:fld>
            <a:endParaRPr lang="es-ES"/>
          </a:p>
        </p:txBody>
      </p:sp>
    </p:spTree>
    <p:extLst>
      <p:ext uri="{BB962C8B-B14F-4D97-AF65-F5344CB8AC3E}">
        <p14:creationId xmlns:p14="http://schemas.microsoft.com/office/powerpoint/2010/main" val="1172482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A73C4ED4-ECD2-4B26-B3D3-405D452C2884}" type="slidenum">
              <a:rPr lang="es-ES"/>
              <a:pPr>
                <a:defRPr/>
              </a:pPr>
              <a:t>‹Nº›</a:t>
            </a:fld>
            <a:endParaRPr lang="es-ES"/>
          </a:p>
        </p:txBody>
      </p:sp>
    </p:spTree>
    <p:extLst>
      <p:ext uri="{BB962C8B-B14F-4D97-AF65-F5344CB8AC3E}">
        <p14:creationId xmlns:p14="http://schemas.microsoft.com/office/powerpoint/2010/main" val="2435350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2488" y="4627563"/>
            <a:ext cx="9182100" cy="1430337"/>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852488" y="3052763"/>
            <a:ext cx="9182100" cy="15748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CEDDCD55-0086-4C9A-885B-12448220E289}" type="slidenum">
              <a:rPr lang="es-ES"/>
              <a:pPr>
                <a:defRPr/>
              </a:pPr>
              <a:t>‹Nº›</a:t>
            </a:fld>
            <a:endParaRPr lang="es-ES"/>
          </a:p>
        </p:txBody>
      </p:sp>
    </p:spTree>
    <p:extLst>
      <p:ext uri="{BB962C8B-B14F-4D97-AF65-F5344CB8AC3E}">
        <p14:creationId xmlns:p14="http://schemas.microsoft.com/office/powerpoint/2010/main" val="2554275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1260475" y="1839913"/>
            <a:ext cx="4424363"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837238" y="1839913"/>
            <a:ext cx="4424362"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84708253-2972-4A84-895F-2F1C3DD785AE}" type="slidenum">
              <a:rPr lang="es-ES"/>
              <a:pPr>
                <a:defRPr/>
              </a:pPr>
              <a:t>‹Nº›</a:t>
            </a:fld>
            <a:endParaRPr lang="es-ES"/>
          </a:p>
        </p:txBody>
      </p:sp>
    </p:spTree>
    <p:extLst>
      <p:ext uri="{BB962C8B-B14F-4D97-AF65-F5344CB8AC3E}">
        <p14:creationId xmlns:p14="http://schemas.microsoft.com/office/powerpoint/2010/main" val="402287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539750" y="288925"/>
            <a:ext cx="9721850" cy="120015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539750" y="1611313"/>
            <a:ext cx="4772025"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539750" y="2284413"/>
            <a:ext cx="4772025"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486400" y="1611313"/>
            <a:ext cx="4775200"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486400" y="2284413"/>
            <a:ext cx="4775200"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8"/>
          <p:cNvSpPr>
            <a:spLocks noGrp="1" noChangeArrowheads="1"/>
          </p:cNvSpPr>
          <p:nvPr>
            <p:ph type="dt" sz="half" idx="10"/>
          </p:nvPr>
        </p:nvSpPr>
        <p:spPr>
          <a:ln/>
        </p:spPr>
        <p:txBody>
          <a:bodyPr/>
          <a:lstStyle>
            <a:lvl1pPr>
              <a:defRPr/>
            </a:lvl1pPr>
          </a:lstStyle>
          <a:p>
            <a:pPr>
              <a:defRPr/>
            </a:pPr>
            <a:endParaRPr lang="es-ES"/>
          </a:p>
        </p:txBody>
      </p:sp>
      <p:sp>
        <p:nvSpPr>
          <p:cNvPr id="8" name="Rectangle 9"/>
          <p:cNvSpPr>
            <a:spLocks noGrp="1" noChangeArrowheads="1"/>
          </p:cNvSpPr>
          <p:nvPr>
            <p:ph type="ftr" sz="quarter" idx="11"/>
          </p:nvPr>
        </p:nvSpPr>
        <p:spPr>
          <a:ln/>
        </p:spPr>
        <p:txBody>
          <a:bodyPr/>
          <a:lstStyle>
            <a:lvl1pPr>
              <a:defRPr/>
            </a:lvl1pPr>
          </a:lstStyle>
          <a:p>
            <a:pPr>
              <a:defRPr/>
            </a:pPr>
            <a:endParaRPr lang="es-ES"/>
          </a:p>
        </p:txBody>
      </p:sp>
      <p:sp>
        <p:nvSpPr>
          <p:cNvPr id="9" name="Rectangle 10"/>
          <p:cNvSpPr>
            <a:spLocks noGrp="1" noChangeArrowheads="1"/>
          </p:cNvSpPr>
          <p:nvPr>
            <p:ph type="sldNum" sz="quarter" idx="12"/>
          </p:nvPr>
        </p:nvSpPr>
        <p:spPr>
          <a:ln/>
        </p:spPr>
        <p:txBody>
          <a:bodyPr/>
          <a:lstStyle>
            <a:lvl1pPr>
              <a:defRPr/>
            </a:lvl1pPr>
          </a:lstStyle>
          <a:p>
            <a:pPr>
              <a:defRPr/>
            </a:pPr>
            <a:fld id="{087FDA1F-5BEC-4BB6-A04D-B5E5454626B5}" type="slidenum">
              <a:rPr lang="es-ES"/>
              <a:pPr>
                <a:defRPr/>
              </a:pPr>
              <a:t>‹Nº›</a:t>
            </a:fld>
            <a:endParaRPr lang="es-ES"/>
          </a:p>
        </p:txBody>
      </p:sp>
    </p:spTree>
    <p:extLst>
      <p:ext uri="{BB962C8B-B14F-4D97-AF65-F5344CB8AC3E}">
        <p14:creationId xmlns:p14="http://schemas.microsoft.com/office/powerpoint/2010/main" val="24376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8"/>
          <p:cNvSpPr>
            <a:spLocks noGrp="1" noChangeArrowheads="1"/>
          </p:cNvSpPr>
          <p:nvPr>
            <p:ph type="dt" sz="half" idx="10"/>
          </p:nvPr>
        </p:nvSpPr>
        <p:spPr>
          <a:ln/>
        </p:spPr>
        <p:txBody>
          <a:bodyPr/>
          <a:lstStyle>
            <a:lvl1pPr>
              <a:defRPr/>
            </a:lvl1pPr>
          </a:lstStyle>
          <a:p>
            <a:pPr>
              <a:defRPr/>
            </a:pPr>
            <a:endParaRPr lang="es-ES"/>
          </a:p>
        </p:txBody>
      </p:sp>
      <p:sp>
        <p:nvSpPr>
          <p:cNvPr id="4" name="Rectangle 9"/>
          <p:cNvSpPr>
            <a:spLocks noGrp="1" noChangeArrowheads="1"/>
          </p:cNvSpPr>
          <p:nvPr>
            <p:ph type="ftr" sz="quarter" idx="11"/>
          </p:nvPr>
        </p:nvSpPr>
        <p:spPr>
          <a:ln/>
        </p:spPr>
        <p:txBody>
          <a:bodyPr/>
          <a:lstStyle>
            <a:lvl1pPr>
              <a:defRPr/>
            </a:lvl1pPr>
          </a:lstStyle>
          <a:p>
            <a:pPr>
              <a:defRPr/>
            </a:pPr>
            <a:endParaRPr lang="es-ES"/>
          </a:p>
        </p:txBody>
      </p:sp>
      <p:sp>
        <p:nvSpPr>
          <p:cNvPr id="5" name="Rectangle 10"/>
          <p:cNvSpPr>
            <a:spLocks noGrp="1" noChangeArrowheads="1"/>
          </p:cNvSpPr>
          <p:nvPr>
            <p:ph type="sldNum" sz="quarter" idx="12"/>
          </p:nvPr>
        </p:nvSpPr>
        <p:spPr>
          <a:ln/>
        </p:spPr>
        <p:txBody>
          <a:bodyPr/>
          <a:lstStyle>
            <a:lvl1pPr>
              <a:defRPr/>
            </a:lvl1pPr>
          </a:lstStyle>
          <a:p>
            <a:pPr>
              <a:defRPr/>
            </a:pPr>
            <a:fld id="{3725C630-2421-4B83-A62F-42478DFCB84B}" type="slidenum">
              <a:rPr lang="es-ES"/>
              <a:pPr>
                <a:defRPr/>
              </a:pPr>
              <a:t>‹Nº›</a:t>
            </a:fld>
            <a:endParaRPr lang="es-ES"/>
          </a:p>
        </p:txBody>
      </p:sp>
    </p:spTree>
    <p:extLst>
      <p:ext uri="{BB962C8B-B14F-4D97-AF65-F5344CB8AC3E}">
        <p14:creationId xmlns:p14="http://schemas.microsoft.com/office/powerpoint/2010/main" val="1539214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s-ES"/>
          </a:p>
        </p:txBody>
      </p:sp>
      <p:sp>
        <p:nvSpPr>
          <p:cNvPr id="3" name="Rectangle 9"/>
          <p:cNvSpPr>
            <a:spLocks noGrp="1" noChangeArrowheads="1"/>
          </p:cNvSpPr>
          <p:nvPr>
            <p:ph type="ftr" sz="quarter" idx="11"/>
          </p:nvPr>
        </p:nvSpPr>
        <p:spPr>
          <a:ln/>
        </p:spPr>
        <p:txBody>
          <a:bodyPr/>
          <a:lstStyle>
            <a:lvl1pPr>
              <a:defRPr/>
            </a:lvl1pPr>
          </a:lstStyle>
          <a:p>
            <a:pPr>
              <a:defRPr/>
            </a:pPr>
            <a:endParaRPr lang="es-ES"/>
          </a:p>
        </p:txBody>
      </p:sp>
      <p:sp>
        <p:nvSpPr>
          <p:cNvPr id="4" name="Rectangle 10"/>
          <p:cNvSpPr>
            <a:spLocks noGrp="1" noChangeArrowheads="1"/>
          </p:cNvSpPr>
          <p:nvPr>
            <p:ph type="sldNum" sz="quarter" idx="12"/>
          </p:nvPr>
        </p:nvSpPr>
        <p:spPr>
          <a:ln/>
        </p:spPr>
        <p:txBody>
          <a:bodyPr/>
          <a:lstStyle>
            <a:lvl1pPr>
              <a:defRPr/>
            </a:lvl1pPr>
          </a:lstStyle>
          <a:p>
            <a:pPr>
              <a:defRPr/>
            </a:pPr>
            <a:fld id="{5A3496A5-61D1-4DF2-BE16-DAAB338EB236}" type="slidenum">
              <a:rPr lang="es-ES"/>
              <a:pPr>
                <a:defRPr/>
              </a:pPr>
              <a:t>‹Nº›</a:t>
            </a:fld>
            <a:endParaRPr lang="es-ES"/>
          </a:p>
        </p:txBody>
      </p:sp>
    </p:spTree>
    <p:extLst>
      <p:ext uri="{BB962C8B-B14F-4D97-AF65-F5344CB8AC3E}">
        <p14:creationId xmlns:p14="http://schemas.microsoft.com/office/powerpoint/2010/main" val="3145411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39750" y="287338"/>
            <a:ext cx="3554413" cy="121920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4222750" y="287338"/>
            <a:ext cx="6038850" cy="61452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539750" y="1506538"/>
            <a:ext cx="3554413" cy="4926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C0BD3AE1-220C-4DD9-9D3A-D6C3C56B5ED5}" type="slidenum">
              <a:rPr lang="es-ES"/>
              <a:pPr>
                <a:defRPr/>
              </a:pPr>
              <a:t>‹Nº›</a:t>
            </a:fld>
            <a:endParaRPr lang="es-ES"/>
          </a:p>
        </p:txBody>
      </p:sp>
    </p:spTree>
    <p:extLst>
      <p:ext uri="{BB962C8B-B14F-4D97-AF65-F5344CB8AC3E}">
        <p14:creationId xmlns:p14="http://schemas.microsoft.com/office/powerpoint/2010/main" val="64533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117725" y="5040313"/>
            <a:ext cx="6480175" cy="595312"/>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2117725" y="642938"/>
            <a:ext cx="6480175" cy="4321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2117725" y="5635625"/>
            <a:ext cx="6480175" cy="8445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B3214A01-937A-4AA3-830F-39E05EAAF133}" type="slidenum">
              <a:rPr lang="es-ES"/>
              <a:pPr>
                <a:defRPr/>
              </a:pPr>
              <a:t>‹Nº›</a:t>
            </a:fld>
            <a:endParaRPr lang="es-ES"/>
          </a:p>
        </p:txBody>
      </p:sp>
    </p:spTree>
    <p:extLst>
      <p:ext uri="{BB962C8B-B14F-4D97-AF65-F5344CB8AC3E}">
        <p14:creationId xmlns:p14="http://schemas.microsoft.com/office/powerpoint/2010/main" val="85288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ACCA6AC8-BB5D-4D7E-ACA6-0DC3447CD90D}" type="slidenum">
              <a:rPr lang="es-ES"/>
              <a:pPr>
                <a:defRPr/>
              </a:pPr>
              <a:t>‹Nº›</a:t>
            </a:fld>
            <a:endParaRPr lang="es-ES"/>
          </a:p>
        </p:txBody>
      </p:sp>
    </p:spTree>
    <p:extLst>
      <p:ext uri="{BB962C8B-B14F-4D97-AF65-F5344CB8AC3E}">
        <p14:creationId xmlns:p14="http://schemas.microsoft.com/office/powerpoint/2010/main" val="21686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012113" y="400050"/>
            <a:ext cx="2249487" cy="5761038"/>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1260475" y="400050"/>
            <a:ext cx="6599238" cy="57610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5054D344-94BF-4E23-B770-3FD5E9DE5FEE}" type="slidenum">
              <a:rPr lang="es-ES"/>
              <a:pPr>
                <a:defRPr/>
              </a:pPr>
              <a:t>‹Nº›</a:t>
            </a:fld>
            <a:endParaRPr lang="es-ES"/>
          </a:p>
        </p:txBody>
      </p:sp>
    </p:spTree>
    <p:extLst>
      <p:ext uri="{BB962C8B-B14F-4D97-AF65-F5344CB8AC3E}">
        <p14:creationId xmlns:p14="http://schemas.microsoft.com/office/powerpoint/2010/main" val="2762920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1260475" y="400050"/>
            <a:ext cx="9001125" cy="57610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Rectangle 8"/>
          <p:cNvSpPr>
            <a:spLocks noGrp="1" noChangeArrowheads="1"/>
          </p:cNvSpPr>
          <p:nvPr>
            <p:ph type="dt" sz="half" idx="10"/>
          </p:nvPr>
        </p:nvSpPr>
        <p:spPr>
          <a:ln/>
        </p:spPr>
        <p:txBody>
          <a:bodyPr/>
          <a:lstStyle>
            <a:lvl1pPr>
              <a:defRPr/>
            </a:lvl1pPr>
          </a:lstStyle>
          <a:p>
            <a:pPr>
              <a:defRPr/>
            </a:pPr>
            <a:endParaRPr lang="es-ES"/>
          </a:p>
        </p:txBody>
      </p:sp>
      <p:sp>
        <p:nvSpPr>
          <p:cNvPr id="4" name="Rectangle 9"/>
          <p:cNvSpPr>
            <a:spLocks noGrp="1" noChangeArrowheads="1"/>
          </p:cNvSpPr>
          <p:nvPr>
            <p:ph type="ftr" sz="quarter" idx="11"/>
          </p:nvPr>
        </p:nvSpPr>
        <p:spPr>
          <a:ln/>
        </p:spPr>
        <p:txBody>
          <a:bodyPr/>
          <a:lstStyle>
            <a:lvl1pPr>
              <a:defRPr/>
            </a:lvl1pPr>
          </a:lstStyle>
          <a:p>
            <a:pPr>
              <a:defRPr/>
            </a:pPr>
            <a:endParaRPr lang="es-ES"/>
          </a:p>
        </p:txBody>
      </p:sp>
      <p:sp>
        <p:nvSpPr>
          <p:cNvPr id="5" name="Rectangle 10"/>
          <p:cNvSpPr>
            <a:spLocks noGrp="1" noChangeArrowheads="1"/>
          </p:cNvSpPr>
          <p:nvPr>
            <p:ph type="sldNum" sz="quarter" idx="12"/>
          </p:nvPr>
        </p:nvSpPr>
        <p:spPr>
          <a:ln/>
        </p:spPr>
        <p:txBody>
          <a:bodyPr/>
          <a:lstStyle>
            <a:lvl1pPr>
              <a:defRPr/>
            </a:lvl1pPr>
          </a:lstStyle>
          <a:p>
            <a:pPr>
              <a:defRPr/>
            </a:pPr>
            <a:fld id="{ADE2EC94-DA1D-4B4C-9983-D5C7CDF655FE}" type="slidenum">
              <a:rPr lang="es-ES"/>
              <a:pPr>
                <a:defRPr/>
              </a:pPr>
              <a:t>‹Nº›</a:t>
            </a:fld>
            <a:endParaRPr lang="es-ES"/>
          </a:p>
        </p:txBody>
      </p:sp>
    </p:spTree>
    <p:extLst>
      <p:ext uri="{BB962C8B-B14F-4D97-AF65-F5344CB8AC3E}">
        <p14:creationId xmlns:p14="http://schemas.microsoft.com/office/powerpoint/2010/main" val="2447837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906D58"/>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720725" y="239713"/>
            <a:ext cx="9731375" cy="6710362"/>
          </a:xfrm>
          <a:prstGeom prst="rect">
            <a:avLst/>
          </a:prstGeom>
          <a:solidFill>
            <a:srgbClr val="EDE7E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a:solidFill>
                  <a:srgbClr val="000000"/>
                </a:solidFill>
                <a:latin typeface="Arial" panose="020B0604020202020204" pitchFamily="34" charset="0"/>
              </a:defRPr>
            </a:lvl1pPr>
            <a:lvl2pPr marL="742950" indent="-285750" defTabSz="1028700">
              <a:spcBef>
                <a:spcPct val="50000"/>
              </a:spcBef>
              <a:defRPr sz="2000">
                <a:solidFill>
                  <a:srgbClr val="000000"/>
                </a:solidFill>
                <a:latin typeface="Arial" panose="020B0604020202020204" pitchFamily="34" charset="0"/>
              </a:defRPr>
            </a:lvl2pPr>
            <a:lvl3pPr marL="1143000" indent="-228600" defTabSz="1028700">
              <a:spcBef>
                <a:spcPct val="50000"/>
              </a:spcBef>
              <a:defRPr sz="2000">
                <a:solidFill>
                  <a:srgbClr val="000000"/>
                </a:solidFill>
                <a:latin typeface="Arial" panose="020B0604020202020204" pitchFamily="34" charset="0"/>
              </a:defRPr>
            </a:lvl3pPr>
            <a:lvl4pPr marL="1600200" indent="-228600" defTabSz="1028700">
              <a:spcBef>
                <a:spcPct val="50000"/>
              </a:spcBef>
              <a:defRPr sz="2000">
                <a:solidFill>
                  <a:srgbClr val="000000"/>
                </a:solidFill>
                <a:latin typeface="Arial" panose="020B0604020202020204" pitchFamily="34" charset="0"/>
              </a:defRPr>
            </a:lvl4pPr>
            <a:lvl5pPr marL="2057400" indent="-228600" defTabSz="1028700">
              <a:spcBef>
                <a:spcPct val="50000"/>
              </a:spcBef>
              <a:defRPr sz="2000">
                <a:solidFill>
                  <a:srgbClr val="000000"/>
                </a:solidFill>
                <a:latin typeface="Arial" panose="020B0604020202020204" pitchFamily="34" charset="0"/>
              </a:defRPr>
            </a:lvl5pPr>
            <a:lvl6pPr marL="2514600" indent="-228600" defTabSz="1028700" eaLnBrk="0" fontAlgn="base" hangingPunct="0">
              <a:spcBef>
                <a:spcPct val="50000"/>
              </a:spcBef>
              <a:spcAft>
                <a:spcPct val="0"/>
              </a:spcAft>
              <a:defRPr sz="2000">
                <a:solidFill>
                  <a:srgbClr val="000000"/>
                </a:solidFill>
                <a:latin typeface="Arial" panose="020B0604020202020204" pitchFamily="34" charset="0"/>
              </a:defRPr>
            </a:lvl6pPr>
            <a:lvl7pPr marL="2971800" indent="-228600" defTabSz="1028700" eaLnBrk="0" fontAlgn="base" hangingPunct="0">
              <a:spcBef>
                <a:spcPct val="50000"/>
              </a:spcBef>
              <a:spcAft>
                <a:spcPct val="0"/>
              </a:spcAft>
              <a:defRPr sz="2000">
                <a:solidFill>
                  <a:srgbClr val="000000"/>
                </a:solidFill>
                <a:latin typeface="Arial" panose="020B0604020202020204" pitchFamily="34" charset="0"/>
              </a:defRPr>
            </a:lvl7pPr>
            <a:lvl8pPr marL="3429000" indent="-228600" defTabSz="1028700" eaLnBrk="0" fontAlgn="base" hangingPunct="0">
              <a:spcBef>
                <a:spcPct val="50000"/>
              </a:spcBef>
              <a:spcAft>
                <a:spcPct val="0"/>
              </a:spcAft>
              <a:defRPr sz="2000">
                <a:solidFill>
                  <a:srgbClr val="000000"/>
                </a:solidFill>
                <a:latin typeface="Arial" panose="020B0604020202020204" pitchFamily="34" charset="0"/>
              </a:defRPr>
            </a:lvl8pPr>
            <a:lvl9pPr marL="3886200" indent="-228600" defTabSz="1028700" eaLnBrk="0" fontAlgn="base" hangingPunct="0">
              <a:spcBef>
                <a:spcPct val="50000"/>
              </a:spcBef>
              <a:spcAft>
                <a:spcPct val="0"/>
              </a:spcAft>
              <a:defRPr sz="2000">
                <a:solidFill>
                  <a:srgbClr val="000000"/>
                </a:solidFill>
                <a:latin typeface="Arial" panose="020B0604020202020204" pitchFamily="34" charset="0"/>
              </a:defRPr>
            </a:lvl9pPr>
          </a:lstStyle>
          <a:p>
            <a:pPr algn="ctr" eaLnBrk="1" hangingPunct="1">
              <a:spcBef>
                <a:spcPct val="0"/>
              </a:spcBef>
              <a:defRPr/>
            </a:pPr>
            <a:endParaRPr kumimoji="1" lang="es-ES" sz="2700">
              <a:solidFill>
                <a:schemeClr val="tx1"/>
              </a:solidFill>
              <a:latin typeface="Times New Roman" panose="02020603050405020304" pitchFamily="18" charset="0"/>
            </a:endParaRPr>
          </a:p>
        </p:txBody>
      </p:sp>
      <p:sp>
        <p:nvSpPr>
          <p:cNvPr id="1027" name="Line 3"/>
          <p:cNvSpPr>
            <a:spLocks noChangeShapeType="1"/>
          </p:cNvSpPr>
          <p:nvPr/>
        </p:nvSpPr>
        <p:spPr bwMode="ltGray">
          <a:xfrm>
            <a:off x="1200150" y="1679575"/>
            <a:ext cx="9061450" cy="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1028" name="Picture 4" descr="minispir"/>
          <p:cNvPicPr>
            <a:picLocks noChangeAspect="1" noChangeArrowheads="1"/>
          </p:cNvPicPr>
          <p:nvPr/>
        </p:nvPicPr>
        <p:blipFill>
          <a:blip r:embed="rId14">
            <a:extLst>
              <a:ext uri="{28A0092B-C50C-407E-A947-70E740481C1C}">
                <a14:useLocalDpi xmlns:a14="http://schemas.microsoft.com/office/drawing/2010/main" val="0"/>
              </a:ext>
            </a:extLst>
          </a:blip>
          <a:srcRect b="5333"/>
          <a:stretch>
            <a:fillRect/>
          </a:stretch>
        </p:blipFill>
        <p:spPr bwMode="ltGray">
          <a:xfrm>
            <a:off x="0" y="53975"/>
            <a:ext cx="1395413"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descr="minispir"/>
          <p:cNvPicPr>
            <a:picLocks noChangeAspect="1" noChangeArrowheads="1"/>
          </p:cNvPicPr>
          <p:nvPr/>
        </p:nvPicPr>
        <p:blipFill>
          <a:blip r:embed="rId14">
            <a:extLst>
              <a:ext uri="{28A0092B-C50C-407E-A947-70E740481C1C}">
                <a14:useLocalDpi xmlns:a14="http://schemas.microsoft.com/office/drawing/2010/main" val="0"/>
              </a:ext>
            </a:extLst>
          </a:blip>
          <a:srcRect t="39999"/>
          <a:stretch>
            <a:fillRect/>
          </a:stretch>
        </p:blipFill>
        <p:spPr bwMode="ltGray">
          <a:xfrm>
            <a:off x="0" y="4433888"/>
            <a:ext cx="1395413"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Grp="1" noChangeArrowheads="1"/>
          </p:cNvSpPr>
          <p:nvPr>
            <p:ph type="title"/>
          </p:nvPr>
        </p:nvSpPr>
        <p:spPr bwMode="auto">
          <a:xfrm>
            <a:off x="1260475" y="400050"/>
            <a:ext cx="9001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ctr" anchorCtr="0" compatLnSpc="1">
            <a:prstTxWarp prst="textNoShape">
              <a:avLst/>
            </a:prstTxWarp>
          </a:bodyPr>
          <a:lstStyle/>
          <a:p>
            <a:pPr lvl="0"/>
            <a:r>
              <a:rPr lang="es-ES"/>
              <a:t>Haga clic para modificar el estilo de título del patrón</a:t>
            </a:r>
          </a:p>
        </p:txBody>
      </p:sp>
      <p:sp>
        <p:nvSpPr>
          <p:cNvPr id="1031" name="Rectangle 7"/>
          <p:cNvSpPr>
            <a:spLocks noGrp="1" noChangeArrowheads="1"/>
          </p:cNvSpPr>
          <p:nvPr>
            <p:ph type="body" idx="1"/>
          </p:nvPr>
        </p:nvSpPr>
        <p:spPr bwMode="auto">
          <a:xfrm>
            <a:off x="1260475" y="1839913"/>
            <a:ext cx="900112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3192" name="Rectangle 8"/>
          <p:cNvSpPr>
            <a:spLocks noGrp="1" noChangeArrowheads="1"/>
          </p:cNvSpPr>
          <p:nvPr>
            <p:ph type="dt" sz="half" idx="2"/>
          </p:nvPr>
        </p:nvSpPr>
        <p:spPr bwMode="auto">
          <a:xfrm>
            <a:off x="1198563" y="6411913"/>
            <a:ext cx="2249487"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eaLnBrk="1" hangingPunct="1">
              <a:spcBef>
                <a:spcPct val="0"/>
              </a:spcBef>
              <a:defRPr sz="1600">
                <a:solidFill>
                  <a:schemeClr val="tx1"/>
                </a:solidFill>
                <a:latin typeface="Times New Roman" pitchFamily="18" charset="0"/>
              </a:defRPr>
            </a:lvl1pPr>
          </a:lstStyle>
          <a:p>
            <a:pPr>
              <a:defRPr/>
            </a:pPr>
            <a:endParaRPr lang="es-ES"/>
          </a:p>
        </p:txBody>
      </p:sp>
      <p:sp>
        <p:nvSpPr>
          <p:cNvPr id="93193" name="Rectangle 9"/>
          <p:cNvSpPr>
            <a:spLocks noGrp="1" noChangeArrowheads="1"/>
          </p:cNvSpPr>
          <p:nvPr>
            <p:ph type="ftr" sz="quarter" idx="3"/>
          </p:nvPr>
        </p:nvSpPr>
        <p:spPr bwMode="auto">
          <a:xfrm>
            <a:off x="4078288" y="6411913"/>
            <a:ext cx="3421062"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algn="ctr" eaLnBrk="1" hangingPunct="1">
              <a:spcBef>
                <a:spcPct val="0"/>
              </a:spcBef>
              <a:defRPr sz="1600">
                <a:solidFill>
                  <a:schemeClr val="tx1"/>
                </a:solidFill>
                <a:latin typeface="Times New Roman" pitchFamily="18" charset="0"/>
              </a:defRPr>
            </a:lvl1pPr>
          </a:lstStyle>
          <a:p>
            <a:pPr>
              <a:defRPr/>
            </a:pPr>
            <a:endParaRPr lang="es-ES"/>
          </a:p>
        </p:txBody>
      </p:sp>
      <p:sp>
        <p:nvSpPr>
          <p:cNvPr id="93194" name="Rectangle 10"/>
          <p:cNvSpPr>
            <a:spLocks noGrp="1" noChangeArrowheads="1"/>
          </p:cNvSpPr>
          <p:nvPr>
            <p:ph type="sldNum" sz="quarter" idx="4"/>
          </p:nvPr>
        </p:nvSpPr>
        <p:spPr bwMode="auto">
          <a:xfrm>
            <a:off x="8129588" y="6411913"/>
            <a:ext cx="2249487"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algn="r" eaLnBrk="1" hangingPunct="1">
              <a:spcBef>
                <a:spcPct val="0"/>
              </a:spcBef>
              <a:defRPr sz="1600">
                <a:solidFill>
                  <a:schemeClr val="tx1"/>
                </a:solidFill>
                <a:latin typeface="Times New Roman" panose="02020603050405020304" pitchFamily="18" charset="0"/>
              </a:defRPr>
            </a:lvl1pPr>
          </a:lstStyle>
          <a:p>
            <a:pPr>
              <a:defRPr/>
            </a:pPr>
            <a:fld id="{8106D589-BF61-4C3E-8B78-75E462CE6553}"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3986"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Lst>
  <p:txStyles>
    <p:titleStyle>
      <a:lvl1pPr algn="ctr" defTabSz="1028700" rtl="0" eaLnBrk="0" fontAlgn="base" hangingPunct="0">
        <a:spcBef>
          <a:spcPct val="0"/>
        </a:spcBef>
        <a:spcAft>
          <a:spcPct val="0"/>
        </a:spcAft>
        <a:defRPr sz="5000">
          <a:solidFill>
            <a:schemeClr val="tx2"/>
          </a:solidFill>
          <a:latin typeface="+mj-lt"/>
          <a:ea typeface="+mj-ea"/>
          <a:cs typeface="+mj-cs"/>
        </a:defRPr>
      </a:lvl1pPr>
      <a:lvl2pPr algn="ctr" defTabSz="1028700" rtl="0" eaLnBrk="0" fontAlgn="base" hangingPunct="0">
        <a:spcBef>
          <a:spcPct val="0"/>
        </a:spcBef>
        <a:spcAft>
          <a:spcPct val="0"/>
        </a:spcAft>
        <a:defRPr sz="5000">
          <a:solidFill>
            <a:schemeClr val="tx2"/>
          </a:solidFill>
          <a:latin typeface="Times New Roman" pitchFamily="18" charset="0"/>
        </a:defRPr>
      </a:lvl2pPr>
      <a:lvl3pPr algn="ctr" defTabSz="1028700" rtl="0" eaLnBrk="0" fontAlgn="base" hangingPunct="0">
        <a:spcBef>
          <a:spcPct val="0"/>
        </a:spcBef>
        <a:spcAft>
          <a:spcPct val="0"/>
        </a:spcAft>
        <a:defRPr sz="5000">
          <a:solidFill>
            <a:schemeClr val="tx2"/>
          </a:solidFill>
          <a:latin typeface="Times New Roman" pitchFamily="18" charset="0"/>
        </a:defRPr>
      </a:lvl3pPr>
      <a:lvl4pPr algn="ctr" defTabSz="1028700" rtl="0" eaLnBrk="0" fontAlgn="base" hangingPunct="0">
        <a:spcBef>
          <a:spcPct val="0"/>
        </a:spcBef>
        <a:spcAft>
          <a:spcPct val="0"/>
        </a:spcAft>
        <a:defRPr sz="5000">
          <a:solidFill>
            <a:schemeClr val="tx2"/>
          </a:solidFill>
          <a:latin typeface="Times New Roman" pitchFamily="18" charset="0"/>
        </a:defRPr>
      </a:lvl4pPr>
      <a:lvl5pPr algn="ctr" defTabSz="1028700" rtl="0" eaLnBrk="0" fontAlgn="base" hangingPunct="0">
        <a:spcBef>
          <a:spcPct val="0"/>
        </a:spcBef>
        <a:spcAft>
          <a:spcPct val="0"/>
        </a:spcAft>
        <a:defRPr sz="5000">
          <a:solidFill>
            <a:schemeClr val="tx2"/>
          </a:solidFill>
          <a:latin typeface="Times New Roman" pitchFamily="18" charset="0"/>
        </a:defRPr>
      </a:lvl5pPr>
      <a:lvl6pPr marL="457200" algn="ctr" defTabSz="1028700" rtl="0" fontAlgn="base">
        <a:spcBef>
          <a:spcPct val="0"/>
        </a:spcBef>
        <a:spcAft>
          <a:spcPct val="0"/>
        </a:spcAft>
        <a:defRPr sz="5000">
          <a:solidFill>
            <a:schemeClr val="tx2"/>
          </a:solidFill>
          <a:latin typeface="Times New Roman" pitchFamily="18" charset="0"/>
        </a:defRPr>
      </a:lvl6pPr>
      <a:lvl7pPr marL="914400" algn="ctr" defTabSz="1028700" rtl="0" fontAlgn="base">
        <a:spcBef>
          <a:spcPct val="0"/>
        </a:spcBef>
        <a:spcAft>
          <a:spcPct val="0"/>
        </a:spcAft>
        <a:defRPr sz="5000">
          <a:solidFill>
            <a:schemeClr val="tx2"/>
          </a:solidFill>
          <a:latin typeface="Times New Roman" pitchFamily="18" charset="0"/>
        </a:defRPr>
      </a:lvl7pPr>
      <a:lvl8pPr marL="1371600" algn="ctr" defTabSz="1028700" rtl="0" fontAlgn="base">
        <a:spcBef>
          <a:spcPct val="0"/>
        </a:spcBef>
        <a:spcAft>
          <a:spcPct val="0"/>
        </a:spcAft>
        <a:defRPr sz="5000">
          <a:solidFill>
            <a:schemeClr val="tx2"/>
          </a:solidFill>
          <a:latin typeface="Times New Roman" pitchFamily="18" charset="0"/>
        </a:defRPr>
      </a:lvl8pPr>
      <a:lvl9pPr marL="1828800" algn="ctr" defTabSz="1028700" rtl="0" fontAlgn="base">
        <a:spcBef>
          <a:spcPct val="0"/>
        </a:spcBef>
        <a:spcAft>
          <a:spcPct val="0"/>
        </a:spcAft>
        <a:defRPr sz="5000">
          <a:solidFill>
            <a:schemeClr val="tx2"/>
          </a:solidFill>
          <a:latin typeface="Times New Roman" pitchFamily="18" charset="0"/>
        </a:defRPr>
      </a:lvl9pPr>
    </p:titleStyle>
    <p:bodyStyle>
      <a:lvl1pPr marL="385763" indent="-385763" algn="l" defTabSz="1028700" rtl="0" eaLnBrk="0" fontAlgn="base" hangingPunct="0">
        <a:spcBef>
          <a:spcPct val="20000"/>
        </a:spcBef>
        <a:spcAft>
          <a:spcPct val="0"/>
        </a:spcAft>
        <a:buChar char="•"/>
        <a:defRPr sz="3600">
          <a:solidFill>
            <a:schemeClr val="tx1"/>
          </a:solidFill>
          <a:latin typeface="+mn-lt"/>
          <a:ea typeface="+mn-ea"/>
          <a:cs typeface="+mn-cs"/>
        </a:defRPr>
      </a:lvl1pPr>
      <a:lvl2pPr marL="836613" indent="-322263" algn="l" defTabSz="1028700" rtl="0" eaLnBrk="0" fontAlgn="base" hangingPunct="0">
        <a:spcBef>
          <a:spcPct val="20000"/>
        </a:spcBef>
        <a:spcAft>
          <a:spcPct val="0"/>
        </a:spcAft>
        <a:buChar char="–"/>
        <a:defRPr sz="3200">
          <a:solidFill>
            <a:schemeClr val="tx1"/>
          </a:solidFill>
          <a:latin typeface="+mn-lt"/>
        </a:defRPr>
      </a:lvl2pPr>
      <a:lvl3pPr marL="1285875" indent="-257175" algn="l" defTabSz="1028700" rtl="0" eaLnBrk="0" fontAlgn="base" hangingPunct="0">
        <a:spcBef>
          <a:spcPct val="20000"/>
        </a:spcBef>
        <a:spcAft>
          <a:spcPct val="0"/>
        </a:spcAft>
        <a:buChar char="•"/>
        <a:defRPr sz="2700">
          <a:solidFill>
            <a:schemeClr val="tx1"/>
          </a:solidFill>
          <a:latin typeface="+mn-lt"/>
        </a:defRPr>
      </a:lvl3pPr>
      <a:lvl4pPr marL="1800225" indent="-257175" algn="l" defTabSz="1028700" rtl="0" eaLnBrk="0" fontAlgn="base" hangingPunct="0">
        <a:spcBef>
          <a:spcPct val="20000"/>
        </a:spcBef>
        <a:spcAft>
          <a:spcPct val="0"/>
        </a:spcAft>
        <a:buChar char="–"/>
        <a:defRPr sz="2300">
          <a:solidFill>
            <a:schemeClr val="tx1"/>
          </a:solidFill>
          <a:latin typeface="+mn-lt"/>
        </a:defRPr>
      </a:lvl4pPr>
      <a:lvl5pPr marL="2314575" indent="-257175" algn="l" defTabSz="1028700" rtl="0" eaLnBrk="0" fontAlgn="base" hangingPunct="0">
        <a:spcBef>
          <a:spcPct val="20000"/>
        </a:spcBef>
        <a:spcAft>
          <a:spcPct val="0"/>
        </a:spcAft>
        <a:buChar char="»"/>
        <a:defRPr sz="2300">
          <a:solidFill>
            <a:schemeClr val="tx1"/>
          </a:solidFill>
          <a:latin typeface="+mn-lt"/>
        </a:defRPr>
      </a:lvl5pPr>
      <a:lvl6pPr marL="2771775" indent="-257175" algn="l" defTabSz="1028700" rtl="0" fontAlgn="base">
        <a:spcBef>
          <a:spcPct val="20000"/>
        </a:spcBef>
        <a:spcAft>
          <a:spcPct val="0"/>
        </a:spcAft>
        <a:buChar char="»"/>
        <a:defRPr sz="2300">
          <a:solidFill>
            <a:schemeClr val="tx1"/>
          </a:solidFill>
          <a:latin typeface="+mn-lt"/>
        </a:defRPr>
      </a:lvl6pPr>
      <a:lvl7pPr marL="3228975" indent="-257175" algn="l" defTabSz="1028700" rtl="0" fontAlgn="base">
        <a:spcBef>
          <a:spcPct val="20000"/>
        </a:spcBef>
        <a:spcAft>
          <a:spcPct val="0"/>
        </a:spcAft>
        <a:buChar char="»"/>
        <a:defRPr sz="2300">
          <a:solidFill>
            <a:schemeClr val="tx1"/>
          </a:solidFill>
          <a:latin typeface="+mn-lt"/>
        </a:defRPr>
      </a:lvl7pPr>
      <a:lvl8pPr marL="3686175" indent="-257175" algn="l" defTabSz="1028700" rtl="0" fontAlgn="base">
        <a:spcBef>
          <a:spcPct val="20000"/>
        </a:spcBef>
        <a:spcAft>
          <a:spcPct val="0"/>
        </a:spcAft>
        <a:buChar char="»"/>
        <a:defRPr sz="2300">
          <a:solidFill>
            <a:schemeClr val="tx1"/>
          </a:solidFill>
          <a:latin typeface="+mn-lt"/>
        </a:defRPr>
      </a:lvl8pPr>
      <a:lvl9pPr marL="4143375" indent="-257175" algn="l" defTabSz="1028700" rtl="0" fontAlgn="base">
        <a:spcBef>
          <a:spcPct val="20000"/>
        </a:spcBef>
        <a:spcAft>
          <a:spcPct val="0"/>
        </a:spcAft>
        <a:buChar char="»"/>
        <a:defRPr sz="23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3.png"/><Relationship Id="rId10" Type="http://schemas.openxmlformats.org/officeDocument/2006/relationships/image" Target="../media/image160.png"/><Relationship Id="rId4" Type="http://schemas.openxmlformats.org/officeDocument/2006/relationships/image" Target="../media/image100.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9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6.wmf"/><Relationship Id="rId11" Type="http://schemas.openxmlformats.org/officeDocument/2006/relationships/image" Target="../media/image17.wmf"/><Relationship Id="rId5" Type="http://schemas.openxmlformats.org/officeDocument/2006/relationships/oleObject" Target="../embeddings/oleObject3.bin"/><Relationship Id="rId10" Type="http://schemas.openxmlformats.org/officeDocument/2006/relationships/oleObject" Target="../embeddings/oleObject4.bin"/><Relationship Id="rId4" Type="http://schemas.openxmlformats.org/officeDocument/2006/relationships/image" Target="../media/image15.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8.wmf"/></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9.wmf"/><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1.wmf"/><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oleObject" Target="../embeddings/oleObject8.bin"/><Relationship Id="rId5" Type="http://schemas.openxmlformats.org/officeDocument/2006/relationships/image" Target="../media/image20.w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1.wmf"/><Relationship Id="rId5" Type="http://schemas.openxmlformats.org/officeDocument/2006/relationships/oleObject" Target="../embeddings/oleObject10.bin"/><Relationship Id="rId4" Type="http://schemas.openxmlformats.org/officeDocument/2006/relationships/image" Target="../media/image20.wmf"/></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ext Box 1030"/>
          <p:cNvSpPr txBox="1">
            <a:spLocks noChangeArrowheads="1"/>
          </p:cNvSpPr>
          <p:nvPr/>
        </p:nvSpPr>
        <p:spPr bwMode="auto">
          <a:xfrm>
            <a:off x="2557463" y="3221038"/>
            <a:ext cx="64293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Comic Sans MS" panose="030F0702030302020204" pitchFamily="66" charset="0"/>
              </a:rPr>
              <a:t>LEY DE GAUSS. POTENCIAL ELÉCTRICO</a:t>
            </a:r>
          </a:p>
        </p:txBody>
      </p:sp>
      <p:sp>
        <p:nvSpPr>
          <p:cNvPr id="5123" name="Text Box 1031"/>
          <p:cNvSpPr txBox="1">
            <a:spLocks noChangeArrowheads="1"/>
          </p:cNvSpPr>
          <p:nvPr/>
        </p:nvSpPr>
        <p:spPr bwMode="auto">
          <a:xfrm>
            <a:off x="5298531" y="4105275"/>
            <a:ext cx="941283"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Comic Sans MS" panose="030F0702030302020204" pitchFamily="66" charset="0"/>
              </a:rPr>
              <a:t>(3/3)</a:t>
            </a:r>
          </a:p>
        </p:txBody>
      </p:sp>
      <p:sp>
        <p:nvSpPr>
          <p:cNvPr id="5124" name="Text Box 1032"/>
          <p:cNvSpPr txBox="1">
            <a:spLocks noChangeArrowheads="1"/>
          </p:cNvSpPr>
          <p:nvPr/>
        </p:nvSpPr>
        <p:spPr bwMode="auto">
          <a:xfrm>
            <a:off x="5065713" y="2343150"/>
            <a:ext cx="13970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Comic Sans MS" panose="030F0702030302020204" pitchFamily="66" charset="0"/>
              </a:rPr>
              <a:t>TEMA 2</a:t>
            </a:r>
          </a:p>
        </p:txBody>
      </p:sp>
      <p:grpSp>
        <p:nvGrpSpPr>
          <p:cNvPr id="13" name="Grupo 12">
            <a:extLst>
              <a:ext uri="{FF2B5EF4-FFF2-40B4-BE49-F238E27FC236}">
                <a16:creationId xmlns:a16="http://schemas.microsoft.com/office/drawing/2014/main" id="{2AC15542-57FE-4FB1-E53C-82CA8269D82E}"/>
              </a:ext>
            </a:extLst>
          </p:cNvPr>
          <p:cNvGrpSpPr/>
          <p:nvPr/>
        </p:nvGrpSpPr>
        <p:grpSpPr>
          <a:xfrm>
            <a:off x="7237879" y="306751"/>
            <a:ext cx="3209926" cy="2487613"/>
            <a:chOff x="7237879" y="306751"/>
            <a:chExt cx="3209926" cy="2487613"/>
          </a:xfrm>
        </p:grpSpPr>
        <p:grpSp>
          <p:nvGrpSpPr>
            <p:cNvPr id="2" name="Group 23">
              <a:extLst>
                <a:ext uri="{FF2B5EF4-FFF2-40B4-BE49-F238E27FC236}">
                  <a16:creationId xmlns:a16="http://schemas.microsoft.com/office/drawing/2014/main" id="{94041B95-AB84-B21D-041D-674989A4AB6B}"/>
                </a:ext>
              </a:extLst>
            </p:cNvPr>
            <p:cNvGrpSpPr>
              <a:grpSpLocks/>
            </p:cNvGrpSpPr>
            <p:nvPr/>
          </p:nvGrpSpPr>
          <p:grpSpPr bwMode="auto">
            <a:xfrm>
              <a:off x="7237879" y="306751"/>
              <a:ext cx="3209926" cy="2487613"/>
              <a:chOff x="4896" y="276"/>
              <a:chExt cx="2022" cy="1567"/>
            </a:xfrm>
          </p:grpSpPr>
          <p:sp>
            <p:nvSpPr>
              <p:cNvPr id="3" name="AutoShape 1067">
                <a:extLst>
                  <a:ext uri="{FF2B5EF4-FFF2-40B4-BE49-F238E27FC236}">
                    <a16:creationId xmlns:a16="http://schemas.microsoft.com/office/drawing/2014/main" id="{C1E80177-0E96-E5C9-471A-EA58D576B493}"/>
                  </a:ext>
                </a:extLst>
              </p:cNvPr>
              <p:cNvSpPr>
                <a:spLocks noChangeArrowheads="1"/>
              </p:cNvSpPr>
              <p:nvPr/>
            </p:nvSpPr>
            <p:spPr bwMode="auto">
              <a:xfrm>
                <a:off x="4896" y="276"/>
                <a:ext cx="2022" cy="1567"/>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4" name="Text Box 1068">
                <a:extLst>
                  <a:ext uri="{FF2B5EF4-FFF2-40B4-BE49-F238E27FC236}">
                    <a16:creationId xmlns:a16="http://schemas.microsoft.com/office/drawing/2014/main" id="{6C9C4E1A-276C-97BE-6A82-C70C92A5618E}"/>
                  </a:ext>
                </a:extLst>
              </p:cNvPr>
              <p:cNvSpPr txBox="1">
                <a:spLocks noChangeArrowheads="1"/>
              </p:cNvSpPr>
              <p:nvPr/>
            </p:nvSpPr>
            <p:spPr bwMode="auto">
              <a:xfrm>
                <a:off x="5016" y="365"/>
                <a:ext cx="1786" cy="291"/>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latin typeface="Trebuchet MS" panose="020B0603020202020204" pitchFamily="34" charset="0"/>
                  </a:rPr>
                  <a:t>PRÁCTICA 1</a:t>
                </a:r>
                <a:endParaRPr lang="es-ES" sz="2400" b="1" dirty="0">
                  <a:latin typeface="Trebuchet MS" panose="020B0603020202020204" pitchFamily="34" charset="0"/>
                </a:endParaRPr>
              </a:p>
            </p:txBody>
          </p:sp>
          <p:sp>
            <p:nvSpPr>
              <p:cNvPr id="5" name="Text Box 1069">
                <a:extLst>
                  <a:ext uri="{FF2B5EF4-FFF2-40B4-BE49-F238E27FC236}">
                    <a16:creationId xmlns:a16="http://schemas.microsoft.com/office/drawing/2014/main" id="{78B17A1D-23B7-D3B4-8055-2C28CA7E0FE3}"/>
                  </a:ext>
                </a:extLst>
              </p:cNvPr>
              <p:cNvSpPr txBox="1">
                <a:spLocks noChangeArrowheads="1"/>
              </p:cNvSpPr>
              <p:nvPr/>
            </p:nvSpPr>
            <p:spPr bwMode="auto">
              <a:xfrm>
                <a:off x="5016" y="714"/>
                <a:ext cx="1786" cy="2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Trebuchet MS" panose="020B0603020202020204" pitchFamily="34" charset="0"/>
                  </a:rPr>
                  <a:t>18/10 a 24/10</a:t>
                </a:r>
                <a:endParaRPr lang="es-ES" sz="2400" b="1" dirty="0">
                  <a:solidFill>
                    <a:srgbClr val="FFFFFF"/>
                  </a:solidFill>
                  <a:latin typeface="Trebuchet MS" panose="020B0603020202020204" pitchFamily="34" charset="0"/>
                </a:endParaRPr>
              </a:p>
            </p:txBody>
          </p:sp>
          <p:sp>
            <p:nvSpPr>
              <p:cNvPr id="6" name="Text Box 1062">
                <a:extLst>
                  <a:ext uri="{FF2B5EF4-FFF2-40B4-BE49-F238E27FC236}">
                    <a16:creationId xmlns:a16="http://schemas.microsoft.com/office/drawing/2014/main" id="{DBCCFC39-2438-F407-9F84-450050BA14C9}"/>
                  </a:ext>
                </a:extLst>
              </p:cNvPr>
              <p:cNvSpPr txBox="1">
                <a:spLocks noChangeArrowheads="1"/>
              </p:cNvSpPr>
              <p:nvPr/>
            </p:nvSpPr>
            <p:spPr bwMode="auto">
              <a:xfrm>
                <a:off x="5479" y="982"/>
                <a:ext cx="8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FF0000"/>
                    </a:solidFill>
                    <a:latin typeface="Trebuchet MS" panose="020B0603020202020204" pitchFamily="34" charset="0"/>
                  </a:rPr>
                  <a:t>Boletín en Moodle</a:t>
                </a:r>
              </a:p>
            </p:txBody>
          </p:sp>
        </p:grpSp>
        <p:sp>
          <p:nvSpPr>
            <p:cNvPr id="12" name="Text Box 1069">
              <a:extLst>
                <a:ext uri="{FF2B5EF4-FFF2-40B4-BE49-F238E27FC236}">
                  <a16:creationId xmlns:a16="http://schemas.microsoft.com/office/drawing/2014/main" id="{F0212E73-E9CD-0DBB-5719-6BD47CDE4083}"/>
                </a:ext>
              </a:extLst>
            </p:cNvPr>
            <p:cNvSpPr txBox="1">
              <a:spLocks noChangeArrowheads="1"/>
            </p:cNvSpPr>
            <p:nvPr/>
          </p:nvSpPr>
          <p:spPr bwMode="auto">
            <a:xfrm>
              <a:off x="8059217" y="1933789"/>
              <a:ext cx="1582504" cy="773398"/>
            </a:xfrm>
            <a:prstGeom prst="rect">
              <a:avLst/>
            </a:prstGeom>
            <a:solidFill>
              <a:srgbClr val="3333FF"/>
            </a:solidFill>
            <a:ln>
              <a:noFill/>
            </a:ln>
          </p:spPr>
          <p:txBody>
            <a:bodyPr anchor="ctr" anchorCtr="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Trebuchet MS" panose="020B0603020202020204" pitchFamily="34" charset="0"/>
                </a:rPr>
                <a:t>25/10</a:t>
              </a:r>
            </a:p>
            <a:p>
              <a:pPr algn="ctr" eaLnBrk="1" hangingPunct="1">
                <a:spcBef>
                  <a:spcPct val="0"/>
                </a:spcBef>
                <a:buFontTx/>
                <a:buNone/>
              </a:pPr>
              <a:r>
                <a:rPr lang="es-ES" sz="2400" b="1">
                  <a:solidFill>
                    <a:srgbClr val="FFFFFF"/>
                  </a:solidFill>
                  <a:latin typeface="Trebuchet MS" panose="020B0603020202020204" pitchFamily="34" charset="0"/>
                </a:rPr>
                <a:t>DÍA ETSI</a:t>
              </a:r>
              <a:endParaRPr lang="es-ES" sz="2400" b="1" dirty="0">
                <a:solidFill>
                  <a:srgbClr val="FFFFFF"/>
                </a:solidFill>
                <a:latin typeface="Trebuchet MS" panose="020B0603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1A380A8C-E2A4-4D73-89F3-9AB4FF2D3918}"/>
              </a:ext>
            </a:extLst>
          </p:cNvPr>
          <p:cNvGrpSpPr/>
          <p:nvPr/>
        </p:nvGrpSpPr>
        <p:grpSpPr>
          <a:xfrm>
            <a:off x="1810717" y="406718"/>
            <a:ext cx="7772148" cy="6387465"/>
            <a:chOff x="1810717" y="406718"/>
            <a:chExt cx="7772148" cy="6387465"/>
          </a:xfrm>
        </p:grpSpPr>
        <p:pic>
          <p:nvPicPr>
            <p:cNvPr id="9218" name="Imagen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75247" y="406718"/>
              <a:ext cx="7607618" cy="6387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4" name="Forma libre 3"/>
            <p:cNvSpPr>
              <a:spLocks/>
            </p:cNvSpPr>
            <p:nvPr/>
          </p:nvSpPr>
          <p:spPr bwMode="auto">
            <a:xfrm>
              <a:off x="2863843" y="2576989"/>
              <a:ext cx="1566711" cy="1345170"/>
            </a:xfrm>
            <a:custGeom>
              <a:avLst/>
              <a:gdLst>
                <a:gd name="T0" fmla="*/ 673768 w 1491916"/>
                <a:gd name="T1" fmla="*/ 0 h 1280160"/>
                <a:gd name="T2" fmla="*/ 0 w 1491916"/>
                <a:gd name="T3" fmla="*/ 375385 h 1280160"/>
                <a:gd name="T4" fmla="*/ 827773 w 1491916"/>
                <a:gd name="T5" fmla="*/ 1280160 h 1280160"/>
                <a:gd name="T6" fmla="*/ 1491916 w 1491916"/>
                <a:gd name="T7" fmla="*/ 847023 h 1280160"/>
                <a:gd name="T8" fmla="*/ 712269 w 1491916"/>
                <a:gd name="T9" fmla="*/ 77002 h 1280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1916" h="1280160">
                  <a:moveTo>
                    <a:pt x="673768" y="0"/>
                  </a:moveTo>
                  <a:lnTo>
                    <a:pt x="0" y="375385"/>
                  </a:lnTo>
                  <a:lnTo>
                    <a:pt x="827773" y="1280160"/>
                  </a:lnTo>
                  <a:lnTo>
                    <a:pt x="1491916" y="847023"/>
                  </a:lnTo>
                  <a:lnTo>
                    <a:pt x="712269" y="77002"/>
                  </a:lnTo>
                </a:path>
              </a:pathLst>
            </a:custGeom>
            <a:solidFill>
              <a:srgbClr val="008000">
                <a:alpha val="25098"/>
              </a:srgbClr>
            </a:solidFill>
            <a:ln w="38100" cap="flat" cmpd="sng" algn="ctr">
              <a:solidFill>
                <a:srgbClr val="008000"/>
              </a:solidFill>
              <a:prstDash val="sysDash"/>
              <a:round/>
              <a:headEnd type="none" w="med" len="med"/>
              <a:tailEnd type="none" w="med" len="med"/>
            </a:ln>
          </p:spPr>
          <p:txBody>
            <a:bodyPr wrap="none"/>
            <a:lstStyle/>
            <a:p>
              <a:endParaRPr lang="en-GB" sz="2520"/>
            </a:p>
          </p:txBody>
        </p:sp>
        <p:sp>
          <p:nvSpPr>
            <p:cNvPr id="9235" name="Text Box 13"/>
            <p:cNvSpPr txBox="1">
              <a:spLocks noChangeArrowheads="1"/>
            </p:cNvSpPr>
            <p:nvPr/>
          </p:nvSpPr>
          <p:spPr bwMode="auto">
            <a:xfrm>
              <a:off x="1810717" y="3373749"/>
              <a:ext cx="1235154" cy="480131"/>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s-ES" sz="2520">
                  <a:solidFill>
                    <a:schemeClr val="bg1"/>
                  </a:solidFill>
                  <a:latin typeface="Trebuchet MS" panose="020B0603020202020204" pitchFamily="34" charset="0"/>
                </a:rPr>
                <a:t>FCCEE</a:t>
              </a:r>
            </a:p>
          </p:txBody>
        </p:sp>
        <p:sp>
          <p:nvSpPr>
            <p:cNvPr id="16" name="Elipse 15"/>
            <p:cNvSpPr>
              <a:spLocks noChangeArrowheads="1"/>
            </p:cNvSpPr>
            <p:nvPr/>
          </p:nvSpPr>
          <p:spPr bwMode="auto">
            <a:xfrm>
              <a:off x="3783806" y="3405427"/>
              <a:ext cx="188357" cy="190024"/>
            </a:xfrm>
            <a:prstGeom prst="ellipse">
              <a:avLst/>
            </a:prstGeom>
            <a:solidFill>
              <a:srgbClr val="FF0000"/>
            </a:solidFill>
            <a:ln w="9525" algn="ctr">
              <a:solidFill>
                <a:srgbClr val="FF0000"/>
              </a:solidFill>
              <a:round/>
              <a:headEnd/>
              <a:tailEnd/>
            </a:ln>
          </p:spPr>
          <p:txBody>
            <a:bodyPr wrap="none"/>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sz="2520">
                <a:latin typeface="Trebuchet MS" panose="020B0603020202020204" pitchFamily="34" charset="0"/>
              </a:endParaRPr>
            </a:p>
          </p:txBody>
        </p:sp>
        <p:sp>
          <p:nvSpPr>
            <p:cNvPr id="19" name="Text Box 13"/>
            <p:cNvSpPr txBox="1">
              <a:spLocks noChangeArrowheads="1"/>
            </p:cNvSpPr>
            <p:nvPr/>
          </p:nvSpPr>
          <p:spPr bwMode="auto">
            <a:xfrm>
              <a:off x="2176692" y="4053315"/>
              <a:ext cx="1718111" cy="48013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s-ES" sz="2520" dirty="0">
                  <a:solidFill>
                    <a:schemeClr val="bg1"/>
                  </a:solidFill>
                  <a:latin typeface="Trebuchet MS" panose="020B0603020202020204" pitchFamily="34" charset="0"/>
                </a:rPr>
                <a:t>NÚCLEO 1</a:t>
              </a:r>
            </a:p>
          </p:txBody>
        </p:sp>
        <p:sp>
          <p:nvSpPr>
            <p:cNvPr id="4" name="Flecha derecha 3"/>
            <p:cNvSpPr/>
            <p:nvPr/>
          </p:nvSpPr>
          <p:spPr bwMode="auto">
            <a:xfrm rot="8876765">
              <a:off x="4013556" y="3168857"/>
              <a:ext cx="504529" cy="255274"/>
            </a:xfrm>
            <a:prstGeom prst="rightArrow">
              <a:avLst>
                <a:gd name="adj1" fmla="val 50000"/>
                <a:gd name="adj2" fmla="val 100097"/>
              </a:avLst>
            </a:prstGeom>
            <a:solidFill>
              <a:srgbClr val="FF0000"/>
            </a:solidFill>
            <a:ln w="9525" cap="flat" cmpd="sng" algn="ctr">
              <a:noFill/>
              <a:prstDash val="solid"/>
              <a:round/>
              <a:headEnd type="none" w="med" len="med"/>
              <a:tailEnd type="none" w="med" len="med"/>
            </a:ln>
            <a:effectLst/>
          </p:spPr>
          <p:txBody>
            <a:bodyPr vert="horz" wrap="none" lIns="96012" tIns="48006" rIns="96012" bIns="48006" numCol="1" rtlCol="0" anchor="t" anchorCtr="0" compatLnSpc="1">
              <a:prstTxWarp prst="textNoShape">
                <a:avLst/>
              </a:prstTxWarp>
            </a:bodyPr>
            <a:lstStyle/>
            <a:p>
              <a:pPr defTabSz="960120" eaLnBrk="1" hangingPunct="1"/>
              <a:endParaRPr lang="en-GB" sz="2100" b="0">
                <a:solidFill>
                  <a:schemeClr val="tx1"/>
                </a:solidFill>
                <a:latin typeface="Trebuchet MS" panose="020B0603020202020204" pitchFamily="34"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E90A92DC-8C50-4A0A-9DA0-80DFF27D9401}"/>
              </a:ext>
            </a:extLst>
          </p:cNvPr>
          <p:cNvGrpSpPr/>
          <p:nvPr/>
        </p:nvGrpSpPr>
        <p:grpSpPr>
          <a:xfrm>
            <a:off x="1885236" y="485062"/>
            <a:ext cx="7787640" cy="6230779"/>
            <a:chOff x="1885236" y="485062"/>
            <a:chExt cx="7787640" cy="6230779"/>
          </a:xfrm>
        </p:grpSpPr>
        <p:pic>
          <p:nvPicPr>
            <p:cNvPr id="11266" name="Picture 4" descr="plano_nucleo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236" y="485062"/>
              <a:ext cx="7787640" cy="6230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Elipse 2">
              <a:extLst>
                <a:ext uri="{FF2B5EF4-FFF2-40B4-BE49-F238E27FC236}">
                  <a16:creationId xmlns:a16="http://schemas.microsoft.com/office/drawing/2014/main" id="{9C819869-0EBC-43F5-83F3-C1FD73897305}"/>
                </a:ext>
              </a:extLst>
            </p:cNvPr>
            <p:cNvSpPr/>
            <p:nvPr/>
          </p:nvSpPr>
          <p:spPr bwMode="auto">
            <a:xfrm>
              <a:off x="5265592" y="4197927"/>
              <a:ext cx="480580" cy="405246"/>
            </a:xfrm>
            <a:prstGeom prst="ellipse">
              <a:avLst/>
            </a:prstGeom>
            <a:noFill/>
            <a:ln w="38100" cap="flat" cmpd="sng" algn="ctr">
              <a:solidFill>
                <a:srgbClr val="FF0000"/>
              </a:solidFill>
              <a:prstDash val="solid"/>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nvGrpSpPr>
            <p:cNvPr id="2" name="Grupo 1">
              <a:extLst>
                <a:ext uri="{FF2B5EF4-FFF2-40B4-BE49-F238E27FC236}">
                  <a16:creationId xmlns:a16="http://schemas.microsoft.com/office/drawing/2014/main" id="{15DE764C-80EA-4656-943D-5A1DAD7CE009}"/>
                </a:ext>
              </a:extLst>
            </p:cNvPr>
            <p:cNvGrpSpPr/>
            <p:nvPr/>
          </p:nvGrpSpPr>
          <p:grpSpPr>
            <a:xfrm>
              <a:off x="4646826" y="5066265"/>
              <a:ext cx="3401641" cy="1584000"/>
              <a:chOff x="4646826" y="5066265"/>
              <a:chExt cx="3401641" cy="1584000"/>
            </a:xfrm>
          </p:grpSpPr>
          <p:sp>
            <p:nvSpPr>
              <p:cNvPr id="4" name="Flecha: a la derecha 3">
                <a:extLst>
                  <a:ext uri="{FF2B5EF4-FFF2-40B4-BE49-F238E27FC236}">
                    <a16:creationId xmlns:a16="http://schemas.microsoft.com/office/drawing/2014/main" id="{14884C9B-E8A8-4FED-8A46-A5CF1B24F21D}"/>
                  </a:ext>
                </a:extLst>
              </p:cNvPr>
              <p:cNvSpPr/>
              <p:nvPr/>
            </p:nvSpPr>
            <p:spPr bwMode="auto">
              <a:xfrm rot="13974737">
                <a:off x="6986467" y="5588265"/>
                <a:ext cx="1584000" cy="540000"/>
              </a:xfrm>
              <a:prstGeom prst="rightArrow">
                <a:avLst>
                  <a:gd name="adj1" fmla="val 50000"/>
                  <a:gd name="adj2" fmla="val 87739"/>
                </a:avLst>
              </a:prstGeom>
              <a:solidFill>
                <a:srgbClr val="FF0000"/>
              </a:solidFill>
              <a:ln w="12700" cap="flat" cmpd="sng" algn="ctr">
                <a:solidFill>
                  <a:srgbClr val="FF0000"/>
                </a:solid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15" name="Text Box 13">
                <a:extLst>
                  <a:ext uri="{FF2B5EF4-FFF2-40B4-BE49-F238E27FC236}">
                    <a16:creationId xmlns:a16="http://schemas.microsoft.com/office/drawing/2014/main" id="{A9CEDAE2-2926-4817-94A9-066F082A63C8}"/>
                  </a:ext>
                </a:extLst>
              </p:cNvPr>
              <p:cNvSpPr txBox="1">
                <a:spLocks noChangeArrowheads="1"/>
              </p:cNvSpPr>
              <p:nvPr/>
            </p:nvSpPr>
            <p:spPr bwMode="auto">
              <a:xfrm>
                <a:off x="4646826" y="5984707"/>
                <a:ext cx="1718111" cy="48013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s-ES" sz="2520" dirty="0">
                    <a:solidFill>
                      <a:schemeClr val="bg1"/>
                    </a:solidFill>
                    <a:latin typeface="Trebuchet MS" panose="020B0603020202020204" pitchFamily="34" charset="0"/>
                  </a:rPr>
                  <a:t>PLANTA 1</a:t>
                </a: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994667F3-D851-4522-93A6-6114AEE56E29}"/>
              </a:ext>
            </a:extLst>
          </p:cNvPr>
          <p:cNvGrpSpPr/>
          <p:nvPr/>
        </p:nvGrpSpPr>
        <p:grpSpPr>
          <a:xfrm>
            <a:off x="2159000" y="883238"/>
            <a:ext cx="7849052" cy="5892800"/>
            <a:chOff x="2159000" y="883238"/>
            <a:chExt cx="7849052" cy="5892800"/>
          </a:xfrm>
        </p:grpSpPr>
        <p:pic>
          <p:nvPicPr>
            <p:cNvPr id="9218" name="Imagen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883238"/>
              <a:ext cx="7232650" cy="579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rma libre 6"/>
            <p:cNvSpPr>
              <a:spLocks/>
            </p:cNvSpPr>
            <p:nvPr/>
          </p:nvSpPr>
          <p:spPr bwMode="auto">
            <a:xfrm>
              <a:off x="4816475" y="3704225"/>
              <a:ext cx="3189288" cy="3071813"/>
            </a:xfrm>
            <a:custGeom>
              <a:avLst/>
              <a:gdLst>
                <a:gd name="T0" fmla="*/ 3184502 w 3189767"/>
                <a:gd name="T1" fmla="*/ 3061871 h 3072809"/>
                <a:gd name="T2" fmla="*/ 3057123 w 3189767"/>
                <a:gd name="T3" fmla="*/ 550924 h 3072809"/>
                <a:gd name="T4" fmla="*/ 0 w 3189767"/>
                <a:gd name="T5" fmla="*/ 508548 h 3072809"/>
                <a:gd name="T6" fmla="*/ 127382 w 3189767"/>
                <a:gd name="T7" fmla="*/ 0 h 307280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89767" h="3072809">
                  <a:moveTo>
                    <a:pt x="3189767" y="3072809"/>
                  </a:moveTo>
                  <a:lnTo>
                    <a:pt x="3062177" y="552893"/>
                  </a:lnTo>
                  <a:lnTo>
                    <a:pt x="0" y="510363"/>
                  </a:lnTo>
                  <a:lnTo>
                    <a:pt x="127591" y="0"/>
                  </a:lnTo>
                </a:path>
              </a:pathLst>
            </a:custGeom>
            <a:noFill/>
            <a:ln w="38100" cap="flat" cmpd="sng" algn="ctr">
              <a:solidFill>
                <a:srgbClr val="008000"/>
              </a:solidFill>
              <a:prstDash val="sysDash"/>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lIns="90000" tIns="82800" rIns="90000" bIns="82800" anchor="ctr">
              <a:spAutoFit/>
            </a:bodyPr>
            <a:lstStyle/>
            <a:p>
              <a:endParaRPr lang="en-GB"/>
            </a:p>
          </p:txBody>
        </p:sp>
        <p:sp>
          <p:nvSpPr>
            <p:cNvPr id="9224" name="Line 6"/>
            <p:cNvSpPr>
              <a:spLocks noChangeShapeType="1"/>
            </p:cNvSpPr>
            <p:nvPr/>
          </p:nvSpPr>
          <p:spPr bwMode="auto">
            <a:xfrm>
              <a:off x="3800802" y="2857500"/>
              <a:ext cx="841114" cy="846727"/>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9225" name="CuadroTexto 12"/>
            <p:cNvSpPr txBox="1">
              <a:spLocks noChangeArrowheads="1"/>
            </p:cNvSpPr>
            <p:nvPr/>
          </p:nvSpPr>
          <p:spPr bwMode="auto">
            <a:xfrm>
              <a:off x="2265766" y="2298061"/>
              <a:ext cx="1535036" cy="46166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a:spcBef>
                  <a:spcPct val="0"/>
                </a:spcBef>
                <a:buFontTx/>
                <a:buNone/>
              </a:pPr>
              <a:r>
                <a:rPr lang="es-ES" sz="2400" b="1" dirty="0">
                  <a:solidFill>
                    <a:srgbClr val="FFFFFF"/>
                  </a:solidFill>
                  <a:latin typeface="Trebuchet MS" panose="020B0603020202020204" pitchFamily="34" charset="0"/>
                </a:rPr>
                <a:t>PUERTA 6</a:t>
              </a:r>
            </a:p>
          </p:txBody>
        </p:sp>
        <p:sp>
          <p:nvSpPr>
            <p:cNvPr id="10" name="CuadroTexto 6"/>
            <p:cNvSpPr txBox="1">
              <a:spLocks noChangeArrowheads="1"/>
            </p:cNvSpPr>
            <p:nvPr/>
          </p:nvSpPr>
          <p:spPr bwMode="auto">
            <a:xfrm>
              <a:off x="7594666" y="2759724"/>
              <a:ext cx="2413386" cy="461665"/>
            </a:xfrm>
            <a:prstGeom prst="rect">
              <a:avLst/>
            </a:prstGeom>
            <a:solidFill>
              <a:srgbClr val="FF0000"/>
            </a:solidFill>
            <a:ln>
              <a:noFill/>
            </a:ln>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a:spcBef>
                  <a:spcPct val="0"/>
                </a:spcBef>
                <a:buFontTx/>
                <a:buNone/>
              </a:pPr>
              <a:r>
                <a:rPr lang="es-ES" sz="2400" dirty="0">
                  <a:solidFill>
                    <a:srgbClr val="FFFFFF"/>
                  </a:solidFill>
                  <a:latin typeface="Trebuchet MS" panose="020B0603020202020204" pitchFamily="34" charset="0"/>
                </a:rPr>
                <a:t>Puertas Rojas</a:t>
              </a:r>
            </a:p>
          </p:txBody>
        </p:sp>
        <p:sp>
          <p:nvSpPr>
            <p:cNvPr id="8" name="Line 6">
              <a:extLst>
                <a:ext uri="{FF2B5EF4-FFF2-40B4-BE49-F238E27FC236}">
                  <a16:creationId xmlns:a16="http://schemas.microsoft.com/office/drawing/2014/main" id="{90865BF6-E108-48B8-811B-68B9B46AEA6D}"/>
                </a:ext>
              </a:extLst>
            </p:cNvPr>
            <p:cNvSpPr>
              <a:spLocks noChangeShapeType="1"/>
            </p:cNvSpPr>
            <p:nvPr/>
          </p:nvSpPr>
          <p:spPr bwMode="auto">
            <a:xfrm flipH="1">
              <a:off x="7210424" y="3333751"/>
              <a:ext cx="384241" cy="59055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grpSp>
    </p:spTree>
    <p:extLst>
      <p:ext uri="{BB962C8B-B14F-4D97-AF65-F5344CB8AC3E}">
        <p14:creationId xmlns:p14="http://schemas.microsoft.com/office/powerpoint/2010/main" val="124082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3">
            <a:extLst>
              <a:ext uri="{FF2B5EF4-FFF2-40B4-BE49-F238E27FC236}">
                <a16:creationId xmlns:a16="http://schemas.microsoft.com/office/drawing/2014/main" id="{A18B281C-E846-137D-980D-D772EB79710F}"/>
              </a:ext>
            </a:extLst>
          </p:cNvPr>
          <p:cNvSpPr>
            <a:spLocks noChangeArrowheads="1"/>
          </p:cNvSpPr>
          <p:nvPr/>
        </p:nvSpPr>
        <p:spPr bwMode="auto">
          <a:xfrm>
            <a:off x="2531940" y="5341725"/>
            <a:ext cx="7547098" cy="417514"/>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5" name="Rectangle 23">
            <a:extLst>
              <a:ext uri="{FF2B5EF4-FFF2-40B4-BE49-F238E27FC236}">
                <a16:creationId xmlns:a16="http://schemas.microsoft.com/office/drawing/2014/main" id="{CEFDEB92-C7FF-A7F8-635F-74A38896EE5F}"/>
              </a:ext>
            </a:extLst>
          </p:cNvPr>
          <p:cNvSpPr>
            <a:spLocks noChangeArrowheads="1"/>
          </p:cNvSpPr>
          <p:nvPr/>
        </p:nvSpPr>
        <p:spPr bwMode="auto">
          <a:xfrm>
            <a:off x="2556510" y="5795887"/>
            <a:ext cx="7537450" cy="417514"/>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6" name="Rectangle 23">
            <a:extLst>
              <a:ext uri="{FF2B5EF4-FFF2-40B4-BE49-F238E27FC236}">
                <a16:creationId xmlns:a16="http://schemas.microsoft.com/office/drawing/2014/main" id="{0C3E7776-C6A2-5E67-2F65-C323036B697D}"/>
              </a:ext>
            </a:extLst>
          </p:cNvPr>
          <p:cNvSpPr>
            <a:spLocks noChangeArrowheads="1"/>
          </p:cNvSpPr>
          <p:nvPr/>
        </p:nvSpPr>
        <p:spPr bwMode="auto">
          <a:xfrm>
            <a:off x="2574925" y="6422624"/>
            <a:ext cx="7504113" cy="459701"/>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8" name="CuadroTexto 3">
            <a:extLst>
              <a:ext uri="{FF2B5EF4-FFF2-40B4-BE49-F238E27FC236}">
                <a16:creationId xmlns:a16="http://schemas.microsoft.com/office/drawing/2014/main" id="{13D9D58B-A13D-5C50-F40E-D7D21808A371}"/>
              </a:ext>
            </a:extLst>
          </p:cNvPr>
          <p:cNvSpPr txBox="1">
            <a:spLocks noChangeArrowheads="1"/>
          </p:cNvSpPr>
          <p:nvPr/>
        </p:nvSpPr>
        <p:spPr bwMode="auto">
          <a:xfrm>
            <a:off x="8181172" y="2777308"/>
            <a:ext cx="226349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solidFill>
                  <a:srgbClr val="FF0000"/>
                </a:solidFill>
              </a:rPr>
              <a:t>Magnitud que caracteriza a un generador</a:t>
            </a:r>
            <a:endParaRPr lang="es-ES" sz="2400" dirty="0">
              <a:solidFill>
                <a:srgbClr val="FF0000"/>
              </a:solidFill>
            </a:endParaRPr>
          </a:p>
        </p:txBody>
      </p:sp>
      <p:sp>
        <p:nvSpPr>
          <p:cNvPr id="9" name="Forma libre: forma 8">
            <a:extLst>
              <a:ext uri="{FF2B5EF4-FFF2-40B4-BE49-F238E27FC236}">
                <a16:creationId xmlns:a16="http://schemas.microsoft.com/office/drawing/2014/main" id="{F0CEF53D-1E3C-4E76-8276-878DFE6EE798}"/>
              </a:ext>
            </a:extLst>
          </p:cNvPr>
          <p:cNvSpPr/>
          <p:nvPr/>
        </p:nvSpPr>
        <p:spPr bwMode="auto">
          <a:xfrm>
            <a:off x="6011196" y="3997181"/>
            <a:ext cx="4140000" cy="1620000"/>
          </a:xfrm>
          <a:custGeom>
            <a:avLst/>
            <a:gdLst>
              <a:gd name="connsiteX0" fmla="*/ 0 w 3933761"/>
              <a:gd name="connsiteY0" fmla="*/ 757083 h 757083"/>
              <a:gd name="connsiteX1" fmla="*/ 757084 w 3933761"/>
              <a:gd name="connsiteY1" fmla="*/ 747251 h 757083"/>
              <a:gd name="connsiteX2" fmla="*/ 1455174 w 3933761"/>
              <a:gd name="connsiteY2" fmla="*/ 737419 h 757083"/>
              <a:gd name="connsiteX3" fmla="*/ 2182761 w 3933761"/>
              <a:gd name="connsiteY3" fmla="*/ 737419 h 757083"/>
              <a:gd name="connsiteX4" fmla="*/ 2900516 w 3933761"/>
              <a:gd name="connsiteY4" fmla="*/ 747251 h 757083"/>
              <a:gd name="connsiteX5" fmla="*/ 3588774 w 3933761"/>
              <a:gd name="connsiteY5" fmla="*/ 737419 h 757083"/>
              <a:gd name="connsiteX6" fmla="*/ 3932903 w 3933761"/>
              <a:gd name="connsiteY6" fmla="*/ 530942 h 757083"/>
              <a:gd name="connsiteX7" fmla="*/ 3667432 w 3933761"/>
              <a:gd name="connsiteY7" fmla="*/ 0 h 757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3761" h="757083">
                <a:moveTo>
                  <a:pt x="0" y="757083"/>
                </a:moveTo>
                <a:lnTo>
                  <a:pt x="757084" y="747251"/>
                </a:lnTo>
                <a:lnTo>
                  <a:pt x="1455174" y="737419"/>
                </a:lnTo>
                <a:lnTo>
                  <a:pt x="2182761" y="737419"/>
                </a:lnTo>
                <a:lnTo>
                  <a:pt x="2900516" y="747251"/>
                </a:lnTo>
                <a:cubicBezTo>
                  <a:pt x="3134851" y="747251"/>
                  <a:pt x="3416710" y="773471"/>
                  <a:pt x="3588774" y="737419"/>
                </a:cubicBezTo>
                <a:cubicBezTo>
                  <a:pt x="3760839" y="701367"/>
                  <a:pt x="3919793" y="653845"/>
                  <a:pt x="3932903" y="530942"/>
                </a:cubicBezTo>
                <a:cubicBezTo>
                  <a:pt x="3946013" y="408039"/>
                  <a:pt x="3806722" y="204019"/>
                  <a:pt x="3667432" y="0"/>
                </a:cubicBezTo>
              </a:path>
            </a:pathLst>
          </a:custGeom>
          <a:noFill/>
          <a:ln w="38100" cap="flat" cmpd="sng" algn="ctr">
            <a:solidFill>
              <a:srgbClr val="FF0000"/>
            </a:solidFill>
            <a:prstDash val="solid"/>
            <a:round/>
            <a:headEnd type="none" w="med" len="med"/>
            <a:tailEnd type="triangle" w="med" len="lg"/>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7178" name="Line 17"/>
          <p:cNvSpPr>
            <a:spLocks noChangeShapeType="1"/>
          </p:cNvSpPr>
          <p:nvPr/>
        </p:nvSpPr>
        <p:spPr bwMode="auto">
          <a:xfrm>
            <a:off x="5483803" y="2492371"/>
            <a:ext cx="215900" cy="0"/>
          </a:xfrm>
          <a:prstGeom prst="line">
            <a:avLst/>
          </a:prstGeom>
          <a:noFill/>
          <a:ln w="12700">
            <a:solidFill>
              <a:schemeClr val="tx1"/>
            </a:solidFill>
            <a:round/>
            <a:headEnd/>
            <a:tailEnd type="stealth" w="med" len="med"/>
          </a:ln>
          <a:extLst>
            <a:ext uri="{909E8E84-426E-40DD-AFC4-6F175D3DCCD1}">
              <a14:hiddenFill xmlns:a14="http://schemas.microsoft.com/office/drawing/2010/main">
                <a:noFill/>
              </a14:hiddenFill>
            </a:ext>
          </a:extLst>
        </p:spPr>
        <p:txBody>
          <a:bodyPr wrap="square" lIns="90000" tIns="46800" rIns="90000" bIns="46800">
            <a:spAutoFit/>
          </a:bodyPr>
          <a:lstStyle/>
          <a:p>
            <a:endParaRPr lang="en-GB"/>
          </a:p>
        </p:txBody>
      </p:sp>
      <p:sp>
        <p:nvSpPr>
          <p:cNvPr id="15" name="Rectangle 3">
            <a:extLst>
              <a:ext uri="{FF2B5EF4-FFF2-40B4-BE49-F238E27FC236}">
                <a16:creationId xmlns:a16="http://schemas.microsoft.com/office/drawing/2014/main" id="{576DD32E-3F02-40F4-8576-DDC017B0A1F5}"/>
              </a:ext>
            </a:extLst>
          </p:cNvPr>
          <p:cNvSpPr>
            <a:spLocks noChangeArrowheads="1"/>
          </p:cNvSpPr>
          <p:nvPr/>
        </p:nvSpPr>
        <p:spPr bwMode="auto">
          <a:xfrm>
            <a:off x="1854776" y="6472335"/>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14" name="Rectangle 4">
            <a:extLst>
              <a:ext uri="{FF2B5EF4-FFF2-40B4-BE49-F238E27FC236}">
                <a16:creationId xmlns:a16="http://schemas.microsoft.com/office/drawing/2014/main" id="{ED527052-69E6-4333-936E-BA3B22A37107}"/>
              </a:ext>
            </a:extLst>
          </p:cNvPr>
          <p:cNvSpPr>
            <a:spLocks noChangeArrowheads="1"/>
          </p:cNvSpPr>
          <p:nvPr/>
        </p:nvSpPr>
        <p:spPr bwMode="auto">
          <a:xfrm>
            <a:off x="1825625" y="3572729"/>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7177" name="Rectangle 15"/>
          <p:cNvSpPr>
            <a:spLocks noChangeArrowheads="1"/>
          </p:cNvSpPr>
          <p:nvPr/>
        </p:nvSpPr>
        <p:spPr bwMode="auto">
          <a:xfrm>
            <a:off x="2574925" y="1683756"/>
            <a:ext cx="7796213" cy="527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dirty="0">
                <a:latin typeface="Arial" panose="020B0604020202020204" pitchFamily="34" charset="0"/>
              </a:rPr>
              <a:t>Flujo y Circulación.</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Ley de Gauss para E. </a:t>
            </a:r>
          </a:p>
          <a:p>
            <a:pPr eaLnBrk="1" hangingPunct="1">
              <a:spcBef>
                <a:spcPct val="0"/>
              </a:spcBef>
              <a:buFontTx/>
              <a:buNone/>
            </a:pPr>
            <a:r>
              <a:rPr lang="es-ES" sz="2400" b="1" dirty="0">
                <a:latin typeface="Arial" panose="020B0604020202020204" pitchFamily="34" charset="0"/>
              </a:rPr>
              <a:t>Aplicaciones de la Ley de Gauss.</a:t>
            </a:r>
            <a:endParaRPr lang="es-ES" sz="2800" b="1" dirty="0">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Concepto de Trabajo.</a:t>
            </a:r>
          </a:p>
          <a:p>
            <a:pPr eaLnBrk="1" hangingPunct="1">
              <a:spcBef>
                <a:spcPct val="0"/>
              </a:spcBef>
              <a:buFontTx/>
              <a:buNone/>
            </a:pPr>
            <a:r>
              <a:rPr lang="es-ES" sz="2400" b="1" dirty="0">
                <a:latin typeface="Arial" panose="020B0604020202020204" pitchFamily="34" charset="0"/>
              </a:rPr>
              <a:t>Fuerza y Campo Conservativos.</a:t>
            </a:r>
          </a:p>
          <a:p>
            <a:pPr eaLnBrk="1" hangingPunct="1">
              <a:spcBef>
                <a:spcPct val="0"/>
              </a:spcBef>
              <a:buFontTx/>
              <a:buNone/>
            </a:pPr>
            <a:r>
              <a:rPr lang="es-ES" sz="2400" b="1" dirty="0">
                <a:latin typeface="Arial" panose="020B0604020202020204" pitchFamily="34" charset="0"/>
              </a:rPr>
              <a:t>Energía Potencial Eléctrica y Potencial </a:t>
            </a:r>
            <a:r>
              <a:rPr lang="es-ES" sz="2400" b="1">
                <a:latin typeface="Arial" panose="020B0604020202020204" pitchFamily="34" charset="0"/>
              </a:rPr>
              <a:t>Eléctrico.</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a:latin typeface="Arial" panose="020B0604020202020204" pitchFamily="34" charset="0"/>
              </a:rPr>
              <a:t>Potenciales debidos a Distribuciones de Carga.</a:t>
            </a:r>
          </a:p>
          <a:p>
            <a:pPr eaLnBrk="1" hangingPunct="1">
              <a:spcBef>
                <a:spcPct val="0"/>
              </a:spcBef>
              <a:buFontTx/>
              <a:buNone/>
            </a:pPr>
            <a:r>
              <a:rPr lang="es-ES" sz="2400" b="1">
                <a:latin typeface="Arial" panose="020B0604020202020204" pitchFamily="34" charset="0"/>
              </a:rPr>
              <a:t>Fuerza </a:t>
            </a:r>
            <a:r>
              <a:rPr lang="es-ES" sz="2400" b="1" dirty="0">
                <a:latin typeface="Arial" panose="020B0604020202020204" pitchFamily="34" charset="0"/>
              </a:rPr>
              <a:t>Electromotriz.</a:t>
            </a:r>
          </a:p>
          <a:p>
            <a:pPr eaLnBrk="1" hangingPunct="1">
              <a:spcBef>
                <a:spcPct val="0"/>
              </a:spcBef>
              <a:buFontTx/>
              <a:buNone/>
            </a:pPr>
            <a:r>
              <a:rPr lang="es-ES" sz="2400" b="1">
                <a:latin typeface="Arial" panose="020B0604020202020204" pitchFamily="34" charset="0"/>
              </a:rPr>
              <a:t>Gradiente </a:t>
            </a:r>
            <a:r>
              <a:rPr lang="es-ES" sz="2400" b="1" dirty="0">
                <a:latin typeface="Arial" panose="020B0604020202020204" pitchFamily="34" charset="0"/>
              </a:rPr>
              <a:t>y Superficies Equipotenciales.</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Ruptura Dieléctrica.</a:t>
            </a:r>
          </a:p>
        </p:txBody>
      </p:sp>
      <p:sp>
        <p:nvSpPr>
          <p:cNvPr id="7172" name="Rectangle 3"/>
          <p:cNvSpPr>
            <a:spLocks noChangeArrowheads="1"/>
          </p:cNvSpPr>
          <p:nvPr/>
        </p:nvSpPr>
        <p:spPr bwMode="auto">
          <a:xfrm>
            <a:off x="1847850" y="2455999"/>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7173" name="Rectangle 4"/>
          <p:cNvSpPr>
            <a:spLocks noChangeArrowheads="1"/>
          </p:cNvSpPr>
          <p:nvPr/>
        </p:nvSpPr>
        <p:spPr bwMode="auto">
          <a:xfrm>
            <a:off x="1847850" y="5027754"/>
            <a:ext cx="627063"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7174" name="Rectangle 7"/>
          <p:cNvSpPr>
            <a:spLocks noChangeArrowheads="1"/>
          </p:cNvSpPr>
          <p:nvPr/>
        </p:nvSpPr>
        <p:spPr bwMode="auto">
          <a:xfrm>
            <a:off x="1847850" y="1740906"/>
            <a:ext cx="627063" cy="4175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7175" name="Rectangle 8"/>
          <p:cNvSpPr>
            <a:spLocks noChangeArrowheads="1"/>
          </p:cNvSpPr>
          <p:nvPr/>
        </p:nvSpPr>
        <p:spPr bwMode="auto">
          <a:xfrm>
            <a:off x="1465263" y="588963"/>
            <a:ext cx="7675562"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CC0000"/>
                </a:solidFill>
                <a:latin typeface="Arial" panose="020B0604020202020204" pitchFamily="34" charset="0"/>
              </a:rPr>
              <a:t>TEMA 2: LEY DE GAUSS.</a:t>
            </a:r>
          </a:p>
          <a:p>
            <a:pPr eaLnBrk="1" hangingPunct="1">
              <a:spcBef>
                <a:spcPct val="0"/>
              </a:spcBef>
              <a:buFontTx/>
              <a:buNone/>
            </a:pPr>
            <a:r>
              <a:rPr lang="es-ES" sz="2800" b="1">
                <a:solidFill>
                  <a:srgbClr val="CC0000"/>
                </a:solidFill>
                <a:latin typeface="Arial" panose="020B0604020202020204" pitchFamily="34" charset="0"/>
              </a:rPr>
              <a:t>               POTENCIAL ELÉCTRICO</a:t>
            </a:r>
          </a:p>
        </p:txBody>
      </p:sp>
      <p:sp>
        <p:nvSpPr>
          <p:cNvPr id="7176" name="Rectangle 14"/>
          <p:cNvSpPr>
            <a:spLocks noChangeArrowheads="1"/>
          </p:cNvSpPr>
          <p:nvPr/>
        </p:nvSpPr>
        <p:spPr bwMode="auto">
          <a:xfrm>
            <a:off x="1825625" y="1683756"/>
            <a:ext cx="708025" cy="527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dirty="0">
                <a:latin typeface="Arial" panose="020B0604020202020204" pitchFamily="34" charset="0"/>
              </a:rPr>
              <a:t>2.1.</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2.2.</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2.3.</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a:latin typeface="Arial" panose="020B0604020202020204" pitchFamily="34" charset="0"/>
              </a:rPr>
              <a:t>2.4</a:t>
            </a:r>
            <a:r>
              <a:rPr lang="es-ES" sz="2400" b="1" dirty="0">
                <a:latin typeface="Arial" panose="020B0604020202020204" pitchFamily="34" charset="0"/>
              </a:rPr>
              <a:t>.</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endParaRPr lang="es-ES" sz="2400" b="1">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2.5.</a:t>
            </a:r>
          </a:p>
        </p:txBody>
      </p:sp>
      <p:sp>
        <p:nvSpPr>
          <p:cNvPr id="13" name="Text Box 11">
            <a:extLst>
              <a:ext uri="{FF2B5EF4-FFF2-40B4-BE49-F238E27FC236}">
                <a16:creationId xmlns:a16="http://schemas.microsoft.com/office/drawing/2014/main" id="{EFDA5EB0-7307-4DD7-9338-3549B801036A}"/>
              </a:ext>
            </a:extLst>
          </p:cNvPr>
          <p:cNvSpPr txBox="1">
            <a:spLocks noChangeArrowheads="1"/>
          </p:cNvSpPr>
          <p:nvPr/>
        </p:nvSpPr>
        <p:spPr bwMode="auto">
          <a:xfrm>
            <a:off x="8295716" y="309608"/>
            <a:ext cx="2059960" cy="1253402"/>
          </a:xfrm>
          <a:prstGeom prst="rect">
            <a:avLst/>
          </a:prstGeom>
          <a:solidFill>
            <a:srgbClr val="3366FF"/>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108000" tIns="72000" rIns="108000" bIns="72000" anchor="ctr" anchorCtr="0">
            <a:spAutoFit/>
          </a:bodyPr>
          <a:lstStyle>
            <a:defPPr>
              <a:defRPr lang="es-ES"/>
            </a:defPPr>
            <a:lvl1pPr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1pPr>
            <a:lvl2pPr marL="4572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2pPr>
            <a:lvl3pPr marL="9144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3pPr>
            <a:lvl4pPr marL="13716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4pPr>
            <a:lvl5pPr marL="1828800" algn="l" rtl="0" eaLnBrk="0" fontAlgn="base" hangingPunct="0">
              <a:spcBef>
                <a:spcPct val="0"/>
              </a:spcBef>
              <a:spcAft>
                <a:spcPct val="0"/>
              </a:spcAft>
              <a:defRPr sz="2000" kern="1200">
                <a:solidFill>
                  <a:srgbClr val="000000"/>
                </a:solidFill>
                <a:latin typeface="Arial" panose="020B0604020202020204" pitchFamily="34" charset="0"/>
                <a:ea typeface="+mn-ea"/>
                <a:cs typeface="+mn-cs"/>
              </a:defRPr>
            </a:lvl5pPr>
            <a:lvl6pPr marL="2286000" algn="l" defTabSz="914400" rtl="0" eaLnBrk="1" latinLnBrk="0" hangingPunct="1">
              <a:defRPr sz="2000" kern="1200">
                <a:solidFill>
                  <a:srgbClr val="000000"/>
                </a:solidFill>
                <a:latin typeface="Arial" panose="020B0604020202020204" pitchFamily="34" charset="0"/>
                <a:ea typeface="+mn-ea"/>
                <a:cs typeface="+mn-cs"/>
              </a:defRPr>
            </a:lvl6pPr>
            <a:lvl7pPr marL="2743200" algn="l" defTabSz="914400" rtl="0" eaLnBrk="1" latinLnBrk="0" hangingPunct="1">
              <a:defRPr sz="2000" kern="1200">
                <a:solidFill>
                  <a:srgbClr val="000000"/>
                </a:solidFill>
                <a:latin typeface="Arial" panose="020B0604020202020204" pitchFamily="34" charset="0"/>
                <a:ea typeface="+mn-ea"/>
                <a:cs typeface="+mn-cs"/>
              </a:defRPr>
            </a:lvl7pPr>
            <a:lvl8pPr marL="3200400" algn="l" defTabSz="914400" rtl="0" eaLnBrk="1" latinLnBrk="0" hangingPunct="1">
              <a:defRPr sz="2000" kern="1200">
                <a:solidFill>
                  <a:srgbClr val="000000"/>
                </a:solidFill>
                <a:latin typeface="Arial" panose="020B0604020202020204" pitchFamily="34" charset="0"/>
                <a:ea typeface="+mn-ea"/>
                <a:cs typeface="+mn-cs"/>
              </a:defRPr>
            </a:lvl8pPr>
            <a:lvl9pPr marL="3657600" algn="l" defTabSz="914400" rtl="0" eaLnBrk="1" latinLnBrk="0" hangingPunct="1">
              <a:defRPr sz="2000" kern="1200">
                <a:solidFill>
                  <a:srgbClr val="000000"/>
                </a:solidFill>
                <a:latin typeface="Arial" panose="020B0604020202020204" pitchFamily="34" charset="0"/>
                <a:ea typeface="+mn-ea"/>
                <a:cs typeface="+mn-cs"/>
              </a:defRPr>
            </a:lvl9pPr>
          </a:lstStyle>
          <a:p>
            <a:pPr eaLnBrk="1" hangingPunct="1">
              <a:spcBef>
                <a:spcPts val="0"/>
              </a:spcBef>
            </a:pPr>
            <a:r>
              <a:rPr lang="es-ES" sz="2400" dirty="0">
                <a:solidFill>
                  <a:srgbClr val="FFFFFF"/>
                </a:solidFill>
                <a:latin typeface="Trebuchet MS" panose="020B0603020202020204" pitchFamily="34" charset="0"/>
              </a:rPr>
              <a:t>T1</a:t>
            </a:r>
            <a:r>
              <a:rPr lang="es-ES" sz="2400">
                <a:solidFill>
                  <a:srgbClr val="FFFFFF"/>
                </a:solidFill>
                <a:latin typeface="Trebuchet MS" panose="020B0603020202020204" pitchFamily="34" charset="0"/>
              </a:rPr>
              <a:t>: 16/10/24</a:t>
            </a:r>
            <a:endParaRPr lang="es-ES" sz="2400" dirty="0">
              <a:solidFill>
                <a:srgbClr val="FFFFFF"/>
              </a:solidFill>
              <a:latin typeface="Trebuchet MS" panose="020B0603020202020204" pitchFamily="34" charset="0"/>
            </a:endParaRPr>
          </a:p>
          <a:p>
            <a:pPr eaLnBrk="1" hangingPunct="1">
              <a:spcBef>
                <a:spcPts val="0"/>
              </a:spcBef>
            </a:pPr>
            <a:r>
              <a:rPr lang="es-ES" sz="2400" dirty="0">
                <a:solidFill>
                  <a:srgbClr val="FFFFFF"/>
                </a:solidFill>
                <a:latin typeface="Trebuchet MS" panose="020B0603020202020204" pitchFamily="34" charset="0"/>
              </a:rPr>
              <a:t>T2</a:t>
            </a:r>
            <a:r>
              <a:rPr lang="es-ES" sz="2400">
                <a:solidFill>
                  <a:srgbClr val="FFFFFF"/>
                </a:solidFill>
                <a:latin typeface="Trebuchet MS" panose="020B0603020202020204" pitchFamily="34" charset="0"/>
              </a:rPr>
              <a:t>: 14/10/24</a:t>
            </a:r>
            <a:endParaRPr lang="es-ES" sz="2400" dirty="0">
              <a:solidFill>
                <a:srgbClr val="FFFFFF"/>
              </a:solidFill>
              <a:latin typeface="Trebuchet MS" panose="020B0603020202020204" pitchFamily="34" charset="0"/>
            </a:endParaRPr>
          </a:p>
          <a:p>
            <a:pPr eaLnBrk="1" hangingPunct="1">
              <a:spcBef>
                <a:spcPts val="0"/>
              </a:spcBef>
            </a:pPr>
            <a:r>
              <a:rPr lang="es-ES" sz="2400" dirty="0">
                <a:solidFill>
                  <a:srgbClr val="FFFFFF"/>
                </a:solidFill>
                <a:latin typeface="Trebuchet MS" panose="020B0603020202020204" pitchFamily="34" charset="0"/>
              </a:rPr>
              <a:t>T3</a:t>
            </a:r>
            <a:r>
              <a:rPr lang="es-ES" sz="2400">
                <a:solidFill>
                  <a:srgbClr val="FFFFFF"/>
                </a:solidFill>
                <a:latin typeface="Trebuchet MS" panose="020B0603020202020204" pitchFamily="34" charset="0"/>
              </a:rPr>
              <a:t>: 15/10/24</a:t>
            </a:r>
            <a:endParaRPr lang="es-ES" sz="2400" dirty="0">
              <a:solidFill>
                <a:srgbClr val="FFFFFF"/>
              </a:solidFill>
              <a:latin typeface="Trebuchet MS" panose="020B0603020202020204" pitchFamily="34" charset="0"/>
            </a:endParaRPr>
          </a:p>
        </p:txBody>
      </p:sp>
      <p:grpSp>
        <p:nvGrpSpPr>
          <p:cNvPr id="10" name="Grupo 9">
            <a:extLst>
              <a:ext uri="{FF2B5EF4-FFF2-40B4-BE49-F238E27FC236}">
                <a16:creationId xmlns:a16="http://schemas.microsoft.com/office/drawing/2014/main" id="{66C32A97-F428-187C-FBAA-12A10077EB90}"/>
              </a:ext>
            </a:extLst>
          </p:cNvPr>
          <p:cNvGrpSpPr/>
          <p:nvPr/>
        </p:nvGrpSpPr>
        <p:grpSpPr>
          <a:xfrm>
            <a:off x="5774096" y="6421641"/>
            <a:ext cx="4666237" cy="461665"/>
            <a:chOff x="5774096" y="6421641"/>
            <a:chExt cx="4666237" cy="461665"/>
          </a:xfrm>
        </p:grpSpPr>
        <p:sp>
          <p:nvSpPr>
            <p:cNvPr id="2" name="CuadroTexto 3">
              <a:extLst>
                <a:ext uri="{FF2B5EF4-FFF2-40B4-BE49-F238E27FC236}">
                  <a16:creationId xmlns:a16="http://schemas.microsoft.com/office/drawing/2014/main" id="{DD6FCBA4-19B8-2146-9481-30D49020F249}"/>
                </a:ext>
              </a:extLst>
            </p:cNvPr>
            <p:cNvSpPr txBox="1">
              <a:spLocks noChangeArrowheads="1"/>
            </p:cNvSpPr>
            <p:nvPr/>
          </p:nvSpPr>
          <p:spPr bwMode="auto">
            <a:xfrm>
              <a:off x="7477760" y="6421641"/>
              <a:ext cx="29625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solidFill>
                    <a:srgbClr val="FF0000"/>
                  </a:solidFill>
                </a:rPr>
                <a:t>En la próximá clase</a:t>
              </a:r>
              <a:endParaRPr lang="es-ES" sz="2400" dirty="0">
                <a:solidFill>
                  <a:srgbClr val="FF0000"/>
                </a:solidFill>
              </a:endParaRPr>
            </a:p>
          </p:txBody>
        </p:sp>
        <p:cxnSp>
          <p:nvCxnSpPr>
            <p:cNvPr id="7" name="Conector recto de flecha 6">
              <a:extLst>
                <a:ext uri="{FF2B5EF4-FFF2-40B4-BE49-F238E27FC236}">
                  <a16:creationId xmlns:a16="http://schemas.microsoft.com/office/drawing/2014/main" id="{148C9EE2-060E-3D18-ADC0-67697A922C15}"/>
                </a:ext>
              </a:extLst>
            </p:cNvPr>
            <p:cNvCxnSpPr/>
            <p:nvPr/>
          </p:nvCxnSpPr>
          <p:spPr bwMode="auto">
            <a:xfrm>
              <a:off x="5774096" y="6672793"/>
              <a:ext cx="1587352" cy="0"/>
            </a:xfrm>
            <a:prstGeom prst="straightConnector1">
              <a:avLst/>
            </a:prstGeom>
            <a:noFill/>
            <a:ln w="38100" cap="flat" cmpd="sng" algn="ctr">
              <a:solidFill>
                <a:srgbClr val="FF0000"/>
              </a:solidFill>
              <a:prstDash val="solid"/>
              <a:round/>
              <a:headEnd type="none" w="med" len="med"/>
              <a:tailEnd type="triangle"/>
            </a:ln>
            <a:effec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p:stCondLst>
                              <p:cond delay="500"/>
                            </p:stCondLst>
                            <p:childTnLst>
                              <p:par>
                                <p:cTn id="19" presetID="3" presetClass="entr" presetSubtype="5"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vertic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p:bldP spid="9"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236" name="Text Box 44"/>
          <p:cNvSpPr txBox="1">
            <a:spLocks noChangeArrowheads="1"/>
          </p:cNvSpPr>
          <p:nvPr/>
        </p:nvSpPr>
        <p:spPr bwMode="auto">
          <a:xfrm>
            <a:off x="1421293" y="2838519"/>
            <a:ext cx="8698067" cy="956773"/>
          </a:xfrm>
          <a:prstGeom prst="rect">
            <a:avLst/>
          </a:prstGeom>
          <a:solidFill>
            <a:schemeClr val="accent1">
              <a:lumMod val="60000"/>
              <a:lumOff val="40000"/>
            </a:schemeClr>
          </a:solidFill>
          <a:ln>
            <a:noFill/>
          </a:ln>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a:latin typeface="Arial" panose="020B0604020202020204" pitchFamily="34" charset="0"/>
              </a:rPr>
              <a:t>Es un dispositivo que mantiene una diferencia de potencial fija entre sus terminales con el objetivo de suministrar energía</a:t>
            </a:r>
          </a:p>
        </p:txBody>
      </p:sp>
      <p:sp>
        <p:nvSpPr>
          <p:cNvPr id="11307" name="Text Box 90"/>
          <p:cNvSpPr txBox="1">
            <a:spLocks noChangeArrowheads="1"/>
          </p:cNvSpPr>
          <p:nvPr/>
        </p:nvSpPr>
        <p:spPr bwMode="auto">
          <a:xfrm>
            <a:off x="1421293" y="1894799"/>
            <a:ext cx="2248667" cy="536549"/>
          </a:xfrm>
          <a:prstGeom prst="rect">
            <a:avLst/>
          </a:prstGeom>
          <a:solidFill>
            <a:srgbClr val="666699"/>
          </a:solidFill>
          <a:ln>
            <a:noFill/>
          </a:ln>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solidFill>
                  <a:srgbClr val="FFFFFF"/>
                </a:solidFill>
                <a:latin typeface="Arial" panose="020B0604020202020204" pitchFamily="34" charset="0"/>
              </a:rPr>
              <a:t>GENERADOR</a:t>
            </a:r>
          </a:p>
        </p:txBody>
      </p:sp>
      <p:sp>
        <p:nvSpPr>
          <p:cNvPr id="17412" name="Rectangle 2"/>
          <p:cNvSpPr>
            <a:spLocks noChangeArrowheads="1"/>
          </p:cNvSpPr>
          <p:nvPr/>
        </p:nvSpPr>
        <p:spPr bwMode="auto">
          <a:xfrm>
            <a:off x="1306513" y="464321"/>
            <a:ext cx="86534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a:solidFill>
                  <a:srgbClr val="CC0000"/>
                </a:solidFill>
                <a:latin typeface="Arial" panose="020B0604020202020204" pitchFamily="34" charset="0"/>
              </a:rPr>
              <a:t>2.4.2. </a:t>
            </a:r>
            <a:r>
              <a:rPr lang="es-ES" sz="2400" b="1" dirty="0">
                <a:solidFill>
                  <a:srgbClr val="CC0000"/>
                </a:solidFill>
                <a:latin typeface="Arial" panose="020B0604020202020204" pitchFamily="34" charset="0"/>
              </a:rPr>
              <a:t>FUERZA ELECTROMOTRIZ</a:t>
            </a:r>
          </a:p>
        </p:txBody>
      </p:sp>
      <p:sp>
        <p:nvSpPr>
          <p:cNvPr id="17433" name="Rectángulo 6"/>
          <p:cNvSpPr>
            <a:spLocks noChangeArrowheads="1"/>
          </p:cNvSpPr>
          <p:nvPr/>
        </p:nvSpPr>
        <p:spPr bwMode="auto">
          <a:xfrm>
            <a:off x="6410642" y="2979139"/>
            <a:ext cx="3139757" cy="323813"/>
          </a:xfrm>
          <a:prstGeom prst="rect">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a:p>
        </p:txBody>
      </p:sp>
      <p:grpSp>
        <p:nvGrpSpPr>
          <p:cNvPr id="3" name="Grupo 2">
            <a:extLst>
              <a:ext uri="{FF2B5EF4-FFF2-40B4-BE49-F238E27FC236}">
                <a16:creationId xmlns:a16="http://schemas.microsoft.com/office/drawing/2014/main" id="{E14B58EF-BD68-4A30-91C8-1ECEB5BC2DE0}"/>
              </a:ext>
            </a:extLst>
          </p:cNvPr>
          <p:cNvGrpSpPr/>
          <p:nvPr/>
        </p:nvGrpSpPr>
        <p:grpSpPr>
          <a:xfrm>
            <a:off x="7663831" y="2239759"/>
            <a:ext cx="699230" cy="727221"/>
            <a:chOff x="7663831" y="1037564"/>
            <a:chExt cx="699230" cy="727221"/>
          </a:xfrm>
        </p:grpSpPr>
        <p:sp>
          <p:nvSpPr>
            <p:cNvPr id="17432" name="CuadroTexto 3"/>
            <p:cNvSpPr txBox="1">
              <a:spLocks noChangeArrowheads="1"/>
            </p:cNvSpPr>
            <p:nvPr/>
          </p:nvSpPr>
          <p:spPr bwMode="auto">
            <a:xfrm>
              <a:off x="7663831" y="1037564"/>
              <a:ext cx="699230"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err="1">
                  <a:solidFill>
                    <a:srgbClr val="FF0000"/>
                  </a:solidFill>
                </a:rPr>
                <a:t>ddp</a:t>
              </a:r>
              <a:endParaRPr lang="es-ES" sz="2400" dirty="0">
                <a:solidFill>
                  <a:srgbClr val="FF0000"/>
                </a:solidFill>
              </a:endParaRPr>
            </a:p>
          </p:txBody>
        </p:sp>
        <p:cxnSp>
          <p:nvCxnSpPr>
            <p:cNvPr id="17434" name="Conector recto 10"/>
            <p:cNvCxnSpPr>
              <a:cxnSpLocks noChangeShapeType="1"/>
            </p:cNvCxnSpPr>
            <p:nvPr/>
          </p:nvCxnSpPr>
          <p:spPr bwMode="auto">
            <a:xfrm>
              <a:off x="8000432" y="1469894"/>
              <a:ext cx="0" cy="294891"/>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grpSp>
      <p:sp>
        <p:nvSpPr>
          <p:cNvPr id="17430" name="CuadroTexto 1"/>
          <p:cNvSpPr txBox="1">
            <a:spLocks noChangeArrowheads="1"/>
          </p:cNvSpPr>
          <p:nvPr/>
        </p:nvSpPr>
        <p:spPr bwMode="auto">
          <a:xfrm>
            <a:off x="3669960" y="5248667"/>
            <a:ext cx="4945136" cy="461665"/>
          </a:xfrm>
          <a:prstGeom prst="rect">
            <a:avLst/>
          </a:prstGeom>
          <a:solidFill>
            <a:srgbClr val="FFFFFF"/>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chemeClr val="tx1"/>
                </a:solidFill>
              </a:rPr>
              <a:t>Constante o periódica </a:t>
            </a:r>
            <a:r>
              <a:rPr lang="es-ES" sz="2400">
                <a:solidFill>
                  <a:srgbClr val="FF0000"/>
                </a:solidFill>
              </a:rPr>
              <a:t>(ej: enchufe</a:t>
            </a:r>
            <a:r>
              <a:rPr lang="es-ES" sz="2400" dirty="0">
                <a:solidFill>
                  <a:srgbClr val="FF0000"/>
                </a:solidFill>
              </a:rPr>
              <a:t>)</a:t>
            </a:r>
          </a:p>
        </p:txBody>
      </p:sp>
      <p:sp>
        <p:nvSpPr>
          <p:cNvPr id="17426" name="CuadroTexto 4"/>
          <p:cNvSpPr txBox="1">
            <a:spLocks noChangeArrowheads="1"/>
          </p:cNvSpPr>
          <p:nvPr/>
        </p:nvSpPr>
        <p:spPr bwMode="auto">
          <a:xfrm>
            <a:off x="1817123" y="5938258"/>
            <a:ext cx="1675010" cy="461665"/>
          </a:xfrm>
          <a:prstGeom prst="rect">
            <a:avLst/>
          </a:prstGeom>
          <a:solidFill>
            <a:schemeClr val="tx2">
              <a:lumMod val="25000"/>
              <a:lumOff val="75000"/>
            </a:schemeClr>
          </a:solidFill>
          <a:ln>
            <a:noFill/>
          </a:ln>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chemeClr val="tx1"/>
                </a:solidFill>
              </a:rPr>
              <a:t>Terminales</a:t>
            </a:r>
            <a:endParaRPr lang="es-ES" sz="2400" dirty="0">
              <a:solidFill>
                <a:schemeClr val="tx1"/>
              </a:solidFill>
            </a:endParaRPr>
          </a:p>
        </p:txBody>
      </p:sp>
      <p:sp>
        <p:nvSpPr>
          <p:cNvPr id="5" name="CuadroTexto 3">
            <a:extLst>
              <a:ext uri="{FF2B5EF4-FFF2-40B4-BE49-F238E27FC236}">
                <a16:creationId xmlns:a16="http://schemas.microsoft.com/office/drawing/2014/main" id="{FB4A9588-66BF-BFD6-6CEE-59D33188DF9F}"/>
              </a:ext>
            </a:extLst>
          </p:cNvPr>
          <p:cNvSpPr txBox="1">
            <a:spLocks noChangeArrowheads="1"/>
          </p:cNvSpPr>
          <p:nvPr/>
        </p:nvSpPr>
        <p:spPr bwMode="auto">
          <a:xfrm>
            <a:off x="1982912" y="959051"/>
            <a:ext cx="65284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solidFill>
                  <a:srgbClr val="FF0000"/>
                </a:solidFill>
              </a:rPr>
              <a:t>La magnitud que caracteriza a un generador</a:t>
            </a:r>
            <a:endParaRPr lang="es-ES" sz="2400" dirty="0">
              <a:solidFill>
                <a:srgbClr val="FF0000"/>
              </a:solidFill>
            </a:endParaRPr>
          </a:p>
        </p:txBody>
      </p:sp>
      <p:sp>
        <p:nvSpPr>
          <p:cNvPr id="8" name="CuadroTexto 3">
            <a:extLst>
              <a:ext uri="{FF2B5EF4-FFF2-40B4-BE49-F238E27FC236}">
                <a16:creationId xmlns:a16="http://schemas.microsoft.com/office/drawing/2014/main" id="{7DC87AB3-58CE-194A-9427-2F5C1036189C}"/>
              </a:ext>
            </a:extLst>
          </p:cNvPr>
          <p:cNvSpPr txBox="1">
            <a:spLocks noChangeArrowheads="1"/>
          </p:cNvSpPr>
          <p:nvPr/>
        </p:nvSpPr>
        <p:spPr bwMode="auto">
          <a:xfrm>
            <a:off x="1412005" y="4050441"/>
            <a:ext cx="8698066" cy="830997"/>
          </a:xfrm>
          <a:prstGeom prst="rect">
            <a:avLst/>
          </a:prstGeom>
          <a:solidFill>
            <a:srgbClr val="99CCFF"/>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solidFill>
                  <a:schemeClr val="tx1"/>
                </a:solidFill>
              </a:rPr>
              <a:t>Si el potencial es energía por unidad de carga, una </a:t>
            </a:r>
            <a:r>
              <a:rPr lang="es-ES" sz="2400" b="1">
                <a:solidFill>
                  <a:schemeClr val="tx1"/>
                </a:solidFill>
              </a:rPr>
              <a:t>ddp</a:t>
            </a:r>
            <a:r>
              <a:rPr lang="es-ES" sz="2400">
                <a:solidFill>
                  <a:schemeClr val="tx1"/>
                </a:solidFill>
              </a:rPr>
              <a:t> es una cantidad de energía disponible por unidad de carga</a:t>
            </a:r>
            <a:endParaRPr lang="es-ES" sz="2400" dirty="0">
              <a:solidFill>
                <a:schemeClr val="tx1"/>
              </a:solidFill>
            </a:endParaRPr>
          </a:p>
        </p:txBody>
      </p:sp>
      <p:sp>
        <p:nvSpPr>
          <p:cNvPr id="10" name="CuadroTexto 1">
            <a:extLst>
              <a:ext uri="{FF2B5EF4-FFF2-40B4-BE49-F238E27FC236}">
                <a16:creationId xmlns:a16="http://schemas.microsoft.com/office/drawing/2014/main" id="{836CF9EB-6AF0-B05D-05DC-BE77125459F5}"/>
              </a:ext>
            </a:extLst>
          </p:cNvPr>
          <p:cNvSpPr txBox="1">
            <a:spLocks noChangeArrowheads="1"/>
          </p:cNvSpPr>
          <p:nvPr/>
        </p:nvSpPr>
        <p:spPr bwMode="auto">
          <a:xfrm>
            <a:off x="1817123" y="5248667"/>
            <a:ext cx="1675010" cy="461665"/>
          </a:xfrm>
          <a:prstGeom prst="rect">
            <a:avLst/>
          </a:prstGeom>
          <a:solidFill>
            <a:schemeClr val="tx2">
              <a:lumMod val="25000"/>
              <a:lumOff val="75000"/>
            </a:schemeClr>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chemeClr val="tx1"/>
                </a:solidFill>
              </a:rPr>
              <a:t>Fija</a:t>
            </a:r>
            <a:endParaRPr lang="es-ES" sz="2400" dirty="0">
              <a:solidFill>
                <a:schemeClr val="tx1"/>
              </a:solidFill>
            </a:endParaRPr>
          </a:p>
        </p:txBody>
      </p:sp>
      <p:sp>
        <p:nvSpPr>
          <p:cNvPr id="11" name="CuadroTexto 4">
            <a:extLst>
              <a:ext uri="{FF2B5EF4-FFF2-40B4-BE49-F238E27FC236}">
                <a16:creationId xmlns:a16="http://schemas.microsoft.com/office/drawing/2014/main" id="{D4543979-5652-4915-95DF-FE336232AC57}"/>
              </a:ext>
            </a:extLst>
          </p:cNvPr>
          <p:cNvSpPr txBox="1">
            <a:spLocks noChangeArrowheads="1"/>
          </p:cNvSpPr>
          <p:nvPr/>
        </p:nvSpPr>
        <p:spPr bwMode="auto">
          <a:xfrm>
            <a:off x="3649412" y="5938486"/>
            <a:ext cx="4945136" cy="461665"/>
          </a:xfrm>
          <a:prstGeom prst="rect">
            <a:avLst/>
          </a:prstGeom>
          <a:solidFill>
            <a:srgbClr val="FFFFFF"/>
          </a:solidFill>
          <a:ln>
            <a:noFill/>
          </a:ln>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chemeClr val="tx1"/>
                </a:solidFill>
              </a:rPr>
              <a:t>También se llaman bornes o </a:t>
            </a:r>
            <a:r>
              <a:rPr lang="es-ES" sz="2400" dirty="0">
                <a:solidFill>
                  <a:schemeClr val="tx1"/>
                </a:solidFill>
              </a:rPr>
              <a:t>polos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3" presetClass="entr" presetSubtype="272" fill="hold" grpId="0" nodeType="clickEffect">
                                  <p:stCondLst>
                                    <p:cond delay="0"/>
                                  </p:stCondLst>
                                  <p:childTnLst>
                                    <p:set>
                                      <p:cBhvr>
                                        <p:cTn id="12" dur="1" fill="hold">
                                          <p:stCondLst>
                                            <p:cond delay="0"/>
                                          </p:stCondLst>
                                        </p:cTn>
                                        <p:tgtEl>
                                          <p:spTgt spid="11307"/>
                                        </p:tgtEl>
                                        <p:attrNameLst>
                                          <p:attrName>style.visibility</p:attrName>
                                        </p:attrNameLst>
                                      </p:cBhvr>
                                      <p:to>
                                        <p:strVal val="visible"/>
                                      </p:to>
                                    </p:set>
                                    <p:anim calcmode="lin" valueType="num">
                                      <p:cBhvr>
                                        <p:cTn id="13" dur="500" fill="hold"/>
                                        <p:tgtEl>
                                          <p:spTgt spid="11307"/>
                                        </p:tgtEl>
                                        <p:attrNameLst>
                                          <p:attrName>ppt_w</p:attrName>
                                        </p:attrNameLst>
                                      </p:cBhvr>
                                      <p:tavLst>
                                        <p:tav tm="0">
                                          <p:val>
                                            <p:strVal val="2/3*#ppt_w"/>
                                          </p:val>
                                        </p:tav>
                                        <p:tav tm="100000">
                                          <p:val>
                                            <p:strVal val="#ppt_w"/>
                                          </p:val>
                                        </p:tav>
                                      </p:tavLst>
                                    </p:anim>
                                    <p:anim calcmode="lin" valueType="num">
                                      <p:cBhvr>
                                        <p:cTn id="14" dur="500" fill="hold"/>
                                        <p:tgtEl>
                                          <p:spTgt spid="11307"/>
                                        </p:tgtEl>
                                        <p:attrNameLst>
                                          <p:attrName>ppt_h</p:attrName>
                                        </p:attrNameLst>
                                      </p:cBhvr>
                                      <p:tavLst>
                                        <p:tav tm="0">
                                          <p:val>
                                            <p:strVal val="2/3*#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5" fill="hold" grpId="0" nodeType="clickEffect">
                                  <p:stCondLst>
                                    <p:cond delay="0"/>
                                  </p:stCondLst>
                                  <p:childTnLst>
                                    <p:set>
                                      <p:cBhvr>
                                        <p:cTn id="18" dur="1" fill="hold">
                                          <p:stCondLst>
                                            <p:cond delay="0"/>
                                          </p:stCondLst>
                                        </p:cTn>
                                        <p:tgtEl>
                                          <p:spTgt spid="264236"/>
                                        </p:tgtEl>
                                        <p:attrNameLst>
                                          <p:attrName>style.visibility</p:attrName>
                                        </p:attrNameLst>
                                      </p:cBhvr>
                                      <p:to>
                                        <p:strVal val="visible"/>
                                      </p:to>
                                    </p:set>
                                    <p:animEffect transition="in" filter="blinds(vertical)">
                                      <p:cBhvr>
                                        <p:cTn id="19" dur="500"/>
                                        <p:tgtEl>
                                          <p:spTgt spid="264236"/>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7433"/>
                                        </p:tgtEl>
                                        <p:attrNameLst>
                                          <p:attrName>style.visibility</p:attrName>
                                        </p:attrNameLst>
                                      </p:cBhvr>
                                      <p:to>
                                        <p:strVal val="visible"/>
                                      </p:to>
                                    </p:set>
                                    <p:animEffect transition="in" filter="barn(inVertical)">
                                      <p:cBhvr>
                                        <p:cTn id="24" dur="500"/>
                                        <p:tgtEl>
                                          <p:spTgt spid="17433"/>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down)">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p:tgtEl>
                                          <p:spTgt spid="10"/>
                                        </p:tgtEl>
                                        <p:attrNameLst>
                                          <p:attrName>ppt_y</p:attrName>
                                        </p:attrNameLst>
                                      </p:cBhvr>
                                      <p:tavLst>
                                        <p:tav tm="0">
                                          <p:val>
                                            <p:strVal val="#ppt_y+#ppt_h*1.125000"/>
                                          </p:val>
                                        </p:tav>
                                        <p:tav tm="100000">
                                          <p:val>
                                            <p:strVal val="#ppt_y"/>
                                          </p:val>
                                        </p:tav>
                                      </p:tavLst>
                                    </p:anim>
                                    <p:animEffect transition="in" filter="wipe(up)">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430"/>
                                        </p:tgtEl>
                                        <p:attrNameLst>
                                          <p:attrName>style.visibility</p:attrName>
                                        </p:attrNameLst>
                                      </p:cBhvr>
                                      <p:to>
                                        <p:strVal val="visible"/>
                                      </p:to>
                                    </p:set>
                                    <p:animEffect transition="in" filter="wipe(left)">
                                      <p:cBhvr>
                                        <p:cTn id="44" dur="500"/>
                                        <p:tgtEl>
                                          <p:spTgt spid="17430"/>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7426"/>
                                        </p:tgtEl>
                                        <p:attrNameLst>
                                          <p:attrName>style.visibility</p:attrName>
                                        </p:attrNameLst>
                                      </p:cBhvr>
                                      <p:to>
                                        <p:strVal val="visible"/>
                                      </p:to>
                                    </p:set>
                                    <p:anim calcmode="lin" valueType="num">
                                      <p:cBhvr additive="base">
                                        <p:cTn id="49" dur="500"/>
                                        <p:tgtEl>
                                          <p:spTgt spid="17426"/>
                                        </p:tgtEl>
                                        <p:attrNameLst>
                                          <p:attrName>ppt_y</p:attrName>
                                        </p:attrNameLst>
                                      </p:cBhvr>
                                      <p:tavLst>
                                        <p:tav tm="0">
                                          <p:val>
                                            <p:strVal val="#ppt_y+#ppt_h*1.125000"/>
                                          </p:val>
                                        </p:tav>
                                        <p:tav tm="100000">
                                          <p:val>
                                            <p:strVal val="#ppt_y"/>
                                          </p:val>
                                        </p:tav>
                                      </p:tavLst>
                                    </p:anim>
                                    <p:animEffect transition="in" filter="wipe(up)">
                                      <p:cBhvr>
                                        <p:cTn id="50" dur="500"/>
                                        <p:tgtEl>
                                          <p:spTgt spid="1742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36" grpId="0" animBg="1"/>
      <p:bldP spid="11307" grpId="0" animBg="1"/>
      <p:bldP spid="17433" grpId="0" animBg="1"/>
      <p:bldP spid="17430" grpId="0" animBg="1"/>
      <p:bldP spid="17426" grpId="0" animBg="1"/>
      <p:bldP spid="5" grpId="0"/>
      <p:bldP spid="8"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EE9CEBE7-8DCF-27F4-175D-E310AE0C3C06}"/>
              </a:ext>
            </a:extLst>
          </p:cNvPr>
          <p:cNvSpPr/>
          <p:nvPr/>
        </p:nvSpPr>
        <p:spPr bwMode="auto">
          <a:xfrm>
            <a:off x="1026160" y="4251076"/>
            <a:ext cx="6599912" cy="2753482"/>
          </a:xfrm>
          <a:prstGeom prst="rect">
            <a:avLst/>
          </a:prstGeom>
          <a:solidFill>
            <a:srgbClr val="FFFF99"/>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2" name="Rectángulo 1">
            <a:extLst>
              <a:ext uri="{FF2B5EF4-FFF2-40B4-BE49-F238E27FC236}">
                <a16:creationId xmlns:a16="http://schemas.microsoft.com/office/drawing/2014/main" id="{AF14A2C7-BABF-78E7-86E7-B1225DCE069A}"/>
              </a:ext>
            </a:extLst>
          </p:cNvPr>
          <p:cNvSpPr/>
          <p:nvPr/>
        </p:nvSpPr>
        <p:spPr bwMode="auto">
          <a:xfrm>
            <a:off x="1026160" y="984370"/>
            <a:ext cx="6599912" cy="3028830"/>
          </a:xfrm>
          <a:prstGeom prst="rect">
            <a:avLst/>
          </a:prstGeom>
          <a:solidFill>
            <a:srgbClr val="FFFF99"/>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23" name="Text Box 50">
            <a:extLst>
              <a:ext uri="{FF2B5EF4-FFF2-40B4-BE49-F238E27FC236}">
                <a16:creationId xmlns:a16="http://schemas.microsoft.com/office/drawing/2014/main" id="{72BB556D-E53C-40F4-B021-53A9F337F2AF}"/>
              </a:ext>
            </a:extLst>
          </p:cNvPr>
          <p:cNvSpPr txBox="1">
            <a:spLocks noChangeArrowheads="1"/>
          </p:cNvSpPr>
          <p:nvPr/>
        </p:nvSpPr>
        <p:spPr bwMode="auto">
          <a:xfrm>
            <a:off x="485584" y="4242232"/>
            <a:ext cx="462919" cy="2772000"/>
          </a:xfrm>
          <a:prstGeom prst="rect">
            <a:avLst/>
          </a:prstGeom>
          <a:solidFill>
            <a:srgbClr val="FFFF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endParaRPr lang="es-ES" sz="2400">
              <a:latin typeface="Arial" panose="020B0604020202020204" pitchFamily="34" charset="0"/>
            </a:endParaRPr>
          </a:p>
          <a:p>
            <a:pPr algn="ctr" eaLnBrk="1" hangingPunct="1">
              <a:spcBef>
                <a:spcPts val="0"/>
              </a:spcBef>
              <a:buFontTx/>
              <a:buNone/>
            </a:pPr>
            <a:r>
              <a:rPr lang="es-ES" sz="2400">
                <a:latin typeface="Arial" panose="020B0604020202020204" pitchFamily="34" charset="0"/>
              </a:rPr>
              <a:t>P</a:t>
            </a:r>
          </a:p>
          <a:p>
            <a:pPr algn="ctr" eaLnBrk="1" hangingPunct="1">
              <a:spcBef>
                <a:spcPts val="0"/>
              </a:spcBef>
              <a:buFontTx/>
              <a:buNone/>
            </a:pPr>
            <a:r>
              <a:rPr lang="es-ES" sz="2400">
                <a:latin typeface="Arial" panose="020B0604020202020204" pitchFamily="34" charset="0"/>
              </a:rPr>
              <a:t>I</a:t>
            </a:r>
          </a:p>
          <a:p>
            <a:pPr algn="ctr" eaLnBrk="1" hangingPunct="1">
              <a:spcBef>
                <a:spcPts val="0"/>
              </a:spcBef>
              <a:buFontTx/>
              <a:buNone/>
            </a:pPr>
            <a:r>
              <a:rPr lang="es-ES" sz="2400">
                <a:latin typeface="Arial" panose="020B0604020202020204" pitchFamily="34" charset="0"/>
              </a:rPr>
              <a:t>L</a:t>
            </a:r>
          </a:p>
          <a:p>
            <a:pPr algn="ctr" eaLnBrk="1" hangingPunct="1">
              <a:spcBef>
                <a:spcPts val="0"/>
              </a:spcBef>
              <a:buFontTx/>
              <a:buNone/>
            </a:pPr>
            <a:r>
              <a:rPr lang="es-ES" sz="2400">
                <a:latin typeface="Arial" panose="020B0604020202020204" pitchFamily="34" charset="0"/>
              </a:rPr>
              <a:t>A</a:t>
            </a:r>
          </a:p>
          <a:p>
            <a:pPr algn="ctr" eaLnBrk="1" hangingPunct="1">
              <a:spcBef>
                <a:spcPts val="0"/>
              </a:spcBef>
              <a:buFontTx/>
              <a:buNone/>
            </a:pPr>
            <a:endParaRPr lang="es-ES" sz="2400">
              <a:latin typeface="Arial" panose="020B0604020202020204" pitchFamily="34" charset="0"/>
            </a:endParaRPr>
          </a:p>
        </p:txBody>
      </p:sp>
      <p:sp>
        <p:nvSpPr>
          <p:cNvPr id="24" name="Text Box 91">
            <a:extLst>
              <a:ext uri="{FF2B5EF4-FFF2-40B4-BE49-F238E27FC236}">
                <a16:creationId xmlns:a16="http://schemas.microsoft.com/office/drawing/2014/main" id="{5293612C-81A7-4669-A9C7-1D8F03E549E2}"/>
              </a:ext>
            </a:extLst>
          </p:cNvPr>
          <p:cNvSpPr txBox="1">
            <a:spLocks noChangeArrowheads="1"/>
          </p:cNvSpPr>
          <p:nvPr/>
        </p:nvSpPr>
        <p:spPr bwMode="auto">
          <a:xfrm>
            <a:off x="1227341" y="4342472"/>
            <a:ext cx="6236807" cy="1644545"/>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Tiene una estructura </a:t>
            </a:r>
            <a:r>
              <a:rPr lang="es-ES" sz="2400" dirty="0">
                <a:solidFill>
                  <a:srgbClr val="3333FF"/>
                </a:solidFill>
                <a:latin typeface="Arial" panose="020B0604020202020204" pitchFamily="34" charset="0"/>
              </a:rPr>
              <a:t>(celda) </a:t>
            </a:r>
            <a:r>
              <a:rPr lang="es-ES" sz="2400" dirty="0">
                <a:latin typeface="Arial" panose="020B0604020202020204" pitchFamily="34" charset="0"/>
              </a:rPr>
              <a:t>que se repite </a:t>
            </a:r>
            <a:r>
              <a:rPr lang="es-ES" sz="2400" dirty="0">
                <a:solidFill>
                  <a:srgbClr val="3333FF"/>
                </a:solidFill>
                <a:latin typeface="Arial" panose="020B0604020202020204" pitchFamily="34" charset="0"/>
              </a:rPr>
              <a:t>en vertical </a:t>
            </a:r>
            <a:r>
              <a:rPr lang="es-ES" sz="2400" dirty="0">
                <a:latin typeface="Arial" panose="020B0604020202020204" pitchFamily="34" charset="0"/>
              </a:rPr>
              <a:t>"apilada", actualmente "en línea", es decir, paralela a la </a:t>
            </a:r>
            <a:r>
              <a:rPr lang="es-ES" sz="2400">
                <a:latin typeface="Arial" panose="020B0604020202020204" pitchFamily="34" charset="0"/>
              </a:rPr>
              <a:t>dirección considerada, </a:t>
            </a:r>
            <a:r>
              <a:rPr lang="es-ES" sz="2400" dirty="0">
                <a:latin typeface="Arial" panose="020B0604020202020204" pitchFamily="34" charset="0"/>
              </a:rPr>
              <a:t>formando así una sola celda.</a:t>
            </a:r>
          </a:p>
        </p:txBody>
      </p:sp>
      <p:pic>
        <p:nvPicPr>
          <p:cNvPr id="25" name="Imagen 22">
            <a:extLst>
              <a:ext uri="{FF2B5EF4-FFF2-40B4-BE49-F238E27FC236}">
                <a16:creationId xmlns:a16="http://schemas.microsoft.com/office/drawing/2014/main" id="{4087F554-78B8-4987-85E5-AB638D71FC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97418" y="2881937"/>
            <a:ext cx="1873726" cy="2708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Imagen 25">
            <a:extLst>
              <a:ext uri="{FF2B5EF4-FFF2-40B4-BE49-F238E27FC236}">
                <a16:creationId xmlns:a16="http://schemas.microsoft.com/office/drawing/2014/main" id="{49A2EF53-4C49-4F96-9728-98ACCBB5951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53019" y="5745493"/>
            <a:ext cx="2011156" cy="1363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91">
            <a:extLst>
              <a:ext uri="{FF2B5EF4-FFF2-40B4-BE49-F238E27FC236}">
                <a16:creationId xmlns:a16="http://schemas.microsoft.com/office/drawing/2014/main" id="{EAFBE00A-AE39-4EA6-A4BA-DC3E6AA0DE51}"/>
              </a:ext>
            </a:extLst>
          </p:cNvPr>
          <p:cNvSpPr txBox="1">
            <a:spLocks noChangeArrowheads="1"/>
          </p:cNvSpPr>
          <p:nvPr/>
        </p:nvSpPr>
        <p:spPr bwMode="auto">
          <a:xfrm>
            <a:off x="1227341" y="6028659"/>
            <a:ext cx="6398732" cy="905881"/>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O es una sola celda orientada en horizontal, "en batería", como antes </a:t>
            </a:r>
            <a:r>
              <a:rPr lang="es-ES" sz="2400" dirty="0">
                <a:solidFill>
                  <a:srgbClr val="FF0000"/>
                </a:solidFill>
                <a:latin typeface="Arial" panose="020B0604020202020204" pitchFamily="34" charset="0"/>
              </a:rPr>
              <a:t>(pila de botón)</a:t>
            </a:r>
            <a:r>
              <a:rPr lang="es-ES" sz="2400" dirty="0">
                <a:latin typeface="Arial" panose="020B0604020202020204" pitchFamily="34" charset="0"/>
              </a:rPr>
              <a:t>.</a:t>
            </a:r>
          </a:p>
        </p:txBody>
      </p:sp>
      <p:sp>
        <p:nvSpPr>
          <p:cNvPr id="3" name="Text Box 51">
            <a:extLst>
              <a:ext uri="{FF2B5EF4-FFF2-40B4-BE49-F238E27FC236}">
                <a16:creationId xmlns:a16="http://schemas.microsoft.com/office/drawing/2014/main" id="{0D9CE8A7-C938-7312-BCEA-26E0EDA1E238}"/>
              </a:ext>
            </a:extLst>
          </p:cNvPr>
          <p:cNvSpPr txBox="1">
            <a:spLocks noChangeArrowheads="1"/>
          </p:cNvSpPr>
          <p:nvPr/>
        </p:nvSpPr>
        <p:spPr bwMode="auto">
          <a:xfrm>
            <a:off x="485358" y="982911"/>
            <a:ext cx="452985" cy="3003802"/>
          </a:xfrm>
          <a:prstGeom prst="rect">
            <a:avLst/>
          </a:prstGeom>
          <a:solidFill>
            <a:srgbClr val="FFFF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B</a:t>
            </a:r>
          </a:p>
          <a:p>
            <a:pPr algn="ctr" eaLnBrk="1" hangingPunct="1">
              <a:spcBef>
                <a:spcPts val="0"/>
              </a:spcBef>
              <a:buFontTx/>
              <a:buNone/>
            </a:pPr>
            <a:r>
              <a:rPr lang="es-ES" sz="2400">
                <a:latin typeface="Arial" panose="020B0604020202020204" pitchFamily="34" charset="0"/>
              </a:rPr>
              <a:t>A</a:t>
            </a:r>
          </a:p>
          <a:p>
            <a:pPr algn="ctr" eaLnBrk="1" hangingPunct="1">
              <a:spcBef>
                <a:spcPts val="0"/>
              </a:spcBef>
              <a:buFontTx/>
              <a:buNone/>
            </a:pPr>
            <a:r>
              <a:rPr lang="es-ES" sz="2400">
                <a:latin typeface="Arial" panose="020B0604020202020204" pitchFamily="34" charset="0"/>
              </a:rPr>
              <a:t>T</a:t>
            </a:r>
          </a:p>
          <a:p>
            <a:pPr algn="ctr" eaLnBrk="1" hangingPunct="1">
              <a:spcBef>
                <a:spcPts val="0"/>
              </a:spcBef>
              <a:buFontTx/>
              <a:buNone/>
            </a:pPr>
            <a:r>
              <a:rPr lang="es-ES" sz="2400">
                <a:latin typeface="Arial" panose="020B0604020202020204" pitchFamily="34" charset="0"/>
              </a:rPr>
              <a:t>E</a:t>
            </a:r>
          </a:p>
          <a:p>
            <a:pPr algn="ctr" eaLnBrk="1" hangingPunct="1">
              <a:spcBef>
                <a:spcPts val="0"/>
              </a:spcBef>
              <a:buFontTx/>
              <a:buNone/>
            </a:pPr>
            <a:r>
              <a:rPr lang="es-ES" sz="2400">
                <a:latin typeface="Arial" panose="020B0604020202020204" pitchFamily="34" charset="0"/>
              </a:rPr>
              <a:t>R</a:t>
            </a:r>
          </a:p>
          <a:p>
            <a:pPr algn="ctr" eaLnBrk="1" hangingPunct="1">
              <a:spcBef>
                <a:spcPts val="0"/>
              </a:spcBef>
              <a:buFontTx/>
              <a:buNone/>
            </a:pPr>
            <a:r>
              <a:rPr lang="es-ES" sz="2400">
                <a:latin typeface="Arial" panose="020B0604020202020204" pitchFamily="34" charset="0"/>
              </a:rPr>
              <a:t>Í</a:t>
            </a:r>
          </a:p>
          <a:p>
            <a:pPr algn="ctr" eaLnBrk="1" hangingPunct="1">
              <a:spcBef>
                <a:spcPts val="0"/>
              </a:spcBef>
              <a:buFontTx/>
              <a:buNone/>
            </a:pPr>
            <a:r>
              <a:rPr lang="es-ES" sz="2400">
                <a:latin typeface="Arial" panose="020B0604020202020204" pitchFamily="34" charset="0"/>
              </a:rPr>
              <a:t>A</a:t>
            </a:r>
          </a:p>
        </p:txBody>
      </p:sp>
      <p:sp>
        <p:nvSpPr>
          <p:cNvPr id="4" name="Text Box 92">
            <a:extLst>
              <a:ext uri="{FF2B5EF4-FFF2-40B4-BE49-F238E27FC236}">
                <a16:creationId xmlns:a16="http://schemas.microsoft.com/office/drawing/2014/main" id="{4E5B2B8B-4E8A-CC42-0FFB-02EB119FFEC0}"/>
              </a:ext>
            </a:extLst>
          </p:cNvPr>
          <p:cNvSpPr txBox="1">
            <a:spLocks noChangeArrowheads="1"/>
          </p:cNvSpPr>
          <p:nvPr/>
        </p:nvSpPr>
        <p:spPr bwMode="auto">
          <a:xfrm>
            <a:off x="1172686" y="1045331"/>
            <a:ext cx="6132032" cy="1622734"/>
          </a:xfrm>
          <a:prstGeom prst="rect">
            <a:avLst/>
          </a:prstGeom>
          <a:noFill/>
          <a:ln>
            <a:noFill/>
          </a:ln>
        </p:spPr>
        <p:txBody>
          <a:bodyPr wrap="square" lIns="144000" tIns="72000" rIns="72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Tiene una estructura </a:t>
            </a:r>
            <a:r>
              <a:rPr lang="es-ES" sz="2400" dirty="0">
                <a:solidFill>
                  <a:srgbClr val="3333FF"/>
                </a:solidFill>
                <a:latin typeface="Arial" panose="020B0604020202020204" pitchFamily="34" charset="0"/>
              </a:rPr>
              <a:t>(celda) </a:t>
            </a:r>
            <a:r>
              <a:rPr lang="es-ES" sz="2400" dirty="0">
                <a:latin typeface="Arial" panose="020B0604020202020204" pitchFamily="34" charset="0"/>
              </a:rPr>
              <a:t>que se repite</a:t>
            </a:r>
          </a:p>
          <a:p>
            <a:pPr eaLnBrk="1" hangingPunct="1">
              <a:spcBef>
                <a:spcPts val="0"/>
              </a:spcBef>
              <a:buFontTx/>
              <a:buNone/>
            </a:pPr>
            <a:r>
              <a:rPr lang="es-ES" sz="2400" dirty="0">
                <a:solidFill>
                  <a:srgbClr val="3333FF"/>
                </a:solidFill>
                <a:latin typeface="Arial" panose="020B0604020202020204" pitchFamily="34" charset="0"/>
              </a:rPr>
              <a:t>en horizontal </a:t>
            </a:r>
            <a:r>
              <a:rPr lang="es-ES" sz="2400" dirty="0">
                <a:latin typeface="Arial" panose="020B0604020202020204" pitchFamily="34" charset="0"/>
              </a:rPr>
              <a:t>"en batería", es decir,   </a:t>
            </a:r>
            <a:r>
              <a:rPr lang="es-ES" sz="2400" dirty="0">
                <a:latin typeface="Arial" panose="020B0604020202020204" pitchFamily="34" charset="0"/>
                <a:sym typeface="Symbol" panose="05050102010706020507" pitchFamily="18" charset="2"/>
              </a:rPr>
              <a:t>perpendicular </a:t>
            </a:r>
            <a:r>
              <a:rPr lang="es-ES" sz="2400" dirty="0">
                <a:latin typeface="Arial" panose="020B0604020202020204" pitchFamily="34" charset="0"/>
              </a:rPr>
              <a:t>a la dirección considerada </a:t>
            </a:r>
            <a:r>
              <a:rPr lang="es-ES" sz="2400" dirty="0">
                <a:solidFill>
                  <a:srgbClr val="FF0000"/>
                </a:solidFill>
                <a:latin typeface="Arial" panose="020B0604020202020204" pitchFamily="34" charset="0"/>
              </a:rPr>
              <a:t>(ej.: la de un coche)</a:t>
            </a:r>
            <a:r>
              <a:rPr lang="es-ES" sz="2400" dirty="0">
                <a:latin typeface="Arial" panose="020B0604020202020204" pitchFamily="34" charset="0"/>
              </a:rPr>
              <a:t>.</a:t>
            </a:r>
          </a:p>
        </p:txBody>
      </p:sp>
      <p:grpSp>
        <p:nvGrpSpPr>
          <p:cNvPr id="5" name="Grupo 4">
            <a:extLst>
              <a:ext uri="{FF2B5EF4-FFF2-40B4-BE49-F238E27FC236}">
                <a16:creationId xmlns:a16="http://schemas.microsoft.com/office/drawing/2014/main" id="{CC78B41C-94F5-FCB9-932E-481BFE377166}"/>
              </a:ext>
            </a:extLst>
          </p:cNvPr>
          <p:cNvGrpSpPr>
            <a:grpSpLocks/>
          </p:cNvGrpSpPr>
          <p:nvPr/>
        </p:nvGrpSpPr>
        <p:grpSpPr bwMode="auto">
          <a:xfrm>
            <a:off x="1441843" y="396689"/>
            <a:ext cx="3695827" cy="461665"/>
            <a:chOff x="1805677" y="4100003"/>
            <a:chExt cx="4065060" cy="461734"/>
          </a:xfrm>
        </p:grpSpPr>
        <p:sp>
          <p:nvSpPr>
            <p:cNvPr id="6" name="Text Box 55">
              <a:extLst>
                <a:ext uri="{FF2B5EF4-FFF2-40B4-BE49-F238E27FC236}">
                  <a16:creationId xmlns:a16="http://schemas.microsoft.com/office/drawing/2014/main" id="{C89C5DF6-D88A-2EFB-DA4F-33E8D79F8FFA}"/>
                </a:ext>
              </a:extLst>
            </p:cNvPr>
            <p:cNvSpPr txBox="1">
              <a:spLocks noChangeArrowheads="1"/>
            </p:cNvSpPr>
            <p:nvPr/>
          </p:nvSpPr>
          <p:spPr bwMode="auto">
            <a:xfrm>
              <a:off x="1805677" y="4100003"/>
              <a:ext cx="2017688" cy="46173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EJEMPLOS</a:t>
              </a:r>
              <a:endParaRPr lang="es-ES"/>
            </a:p>
          </p:txBody>
        </p:sp>
        <p:sp>
          <p:nvSpPr>
            <p:cNvPr id="7" name="CuadroTexto 65">
              <a:extLst>
                <a:ext uri="{FF2B5EF4-FFF2-40B4-BE49-F238E27FC236}">
                  <a16:creationId xmlns:a16="http://schemas.microsoft.com/office/drawing/2014/main" id="{BCA2F18E-CED5-42C8-0808-22FEF0E5FA37}"/>
                </a:ext>
              </a:extLst>
            </p:cNvPr>
            <p:cNvSpPr txBox="1">
              <a:spLocks noChangeArrowheads="1"/>
            </p:cNvSpPr>
            <p:nvPr/>
          </p:nvSpPr>
          <p:spPr bwMode="auto">
            <a:xfrm>
              <a:off x="3823365" y="4100003"/>
              <a:ext cx="2047372" cy="46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rgbClr val="FF0000"/>
                  </a:solidFill>
                </a:rPr>
                <a:t>con ddp cte.</a:t>
              </a:r>
            </a:p>
          </p:txBody>
        </p:sp>
      </p:grpSp>
      <p:pic>
        <p:nvPicPr>
          <p:cNvPr id="8" name="Imagen 7">
            <a:extLst>
              <a:ext uri="{FF2B5EF4-FFF2-40B4-BE49-F238E27FC236}">
                <a16:creationId xmlns:a16="http://schemas.microsoft.com/office/drawing/2014/main" id="{E8AA3706-B18A-08DE-F672-F9B67C2ECA97}"/>
              </a:ext>
            </a:extLst>
          </p:cNvPr>
          <p:cNvPicPr>
            <a:picLocks noChangeAspect="1"/>
          </p:cNvPicPr>
          <p:nvPr/>
        </p:nvPicPr>
        <p:blipFill>
          <a:blip r:embed="rId5"/>
          <a:stretch>
            <a:fillRect/>
          </a:stretch>
        </p:blipFill>
        <p:spPr>
          <a:xfrm>
            <a:off x="7814088" y="115161"/>
            <a:ext cx="2515094" cy="2344751"/>
          </a:xfrm>
          <a:prstGeom prst="rect">
            <a:avLst/>
          </a:prstGeom>
        </p:spPr>
      </p:pic>
      <p:pic>
        <p:nvPicPr>
          <p:cNvPr id="9" name="Imagen 8">
            <a:extLst>
              <a:ext uri="{FF2B5EF4-FFF2-40B4-BE49-F238E27FC236}">
                <a16:creationId xmlns:a16="http://schemas.microsoft.com/office/drawing/2014/main" id="{7F199060-5769-7313-DC29-ECDB7AB4A1EB}"/>
              </a:ext>
            </a:extLst>
          </p:cNvPr>
          <p:cNvPicPr>
            <a:picLocks noChangeAspect="1"/>
          </p:cNvPicPr>
          <p:nvPr/>
        </p:nvPicPr>
        <p:blipFill>
          <a:blip r:embed="rId6"/>
          <a:stretch>
            <a:fillRect/>
          </a:stretch>
        </p:blipFill>
        <p:spPr>
          <a:xfrm>
            <a:off x="6988219" y="2553665"/>
            <a:ext cx="1675637" cy="1776060"/>
          </a:xfrm>
          <a:prstGeom prst="rect">
            <a:avLst/>
          </a:prstGeom>
        </p:spPr>
      </p:pic>
      <p:sp>
        <p:nvSpPr>
          <p:cNvPr id="10" name="Text Box 92">
            <a:extLst>
              <a:ext uri="{FF2B5EF4-FFF2-40B4-BE49-F238E27FC236}">
                <a16:creationId xmlns:a16="http://schemas.microsoft.com/office/drawing/2014/main" id="{A1562ACA-7310-3D9A-34B8-74EDD0E414E1}"/>
              </a:ext>
            </a:extLst>
          </p:cNvPr>
          <p:cNvSpPr txBox="1">
            <a:spLocks noChangeArrowheads="1"/>
          </p:cNvSpPr>
          <p:nvPr/>
        </p:nvSpPr>
        <p:spPr bwMode="auto">
          <a:xfrm>
            <a:off x="1226146" y="2653703"/>
            <a:ext cx="5651448" cy="1253402"/>
          </a:xfrm>
          <a:prstGeom prst="rect">
            <a:avLst/>
          </a:prstGeom>
          <a:noFill/>
          <a:ln>
            <a:noFill/>
          </a:ln>
        </p:spPr>
        <p:txBody>
          <a:bodyPr wrap="square" lIns="144000" tIns="72000" rIns="72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A veces la celda se repite de manera concéntrica (como una diana), es decir,</a:t>
            </a:r>
          </a:p>
          <a:p>
            <a:pPr eaLnBrk="1" hangingPunct="1">
              <a:spcBef>
                <a:spcPts val="0"/>
              </a:spcBef>
              <a:buFontTx/>
              <a:buNone/>
            </a:pPr>
            <a:r>
              <a:rPr lang="es-ES" sz="2400" dirty="0">
                <a:latin typeface="Arial" panose="020B0604020202020204" pitchFamily="34" charset="0"/>
              </a:rPr>
              <a:t>en todas las direcciones horizontales.</a:t>
            </a:r>
          </a:p>
        </p:txBody>
      </p:sp>
    </p:spTree>
    <p:extLst>
      <p:ext uri="{BB962C8B-B14F-4D97-AF65-F5344CB8AC3E}">
        <p14:creationId xmlns:p14="http://schemas.microsoft.com/office/powerpoint/2010/main" val="95812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up)">
                                      <p:cBhvr>
                                        <p:cTn id="42" dur="500"/>
                                        <p:tgtEl>
                                          <p:spTgt spid="23"/>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up)">
                                      <p:cBhvr>
                                        <p:cTn id="51" dur="500"/>
                                        <p:tgtEl>
                                          <p:spTgt spid="24"/>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dissolve">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up)">
                                      <p:cBhvr>
                                        <p:cTn id="61" dur="5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dissolve">
                                      <p:cBhvr>
                                        <p:cTn id="6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P spid="23" grpId="0" animBg="1"/>
      <p:bldP spid="24" grpId="0"/>
      <p:bldP spid="27" grpId="0"/>
      <p:bldP spid="3" grpId="0" animBg="1"/>
      <p:bldP spid="4"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upo 11"/>
          <p:cNvGrpSpPr>
            <a:grpSpLocks/>
          </p:cNvGrpSpPr>
          <p:nvPr/>
        </p:nvGrpSpPr>
        <p:grpSpPr bwMode="auto">
          <a:xfrm>
            <a:off x="1336331" y="858293"/>
            <a:ext cx="4305295" cy="4833935"/>
            <a:chOff x="1304405" y="510368"/>
            <a:chExt cx="4305294" cy="4833949"/>
          </a:xfrm>
        </p:grpSpPr>
        <p:sp>
          <p:nvSpPr>
            <p:cNvPr id="13323" name="Text Box 53"/>
            <p:cNvSpPr txBox="1">
              <a:spLocks noChangeArrowheads="1"/>
            </p:cNvSpPr>
            <p:nvPr/>
          </p:nvSpPr>
          <p:spPr bwMode="auto">
            <a:xfrm>
              <a:off x="1397834" y="1248626"/>
              <a:ext cx="4103101"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latin typeface="Arial" panose="020B0604020202020204" pitchFamily="34" charset="0"/>
                </a:rPr>
                <a:t>CÁTODO (+)</a:t>
              </a:r>
            </a:p>
          </p:txBody>
        </p:sp>
        <p:sp>
          <p:nvSpPr>
            <p:cNvPr id="13324" name="Text Box 54"/>
            <p:cNvSpPr txBox="1">
              <a:spLocks noChangeArrowheads="1"/>
            </p:cNvSpPr>
            <p:nvPr/>
          </p:nvSpPr>
          <p:spPr bwMode="auto">
            <a:xfrm>
              <a:off x="1397835" y="4745832"/>
              <a:ext cx="4103099"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a:latin typeface="Arial" panose="020B0604020202020204" pitchFamily="34" charset="0"/>
                </a:rPr>
                <a:t>ÁNODO (</a:t>
              </a:r>
              <a:r>
                <a:rPr lang="es-ES" sz="2400">
                  <a:latin typeface="Arial" panose="020B0604020202020204" pitchFamily="34" charset="0"/>
                  <a:sym typeface="Symbol" panose="05050102010706020507" pitchFamily="18" charset="2"/>
                </a:rPr>
                <a:t>)</a:t>
              </a:r>
            </a:p>
          </p:txBody>
        </p:sp>
        <p:sp>
          <p:nvSpPr>
            <p:cNvPr id="19489" name="Text Box 55"/>
            <p:cNvSpPr txBox="1">
              <a:spLocks noChangeArrowheads="1"/>
            </p:cNvSpPr>
            <p:nvPr/>
          </p:nvSpPr>
          <p:spPr bwMode="auto">
            <a:xfrm>
              <a:off x="1780341" y="2967281"/>
              <a:ext cx="3353420" cy="514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solidFill>
                    <a:srgbClr val="008000"/>
                  </a:solidFill>
                  <a:latin typeface="Arial" panose="020B0604020202020204" pitchFamily="34" charset="0"/>
                </a:rPr>
                <a:t>Disolución electrolítica</a:t>
              </a:r>
            </a:p>
          </p:txBody>
        </p:sp>
        <p:grpSp>
          <p:nvGrpSpPr>
            <p:cNvPr id="19490" name="Group 99"/>
            <p:cNvGrpSpPr>
              <a:grpSpLocks/>
            </p:cNvGrpSpPr>
            <p:nvPr/>
          </p:nvGrpSpPr>
          <p:grpSpPr bwMode="auto">
            <a:xfrm>
              <a:off x="1304405" y="510368"/>
              <a:ext cx="4305294" cy="4833949"/>
              <a:chOff x="-152" y="2447"/>
              <a:chExt cx="2712" cy="3045"/>
            </a:xfrm>
          </p:grpSpPr>
          <p:sp>
            <p:nvSpPr>
              <p:cNvPr id="19491" name="Rectangle 98"/>
              <p:cNvSpPr>
                <a:spLocks noChangeArrowheads="1"/>
              </p:cNvSpPr>
              <p:nvPr/>
            </p:nvSpPr>
            <p:spPr bwMode="auto">
              <a:xfrm>
                <a:off x="-152" y="2857"/>
                <a:ext cx="2712" cy="2635"/>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b="1"/>
              </a:p>
            </p:txBody>
          </p:sp>
          <p:sp>
            <p:nvSpPr>
              <p:cNvPr id="19492" name="Text Box 97"/>
              <p:cNvSpPr txBox="1">
                <a:spLocks noChangeArrowheads="1"/>
              </p:cNvSpPr>
              <p:nvPr/>
            </p:nvSpPr>
            <p:spPr bwMode="auto">
              <a:xfrm>
                <a:off x="811" y="2447"/>
                <a:ext cx="785" cy="324"/>
              </a:xfrm>
              <a:prstGeom prst="rect">
                <a:avLst/>
              </a:prstGeom>
              <a:solidFill>
                <a:schemeClr val="bg2">
                  <a:lumMod val="60000"/>
                  <a:lumOff val="40000"/>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rPr>
                  <a:t>CELDA</a:t>
                </a:r>
              </a:p>
            </p:txBody>
          </p:sp>
        </p:grpSp>
      </p:grpSp>
      <p:sp>
        <p:nvSpPr>
          <p:cNvPr id="19485" name="CuadroTexto 1"/>
          <p:cNvSpPr txBox="1">
            <a:spLocks noChangeArrowheads="1"/>
          </p:cNvSpPr>
          <p:nvPr/>
        </p:nvSpPr>
        <p:spPr bwMode="auto">
          <a:xfrm>
            <a:off x="5918355" y="3312436"/>
            <a:ext cx="4048606" cy="162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olidFill>
                  <a:srgbClr val="FF0000"/>
                </a:solidFill>
              </a:rPr>
              <a:t>Puede ser sólo un líquido (batería de coche), o formar parte de una pasta o impregnar un papel</a:t>
            </a:r>
          </a:p>
        </p:txBody>
      </p:sp>
      <p:cxnSp>
        <p:nvCxnSpPr>
          <p:cNvPr id="19486" name="Conector recto de flecha 4"/>
          <p:cNvCxnSpPr>
            <a:cxnSpLocks noChangeShapeType="1"/>
          </p:cNvCxnSpPr>
          <p:nvPr/>
        </p:nvCxnSpPr>
        <p:spPr bwMode="auto">
          <a:xfrm>
            <a:off x="5294932" y="3578362"/>
            <a:ext cx="597540" cy="11540"/>
          </a:xfrm>
          <a:prstGeom prst="straightConnector1">
            <a:avLst/>
          </a:prstGeom>
          <a:noFill/>
          <a:ln w="25400" algn="ctr">
            <a:solidFill>
              <a:srgbClr val="FF0000"/>
            </a:solidFill>
            <a:round/>
            <a:headEnd/>
            <a:tailEnd type="triangle" w="lg" len="lg"/>
          </a:ln>
          <a:extLst>
            <a:ext uri="{909E8E84-426E-40DD-AFC4-6F175D3DCCD1}">
              <a14:hiddenFill xmlns:a14="http://schemas.microsoft.com/office/drawing/2010/main">
                <a:noFill/>
              </a14:hiddenFill>
            </a:ext>
          </a:extLst>
        </p:spPr>
      </p:cxnSp>
      <p:grpSp>
        <p:nvGrpSpPr>
          <p:cNvPr id="14" name="Grupo 13"/>
          <p:cNvGrpSpPr>
            <a:grpSpLocks/>
          </p:cNvGrpSpPr>
          <p:nvPr/>
        </p:nvGrpSpPr>
        <p:grpSpPr bwMode="auto">
          <a:xfrm>
            <a:off x="5285101" y="1596547"/>
            <a:ext cx="3993982" cy="514738"/>
            <a:chOff x="5184695" y="3515282"/>
            <a:chExt cx="3994947" cy="514834"/>
          </a:xfrm>
        </p:grpSpPr>
        <p:sp>
          <p:nvSpPr>
            <p:cNvPr id="15" name="CuadroTexto 1"/>
            <p:cNvSpPr txBox="1">
              <a:spLocks noChangeArrowheads="1"/>
            </p:cNvSpPr>
            <p:nvPr/>
          </p:nvSpPr>
          <p:spPr bwMode="auto">
            <a:xfrm>
              <a:off x="5660748" y="3515282"/>
              <a:ext cx="3518894" cy="514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rgbClr val="FF0000"/>
                  </a:solidFill>
                </a:rPr>
                <a:t>Inicialmente es neutro</a:t>
              </a:r>
            </a:p>
          </p:txBody>
        </p:sp>
        <p:cxnSp>
          <p:nvCxnSpPr>
            <p:cNvPr id="16" name="Conector recto de flecha 4"/>
            <p:cNvCxnSpPr>
              <a:cxnSpLocks noChangeShapeType="1"/>
            </p:cNvCxnSpPr>
            <p:nvPr/>
          </p:nvCxnSpPr>
          <p:spPr bwMode="auto">
            <a:xfrm>
              <a:off x="5184695" y="3766065"/>
              <a:ext cx="597684" cy="11542"/>
            </a:xfrm>
            <a:prstGeom prst="straightConnector1">
              <a:avLst/>
            </a:prstGeom>
            <a:noFill/>
            <a:ln w="25400" algn="ctr">
              <a:solidFill>
                <a:srgbClr val="FF0000"/>
              </a:solidFill>
              <a:round/>
              <a:headEnd/>
              <a:tailEnd type="triangle" w="lg" len="lg"/>
            </a:ln>
            <a:extLst>
              <a:ext uri="{909E8E84-426E-40DD-AFC4-6F175D3DCCD1}">
                <a14:hiddenFill xmlns:a14="http://schemas.microsoft.com/office/drawing/2010/main">
                  <a:noFill/>
                </a14:hiddenFill>
              </a:ext>
            </a:extLst>
          </p:spPr>
        </p:cxnSp>
      </p:grpSp>
      <p:grpSp>
        <p:nvGrpSpPr>
          <p:cNvPr id="17" name="Grupo 16"/>
          <p:cNvGrpSpPr>
            <a:grpSpLocks/>
          </p:cNvGrpSpPr>
          <p:nvPr/>
        </p:nvGrpSpPr>
        <p:grpSpPr bwMode="auto">
          <a:xfrm>
            <a:off x="5285101" y="5114527"/>
            <a:ext cx="3993982" cy="514738"/>
            <a:chOff x="5184695" y="3515282"/>
            <a:chExt cx="3994947" cy="514834"/>
          </a:xfrm>
        </p:grpSpPr>
        <p:sp>
          <p:nvSpPr>
            <p:cNvPr id="18" name="CuadroTexto 1"/>
            <p:cNvSpPr txBox="1">
              <a:spLocks noChangeArrowheads="1"/>
            </p:cNvSpPr>
            <p:nvPr/>
          </p:nvSpPr>
          <p:spPr bwMode="auto">
            <a:xfrm>
              <a:off x="5660748" y="3515282"/>
              <a:ext cx="3518894" cy="514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rgbClr val="FF0000"/>
                  </a:solidFill>
                </a:rPr>
                <a:t>Inicialmente es neutro</a:t>
              </a:r>
            </a:p>
          </p:txBody>
        </p:sp>
        <p:cxnSp>
          <p:nvCxnSpPr>
            <p:cNvPr id="19" name="Conector recto de flecha 4"/>
            <p:cNvCxnSpPr>
              <a:cxnSpLocks noChangeShapeType="1"/>
            </p:cNvCxnSpPr>
            <p:nvPr/>
          </p:nvCxnSpPr>
          <p:spPr bwMode="auto">
            <a:xfrm>
              <a:off x="5184695" y="3766065"/>
              <a:ext cx="597684" cy="11542"/>
            </a:xfrm>
            <a:prstGeom prst="straightConnector1">
              <a:avLst/>
            </a:prstGeom>
            <a:noFill/>
            <a:ln w="25400" algn="ctr">
              <a:solidFill>
                <a:srgbClr val="FF0000"/>
              </a:solidFill>
              <a:round/>
              <a:headEnd/>
              <a:tailEnd type="triangle" w="lg" len="lg"/>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outVertic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par>
                                <p:cTn id="13" presetID="22" presetClass="entr" presetSubtype="8"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486"/>
                                        </p:tgtEl>
                                        <p:attrNameLst>
                                          <p:attrName>style.visibility</p:attrName>
                                        </p:attrNameLst>
                                      </p:cBhvr>
                                      <p:to>
                                        <p:strVal val="visible"/>
                                      </p:to>
                                    </p:set>
                                    <p:animEffect transition="in" filter="wipe(left)">
                                      <p:cBhvr>
                                        <p:cTn id="20" dur="500"/>
                                        <p:tgtEl>
                                          <p:spTgt spid="19486"/>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19485"/>
                                        </p:tgtEl>
                                        <p:attrNameLst>
                                          <p:attrName>style.visibility</p:attrName>
                                        </p:attrNameLst>
                                      </p:cBhvr>
                                      <p:to>
                                        <p:strVal val="visible"/>
                                      </p:to>
                                    </p:set>
                                    <p:animEffect transition="in" filter="wipe(up)">
                                      <p:cBhvr>
                                        <p:cTn id="24" dur="500"/>
                                        <p:tgtEl>
                                          <p:spTgt spid="19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60">
            <a:extLst>
              <a:ext uri="{FF2B5EF4-FFF2-40B4-BE49-F238E27FC236}">
                <a16:creationId xmlns:a16="http://schemas.microsoft.com/office/drawing/2014/main" id="{B555F72A-2C64-4EDE-9983-6BD055A352CB}"/>
              </a:ext>
            </a:extLst>
          </p:cNvPr>
          <p:cNvSpPr txBox="1">
            <a:spLocks noChangeArrowheads="1"/>
          </p:cNvSpPr>
          <p:nvPr/>
        </p:nvSpPr>
        <p:spPr bwMode="auto">
          <a:xfrm>
            <a:off x="4990454" y="104077"/>
            <a:ext cx="5707139" cy="1253402"/>
          </a:xfrm>
          <a:prstGeom prst="rect">
            <a:avLst/>
          </a:prstGeom>
          <a:solidFill>
            <a:srgbClr val="FFFF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latin typeface="Arial" panose="020B0604020202020204" pitchFamily="34" charset="0"/>
              </a:rPr>
              <a:t>Los cationes de la disolución cerca del </a:t>
            </a:r>
            <a:r>
              <a:rPr lang="es-ES" sz="2400">
                <a:latin typeface="Arial" panose="020B0604020202020204" pitchFamily="34" charset="0"/>
              </a:rPr>
              <a:t>cátodo participan en reacciones en que toman </a:t>
            </a:r>
            <a:r>
              <a:rPr lang="es-ES" sz="2400" dirty="0">
                <a:latin typeface="Arial" panose="020B0604020202020204" pitchFamily="34" charset="0"/>
              </a:rPr>
              <a:t>un e</a:t>
            </a:r>
            <a:r>
              <a:rPr lang="es-ES" sz="2400" baseline="30000" dirty="0">
                <a:latin typeface="Arial" panose="020B0604020202020204" pitchFamily="34" charset="0"/>
                <a:sym typeface="Symbol" panose="05050102010706020507" pitchFamily="18" charset="2"/>
              </a:rPr>
              <a:t> </a:t>
            </a:r>
            <a:r>
              <a:rPr lang="es-ES" sz="2400" dirty="0">
                <a:latin typeface="Arial" panose="020B0604020202020204" pitchFamily="34" charset="0"/>
                <a:sym typeface="Symbol" panose="05050102010706020507" pitchFamily="18" charset="2"/>
              </a:rPr>
              <a:t>del cátodo y se neutralizan</a:t>
            </a:r>
            <a:endParaRPr lang="es-ES" sz="2400" dirty="0">
              <a:solidFill>
                <a:srgbClr val="FF0000"/>
              </a:solidFill>
              <a:latin typeface="Arial" panose="020B0604020202020204" pitchFamily="34" charset="0"/>
            </a:endParaRPr>
          </a:p>
        </p:txBody>
      </p:sp>
      <p:sp>
        <p:nvSpPr>
          <p:cNvPr id="22" name="Text Box 60">
            <a:extLst>
              <a:ext uri="{FF2B5EF4-FFF2-40B4-BE49-F238E27FC236}">
                <a16:creationId xmlns:a16="http://schemas.microsoft.com/office/drawing/2014/main" id="{1B7BA08F-9FDE-4556-9086-AB0C605A19BF}"/>
              </a:ext>
            </a:extLst>
          </p:cNvPr>
          <p:cNvSpPr txBox="1">
            <a:spLocks noChangeArrowheads="1"/>
          </p:cNvSpPr>
          <p:nvPr/>
        </p:nvSpPr>
        <p:spPr bwMode="auto">
          <a:xfrm>
            <a:off x="6233179" y="2062728"/>
            <a:ext cx="4047304" cy="514738"/>
          </a:xfrm>
          <a:prstGeom prst="rect">
            <a:avLst/>
          </a:prstGeom>
          <a:no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latin typeface="Arial" panose="020B0604020202020204" pitchFamily="34" charset="0"/>
                <a:sym typeface="Symbol" panose="05050102010706020507" pitchFamily="18" charset="2"/>
              </a:rPr>
              <a:t> </a:t>
            </a:r>
            <a:r>
              <a:rPr lang="es-ES" sz="2400" dirty="0">
                <a:solidFill>
                  <a:srgbClr val="FF0000"/>
                </a:solidFill>
                <a:latin typeface="Arial" panose="020B0604020202020204" pitchFamily="34" charset="0"/>
                <a:sym typeface="Symbol" panose="05050102010706020507" pitchFamily="18" charset="2"/>
              </a:rPr>
              <a:t>(por esto es el electrodo +)</a:t>
            </a:r>
            <a:endParaRPr lang="es-ES" sz="2400" dirty="0">
              <a:solidFill>
                <a:srgbClr val="FF0000"/>
              </a:solidFill>
              <a:latin typeface="Arial" panose="020B0604020202020204" pitchFamily="34" charset="0"/>
            </a:endParaRPr>
          </a:p>
        </p:txBody>
      </p:sp>
      <p:sp>
        <p:nvSpPr>
          <p:cNvPr id="23" name="Text Box 61">
            <a:extLst>
              <a:ext uri="{FF2B5EF4-FFF2-40B4-BE49-F238E27FC236}">
                <a16:creationId xmlns:a16="http://schemas.microsoft.com/office/drawing/2014/main" id="{46004715-DA10-41BD-88D0-6D5B81C289DB}"/>
              </a:ext>
            </a:extLst>
          </p:cNvPr>
          <p:cNvSpPr txBox="1">
            <a:spLocks noChangeArrowheads="1"/>
          </p:cNvSpPr>
          <p:nvPr/>
        </p:nvSpPr>
        <p:spPr bwMode="auto">
          <a:xfrm>
            <a:off x="6121291" y="3380072"/>
            <a:ext cx="4576302" cy="1622734"/>
          </a:xfrm>
          <a:prstGeom prst="rect">
            <a:avLst/>
          </a:prstGeom>
          <a:solidFill>
            <a:srgbClr val="FFFF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latin typeface="Arial" panose="020B0604020202020204" pitchFamily="34" charset="0"/>
              </a:rPr>
              <a:t>Los aniones de la disolución cerca del </a:t>
            </a:r>
            <a:r>
              <a:rPr lang="es-ES" sz="2400">
                <a:latin typeface="Arial" panose="020B0604020202020204" pitchFamily="34" charset="0"/>
              </a:rPr>
              <a:t>ánodo participan en reacciones  en que ceden </a:t>
            </a:r>
            <a:r>
              <a:rPr lang="es-ES" sz="2400" dirty="0">
                <a:latin typeface="Arial" panose="020B0604020202020204" pitchFamily="34" charset="0"/>
              </a:rPr>
              <a:t>un e</a:t>
            </a:r>
            <a:r>
              <a:rPr lang="es-ES" sz="2400" baseline="30000" dirty="0">
                <a:latin typeface="Arial" panose="020B0604020202020204" pitchFamily="34" charset="0"/>
                <a:sym typeface="Symbol" panose="05050102010706020507" pitchFamily="18" charset="2"/>
              </a:rPr>
              <a:t></a:t>
            </a:r>
          </a:p>
          <a:p>
            <a:pPr algn="ctr" eaLnBrk="1" hangingPunct="1">
              <a:spcBef>
                <a:spcPct val="0"/>
              </a:spcBef>
              <a:buFontTx/>
              <a:buNone/>
            </a:pPr>
            <a:r>
              <a:rPr lang="es-ES" sz="2400" dirty="0">
                <a:latin typeface="Arial" panose="020B0604020202020204" pitchFamily="34" charset="0"/>
                <a:sym typeface="Symbol" panose="05050102010706020507" pitchFamily="18" charset="2"/>
              </a:rPr>
              <a:t>al ánodo y se neutralizan</a:t>
            </a:r>
            <a:endParaRPr lang="es-ES" sz="2400" dirty="0">
              <a:solidFill>
                <a:srgbClr val="FF0000"/>
              </a:solidFill>
              <a:latin typeface="Arial" panose="020B0604020202020204" pitchFamily="34" charset="0"/>
            </a:endParaRPr>
          </a:p>
        </p:txBody>
      </p:sp>
      <p:sp>
        <p:nvSpPr>
          <p:cNvPr id="25" name="Text Box 61">
            <a:extLst>
              <a:ext uri="{FF2B5EF4-FFF2-40B4-BE49-F238E27FC236}">
                <a16:creationId xmlns:a16="http://schemas.microsoft.com/office/drawing/2014/main" id="{C589BDE7-0D45-4B2E-AE3E-44FA5BE50183}"/>
              </a:ext>
            </a:extLst>
          </p:cNvPr>
          <p:cNvSpPr txBox="1">
            <a:spLocks noChangeArrowheads="1"/>
          </p:cNvSpPr>
          <p:nvPr/>
        </p:nvSpPr>
        <p:spPr bwMode="auto">
          <a:xfrm>
            <a:off x="6214130" y="5528857"/>
            <a:ext cx="4047303" cy="514738"/>
          </a:xfrm>
          <a:prstGeom prst="rect">
            <a:avLst/>
          </a:prstGeom>
          <a:no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latin typeface="Arial" panose="020B0604020202020204" pitchFamily="34" charset="0"/>
                <a:sym typeface="Symbol" panose="05050102010706020507" pitchFamily="18" charset="2"/>
              </a:rPr>
              <a:t> </a:t>
            </a:r>
            <a:r>
              <a:rPr lang="es-ES" sz="2400" dirty="0">
                <a:solidFill>
                  <a:srgbClr val="FF0000"/>
                </a:solidFill>
                <a:latin typeface="Arial" panose="020B0604020202020204" pitchFamily="34" charset="0"/>
                <a:sym typeface="Symbol" panose="05050102010706020507" pitchFamily="18" charset="2"/>
              </a:rPr>
              <a:t>(por esto es el electrodo -)</a:t>
            </a:r>
            <a:endParaRPr lang="es-ES" sz="2400" dirty="0">
              <a:solidFill>
                <a:srgbClr val="FF0000"/>
              </a:solidFill>
              <a:latin typeface="Arial" panose="020B0604020202020204" pitchFamily="34" charset="0"/>
            </a:endParaRPr>
          </a:p>
        </p:txBody>
      </p:sp>
      <p:sp>
        <p:nvSpPr>
          <p:cNvPr id="26" name="Text Box 103">
            <a:extLst>
              <a:ext uri="{FF2B5EF4-FFF2-40B4-BE49-F238E27FC236}">
                <a16:creationId xmlns:a16="http://schemas.microsoft.com/office/drawing/2014/main" id="{1C048368-E40C-48FC-A23D-E26FE8616107}"/>
              </a:ext>
            </a:extLst>
          </p:cNvPr>
          <p:cNvSpPr txBox="1">
            <a:spLocks noChangeArrowheads="1"/>
          </p:cNvSpPr>
          <p:nvPr/>
        </p:nvSpPr>
        <p:spPr bwMode="auto">
          <a:xfrm>
            <a:off x="6125857" y="1597795"/>
            <a:ext cx="4261949" cy="514738"/>
          </a:xfrm>
          <a:prstGeom prst="rect">
            <a:avLst/>
          </a:prstGeom>
          <a:solidFill>
            <a:srgbClr val="FFFF00"/>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latin typeface="Arial" panose="020B0604020202020204" pitchFamily="34" charset="0"/>
                <a:sym typeface="Symbol" panose="05050102010706020507" pitchFamily="18" charset="2"/>
              </a:rPr>
              <a:t>El cátodo va adquiriendo </a:t>
            </a:r>
            <a:r>
              <a:rPr lang="es-ES" sz="2400" dirty="0">
                <a:latin typeface="Arial" panose="020B0604020202020204" pitchFamily="34" charset="0"/>
              </a:rPr>
              <a:t>Q</a:t>
            </a:r>
            <a:r>
              <a:rPr lang="es-ES" sz="2400" baseline="30000" dirty="0">
                <a:latin typeface="Arial" panose="020B0604020202020204" pitchFamily="34" charset="0"/>
              </a:rPr>
              <a:t>+</a:t>
            </a:r>
          </a:p>
        </p:txBody>
      </p:sp>
      <p:sp>
        <p:nvSpPr>
          <p:cNvPr id="27" name="Text Box 104">
            <a:extLst>
              <a:ext uri="{FF2B5EF4-FFF2-40B4-BE49-F238E27FC236}">
                <a16:creationId xmlns:a16="http://schemas.microsoft.com/office/drawing/2014/main" id="{557D6C7A-1433-4463-9F04-6AF3767B30AA}"/>
              </a:ext>
            </a:extLst>
          </p:cNvPr>
          <p:cNvSpPr txBox="1">
            <a:spLocks noChangeArrowheads="1"/>
          </p:cNvSpPr>
          <p:nvPr/>
        </p:nvSpPr>
        <p:spPr bwMode="auto">
          <a:xfrm>
            <a:off x="6111980" y="5103115"/>
            <a:ext cx="4251603" cy="514738"/>
          </a:xfrm>
          <a:prstGeom prst="rect">
            <a:avLst/>
          </a:prstGeom>
          <a:solidFill>
            <a:srgbClr val="FFFF00"/>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latin typeface="Arial" panose="020B0604020202020204" pitchFamily="34" charset="0"/>
                <a:sym typeface="Symbol" panose="05050102010706020507" pitchFamily="18" charset="2"/>
              </a:rPr>
              <a:t>El ánodo va adquiriendo  </a:t>
            </a:r>
            <a:r>
              <a:rPr lang="es-ES" sz="2400" dirty="0">
                <a:solidFill>
                  <a:srgbClr val="000000"/>
                </a:solidFill>
                <a:latin typeface="Arial" panose="020B0604020202020204" pitchFamily="34" charset="0"/>
              </a:rPr>
              <a:t>Q</a:t>
            </a:r>
            <a:r>
              <a:rPr lang="es-ES" sz="2400" baseline="30000" dirty="0">
                <a:solidFill>
                  <a:srgbClr val="000000"/>
                </a:solidFill>
                <a:latin typeface="Arial" panose="020B0604020202020204" pitchFamily="34" charset="0"/>
                <a:sym typeface="Symbol" panose="05050102010706020507" pitchFamily="18" charset="2"/>
              </a:rPr>
              <a:t></a:t>
            </a:r>
          </a:p>
        </p:txBody>
      </p:sp>
      <p:sp>
        <p:nvSpPr>
          <p:cNvPr id="28" name="Text Box 56">
            <a:extLst>
              <a:ext uri="{FF2B5EF4-FFF2-40B4-BE49-F238E27FC236}">
                <a16:creationId xmlns:a16="http://schemas.microsoft.com/office/drawing/2014/main" id="{D5AF5EA1-5A48-4E81-9D45-9EF7BEAF54C7}"/>
              </a:ext>
            </a:extLst>
          </p:cNvPr>
          <p:cNvSpPr txBox="1">
            <a:spLocks noChangeArrowheads="1"/>
          </p:cNvSpPr>
          <p:nvPr/>
        </p:nvSpPr>
        <p:spPr bwMode="auto">
          <a:xfrm>
            <a:off x="1991289" y="2123260"/>
            <a:ext cx="2980043" cy="884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3333FF"/>
                </a:solidFill>
                <a:latin typeface="Arial" panose="020B0604020202020204" pitchFamily="34" charset="0"/>
              </a:rPr>
              <a:t>Se pierden cationes cerca del cátodo</a:t>
            </a:r>
          </a:p>
        </p:txBody>
      </p:sp>
      <p:sp>
        <p:nvSpPr>
          <p:cNvPr id="29" name="Text Box 56">
            <a:extLst>
              <a:ext uri="{FF2B5EF4-FFF2-40B4-BE49-F238E27FC236}">
                <a16:creationId xmlns:a16="http://schemas.microsoft.com/office/drawing/2014/main" id="{E3DAB0A3-9BE8-4730-BACF-39C785CC966A}"/>
              </a:ext>
            </a:extLst>
          </p:cNvPr>
          <p:cNvSpPr txBox="1">
            <a:spLocks noChangeArrowheads="1"/>
          </p:cNvSpPr>
          <p:nvPr/>
        </p:nvSpPr>
        <p:spPr bwMode="auto">
          <a:xfrm>
            <a:off x="1895280" y="4196266"/>
            <a:ext cx="3086100" cy="884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rPr>
              <a:t>Se pierden aniones cerca del ánodo</a:t>
            </a:r>
          </a:p>
        </p:txBody>
      </p:sp>
      <p:sp>
        <p:nvSpPr>
          <p:cNvPr id="30" name="Text Box 64">
            <a:extLst>
              <a:ext uri="{FF2B5EF4-FFF2-40B4-BE49-F238E27FC236}">
                <a16:creationId xmlns:a16="http://schemas.microsoft.com/office/drawing/2014/main" id="{09DC7417-F4AE-46E7-8083-C63A329504A4}"/>
              </a:ext>
            </a:extLst>
          </p:cNvPr>
          <p:cNvSpPr txBox="1">
            <a:spLocks noChangeArrowheads="1"/>
          </p:cNvSpPr>
          <p:nvPr/>
        </p:nvSpPr>
        <p:spPr bwMode="auto">
          <a:xfrm>
            <a:off x="4356594" y="6156284"/>
            <a:ext cx="1581795" cy="62283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Q</a:t>
            </a:r>
            <a:r>
              <a:rPr lang="es-ES" sz="2400" baseline="30000">
                <a:latin typeface="Arial" panose="020B0604020202020204" pitchFamily="34" charset="0"/>
              </a:rPr>
              <a:t>+</a:t>
            </a:r>
            <a:r>
              <a:rPr lang="es-ES" sz="2400">
                <a:latin typeface="Arial" panose="020B0604020202020204" pitchFamily="34" charset="0"/>
              </a:rPr>
              <a:t> = |</a:t>
            </a:r>
            <a:r>
              <a:rPr lang="es-ES" sz="2400">
                <a:latin typeface="Arial" panose="020B0604020202020204" pitchFamily="34" charset="0"/>
                <a:sym typeface="Symbol" panose="05050102010706020507" pitchFamily="18" charset="2"/>
              </a:rPr>
              <a:t>Q</a:t>
            </a:r>
            <a:r>
              <a:rPr lang="es-ES" sz="2400" baseline="30000">
                <a:latin typeface="Arial" panose="020B0604020202020204" pitchFamily="34" charset="0"/>
                <a:sym typeface="Symbol" panose="05050102010706020507" pitchFamily="18" charset="2"/>
              </a:rPr>
              <a:t></a:t>
            </a:r>
            <a:r>
              <a:rPr lang="es-ES" sz="2400">
                <a:latin typeface="Arial" panose="020B0604020202020204" pitchFamily="34" charset="0"/>
                <a:sym typeface="Symbol" panose="05050102010706020507" pitchFamily="18" charset="2"/>
              </a:rPr>
              <a:t>|</a:t>
            </a:r>
          </a:p>
        </p:txBody>
      </p:sp>
      <p:sp>
        <p:nvSpPr>
          <p:cNvPr id="31" name="Text Box 60">
            <a:extLst>
              <a:ext uri="{FF2B5EF4-FFF2-40B4-BE49-F238E27FC236}">
                <a16:creationId xmlns:a16="http://schemas.microsoft.com/office/drawing/2014/main" id="{39F50541-9DF8-4C37-8787-F595DA76B30C}"/>
              </a:ext>
            </a:extLst>
          </p:cNvPr>
          <p:cNvSpPr txBox="1">
            <a:spLocks noChangeArrowheads="1"/>
          </p:cNvSpPr>
          <p:nvPr/>
        </p:nvSpPr>
        <p:spPr bwMode="auto">
          <a:xfrm>
            <a:off x="1691821" y="6239519"/>
            <a:ext cx="2679995" cy="514738"/>
          </a:xfrm>
          <a:prstGeom prst="rect">
            <a:avLst/>
          </a:prstGeom>
          <a:no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latin typeface="Arial" panose="020B0604020202020204" pitchFamily="34" charset="0"/>
                <a:sym typeface="Symbol" panose="05050102010706020507" pitchFamily="18" charset="2"/>
              </a:rPr>
              <a:t> Se verifica que:</a:t>
            </a:r>
            <a:endParaRPr lang="es-ES" sz="2400" dirty="0">
              <a:latin typeface="Arial" panose="020B0604020202020204" pitchFamily="34" charset="0"/>
            </a:endParaRPr>
          </a:p>
        </p:txBody>
      </p:sp>
      <p:grpSp>
        <p:nvGrpSpPr>
          <p:cNvPr id="19" name="Grupo 18">
            <a:extLst>
              <a:ext uri="{FF2B5EF4-FFF2-40B4-BE49-F238E27FC236}">
                <a16:creationId xmlns:a16="http://schemas.microsoft.com/office/drawing/2014/main" id="{622DBE08-5364-4E44-91E8-2C55DFCA650D}"/>
              </a:ext>
            </a:extLst>
          </p:cNvPr>
          <p:cNvGrpSpPr>
            <a:grpSpLocks/>
          </p:cNvGrpSpPr>
          <p:nvPr/>
        </p:nvGrpSpPr>
        <p:grpSpPr bwMode="auto">
          <a:xfrm>
            <a:off x="1336331" y="858293"/>
            <a:ext cx="4305295" cy="4833935"/>
            <a:chOff x="1304405" y="510368"/>
            <a:chExt cx="4305294" cy="4833949"/>
          </a:xfrm>
        </p:grpSpPr>
        <p:sp>
          <p:nvSpPr>
            <p:cNvPr id="21" name="Text Box 53">
              <a:extLst>
                <a:ext uri="{FF2B5EF4-FFF2-40B4-BE49-F238E27FC236}">
                  <a16:creationId xmlns:a16="http://schemas.microsoft.com/office/drawing/2014/main" id="{0AB096A1-9A93-47C1-B981-115EFD661865}"/>
                </a:ext>
              </a:extLst>
            </p:cNvPr>
            <p:cNvSpPr txBox="1">
              <a:spLocks noChangeArrowheads="1"/>
            </p:cNvSpPr>
            <p:nvPr/>
          </p:nvSpPr>
          <p:spPr bwMode="auto">
            <a:xfrm>
              <a:off x="1397834" y="1248626"/>
              <a:ext cx="4103101"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latin typeface="Arial" panose="020B0604020202020204" pitchFamily="34" charset="0"/>
                </a:rPr>
                <a:t>CÁTODO (+)</a:t>
              </a:r>
            </a:p>
          </p:txBody>
        </p:sp>
        <p:sp>
          <p:nvSpPr>
            <p:cNvPr id="24" name="Text Box 54">
              <a:extLst>
                <a:ext uri="{FF2B5EF4-FFF2-40B4-BE49-F238E27FC236}">
                  <a16:creationId xmlns:a16="http://schemas.microsoft.com/office/drawing/2014/main" id="{B8D01DE6-EBDB-4DA1-AA64-8989A479318D}"/>
                </a:ext>
              </a:extLst>
            </p:cNvPr>
            <p:cNvSpPr txBox="1">
              <a:spLocks noChangeArrowheads="1"/>
            </p:cNvSpPr>
            <p:nvPr/>
          </p:nvSpPr>
          <p:spPr bwMode="auto">
            <a:xfrm>
              <a:off x="1397835" y="4745832"/>
              <a:ext cx="4103099"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a:latin typeface="Arial" panose="020B0604020202020204" pitchFamily="34" charset="0"/>
                </a:rPr>
                <a:t>ÁNODO (</a:t>
              </a:r>
              <a:r>
                <a:rPr lang="es-ES" sz="2400">
                  <a:latin typeface="Arial" panose="020B0604020202020204" pitchFamily="34" charset="0"/>
                  <a:sym typeface="Symbol" panose="05050102010706020507" pitchFamily="18" charset="2"/>
                </a:rPr>
                <a:t>)</a:t>
              </a:r>
            </a:p>
          </p:txBody>
        </p:sp>
        <p:sp>
          <p:nvSpPr>
            <p:cNvPr id="32" name="Text Box 55">
              <a:extLst>
                <a:ext uri="{FF2B5EF4-FFF2-40B4-BE49-F238E27FC236}">
                  <a16:creationId xmlns:a16="http://schemas.microsoft.com/office/drawing/2014/main" id="{566DBF26-5C1D-48F9-B275-A237F0327383}"/>
                </a:ext>
              </a:extLst>
            </p:cNvPr>
            <p:cNvSpPr txBox="1">
              <a:spLocks noChangeArrowheads="1"/>
            </p:cNvSpPr>
            <p:nvPr/>
          </p:nvSpPr>
          <p:spPr bwMode="auto">
            <a:xfrm>
              <a:off x="1780341" y="2967281"/>
              <a:ext cx="3353420" cy="514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solidFill>
                    <a:srgbClr val="008000"/>
                  </a:solidFill>
                  <a:latin typeface="Arial" panose="020B0604020202020204" pitchFamily="34" charset="0"/>
                </a:rPr>
                <a:t>Disolución electrolítica</a:t>
              </a:r>
            </a:p>
          </p:txBody>
        </p:sp>
        <p:grpSp>
          <p:nvGrpSpPr>
            <p:cNvPr id="33" name="Group 99">
              <a:extLst>
                <a:ext uri="{FF2B5EF4-FFF2-40B4-BE49-F238E27FC236}">
                  <a16:creationId xmlns:a16="http://schemas.microsoft.com/office/drawing/2014/main" id="{5CEAF259-8658-4652-B02E-853172EE53C9}"/>
                </a:ext>
              </a:extLst>
            </p:cNvPr>
            <p:cNvGrpSpPr>
              <a:grpSpLocks/>
            </p:cNvGrpSpPr>
            <p:nvPr/>
          </p:nvGrpSpPr>
          <p:grpSpPr bwMode="auto">
            <a:xfrm>
              <a:off x="1304405" y="510368"/>
              <a:ext cx="4305294" cy="4833949"/>
              <a:chOff x="-152" y="2447"/>
              <a:chExt cx="2712" cy="3045"/>
            </a:xfrm>
          </p:grpSpPr>
          <p:sp>
            <p:nvSpPr>
              <p:cNvPr id="34" name="Rectangle 98">
                <a:extLst>
                  <a:ext uri="{FF2B5EF4-FFF2-40B4-BE49-F238E27FC236}">
                    <a16:creationId xmlns:a16="http://schemas.microsoft.com/office/drawing/2014/main" id="{350FD676-D159-41C4-86E1-F7FA11CED2CD}"/>
                  </a:ext>
                </a:extLst>
              </p:cNvPr>
              <p:cNvSpPr>
                <a:spLocks noChangeArrowheads="1"/>
              </p:cNvSpPr>
              <p:nvPr/>
            </p:nvSpPr>
            <p:spPr bwMode="auto">
              <a:xfrm>
                <a:off x="-152" y="2857"/>
                <a:ext cx="2712" cy="2635"/>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b="1"/>
              </a:p>
            </p:txBody>
          </p:sp>
          <p:sp>
            <p:nvSpPr>
              <p:cNvPr id="35" name="Text Box 97">
                <a:extLst>
                  <a:ext uri="{FF2B5EF4-FFF2-40B4-BE49-F238E27FC236}">
                    <a16:creationId xmlns:a16="http://schemas.microsoft.com/office/drawing/2014/main" id="{5B89410C-CDAE-4272-ADBB-F9368E9F3E5D}"/>
                  </a:ext>
                </a:extLst>
              </p:cNvPr>
              <p:cNvSpPr txBox="1">
                <a:spLocks noChangeArrowheads="1"/>
              </p:cNvSpPr>
              <p:nvPr/>
            </p:nvSpPr>
            <p:spPr bwMode="auto">
              <a:xfrm>
                <a:off x="811" y="2447"/>
                <a:ext cx="785" cy="324"/>
              </a:xfrm>
              <a:prstGeom prst="rect">
                <a:avLst/>
              </a:prstGeom>
              <a:solidFill>
                <a:schemeClr val="bg2">
                  <a:lumMod val="60000"/>
                  <a:lumOff val="40000"/>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rPr>
                  <a:t>CELDA</a:t>
                </a:r>
              </a:p>
            </p:txBody>
          </p:sp>
        </p:grpSp>
      </p:grpSp>
      <p:sp>
        <p:nvSpPr>
          <p:cNvPr id="2" name="Text Box 67">
            <a:extLst>
              <a:ext uri="{FF2B5EF4-FFF2-40B4-BE49-F238E27FC236}">
                <a16:creationId xmlns:a16="http://schemas.microsoft.com/office/drawing/2014/main" id="{4818AE3A-6FB7-42E3-9386-79E0F7E305FB}"/>
              </a:ext>
            </a:extLst>
          </p:cNvPr>
          <p:cNvSpPr txBox="1">
            <a:spLocks noChangeArrowheads="1"/>
          </p:cNvSpPr>
          <p:nvPr/>
        </p:nvSpPr>
        <p:spPr bwMode="auto">
          <a:xfrm>
            <a:off x="4854547" y="1646452"/>
            <a:ext cx="540830"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rPr>
              <a:t>+</a:t>
            </a:r>
          </a:p>
        </p:txBody>
      </p:sp>
      <p:sp>
        <p:nvSpPr>
          <p:cNvPr id="3" name="Text Box 68">
            <a:extLst>
              <a:ext uri="{FF2B5EF4-FFF2-40B4-BE49-F238E27FC236}">
                <a16:creationId xmlns:a16="http://schemas.microsoft.com/office/drawing/2014/main" id="{C5C31867-38E3-4BB1-9158-7D5E33EEB689}"/>
              </a:ext>
            </a:extLst>
          </p:cNvPr>
          <p:cNvSpPr txBox="1">
            <a:spLocks noChangeArrowheads="1"/>
          </p:cNvSpPr>
          <p:nvPr/>
        </p:nvSpPr>
        <p:spPr bwMode="auto">
          <a:xfrm>
            <a:off x="4878777" y="5131369"/>
            <a:ext cx="532816"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46904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up)">
                                      <p:cBhvr>
                                        <p:cTn id="12" dur="500"/>
                                        <p:tgtEl>
                                          <p:spTgt spid="26"/>
                                        </p:tgtEl>
                                      </p:cBhvr>
                                    </p:animEffect>
                                  </p:childTnLst>
                                </p:cTn>
                              </p:par>
                              <p:par>
                                <p:cTn id="13" presetID="23" presetClass="entr" presetSubtype="272"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strVal val="2/3*#ppt_w"/>
                                          </p:val>
                                        </p:tav>
                                        <p:tav tm="100000">
                                          <p:val>
                                            <p:strVal val="#ppt_w"/>
                                          </p:val>
                                        </p:tav>
                                      </p:tavLst>
                                    </p:anim>
                                    <p:anim calcmode="lin" valueType="num">
                                      <p:cBhvr>
                                        <p:cTn id="16" dur="500" fill="hold"/>
                                        <p:tgtEl>
                                          <p:spTgt spid="2"/>
                                        </p:tgtEl>
                                        <p:attrNameLst>
                                          <p:attrName>ppt_h</p:attrName>
                                        </p:attrNameLst>
                                      </p:cBhvr>
                                      <p:tavLst>
                                        <p:tav tm="0">
                                          <p:val>
                                            <p:strVal val="2/3*#ppt_h"/>
                                          </p:val>
                                        </p:tav>
                                        <p:tav tm="100000">
                                          <p:val>
                                            <p:strVal val="#ppt_h"/>
                                          </p:val>
                                        </p:tav>
                                      </p:tavLst>
                                    </p:anim>
                                  </p:childTnLst>
                                </p:cTn>
                              </p:par>
                            </p:childTnLst>
                          </p:cTn>
                        </p:par>
                        <p:par>
                          <p:cTn id="17" fill="hold">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500"/>
                                        <p:tgtEl>
                                          <p:spTgt spid="22"/>
                                        </p:tgtEl>
                                        <p:attrNameLst>
                                          <p:attrName>ppt_y</p:attrName>
                                        </p:attrNameLst>
                                      </p:cBhvr>
                                      <p:tavLst>
                                        <p:tav tm="0">
                                          <p:val>
                                            <p:strVal val="#ppt_y+#ppt_h*1.125000"/>
                                          </p:val>
                                        </p:tav>
                                        <p:tav tm="100000">
                                          <p:val>
                                            <p:strVal val="#ppt_y"/>
                                          </p:val>
                                        </p:tav>
                                      </p:tavLst>
                                    </p:anim>
                                    <p:animEffect transition="in" filter="wipe(up)">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up)">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up)">
                                      <p:cBhvr>
                                        <p:cTn id="31" dur="500"/>
                                        <p:tgtEl>
                                          <p:spTgt spid="27"/>
                                        </p:tgtEl>
                                      </p:cBhvr>
                                    </p:animEffect>
                                  </p:childTnLst>
                                </p:cTn>
                              </p:par>
                              <p:par>
                                <p:cTn id="32" presetID="23" presetClass="entr" presetSubtype="272"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ppt_w</p:attrName>
                                        </p:attrNameLst>
                                      </p:cBhvr>
                                      <p:tavLst>
                                        <p:tav tm="0">
                                          <p:val>
                                            <p:strVal val="2/3*#ppt_w"/>
                                          </p:val>
                                        </p:tav>
                                        <p:tav tm="100000">
                                          <p:val>
                                            <p:strVal val="#ppt_w"/>
                                          </p:val>
                                        </p:tav>
                                      </p:tavLst>
                                    </p:anim>
                                    <p:anim calcmode="lin" valueType="num">
                                      <p:cBhvr>
                                        <p:cTn id="35" dur="500" fill="hold"/>
                                        <p:tgtEl>
                                          <p:spTgt spid="3"/>
                                        </p:tgtEl>
                                        <p:attrNameLst>
                                          <p:attrName>ppt_h</p:attrName>
                                        </p:attrNameLst>
                                      </p:cBhvr>
                                      <p:tavLst>
                                        <p:tav tm="0">
                                          <p:val>
                                            <p:strVal val="2/3*#ppt_h"/>
                                          </p:val>
                                        </p:tav>
                                        <p:tav tm="100000">
                                          <p:val>
                                            <p:strVal val="#ppt_h"/>
                                          </p:val>
                                        </p:tav>
                                      </p:tavLst>
                                    </p:anim>
                                  </p:childTnLst>
                                </p:cTn>
                              </p:par>
                            </p:childTnLst>
                          </p:cTn>
                        </p:par>
                        <p:par>
                          <p:cTn id="36" fill="hold">
                            <p:stCondLst>
                              <p:cond delay="500"/>
                            </p:stCondLst>
                            <p:childTnLst>
                              <p:par>
                                <p:cTn id="37" presetID="12" presetClass="entr" presetSubtype="4"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p:tgtEl>
                                          <p:spTgt spid="25"/>
                                        </p:tgtEl>
                                        <p:attrNameLst>
                                          <p:attrName>ppt_y</p:attrName>
                                        </p:attrNameLst>
                                      </p:cBhvr>
                                      <p:tavLst>
                                        <p:tav tm="0">
                                          <p:val>
                                            <p:strVal val="#ppt_y+#ppt_h*1.125000"/>
                                          </p:val>
                                        </p:tav>
                                        <p:tav tm="100000">
                                          <p:val>
                                            <p:strVal val="#ppt_y"/>
                                          </p:val>
                                        </p:tav>
                                      </p:tavLst>
                                    </p:anim>
                                    <p:animEffect transition="in" filter="wipe(up)">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left)">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23" presetClass="entr" presetSubtype="272"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strVal val="2/3*#ppt_w"/>
                                          </p:val>
                                        </p:tav>
                                        <p:tav tm="100000">
                                          <p:val>
                                            <p:strVal val="#ppt_w"/>
                                          </p:val>
                                        </p:tav>
                                      </p:tavLst>
                                    </p:anim>
                                    <p:anim calcmode="lin" valueType="num">
                                      <p:cBhvr>
                                        <p:cTn id="51" dur="500" fill="hold"/>
                                        <p:tgtEl>
                                          <p:spTgt spid="30"/>
                                        </p:tgtEl>
                                        <p:attrNameLst>
                                          <p:attrName>ppt_h</p:attrName>
                                        </p:attrNameLst>
                                      </p:cBhvr>
                                      <p:tavLst>
                                        <p:tav tm="0">
                                          <p:val>
                                            <p:strVal val="2/3*#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23" presetClass="entr" presetSubtype="272" fill="hold" grpId="0" nodeType="clickEffect">
                                  <p:stCondLst>
                                    <p:cond delay="0"/>
                                  </p:stCondLst>
                                  <p:childTnLst>
                                    <p:set>
                                      <p:cBhvr>
                                        <p:cTn id="55" dur="1" fill="hold">
                                          <p:stCondLst>
                                            <p:cond delay="0"/>
                                          </p:stCondLst>
                                        </p:cTn>
                                        <p:tgtEl>
                                          <p:spTgt spid="28"/>
                                        </p:tgtEl>
                                        <p:attrNameLst>
                                          <p:attrName>style.visibility</p:attrName>
                                        </p:attrNameLst>
                                      </p:cBhvr>
                                      <p:to>
                                        <p:strVal val="visible"/>
                                      </p:to>
                                    </p:set>
                                    <p:anim calcmode="lin" valueType="num">
                                      <p:cBhvr>
                                        <p:cTn id="56" dur="500" fill="hold"/>
                                        <p:tgtEl>
                                          <p:spTgt spid="28"/>
                                        </p:tgtEl>
                                        <p:attrNameLst>
                                          <p:attrName>ppt_w</p:attrName>
                                        </p:attrNameLst>
                                      </p:cBhvr>
                                      <p:tavLst>
                                        <p:tav tm="0">
                                          <p:val>
                                            <p:strVal val="2/3*#ppt_w"/>
                                          </p:val>
                                        </p:tav>
                                        <p:tav tm="100000">
                                          <p:val>
                                            <p:strVal val="#ppt_w"/>
                                          </p:val>
                                        </p:tav>
                                      </p:tavLst>
                                    </p:anim>
                                    <p:anim calcmode="lin" valueType="num">
                                      <p:cBhvr>
                                        <p:cTn id="57" dur="500" fill="hold"/>
                                        <p:tgtEl>
                                          <p:spTgt spid="28"/>
                                        </p:tgtEl>
                                        <p:attrNameLst>
                                          <p:attrName>ppt_h</p:attrName>
                                        </p:attrNameLst>
                                      </p:cBhvr>
                                      <p:tavLst>
                                        <p:tav tm="0">
                                          <p:val>
                                            <p:strVal val="2/3*#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3" presetClass="entr" presetSubtype="272"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500" fill="hold"/>
                                        <p:tgtEl>
                                          <p:spTgt spid="29"/>
                                        </p:tgtEl>
                                        <p:attrNameLst>
                                          <p:attrName>ppt_w</p:attrName>
                                        </p:attrNameLst>
                                      </p:cBhvr>
                                      <p:tavLst>
                                        <p:tav tm="0">
                                          <p:val>
                                            <p:strVal val="2/3*#ppt_w"/>
                                          </p:val>
                                        </p:tav>
                                        <p:tav tm="100000">
                                          <p:val>
                                            <p:strVal val="#ppt_w"/>
                                          </p:val>
                                        </p:tav>
                                      </p:tavLst>
                                    </p:anim>
                                    <p:anim calcmode="lin" valueType="num">
                                      <p:cBhvr>
                                        <p:cTn id="63" dur="500" fill="hold"/>
                                        <p:tgtEl>
                                          <p:spTgt spid="29"/>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P spid="23" grpId="0" animBg="1"/>
      <p:bldP spid="25" grpId="0"/>
      <p:bldP spid="26" grpId="0" animBg="1"/>
      <p:bldP spid="27" grpId="0" animBg="1"/>
      <p:bldP spid="28" grpId="0"/>
      <p:bldP spid="29" grpId="0"/>
      <p:bldP spid="30" grpId="0" animBg="1"/>
      <p:bldP spid="31" grpId="0"/>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100">
            <a:extLst>
              <a:ext uri="{FF2B5EF4-FFF2-40B4-BE49-F238E27FC236}">
                <a16:creationId xmlns:a16="http://schemas.microsoft.com/office/drawing/2014/main" id="{3ADF8713-AFBC-4115-8AD8-C4E019474864}"/>
              </a:ext>
            </a:extLst>
          </p:cNvPr>
          <p:cNvGrpSpPr>
            <a:grpSpLocks/>
          </p:cNvGrpSpPr>
          <p:nvPr/>
        </p:nvGrpSpPr>
        <p:grpSpPr bwMode="auto">
          <a:xfrm>
            <a:off x="2503629" y="2261866"/>
            <a:ext cx="1993900" cy="884235"/>
            <a:chOff x="1878" y="2968"/>
            <a:chExt cx="1256" cy="557"/>
          </a:xfrm>
        </p:grpSpPr>
        <p:sp>
          <p:nvSpPr>
            <p:cNvPr id="33" name="Text Box 56">
              <a:extLst>
                <a:ext uri="{FF2B5EF4-FFF2-40B4-BE49-F238E27FC236}">
                  <a16:creationId xmlns:a16="http://schemas.microsoft.com/office/drawing/2014/main" id="{0FFEA731-F713-40D1-A25D-5D3F580B2788}"/>
                </a:ext>
              </a:extLst>
            </p:cNvPr>
            <p:cNvSpPr txBox="1">
              <a:spLocks noChangeArrowheads="1"/>
            </p:cNvSpPr>
            <p:nvPr/>
          </p:nvSpPr>
          <p:spPr bwMode="auto">
            <a:xfrm>
              <a:off x="1878" y="2968"/>
              <a:ext cx="1256" cy="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rPr>
                <a:t>Se reponen cationes</a:t>
              </a:r>
            </a:p>
          </p:txBody>
        </p:sp>
        <p:sp>
          <p:nvSpPr>
            <p:cNvPr id="34" name="Line 58">
              <a:extLst>
                <a:ext uri="{FF2B5EF4-FFF2-40B4-BE49-F238E27FC236}">
                  <a16:creationId xmlns:a16="http://schemas.microsoft.com/office/drawing/2014/main" id="{4FC9C061-DAA8-4D8B-AAD9-C3624C4D6FDB}"/>
                </a:ext>
              </a:extLst>
            </p:cNvPr>
            <p:cNvSpPr>
              <a:spLocks noChangeShapeType="1"/>
            </p:cNvSpPr>
            <p:nvPr/>
          </p:nvSpPr>
          <p:spPr bwMode="auto">
            <a:xfrm flipV="1">
              <a:off x="1960" y="3166"/>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sp>
          <p:nvSpPr>
            <p:cNvPr id="35" name="Line 58">
              <a:extLst>
                <a:ext uri="{FF2B5EF4-FFF2-40B4-BE49-F238E27FC236}">
                  <a16:creationId xmlns:a16="http://schemas.microsoft.com/office/drawing/2014/main" id="{1212F3BE-8BD4-4855-8A9F-0B079DCDA3EE}"/>
                </a:ext>
              </a:extLst>
            </p:cNvPr>
            <p:cNvSpPr>
              <a:spLocks noChangeShapeType="1"/>
            </p:cNvSpPr>
            <p:nvPr/>
          </p:nvSpPr>
          <p:spPr bwMode="auto">
            <a:xfrm flipV="1">
              <a:off x="3041" y="3180"/>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grpSp>
      <p:grpSp>
        <p:nvGrpSpPr>
          <p:cNvPr id="36" name="Group 101">
            <a:extLst>
              <a:ext uri="{FF2B5EF4-FFF2-40B4-BE49-F238E27FC236}">
                <a16:creationId xmlns:a16="http://schemas.microsoft.com/office/drawing/2014/main" id="{9852D059-9A85-483A-8327-A3CDE09B493C}"/>
              </a:ext>
            </a:extLst>
          </p:cNvPr>
          <p:cNvGrpSpPr>
            <a:grpSpLocks/>
          </p:cNvGrpSpPr>
          <p:nvPr/>
        </p:nvGrpSpPr>
        <p:grpSpPr bwMode="auto">
          <a:xfrm>
            <a:off x="2477362" y="4084625"/>
            <a:ext cx="1973263" cy="884238"/>
            <a:chOff x="1940" y="3707"/>
            <a:chExt cx="1243" cy="557"/>
          </a:xfrm>
        </p:grpSpPr>
        <p:sp>
          <p:nvSpPr>
            <p:cNvPr id="37" name="Text Box 57">
              <a:extLst>
                <a:ext uri="{FF2B5EF4-FFF2-40B4-BE49-F238E27FC236}">
                  <a16:creationId xmlns:a16="http://schemas.microsoft.com/office/drawing/2014/main" id="{E3301E80-7316-4A72-963F-1418DA1A4940}"/>
                </a:ext>
              </a:extLst>
            </p:cNvPr>
            <p:cNvSpPr txBox="1">
              <a:spLocks noChangeArrowheads="1"/>
            </p:cNvSpPr>
            <p:nvPr/>
          </p:nvSpPr>
          <p:spPr bwMode="auto">
            <a:xfrm>
              <a:off x="1940" y="3707"/>
              <a:ext cx="1243" cy="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rPr>
                <a:t>Se reponen aniones</a:t>
              </a:r>
            </a:p>
          </p:txBody>
        </p:sp>
        <p:sp>
          <p:nvSpPr>
            <p:cNvPr id="38" name="Line 59">
              <a:extLst>
                <a:ext uri="{FF2B5EF4-FFF2-40B4-BE49-F238E27FC236}">
                  <a16:creationId xmlns:a16="http://schemas.microsoft.com/office/drawing/2014/main" id="{01E8825E-E3EA-40B1-B68E-B66DFCD2D1CB}"/>
                </a:ext>
              </a:extLst>
            </p:cNvPr>
            <p:cNvSpPr>
              <a:spLocks noChangeShapeType="1"/>
            </p:cNvSpPr>
            <p:nvPr/>
          </p:nvSpPr>
          <p:spPr bwMode="auto">
            <a:xfrm>
              <a:off x="2035" y="3965"/>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sp>
          <p:nvSpPr>
            <p:cNvPr id="39" name="Line 58">
              <a:extLst>
                <a:ext uri="{FF2B5EF4-FFF2-40B4-BE49-F238E27FC236}">
                  <a16:creationId xmlns:a16="http://schemas.microsoft.com/office/drawing/2014/main" id="{549397B9-826E-49DC-80CF-2C2F0CDFE785}"/>
                </a:ext>
              </a:extLst>
            </p:cNvPr>
            <p:cNvSpPr>
              <a:spLocks noChangeShapeType="1"/>
            </p:cNvSpPr>
            <p:nvPr/>
          </p:nvSpPr>
          <p:spPr bwMode="auto">
            <a:xfrm>
              <a:off x="3104" y="3965"/>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grpSp>
      <p:grpSp>
        <p:nvGrpSpPr>
          <p:cNvPr id="40" name="Grupo 39">
            <a:extLst>
              <a:ext uri="{FF2B5EF4-FFF2-40B4-BE49-F238E27FC236}">
                <a16:creationId xmlns:a16="http://schemas.microsoft.com/office/drawing/2014/main" id="{52BE6579-B16D-4A0B-B93E-9C8A388DB05F}"/>
              </a:ext>
            </a:extLst>
          </p:cNvPr>
          <p:cNvGrpSpPr>
            <a:grpSpLocks/>
          </p:cNvGrpSpPr>
          <p:nvPr/>
        </p:nvGrpSpPr>
        <p:grpSpPr bwMode="auto">
          <a:xfrm>
            <a:off x="6381150" y="2186993"/>
            <a:ext cx="3128341" cy="514738"/>
            <a:chOff x="6219706" y="4989277"/>
            <a:chExt cx="3128341" cy="514221"/>
          </a:xfrm>
        </p:grpSpPr>
        <p:sp>
          <p:nvSpPr>
            <p:cNvPr id="41" name="Text Box 74">
              <a:extLst>
                <a:ext uri="{FF2B5EF4-FFF2-40B4-BE49-F238E27FC236}">
                  <a16:creationId xmlns:a16="http://schemas.microsoft.com/office/drawing/2014/main" id="{A3225498-098F-40C1-90D2-BFCAFBAB7452}"/>
                </a:ext>
              </a:extLst>
            </p:cNvPr>
            <p:cNvSpPr txBox="1">
              <a:spLocks noChangeArrowheads="1"/>
            </p:cNvSpPr>
            <p:nvPr/>
          </p:nvSpPr>
          <p:spPr bwMode="auto">
            <a:xfrm>
              <a:off x="6219706" y="4989278"/>
              <a:ext cx="1672449" cy="514220"/>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FFFF"/>
                  </a:solidFill>
                  <a:latin typeface="Arial" panose="020B0604020202020204" pitchFamily="34" charset="0"/>
                </a:rPr>
                <a:t>DIFUSIÓN</a:t>
              </a:r>
            </a:p>
          </p:txBody>
        </p:sp>
        <p:sp>
          <p:nvSpPr>
            <p:cNvPr id="42" name="CuadroTexto 6">
              <a:extLst>
                <a:ext uri="{FF2B5EF4-FFF2-40B4-BE49-F238E27FC236}">
                  <a16:creationId xmlns:a16="http://schemas.microsoft.com/office/drawing/2014/main" id="{9B69762C-6707-410C-B471-C79EDD91F81A}"/>
                </a:ext>
              </a:extLst>
            </p:cNvPr>
            <p:cNvSpPr txBox="1">
              <a:spLocks noChangeArrowheads="1"/>
            </p:cNvSpPr>
            <p:nvPr/>
          </p:nvSpPr>
          <p:spPr bwMode="auto">
            <a:xfrm>
              <a:off x="7915310" y="4989277"/>
              <a:ext cx="1432737" cy="51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olidFill>
                    <a:srgbClr val="FF0000"/>
                  </a:solidFill>
                </a:rPr>
                <a:t>(Tema 9)</a:t>
              </a:r>
              <a:endParaRPr lang="es-ES" sz="2400" dirty="0"/>
            </a:p>
          </p:txBody>
        </p:sp>
      </p:grpSp>
      <p:sp>
        <p:nvSpPr>
          <p:cNvPr id="20" name="Text Box 55">
            <a:extLst>
              <a:ext uri="{FF2B5EF4-FFF2-40B4-BE49-F238E27FC236}">
                <a16:creationId xmlns:a16="http://schemas.microsoft.com/office/drawing/2014/main" id="{45BE66F4-AD12-4819-83DB-FF8CA9655E35}"/>
              </a:ext>
            </a:extLst>
          </p:cNvPr>
          <p:cNvSpPr txBox="1">
            <a:spLocks noChangeArrowheads="1"/>
          </p:cNvSpPr>
          <p:nvPr/>
        </p:nvSpPr>
        <p:spPr bwMode="auto">
          <a:xfrm>
            <a:off x="6379355" y="2793432"/>
            <a:ext cx="3130136" cy="1622734"/>
          </a:xfrm>
          <a:prstGeom prst="rect">
            <a:avLst/>
          </a:prstGeom>
          <a:solidFill>
            <a:srgbClr val="FFFF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latin typeface="Arial" panose="020B0604020202020204" pitchFamily="34" charset="0"/>
              </a:rPr>
              <a:t>El movimiento de</a:t>
            </a:r>
          </a:p>
          <a:p>
            <a:pPr algn="ctr" eaLnBrk="1" hangingPunct="1">
              <a:spcBef>
                <a:spcPct val="0"/>
              </a:spcBef>
              <a:buFontTx/>
              <a:buNone/>
            </a:pPr>
            <a:r>
              <a:rPr lang="es-ES" sz="2400" dirty="0">
                <a:latin typeface="Arial" panose="020B0604020202020204" pitchFamily="34" charset="0"/>
              </a:rPr>
              <a:t>las moléculas</a:t>
            </a:r>
          </a:p>
          <a:p>
            <a:pPr algn="ctr" eaLnBrk="1" hangingPunct="1">
              <a:spcBef>
                <a:spcPct val="0"/>
              </a:spcBef>
              <a:buFontTx/>
              <a:buNone/>
            </a:pPr>
            <a:r>
              <a:rPr lang="es-ES" sz="2400" dirty="0">
                <a:latin typeface="Arial" panose="020B0604020202020204" pitchFamily="34" charset="0"/>
              </a:rPr>
              <a:t>tiende a igualar</a:t>
            </a:r>
          </a:p>
          <a:p>
            <a:pPr algn="ctr" eaLnBrk="1" hangingPunct="1">
              <a:spcBef>
                <a:spcPct val="0"/>
              </a:spcBef>
              <a:buFontTx/>
              <a:buNone/>
            </a:pPr>
            <a:r>
              <a:rPr lang="es-ES" sz="2400" dirty="0">
                <a:latin typeface="Arial" panose="020B0604020202020204" pitchFamily="34" charset="0"/>
              </a:rPr>
              <a:t>sus concentraciones</a:t>
            </a:r>
          </a:p>
        </p:txBody>
      </p:sp>
      <p:sp>
        <p:nvSpPr>
          <p:cNvPr id="21" name="Text Box 60">
            <a:extLst>
              <a:ext uri="{FF2B5EF4-FFF2-40B4-BE49-F238E27FC236}">
                <a16:creationId xmlns:a16="http://schemas.microsoft.com/office/drawing/2014/main" id="{7B1857BB-88FF-4717-8802-CFE392115FDA}"/>
              </a:ext>
            </a:extLst>
          </p:cNvPr>
          <p:cNvSpPr txBox="1">
            <a:spLocks noChangeArrowheads="1"/>
          </p:cNvSpPr>
          <p:nvPr/>
        </p:nvSpPr>
        <p:spPr bwMode="auto">
          <a:xfrm>
            <a:off x="2509520" y="6225860"/>
            <a:ext cx="6482096" cy="514738"/>
          </a:xfrm>
          <a:prstGeom prst="rect">
            <a:avLst/>
          </a:prstGeom>
          <a:solidFill>
            <a:srgbClr val="CCFFCC"/>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a:latin typeface="Arial" panose="020B0604020202020204" pitchFamily="34" charset="0"/>
                <a:sym typeface="Symbol" panose="05050102010706020507" pitchFamily="18" charset="2"/>
              </a:rPr>
              <a:t>Las reacciones en los electrodos </a:t>
            </a:r>
            <a:r>
              <a:rPr lang="es-ES" sz="2400" dirty="0">
                <a:latin typeface="Arial" panose="020B0604020202020204" pitchFamily="34" charset="0"/>
                <a:sym typeface="Symbol" panose="05050102010706020507" pitchFamily="18" charset="2"/>
              </a:rPr>
              <a:t>no se paran</a:t>
            </a:r>
            <a:endParaRPr lang="es-ES" sz="2400" dirty="0">
              <a:latin typeface="Arial" panose="020B0604020202020204" pitchFamily="34" charset="0"/>
            </a:endParaRPr>
          </a:p>
        </p:txBody>
      </p:sp>
      <p:grpSp>
        <p:nvGrpSpPr>
          <p:cNvPr id="22" name="Grupo 21">
            <a:extLst>
              <a:ext uri="{FF2B5EF4-FFF2-40B4-BE49-F238E27FC236}">
                <a16:creationId xmlns:a16="http://schemas.microsoft.com/office/drawing/2014/main" id="{CF17078E-39BD-4B3F-BB89-3CC304D36606}"/>
              </a:ext>
            </a:extLst>
          </p:cNvPr>
          <p:cNvGrpSpPr>
            <a:grpSpLocks/>
          </p:cNvGrpSpPr>
          <p:nvPr/>
        </p:nvGrpSpPr>
        <p:grpSpPr bwMode="auto">
          <a:xfrm>
            <a:off x="1336331" y="858293"/>
            <a:ext cx="4305295" cy="4833935"/>
            <a:chOff x="1304405" y="510368"/>
            <a:chExt cx="4305294" cy="4833949"/>
          </a:xfrm>
        </p:grpSpPr>
        <p:sp>
          <p:nvSpPr>
            <p:cNvPr id="23" name="Text Box 53">
              <a:extLst>
                <a:ext uri="{FF2B5EF4-FFF2-40B4-BE49-F238E27FC236}">
                  <a16:creationId xmlns:a16="http://schemas.microsoft.com/office/drawing/2014/main" id="{18C5A91C-7C35-4E4A-B4FB-34DC536857C6}"/>
                </a:ext>
              </a:extLst>
            </p:cNvPr>
            <p:cNvSpPr txBox="1">
              <a:spLocks noChangeArrowheads="1"/>
            </p:cNvSpPr>
            <p:nvPr/>
          </p:nvSpPr>
          <p:spPr bwMode="auto">
            <a:xfrm>
              <a:off x="1397834" y="1248626"/>
              <a:ext cx="4103101"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latin typeface="Arial" panose="020B0604020202020204" pitchFamily="34" charset="0"/>
                </a:rPr>
                <a:t>CÁTODO (+)</a:t>
              </a:r>
            </a:p>
          </p:txBody>
        </p:sp>
        <p:sp>
          <p:nvSpPr>
            <p:cNvPr id="24" name="Text Box 54">
              <a:extLst>
                <a:ext uri="{FF2B5EF4-FFF2-40B4-BE49-F238E27FC236}">
                  <a16:creationId xmlns:a16="http://schemas.microsoft.com/office/drawing/2014/main" id="{0668F16F-D240-4C18-8DB8-FD2B1F1F8FE3}"/>
                </a:ext>
              </a:extLst>
            </p:cNvPr>
            <p:cNvSpPr txBox="1">
              <a:spLocks noChangeArrowheads="1"/>
            </p:cNvSpPr>
            <p:nvPr/>
          </p:nvSpPr>
          <p:spPr bwMode="auto">
            <a:xfrm>
              <a:off x="1397835" y="4745832"/>
              <a:ext cx="4103099"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a:latin typeface="Arial" panose="020B0604020202020204" pitchFamily="34" charset="0"/>
                </a:rPr>
                <a:t>ÁNODO (</a:t>
              </a:r>
              <a:r>
                <a:rPr lang="es-ES" sz="2400">
                  <a:latin typeface="Arial" panose="020B0604020202020204" pitchFamily="34" charset="0"/>
                  <a:sym typeface="Symbol" panose="05050102010706020507" pitchFamily="18" charset="2"/>
                </a:rPr>
                <a:t>)</a:t>
              </a:r>
            </a:p>
          </p:txBody>
        </p:sp>
        <p:sp>
          <p:nvSpPr>
            <p:cNvPr id="25" name="Text Box 55">
              <a:extLst>
                <a:ext uri="{FF2B5EF4-FFF2-40B4-BE49-F238E27FC236}">
                  <a16:creationId xmlns:a16="http://schemas.microsoft.com/office/drawing/2014/main" id="{9E4C5B6E-0379-4732-9A86-8CC07E6FFF43}"/>
                </a:ext>
              </a:extLst>
            </p:cNvPr>
            <p:cNvSpPr txBox="1">
              <a:spLocks noChangeArrowheads="1"/>
            </p:cNvSpPr>
            <p:nvPr/>
          </p:nvSpPr>
          <p:spPr bwMode="auto">
            <a:xfrm>
              <a:off x="1780341" y="2967281"/>
              <a:ext cx="3353420" cy="514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solidFill>
                    <a:srgbClr val="008000"/>
                  </a:solidFill>
                  <a:latin typeface="Arial" panose="020B0604020202020204" pitchFamily="34" charset="0"/>
                </a:rPr>
                <a:t>Disolución electrolítica</a:t>
              </a:r>
            </a:p>
          </p:txBody>
        </p:sp>
        <p:grpSp>
          <p:nvGrpSpPr>
            <p:cNvPr id="26" name="Group 99">
              <a:extLst>
                <a:ext uri="{FF2B5EF4-FFF2-40B4-BE49-F238E27FC236}">
                  <a16:creationId xmlns:a16="http://schemas.microsoft.com/office/drawing/2014/main" id="{13117E02-7CE8-45C5-8FE2-AA2EB791731D}"/>
                </a:ext>
              </a:extLst>
            </p:cNvPr>
            <p:cNvGrpSpPr>
              <a:grpSpLocks/>
            </p:cNvGrpSpPr>
            <p:nvPr/>
          </p:nvGrpSpPr>
          <p:grpSpPr bwMode="auto">
            <a:xfrm>
              <a:off x="1304405" y="510368"/>
              <a:ext cx="4305294" cy="4833949"/>
              <a:chOff x="-152" y="2447"/>
              <a:chExt cx="2712" cy="3045"/>
            </a:xfrm>
          </p:grpSpPr>
          <p:sp>
            <p:nvSpPr>
              <p:cNvPr id="27" name="Rectangle 98">
                <a:extLst>
                  <a:ext uri="{FF2B5EF4-FFF2-40B4-BE49-F238E27FC236}">
                    <a16:creationId xmlns:a16="http://schemas.microsoft.com/office/drawing/2014/main" id="{934F54EA-B3D7-41F5-8056-22B64F2EA152}"/>
                  </a:ext>
                </a:extLst>
              </p:cNvPr>
              <p:cNvSpPr>
                <a:spLocks noChangeArrowheads="1"/>
              </p:cNvSpPr>
              <p:nvPr/>
            </p:nvSpPr>
            <p:spPr bwMode="auto">
              <a:xfrm>
                <a:off x="-152" y="2857"/>
                <a:ext cx="2712" cy="2635"/>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b="1"/>
              </a:p>
            </p:txBody>
          </p:sp>
          <p:sp>
            <p:nvSpPr>
              <p:cNvPr id="28" name="Text Box 97">
                <a:extLst>
                  <a:ext uri="{FF2B5EF4-FFF2-40B4-BE49-F238E27FC236}">
                    <a16:creationId xmlns:a16="http://schemas.microsoft.com/office/drawing/2014/main" id="{5B702300-5CE6-491F-B0BD-BE3C3E89E79A}"/>
                  </a:ext>
                </a:extLst>
              </p:cNvPr>
              <p:cNvSpPr txBox="1">
                <a:spLocks noChangeArrowheads="1"/>
              </p:cNvSpPr>
              <p:nvPr/>
            </p:nvSpPr>
            <p:spPr bwMode="auto">
              <a:xfrm>
                <a:off x="811" y="2447"/>
                <a:ext cx="785" cy="324"/>
              </a:xfrm>
              <a:prstGeom prst="rect">
                <a:avLst/>
              </a:prstGeom>
              <a:solidFill>
                <a:schemeClr val="bg2">
                  <a:lumMod val="60000"/>
                  <a:lumOff val="40000"/>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rPr>
                  <a:t>CELDA</a:t>
                </a:r>
              </a:p>
            </p:txBody>
          </p:sp>
        </p:grpSp>
      </p:grpSp>
      <p:sp>
        <p:nvSpPr>
          <p:cNvPr id="29" name="Text Box 67">
            <a:extLst>
              <a:ext uri="{FF2B5EF4-FFF2-40B4-BE49-F238E27FC236}">
                <a16:creationId xmlns:a16="http://schemas.microsoft.com/office/drawing/2014/main" id="{3BC27338-21B3-4388-A202-58B780A0ADD0}"/>
              </a:ext>
            </a:extLst>
          </p:cNvPr>
          <p:cNvSpPr txBox="1">
            <a:spLocks noChangeArrowheads="1"/>
          </p:cNvSpPr>
          <p:nvPr/>
        </p:nvSpPr>
        <p:spPr bwMode="auto">
          <a:xfrm>
            <a:off x="4854547" y="1646452"/>
            <a:ext cx="540830"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rPr>
              <a:t>+</a:t>
            </a:r>
          </a:p>
        </p:txBody>
      </p:sp>
      <p:sp>
        <p:nvSpPr>
          <p:cNvPr id="30" name="Text Box 68">
            <a:extLst>
              <a:ext uri="{FF2B5EF4-FFF2-40B4-BE49-F238E27FC236}">
                <a16:creationId xmlns:a16="http://schemas.microsoft.com/office/drawing/2014/main" id="{FE61348F-89F1-461A-BE83-0381CBD5DCA6}"/>
              </a:ext>
            </a:extLst>
          </p:cNvPr>
          <p:cNvSpPr txBox="1">
            <a:spLocks noChangeArrowheads="1"/>
          </p:cNvSpPr>
          <p:nvPr/>
        </p:nvSpPr>
        <p:spPr bwMode="auto">
          <a:xfrm>
            <a:off x="4878777" y="5131369"/>
            <a:ext cx="532816"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sym typeface="Symbol" panose="05050102010706020507" pitchFamily="18" charset="2"/>
              </a:rPr>
              <a:t></a:t>
            </a:r>
          </a:p>
        </p:txBody>
      </p:sp>
      <p:sp>
        <p:nvSpPr>
          <p:cNvPr id="2" name="Text Box 60">
            <a:extLst>
              <a:ext uri="{FF2B5EF4-FFF2-40B4-BE49-F238E27FC236}">
                <a16:creationId xmlns:a16="http://schemas.microsoft.com/office/drawing/2014/main" id="{3FD1175A-0396-117F-7651-5011B55B028C}"/>
              </a:ext>
            </a:extLst>
          </p:cNvPr>
          <p:cNvSpPr txBox="1">
            <a:spLocks noChangeArrowheads="1"/>
          </p:cNvSpPr>
          <p:nvPr/>
        </p:nvSpPr>
        <p:spPr bwMode="auto">
          <a:xfrm>
            <a:off x="6360899" y="4829754"/>
            <a:ext cx="3130136" cy="884070"/>
          </a:xfrm>
          <a:prstGeom prst="rect">
            <a:avLst/>
          </a:prstGeom>
          <a:solidFill>
            <a:srgbClr val="CCFFCC"/>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latin typeface="Arial" panose="020B0604020202020204" pitchFamily="34" charset="0"/>
                <a:sym typeface="Symbol" panose="05050102010706020507" pitchFamily="18" charset="2"/>
              </a:rPr>
              <a:t> </a:t>
            </a:r>
            <a:r>
              <a:rPr lang="es-ES" sz="2400">
                <a:latin typeface="Arial" panose="020B0604020202020204" pitchFamily="34" charset="0"/>
                <a:sym typeface="Symbol" panose="05050102010706020507" pitchFamily="18" charset="2"/>
              </a:rPr>
              <a:t>Esto mantiene</a:t>
            </a:r>
          </a:p>
          <a:p>
            <a:pPr algn="ctr" eaLnBrk="1" hangingPunct="1">
              <a:spcBef>
                <a:spcPct val="0"/>
              </a:spcBef>
              <a:buFontTx/>
              <a:buNone/>
            </a:pPr>
            <a:r>
              <a:rPr lang="es-ES" sz="2400">
                <a:latin typeface="Arial" panose="020B0604020202020204" pitchFamily="34" charset="0"/>
                <a:sym typeface="Symbol" panose="05050102010706020507" pitchFamily="18" charset="2"/>
              </a:rPr>
              <a:t>el </a:t>
            </a:r>
            <a:r>
              <a:rPr lang="es-ES" sz="2400" dirty="0">
                <a:latin typeface="Arial" panose="020B0604020202020204" pitchFamily="34" charset="0"/>
                <a:sym typeface="Symbol" panose="05050102010706020507" pitchFamily="18" charset="2"/>
              </a:rPr>
              <a:t>proceso </a:t>
            </a:r>
            <a:r>
              <a:rPr lang="es-ES" sz="2400">
                <a:latin typeface="Arial" panose="020B0604020202020204" pitchFamily="34" charset="0"/>
                <a:sym typeface="Symbol" panose="05050102010706020507" pitchFamily="18" charset="2"/>
              </a:rPr>
              <a:t>de carga</a:t>
            </a:r>
            <a:endParaRPr lang="es-ES" sz="2400" dirty="0">
              <a:latin typeface="Arial" panose="020B0604020202020204" pitchFamily="34" charset="0"/>
            </a:endParaRPr>
          </a:p>
        </p:txBody>
      </p:sp>
    </p:spTree>
    <p:extLst>
      <p:ext uri="{BB962C8B-B14F-4D97-AF65-F5344CB8AC3E}">
        <p14:creationId xmlns:p14="http://schemas.microsoft.com/office/powerpoint/2010/main" val="271033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linds(vertical)">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additive="base">
                                        <p:cTn id="17" dur="500"/>
                                        <p:tgtEl>
                                          <p:spTgt spid="32"/>
                                        </p:tgtEl>
                                        <p:attrNameLst>
                                          <p:attrName>ppt_y</p:attrName>
                                        </p:attrNameLst>
                                      </p:cBhvr>
                                      <p:tavLst>
                                        <p:tav tm="0">
                                          <p:val>
                                            <p:strVal val="#ppt_y+#ppt_h*1.125000"/>
                                          </p:val>
                                        </p:tav>
                                        <p:tav tm="100000">
                                          <p:val>
                                            <p:strVal val="#ppt_y"/>
                                          </p:val>
                                        </p:tav>
                                      </p:tavLst>
                                    </p:anim>
                                    <p:animEffect transition="in" filter="wipe(up)">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p:tgtEl>
                                          <p:spTgt spid="36"/>
                                        </p:tgtEl>
                                        <p:attrNameLst>
                                          <p:attrName>ppt_y</p:attrName>
                                        </p:attrNameLst>
                                      </p:cBhvr>
                                      <p:tavLst>
                                        <p:tav tm="0">
                                          <p:val>
                                            <p:strVal val="#ppt_y-#ppt_h*1.125000"/>
                                          </p:val>
                                        </p:tav>
                                        <p:tav tm="100000">
                                          <p:val>
                                            <p:strVal val="#ppt_y"/>
                                          </p:val>
                                        </p:tav>
                                      </p:tavLst>
                                    </p:anim>
                                    <p:animEffect transition="in" filter="wipe(down)">
                                      <p:cBhvr>
                                        <p:cTn id="24" dur="500"/>
                                        <p:tgtEl>
                                          <p:spTgt spid="3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up)">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71">
            <a:extLst>
              <a:ext uri="{FF2B5EF4-FFF2-40B4-BE49-F238E27FC236}">
                <a16:creationId xmlns:a16="http://schemas.microsoft.com/office/drawing/2014/main" id="{C2654B1B-851B-4A8A-8C85-6C27626F2FD1}"/>
              </a:ext>
            </a:extLst>
          </p:cNvPr>
          <p:cNvSpPr txBox="1">
            <a:spLocks noChangeArrowheads="1"/>
          </p:cNvSpPr>
          <p:nvPr/>
        </p:nvSpPr>
        <p:spPr bwMode="auto">
          <a:xfrm>
            <a:off x="6187442" y="4141110"/>
            <a:ext cx="3858797" cy="1622734"/>
          </a:xfrm>
          <a:prstGeom prst="rect">
            <a:avLst/>
          </a:prstGeom>
          <a:solidFill>
            <a:srgbClr val="CCFFCC"/>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solidFill>
                  <a:srgbClr val="000000"/>
                </a:solidFill>
                <a:latin typeface="Arial" panose="020B0604020202020204" pitchFamily="34" charset="0"/>
              </a:rPr>
              <a:t>El proceso de carga sigue hasta que </a:t>
            </a:r>
            <a:r>
              <a:rPr lang="es-ES" sz="2400">
                <a:latin typeface="Arial" panose="020B0604020202020204" pitchFamily="34" charset="0"/>
              </a:rPr>
              <a:t>se alcanza</a:t>
            </a:r>
          </a:p>
          <a:p>
            <a:pPr algn="ctr" eaLnBrk="1" hangingPunct="1">
              <a:spcBef>
                <a:spcPct val="0"/>
              </a:spcBef>
              <a:buFontTx/>
              <a:buNone/>
            </a:pPr>
            <a:r>
              <a:rPr lang="es-ES" sz="2400">
                <a:latin typeface="Arial" panose="020B0604020202020204" pitchFamily="34" charset="0"/>
              </a:rPr>
              <a:t>un campo </a:t>
            </a:r>
            <a:r>
              <a:rPr lang="es-ES" sz="2400" b="1">
                <a:latin typeface="Arial" panose="020B0604020202020204" pitchFamily="34" charset="0"/>
              </a:rPr>
              <a:t>E</a:t>
            </a:r>
            <a:r>
              <a:rPr lang="es-ES" sz="2400">
                <a:latin typeface="Arial" panose="020B0604020202020204" pitchFamily="34" charset="0"/>
              </a:rPr>
              <a:t> que iguala</a:t>
            </a:r>
          </a:p>
          <a:p>
            <a:pPr algn="ctr" eaLnBrk="1" hangingPunct="1">
              <a:spcBef>
                <a:spcPct val="0"/>
              </a:spcBef>
              <a:buFontTx/>
              <a:buNone/>
            </a:pPr>
            <a:r>
              <a:rPr lang="es-ES" sz="2400">
                <a:latin typeface="Arial" panose="020B0604020202020204" pitchFamily="34" charset="0"/>
              </a:rPr>
              <a:t>el </a:t>
            </a:r>
            <a:r>
              <a:rPr lang="es-ES" sz="2400" dirty="0">
                <a:latin typeface="Arial" panose="020B0604020202020204" pitchFamily="34" charset="0"/>
              </a:rPr>
              <a:t>efecto de </a:t>
            </a:r>
            <a:r>
              <a:rPr lang="es-ES" sz="2400">
                <a:latin typeface="Arial" panose="020B0604020202020204" pitchFamily="34" charset="0"/>
              </a:rPr>
              <a:t>la difusión</a:t>
            </a:r>
            <a:endParaRPr lang="es-ES" sz="2400" dirty="0">
              <a:latin typeface="Arial" panose="020B0604020202020204" pitchFamily="34" charset="0"/>
            </a:endParaRPr>
          </a:p>
        </p:txBody>
      </p:sp>
      <p:grpSp>
        <p:nvGrpSpPr>
          <p:cNvPr id="22" name="Group 87">
            <a:extLst>
              <a:ext uri="{FF2B5EF4-FFF2-40B4-BE49-F238E27FC236}">
                <a16:creationId xmlns:a16="http://schemas.microsoft.com/office/drawing/2014/main" id="{7FC5C2CB-E722-439D-B61B-0AA8EF3D665D}"/>
              </a:ext>
            </a:extLst>
          </p:cNvPr>
          <p:cNvGrpSpPr>
            <a:grpSpLocks/>
          </p:cNvGrpSpPr>
          <p:nvPr/>
        </p:nvGrpSpPr>
        <p:grpSpPr bwMode="auto">
          <a:xfrm>
            <a:off x="2168692" y="4409739"/>
            <a:ext cx="2614620" cy="514350"/>
            <a:chOff x="4268" y="3807"/>
            <a:chExt cx="1647" cy="324"/>
          </a:xfrm>
        </p:grpSpPr>
        <p:sp>
          <p:nvSpPr>
            <p:cNvPr id="23" name="Text Box 57">
              <a:extLst>
                <a:ext uri="{FF2B5EF4-FFF2-40B4-BE49-F238E27FC236}">
                  <a16:creationId xmlns:a16="http://schemas.microsoft.com/office/drawing/2014/main" id="{BCC7D1B2-D994-455F-B7E8-5D91F7409825}"/>
                </a:ext>
              </a:extLst>
            </p:cNvPr>
            <p:cNvSpPr txBox="1">
              <a:spLocks noChangeArrowheads="1"/>
            </p:cNvSpPr>
            <p:nvPr/>
          </p:nvSpPr>
          <p:spPr bwMode="auto">
            <a:xfrm>
              <a:off x="4335" y="3807"/>
              <a:ext cx="1493"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a:solidFill>
                    <a:srgbClr val="3333FF"/>
                  </a:solidFill>
                  <a:latin typeface="Arial" panose="020B0604020202020204" pitchFamily="34" charset="0"/>
                </a:rPr>
                <a:t>F</a:t>
              </a:r>
              <a:r>
                <a:rPr lang="es-ES" sz="2400">
                  <a:solidFill>
                    <a:srgbClr val="3333FF"/>
                  </a:solidFill>
                  <a:latin typeface="Arial" panose="020B0604020202020204" pitchFamily="34" charset="0"/>
                </a:rPr>
                <a:t> retira aniones</a:t>
              </a:r>
            </a:p>
          </p:txBody>
        </p:sp>
        <p:sp>
          <p:nvSpPr>
            <p:cNvPr id="24" name="Line 59">
              <a:extLst>
                <a:ext uri="{FF2B5EF4-FFF2-40B4-BE49-F238E27FC236}">
                  <a16:creationId xmlns:a16="http://schemas.microsoft.com/office/drawing/2014/main" id="{7DCCDF58-347C-4755-BB0F-EFA39C8AD7DC}"/>
                </a:ext>
              </a:extLst>
            </p:cNvPr>
            <p:cNvSpPr>
              <a:spLocks noChangeShapeType="1"/>
            </p:cNvSpPr>
            <p:nvPr/>
          </p:nvSpPr>
          <p:spPr bwMode="auto">
            <a:xfrm flipV="1">
              <a:off x="4268" y="3921"/>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sp>
          <p:nvSpPr>
            <p:cNvPr id="25" name="Line 58">
              <a:extLst>
                <a:ext uri="{FF2B5EF4-FFF2-40B4-BE49-F238E27FC236}">
                  <a16:creationId xmlns:a16="http://schemas.microsoft.com/office/drawing/2014/main" id="{15057898-8373-4E66-AC28-7EFE1564FD22}"/>
                </a:ext>
              </a:extLst>
            </p:cNvPr>
            <p:cNvSpPr>
              <a:spLocks noChangeShapeType="1"/>
            </p:cNvSpPr>
            <p:nvPr/>
          </p:nvSpPr>
          <p:spPr bwMode="auto">
            <a:xfrm flipV="1">
              <a:off x="5915" y="3921"/>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grpSp>
      <p:grpSp>
        <p:nvGrpSpPr>
          <p:cNvPr id="26" name="Group 86">
            <a:extLst>
              <a:ext uri="{FF2B5EF4-FFF2-40B4-BE49-F238E27FC236}">
                <a16:creationId xmlns:a16="http://schemas.microsoft.com/office/drawing/2014/main" id="{E8795C12-EB8B-4D3F-8794-BC104CD3C67C}"/>
              </a:ext>
            </a:extLst>
          </p:cNvPr>
          <p:cNvGrpSpPr>
            <a:grpSpLocks/>
          </p:cNvGrpSpPr>
          <p:nvPr/>
        </p:nvGrpSpPr>
        <p:grpSpPr bwMode="auto">
          <a:xfrm>
            <a:off x="2173182" y="2249149"/>
            <a:ext cx="2559050" cy="514350"/>
            <a:chOff x="4209" y="3096"/>
            <a:chExt cx="1612" cy="324"/>
          </a:xfrm>
        </p:grpSpPr>
        <p:sp>
          <p:nvSpPr>
            <p:cNvPr id="27" name="Text Box 56">
              <a:extLst>
                <a:ext uri="{FF2B5EF4-FFF2-40B4-BE49-F238E27FC236}">
                  <a16:creationId xmlns:a16="http://schemas.microsoft.com/office/drawing/2014/main" id="{BE355257-4BC9-402E-8D71-D6E9FEE1C96F}"/>
                </a:ext>
              </a:extLst>
            </p:cNvPr>
            <p:cNvSpPr txBox="1">
              <a:spLocks noChangeArrowheads="1"/>
            </p:cNvSpPr>
            <p:nvPr/>
          </p:nvSpPr>
          <p:spPr bwMode="auto">
            <a:xfrm>
              <a:off x="4270" y="3096"/>
              <a:ext cx="153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dirty="0">
                  <a:solidFill>
                    <a:srgbClr val="3333FF"/>
                  </a:solidFill>
                  <a:latin typeface="Arial" panose="020B0604020202020204" pitchFamily="34" charset="0"/>
                </a:rPr>
                <a:t>F</a:t>
              </a:r>
              <a:r>
                <a:rPr lang="es-ES" sz="2400" dirty="0">
                  <a:solidFill>
                    <a:srgbClr val="3333FF"/>
                  </a:solidFill>
                  <a:latin typeface="Arial" panose="020B0604020202020204" pitchFamily="34" charset="0"/>
                </a:rPr>
                <a:t> retira cationes</a:t>
              </a:r>
            </a:p>
          </p:txBody>
        </p:sp>
        <p:sp>
          <p:nvSpPr>
            <p:cNvPr id="28" name="Line 58">
              <a:extLst>
                <a:ext uri="{FF2B5EF4-FFF2-40B4-BE49-F238E27FC236}">
                  <a16:creationId xmlns:a16="http://schemas.microsoft.com/office/drawing/2014/main" id="{8C31148A-A899-48E2-8B50-A28854240285}"/>
                </a:ext>
              </a:extLst>
            </p:cNvPr>
            <p:cNvSpPr>
              <a:spLocks noChangeShapeType="1"/>
            </p:cNvSpPr>
            <p:nvPr/>
          </p:nvSpPr>
          <p:spPr bwMode="auto">
            <a:xfrm>
              <a:off x="4209" y="3215"/>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sp>
          <p:nvSpPr>
            <p:cNvPr id="29" name="Line 58">
              <a:extLst>
                <a:ext uri="{FF2B5EF4-FFF2-40B4-BE49-F238E27FC236}">
                  <a16:creationId xmlns:a16="http://schemas.microsoft.com/office/drawing/2014/main" id="{32A17999-42AD-456A-AE0E-8B07F04E20E9}"/>
                </a:ext>
              </a:extLst>
            </p:cNvPr>
            <p:cNvSpPr>
              <a:spLocks noChangeShapeType="1"/>
            </p:cNvSpPr>
            <p:nvPr/>
          </p:nvSpPr>
          <p:spPr bwMode="auto">
            <a:xfrm>
              <a:off x="5821" y="3215"/>
              <a:ext cx="0" cy="124"/>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grpSp>
      <p:grpSp>
        <p:nvGrpSpPr>
          <p:cNvPr id="30" name="Group 47">
            <a:extLst>
              <a:ext uri="{FF2B5EF4-FFF2-40B4-BE49-F238E27FC236}">
                <a16:creationId xmlns:a16="http://schemas.microsoft.com/office/drawing/2014/main" id="{F351490E-379A-442B-83C3-BDA95281B477}"/>
              </a:ext>
            </a:extLst>
          </p:cNvPr>
          <p:cNvGrpSpPr>
            <a:grpSpLocks/>
          </p:cNvGrpSpPr>
          <p:nvPr/>
        </p:nvGrpSpPr>
        <p:grpSpPr bwMode="auto">
          <a:xfrm>
            <a:off x="6380163" y="3000360"/>
            <a:ext cx="509592" cy="636584"/>
            <a:chOff x="4739" y="3366"/>
            <a:chExt cx="321" cy="401"/>
          </a:xfrm>
        </p:grpSpPr>
        <p:sp>
          <p:nvSpPr>
            <p:cNvPr id="31" name="Line 65">
              <a:extLst>
                <a:ext uri="{FF2B5EF4-FFF2-40B4-BE49-F238E27FC236}">
                  <a16:creationId xmlns:a16="http://schemas.microsoft.com/office/drawing/2014/main" id="{0CCA07A5-5ED6-4AC9-9DC0-21456F133128}"/>
                </a:ext>
              </a:extLst>
            </p:cNvPr>
            <p:cNvSpPr>
              <a:spLocks noChangeShapeType="1"/>
            </p:cNvSpPr>
            <p:nvPr/>
          </p:nvSpPr>
          <p:spPr bwMode="auto">
            <a:xfrm>
              <a:off x="4739" y="3366"/>
              <a:ext cx="0" cy="401"/>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108000" tIns="72000" rIns="108000" bIns="72000" anchor="ctr" anchorCtr="1">
              <a:spAutoFit/>
            </a:bodyPr>
            <a:lstStyle/>
            <a:p>
              <a:endParaRPr lang="en-GB" sz="2400"/>
            </a:p>
          </p:txBody>
        </p:sp>
        <p:sp>
          <p:nvSpPr>
            <p:cNvPr id="43" name="Text Box 66">
              <a:extLst>
                <a:ext uri="{FF2B5EF4-FFF2-40B4-BE49-F238E27FC236}">
                  <a16:creationId xmlns:a16="http://schemas.microsoft.com/office/drawing/2014/main" id="{F5D0A744-894C-4D83-99EE-361C7FC49708}"/>
                </a:ext>
              </a:extLst>
            </p:cNvPr>
            <p:cNvSpPr txBox="1">
              <a:spLocks noChangeArrowheads="1"/>
            </p:cNvSpPr>
            <p:nvPr/>
          </p:nvSpPr>
          <p:spPr bwMode="auto">
            <a:xfrm>
              <a:off x="4793" y="3390"/>
              <a:ext cx="267"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E</a:t>
              </a:r>
            </a:p>
          </p:txBody>
        </p:sp>
        <p:sp>
          <p:nvSpPr>
            <p:cNvPr id="44" name="Line 67">
              <a:extLst>
                <a:ext uri="{FF2B5EF4-FFF2-40B4-BE49-F238E27FC236}">
                  <a16:creationId xmlns:a16="http://schemas.microsoft.com/office/drawing/2014/main" id="{07724732-5574-476C-AA9E-61833144DD40}"/>
                </a:ext>
              </a:extLst>
            </p:cNvPr>
            <p:cNvSpPr>
              <a:spLocks noChangeShapeType="1"/>
            </p:cNvSpPr>
            <p:nvPr/>
          </p:nvSpPr>
          <p:spPr bwMode="auto">
            <a:xfrm>
              <a:off x="4843" y="3445"/>
              <a:ext cx="136"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grpSp>
      <p:grpSp>
        <p:nvGrpSpPr>
          <p:cNvPr id="45" name="Group 102">
            <a:extLst>
              <a:ext uri="{FF2B5EF4-FFF2-40B4-BE49-F238E27FC236}">
                <a16:creationId xmlns:a16="http://schemas.microsoft.com/office/drawing/2014/main" id="{F8D17A3E-95CC-41FC-B12D-83189164EDEB}"/>
              </a:ext>
            </a:extLst>
          </p:cNvPr>
          <p:cNvGrpSpPr>
            <a:grpSpLocks/>
          </p:cNvGrpSpPr>
          <p:nvPr/>
        </p:nvGrpSpPr>
        <p:grpSpPr bwMode="auto">
          <a:xfrm>
            <a:off x="7247523" y="2986169"/>
            <a:ext cx="1316036" cy="625475"/>
            <a:chOff x="2566" y="2608"/>
            <a:chExt cx="829" cy="394"/>
          </a:xfrm>
        </p:grpSpPr>
        <p:sp>
          <p:nvSpPr>
            <p:cNvPr id="46" name="Rectangle 64">
              <a:extLst>
                <a:ext uri="{FF2B5EF4-FFF2-40B4-BE49-F238E27FC236}">
                  <a16:creationId xmlns:a16="http://schemas.microsoft.com/office/drawing/2014/main" id="{492C09B1-87F4-4874-99D2-992F872E8BF8}"/>
                </a:ext>
              </a:extLst>
            </p:cNvPr>
            <p:cNvSpPr>
              <a:spLocks noChangeArrowheads="1"/>
            </p:cNvSpPr>
            <p:nvPr/>
          </p:nvSpPr>
          <p:spPr bwMode="auto">
            <a:xfrm>
              <a:off x="2566" y="2608"/>
              <a:ext cx="829" cy="394"/>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endParaRPr lang="es-ES" sz="2400">
                <a:latin typeface="Arial" panose="020B0604020202020204" pitchFamily="34" charset="0"/>
              </a:endParaRPr>
            </a:p>
          </p:txBody>
        </p:sp>
        <p:sp>
          <p:nvSpPr>
            <p:cNvPr id="47" name="Text Box 61">
              <a:extLst>
                <a:ext uri="{FF2B5EF4-FFF2-40B4-BE49-F238E27FC236}">
                  <a16:creationId xmlns:a16="http://schemas.microsoft.com/office/drawing/2014/main" id="{36E8A396-0C54-422D-915D-48196F7E1363}"/>
                </a:ext>
              </a:extLst>
            </p:cNvPr>
            <p:cNvSpPr txBox="1">
              <a:spLocks noChangeArrowheads="1"/>
            </p:cNvSpPr>
            <p:nvPr/>
          </p:nvSpPr>
          <p:spPr bwMode="auto">
            <a:xfrm>
              <a:off x="2645" y="2667"/>
              <a:ext cx="66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F = q E</a:t>
              </a:r>
            </a:p>
          </p:txBody>
        </p:sp>
        <p:sp>
          <p:nvSpPr>
            <p:cNvPr id="48" name="Line 62">
              <a:extLst>
                <a:ext uri="{FF2B5EF4-FFF2-40B4-BE49-F238E27FC236}">
                  <a16:creationId xmlns:a16="http://schemas.microsoft.com/office/drawing/2014/main" id="{AE840507-38BA-4702-9EFE-7761CB5A58C9}"/>
                </a:ext>
              </a:extLst>
            </p:cNvPr>
            <p:cNvSpPr>
              <a:spLocks noChangeShapeType="1"/>
            </p:cNvSpPr>
            <p:nvPr/>
          </p:nvSpPr>
          <p:spPr bwMode="auto">
            <a:xfrm>
              <a:off x="2669" y="2704"/>
              <a:ext cx="136" cy="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lIns="108000" tIns="72000" rIns="108000" bIns="72000" anchor="ctr" anchorCtr="1"/>
            <a:lstStyle/>
            <a:p>
              <a:endParaRPr lang="en-GB" sz="2400"/>
            </a:p>
          </p:txBody>
        </p:sp>
        <p:sp>
          <p:nvSpPr>
            <p:cNvPr id="49" name="Line 63">
              <a:extLst>
                <a:ext uri="{FF2B5EF4-FFF2-40B4-BE49-F238E27FC236}">
                  <a16:creationId xmlns:a16="http://schemas.microsoft.com/office/drawing/2014/main" id="{5BA495B3-C406-4F1A-9A99-C3D74FD63A2A}"/>
                </a:ext>
              </a:extLst>
            </p:cNvPr>
            <p:cNvSpPr>
              <a:spLocks noChangeShapeType="1"/>
            </p:cNvSpPr>
            <p:nvPr/>
          </p:nvSpPr>
          <p:spPr bwMode="auto">
            <a:xfrm>
              <a:off x="3180" y="2702"/>
              <a:ext cx="136" cy="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lIns="108000" tIns="72000" rIns="108000" bIns="72000" anchor="ctr" anchorCtr="1"/>
            <a:lstStyle/>
            <a:p>
              <a:endParaRPr lang="en-GB" sz="2400"/>
            </a:p>
          </p:txBody>
        </p:sp>
      </p:grpSp>
      <p:sp>
        <p:nvSpPr>
          <p:cNvPr id="50" name="Text Box 57">
            <a:extLst>
              <a:ext uri="{FF2B5EF4-FFF2-40B4-BE49-F238E27FC236}">
                <a16:creationId xmlns:a16="http://schemas.microsoft.com/office/drawing/2014/main" id="{646BC4DF-ADB0-48E4-881A-4548A7EDD254}"/>
              </a:ext>
            </a:extLst>
          </p:cNvPr>
          <p:cNvSpPr txBox="1">
            <a:spLocks noChangeArrowheads="1"/>
          </p:cNvSpPr>
          <p:nvPr/>
        </p:nvSpPr>
        <p:spPr bwMode="auto">
          <a:xfrm>
            <a:off x="6395934" y="1646006"/>
            <a:ext cx="3384996" cy="884070"/>
          </a:xfrm>
          <a:prstGeom prst="rect">
            <a:avLst/>
          </a:prstGeom>
          <a:solidFill>
            <a:srgbClr val="FFFF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Q</a:t>
            </a:r>
            <a:r>
              <a:rPr lang="es-ES" sz="2400" baseline="30000" dirty="0">
                <a:latin typeface="Arial" panose="020B0604020202020204" pitchFamily="34" charset="0"/>
              </a:rPr>
              <a:t>+</a:t>
            </a:r>
            <a:r>
              <a:rPr lang="es-ES" sz="2400" dirty="0">
                <a:latin typeface="Arial" panose="020B0604020202020204" pitchFamily="34" charset="0"/>
              </a:rPr>
              <a:t> y Q</a:t>
            </a:r>
            <a:r>
              <a:rPr lang="es-ES" sz="2400" baseline="30000" dirty="0">
                <a:latin typeface="Arial" panose="020B0604020202020204" pitchFamily="34" charset="0"/>
              </a:rPr>
              <a:t>-</a:t>
            </a:r>
            <a:r>
              <a:rPr lang="es-ES" sz="2400" dirty="0">
                <a:latin typeface="Arial" panose="020B0604020202020204" pitchFamily="34" charset="0"/>
              </a:rPr>
              <a:t> aplican un </a:t>
            </a:r>
            <a:r>
              <a:rPr lang="es-ES" sz="2400" b="1" dirty="0">
                <a:latin typeface="Arial" panose="020B0604020202020204" pitchFamily="34" charset="0"/>
              </a:rPr>
              <a:t>E</a:t>
            </a:r>
            <a:r>
              <a:rPr lang="es-ES" sz="2400" dirty="0">
                <a:latin typeface="Arial" panose="020B0604020202020204" pitchFamily="34" charset="0"/>
              </a:rPr>
              <a:t> en cada punto de la celda</a:t>
            </a:r>
          </a:p>
        </p:txBody>
      </p:sp>
      <p:grpSp>
        <p:nvGrpSpPr>
          <p:cNvPr id="2" name="Grupo 1">
            <a:extLst>
              <a:ext uri="{FF2B5EF4-FFF2-40B4-BE49-F238E27FC236}">
                <a16:creationId xmlns:a16="http://schemas.microsoft.com/office/drawing/2014/main" id="{DD619F82-093F-4195-9FAF-372DFCD513E9}"/>
              </a:ext>
            </a:extLst>
          </p:cNvPr>
          <p:cNvGrpSpPr/>
          <p:nvPr/>
        </p:nvGrpSpPr>
        <p:grpSpPr>
          <a:xfrm>
            <a:off x="9069995" y="3190064"/>
            <a:ext cx="578052" cy="240066"/>
            <a:chOff x="9098570" y="3599413"/>
            <a:chExt cx="578052" cy="240066"/>
          </a:xfrm>
        </p:grpSpPr>
        <p:pic>
          <p:nvPicPr>
            <p:cNvPr id="52" name="Picture 10">
              <a:extLst>
                <a:ext uri="{FF2B5EF4-FFF2-40B4-BE49-F238E27FC236}">
                  <a16:creationId xmlns:a16="http://schemas.microsoft.com/office/drawing/2014/main" id="{52E7B1E8-84E7-407C-AD7E-68F5871EF03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5960" y="3599413"/>
              <a:ext cx="220662"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53" name="Picture 20">
              <a:extLst>
                <a:ext uri="{FF2B5EF4-FFF2-40B4-BE49-F238E27FC236}">
                  <a16:creationId xmlns:a16="http://schemas.microsoft.com/office/drawing/2014/main" id="{D63FBD03-F3E8-43B6-AE77-CB9EB8D85521}"/>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098570" y="3607704"/>
              <a:ext cx="2317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grpSp>
        <p:nvGrpSpPr>
          <p:cNvPr id="3" name="Grupo 2">
            <a:extLst>
              <a:ext uri="{FF2B5EF4-FFF2-40B4-BE49-F238E27FC236}">
                <a16:creationId xmlns:a16="http://schemas.microsoft.com/office/drawing/2014/main" id="{7A7D91DD-73E6-40F4-8B7B-25F5B210CC2E}"/>
              </a:ext>
            </a:extLst>
          </p:cNvPr>
          <p:cNvGrpSpPr/>
          <p:nvPr/>
        </p:nvGrpSpPr>
        <p:grpSpPr>
          <a:xfrm>
            <a:off x="9183649" y="2854039"/>
            <a:ext cx="882279" cy="928955"/>
            <a:chOff x="9212224" y="3263388"/>
            <a:chExt cx="882279" cy="928955"/>
          </a:xfrm>
        </p:grpSpPr>
        <p:sp>
          <p:nvSpPr>
            <p:cNvPr id="55" name="Line 53">
              <a:extLst>
                <a:ext uri="{FF2B5EF4-FFF2-40B4-BE49-F238E27FC236}">
                  <a16:creationId xmlns:a16="http://schemas.microsoft.com/office/drawing/2014/main" id="{B2BFDE62-AF21-4861-B7BA-8F98AB006FF8}"/>
                </a:ext>
              </a:extLst>
            </p:cNvPr>
            <p:cNvSpPr>
              <a:spLocks noChangeShapeType="1"/>
            </p:cNvSpPr>
            <p:nvPr/>
          </p:nvSpPr>
          <p:spPr bwMode="auto">
            <a:xfrm rot="5400000">
              <a:off x="9066174" y="4046293"/>
              <a:ext cx="292100"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sp>
          <p:nvSpPr>
            <p:cNvPr id="56" name="Line 54">
              <a:extLst>
                <a:ext uri="{FF2B5EF4-FFF2-40B4-BE49-F238E27FC236}">
                  <a16:creationId xmlns:a16="http://schemas.microsoft.com/office/drawing/2014/main" id="{C718A9A5-8E1A-44FF-B70A-884077EDB905}"/>
                </a:ext>
              </a:extLst>
            </p:cNvPr>
            <p:cNvSpPr>
              <a:spLocks noChangeShapeType="1"/>
            </p:cNvSpPr>
            <p:nvPr/>
          </p:nvSpPr>
          <p:spPr bwMode="auto">
            <a:xfrm rot="5400000" flipH="1" flipV="1">
              <a:off x="9426591" y="3403088"/>
              <a:ext cx="279400"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lstStyle/>
            <a:p>
              <a:endParaRPr lang="en-GB" sz="2400"/>
            </a:p>
          </p:txBody>
        </p:sp>
        <p:grpSp>
          <p:nvGrpSpPr>
            <p:cNvPr id="57" name="Group 47">
              <a:extLst>
                <a:ext uri="{FF2B5EF4-FFF2-40B4-BE49-F238E27FC236}">
                  <a16:creationId xmlns:a16="http://schemas.microsoft.com/office/drawing/2014/main" id="{31A541F7-F5D0-4640-96A3-B3D97B335A41}"/>
                </a:ext>
              </a:extLst>
            </p:cNvPr>
            <p:cNvGrpSpPr>
              <a:grpSpLocks/>
            </p:cNvGrpSpPr>
            <p:nvPr/>
          </p:nvGrpSpPr>
          <p:grpSpPr bwMode="auto">
            <a:xfrm>
              <a:off x="9688100" y="3448683"/>
              <a:ext cx="406403" cy="514347"/>
              <a:chOff x="4793" y="3390"/>
              <a:chExt cx="256" cy="324"/>
            </a:xfrm>
          </p:grpSpPr>
          <p:sp>
            <p:nvSpPr>
              <p:cNvPr id="59" name="Text Box 66">
                <a:extLst>
                  <a:ext uri="{FF2B5EF4-FFF2-40B4-BE49-F238E27FC236}">
                    <a16:creationId xmlns:a16="http://schemas.microsoft.com/office/drawing/2014/main" id="{CF07F136-1338-44A2-9944-B835A2A260B3}"/>
                  </a:ext>
                </a:extLst>
              </p:cNvPr>
              <p:cNvSpPr txBox="1">
                <a:spLocks noChangeArrowheads="1"/>
              </p:cNvSpPr>
              <p:nvPr/>
            </p:nvSpPr>
            <p:spPr bwMode="auto">
              <a:xfrm>
                <a:off x="4793" y="3390"/>
                <a:ext cx="256"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F</a:t>
                </a:r>
              </a:p>
            </p:txBody>
          </p:sp>
          <p:sp>
            <p:nvSpPr>
              <p:cNvPr id="60" name="Line 67">
                <a:extLst>
                  <a:ext uri="{FF2B5EF4-FFF2-40B4-BE49-F238E27FC236}">
                    <a16:creationId xmlns:a16="http://schemas.microsoft.com/office/drawing/2014/main" id="{A2CE74CF-311E-448A-A8C6-BE7C78D49DDD}"/>
                  </a:ext>
                </a:extLst>
              </p:cNvPr>
              <p:cNvSpPr>
                <a:spLocks noChangeShapeType="1"/>
              </p:cNvSpPr>
              <p:nvPr/>
            </p:nvSpPr>
            <p:spPr bwMode="auto">
              <a:xfrm>
                <a:off x="4843" y="3445"/>
                <a:ext cx="136" cy="0"/>
              </a:xfrm>
              <a:prstGeom prst="line">
                <a:avLst/>
              </a:prstGeom>
              <a:noFill/>
              <a:ln w="12700">
                <a:solidFill>
                  <a:srgbClr val="3333FF"/>
                </a:solidFill>
                <a:round/>
                <a:headEnd/>
                <a:tailEnd type="stealth" w="med" len="med"/>
              </a:ln>
              <a:extLst>
                <a:ext uri="{909E8E84-426E-40DD-AFC4-6F175D3DCCD1}">
                  <a14:hiddenFill xmlns:a14="http://schemas.microsoft.com/office/drawing/2010/main">
                    <a:noFill/>
                  </a14:hiddenFill>
                </a:ext>
              </a:extLst>
            </p:spPr>
            <p:txBody>
              <a:bodyPr lIns="108000" tIns="72000" rIns="108000" bIns="72000" anchor="ctr" anchorCtr="1">
                <a:spAutoFit/>
              </a:bodyPr>
              <a:lstStyle/>
              <a:p>
                <a:endParaRPr lang="en-GB" sz="2400"/>
              </a:p>
            </p:txBody>
          </p:sp>
        </p:grpSp>
      </p:grpSp>
      <p:grpSp>
        <p:nvGrpSpPr>
          <p:cNvPr id="37" name="Grupo 36">
            <a:extLst>
              <a:ext uri="{FF2B5EF4-FFF2-40B4-BE49-F238E27FC236}">
                <a16:creationId xmlns:a16="http://schemas.microsoft.com/office/drawing/2014/main" id="{169034D4-C086-4C8F-A29B-8DF9A4438A95}"/>
              </a:ext>
            </a:extLst>
          </p:cNvPr>
          <p:cNvGrpSpPr>
            <a:grpSpLocks/>
          </p:cNvGrpSpPr>
          <p:nvPr/>
        </p:nvGrpSpPr>
        <p:grpSpPr bwMode="auto">
          <a:xfrm>
            <a:off x="1336331" y="858293"/>
            <a:ext cx="4305295" cy="4833935"/>
            <a:chOff x="1304405" y="510368"/>
            <a:chExt cx="4305294" cy="4833949"/>
          </a:xfrm>
        </p:grpSpPr>
        <p:sp>
          <p:nvSpPr>
            <p:cNvPr id="38" name="Text Box 53">
              <a:extLst>
                <a:ext uri="{FF2B5EF4-FFF2-40B4-BE49-F238E27FC236}">
                  <a16:creationId xmlns:a16="http://schemas.microsoft.com/office/drawing/2014/main" id="{C283E7A0-F2C6-444E-87E1-4D1EBC63E170}"/>
                </a:ext>
              </a:extLst>
            </p:cNvPr>
            <p:cNvSpPr txBox="1">
              <a:spLocks noChangeArrowheads="1"/>
            </p:cNvSpPr>
            <p:nvPr/>
          </p:nvSpPr>
          <p:spPr bwMode="auto">
            <a:xfrm>
              <a:off x="1397834" y="1248626"/>
              <a:ext cx="4103101"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latin typeface="Arial" panose="020B0604020202020204" pitchFamily="34" charset="0"/>
                </a:rPr>
                <a:t>CÁTODO (+)</a:t>
              </a:r>
            </a:p>
          </p:txBody>
        </p:sp>
        <p:sp>
          <p:nvSpPr>
            <p:cNvPr id="39" name="Text Box 54">
              <a:extLst>
                <a:ext uri="{FF2B5EF4-FFF2-40B4-BE49-F238E27FC236}">
                  <a16:creationId xmlns:a16="http://schemas.microsoft.com/office/drawing/2014/main" id="{1B685059-8501-4C89-816F-66A83E0AF852}"/>
                </a:ext>
              </a:extLst>
            </p:cNvPr>
            <p:cNvSpPr txBox="1">
              <a:spLocks noChangeArrowheads="1"/>
            </p:cNvSpPr>
            <p:nvPr/>
          </p:nvSpPr>
          <p:spPr bwMode="auto">
            <a:xfrm>
              <a:off x="1397835" y="4745832"/>
              <a:ext cx="4103099" cy="514739"/>
            </a:xfrm>
            <a:prstGeom prst="rect">
              <a:avLst/>
            </a:prstGeom>
            <a:solidFill>
              <a:schemeClr val="tx2">
                <a:lumMod val="25000"/>
                <a:lumOff val="75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a:latin typeface="Arial" panose="020B0604020202020204" pitchFamily="34" charset="0"/>
                </a:rPr>
                <a:t>ÁNODO (</a:t>
              </a:r>
              <a:r>
                <a:rPr lang="es-ES" sz="2400">
                  <a:latin typeface="Arial" panose="020B0604020202020204" pitchFamily="34" charset="0"/>
                  <a:sym typeface="Symbol" panose="05050102010706020507" pitchFamily="18" charset="2"/>
                </a:rPr>
                <a:t>)</a:t>
              </a:r>
            </a:p>
          </p:txBody>
        </p:sp>
        <p:sp>
          <p:nvSpPr>
            <p:cNvPr id="40" name="Text Box 55">
              <a:extLst>
                <a:ext uri="{FF2B5EF4-FFF2-40B4-BE49-F238E27FC236}">
                  <a16:creationId xmlns:a16="http://schemas.microsoft.com/office/drawing/2014/main" id="{264342A0-EFCA-4855-9A54-C3C784FEB5EF}"/>
                </a:ext>
              </a:extLst>
            </p:cNvPr>
            <p:cNvSpPr txBox="1">
              <a:spLocks noChangeArrowheads="1"/>
            </p:cNvSpPr>
            <p:nvPr/>
          </p:nvSpPr>
          <p:spPr bwMode="auto">
            <a:xfrm>
              <a:off x="1780341" y="2967281"/>
              <a:ext cx="3353420" cy="514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solidFill>
                    <a:srgbClr val="008000"/>
                  </a:solidFill>
                  <a:latin typeface="Arial" panose="020B0604020202020204" pitchFamily="34" charset="0"/>
                </a:rPr>
                <a:t>Disolución electrolítica</a:t>
              </a:r>
            </a:p>
          </p:txBody>
        </p:sp>
        <p:grpSp>
          <p:nvGrpSpPr>
            <p:cNvPr id="41" name="Group 99">
              <a:extLst>
                <a:ext uri="{FF2B5EF4-FFF2-40B4-BE49-F238E27FC236}">
                  <a16:creationId xmlns:a16="http://schemas.microsoft.com/office/drawing/2014/main" id="{AFE027B9-1B44-454B-96E1-1B3FA6746151}"/>
                </a:ext>
              </a:extLst>
            </p:cNvPr>
            <p:cNvGrpSpPr>
              <a:grpSpLocks/>
            </p:cNvGrpSpPr>
            <p:nvPr/>
          </p:nvGrpSpPr>
          <p:grpSpPr bwMode="auto">
            <a:xfrm>
              <a:off x="1304405" y="510368"/>
              <a:ext cx="4305294" cy="4833949"/>
              <a:chOff x="-152" y="2447"/>
              <a:chExt cx="2712" cy="3045"/>
            </a:xfrm>
          </p:grpSpPr>
          <p:sp>
            <p:nvSpPr>
              <p:cNvPr id="42" name="Rectangle 98">
                <a:extLst>
                  <a:ext uri="{FF2B5EF4-FFF2-40B4-BE49-F238E27FC236}">
                    <a16:creationId xmlns:a16="http://schemas.microsoft.com/office/drawing/2014/main" id="{3FF7178B-1CE4-46A4-BE30-2C84434012BB}"/>
                  </a:ext>
                </a:extLst>
              </p:cNvPr>
              <p:cNvSpPr>
                <a:spLocks noChangeArrowheads="1"/>
              </p:cNvSpPr>
              <p:nvPr/>
            </p:nvSpPr>
            <p:spPr bwMode="auto">
              <a:xfrm>
                <a:off x="-152" y="2857"/>
                <a:ext cx="2712" cy="2635"/>
              </a:xfrm>
              <a:prstGeom prst="rect">
                <a:avLst/>
              </a:prstGeom>
              <a:noFill/>
              <a:ln w="25400"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b="1"/>
              </a:p>
            </p:txBody>
          </p:sp>
          <p:sp>
            <p:nvSpPr>
              <p:cNvPr id="51" name="Text Box 97">
                <a:extLst>
                  <a:ext uri="{FF2B5EF4-FFF2-40B4-BE49-F238E27FC236}">
                    <a16:creationId xmlns:a16="http://schemas.microsoft.com/office/drawing/2014/main" id="{72C31A35-09CE-49DF-AB9C-4DA4C78F0308}"/>
                  </a:ext>
                </a:extLst>
              </p:cNvPr>
              <p:cNvSpPr txBox="1">
                <a:spLocks noChangeArrowheads="1"/>
              </p:cNvSpPr>
              <p:nvPr/>
            </p:nvSpPr>
            <p:spPr bwMode="auto">
              <a:xfrm>
                <a:off x="811" y="2447"/>
                <a:ext cx="785" cy="324"/>
              </a:xfrm>
              <a:prstGeom prst="rect">
                <a:avLst/>
              </a:prstGeom>
              <a:solidFill>
                <a:schemeClr val="bg2">
                  <a:lumMod val="60000"/>
                  <a:lumOff val="40000"/>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chemeClr val="tx1"/>
                    </a:solidFill>
                  </a:rPr>
                  <a:t>CELDA</a:t>
                </a:r>
              </a:p>
            </p:txBody>
          </p:sp>
        </p:grpSp>
      </p:grpSp>
      <p:sp>
        <p:nvSpPr>
          <p:cNvPr id="4" name="Text Box 67">
            <a:extLst>
              <a:ext uri="{FF2B5EF4-FFF2-40B4-BE49-F238E27FC236}">
                <a16:creationId xmlns:a16="http://schemas.microsoft.com/office/drawing/2014/main" id="{4B8D3452-9270-4D5C-AC2A-40E944A18A4A}"/>
              </a:ext>
            </a:extLst>
          </p:cNvPr>
          <p:cNvSpPr txBox="1">
            <a:spLocks noChangeArrowheads="1"/>
          </p:cNvSpPr>
          <p:nvPr/>
        </p:nvSpPr>
        <p:spPr bwMode="auto">
          <a:xfrm>
            <a:off x="4854547" y="1646452"/>
            <a:ext cx="540830"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rPr>
              <a:t>+</a:t>
            </a:r>
          </a:p>
        </p:txBody>
      </p:sp>
      <p:sp>
        <p:nvSpPr>
          <p:cNvPr id="5" name="Text Box 68">
            <a:extLst>
              <a:ext uri="{FF2B5EF4-FFF2-40B4-BE49-F238E27FC236}">
                <a16:creationId xmlns:a16="http://schemas.microsoft.com/office/drawing/2014/main" id="{4DBA5249-6506-4754-8825-81EF6F54B02A}"/>
              </a:ext>
            </a:extLst>
          </p:cNvPr>
          <p:cNvSpPr txBox="1">
            <a:spLocks noChangeArrowheads="1"/>
          </p:cNvSpPr>
          <p:nvPr/>
        </p:nvSpPr>
        <p:spPr bwMode="auto">
          <a:xfrm>
            <a:off x="4878777" y="5131369"/>
            <a:ext cx="532816"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sym typeface="Symbol" panose="05050102010706020507" pitchFamily="18" charset="2"/>
              </a:rPr>
              <a:t></a:t>
            </a:r>
          </a:p>
        </p:txBody>
      </p:sp>
      <p:sp>
        <p:nvSpPr>
          <p:cNvPr id="6" name="Text Box 71">
            <a:extLst>
              <a:ext uri="{FF2B5EF4-FFF2-40B4-BE49-F238E27FC236}">
                <a16:creationId xmlns:a16="http://schemas.microsoft.com/office/drawing/2014/main" id="{0AEFC59B-2FA5-E7DC-CE5E-6ECD88EA29B1}"/>
              </a:ext>
            </a:extLst>
          </p:cNvPr>
          <p:cNvSpPr txBox="1">
            <a:spLocks noChangeArrowheads="1"/>
          </p:cNvSpPr>
          <p:nvPr/>
        </p:nvSpPr>
        <p:spPr bwMode="auto">
          <a:xfrm>
            <a:off x="1701332" y="6209535"/>
            <a:ext cx="8129462" cy="514738"/>
          </a:xfrm>
          <a:prstGeom prst="rect">
            <a:avLst/>
          </a:prstGeom>
          <a:solidFill>
            <a:srgbClr val="CCFFCC"/>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a:latin typeface="Arial" panose="020B0604020202020204" pitchFamily="34" charset="0"/>
              </a:rPr>
              <a:t>Las reacciones se </a:t>
            </a:r>
            <a:r>
              <a:rPr lang="es-ES" sz="2400" dirty="0">
                <a:latin typeface="Arial" panose="020B0604020202020204" pitchFamily="34" charset="0"/>
              </a:rPr>
              <a:t>paran </a:t>
            </a:r>
            <a:r>
              <a:rPr lang="es-ES" sz="2400">
                <a:latin typeface="Arial" panose="020B0604020202020204" pitchFamily="34" charset="0"/>
              </a:rPr>
              <a:t>por falta </a:t>
            </a:r>
            <a:r>
              <a:rPr lang="es-ES" sz="2400" dirty="0">
                <a:latin typeface="Arial" panose="020B0604020202020204" pitchFamily="34" charset="0"/>
              </a:rPr>
              <a:t>de </a:t>
            </a:r>
            <a:r>
              <a:rPr lang="es-ES" sz="2400">
                <a:latin typeface="Arial" panose="020B0604020202020204" pitchFamily="34" charset="0"/>
              </a:rPr>
              <a:t>reactivos (de iones</a:t>
            </a:r>
            <a:r>
              <a:rPr lang="es-ES" sz="2400" dirty="0">
                <a:latin typeface="Arial" panose="020B0604020202020204" pitchFamily="34" charset="0"/>
              </a:rPr>
              <a:t>)</a:t>
            </a:r>
          </a:p>
        </p:txBody>
      </p:sp>
    </p:spTree>
    <p:extLst>
      <p:ext uri="{BB962C8B-B14F-4D97-AF65-F5344CB8AC3E}">
        <p14:creationId xmlns:p14="http://schemas.microsoft.com/office/powerpoint/2010/main" val="1409896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up)">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wipe(left)">
                                      <p:cBhvr>
                                        <p:cTn id="17" dur="500"/>
                                        <p:tgtEl>
                                          <p:spTgt spid="45"/>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dissolv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42"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arn(outHorizontal)">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p:tgtEl>
                                          <p:spTgt spid="26"/>
                                        </p:tgtEl>
                                        <p:attrNameLst>
                                          <p:attrName>ppt_y</p:attrName>
                                        </p:attrNameLst>
                                      </p:cBhvr>
                                      <p:tavLst>
                                        <p:tav tm="0">
                                          <p:val>
                                            <p:strVal val="#ppt_y-#ppt_h*1.125000"/>
                                          </p:val>
                                        </p:tav>
                                        <p:tav tm="100000">
                                          <p:val>
                                            <p:strVal val="#ppt_y"/>
                                          </p:val>
                                        </p:tav>
                                      </p:tavLst>
                                    </p:anim>
                                    <p:animEffect transition="in" filter="wipe(down)">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p:tgtEl>
                                          <p:spTgt spid="22"/>
                                        </p:tgtEl>
                                        <p:attrNameLst>
                                          <p:attrName>ppt_y</p:attrName>
                                        </p:attrNameLst>
                                      </p:cBhvr>
                                      <p:tavLst>
                                        <p:tav tm="0">
                                          <p:val>
                                            <p:strVal val="#ppt_y+#ppt_h*1.125000"/>
                                          </p:val>
                                        </p:tav>
                                        <p:tav tm="100000">
                                          <p:val>
                                            <p:strVal val="#ppt_y"/>
                                          </p:val>
                                        </p:tav>
                                      </p:tavLst>
                                    </p:anim>
                                    <p:animEffect transition="in" filter="wipe(up)">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up)">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up)">
                                      <p:cBhvr>
                                        <p:cTn id="4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50"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Line 9"/>
          <p:cNvSpPr>
            <a:spLocks noChangeShapeType="1"/>
          </p:cNvSpPr>
          <p:nvPr/>
        </p:nvSpPr>
        <p:spPr bwMode="auto">
          <a:xfrm rot="5400000">
            <a:off x="3115710" y="924221"/>
            <a:ext cx="0" cy="719138"/>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21508" name="Text Box 10"/>
          <p:cNvSpPr txBox="1">
            <a:spLocks noChangeArrowheads="1"/>
          </p:cNvSpPr>
          <p:nvPr/>
        </p:nvSpPr>
        <p:spPr bwMode="auto">
          <a:xfrm>
            <a:off x="2948229" y="807696"/>
            <a:ext cx="3869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E</a:t>
            </a:r>
          </a:p>
        </p:txBody>
      </p:sp>
      <p:sp>
        <p:nvSpPr>
          <p:cNvPr id="21509" name="Line 11"/>
          <p:cNvSpPr>
            <a:spLocks noChangeShapeType="1"/>
          </p:cNvSpPr>
          <p:nvPr/>
        </p:nvSpPr>
        <p:spPr bwMode="auto">
          <a:xfrm>
            <a:off x="3051086" y="895008"/>
            <a:ext cx="215900"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5137" name="Text Box 24"/>
          <p:cNvSpPr txBox="1">
            <a:spLocks noChangeArrowheads="1"/>
          </p:cNvSpPr>
          <p:nvPr/>
        </p:nvSpPr>
        <p:spPr bwMode="auto">
          <a:xfrm>
            <a:off x="1259996" y="4156444"/>
            <a:ext cx="3851389" cy="1924397"/>
          </a:xfrm>
          <a:prstGeom prst="rect">
            <a:avLst/>
          </a:prstGeom>
          <a:solidFill>
            <a:schemeClr val="accent1">
              <a:lumMod val="60000"/>
              <a:lumOff val="40000"/>
            </a:schemeClr>
          </a:solidFill>
          <a:ln>
            <a:noFill/>
          </a:ln>
        </p:spPr>
        <p:txBody>
          <a:bodyPr lIns="126000" tIns="118800" rIns="126000" bIns="118800" anchor="ctr" anchorCtr="1">
            <a:no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rPr>
              <a:t>El proceso es equivalente a transportar electrones</a:t>
            </a:r>
          </a:p>
          <a:p>
            <a:pPr algn="ctr" eaLnBrk="1" hangingPunct="1">
              <a:spcBef>
                <a:spcPts val="0"/>
              </a:spcBef>
              <a:buFontTx/>
              <a:buNone/>
            </a:pPr>
            <a:r>
              <a:rPr lang="es-ES" sz="2400" dirty="0">
                <a:latin typeface="Arial" panose="020B0604020202020204" pitchFamily="34" charset="0"/>
                <a:sym typeface="Symbol" panose="05050102010706020507" pitchFamily="18" charset="2"/>
              </a:rPr>
              <a:t>a través de </a:t>
            </a:r>
            <a:r>
              <a:rPr lang="es-ES" sz="2400">
                <a:latin typeface="Arial" panose="020B0604020202020204" pitchFamily="34" charset="0"/>
                <a:sym typeface="Symbol" panose="05050102010706020507" pitchFamily="18" charset="2"/>
              </a:rPr>
              <a:t>la pila</a:t>
            </a:r>
            <a:endParaRPr lang="es-ES" sz="2400" dirty="0">
              <a:latin typeface="Arial" panose="020B0604020202020204" pitchFamily="34" charset="0"/>
              <a:sym typeface="Symbol" panose="05050102010706020507" pitchFamily="18" charset="2"/>
            </a:endParaRPr>
          </a:p>
          <a:p>
            <a:pPr algn="ctr" eaLnBrk="1" hangingPunct="1">
              <a:spcBef>
                <a:spcPts val="0"/>
              </a:spcBef>
              <a:buFontTx/>
              <a:buNone/>
            </a:pPr>
            <a:r>
              <a:rPr lang="es-ES" sz="2400" dirty="0">
                <a:latin typeface="Arial" panose="020B0604020202020204" pitchFamily="34" charset="0"/>
                <a:sym typeface="Symbol" panose="05050102010706020507" pitchFamily="18" charset="2"/>
              </a:rPr>
              <a:t>para dejar todo igual</a:t>
            </a:r>
          </a:p>
          <a:p>
            <a:pPr algn="ctr" eaLnBrk="1" hangingPunct="1">
              <a:spcBef>
                <a:spcPts val="0"/>
              </a:spcBef>
              <a:buFontTx/>
              <a:buNone/>
            </a:pPr>
            <a:r>
              <a:rPr lang="es-ES" sz="2400" dirty="0">
                <a:latin typeface="Arial" panose="020B0604020202020204" pitchFamily="34" charset="0"/>
                <a:sym typeface="Symbol" panose="05050102010706020507" pitchFamily="18" charset="2"/>
              </a:rPr>
              <a:t>que al principio</a:t>
            </a:r>
            <a:r>
              <a:rPr lang="es-ES" sz="2400" dirty="0">
                <a:latin typeface="Arial" panose="020B0604020202020204" pitchFamily="34" charset="0"/>
              </a:rPr>
              <a:t> </a:t>
            </a:r>
          </a:p>
        </p:txBody>
      </p:sp>
      <p:sp>
        <p:nvSpPr>
          <p:cNvPr id="21512" name="Line 13"/>
          <p:cNvSpPr>
            <a:spLocks noChangeShapeType="1"/>
          </p:cNvSpPr>
          <p:nvPr/>
        </p:nvSpPr>
        <p:spPr bwMode="auto">
          <a:xfrm flipV="1">
            <a:off x="1604873" y="1687650"/>
            <a:ext cx="28797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21513" name="Text Box 67"/>
          <p:cNvSpPr txBox="1">
            <a:spLocks noChangeArrowheads="1"/>
          </p:cNvSpPr>
          <p:nvPr/>
        </p:nvSpPr>
        <p:spPr bwMode="auto">
          <a:xfrm>
            <a:off x="3759111" y="904042"/>
            <a:ext cx="540830"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rPr>
              <a:t>+</a:t>
            </a:r>
          </a:p>
        </p:txBody>
      </p:sp>
      <p:sp>
        <p:nvSpPr>
          <p:cNvPr id="21514" name="Text Box 68"/>
          <p:cNvSpPr txBox="1">
            <a:spLocks noChangeArrowheads="1"/>
          </p:cNvSpPr>
          <p:nvPr/>
        </p:nvSpPr>
        <p:spPr bwMode="auto">
          <a:xfrm>
            <a:off x="1996986" y="904042"/>
            <a:ext cx="532816"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sym typeface="Symbol" panose="05050102010706020507" pitchFamily="18" charset="2"/>
              </a:rPr>
              <a:t></a:t>
            </a:r>
          </a:p>
        </p:txBody>
      </p:sp>
      <p:sp>
        <p:nvSpPr>
          <p:cNvPr id="21570" name="Text Box 23"/>
          <p:cNvSpPr txBox="1">
            <a:spLocks noChangeArrowheads="1"/>
          </p:cNvSpPr>
          <p:nvPr/>
        </p:nvSpPr>
        <p:spPr bwMode="auto">
          <a:xfrm>
            <a:off x="5154719" y="1695528"/>
            <a:ext cx="5183095" cy="905881"/>
          </a:xfrm>
          <a:prstGeom prst="rect">
            <a:avLst/>
          </a:prstGeom>
          <a:solidFill>
            <a:schemeClr val="tx2">
              <a:lumMod val="25000"/>
              <a:lumOff val="75000"/>
            </a:schemeClr>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defRPr/>
            </a:pPr>
            <a:r>
              <a:rPr lang="es-ES" sz="2400" dirty="0">
                <a:latin typeface="Arial" panose="020B0604020202020204" pitchFamily="34" charset="0"/>
              </a:rPr>
              <a:t>Con ello llegan y salen electrones</a:t>
            </a:r>
          </a:p>
          <a:p>
            <a:pPr algn="ctr" eaLnBrk="1" hangingPunct="1">
              <a:spcBef>
                <a:spcPts val="0"/>
              </a:spcBef>
              <a:buFontTx/>
              <a:buNone/>
              <a:defRPr/>
            </a:pPr>
            <a:r>
              <a:rPr lang="es-ES" sz="2400" dirty="0">
                <a:latin typeface="Arial" panose="020B0604020202020204" pitchFamily="34" charset="0"/>
                <a:sym typeface="Symbol" panose="05050102010706020507" pitchFamily="18" charset="2"/>
              </a:rPr>
              <a:t>de los terminales</a:t>
            </a:r>
          </a:p>
        </p:txBody>
      </p:sp>
      <p:grpSp>
        <p:nvGrpSpPr>
          <p:cNvPr id="61484" name="Group 44"/>
          <p:cNvGrpSpPr>
            <a:grpSpLocks/>
          </p:cNvGrpSpPr>
          <p:nvPr/>
        </p:nvGrpSpPr>
        <p:grpSpPr bwMode="auto">
          <a:xfrm>
            <a:off x="2017117" y="3316638"/>
            <a:ext cx="2209800" cy="536575"/>
            <a:chOff x="736" y="2446"/>
            <a:chExt cx="1392" cy="338"/>
          </a:xfrm>
        </p:grpSpPr>
        <p:sp>
          <p:nvSpPr>
            <p:cNvPr id="21548" name="Text Box 28"/>
            <p:cNvSpPr txBox="1">
              <a:spLocks noChangeArrowheads="1"/>
            </p:cNvSpPr>
            <p:nvPr/>
          </p:nvSpPr>
          <p:spPr bwMode="auto">
            <a:xfrm>
              <a:off x="736" y="2446"/>
              <a:ext cx="1392" cy="338"/>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rPr>
                <a:t>E </a:t>
              </a:r>
              <a:r>
                <a:rPr lang="es-ES" sz="2400">
                  <a:latin typeface="Arial" panose="020B0604020202020204" pitchFamily="34" charset="0"/>
                </a:rPr>
                <a:t>se opone</a:t>
              </a:r>
              <a:endParaRPr lang="es-ES" sz="2400" dirty="0">
                <a:latin typeface="Arial" panose="020B0604020202020204" pitchFamily="34" charset="0"/>
              </a:endParaRPr>
            </a:p>
          </p:txBody>
        </p:sp>
        <p:sp>
          <p:nvSpPr>
            <p:cNvPr id="21549" name="Line 62"/>
            <p:cNvSpPr>
              <a:spLocks noChangeShapeType="1"/>
            </p:cNvSpPr>
            <p:nvPr/>
          </p:nvSpPr>
          <p:spPr bwMode="auto">
            <a:xfrm flipV="1">
              <a:off x="958" y="2490"/>
              <a:ext cx="136" cy="0"/>
            </a:xfrm>
            <a:prstGeom prst="line">
              <a:avLst/>
            </a:prstGeom>
            <a:noFill/>
            <a:ln w="12700">
              <a:solidFill>
                <a:schemeClr val="tx2"/>
              </a:solidFill>
              <a:round/>
              <a:headEnd/>
              <a:tailEnd type="arrow"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grpSp>
      <p:sp>
        <p:nvSpPr>
          <p:cNvPr id="21517" name="Rectangle 51"/>
          <p:cNvSpPr>
            <a:spLocks noChangeArrowheads="1"/>
          </p:cNvSpPr>
          <p:nvPr/>
        </p:nvSpPr>
        <p:spPr bwMode="auto">
          <a:xfrm>
            <a:off x="2214473" y="1447938"/>
            <a:ext cx="1781175" cy="514350"/>
          </a:xfrm>
          <a:prstGeom prst="rect">
            <a:avLst/>
          </a:prstGeom>
          <a:solidFill>
            <a:srgbClr val="C0C0C0"/>
          </a:solidFill>
          <a:ln w="25400" algn="ctr">
            <a:solidFill>
              <a:schemeClr val="tx1"/>
            </a:solidFill>
            <a:miter lim="800000"/>
            <a:headEnd/>
            <a:tailEnd/>
          </a:ln>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b="1"/>
          </a:p>
        </p:txBody>
      </p:sp>
      <p:grpSp>
        <p:nvGrpSpPr>
          <p:cNvPr id="4" name="Group 61"/>
          <p:cNvGrpSpPr>
            <a:grpSpLocks/>
          </p:cNvGrpSpPr>
          <p:nvPr/>
        </p:nvGrpSpPr>
        <p:grpSpPr bwMode="auto">
          <a:xfrm>
            <a:off x="2321797" y="1546363"/>
            <a:ext cx="525463" cy="288925"/>
            <a:chOff x="1843" y="1411"/>
            <a:chExt cx="331" cy="182"/>
          </a:xfrm>
        </p:grpSpPr>
        <p:sp>
          <p:nvSpPr>
            <p:cNvPr id="21545" name="Line 22"/>
            <p:cNvSpPr>
              <a:spLocks noChangeShapeType="1"/>
            </p:cNvSpPr>
            <p:nvPr/>
          </p:nvSpPr>
          <p:spPr bwMode="auto">
            <a:xfrm flipH="1" flipV="1">
              <a:off x="1843" y="1494"/>
              <a:ext cx="227" cy="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pic>
          <p:nvPicPr>
            <p:cNvPr id="21546" name="Picture 21"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 y="1411"/>
              <a:ext cx="19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496" name="Group 56"/>
          <p:cNvGrpSpPr>
            <a:grpSpLocks/>
          </p:cNvGrpSpPr>
          <p:nvPr/>
        </p:nvGrpSpPr>
        <p:grpSpPr bwMode="auto">
          <a:xfrm>
            <a:off x="3651161" y="1530488"/>
            <a:ext cx="503237" cy="288925"/>
            <a:chOff x="2265" y="1329"/>
            <a:chExt cx="317" cy="182"/>
          </a:xfrm>
        </p:grpSpPr>
        <p:sp>
          <p:nvSpPr>
            <p:cNvPr id="8" name="Line 66"/>
            <p:cNvSpPr>
              <a:spLocks noChangeShapeType="1"/>
            </p:cNvSpPr>
            <p:nvPr/>
          </p:nvSpPr>
          <p:spPr bwMode="auto">
            <a:xfrm flipH="1" flipV="1">
              <a:off x="2265" y="1422"/>
              <a:ext cx="227" cy="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pic>
          <p:nvPicPr>
            <p:cNvPr id="21544" name="Picture 16"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2" y="1329"/>
              <a:ext cx="19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499" name="Group 59"/>
          <p:cNvGrpSpPr>
            <a:grpSpLocks/>
          </p:cNvGrpSpPr>
          <p:nvPr/>
        </p:nvGrpSpPr>
        <p:grpSpPr bwMode="auto">
          <a:xfrm>
            <a:off x="1570094" y="1543188"/>
            <a:ext cx="566738" cy="288925"/>
            <a:chOff x="1090" y="1337"/>
            <a:chExt cx="357" cy="182"/>
          </a:xfrm>
        </p:grpSpPr>
        <p:sp>
          <p:nvSpPr>
            <p:cNvPr id="21541" name="Line 65"/>
            <p:cNvSpPr>
              <a:spLocks noChangeShapeType="1"/>
            </p:cNvSpPr>
            <p:nvPr/>
          </p:nvSpPr>
          <p:spPr bwMode="auto">
            <a:xfrm flipH="1" flipV="1">
              <a:off x="1090" y="1424"/>
              <a:ext cx="227" cy="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pic>
          <p:nvPicPr>
            <p:cNvPr id="21542" name="Picture 19"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 y="1337"/>
              <a:ext cx="19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47" name="Text Box 69"/>
          <p:cNvSpPr txBox="1">
            <a:spLocks noChangeArrowheads="1"/>
          </p:cNvSpPr>
          <p:nvPr/>
        </p:nvSpPr>
        <p:spPr bwMode="auto">
          <a:xfrm>
            <a:off x="5274725" y="4439927"/>
            <a:ext cx="5038407" cy="1253402"/>
          </a:xfrm>
          <a:prstGeom prst="rect">
            <a:avLst/>
          </a:prstGeom>
          <a:solidFill>
            <a:srgbClr val="FFFF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a:latin typeface="Arial" panose="020B0604020202020204" pitchFamily="34" charset="0"/>
                <a:sym typeface="Symbol" panose="05050102010706020507" pitchFamily="18" charset="2"/>
              </a:rPr>
              <a:t>Se reactivan las reacciones químicas, al dominar la difusión, aumentando el valor de Q</a:t>
            </a:r>
            <a:r>
              <a:rPr lang="es-ES" sz="2400" baseline="30000">
                <a:latin typeface="Arial" panose="020B0604020202020204" pitchFamily="34" charset="0"/>
                <a:sym typeface="Symbol" panose="05050102010706020507" pitchFamily="18" charset="2"/>
              </a:rPr>
              <a:t>+</a:t>
            </a:r>
            <a:r>
              <a:rPr lang="es-ES" sz="2400">
                <a:latin typeface="Arial" panose="020B0604020202020204" pitchFamily="34" charset="0"/>
                <a:sym typeface="Symbol" panose="05050102010706020507" pitchFamily="18" charset="2"/>
              </a:rPr>
              <a:t>, |Q</a:t>
            </a:r>
            <a:r>
              <a:rPr lang="es-ES" sz="2400" baseline="30000">
                <a:latin typeface="Arial" panose="020B0604020202020204" pitchFamily="34" charset="0"/>
                <a:sym typeface="Symbol" panose="05050102010706020507" pitchFamily="18" charset="2"/>
              </a:rPr>
              <a:t>-</a:t>
            </a:r>
            <a:r>
              <a:rPr lang="es-ES" sz="2400">
                <a:latin typeface="Arial" panose="020B0604020202020204" pitchFamily="34" charset="0"/>
                <a:sym typeface="Symbol" panose="05050102010706020507" pitchFamily="18" charset="2"/>
              </a:rPr>
              <a:t>| y </a:t>
            </a:r>
            <a:r>
              <a:rPr lang="es-ES" sz="2400" b="1">
                <a:latin typeface="Arial" panose="020B0604020202020204" pitchFamily="34" charset="0"/>
                <a:sym typeface="Symbol" panose="05050102010706020507" pitchFamily="18" charset="2"/>
              </a:rPr>
              <a:t>E</a:t>
            </a:r>
            <a:endParaRPr lang="es-ES" sz="2400" baseline="30000">
              <a:latin typeface="Arial" panose="020B0604020202020204" pitchFamily="34" charset="0"/>
              <a:sym typeface="Symbol" panose="05050102010706020507" pitchFamily="18" charset="2"/>
            </a:endParaRPr>
          </a:p>
        </p:txBody>
      </p:sp>
      <p:grpSp>
        <p:nvGrpSpPr>
          <p:cNvPr id="5" name="Grupo 4"/>
          <p:cNvGrpSpPr>
            <a:grpSpLocks/>
          </p:cNvGrpSpPr>
          <p:nvPr/>
        </p:nvGrpSpPr>
        <p:grpSpPr bwMode="auto">
          <a:xfrm>
            <a:off x="6657261" y="2504965"/>
            <a:ext cx="2245392" cy="773111"/>
            <a:chOff x="6922433" y="2237698"/>
            <a:chExt cx="2244599" cy="773683"/>
          </a:xfrm>
        </p:grpSpPr>
        <p:sp>
          <p:nvSpPr>
            <p:cNvPr id="21535" name="AutoShape 81"/>
            <p:cNvSpPr>
              <a:spLocks noChangeArrowheads="1"/>
            </p:cNvSpPr>
            <p:nvPr/>
          </p:nvSpPr>
          <p:spPr bwMode="auto">
            <a:xfrm rot="5400000">
              <a:off x="7920040" y="1995824"/>
              <a:ext cx="249387" cy="733136"/>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1536" name="Text Box 72"/>
            <p:cNvSpPr txBox="1">
              <a:spLocks noChangeArrowheads="1"/>
            </p:cNvSpPr>
            <p:nvPr/>
          </p:nvSpPr>
          <p:spPr bwMode="auto">
            <a:xfrm>
              <a:off x="6922433" y="2497426"/>
              <a:ext cx="2244599" cy="5139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s-ES" sz="2400">
                  <a:latin typeface="Arial" panose="020B0604020202020204" pitchFamily="34" charset="0"/>
                  <a:sym typeface="Symbol" panose="05050102010706020507" pitchFamily="18" charset="2"/>
                </a:rPr>
                <a:t>Q</a:t>
              </a:r>
              <a:r>
                <a:rPr lang="es-ES" sz="2400" baseline="30000">
                  <a:latin typeface="Arial" panose="020B0604020202020204" pitchFamily="34" charset="0"/>
                  <a:sym typeface="Symbol" panose="05050102010706020507" pitchFamily="18" charset="2"/>
                </a:rPr>
                <a:t>+</a:t>
              </a:r>
              <a:r>
                <a:rPr lang="es-ES" sz="2400">
                  <a:latin typeface="Arial" panose="020B0604020202020204" pitchFamily="34" charset="0"/>
                  <a:sym typeface="Symbol" panose="05050102010706020507" pitchFamily="18" charset="2"/>
                </a:rPr>
                <a:t> y |Q</a:t>
              </a:r>
              <a:r>
                <a:rPr lang="es-ES" sz="2400" baseline="30000">
                  <a:latin typeface="Arial" panose="020B0604020202020204" pitchFamily="34" charset="0"/>
                  <a:sym typeface="Symbol" panose="05050102010706020507" pitchFamily="18" charset="2"/>
                </a:rPr>
                <a:t>-</a:t>
              </a:r>
              <a:r>
                <a:rPr lang="es-ES" sz="2400">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sym typeface="Symbol" panose="05050102010706020507" pitchFamily="18" charset="2"/>
                </a:rPr>
                <a:t> bajan</a:t>
              </a:r>
            </a:p>
          </p:txBody>
        </p:sp>
      </p:grpSp>
      <p:grpSp>
        <p:nvGrpSpPr>
          <p:cNvPr id="6" name="Grupo 5"/>
          <p:cNvGrpSpPr>
            <a:grpSpLocks/>
          </p:cNvGrpSpPr>
          <p:nvPr/>
        </p:nvGrpSpPr>
        <p:grpSpPr bwMode="auto">
          <a:xfrm>
            <a:off x="6675435" y="3310752"/>
            <a:ext cx="2209039" cy="742830"/>
            <a:chOff x="6940601" y="3180824"/>
            <a:chExt cx="2208259" cy="743378"/>
          </a:xfrm>
        </p:grpSpPr>
        <p:sp>
          <p:nvSpPr>
            <p:cNvPr id="21533" name="Text Box 72"/>
            <p:cNvSpPr txBox="1">
              <a:spLocks noChangeArrowheads="1"/>
            </p:cNvSpPr>
            <p:nvPr/>
          </p:nvSpPr>
          <p:spPr bwMode="auto">
            <a:xfrm>
              <a:off x="6940601" y="3410247"/>
              <a:ext cx="2208259" cy="5139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s-ES" sz="2400" b="1">
                  <a:latin typeface="Arial" panose="020B0604020202020204" pitchFamily="34" charset="0"/>
                  <a:sym typeface="Symbol" panose="05050102010706020507" pitchFamily="18" charset="2"/>
                </a:rPr>
                <a:t>E</a:t>
              </a:r>
              <a:r>
                <a:rPr lang="es-ES" sz="2400">
                  <a:solidFill>
                    <a:srgbClr val="FF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sym typeface="Symbol" panose="05050102010706020507" pitchFamily="18" charset="2"/>
                </a:rPr>
                <a:t>disminuye</a:t>
              </a:r>
            </a:p>
          </p:txBody>
        </p:sp>
        <p:sp>
          <p:nvSpPr>
            <p:cNvPr id="21534" name="AutoShape 81"/>
            <p:cNvSpPr>
              <a:spLocks noChangeArrowheads="1"/>
            </p:cNvSpPr>
            <p:nvPr/>
          </p:nvSpPr>
          <p:spPr bwMode="auto">
            <a:xfrm rot="5400000">
              <a:off x="7931375" y="2927613"/>
              <a:ext cx="226714" cy="733136"/>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grpSp>
        <p:nvGrpSpPr>
          <p:cNvPr id="7" name="Grupo 6"/>
          <p:cNvGrpSpPr>
            <a:grpSpLocks/>
          </p:cNvGrpSpPr>
          <p:nvPr/>
        </p:nvGrpSpPr>
        <p:grpSpPr bwMode="auto">
          <a:xfrm>
            <a:off x="7447479" y="3991267"/>
            <a:ext cx="2970133" cy="536549"/>
            <a:chOff x="7711489" y="4132803"/>
            <a:chExt cx="2971269" cy="535134"/>
          </a:xfrm>
        </p:grpSpPr>
        <p:sp>
          <p:nvSpPr>
            <p:cNvPr id="21531" name="Text Box 61"/>
            <p:cNvSpPr txBox="1">
              <a:spLocks noChangeArrowheads="1"/>
            </p:cNvSpPr>
            <p:nvPr/>
          </p:nvSpPr>
          <p:spPr bwMode="auto">
            <a:xfrm>
              <a:off x="8311725" y="4132803"/>
              <a:ext cx="2371033" cy="535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FF0000"/>
                  </a:solidFill>
                  <a:latin typeface="Arial" panose="020B0604020202020204" pitchFamily="34" charset="0"/>
                </a:rPr>
                <a:t>Si hay reactivos</a:t>
              </a:r>
            </a:p>
          </p:txBody>
        </p:sp>
        <p:sp>
          <p:nvSpPr>
            <p:cNvPr id="21532" name="AutoShape 81"/>
            <p:cNvSpPr>
              <a:spLocks noChangeArrowheads="1"/>
            </p:cNvSpPr>
            <p:nvPr/>
          </p:nvSpPr>
          <p:spPr bwMode="auto">
            <a:xfrm rot="5400000">
              <a:off x="7907571" y="4035847"/>
              <a:ext cx="274324" cy="666487"/>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grpSp>
        <p:nvGrpSpPr>
          <p:cNvPr id="9" name="Grupo 8"/>
          <p:cNvGrpSpPr>
            <a:grpSpLocks/>
          </p:cNvGrpSpPr>
          <p:nvPr/>
        </p:nvGrpSpPr>
        <p:grpSpPr bwMode="auto">
          <a:xfrm>
            <a:off x="5274723" y="5729089"/>
            <a:ext cx="5038407" cy="1174458"/>
            <a:chOff x="5538874" y="5697511"/>
            <a:chExt cx="5039663" cy="1174525"/>
          </a:xfrm>
          <a:solidFill>
            <a:srgbClr val="FFFFFF"/>
          </a:solidFill>
        </p:grpSpPr>
        <p:sp>
          <p:nvSpPr>
            <p:cNvPr id="21529" name="AutoShape 81"/>
            <p:cNvSpPr>
              <a:spLocks noChangeArrowheads="1"/>
            </p:cNvSpPr>
            <p:nvPr/>
          </p:nvSpPr>
          <p:spPr bwMode="auto">
            <a:xfrm rot="5400000">
              <a:off x="7920039" y="5455635"/>
              <a:ext cx="249386" cy="733137"/>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1530" name="Text Box 69"/>
            <p:cNvSpPr txBox="1">
              <a:spLocks noChangeArrowheads="1"/>
            </p:cNvSpPr>
            <p:nvPr/>
          </p:nvSpPr>
          <p:spPr bwMode="auto">
            <a:xfrm>
              <a:off x="5538874" y="5966103"/>
              <a:ext cx="5039663" cy="90593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sym typeface="Symbol" panose="05050102010706020507" pitchFamily="18" charset="2"/>
                </a:rPr>
                <a:t>La pila recupera </a:t>
              </a:r>
              <a:r>
                <a:rPr lang="es-ES" sz="2400" dirty="0">
                  <a:latin typeface="Arial" panose="020B0604020202020204" pitchFamily="34" charset="0"/>
                  <a:sym typeface="Symbol" panose="05050102010706020507" pitchFamily="18" charset="2"/>
                </a:rPr>
                <a:t>los valores de Q</a:t>
              </a:r>
              <a:r>
                <a:rPr lang="es-ES" sz="2400" baseline="300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a:t>
              </a:r>
            </a:p>
            <a:p>
              <a:pPr algn="ctr" eaLnBrk="1" hangingPunct="1">
                <a:spcBef>
                  <a:spcPts val="0"/>
                </a:spcBef>
                <a:buFontTx/>
                <a:buNone/>
              </a:pPr>
              <a:r>
                <a:rPr lang="es-ES" sz="2400" dirty="0">
                  <a:latin typeface="Arial" panose="020B0604020202020204" pitchFamily="34" charset="0"/>
                  <a:sym typeface="Symbol" panose="05050102010706020507" pitchFamily="18" charset="2"/>
                </a:rPr>
                <a:t>|Q</a:t>
              </a:r>
              <a:r>
                <a:rPr lang="es-ES" sz="2400" baseline="300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 y </a:t>
              </a:r>
              <a:r>
                <a:rPr lang="es-ES" sz="2400" b="1" dirty="0">
                  <a:latin typeface="Arial" panose="020B0604020202020204" pitchFamily="34" charset="0"/>
                  <a:sym typeface="Symbol" panose="05050102010706020507" pitchFamily="18" charset="2"/>
                </a:rPr>
                <a:t>E</a:t>
              </a:r>
              <a:r>
                <a:rPr lang="es-ES" sz="2400" dirty="0">
                  <a:latin typeface="Arial" panose="020B0604020202020204" pitchFamily="34" charset="0"/>
                  <a:sym typeface="Symbol" panose="05050102010706020507" pitchFamily="18" charset="2"/>
                </a:rPr>
                <a:t> mientras haya reactivos</a:t>
              </a:r>
              <a:endParaRPr lang="es-ES" sz="2400" baseline="30000" dirty="0">
                <a:latin typeface="Arial" panose="020B0604020202020204" pitchFamily="34" charset="0"/>
                <a:sym typeface="Symbol" panose="05050102010706020507" pitchFamily="18" charset="2"/>
              </a:endParaRPr>
            </a:p>
          </p:txBody>
        </p:sp>
      </p:grpSp>
      <p:sp>
        <p:nvSpPr>
          <p:cNvPr id="45" name="Text Box 52"/>
          <p:cNvSpPr txBox="1">
            <a:spLocks noChangeArrowheads="1"/>
          </p:cNvSpPr>
          <p:nvPr/>
        </p:nvSpPr>
        <p:spPr bwMode="auto">
          <a:xfrm>
            <a:off x="1911657" y="346770"/>
            <a:ext cx="2376000" cy="432000"/>
          </a:xfrm>
          <a:prstGeom prst="rect">
            <a:avLst/>
          </a:prstGeom>
          <a:solidFill>
            <a:schemeClr val="bg2">
              <a:lumMod val="60000"/>
              <a:lumOff val="40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chemeClr val="tx1"/>
                </a:solidFill>
              </a:rPr>
              <a:t>PILA conectada</a:t>
            </a:r>
          </a:p>
        </p:txBody>
      </p:sp>
      <p:grpSp>
        <p:nvGrpSpPr>
          <p:cNvPr id="11" name="Grupo 10"/>
          <p:cNvGrpSpPr/>
          <p:nvPr/>
        </p:nvGrpSpPr>
        <p:grpSpPr>
          <a:xfrm>
            <a:off x="2833455" y="1684939"/>
            <a:ext cx="594329" cy="784227"/>
            <a:chOff x="8114380" y="1560228"/>
            <a:chExt cx="594329" cy="784227"/>
          </a:xfrm>
        </p:grpSpPr>
        <p:sp>
          <p:nvSpPr>
            <p:cNvPr id="46" name="Line 9"/>
            <p:cNvSpPr>
              <a:spLocks noChangeShapeType="1"/>
            </p:cNvSpPr>
            <p:nvPr/>
          </p:nvSpPr>
          <p:spPr bwMode="auto">
            <a:xfrm rot="16200000" flipH="1">
              <a:off x="8411545" y="1263063"/>
              <a:ext cx="0" cy="594329"/>
            </a:xfrm>
            <a:prstGeom prst="line">
              <a:avLst/>
            </a:prstGeom>
            <a:noFill/>
            <a:ln w="38100">
              <a:solidFill>
                <a:srgbClr val="3333FF"/>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47" name="Text Box 10"/>
            <p:cNvSpPr txBox="1">
              <a:spLocks noChangeArrowheads="1"/>
            </p:cNvSpPr>
            <p:nvPr/>
          </p:nvSpPr>
          <p:spPr bwMode="auto">
            <a:xfrm>
              <a:off x="8191728" y="1807906"/>
              <a:ext cx="36931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F</a:t>
              </a:r>
            </a:p>
          </p:txBody>
        </p:sp>
        <p:sp>
          <p:nvSpPr>
            <p:cNvPr id="48" name="Line 11"/>
            <p:cNvSpPr>
              <a:spLocks noChangeShapeType="1"/>
            </p:cNvSpPr>
            <p:nvPr/>
          </p:nvSpPr>
          <p:spPr bwMode="auto">
            <a:xfrm>
              <a:off x="8252053" y="1895218"/>
              <a:ext cx="215900" cy="0"/>
            </a:xfrm>
            <a:prstGeom prst="line">
              <a:avLst/>
            </a:prstGeom>
            <a:noFill/>
            <a:ln w="12700">
              <a:solidFill>
                <a:srgbClr val="3333FF"/>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grpSp>
      <p:sp>
        <p:nvSpPr>
          <p:cNvPr id="10" name="Forma libre 9"/>
          <p:cNvSpPr/>
          <p:nvPr/>
        </p:nvSpPr>
        <p:spPr bwMode="auto">
          <a:xfrm flipH="1">
            <a:off x="3112175" y="6040729"/>
            <a:ext cx="2160270" cy="468000"/>
          </a:xfrm>
          <a:custGeom>
            <a:avLst/>
            <a:gdLst>
              <a:gd name="connsiteX0" fmla="*/ 0 w 1963882"/>
              <a:gd name="connsiteY0" fmla="*/ 415636 h 426027"/>
              <a:gd name="connsiteX1" fmla="*/ 1953491 w 1963882"/>
              <a:gd name="connsiteY1" fmla="*/ 426027 h 426027"/>
              <a:gd name="connsiteX2" fmla="*/ 1953491 w 1963882"/>
              <a:gd name="connsiteY2" fmla="*/ 0 h 426027"/>
              <a:gd name="connsiteX3" fmla="*/ 1963882 w 1963882"/>
              <a:gd name="connsiteY3" fmla="*/ 41563 h 426027"/>
            </a:gdLst>
            <a:ahLst/>
            <a:cxnLst>
              <a:cxn ang="0">
                <a:pos x="connsiteX0" y="connsiteY0"/>
              </a:cxn>
              <a:cxn ang="0">
                <a:pos x="connsiteX1" y="connsiteY1"/>
              </a:cxn>
              <a:cxn ang="0">
                <a:pos x="connsiteX2" y="connsiteY2"/>
              </a:cxn>
              <a:cxn ang="0">
                <a:pos x="connsiteX3" y="connsiteY3"/>
              </a:cxn>
            </a:cxnLst>
            <a:rect l="l" t="t" r="r" b="b"/>
            <a:pathLst>
              <a:path w="1963882" h="426027">
                <a:moveTo>
                  <a:pt x="0" y="415636"/>
                </a:moveTo>
                <a:lnTo>
                  <a:pt x="1953491" y="426027"/>
                </a:lnTo>
                <a:lnTo>
                  <a:pt x="1953491" y="0"/>
                </a:lnTo>
                <a:lnTo>
                  <a:pt x="1963882" y="41563"/>
                </a:lnTo>
              </a:path>
            </a:pathLst>
          </a:custGeom>
          <a:noFill/>
          <a:ln w="76200" cap="flat" cmpd="sng" algn="ctr">
            <a:solidFill>
              <a:schemeClr val="accent1"/>
            </a:solidFill>
            <a:prstDash val="solid"/>
            <a:round/>
            <a:headEnd type="none" w="med" len="med"/>
            <a:tailEnd type="triangle" w="med" len="med"/>
          </a:ln>
          <a:effectLst/>
        </p:spPr>
        <p:txBody>
          <a:bodyPr vert="horz" wrap="none" lIns="90000" tIns="46800" rIns="90000" bIns="4680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nvGrpSpPr>
          <p:cNvPr id="3" name="Grupo 2">
            <a:extLst>
              <a:ext uri="{FF2B5EF4-FFF2-40B4-BE49-F238E27FC236}">
                <a16:creationId xmlns:a16="http://schemas.microsoft.com/office/drawing/2014/main" id="{14350DE1-7AC6-4132-9DA4-6D8419253A0E}"/>
              </a:ext>
            </a:extLst>
          </p:cNvPr>
          <p:cNvGrpSpPr/>
          <p:nvPr/>
        </p:nvGrpSpPr>
        <p:grpSpPr>
          <a:xfrm>
            <a:off x="2017986" y="2388273"/>
            <a:ext cx="2208213" cy="625475"/>
            <a:chOff x="2017986" y="2388273"/>
            <a:chExt cx="2208213" cy="625475"/>
          </a:xfrm>
        </p:grpSpPr>
        <p:grpSp>
          <p:nvGrpSpPr>
            <p:cNvPr id="75" name="Group 102"/>
            <p:cNvGrpSpPr>
              <a:grpSpLocks/>
            </p:cNvGrpSpPr>
            <p:nvPr/>
          </p:nvGrpSpPr>
          <p:grpSpPr bwMode="auto">
            <a:xfrm>
              <a:off x="2017986" y="2388273"/>
              <a:ext cx="2208213" cy="625475"/>
              <a:chOff x="2587" y="2613"/>
              <a:chExt cx="1391" cy="394"/>
            </a:xfrm>
          </p:grpSpPr>
          <p:sp>
            <p:nvSpPr>
              <p:cNvPr id="21543" name="Rectangle 64"/>
              <p:cNvSpPr>
                <a:spLocks noChangeArrowheads="1"/>
              </p:cNvSpPr>
              <p:nvPr/>
            </p:nvSpPr>
            <p:spPr bwMode="auto">
              <a:xfrm>
                <a:off x="2587" y="2613"/>
                <a:ext cx="1391" cy="394"/>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endParaRPr lang="es-ES" sz="2400">
                  <a:latin typeface="Arial" panose="020B0604020202020204" pitchFamily="34" charset="0"/>
                </a:endParaRPr>
              </a:p>
            </p:txBody>
          </p:sp>
          <p:sp>
            <p:nvSpPr>
              <p:cNvPr id="21538" name="Text Box 61"/>
              <p:cNvSpPr txBox="1">
                <a:spLocks noChangeArrowheads="1"/>
              </p:cNvSpPr>
              <p:nvPr/>
            </p:nvSpPr>
            <p:spPr bwMode="auto">
              <a:xfrm>
                <a:off x="2645" y="2667"/>
                <a:ext cx="66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F = q E = -e E</a:t>
                </a:r>
              </a:p>
            </p:txBody>
          </p:sp>
          <p:sp>
            <p:nvSpPr>
              <p:cNvPr id="21539" name="Line 62"/>
              <p:cNvSpPr>
                <a:spLocks noChangeShapeType="1"/>
              </p:cNvSpPr>
              <p:nvPr/>
            </p:nvSpPr>
            <p:spPr bwMode="auto">
              <a:xfrm>
                <a:off x="2703" y="2707"/>
                <a:ext cx="136" cy="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
            <p:nvSpPr>
              <p:cNvPr id="21540" name="Line 63"/>
              <p:cNvSpPr>
                <a:spLocks noChangeShapeType="1"/>
              </p:cNvSpPr>
              <p:nvPr/>
            </p:nvSpPr>
            <p:spPr bwMode="auto">
              <a:xfrm>
                <a:off x="3198" y="2716"/>
                <a:ext cx="136" cy="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grpSp>
        <p:sp>
          <p:nvSpPr>
            <p:cNvPr id="50" name="Line 63"/>
            <p:cNvSpPr>
              <a:spLocks noChangeShapeType="1"/>
            </p:cNvSpPr>
            <p:nvPr/>
          </p:nvSpPr>
          <p:spPr bwMode="auto">
            <a:xfrm>
              <a:off x="3909053" y="2587000"/>
              <a:ext cx="215900" cy="0"/>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grpSp>
      <p:sp>
        <p:nvSpPr>
          <p:cNvPr id="51" name="AutoShape 81"/>
          <p:cNvSpPr>
            <a:spLocks noChangeArrowheads="1"/>
          </p:cNvSpPr>
          <p:nvPr/>
        </p:nvSpPr>
        <p:spPr bwMode="auto">
          <a:xfrm rot="16200000" flipV="1">
            <a:off x="2996120" y="2757903"/>
            <a:ext cx="249201" cy="806735"/>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52" name="Text Box 23"/>
          <p:cNvSpPr txBox="1">
            <a:spLocks noChangeArrowheads="1"/>
          </p:cNvSpPr>
          <p:nvPr/>
        </p:nvSpPr>
        <p:spPr bwMode="auto">
          <a:xfrm>
            <a:off x="5154719" y="344332"/>
            <a:ext cx="5176037" cy="1275213"/>
          </a:xfrm>
          <a:prstGeom prst="rect">
            <a:avLst/>
          </a:prstGeom>
          <a:solidFill>
            <a:schemeClr val="tx2">
              <a:lumMod val="25000"/>
              <a:lumOff val="75000"/>
            </a:schemeClr>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defRPr/>
            </a:pPr>
            <a:r>
              <a:rPr lang="es-ES" sz="2400" dirty="0">
                <a:latin typeface="Arial" panose="020B0604020202020204" pitchFamily="34" charset="0"/>
              </a:rPr>
              <a:t>Al conectarla a un circuito, Q</a:t>
            </a:r>
            <a:r>
              <a:rPr lang="es-ES" sz="2400" baseline="30000" dirty="0">
                <a:latin typeface="Arial" panose="020B0604020202020204" pitchFamily="34" charset="0"/>
              </a:rPr>
              <a:t>-</a:t>
            </a:r>
            <a:r>
              <a:rPr lang="es-ES" sz="2400" dirty="0">
                <a:latin typeface="Arial" panose="020B0604020202020204" pitchFamily="34" charset="0"/>
              </a:rPr>
              <a:t> y Q</a:t>
            </a:r>
            <a:r>
              <a:rPr lang="es-ES" sz="2400" baseline="30000" dirty="0">
                <a:latin typeface="Arial" panose="020B0604020202020204" pitchFamily="34" charset="0"/>
              </a:rPr>
              <a:t>+</a:t>
            </a:r>
            <a:r>
              <a:rPr lang="es-ES" sz="2400" dirty="0">
                <a:latin typeface="Arial" panose="020B0604020202020204" pitchFamily="34" charset="0"/>
              </a:rPr>
              <a:t> </a:t>
            </a:r>
            <a:r>
              <a:rPr lang="es-ES" sz="2400">
                <a:latin typeface="Arial" panose="020B0604020202020204" pitchFamily="34" charset="0"/>
              </a:rPr>
              <a:t>provocan en él un </a:t>
            </a:r>
            <a:r>
              <a:rPr lang="es-ES" sz="2400" dirty="0">
                <a:latin typeface="Arial" panose="020B0604020202020204" pitchFamily="34" charset="0"/>
              </a:rPr>
              <a:t>movimiento de </a:t>
            </a:r>
            <a:r>
              <a:rPr lang="es-ES" sz="2400">
                <a:latin typeface="Arial" panose="020B0604020202020204" pitchFamily="34" charset="0"/>
              </a:rPr>
              <a:t>electrones </a:t>
            </a:r>
            <a:r>
              <a:rPr lang="es-ES" sz="2400">
                <a:solidFill>
                  <a:srgbClr val="FF0000"/>
                </a:solidFill>
                <a:latin typeface="Arial" panose="020B0604020202020204" pitchFamily="34" charset="0"/>
              </a:rPr>
              <a:t>(una corriente </a:t>
            </a:r>
            <a:r>
              <a:rPr lang="es-ES" sz="2400" dirty="0">
                <a:solidFill>
                  <a:srgbClr val="FF0000"/>
                </a:solidFill>
                <a:latin typeface="Arial" panose="020B0604020202020204" pitchFamily="34" charset="0"/>
              </a:rPr>
              <a:t>–Tema 4–)</a:t>
            </a:r>
            <a:endParaRPr lang="es-ES" sz="2400" dirty="0">
              <a:solidFill>
                <a:srgbClr val="FF0000"/>
              </a:solidFill>
              <a:latin typeface="Arial" panose="020B0604020202020204" pitchFamily="34" charset="0"/>
              <a:sym typeface="Symbol" panose="05050102010706020507" pitchFamily="18" charset="2"/>
            </a:endParaRPr>
          </a:p>
        </p:txBody>
      </p:sp>
      <p:sp>
        <p:nvSpPr>
          <p:cNvPr id="2" name="AutoShape 81">
            <a:extLst>
              <a:ext uri="{FF2B5EF4-FFF2-40B4-BE49-F238E27FC236}">
                <a16:creationId xmlns:a16="http://schemas.microsoft.com/office/drawing/2014/main" id="{EAF7C78C-1A21-4EAF-B943-8A185F95ABC8}"/>
              </a:ext>
            </a:extLst>
          </p:cNvPr>
          <p:cNvSpPr>
            <a:spLocks noChangeArrowheads="1"/>
          </p:cNvSpPr>
          <p:nvPr/>
        </p:nvSpPr>
        <p:spPr bwMode="auto">
          <a:xfrm rot="16200000" flipV="1">
            <a:off x="2991205" y="3588728"/>
            <a:ext cx="249201" cy="806735"/>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Tree>
    <p:extLst>
      <p:ext uri="{BB962C8B-B14F-4D97-AF65-F5344CB8AC3E}">
        <p14:creationId xmlns:p14="http://schemas.microsoft.com/office/powerpoint/2010/main" val="2863577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strVal val="2/3*#ppt_w"/>
                                          </p:val>
                                        </p:tav>
                                        <p:tav tm="100000">
                                          <p:val>
                                            <p:strVal val="#ppt_w"/>
                                          </p:val>
                                        </p:tav>
                                      </p:tavLst>
                                    </p:anim>
                                    <p:anim calcmode="lin" valueType="num">
                                      <p:cBhvr>
                                        <p:cTn id="8" dur="500" fill="hold"/>
                                        <p:tgtEl>
                                          <p:spTgt spid="45"/>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wipe(up)">
                                      <p:cBhvr>
                                        <p:cTn id="13" dur="500"/>
                                        <p:tgtEl>
                                          <p:spTgt spid="5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1570"/>
                                        </p:tgtEl>
                                        <p:attrNameLst>
                                          <p:attrName>style.visibility</p:attrName>
                                        </p:attrNameLst>
                                      </p:cBhvr>
                                      <p:to>
                                        <p:strVal val="visible"/>
                                      </p:to>
                                    </p:set>
                                    <p:animEffect transition="in" filter="wipe(up)">
                                      <p:cBhvr>
                                        <p:cTn id="18" dur="500"/>
                                        <p:tgtEl>
                                          <p:spTgt spid="21570"/>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2" fill="hold" nodeType="clickEffect">
                                  <p:stCondLst>
                                    <p:cond delay="0"/>
                                  </p:stCondLst>
                                  <p:childTnLst>
                                    <p:set>
                                      <p:cBhvr>
                                        <p:cTn id="22" dur="1" fill="hold">
                                          <p:stCondLst>
                                            <p:cond delay="0"/>
                                          </p:stCondLst>
                                        </p:cTn>
                                        <p:tgtEl>
                                          <p:spTgt spid="61496"/>
                                        </p:tgtEl>
                                        <p:attrNameLst>
                                          <p:attrName>style.visibility</p:attrName>
                                        </p:attrNameLst>
                                      </p:cBhvr>
                                      <p:to>
                                        <p:strVal val="visible"/>
                                      </p:to>
                                    </p:set>
                                    <p:animEffect transition="in" filter="slide(fromRight)">
                                      <p:cBhvr>
                                        <p:cTn id="23" dur="500"/>
                                        <p:tgtEl>
                                          <p:spTgt spid="61496"/>
                                        </p:tgtEl>
                                      </p:cBhvr>
                                    </p:animEffect>
                                  </p:childTnLst>
                                </p:cTn>
                              </p:par>
                              <p:par>
                                <p:cTn id="24" presetID="12" presetClass="entr" presetSubtype="2" fill="hold" nodeType="withEffect">
                                  <p:stCondLst>
                                    <p:cond delay="0"/>
                                  </p:stCondLst>
                                  <p:childTnLst>
                                    <p:set>
                                      <p:cBhvr>
                                        <p:cTn id="25" dur="1" fill="hold">
                                          <p:stCondLst>
                                            <p:cond delay="0"/>
                                          </p:stCondLst>
                                        </p:cTn>
                                        <p:tgtEl>
                                          <p:spTgt spid="61499"/>
                                        </p:tgtEl>
                                        <p:attrNameLst>
                                          <p:attrName>style.visibility</p:attrName>
                                        </p:attrNameLst>
                                      </p:cBhvr>
                                      <p:to>
                                        <p:strVal val="visible"/>
                                      </p:to>
                                    </p:set>
                                    <p:animEffect transition="in" filter="slide(fromRight)">
                                      <p:cBhvr>
                                        <p:cTn id="26" dur="500"/>
                                        <p:tgtEl>
                                          <p:spTgt spid="6149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up)">
                                      <p:cBhvr>
                                        <p:cTn id="41" dur="500"/>
                                        <p:tgtEl>
                                          <p:spTgt spid="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1547"/>
                                        </p:tgtEl>
                                        <p:attrNameLst>
                                          <p:attrName>style.visibility</p:attrName>
                                        </p:attrNameLst>
                                      </p:cBhvr>
                                      <p:to>
                                        <p:strVal val="visible"/>
                                      </p:to>
                                    </p:set>
                                    <p:animEffect transition="in" filter="wipe(up)">
                                      <p:cBhvr>
                                        <p:cTn id="46" dur="500"/>
                                        <p:tgtEl>
                                          <p:spTgt spid="2154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up)">
                                      <p:cBhvr>
                                        <p:cTn id="51" dur="500"/>
                                        <p:tgtEl>
                                          <p:spTgt spid="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right)">
                                      <p:cBhvr>
                                        <p:cTn id="56" dur="500"/>
                                        <p:tgtEl>
                                          <p:spTgt spid="10"/>
                                        </p:tgtEl>
                                      </p:cBhvr>
                                    </p:animEffect>
                                  </p:childTnLst>
                                </p:cTn>
                              </p:par>
                            </p:childTnLst>
                          </p:cTn>
                        </p:par>
                        <p:par>
                          <p:cTn id="57" fill="hold">
                            <p:stCondLst>
                              <p:cond delay="500"/>
                            </p:stCondLst>
                            <p:childTnLst>
                              <p:par>
                                <p:cTn id="58" presetID="3" presetClass="entr" presetSubtype="5" fill="hold" grpId="0" nodeType="afterEffect">
                                  <p:stCondLst>
                                    <p:cond delay="0"/>
                                  </p:stCondLst>
                                  <p:childTnLst>
                                    <p:set>
                                      <p:cBhvr>
                                        <p:cTn id="59" dur="1" fill="hold">
                                          <p:stCondLst>
                                            <p:cond delay="0"/>
                                          </p:stCondLst>
                                        </p:cTn>
                                        <p:tgtEl>
                                          <p:spTgt spid="5137"/>
                                        </p:tgtEl>
                                        <p:attrNameLst>
                                          <p:attrName>style.visibility</p:attrName>
                                        </p:attrNameLst>
                                      </p:cBhvr>
                                      <p:to>
                                        <p:strVal val="visible"/>
                                      </p:to>
                                    </p:set>
                                    <p:animEffect transition="in" filter="blinds(vertical)">
                                      <p:cBhvr>
                                        <p:cTn id="60" dur="500"/>
                                        <p:tgtEl>
                                          <p:spTgt spid="5137"/>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childTnLst>
                                </p:cTn>
                              </p:par>
                            </p:childTnLst>
                          </p:cTn>
                        </p:par>
                        <p:par>
                          <p:cTn id="65" fill="hold" nodeType="withGroup">
                            <p:stCondLst>
                              <p:cond delay="0"/>
                            </p:stCondLst>
                            <p:childTnLst>
                              <p:par>
                                <p:cTn id="66" presetID="42" presetClass="path" presetSubtype="0" accel="50000" decel="50000" fill="hold" nodeType="afterEffect">
                                  <p:stCondLst>
                                    <p:cond delay="0"/>
                                  </p:stCondLst>
                                  <p:childTnLst>
                                    <p:animMotion origin="layout" path="M 0.08848 -0.0011 L -1.11699E-6 1.64021E-6 " pathEditMode="relative" rAng="0" ptsTypes="AA">
                                      <p:cBhvr>
                                        <p:cTn id="67" dur="1000" fill="hold"/>
                                        <p:tgtEl>
                                          <p:spTgt spid="4"/>
                                        </p:tgtEl>
                                        <p:attrNameLst>
                                          <p:attrName>ppt_x</p:attrName>
                                          <p:attrName>ppt_y</p:attrName>
                                        </p:attrNameLst>
                                      </p:cBhvr>
                                      <p:rCtr x="-4424" y="44"/>
                                    </p:animMotion>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wipe(down)">
                                      <p:cBhvr>
                                        <p:cTn id="72" dur="500"/>
                                        <p:tgtEl>
                                          <p:spTgt spid="2"/>
                                        </p:tgtEl>
                                      </p:cBhvr>
                                    </p:animEffect>
                                  </p:childTnLst>
                                </p:cTn>
                              </p:par>
                            </p:childTnLst>
                          </p:cTn>
                        </p:par>
                        <p:par>
                          <p:cTn id="73" fill="hold">
                            <p:stCondLst>
                              <p:cond delay="500"/>
                            </p:stCondLst>
                            <p:childTnLst>
                              <p:par>
                                <p:cTn id="74" presetID="3" presetClass="entr" presetSubtype="5" fill="hold" nodeType="afterEffect">
                                  <p:stCondLst>
                                    <p:cond delay="0"/>
                                  </p:stCondLst>
                                  <p:childTnLst>
                                    <p:set>
                                      <p:cBhvr>
                                        <p:cTn id="75" dur="1" fill="hold">
                                          <p:stCondLst>
                                            <p:cond delay="0"/>
                                          </p:stCondLst>
                                        </p:cTn>
                                        <p:tgtEl>
                                          <p:spTgt spid="61484"/>
                                        </p:tgtEl>
                                        <p:attrNameLst>
                                          <p:attrName>style.visibility</p:attrName>
                                        </p:attrNameLst>
                                      </p:cBhvr>
                                      <p:to>
                                        <p:strVal val="visible"/>
                                      </p:to>
                                    </p:set>
                                    <p:animEffect transition="in" filter="blinds(vertical)">
                                      <p:cBhvr>
                                        <p:cTn id="76" dur="500"/>
                                        <p:tgtEl>
                                          <p:spTgt spid="6148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wipe(down)">
                                      <p:cBhvr>
                                        <p:cTn id="81" dur="500"/>
                                        <p:tgtEl>
                                          <p:spTgt spid="51"/>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wipe(left)">
                                      <p:cBhvr>
                                        <p:cTn id="85" dur="500"/>
                                        <p:tgtEl>
                                          <p:spTgt spid="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wipe(left)">
                                      <p:cBhvr>
                                        <p:cTn id="9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animBg="1"/>
      <p:bldP spid="21570" grpId="0" animBg="1"/>
      <p:bldP spid="21547" grpId="0" animBg="1"/>
      <p:bldP spid="45" grpId="0" animBg="1"/>
      <p:bldP spid="10" grpId="0" animBg="1"/>
      <p:bldP spid="51" grpId="0" animBg="1"/>
      <p:bldP spid="52" grpId="0" animBg="1"/>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Line 9"/>
          <p:cNvSpPr>
            <a:spLocks noChangeShapeType="1"/>
          </p:cNvSpPr>
          <p:nvPr/>
        </p:nvSpPr>
        <p:spPr bwMode="auto">
          <a:xfrm rot="5400000">
            <a:off x="2782206" y="490605"/>
            <a:ext cx="0" cy="719138"/>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21508" name="Text Box 10"/>
          <p:cNvSpPr txBox="1">
            <a:spLocks noChangeArrowheads="1"/>
          </p:cNvSpPr>
          <p:nvPr/>
        </p:nvSpPr>
        <p:spPr bwMode="auto">
          <a:xfrm>
            <a:off x="2614725" y="374080"/>
            <a:ext cx="3869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E</a:t>
            </a:r>
          </a:p>
        </p:txBody>
      </p:sp>
      <p:sp>
        <p:nvSpPr>
          <p:cNvPr id="21509" name="Line 11"/>
          <p:cNvSpPr>
            <a:spLocks noChangeShapeType="1"/>
          </p:cNvSpPr>
          <p:nvPr/>
        </p:nvSpPr>
        <p:spPr bwMode="auto">
          <a:xfrm>
            <a:off x="2717582" y="461392"/>
            <a:ext cx="215900"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21512" name="Line 13"/>
          <p:cNvSpPr>
            <a:spLocks noChangeShapeType="1"/>
          </p:cNvSpPr>
          <p:nvPr/>
        </p:nvSpPr>
        <p:spPr bwMode="auto">
          <a:xfrm flipV="1">
            <a:off x="1230273" y="1254034"/>
            <a:ext cx="28797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21513" name="Text Box 67"/>
          <p:cNvSpPr txBox="1">
            <a:spLocks noChangeArrowheads="1"/>
          </p:cNvSpPr>
          <p:nvPr/>
        </p:nvSpPr>
        <p:spPr bwMode="auto">
          <a:xfrm>
            <a:off x="3425607" y="470426"/>
            <a:ext cx="540830"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rPr>
              <a:t>+</a:t>
            </a:r>
          </a:p>
        </p:txBody>
      </p:sp>
      <p:sp>
        <p:nvSpPr>
          <p:cNvPr id="21514" name="Text Box 68"/>
          <p:cNvSpPr txBox="1">
            <a:spLocks noChangeArrowheads="1"/>
          </p:cNvSpPr>
          <p:nvPr/>
        </p:nvSpPr>
        <p:spPr bwMode="auto">
          <a:xfrm>
            <a:off x="1663482" y="470426"/>
            <a:ext cx="532816" cy="43200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Q</a:t>
            </a:r>
            <a:r>
              <a:rPr lang="es-ES" sz="2400" baseline="30000">
                <a:solidFill>
                  <a:srgbClr val="000000"/>
                </a:solidFill>
                <a:latin typeface="Arial" panose="020B0604020202020204" pitchFamily="34" charset="0"/>
                <a:sym typeface="Symbol" panose="05050102010706020507" pitchFamily="18" charset="2"/>
              </a:rPr>
              <a:t></a:t>
            </a:r>
          </a:p>
        </p:txBody>
      </p:sp>
      <p:sp>
        <p:nvSpPr>
          <p:cNvPr id="21517" name="Rectangle 51"/>
          <p:cNvSpPr>
            <a:spLocks noChangeArrowheads="1"/>
          </p:cNvSpPr>
          <p:nvPr/>
        </p:nvSpPr>
        <p:spPr bwMode="auto">
          <a:xfrm>
            <a:off x="1880969" y="1014322"/>
            <a:ext cx="1781175" cy="514350"/>
          </a:xfrm>
          <a:prstGeom prst="rect">
            <a:avLst/>
          </a:prstGeom>
          <a:solidFill>
            <a:srgbClr val="C0C0C0"/>
          </a:solidFill>
          <a:ln w="25400" algn="ctr">
            <a:solidFill>
              <a:schemeClr val="tx1"/>
            </a:solidFill>
            <a:miter lim="800000"/>
            <a:headEnd/>
            <a:tailEnd/>
          </a:ln>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b="1"/>
          </a:p>
        </p:txBody>
      </p:sp>
      <p:grpSp>
        <p:nvGrpSpPr>
          <p:cNvPr id="4" name="Group 61"/>
          <p:cNvGrpSpPr>
            <a:grpSpLocks/>
          </p:cNvGrpSpPr>
          <p:nvPr/>
        </p:nvGrpSpPr>
        <p:grpSpPr bwMode="auto">
          <a:xfrm>
            <a:off x="1988293" y="1112747"/>
            <a:ext cx="525463" cy="288925"/>
            <a:chOff x="1843" y="1411"/>
            <a:chExt cx="331" cy="182"/>
          </a:xfrm>
        </p:grpSpPr>
        <p:sp>
          <p:nvSpPr>
            <p:cNvPr id="21545" name="Line 22"/>
            <p:cNvSpPr>
              <a:spLocks noChangeShapeType="1"/>
            </p:cNvSpPr>
            <p:nvPr/>
          </p:nvSpPr>
          <p:spPr bwMode="auto">
            <a:xfrm flipH="1" flipV="1">
              <a:off x="1843" y="1494"/>
              <a:ext cx="227" cy="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pic>
          <p:nvPicPr>
            <p:cNvPr id="21546" name="Picture 21"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 y="1411"/>
              <a:ext cx="19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496" name="Group 56"/>
          <p:cNvGrpSpPr>
            <a:grpSpLocks/>
          </p:cNvGrpSpPr>
          <p:nvPr/>
        </p:nvGrpSpPr>
        <p:grpSpPr bwMode="auto">
          <a:xfrm>
            <a:off x="3317657" y="1096872"/>
            <a:ext cx="503237" cy="288925"/>
            <a:chOff x="2265" y="1329"/>
            <a:chExt cx="317" cy="182"/>
          </a:xfrm>
        </p:grpSpPr>
        <p:sp>
          <p:nvSpPr>
            <p:cNvPr id="8" name="Line 66"/>
            <p:cNvSpPr>
              <a:spLocks noChangeShapeType="1"/>
            </p:cNvSpPr>
            <p:nvPr/>
          </p:nvSpPr>
          <p:spPr bwMode="auto">
            <a:xfrm flipH="1" flipV="1">
              <a:off x="2265" y="1422"/>
              <a:ext cx="227" cy="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pic>
          <p:nvPicPr>
            <p:cNvPr id="21544" name="Picture 16"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2" y="1329"/>
              <a:ext cx="19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499" name="Group 59"/>
          <p:cNvGrpSpPr>
            <a:grpSpLocks/>
          </p:cNvGrpSpPr>
          <p:nvPr/>
        </p:nvGrpSpPr>
        <p:grpSpPr bwMode="auto">
          <a:xfrm>
            <a:off x="1236590" y="1109572"/>
            <a:ext cx="566738" cy="288925"/>
            <a:chOff x="1090" y="1337"/>
            <a:chExt cx="357" cy="182"/>
          </a:xfrm>
        </p:grpSpPr>
        <p:sp>
          <p:nvSpPr>
            <p:cNvPr id="21541" name="Line 65"/>
            <p:cNvSpPr>
              <a:spLocks noChangeShapeType="1"/>
            </p:cNvSpPr>
            <p:nvPr/>
          </p:nvSpPr>
          <p:spPr bwMode="auto">
            <a:xfrm flipH="1" flipV="1">
              <a:off x="1090" y="1424"/>
              <a:ext cx="227" cy="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pic>
          <p:nvPicPr>
            <p:cNvPr id="21542" name="Picture 19"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 y="1337"/>
              <a:ext cx="19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 name="Grupo 10"/>
          <p:cNvGrpSpPr/>
          <p:nvPr/>
        </p:nvGrpSpPr>
        <p:grpSpPr>
          <a:xfrm>
            <a:off x="2499951" y="1251323"/>
            <a:ext cx="594329" cy="784227"/>
            <a:chOff x="8114380" y="1560228"/>
            <a:chExt cx="594329" cy="784227"/>
          </a:xfrm>
        </p:grpSpPr>
        <p:sp>
          <p:nvSpPr>
            <p:cNvPr id="46" name="Line 9"/>
            <p:cNvSpPr>
              <a:spLocks noChangeShapeType="1"/>
            </p:cNvSpPr>
            <p:nvPr/>
          </p:nvSpPr>
          <p:spPr bwMode="auto">
            <a:xfrm rot="16200000" flipH="1">
              <a:off x="8411545" y="1263063"/>
              <a:ext cx="0" cy="594329"/>
            </a:xfrm>
            <a:prstGeom prst="line">
              <a:avLst/>
            </a:prstGeom>
            <a:noFill/>
            <a:ln w="38100">
              <a:solidFill>
                <a:srgbClr val="3333FF"/>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47" name="Text Box 10"/>
            <p:cNvSpPr txBox="1">
              <a:spLocks noChangeArrowheads="1"/>
            </p:cNvSpPr>
            <p:nvPr/>
          </p:nvSpPr>
          <p:spPr bwMode="auto">
            <a:xfrm>
              <a:off x="8191728" y="1807906"/>
              <a:ext cx="36931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F</a:t>
              </a:r>
            </a:p>
          </p:txBody>
        </p:sp>
        <p:sp>
          <p:nvSpPr>
            <p:cNvPr id="48" name="Line 11"/>
            <p:cNvSpPr>
              <a:spLocks noChangeShapeType="1"/>
            </p:cNvSpPr>
            <p:nvPr/>
          </p:nvSpPr>
          <p:spPr bwMode="auto">
            <a:xfrm>
              <a:off x="8252053" y="1895218"/>
              <a:ext cx="215900" cy="0"/>
            </a:xfrm>
            <a:prstGeom prst="line">
              <a:avLst/>
            </a:prstGeom>
            <a:noFill/>
            <a:ln w="12700">
              <a:solidFill>
                <a:srgbClr val="3333FF"/>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grpSp>
      <p:sp>
        <p:nvSpPr>
          <p:cNvPr id="53" name="CuadroTexto 52">
            <a:extLst>
              <a:ext uri="{FF2B5EF4-FFF2-40B4-BE49-F238E27FC236}">
                <a16:creationId xmlns:a16="http://schemas.microsoft.com/office/drawing/2014/main" id="{8EFDCB58-EB45-4C96-92AB-089F1BC0393E}"/>
              </a:ext>
            </a:extLst>
          </p:cNvPr>
          <p:cNvSpPr txBox="1">
            <a:spLocks noChangeArrowheads="1"/>
          </p:cNvSpPr>
          <p:nvPr/>
        </p:nvSpPr>
        <p:spPr bwMode="auto">
          <a:xfrm>
            <a:off x="4564317" y="311363"/>
            <a:ext cx="5812994" cy="884070"/>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El W </a:t>
            </a:r>
            <a:r>
              <a:rPr lang="es-ES" sz="2400" dirty="0"/>
              <a:t>de la </a:t>
            </a:r>
            <a:r>
              <a:rPr lang="es-ES" sz="2400"/>
              <a:t>pila a través de las reacciones y la difusión vence </a:t>
            </a:r>
            <a:r>
              <a:rPr lang="es-ES" sz="2400" dirty="0"/>
              <a:t>la acción </a:t>
            </a:r>
            <a:r>
              <a:rPr lang="es-ES" sz="2400"/>
              <a:t>de </a:t>
            </a:r>
            <a:r>
              <a:rPr lang="es-ES" sz="2400" b="1"/>
              <a:t>F</a:t>
            </a:r>
            <a:endParaRPr lang="es-ES" sz="2400" dirty="0">
              <a:solidFill>
                <a:srgbClr val="FF0000"/>
              </a:solidFill>
            </a:endParaRPr>
          </a:p>
        </p:txBody>
      </p:sp>
      <p:grpSp>
        <p:nvGrpSpPr>
          <p:cNvPr id="6" name="Grupo 5">
            <a:extLst>
              <a:ext uri="{FF2B5EF4-FFF2-40B4-BE49-F238E27FC236}">
                <a16:creationId xmlns:a16="http://schemas.microsoft.com/office/drawing/2014/main" id="{6C1F2FB7-5A1C-72B6-C59F-3B37A8694AD3}"/>
              </a:ext>
            </a:extLst>
          </p:cNvPr>
          <p:cNvGrpSpPr/>
          <p:nvPr/>
        </p:nvGrpSpPr>
        <p:grpSpPr>
          <a:xfrm>
            <a:off x="3828848" y="2300788"/>
            <a:ext cx="6545715" cy="1185854"/>
            <a:chOff x="3828848" y="2300788"/>
            <a:chExt cx="6545715" cy="1185854"/>
          </a:xfrm>
        </p:grpSpPr>
        <p:sp>
          <p:nvSpPr>
            <p:cNvPr id="54" name="CuadroTexto 53">
              <a:extLst>
                <a:ext uri="{FF2B5EF4-FFF2-40B4-BE49-F238E27FC236}">
                  <a16:creationId xmlns:a16="http://schemas.microsoft.com/office/drawing/2014/main" id="{52DC9FDE-4FC0-4F42-B534-73ECC9082B31}"/>
                </a:ext>
              </a:extLst>
            </p:cNvPr>
            <p:cNvSpPr txBox="1">
              <a:spLocks noChangeArrowheads="1"/>
            </p:cNvSpPr>
            <p:nvPr/>
          </p:nvSpPr>
          <p:spPr bwMode="auto">
            <a:xfrm>
              <a:off x="3828848" y="2602572"/>
              <a:ext cx="6545715" cy="884070"/>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El W de </a:t>
              </a:r>
              <a:r>
                <a:rPr lang="es-ES" sz="2400" b="1"/>
                <a:t>F </a:t>
              </a:r>
              <a:r>
                <a:rPr lang="es-ES" sz="2400"/>
                <a:t>transforma esa E</a:t>
              </a:r>
              <a:r>
                <a:rPr lang="es-ES" sz="2400" baseline="-25000"/>
                <a:t>C </a:t>
              </a:r>
              <a:r>
                <a:rPr lang="es-ES" sz="2400"/>
                <a:t>en </a:t>
              </a:r>
              <a:r>
                <a:rPr lang="es-ES" sz="2400" dirty="0" err="1"/>
                <a:t>E</a:t>
              </a:r>
              <a:r>
                <a:rPr lang="es-ES" sz="2400" baseline="-25000" dirty="0" err="1"/>
                <a:t>Peléctrica</a:t>
              </a:r>
              <a:r>
                <a:rPr lang="es-ES" sz="2400" dirty="0"/>
                <a:t>, que </a:t>
              </a:r>
              <a:r>
                <a:rPr lang="es-ES" sz="2400"/>
                <a:t>se asocia a </a:t>
              </a:r>
              <a:r>
                <a:rPr lang="es-ES" sz="2400" dirty="0"/>
                <a:t>la distribución de carga </a:t>
              </a:r>
              <a:r>
                <a:rPr lang="es-ES" sz="2400" dirty="0">
                  <a:solidFill>
                    <a:srgbClr val="FF0000"/>
                  </a:solidFill>
                </a:rPr>
                <a:t>(Tema 3)</a:t>
              </a:r>
            </a:p>
          </p:txBody>
        </p:sp>
        <p:sp>
          <p:nvSpPr>
            <p:cNvPr id="55" name="AutoShape 81">
              <a:extLst>
                <a:ext uri="{FF2B5EF4-FFF2-40B4-BE49-F238E27FC236}">
                  <a16:creationId xmlns:a16="http://schemas.microsoft.com/office/drawing/2014/main" id="{B8893B58-2766-4E55-8E42-C3101FA36B7B}"/>
                </a:ext>
              </a:extLst>
            </p:cNvPr>
            <p:cNvSpPr>
              <a:spLocks noChangeArrowheads="1"/>
            </p:cNvSpPr>
            <p:nvPr/>
          </p:nvSpPr>
          <p:spPr bwMode="auto">
            <a:xfrm rot="5400000">
              <a:off x="6977104" y="2058692"/>
              <a:ext cx="249203" cy="733395"/>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sp>
        <p:nvSpPr>
          <p:cNvPr id="56" name="CuadroTexto 55">
            <a:extLst>
              <a:ext uri="{FF2B5EF4-FFF2-40B4-BE49-F238E27FC236}">
                <a16:creationId xmlns:a16="http://schemas.microsoft.com/office/drawing/2014/main" id="{BB696943-A493-4D65-ACE5-3ECA30F5F969}"/>
              </a:ext>
            </a:extLst>
          </p:cNvPr>
          <p:cNvSpPr txBox="1">
            <a:spLocks noChangeArrowheads="1"/>
          </p:cNvSpPr>
          <p:nvPr/>
        </p:nvSpPr>
        <p:spPr bwMode="auto">
          <a:xfrm>
            <a:off x="4192896" y="3446636"/>
            <a:ext cx="58176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olidFill>
                  <a:srgbClr val="FF0000"/>
                </a:solidFill>
              </a:rPr>
              <a:t>(es lo mismo que pasa al subir un objeto)</a:t>
            </a:r>
          </a:p>
        </p:txBody>
      </p:sp>
      <p:sp>
        <p:nvSpPr>
          <p:cNvPr id="57" name="CuadroTexto 56">
            <a:extLst>
              <a:ext uri="{FF2B5EF4-FFF2-40B4-BE49-F238E27FC236}">
                <a16:creationId xmlns:a16="http://schemas.microsoft.com/office/drawing/2014/main" id="{FF2643F7-B28D-405D-B1A1-5EF141030911}"/>
              </a:ext>
            </a:extLst>
          </p:cNvPr>
          <p:cNvSpPr txBox="1">
            <a:spLocks noChangeArrowheads="1"/>
          </p:cNvSpPr>
          <p:nvPr/>
        </p:nvSpPr>
        <p:spPr bwMode="auto">
          <a:xfrm>
            <a:off x="1329783" y="3602166"/>
            <a:ext cx="2245715" cy="1569660"/>
          </a:xfrm>
          <a:prstGeom prst="rect">
            <a:avLst/>
          </a:prstGeom>
          <a:solidFill>
            <a:schemeClr val="accent1">
              <a:lumMod val="60000"/>
              <a:lumOff val="40000"/>
            </a:schemeClr>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Como Q</a:t>
            </a:r>
            <a:r>
              <a:rPr lang="es-ES" sz="2400" baseline="30000" dirty="0"/>
              <a:t>+</a:t>
            </a:r>
            <a:r>
              <a:rPr lang="es-ES" sz="2400" dirty="0"/>
              <a:t> y </a:t>
            </a:r>
            <a:r>
              <a:rPr lang="es-ES" sz="2400"/>
              <a:t>Q</a:t>
            </a:r>
            <a:r>
              <a:rPr lang="es-ES" sz="2400" baseline="30000"/>
              <a:t>-</a:t>
            </a:r>
            <a:r>
              <a:rPr lang="es-ES" sz="2400"/>
              <a:t> están fijas,</a:t>
            </a:r>
          </a:p>
          <a:p>
            <a:pPr algn="ctr"/>
            <a:r>
              <a:rPr lang="es-ES" sz="2400" b="1"/>
              <a:t>E</a:t>
            </a:r>
            <a:r>
              <a:rPr lang="es-ES" sz="2400"/>
              <a:t> y </a:t>
            </a:r>
            <a:r>
              <a:rPr lang="es-ES" sz="2400" b="1"/>
              <a:t>F</a:t>
            </a:r>
            <a:r>
              <a:rPr lang="es-ES" sz="2400"/>
              <a:t> son conservativos</a:t>
            </a:r>
            <a:endParaRPr lang="es-ES" sz="2400" baseline="-25000" dirty="0"/>
          </a:p>
        </p:txBody>
      </p:sp>
      <p:sp>
        <p:nvSpPr>
          <p:cNvPr id="31" name="Text Box 70">
            <a:extLst>
              <a:ext uri="{FF2B5EF4-FFF2-40B4-BE49-F238E27FC236}">
                <a16:creationId xmlns:a16="http://schemas.microsoft.com/office/drawing/2014/main" id="{BF9EC0D1-15D7-4D5E-B803-D6885439AEB0}"/>
              </a:ext>
            </a:extLst>
          </p:cNvPr>
          <p:cNvSpPr txBox="1">
            <a:spLocks noChangeArrowheads="1"/>
          </p:cNvSpPr>
          <p:nvPr/>
        </p:nvSpPr>
        <p:spPr bwMode="auto">
          <a:xfrm>
            <a:off x="3425607" y="1657212"/>
            <a:ext cx="507168" cy="536549"/>
          </a:xfrm>
          <a:prstGeom prst="rect">
            <a:avLst/>
          </a:prstGeom>
          <a:solidFill>
            <a:srgbClr val="FFFF00"/>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solidFill>
                  <a:srgbClr val="000000"/>
                </a:solidFill>
                <a:latin typeface="Arial" panose="020B0604020202020204" pitchFamily="34" charset="0"/>
              </a:rPr>
              <a:t>V</a:t>
            </a:r>
            <a:r>
              <a:rPr lang="es-ES" sz="2400" baseline="30000">
                <a:solidFill>
                  <a:srgbClr val="000000"/>
                </a:solidFill>
                <a:latin typeface="Arial" panose="020B0604020202020204" pitchFamily="34" charset="0"/>
              </a:rPr>
              <a:t>+</a:t>
            </a:r>
          </a:p>
        </p:txBody>
      </p:sp>
      <p:sp>
        <p:nvSpPr>
          <p:cNvPr id="32" name="Text Box 71">
            <a:extLst>
              <a:ext uri="{FF2B5EF4-FFF2-40B4-BE49-F238E27FC236}">
                <a16:creationId xmlns:a16="http://schemas.microsoft.com/office/drawing/2014/main" id="{D77215F4-BD56-4607-8D3D-0D26348B2611}"/>
              </a:ext>
            </a:extLst>
          </p:cNvPr>
          <p:cNvSpPr txBox="1">
            <a:spLocks noChangeArrowheads="1"/>
          </p:cNvSpPr>
          <p:nvPr/>
        </p:nvSpPr>
        <p:spPr bwMode="auto">
          <a:xfrm>
            <a:off x="1639670" y="1647687"/>
            <a:ext cx="499152" cy="536549"/>
          </a:xfrm>
          <a:prstGeom prst="rect">
            <a:avLst/>
          </a:prstGeom>
          <a:solidFill>
            <a:srgbClr val="FFFF00"/>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solidFill>
                  <a:srgbClr val="000000"/>
                </a:solidFill>
                <a:latin typeface="Arial" panose="020B0604020202020204" pitchFamily="34" charset="0"/>
              </a:rPr>
              <a:t>V</a:t>
            </a:r>
            <a:r>
              <a:rPr lang="es-ES" sz="2400" baseline="30000">
                <a:solidFill>
                  <a:srgbClr val="000000"/>
                </a:solidFill>
                <a:latin typeface="Arial" panose="020B0604020202020204" pitchFamily="34" charset="0"/>
                <a:sym typeface="Symbol" panose="05050102010706020507" pitchFamily="18" charset="2"/>
              </a:rPr>
              <a:t></a:t>
            </a:r>
          </a:p>
        </p:txBody>
      </p:sp>
      <mc:AlternateContent xmlns:mc="http://schemas.openxmlformats.org/markup-compatibility/2006" xmlns:a14="http://schemas.microsoft.com/office/drawing/2010/main">
        <mc:Choice Requires="a14">
          <p:sp>
            <p:nvSpPr>
              <p:cNvPr id="34" name="Object 4">
                <a:extLst>
                  <a:ext uri="{FF2B5EF4-FFF2-40B4-BE49-F238E27FC236}">
                    <a16:creationId xmlns:a16="http://schemas.microsoft.com/office/drawing/2014/main" id="{D3362B95-4584-447D-83E5-CFE29E712411}"/>
                  </a:ext>
                </a:extLst>
              </p:cNvPr>
              <p:cNvSpPr txBox="1"/>
              <p:nvPr/>
            </p:nvSpPr>
            <p:spPr bwMode="auto">
              <a:xfrm>
                <a:off x="1261050" y="2375731"/>
                <a:ext cx="2258219" cy="581026"/>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es-ES" sz="2400" i="1" smtClean="0">
                              <a:solidFill>
                                <a:srgbClr val="000000"/>
                              </a:solidFill>
                              <a:latin typeface="Cambria Math" panose="02040503050406030204" pitchFamily="18" charset="0"/>
                            </a:rPr>
                          </m:ctrlPr>
                        </m:sSubPr>
                        <m:e>
                          <m:r>
                            <m:rPr>
                              <m:sty m:val="p"/>
                            </m:rPr>
                            <a:rPr lang="es-ES" sz="2400" i="0">
                              <a:solidFill>
                                <a:srgbClr val="000000"/>
                              </a:solidFill>
                              <a:latin typeface="Cambria Math" panose="02040503050406030204" pitchFamily="18" charset="0"/>
                            </a:rPr>
                            <m:t>W</m:t>
                          </m:r>
                        </m:e>
                        <m:sub>
                          <m:r>
                            <m:rPr>
                              <m:sty m:val="p"/>
                            </m:rPr>
                            <a:rPr lang="es-ES" sz="2400" b="0" i="0" smtClean="0">
                              <a:solidFill>
                                <a:srgbClr val="000000"/>
                              </a:solidFill>
                              <a:latin typeface="Cambria Math" panose="02040503050406030204" pitchFamily="18" charset="0"/>
                            </a:rPr>
                            <m:t>PILA</m:t>
                          </m:r>
                        </m:sub>
                      </m:sSub>
                      <m:r>
                        <a:rPr lang="es-ES" sz="2400" i="0">
                          <a:solidFill>
                            <a:srgbClr val="000000"/>
                          </a:solidFill>
                          <a:latin typeface="Cambria Math" panose="02040503050406030204" pitchFamily="18" charset="0"/>
                        </a:rPr>
                        <m:t>=− </m:t>
                      </m:r>
                      <m:sSub>
                        <m:sSubPr>
                          <m:ctrlPr>
                            <a:rPr lang="es-ES" sz="2400" i="1">
                              <a:solidFill>
                                <a:srgbClr val="000000"/>
                              </a:solidFill>
                              <a:latin typeface="Cambria Math" panose="02040503050406030204" pitchFamily="18" charset="0"/>
                            </a:rPr>
                          </m:ctrlPr>
                        </m:sSubPr>
                        <m:e>
                          <m:r>
                            <m:rPr>
                              <m:sty m:val="p"/>
                            </m:rPr>
                            <a:rPr lang="es-ES" sz="2400" i="0">
                              <a:solidFill>
                                <a:srgbClr val="000000"/>
                              </a:solidFill>
                              <a:latin typeface="Cambria Math" panose="02040503050406030204" pitchFamily="18" charset="0"/>
                            </a:rPr>
                            <m:t>W</m:t>
                          </m:r>
                        </m:e>
                        <m:sub>
                          <m:acc>
                            <m:accPr>
                              <m:chr m:val="⃗"/>
                              <m:ctrlPr>
                                <a:rPr lang="es-ES" sz="2400" i="1">
                                  <a:solidFill>
                                    <a:srgbClr val="000000"/>
                                  </a:solidFill>
                                  <a:latin typeface="Cambria Math" panose="02040503050406030204" pitchFamily="18" charset="0"/>
                                </a:rPr>
                              </m:ctrlPr>
                            </m:accPr>
                            <m:e>
                              <m:r>
                                <m:rPr>
                                  <m:sty m:val="p"/>
                                </m:rPr>
                                <a:rPr lang="es-ES" sz="2400" i="0">
                                  <a:solidFill>
                                    <a:srgbClr val="000000"/>
                                  </a:solidFill>
                                  <a:latin typeface="Cambria Math" panose="02040503050406030204" pitchFamily="18" charset="0"/>
                                </a:rPr>
                                <m:t>F</m:t>
                              </m:r>
                            </m:e>
                          </m:acc>
                        </m:sub>
                      </m:sSub>
                    </m:oMath>
                  </m:oMathPara>
                </a14:m>
                <a:endParaRPr lang="es-ES" sz="2400" dirty="0"/>
              </a:p>
            </p:txBody>
          </p:sp>
        </mc:Choice>
        <mc:Fallback xmlns="">
          <p:sp>
            <p:nvSpPr>
              <p:cNvPr id="34" name="Object 4">
                <a:extLst>
                  <a:ext uri="{FF2B5EF4-FFF2-40B4-BE49-F238E27FC236}">
                    <a16:creationId xmlns:a16="http://schemas.microsoft.com/office/drawing/2014/main" id="{D3362B95-4584-447D-83E5-CFE29E712411}"/>
                  </a:ext>
                </a:extLst>
              </p:cNvPr>
              <p:cNvSpPr txBox="1">
                <a:spLocks noRot="1" noChangeAspect="1" noMove="1" noResize="1" noEditPoints="1" noAdjustHandles="1" noChangeArrowheads="1" noChangeShapeType="1" noTextEdit="1"/>
              </p:cNvSpPr>
              <p:nvPr/>
            </p:nvSpPr>
            <p:spPr bwMode="auto">
              <a:xfrm>
                <a:off x="1261050" y="2375731"/>
                <a:ext cx="2258219" cy="581026"/>
              </a:xfrm>
              <a:prstGeom prst="rect">
                <a:avLst/>
              </a:prstGeom>
              <a:blipFill>
                <a:blip r:embed="rId4"/>
                <a:stretch>
                  <a:fillRect l="-811"/>
                </a:stretch>
              </a:blipFill>
              <a:ln>
                <a:no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Object 78">
                <a:extLst>
                  <a:ext uri="{FF2B5EF4-FFF2-40B4-BE49-F238E27FC236}">
                    <a16:creationId xmlns:a16="http://schemas.microsoft.com/office/drawing/2014/main" id="{A78526F7-2623-42CD-A60B-37A768D9EFAC}"/>
                  </a:ext>
                </a:extLst>
              </p:cNvPr>
              <p:cNvSpPr txBox="1"/>
              <p:nvPr/>
            </p:nvSpPr>
            <p:spPr bwMode="auto">
              <a:xfrm>
                <a:off x="2063744" y="5762907"/>
                <a:ext cx="1078031" cy="51752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s-ES" sz="2400" i="0" smtClean="0">
                          <a:solidFill>
                            <a:srgbClr val="000000"/>
                          </a:solidFill>
                          <a:latin typeface="Cambria Math" panose="02040503050406030204" pitchFamily="18" charset="0"/>
                        </a:rPr>
                        <m:t>=</m:t>
                      </m:r>
                      <m:r>
                        <m:rPr>
                          <m:sty m:val="p"/>
                        </m:rPr>
                        <a:rPr lang="es-ES" sz="2400" b="0" i="0" smtClean="0">
                          <a:solidFill>
                            <a:srgbClr val="000000"/>
                          </a:solidFill>
                          <a:latin typeface="Cambria Math" panose="02040503050406030204" pitchFamily="18" charset="0"/>
                        </a:rPr>
                        <m:t>q</m:t>
                      </m:r>
                      <m:r>
                        <a:rPr lang="es-ES" sz="2400" b="0" i="0" smtClean="0">
                          <a:solidFill>
                            <a:srgbClr val="000000"/>
                          </a:solidFill>
                          <a:latin typeface="Cambria Math" panose="02040503050406030204" pitchFamily="18" charset="0"/>
                        </a:rPr>
                        <m:t> </m:t>
                      </m:r>
                      <m:r>
                        <m:rPr>
                          <m:sty m:val="p"/>
                        </m:rPr>
                        <a:rPr lang="es-ES" sz="2400">
                          <a:latin typeface="Cambria Math" panose="02040503050406030204" pitchFamily="18" charset="0"/>
                        </a:rPr>
                        <m:t>ΔV</m:t>
                      </m:r>
                    </m:oMath>
                  </m:oMathPara>
                </a14:m>
                <a:endParaRPr lang="es-ES" sz="2400" dirty="0"/>
              </a:p>
            </p:txBody>
          </p:sp>
        </mc:Choice>
        <mc:Fallback xmlns="">
          <p:sp>
            <p:nvSpPr>
              <p:cNvPr id="37" name="Object 78">
                <a:extLst>
                  <a:ext uri="{FF2B5EF4-FFF2-40B4-BE49-F238E27FC236}">
                    <a16:creationId xmlns:a16="http://schemas.microsoft.com/office/drawing/2014/main" id="{A78526F7-2623-42CD-A60B-37A768D9EFAC}"/>
                  </a:ext>
                </a:extLst>
              </p:cNvPr>
              <p:cNvSpPr txBox="1">
                <a:spLocks noRot="1" noChangeAspect="1" noMove="1" noResize="1" noEditPoints="1" noAdjustHandles="1" noChangeArrowheads="1" noChangeShapeType="1" noTextEdit="1"/>
              </p:cNvSpPr>
              <p:nvPr/>
            </p:nvSpPr>
            <p:spPr bwMode="auto">
              <a:xfrm>
                <a:off x="2063744" y="5762907"/>
                <a:ext cx="1078031" cy="517525"/>
              </a:xfrm>
              <a:prstGeom prst="rect">
                <a:avLst/>
              </a:prstGeom>
              <a:blipFill>
                <a:blip r:embed="rId5"/>
                <a:stretch>
                  <a:fillRect r="-2841" b="-1176"/>
                </a:stretch>
              </a:blipFill>
              <a:ln>
                <a:no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8" name="Object 59">
                <a:extLst>
                  <a:ext uri="{FF2B5EF4-FFF2-40B4-BE49-F238E27FC236}">
                    <a16:creationId xmlns:a16="http://schemas.microsoft.com/office/drawing/2014/main" id="{60E49A93-6620-41A5-920B-7C79C576B940}"/>
                  </a:ext>
                </a:extLst>
              </p:cNvPr>
              <p:cNvSpPr txBox="1"/>
              <p:nvPr/>
            </p:nvSpPr>
            <p:spPr bwMode="auto">
              <a:xfrm>
                <a:off x="2060646" y="6289897"/>
                <a:ext cx="3143654" cy="6207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es-ES" sz="2400" i="1" smtClean="0">
                          <a:solidFill>
                            <a:srgbClr val="000000"/>
                          </a:solidFill>
                          <a:latin typeface="Cambria Math" panose="02040503050406030204" pitchFamily="18" charset="0"/>
                        </a:rPr>
                        <m:t>=</m:t>
                      </m:r>
                      <m:r>
                        <a:rPr lang="es-ES" sz="2400" b="0" i="1" smtClean="0">
                          <a:solidFill>
                            <a:srgbClr val="000000"/>
                          </a:solidFill>
                          <a:latin typeface="Cambria Math" panose="02040503050406030204" pitchFamily="18" charset="0"/>
                        </a:rPr>
                        <m:t>𝑞</m:t>
                      </m:r>
                      <m:r>
                        <a:rPr lang="es-ES" sz="2400" i="1">
                          <a:solidFill>
                            <a:srgbClr val="000000"/>
                          </a:solidFill>
                          <a:latin typeface="Cambria Math" panose="02040503050406030204" pitchFamily="18" charset="0"/>
                        </a:rPr>
                        <m:t> </m:t>
                      </m:r>
                      <m:d>
                        <m:dPr>
                          <m:ctrlPr>
                            <a:rPr lang="es-ES" sz="2400" i="1">
                              <a:solidFill>
                                <a:srgbClr val="000000"/>
                              </a:solidFill>
                              <a:latin typeface="Cambria Math" panose="02040503050406030204" pitchFamily="18" charset="0"/>
                            </a:rPr>
                          </m:ctrlPr>
                        </m:dPr>
                        <m:e>
                          <m:sSub>
                            <m:sSubPr>
                              <m:ctrlPr>
                                <a:rPr lang="es-ES" sz="2400" i="1">
                                  <a:solidFill>
                                    <a:srgbClr val="000000"/>
                                  </a:solidFill>
                                  <a:latin typeface="Cambria Math" panose="02040503050406030204" pitchFamily="18" charset="0"/>
                                </a:rPr>
                              </m:ctrlPr>
                            </m:sSubPr>
                            <m:e>
                              <m:r>
                                <a:rPr lang="es-ES" sz="2400" i="1">
                                  <a:solidFill>
                                    <a:srgbClr val="000000"/>
                                  </a:solidFill>
                                  <a:latin typeface="Cambria Math" panose="02040503050406030204" pitchFamily="18" charset="0"/>
                                </a:rPr>
                                <m:t>𝑉</m:t>
                              </m:r>
                            </m:e>
                            <m:sub>
                              <m:r>
                                <a:rPr lang="es-ES" sz="2400" i="1">
                                  <a:solidFill>
                                    <a:srgbClr val="000000"/>
                                  </a:solidFill>
                                  <a:latin typeface="Cambria Math" panose="02040503050406030204" pitchFamily="18" charset="0"/>
                                </a:rPr>
                                <m:t>𝑓𝑖𝑛𝑎𝑙</m:t>
                              </m:r>
                            </m:sub>
                          </m:sSub>
                          <m:r>
                            <a:rPr lang="es-ES" sz="2400" i="1">
                              <a:solidFill>
                                <a:srgbClr val="000000"/>
                              </a:solidFill>
                              <a:latin typeface="Cambria Math" panose="02040503050406030204" pitchFamily="18" charset="0"/>
                            </a:rPr>
                            <m:t>−</m:t>
                          </m:r>
                          <m:sSub>
                            <m:sSubPr>
                              <m:ctrlPr>
                                <a:rPr lang="es-ES" sz="2400" i="1">
                                  <a:solidFill>
                                    <a:srgbClr val="000000"/>
                                  </a:solidFill>
                                  <a:latin typeface="Cambria Math" panose="02040503050406030204" pitchFamily="18" charset="0"/>
                                </a:rPr>
                              </m:ctrlPr>
                            </m:sSubPr>
                            <m:e>
                              <m:r>
                                <a:rPr lang="es-ES" sz="2400" i="1">
                                  <a:solidFill>
                                    <a:srgbClr val="000000"/>
                                  </a:solidFill>
                                  <a:latin typeface="Cambria Math" panose="02040503050406030204" pitchFamily="18" charset="0"/>
                                </a:rPr>
                                <m:t>𝑉</m:t>
                              </m:r>
                            </m:e>
                            <m:sub>
                              <m:r>
                                <a:rPr lang="es-ES" sz="2400" i="1">
                                  <a:solidFill>
                                    <a:srgbClr val="000000"/>
                                  </a:solidFill>
                                  <a:latin typeface="Cambria Math" panose="02040503050406030204" pitchFamily="18" charset="0"/>
                                </a:rPr>
                                <m:t>𝑖𝑛𝑖𝑐𝑖𝑎𝑙</m:t>
                              </m:r>
                            </m:sub>
                          </m:sSub>
                        </m:e>
                      </m:d>
                    </m:oMath>
                  </m:oMathPara>
                </a14:m>
                <a:endParaRPr lang="es-ES" sz="2400" dirty="0"/>
              </a:p>
            </p:txBody>
          </p:sp>
        </mc:Choice>
        <mc:Fallback xmlns="">
          <p:sp>
            <p:nvSpPr>
              <p:cNvPr id="38" name="Object 59">
                <a:extLst>
                  <a:ext uri="{FF2B5EF4-FFF2-40B4-BE49-F238E27FC236}">
                    <a16:creationId xmlns:a16="http://schemas.microsoft.com/office/drawing/2014/main" id="{60E49A93-6620-41A5-920B-7C79C576B940}"/>
                  </a:ext>
                </a:extLst>
              </p:cNvPr>
              <p:cNvSpPr txBox="1">
                <a:spLocks noRot="1" noChangeAspect="1" noMove="1" noResize="1" noEditPoints="1" noAdjustHandles="1" noChangeArrowheads="1" noChangeShapeType="1" noTextEdit="1"/>
              </p:cNvSpPr>
              <p:nvPr/>
            </p:nvSpPr>
            <p:spPr bwMode="auto">
              <a:xfrm>
                <a:off x="2060646" y="6289897"/>
                <a:ext cx="3143654" cy="620712"/>
              </a:xfrm>
              <a:prstGeom prst="rect">
                <a:avLst/>
              </a:prstGeom>
              <a:blipFill>
                <a:blip r:embed="rId6"/>
                <a:stretch>
                  <a:fillRect/>
                </a:stretch>
              </a:blipFill>
              <a:ln>
                <a:no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Object 59">
                <a:extLst>
                  <a:ext uri="{FF2B5EF4-FFF2-40B4-BE49-F238E27FC236}">
                    <a16:creationId xmlns:a16="http://schemas.microsoft.com/office/drawing/2014/main" id="{82424979-1F6A-48B4-AD54-5B5001B4B391}"/>
                  </a:ext>
                </a:extLst>
              </p:cNvPr>
              <p:cNvSpPr txBox="1"/>
              <p:nvPr/>
            </p:nvSpPr>
            <p:spPr bwMode="auto">
              <a:xfrm>
                <a:off x="5105675" y="6338477"/>
                <a:ext cx="2656133" cy="6207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es-ES" sz="2400" i="1">
                          <a:solidFill>
                            <a:srgbClr val="000000"/>
                          </a:solidFill>
                          <a:latin typeface="Cambria Math" panose="02040503050406030204" pitchFamily="18" charset="0"/>
                        </a:rPr>
                        <m:t>=− </m:t>
                      </m:r>
                      <m:r>
                        <a:rPr lang="es-ES" sz="2400" i="1">
                          <a:solidFill>
                            <a:srgbClr val="000000"/>
                          </a:solidFill>
                          <a:latin typeface="Cambria Math" panose="02040503050406030204" pitchFamily="18" charset="0"/>
                        </a:rPr>
                        <m:t>𝑒</m:t>
                      </m:r>
                      <m:r>
                        <a:rPr lang="es-ES" sz="2400" i="1">
                          <a:solidFill>
                            <a:srgbClr val="000000"/>
                          </a:solidFill>
                          <a:latin typeface="Cambria Math" panose="02040503050406030204" pitchFamily="18" charset="0"/>
                        </a:rPr>
                        <m:t> </m:t>
                      </m:r>
                      <m:d>
                        <m:dPr>
                          <m:ctrlPr>
                            <a:rPr lang="es-ES" sz="2400" i="1">
                              <a:solidFill>
                                <a:srgbClr val="000000"/>
                              </a:solidFill>
                              <a:latin typeface="Cambria Math" panose="02040503050406030204" pitchFamily="18" charset="0"/>
                            </a:rPr>
                          </m:ctrlPr>
                        </m:dPr>
                        <m:e>
                          <m:sSup>
                            <m:sSupPr>
                              <m:ctrlPr>
                                <a:rPr lang="es-ES" sz="2400" i="1">
                                  <a:solidFill>
                                    <a:srgbClr val="000000"/>
                                  </a:solidFill>
                                  <a:latin typeface="Cambria Math" panose="02040503050406030204" pitchFamily="18" charset="0"/>
                                </a:rPr>
                              </m:ctrlPr>
                            </m:sSupPr>
                            <m:e>
                              <m:r>
                                <a:rPr lang="es-ES" sz="2400" i="1">
                                  <a:solidFill>
                                    <a:srgbClr val="000000"/>
                                  </a:solidFill>
                                  <a:latin typeface="Cambria Math" panose="02040503050406030204" pitchFamily="18" charset="0"/>
                                </a:rPr>
                                <m:t>𝑉</m:t>
                              </m:r>
                            </m:e>
                            <m:sup>
                              <m:r>
                                <a:rPr lang="es-ES" sz="2400" i="1">
                                  <a:solidFill>
                                    <a:srgbClr val="000000"/>
                                  </a:solidFill>
                                  <a:latin typeface="Cambria Math" panose="02040503050406030204" pitchFamily="18" charset="0"/>
                                </a:rPr>
                                <m:t>−</m:t>
                              </m:r>
                            </m:sup>
                          </m:sSup>
                          <m:r>
                            <a:rPr lang="es-ES" sz="2400" i="1">
                              <a:solidFill>
                                <a:srgbClr val="000000"/>
                              </a:solidFill>
                              <a:latin typeface="Cambria Math" panose="02040503050406030204" pitchFamily="18" charset="0"/>
                            </a:rPr>
                            <m:t>−</m:t>
                          </m:r>
                          <m:sSup>
                            <m:sSupPr>
                              <m:ctrlPr>
                                <a:rPr lang="es-ES" sz="2400" i="1">
                                  <a:solidFill>
                                    <a:srgbClr val="000000"/>
                                  </a:solidFill>
                                  <a:latin typeface="Cambria Math" panose="02040503050406030204" pitchFamily="18" charset="0"/>
                                </a:rPr>
                              </m:ctrlPr>
                            </m:sSupPr>
                            <m:e>
                              <m:r>
                                <a:rPr lang="es-ES" sz="2400" i="1">
                                  <a:solidFill>
                                    <a:srgbClr val="000000"/>
                                  </a:solidFill>
                                  <a:latin typeface="Cambria Math" panose="02040503050406030204" pitchFamily="18" charset="0"/>
                                </a:rPr>
                                <m:t>𝑉</m:t>
                              </m:r>
                            </m:e>
                            <m:sup>
                              <m:r>
                                <a:rPr lang="es-ES" sz="2400" i="1">
                                  <a:solidFill>
                                    <a:srgbClr val="000000"/>
                                  </a:solidFill>
                                  <a:latin typeface="Cambria Math" panose="02040503050406030204" pitchFamily="18" charset="0"/>
                                </a:rPr>
                                <m:t>+</m:t>
                              </m:r>
                            </m:sup>
                          </m:sSup>
                        </m:e>
                      </m:d>
                      <m:r>
                        <a:rPr lang="es-ES" sz="2400" i="1">
                          <a:solidFill>
                            <a:srgbClr val="000000"/>
                          </a:solidFill>
                          <a:latin typeface="Cambria Math" panose="02040503050406030204" pitchFamily="18" charset="0"/>
                        </a:rPr>
                        <m:t> </m:t>
                      </m:r>
                    </m:oMath>
                  </m:oMathPara>
                </a14:m>
                <a:endParaRPr lang="es-ES" sz="2400" dirty="0"/>
              </a:p>
            </p:txBody>
          </p:sp>
        </mc:Choice>
        <mc:Fallback xmlns="">
          <p:sp>
            <p:nvSpPr>
              <p:cNvPr id="39" name="Object 59">
                <a:extLst>
                  <a:ext uri="{FF2B5EF4-FFF2-40B4-BE49-F238E27FC236}">
                    <a16:creationId xmlns:a16="http://schemas.microsoft.com/office/drawing/2014/main" id="{82424979-1F6A-48B4-AD54-5B5001B4B391}"/>
                  </a:ext>
                </a:extLst>
              </p:cNvPr>
              <p:cNvSpPr txBox="1">
                <a:spLocks noRot="1" noChangeAspect="1" noMove="1" noResize="1" noEditPoints="1" noAdjustHandles="1" noChangeArrowheads="1" noChangeShapeType="1" noTextEdit="1"/>
              </p:cNvSpPr>
              <p:nvPr/>
            </p:nvSpPr>
            <p:spPr bwMode="auto">
              <a:xfrm>
                <a:off x="5105675" y="6338477"/>
                <a:ext cx="2656133" cy="620712"/>
              </a:xfrm>
              <a:prstGeom prst="rect">
                <a:avLst/>
              </a:prstGeom>
              <a:blipFill>
                <a:blip r:embed="rId7"/>
                <a:stretch>
                  <a:fillRect/>
                </a:stretch>
              </a:blipFill>
              <a:ln>
                <a:no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4" name="Object 59">
                <a:extLst>
                  <a:ext uri="{FF2B5EF4-FFF2-40B4-BE49-F238E27FC236}">
                    <a16:creationId xmlns:a16="http://schemas.microsoft.com/office/drawing/2014/main" id="{9F12D84E-E795-4119-9868-2E61F568018B}"/>
                  </a:ext>
                </a:extLst>
              </p:cNvPr>
              <p:cNvSpPr txBox="1"/>
              <p:nvPr/>
            </p:nvSpPr>
            <p:spPr bwMode="auto">
              <a:xfrm>
                <a:off x="7559843" y="6335179"/>
                <a:ext cx="2691898" cy="56038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es-ES" sz="2400" i="1" smtClean="0">
                          <a:solidFill>
                            <a:srgbClr val="000000"/>
                          </a:solidFill>
                          <a:latin typeface="Cambria Math" panose="02040503050406030204" pitchFamily="18" charset="0"/>
                        </a:rPr>
                        <m:t>=</m:t>
                      </m:r>
                      <m:r>
                        <a:rPr lang="es-ES" sz="2400" i="1">
                          <a:solidFill>
                            <a:srgbClr val="000000"/>
                          </a:solidFill>
                          <a:latin typeface="Cambria Math" panose="02040503050406030204" pitchFamily="18" charset="0"/>
                        </a:rPr>
                        <m:t>𝑒</m:t>
                      </m:r>
                      <m:r>
                        <a:rPr lang="es-ES" sz="2400" i="1">
                          <a:solidFill>
                            <a:srgbClr val="000000"/>
                          </a:solidFill>
                          <a:latin typeface="Cambria Math" panose="02040503050406030204" pitchFamily="18" charset="0"/>
                        </a:rPr>
                        <m:t> </m:t>
                      </m:r>
                      <m:d>
                        <m:dPr>
                          <m:ctrlPr>
                            <a:rPr lang="es-ES" sz="2400" i="1">
                              <a:solidFill>
                                <a:srgbClr val="000000"/>
                              </a:solidFill>
                              <a:latin typeface="Cambria Math" panose="02040503050406030204" pitchFamily="18" charset="0"/>
                            </a:rPr>
                          </m:ctrlPr>
                        </m:dPr>
                        <m:e>
                          <m:sSup>
                            <m:sSupPr>
                              <m:ctrlPr>
                                <a:rPr lang="es-ES" sz="2400" i="1">
                                  <a:solidFill>
                                    <a:srgbClr val="000000"/>
                                  </a:solidFill>
                                  <a:latin typeface="Cambria Math" panose="02040503050406030204" pitchFamily="18" charset="0"/>
                                </a:rPr>
                              </m:ctrlPr>
                            </m:sSupPr>
                            <m:e>
                              <m:r>
                                <a:rPr lang="es-ES" sz="2400" i="1">
                                  <a:solidFill>
                                    <a:srgbClr val="000000"/>
                                  </a:solidFill>
                                  <a:latin typeface="Cambria Math" panose="02040503050406030204" pitchFamily="18" charset="0"/>
                                </a:rPr>
                                <m:t>𝑉</m:t>
                              </m:r>
                            </m:e>
                            <m:sup>
                              <m:r>
                                <a:rPr lang="es-ES" sz="2400" i="1">
                                  <a:solidFill>
                                    <a:srgbClr val="000000"/>
                                  </a:solidFill>
                                  <a:latin typeface="Cambria Math" panose="02040503050406030204" pitchFamily="18" charset="0"/>
                                </a:rPr>
                                <m:t>+</m:t>
                              </m:r>
                            </m:sup>
                          </m:sSup>
                          <m:r>
                            <a:rPr lang="es-ES" sz="2400" i="1">
                              <a:solidFill>
                                <a:srgbClr val="000000"/>
                              </a:solidFill>
                              <a:latin typeface="Cambria Math" panose="02040503050406030204" pitchFamily="18" charset="0"/>
                            </a:rPr>
                            <m:t>−</m:t>
                          </m:r>
                          <m:sSup>
                            <m:sSupPr>
                              <m:ctrlPr>
                                <a:rPr lang="es-ES" sz="2400" i="1">
                                  <a:solidFill>
                                    <a:srgbClr val="000000"/>
                                  </a:solidFill>
                                  <a:latin typeface="Cambria Math" panose="02040503050406030204" pitchFamily="18" charset="0"/>
                                </a:rPr>
                              </m:ctrlPr>
                            </m:sSupPr>
                            <m:e>
                              <m:r>
                                <a:rPr lang="es-ES" sz="2400" i="1">
                                  <a:solidFill>
                                    <a:srgbClr val="000000"/>
                                  </a:solidFill>
                                  <a:latin typeface="Cambria Math" panose="02040503050406030204" pitchFamily="18" charset="0"/>
                                </a:rPr>
                                <m:t>𝑉</m:t>
                              </m:r>
                            </m:e>
                            <m:sup>
                              <m:r>
                                <a:rPr lang="es-ES" sz="2400" i="1">
                                  <a:solidFill>
                                    <a:srgbClr val="000000"/>
                                  </a:solidFill>
                                  <a:latin typeface="Cambria Math" panose="02040503050406030204" pitchFamily="18" charset="0"/>
                                </a:rPr>
                                <m:t>−</m:t>
                              </m:r>
                            </m:sup>
                          </m:sSup>
                        </m:e>
                      </m:d>
                    </m:oMath>
                  </m:oMathPara>
                </a14:m>
                <a:endParaRPr lang="es-ES" sz="2400" dirty="0"/>
              </a:p>
            </p:txBody>
          </p:sp>
        </mc:Choice>
        <mc:Fallback xmlns="">
          <p:sp>
            <p:nvSpPr>
              <p:cNvPr id="44" name="Object 59">
                <a:extLst>
                  <a:ext uri="{FF2B5EF4-FFF2-40B4-BE49-F238E27FC236}">
                    <a16:creationId xmlns:a16="http://schemas.microsoft.com/office/drawing/2014/main" id="{9F12D84E-E795-4119-9868-2E61F568018B}"/>
                  </a:ext>
                </a:extLst>
              </p:cNvPr>
              <p:cNvSpPr txBox="1">
                <a:spLocks noRot="1" noChangeAspect="1" noMove="1" noResize="1" noEditPoints="1" noAdjustHandles="1" noChangeArrowheads="1" noChangeShapeType="1" noTextEdit="1"/>
              </p:cNvSpPr>
              <p:nvPr/>
            </p:nvSpPr>
            <p:spPr bwMode="auto">
              <a:xfrm>
                <a:off x="7559843" y="6335179"/>
                <a:ext cx="2691898" cy="560388"/>
              </a:xfrm>
              <a:prstGeom prst="rect">
                <a:avLst/>
              </a:prstGeom>
              <a:blipFill>
                <a:blip r:embed="rId8"/>
                <a:stretch>
                  <a:fillRect/>
                </a:stretch>
              </a:blipFill>
              <a:ln>
                <a:noFill/>
              </a:ln>
            </p:spPr>
            <p:txBody>
              <a:bodyPr/>
              <a:lstStyle/>
              <a:p>
                <a:r>
                  <a:rPr lang="es-ES">
                    <a:noFill/>
                  </a:rPr>
                  <a:t> </a:t>
                </a:r>
              </a:p>
            </p:txBody>
          </p:sp>
        </mc:Fallback>
      </mc:AlternateContent>
      <p:sp>
        <p:nvSpPr>
          <p:cNvPr id="52" name="Text Box 62">
            <a:extLst>
              <a:ext uri="{FF2B5EF4-FFF2-40B4-BE49-F238E27FC236}">
                <a16:creationId xmlns:a16="http://schemas.microsoft.com/office/drawing/2014/main" id="{D08F6839-7086-4071-A255-BC77613161C5}"/>
              </a:ext>
            </a:extLst>
          </p:cNvPr>
          <p:cNvSpPr txBox="1">
            <a:spLocks noChangeArrowheads="1"/>
          </p:cNvSpPr>
          <p:nvPr/>
        </p:nvSpPr>
        <p:spPr bwMode="auto">
          <a:xfrm>
            <a:off x="9756707" y="6335179"/>
            <a:ext cx="617856" cy="463846"/>
          </a:xfrm>
          <a:prstGeom prst="rect">
            <a:avLst/>
          </a:prstGeom>
          <a:solidFill>
            <a:srgbClr val="FFFFFF"/>
          </a:solidFill>
          <a:ln>
            <a:noFill/>
          </a:ln>
        </p:spPr>
        <p:txBody>
          <a:bodyPr wrap="square" lIns="54000" tIns="46800" rIns="54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&gt; 0</a:t>
            </a:r>
          </a:p>
        </p:txBody>
      </p:sp>
      <mc:AlternateContent xmlns:mc="http://schemas.openxmlformats.org/markup-compatibility/2006" xmlns:a14="http://schemas.microsoft.com/office/drawing/2010/main">
        <mc:Choice Requires="a14">
          <p:sp>
            <p:nvSpPr>
              <p:cNvPr id="42" name="Object 78">
                <a:extLst>
                  <a:ext uri="{FF2B5EF4-FFF2-40B4-BE49-F238E27FC236}">
                    <a16:creationId xmlns:a16="http://schemas.microsoft.com/office/drawing/2014/main" id="{1B5103AA-4463-412A-AAC5-7F9218EBDA12}"/>
                  </a:ext>
                </a:extLst>
              </p:cNvPr>
              <p:cNvSpPr txBox="1"/>
              <p:nvPr/>
            </p:nvSpPr>
            <p:spPr bwMode="auto">
              <a:xfrm>
                <a:off x="2029323" y="5185335"/>
                <a:ext cx="1944688" cy="51752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s-ES" sz="2400" i="0" smtClean="0">
                          <a:solidFill>
                            <a:srgbClr val="000000"/>
                          </a:solidFill>
                          <a:latin typeface="Cambria Math" panose="02040503050406030204" pitchFamily="18" charset="0"/>
                        </a:rPr>
                        <m:t>=−</m:t>
                      </m:r>
                      <m:d>
                        <m:dPr>
                          <m:ctrlPr>
                            <a:rPr lang="es-ES" sz="2400" i="1">
                              <a:solidFill>
                                <a:srgbClr val="000000"/>
                              </a:solidFill>
                              <a:latin typeface="Cambria Math" panose="02040503050406030204" pitchFamily="18" charset="0"/>
                            </a:rPr>
                          </m:ctrlPr>
                        </m:dPr>
                        <m:e>
                          <m:r>
                            <a:rPr lang="es-ES" sz="2400" b="0" i="0" smtClean="0">
                              <a:solidFill>
                                <a:srgbClr val="000000"/>
                              </a:solidFill>
                              <a:latin typeface="Cambria Math" panose="02040503050406030204" pitchFamily="18" charset="0"/>
                            </a:rPr>
                            <m:t>−</m:t>
                          </m:r>
                          <m:r>
                            <m:rPr>
                              <m:sty m:val="p"/>
                            </m:rPr>
                            <a:rPr lang="es-ES" sz="2400" i="0">
                              <a:solidFill>
                                <a:srgbClr val="000000"/>
                              </a:solidFill>
                              <a:latin typeface="Cambria Math" panose="02040503050406030204" pitchFamily="18" charset="0"/>
                            </a:rPr>
                            <m:t>Δ</m:t>
                          </m:r>
                          <m:sSub>
                            <m:sSubPr>
                              <m:ctrlPr>
                                <a:rPr lang="es-ES" sz="2400" i="1" smtClean="0">
                                  <a:solidFill>
                                    <a:srgbClr val="000000"/>
                                  </a:solidFill>
                                  <a:latin typeface="Cambria Math" panose="02040503050406030204" pitchFamily="18" charset="0"/>
                                </a:rPr>
                              </m:ctrlPr>
                            </m:sSubPr>
                            <m:e>
                              <m:r>
                                <a:rPr lang="es-ES" sz="2400" b="0" i="1" smtClean="0">
                                  <a:solidFill>
                                    <a:srgbClr val="000000"/>
                                  </a:solidFill>
                                  <a:latin typeface="Cambria Math" panose="02040503050406030204" pitchFamily="18" charset="0"/>
                                </a:rPr>
                                <m:t>𝐸</m:t>
                              </m:r>
                            </m:e>
                            <m:sub>
                              <m:r>
                                <a:rPr lang="es-ES" sz="2400" b="0" i="1" smtClean="0">
                                  <a:solidFill>
                                    <a:srgbClr val="000000"/>
                                  </a:solidFill>
                                  <a:latin typeface="Cambria Math" panose="02040503050406030204" pitchFamily="18" charset="0"/>
                                </a:rPr>
                                <m:t>𝑃</m:t>
                              </m:r>
                            </m:sub>
                          </m:sSub>
                        </m:e>
                      </m:d>
                      <m:r>
                        <a:rPr lang="es-ES" sz="2400" b="0" i="1" smtClean="0">
                          <a:solidFill>
                            <a:srgbClr val="000000"/>
                          </a:solidFill>
                          <a:latin typeface="Cambria Math" panose="02040503050406030204" pitchFamily="18" charset="0"/>
                        </a:rPr>
                        <m:t> </m:t>
                      </m:r>
                      <m:r>
                        <a:rPr lang="es-ES" sz="2400" i="0">
                          <a:solidFill>
                            <a:srgbClr val="000000"/>
                          </a:solidFill>
                          <a:latin typeface="Cambria Math" panose="02040503050406030204" pitchFamily="18" charset="0"/>
                        </a:rPr>
                        <m:t> </m:t>
                      </m:r>
                    </m:oMath>
                  </m:oMathPara>
                </a14:m>
                <a:endParaRPr lang="es-ES" sz="2400" dirty="0"/>
              </a:p>
            </p:txBody>
          </p:sp>
        </mc:Choice>
        <mc:Fallback xmlns="">
          <p:sp>
            <p:nvSpPr>
              <p:cNvPr id="42" name="Object 78">
                <a:extLst>
                  <a:ext uri="{FF2B5EF4-FFF2-40B4-BE49-F238E27FC236}">
                    <a16:creationId xmlns:a16="http://schemas.microsoft.com/office/drawing/2014/main" id="{1B5103AA-4463-412A-AAC5-7F9218EBDA12}"/>
                  </a:ext>
                </a:extLst>
              </p:cNvPr>
              <p:cNvSpPr txBox="1">
                <a:spLocks noRot="1" noChangeAspect="1" noMove="1" noResize="1" noEditPoints="1" noAdjustHandles="1" noChangeArrowheads="1" noChangeShapeType="1" noTextEdit="1"/>
              </p:cNvSpPr>
              <p:nvPr/>
            </p:nvSpPr>
            <p:spPr bwMode="auto">
              <a:xfrm>
                <a:off x="2029323" y="5185335"/>
                <a:ext cx="1944688" cy="517525"/>
              </a:xfrm>
              <a:prstGeom prst="rect">
                <a:avLst/>
              </a:prstGeom>
              <a:blipFill>
                <a:blip r:embed="rId9"/>
                <a:stretch>
                  <a:fillRect/>
                </a:stretch>
              </a:blipFill>
              <a:ln>
                <a:no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3" name="Object 4">
                <a:extLst>
                  <a:ext uri="{FF2B5EF4-FFF2-40B4-BE49-F238E27FC236}">
                    <a16:creationId xmlns:a16="http://schemas.microsoft.com/office/drawing/2014/main" id="{0DBAEFD2-4DCC-4622-96B2-689AA8472085}"/>
                  </a:ext>
                </a:extLst>
              </p:cNvPr>
              <p:cNvSpPr txBox="1"/>
              <p:nvPr/>
            </p:nvSpPr>
            <p:spPr bwMode="auto">
              <a:xfrm>
                <a:off x="2138822" y="2942772"/>
                <a:ext cx="1663117" cy="581026"/>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es-ES" sz="2400" i="0" smtClean="0">
                          <a:solidFill>
                            <a:srgbClr val="000000"/>
                          </a:solidFill>
                          <a:latin typeface="Cambria Math" panose="02040503050406030204" pitchFamily="18" charset="0"/>
                        </a:rPr>
                        <m:t>=− </m:t>
                      </m:r>
                      <m:r>
                        <m:rPr>
                          <m:sty m:val="p"/>
                        </m:rPr>
                        <a:rPr lang="es-ES" sz="2400" b="0" i="0" smtClean="0">
                          <a:solidFill>
                            <a:srgbClr val="000000"/>
                          </a:solidFill>
                          <a:latin typeface="Cambria Math" panose="02040503050406030204" pitchFamily="18" charset="0"/>
                        </a:rPr>
                        <m:t>q</m:t>
                      </m:r>
                      <m:r>
                        <a:rPr lang="es-ES" sz="2400" b="0" i="0" smtClean="0">
                          <a:solidFill>
                            <a:srgbClr val="000000"/>
                          </a:solidFill>
                          <a:latin typeface="Cambria Math" panose="02040503050406030204" pitchFamily="18" charset="0"/>
                        </a:rPr>
                        <m:t> </m:t>
                      </m:r>
                      <m:sSub>
                        <m:sSubPr>
                          <m:ctrlPr>
                            <a:rPr lang="es-ES" sz="2400" i="1">
                              <a:solidFill>
                                <a:srgbClr val="000000"/>
                              </a:solidFill>
                              <a:latin typeface="Cambria Math" panose="02040503050406030204" pitchFamily="18" charset="0"/>
                            </a:rPr>
                          </m:ctrlPr>
                        </m:sSubPr>
                        <m:e>
                          <m:r>
                            <m:rPr>
                              <m:sty m:val="p"/>
                            </m:rPr>
                            <a:rPr lang="es-ES" sz="2400" i="0">
                              <a:solidFill>
                                <a:srgbClr val="000000"/>
                              </a:solidFill>
                              <a:latin typeface="Cambria Math" panose="02040503050406030204" pitchFamily="18" charset="0"/>
                            </a:rPr>
                            <m:t>W</m:t>
                          </m:r>
                        </m:e>
                        <m:sub>
                          <m:acc>
                            <m:accPr>
                              <m:chr m:val="⃗"/>
                              <m:ctrlPr>
                                <a:rPr lang="es-ES" sz="2400" i="1">
                                  <a:solidFill>
                                    <a:srgbClr val="000000"/>
                                  </a:solidFill>
                                  <a:latin typeface="Cambria Math" panose="02040503050406030204" pitchFamily="18" charset="0"/>
                                </a:rPr>
                              </m:ctrlPr>
                            </m:accPr>
                            <m:e>
                              <m:r>
                                <m:rPr>
                                  <m:sty m:val="p"/>
                                </m:rPr>
                                <a:rPr lang="es-ES" sz="2400" b="0" i="0" smtClean="0">
                                  <a:solidFill>
                                    <a:srgbClr val="000000"/>
                                  </a:solidFill>
                                  <a:latin typeface="Cambria Math" panose="02040503050406030204" pitchFamily="18" charset="0"/>
                                </a:rPr>
                                <m:t>E</m:t>
                              </m:r>
                            </m:e>
                          </m:acc>
                        </m:sub>
                      </m:sSub>
                    </m:oMath>
                  </m:oMathPara>
                </a14:m>
                <a:endParaRPr lang="es-ES" sz="2400" dirty="0"/>
              </a:p>
            </p:txBody>
          </p:sp>
        </mc:Choice>
        <mc:Fallback xmlns="">
          <p:sp>
            <p:nvSpPr>
              <p:cNvPr id="43" name="Object 4">
                <a:extLst>
                  <a:ext uri="{FF2B5EF4-FFF2-40B4-BE49-F238E27FC236}">
                    <a16:creationId xmlns:a16="http://schemas.microsoft.com/office/drawing/2014/main" id="{0DBAEFD2-4DCC-4622-96B2-689AA8472085}"/>
                  </a:ext>
                </a:extLst>
              </p:cNvPr>
              <p:cNvSpPr txBox="1">
                <a:spLocks noRot="1" noChangeAspect="1" noMove="1" noResize="1" noEditPoints="1" noAdjustHandles="1" noChangeArrowheads="1" noChangeShapeType="1" noTextEdit="1"/>
              </p:cNvSpPr>
              <p:nvPr/>
            </p:nvSpPr>
            <p:spPr bwMode="auto">
              <a:xfrm>
                <a:off x="2138822" y="2942772"/>
                <a:ext cx="1663117" cy="581026"/>
              </a:xfrm>
              <a:prstGeom prst="rect">
                <a:avLst/>
              </a:prstGeom>
              <a:blipFill>
                <a:blip r:embed="rId10"/>
                <a:stretch>
                  <a:fillRect/>
                </a:stretch>
              </a:blipFill>
              <a:ln>
                <a:noFill/>
              </a:ln>
            </p:spPr>
            <p:txBody>
              <a:bodyPr/>
              <a:lstStyle/>
              <a:p>
                <a:r>
                  <a:rPr lang="es-ES">
                    <a:noFill/>
                  </a:rPr>
                  <a:t> </a:t>
                </a:r>
              </a:p>
            </p:txBody>
          </p:sp>
        </mc:Fallback>
      </mc:AlternateContent>
      <p:grpSp>
        <p:nvGrpSpPr>
          <p:cNvPr id="7" name="Grupo 6">
            <a:extLst>
              <a:ext uri="{FF2B5EF4-FFF2-40B4-BE49-F238E27FC236}">
                <a16:creationId xmlns:a16="http://schemas.microsoft.com/office/drawing/2014/main" id="{9402DE46-0545-9018-14D9-62DCDC6F9D17}"/>
              </a:ext>
            </a:extLst>
          </p:cNvPr>
          <p:cNvGrpSpPr/>
          <p:nvPr/>
        </p:nvGrpSpPr>
        <p:grpSpPr>
          <a:xfrm>
            <a:off x="3828848" y="3882434"/>
            <a:ext cx="6545715" cy="1908585"/>
            <a:chOff x="3828848" y="3742478"/>
            <a:chExt cx="6545715" cy="1908585"/>
          </a:xfrm>
        </p:grpSpPr>
        <p:sp>
          <p:nvSpPr>
            <p:cNvPr id="58" name="AutoShape 81">
              <a:extLst>
                <a:ext uri="{FF2B5EF4-FFF2-40B4-BE49-F238E27FC236}">
                  <a16:creationId xmlns:a16="http://schemas.microsoft.com/office/drawing/2014/main" id="{76D133D9-D7A7-4EC5-B057-219808D7B210}"/>
                </a:ext>
              </a:extLst>
            </p:cNvPr>
            <p:cNvSpPr>
              <a:spLocks noChangeArrowheads="1"/>
            </p:cNvSpPr>
            <p:nvPr/>
          </p:nvSpPr>
          <p:spPr bwMode="auto">
            <a:xfrm rot="5400000">
              <a:off x="6977104" y="3500382"/>
              <a:ext cx="249203" cy="733395"/>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 name="CuadroTexto 1">
              <a:extLst>
                <a:ext uri="{FF2B5EF4-FFF2-40B4-BE49-F238E27FC236}">
                  <a16:creationId xmlns:a16="http://schemas.microsoft.com/office/drawing/2014/main" id="{3BAA6014-957E-EF09-BA3C-B74D72C57824}"/>
                </a:ext>
              </a:extLst>
            </p:cNvPr>
            <p:cNvSpPr txBox="1">
              <a:spLocks noChangeArrowheads="1"/>
            </p:cNvSpPr>
            <p:nvPr/>
          </p:nvSpPr>
          <p:spPr bwMode="auto">
            <a:xfrm>
              <a:off x="3828848" y="4028329"/>
              <a:ext cx="6545715" cy="1622734"/>
            </a:xfrm>
            <a:prstGeom prst="rect">
              <a:avLst/>
            </a:prstGeom>
            <a:solidFill>
              <a:schemeClr val="tx2">
                <a:lumMod val="25000"/>
                <a:lumOff val="75000"/>
              </a:schemeClr>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Fuera de la pila, el mismo W de </a:t>
              </a:r>
              <a:r>
                <a:rPr lang="es-ES" sz="2400" b="1"/>
                <a:t>F</a:t>
              </a:r>
              <a:r>
                <a:rPr lang="es-ES" sz="2400"/>
                <a:t>, pero &gt; 0</a:t>
              </a:r>
            </a:p>
            <a:p>
              <a:pPr algn="ctr"/>
              <a:r>
                <a:rPr lang="es-ES" sz="2400"/>
                <a:t>(</a:t>
              </a:r>
              <a:r>
                <a:rPr lang="es-ES" sz="2400" b="1"/>
                <a:t>E</a:t>
              </a:r>
              <a:r>
                <a:rPr lang="es-ES" sz="2400"/>
                <a:t> y </a:t>
              </a:r>
              <a:r>
                <a:rPr lang="es-ES" sz="2400" b="1"/>
                <a:t>F</a:t>
              </a:r>
              <a:r>
                <a:rPr lang="es-ES" sz="2400"/>
                <a:t> están en sentido contrario),</a:t>
              </a:r>
            </a:p>
            <a:p>
              <a:pPr algn="ctr"/>
              <a:r>
                <a:rPr lang="es-ES" sz="2400"/>
                <a:t>transforma esa E</a:t>
              </a:r>
              <a:r>
                <a:rPr lang="es-ES" sz="2400" baseline="-25000"/>
                <a:t>P </a:t>
              </a:r>
              <a:r>
                <a:rPr lang="es-ES" sz="2400"/>
                <a:t>en E</a:t>
              </a:r>
              <a:r>
                <a:rPr lang="es-ES" sz="2400" baseline="-25000"/>
                <a:t>C </a:t>
              </a:r>
              <a:r>
                <a:rPr lang="es-ES" sz="2400"/>
                <a:t>de la corriente</a:t>
              </a:r>
            </a:p>
            <a:p>
              <a:pPr algn="ctr"/>
              <a:r>
                <a:rPr lang="es-ES" sz="2400">
                  <a:solidFill>
                    <a:schemeClr val="tx1"/>
                  </a:solidFill>
                </a:rPr>
                <a:t>tendiendo a deshacer la distribución de carga</a:t>
              </a:r>
              <a:endParaRPr lang="es-ES" sz="2400" dirty="0">
                <a:solidFill>
                  <a:schemeClr val="tx1"/>
                </a:solidFill>
              </a:endParaRPr>
            </a:p>
          </p:txBody>
        </p:sp>
      </p:grpSp>
      <p:sp>
        <p:nvSpPr>
          <p:cNvPr id="3" name="CuadroTexto 2">
            <a:extLst>
              <a:ext uri="{FF2B5EF4-FFF2-40B4-BE49-F238E27FC236}">
                <a16:creationId xmlns:a16="http://schemas.microsoft.com/office/drawing/2014/main" id="{B067F6D1-478E-1DA9-639D-AFC85600526B}"/>
              </a:ext>
            </a:extLst>
          </p:cNvPr>
          <p:cNvSpPr txBox="1">
            <a:spLocks noChangeArrowheads="1"/>
          </p:cNvSpPr>
          <p:nvPr/>
        </p:nvSpPr>
        <p:spPr bwMode="auto">
          <a:xfrm>
            <a:off x="4227360" y="5750283"/>
            <a:ext cx="57486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olidFill>
                  <a:srgbClr val="FF0000"/>
                </a:solidFill>
              </a:rPr>
              <a:t>(es lo mismo que pasa </a:t>
            </a:r>
            <a:r>
              <a:rPr lang="es-ES" sz="2400">
                <a:solidFill>
                  <a:srgbClr val="FF0000"/>
                </a:solidFill>
              </a:rPr>
              <a:t>al caer </a:t>
            </a:r>
            <a:r>
              <a:rPr lang="es-ES" sz="2400" dirty="0">
                <a:solidFill>
                  <a:srgbClr val="FF0000"/>
                </a:solidFill>
              </a:rPr>
              <a:t>un objeto)</a:t>
            </a:r>
          </a:p>
        </p:txBody>
      </p:sp>
      <p:sp>
        <p:nvSpPr>
          <p:cNvPr id="5" name="CuadroTexto 4">
            <a:extLst>
              <a:ext uri="{FF2B5EF4-FFF2-40B4-BE49-F238E27FC236}">
                <a16:creationId xmlns:a16="http://schemas.microsoft.com/office/drawing/2014/main" id="{82D1A38C-5DD9-E1A6-B088-7B207996E6A0}"/>
              </a:ext>
            </a:extLst>
          </p:cNvPr>
          <p:cNvSpPr txBox="1">
            <a:spLocks noChangeArrowheads="1"/>
          </p:cNvSpPr>
          <p:nvPr/>
        </p:nvSpPr>
        <p:spPr bwMode="auto">
          <a:xfrm>
            <a:off x="4558174" y="1276224"/>
            <a:ext cx="5812994" cy="884070"/>
          </a:xfrm>
          <a:prstGeom prst="rect">
            <a:avLst/>
          </a:prstGeom>
          <a:solidFill>
            <a:srgbClr val="FFFFFF"/>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solidFill>
                  <a:srgbClr val="FF0000"/>
                </a:solidFill>
              </a:rPr>
              <a:t>Es</a:t>
            </a:r>
            <a:r>
              <a:rPr lang="es-ES" sz="2400"/>
              <a:t> </a:t>
            </a:r>
            <a:r>
              <a:rPr lang="es-ES" sz="2400">
                <a:solidFill>
                  <a:srgbClr val="FF0000"/>
                </a:solidFill>
              </a:rPr>
              <a:t>positivo</a:t>
            </a:r>
            <a:r>
              <a:rPr lang="es-ES" sz="2400"/>
              <a:t>, porque aporta E</a:t>
            </a:r>
            <a:r>
              <a:rPr lang="es-ES" sz="2400" baseline="-25000"/>
              <a:t>C</a:t>
            </a:r>
            <a:r>
              <a:rPr lang="es-ES" sz="2400"/>
              <a:t> </a:t>
            </a:r>
            <a:r>
              <a:rPr lang="es-ES" sz="2400" dirty="0"/>
              <a:t>a costa de E</a:t>
            </a:r>
            <a:r>
              <a:rPr lang="es-ES" baseline="-25000" dirty="0"/>
              <a:t>QUÍMICA</a:t>
            </a:r>
            <a:r>
              <a:rPr lang="es-ES" sz="2400" baseline="-25000" dirty="0"/>
              <a:t> </a:t>
            </a:r>
            <a:r>
              <a:rPr lang="es-ES" sz="2400" dirty="0"/>
              <a:t>(E</a:t>
            </a:r>
            <a:r>
              <a:rPr lang="es-ES" baseline="-25000" dirty="0"/>
              <a:t>PRODUCTOS</a:t>
            </a:r>
            <a:r>
              <a:rPr lang="es-ES" sz="2400" baseline="-25000" dirty="0"/>
              <a:t> </a:t>
            </a:r>
            <a:r>
              <a:rPr lang="es-ES" sz="2400" dirty="0"/>
              <a:t>&lt; E</a:t>
            </a:r>
            <a:r>
              <a:rPr lang="es-ES" baseline="-25000" dirty="0"/>
              <a:t>REACTIVOS</a:t>
            </a:r>
            <a:r>
              <a:rPr lang="es-ES" sz="2400" dirty="0"/>
              <a:t>)</a:t>
            </a:r>
            <a:endParaRPr lang="es-ES" sz="2400" dirty="0">
              <a:solidFill>
                <a:srgbClr val="FF0000"/>
              </a:solidFill>
            </a:endParaRPr>
          </a:p>
        </p:txBody>
      </p:sp>
    </p:spTree>
    <p:extLst>
      <p:ext uri="{BB962C8B-B14F-4D97-AF65-F5344CB8AC3E}">
        <p14:creationId xmlns:p14="http://schemas.microsoft.com/office/powerpoint/2010/main" val="351542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up)">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wipe(left)">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6"/>
                                        </p:tgtEl>
                                        <p:attrNameLst>
                                          <p:attrName>style.visibility</p:attrName>
                                        </p:attrNameLst>
                                      </p:cBhvr>
                                      <p:to>
                                        <p:strVal val="visible"/>
                                      </p:to>
                                    </p:set>
                                    <p:anim calcmode="lin" valueType="num">
                                      <p:cBhvr additive="base">
                                        <p:cTn id="32" dur="500"/>
                                        <p:tgtEl>
                                          <p:spTgt spid="56"/>
                                        </p:tgtEl>
                                        <p:attrNameLst>
                                          <p:attrName>ppt_y</p:attrName>
                                        </p:attrNameLst>
                                      </p:cBhvr>
                                      <p:tavLst>
                                        <p:tav tm="0">
                                          <p:val>
                                            <p:strVal val="#ppt_y+#ppt_h*1.125000"/>
                                          </p:val>
                                        </p:tav>
                                        <p:tav tm="100000">
                                          <p:val>
                                            <p:strVal val="#ppt_y"/>
                                          </p:val>
                                        </p:tav>
                                      </p:tavLst>
                                    </p:anim>
                                    <p:animEffect transition="in" filter="wipe(up)">
                                      <p:cBhvr>
                                        <p:cTn id="33" dur="500"/>
                                        <p:tgtEl>
                                          <p:spTgt spid="5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up)">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p:tgtEl>
                                          <p:spTgt spid="3"/>
                                        </p:tgtEl>
                                        <p:attrNameLst>
                                          <p:attrName>ppt_y</p:attrName>
                                        </p:attrNameLst>
                                      </p:cBhvr>
                                      <p:tavLst>
                                        <p:tav tm="0">
                                          <p:val>
                                            <p:strVal val="#ppt_y+#ppt_h*1.125000"/>
                                          </p:val>
                                        </p:tav>
                                        <p:tav tm="100000">
                                          <p:val>
                                            <p:strVal val="#ppt_y"/>
                                          </p:val>
                                        </p:tav>
                                      </p:tavLst>
                                    </p:anim>
                                    <p:animEffect transition="in" filter="wipe(up)">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wipe(up)">
                                      <p:cBhvr>
                                        <p:cTn id="49" dur="500"/>
                                        <p:tgtEl>
                                          <p:spTgt spid="5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wipe(left)">
                                      <p:cBhvr>
                                        <p:cTn id="54" dur="500"/>
                                        <p:tgtEl>
                                          <p:spTgt spid="4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wipe(left)">
                                      <p:cBhvr>
                                        <p:cTn id="59" dur="500"/>
                                        <p:tgtEl>
                                          <p:spTgt spid="3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wipe(left)">
                                      <p:cBhvr>
                                        <p:cTn id="64" dur="500"/>
                                        <p:tgtEl>
                                          <p:spTgt spid="38"/>
                                        </p:tgtEl>
                                      </p:cBhvr>
                                    </p:animEffect>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 calcmode="lin" valueType="num">
                                      <p:cBhvr>
                                        <p:cTn id="69" dur="500" fill="hold"/>
                                        <p:tgtEl>
                                          <p:spTgt spid="31"/>
                                        </p:tgtEl>
                                        <p:attrNameLst>
                                          <p:attrName>ppt_w</p:attrName>
                                        </p:attrNameLst>
                                      </p:cBhvr>
                                      <p:tavLst>
                                        <p:tav tm="0">
                                          <p:val>
                                            <p:fltVal val="0"/>
                                          </p:val>
                                        </p:tav>
                                        <p:tav tm="100000">
                                          <p:val>
                                            <p:strVal val="#ppt_w"/>
                                          </p:val>
                                        </p:tav>
                                      </p:tavLst>
                                    </p:anim>
                                    <p:anim calcmode="lin" valueType="num">
                                      <p:cBhvr>
                                        <p:cTn id="70" dur="500" fill="hold"/>
                                        <p:tgtEl>
                                          <p:spTgt spid="31"/>
                                        </p:tgtEl>
                                        <p:attrNameLst>
                                          <p:attrName>ppt_h</p:attrName>
                                        </p:attrNameLst>
                                      </p:cBhvr>
                                      <p:tavLst>
                                        <p:tav tm="0">
                                          <p:val>
                                            <p:fltVal val="0"/>
                                          </p:val>
                                        </p:tav>
                                        <p:tav tm="100000">
                                          <p:val>
                                            <p:strVal val="#ppt_h"/>
                                          </p:val>
                                        </p:tav>
                                      </p:tavLst>
                                    </p:anim>
                                  </p:childTnLst>
                                </p:cTn>
                              </p:par>
                            </p:childTnLst>
                          </p:cTn>
                        </p:par>
                        <p:par>
                          <p:cTn id="71" fill="hold">
                            <p:stCondLst>
                              <p:cond delay="500"/>
                            </p:stCondLst>
                            <p:childTnLst>
                              <p:par>
                                <p:cTn id="72" presetID="23" presetClass="entr" presetSubtype="16" fill="hold" grpId="0" nodeType="afterEffect">
                                  <p:stCondLst>
                                    <p:cond delay="0"/>
                                  </p:stCondLst>
                                  <p:childTnLst>
                                    <p:set>
                                      <p:cBhvr>
                                        <p:cTn id="73" dur="1" fill="hold">
                                          <p:stCondLst>
                                            <p:cond delay="0"/>
                                          </p:stCondLst>
                                        </p:cTn>
                                        <p:tgtEl>
                                          <p:spTgt spid="32"/>
                                        </p:tgtEl>
                                        <p:attrNameLst>
                                          <p:attrName>style.visibility</p:attrName>
                                        </p:attrNameLst>
                                      </p:cBhvr>
                                      <p:to>
                                        <p:strVal val="visible"/>
                                      </p:to>
                                    </p:set>
                                    <p:anim calcmode="lin" valueType="num">
                                      <p:cBhvr>
                                        <p:cTn id="74" dur="500" fill="hold"/>
                                        <p:tgtEl>
                                          <p:spTgt spid="32"/>
                                        </p:tgtEl>
                                        <p:attrNameLst>
                                          <p:attrName>ppt_w</p:attrName>
                                        </p:attrNameLst>
                                      </p:cBhvr>
                                      <p:tavLst>
                                        <p:tav tm="0">
                                          <p:val>
                                            <p:fltVal val="0"/>
                                          </p:val>
                                        </p:tav>
                                        <p:tav tm="100000">
                                          <p:val>
                                            <p:strVal val="#ppt_w"/>
                                          </p:val>
                                        </p:tav>
                                      </p:tavLst>
                                    </p:anim>
                                    <p:anim calcmode="lin" valueType="num">
                                      <p:cBhvr>
                                        <p:cTn id="75" dur="5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wipe(left)">
                                      <p:cBhvr>
                                        <p:cTn id="80" dur="500"/>
                                        <p:tgtEl>
                                          <p:spTgt spid="3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wipe(left)">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23" presetClass="entr" presetSubtype="288"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 calcmode="lin" valueType="num">
                                      <p:cBhvr>
                                        <p:cTn id="90" dur="500" fill="hold"/>
                                        <p:tgtEl>
                                          <p:spTgt spid="52"/>
                                        </p:tgtEl>
                                        <p:attrNameLst>
                                          <p:attrName>ppt_w</p:attrName>
                                        </p:attrNameLst>
                                      </p:cBhvr>
                                      <p:tavLst>
                                        <p:tav tm="0">
                                          <p:val>
                                            <p:strVal val="4/3*#ppt_w"/>
                                          </p:val>
                                        </p:tav>
                                        <p:tav tm="100000">
                                          <p:val>
                                            <p:strVal val="#ppt_w"/>
                                          </p:val>
                                        </p:tav>
                                      </p:tavLst>
                                    </p:anim>
                                    <p:anim calcmode="lin" valueType="num">
                                      <p:cBhvr>
                                        <p:cTn id="91" dur="500" fill="hold"/>
                                        <p:tgtEl>
                                          <p:spTgt spid="52"/>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6" grpId="0"/>
      <p:bldP spid="57" grpId="0" animBg="1"/>
      <p:bldP spid="31" grpId="0" animBg="1"/>
      <p:bldP spid="32" grpId="0" animBg="1"/>
      <p:bldP spid="34" grpId="0"/>
      <p:bldP spid="37" grpId="0"/>
      <p:bldP spid="38" grpId="0"/>
      <p:bldP spid="39" grpId="0"/>
      <p:bldP spid="44" grpId="0"/>
      <p:bldP spid="52" grpId="0" animBg="1"/>
      <p:bldP spid="42" grpId="0"/>
      <p:bldP spid="43" grpId="0"/>
      <p:bldP spid="3" grpId="0"/>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01" name="Text Box 36"/>
          <p:cNvSpPr txBox="1">
            <a:spLocks noChangeArrowheads="1"/>
          </p:cNvSpPr>
          <p:nvPr/>
        </p:nvSpPr>
        <p:spPr bwMode="auto">
          <a:xfrm>
            <a:off x="1561226" y="2898394"/>
            <a:ext cx="8094516" cy="1992066"/>
          </a:xfrm>
          <a:prstGeom prst="rect">
            <a:avLst/>
          </a:prstGeom>
          <a:solidFill>
            <a:schemeClr val="accent1">
              <a:lumMod val="60000"/>
              <a:lumOff val="40000"/>
            </a:schemeClr>
          </a:solidFill>
          <a:ln>
            <a:noFill/>
          </a:ln>
        </p:spPr>
        <p:txBody>
          <a:bodyPr wrap="square" lIns="72000" tIns="72000" rIns="72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None/>
              <a:defRPr/>
            </a:pPr>
            <a:r>
              <a:rPr lang="es-ES" sz="2400" dirty="0">
                <a:latin typeface="Arial" panose="020B0604020202020204" pitchFamily="34" charset="0"/>
              </a:rPr>
              <a:t>Es el W, p.ej., químico, por unidad de carga, que realiza un generador para restituir la situación tras establecerse una corriente. Coincide con la E</a:t>
            </a:r>
            <a:r>
              <a:rPr lang="es-ES" sz="2400" baseline="-25000" dirty="0">
                <a:latin typeface="Arial" panose="020B0604020202020204" pitchFamily="34" charset="0"/>
              </a:rPr>
              <a:t>P</a:t>
            </a:r>
            <a:r>
              <a:rPr lang="es-ES" sz="2400" dirty="0">
                <a:latin typeface="Arial" panose="020B0604020202020204" pitchFamily="34" charset="0"/>
              </a:rPr>
              <a:t> eléctrica, por unidad de carga, disponible para transformar en E</a:t>
            </a:r>
            <a:r>
              <a:rPr lang="es-ES" sz="2400" baseline="-25000" dirty="0">
                <a:latin typeface="Arial" panose="020B0604020202020204" pitchFamily="34" charset="0"/>
              </a:rPr>
              <a:t>C </a:t>
            </a:r>
            <a:r>
              <a:rPr lang="es-ES" sz="2400" dirty="0">
                <a:latin typeface="Arial" panose="020B0604020202020204" pitchFamily="34" charset="0"/>
              </a:rPr>
              <a:t>de una corriente, es decir, con la </a:t>
            </a:r>
            <a:r>
              <a:rPr lang="es-ES" sz="2400" dirty="0" err="1">
                <a:latin typeface="Arial" panose="020B0604020202020204" pitchFamily="34" charset="0"/>
              </a:rPr>
              <a:t>ddp</a:t>
            </a:r>
            <a:r>
              <a:rPr lang="es-ES" sz="2400" dirty="0">
                <a:latin typeface="Arial" panose="020B0604020202020204" pitchFamily="34" charset="0"/>
              </a:rPr>
              <a:t> que mantiene entre sus terminales</a:t>
            </a:r>
          </a:p>
        </p:txBody>
      </p:sp>
      <p:sp>
        <p:nvSpPr>
          <p:cNvPr id="23588" name="Rectangle 11"/>
          <p:cNvSpPr>
            <a:spLocks noChangeArrowheads="1"/>
          </p:cNvSpPr>
          <p:nvPr/>
        </p:nvSpPr>
        <p:spPr bwMode="auto">
          <a:xfrm>
            <a:off x="6120882" y="5116890"/>
            <a:ext cx="4130133" cy="168185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b="1"/>
          </a:p>
        </p:txBody>
      </p:sp>
      <p:grpSp>
        <p:nvGrpSpPr>
          <p:cNvPr id="4" name="Grupo 3"/>
          <p:cNvGrpSpPr/>
          <p:nvPr/>
        </p:nvGrpSpPr>
        <p:grpSpPr>
          <a:xfrm>
            <a:off x="6919462" y="5160697"/>
            <a:ext cx="3096196" cy="571194"/>
            <a:chOff x="3241714" y="5136240"/>
            <a:chExt cx="3096196" cy="571194"/>
          </a:xfrm>
        </p:grpSpPr>
        <p:sp>
          <p:nvSpPr>
            <p:cNvPr id="23590" name="Text Box 38"/>
            <p:cNvSpPr txBox="1">
              <a:spLocks noChangeArrowheads="1"/>
            </p:cNvSpPr>
            <p:nvPr/>
          </p:nvSpPr>
          <p:spPr bwMode="auto">
            <a:xfrm>
              <a:off x="5181526" y="5170885"/>
              <a:ext cx="115638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1,5 J/C</a:t>
              </a:r>
            </a:p>
          </p:txBody>
        </p:sp>
        <p:sp>
          <p:nvSpPr>
            <p:cNvPr id="23594" name="Text Box 42"/>
            <p:cNvSpPr txBox="1">
              <a:spLocks noChangeArrowheads="1"/>
            </p:cNvSpPr>
            <p:nvPr/>
          </p:nvSpPr>
          <p:spPr bwMode="auto">
            <a:xfrm>
              <a:off x="3241714" y="5136240"/>
              <a:ext cx="201078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sym typeface="Symbol" panose="05050102010706020507" pitchFamily="18" charset="2"/>
                </a:rPr>
                <a:t>Disponible </a:t>
              </a:r>
            </a:p>
          </p:txBody>
        </p:sp>
      </p:grpSp>
      <p:grpSp>
        <p:nvGrpSpPr>
          <p:cNvPr id="8" name="Grupo 7"/>
          <p:cNvGrpSpPr/>
          <p:nvPr/>
        </p:nvGrpSpPr>
        <p:grpSpPr>
          <a:xfrm>
            <a:off x="6763547" y="5615781"/>
            <a:ext cx="3014226" cy="574664"/>
            <a:chOff x="4257930" y="5457782"/>
            <a:chExt cx="3014226" cy="574664"/>
          </a:xfrm>
        </p:grpSpPr>
        <p:sp>
          <p:nvSpPr>
            <p:cNvPr id="23591" name="Text Box 39"/>
            <p:cNvSpPr txBox="1">
              <a:spLocks noChangeArrowheads="1"/>
            </p:cNvSpPr>
            <p:nvPr/>
          </p:nvSpPr>
          <p:spPr bwMode="auto">
            <a:xfrm>
              <a:off x="6439579" y="5495897"/>
              <a:ext cx="832577"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10 C</a:t>
              </a:r>
            </a:p>
          </p:txBody>
        </p:sp>
        <p:sp>
          <p:nvSpPr>
            <p:cNvPr id="23595" name="Text Box 43"/>
            <p:cNvSpPr txBox="1">
              <a:spLocks noChangeArrowheads="1"/>
            </p:cNvSpPr>
            <p:nvPr/>
          </p:nvSpPr>
          <p:spPr bwMode="auto">
            <a:xfrm>
              <a:off x="4257930" y="5457782"/>
              <a:ext cx="2179099"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Si la cruzan </a:t>
              </a:r>
              <a:r>
                <a:rPr lang="es-ES" sz="2400" dirty="0">
                  <a:solidFill>
                    <a:srgbClr val="3333FF"/>
                  </a:solidFill>
                  <a:latin typeface="Arial" panose="020B0604020202020204" pitchFamily="34" charset="0"/>
                  <a:sym typeface="Symbol" panose="05050102010706020507" pitchFamily="18" charset="2"/>
                </a:rPr>
                <a:t></a:t>
              </a:r>
            </a:p>
          </p:txBody>
        </p:sp>
      </p:grpSp>
      <p:grpSp>
        <p:nvGrpSpPr>
          <p:cNvPr id="7" name="Grupo 6"/>
          <p:cNvGrpSpPr/>
          <p:nvPr/>
        </p:nvGrpSpPr>
        <p:grpSpPr>
          <a:xfrm>
            <a:off x="6250414" y="6186975"/>
            <a:ext cx="3454120" cy="599568"/>
            <a:chOff x="3744797" y="6114701"/>
            <a:chExt cx="3454120" cy="599568"/>
          </a:xfrm>
        </p:grpSpPr>
        <p:sp>
          <p:nvSpPr>
            <p:cNvPr id="23593" name="Text Box 41"/>
            <p:cNvSpPr txBox="1">
              <a:spLocks noChangeArrowheads="1"/>
            </p:cNvSpPr>
            <p:nvPr/>
          </p:nvSpPr>
          <p:spPr bwMode="auto">
            <a:xfrm>
              <a:off x="6435269" y="6177720"/>
              <a:ext cx="76364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15 J</a:t>
              </a:r>
            </a:p>
          </p:txBody>
        </p:sp>
        <p:sp>
          <p:nvSpPr>
            <p:cNvPr id="23596" name="Text Box 44"/>
            <p:cNvSpPr txBox="1">
              <a:spLocks noChangeArrowheads="1"/>
            </p:cNvSpPr>
            <p:nvPr/>
          </p:nvSpPr>
          <p:spPr bwMode="auto">
            <a:xfrm>
              <a:off x="3744797" y="6114701"/>
              <a:ext cx="271129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Habrá aportado </a:t>
              </a:r>
              <a:r>
                <a:rPr lang="es-ES" sz="2400" dirty="0">
                  <a:solidFill>
                    <a:srgbClr val="3333FF"/>
                  </a:solidFill>
                  <a:latin typeface="Arial" panose="020B0604020202020204" pitchFamily="34" charset="0"/>
                  <a:sym typeface="Symbol" panose="05050102010706020507" pitchFamily="18" charset="2"/>
                </a:rPr>
                <a:t></a:t>
              </a:r>
              <a:endParaRPr lang="es-ES" sz="2400" baseline="-25000" dirty="0">
                <a:solidFill>
                  <a:srgbClr val="3333FF"/>
                </a:solidFill>
                <a:latin typeface="Arial" panose="020B0604020202020204" pitchFamily="34" charset="0"/>
                <a:sym typeface="Symbol" panose="05050102010706020507" pitchFamily="18" charset="2"/>
              </a:endParaRPr>
            </a:p>
          </p:txBody>
        </p:sp>
      </p:grpSp>
      <p:sp>
        <p:nvSpPr>
          <p:cNvPr id="52" name="Rectangle 2"/>
          <p:cNvSpPr>
            <a:spLocks noChangeArrowheads="1"/>
          </p:cNvSpPr>
          <p:nvPr/>
        </p:nvSpPr>
        <p:spPr bwMode="auto">
          <a:xfrm>
            <a:off x="5213543" y="1007607"/>
            <a:ext cx="3241439" cy="956773"/>
          </a:xfrm>
          <a:prstGeom prst="rect">
            <a:avLst/>
          </a:prstGeom>
          <a:solidFill>
            <a:srgbClr val="666699"/>
          </a:solidFill>
          <a:ln>
            <a:noFill/>
          </a:ln>
        </p:spPr>
        <p:txBody>
          <a:bodyPr wrap="square" lIns="108000" tIns="108000" rIns="108000" bIns="108000" anchor="ctr" anchorCtr="1">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Arial" panose="020B0604020202020204" pitchFamily="34" charset="0"/>
              </a:rPr>
              <a:t>FUERZA ELECTROMOTRIZ</a:t>
            </a:r>
          </a:p>
        </p:txBody>
      </p:sp>
      <p:sp>
        <p:nvSpPr>
          <p:cNvPr id="21" name="Text Box 87"/>
          <p:cNvSpPr txBox="1">
            <a:spLocks noChangeArrowheads="1"/>
          </p:cNvSpPr>
          <p:nvPr/>
        </p:nvSpPr>
        <p:spPr bwMode="auto">
          <a:xfrm>
            <a:off x="1754265" y="2178427"/>
            <a:ext cx="6702665" cy="536549"/>
          </a:xfrm>
          <a:prstGeom prst="rect">
            <a:avLst/>
          </a:prstGeom>
          <a:solidFill>
            <a:srgbClr val="FFFF00"/>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 Es la magnitud que caracteriza a un generador</a:t>
            </a:r>
          </a:p>
        </p:txBody>
      </p:sp>
      <p:pic>
        <p:nvPicPr>
          <p:cNvPr id="3" name="Imagen 2"/>
          <p:cNvPicPr>
            <a:picLocks noChangeAspect="1"/>
          </p:cNvPicPr>
          <p:nvPr/>
        </p:nvPicPr>
        <p:blipFill>
          <a:blip r:embed="rId3"/>
          <a:stretch>
            <a:fillRect/>
          </a:stretch>
        </p:blipFill>
        <p:spPr>
          <a:xfrm>
            <a:off x="1800239" y="5188605"/>
            <a:ext cx="1872000" cy="711000"/>
          </a:xfrm>
          <a:prstGeom prst="rect">
            <a:avLst/>
          </a:prstGeom>
        </p:spPr>
      </p:pic>
      <p:grpSp>
        <p:nvGrpSpPr>
          <p:cNvPr id="9" name="Grupo 8"/>
          <p:cNvGrpSpPr/>
          <p:nvPr/>
        </p:nvGrpSpPr>
        <p:grpSpPr>
          <a:xfrm>
            <a:off x="8978442" y="5675904"/>
            <a:ext cx="1146104" cy="536549"/>
            <a:chOff x="4587985" y="5521565"/>
            <a:chExt cx="1146104" cy="536549"/>
          </a:xfrm>
        </p:grpSpPr>
        <p:sp>
          <p:nvSpPr>
            <p:cNvPr id="23592" name="Line 40"/>
            <p:cNvSpPr>
              <a:spLocks noChangeShapeType="1"/>
            </p:cNvSpPr>
            <p:nvPr/>
          </p:nvSpPr>
          <p:spPr bwMode="auto">
            <a:xfrm>
              <a:off x="4587985" y="5994331"/>
              <a:ext cx="816602" cy="0"/>
            </a:xfrm>
            <a:prstGeom prst="line">
              <a:avLst/>
            </a:prstGeom>
            <a:noFill/>
            <a:ln w="12700">
              <a:solidFill>
                <a:srgbClr val="3333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29" name="Text Box 39"/>
            <p:cNvSpPr txBox="1">
              <a:spLocks noChangeArrowheads="1"/>
            </p:cNvSpPr>
            <p:nvPr/>
          </p:nvSpPr>
          <p:spPr bwMode="auto">
            <a:xfrm>
              <a:off x="5384015" y="5521565"/>
              <a:ext cx="35007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sym typeface="Symbol" panose="05050102010706020507" pitchFamily="18" charset="2"/>
                </a:rPr>
                <a:t></a:t>
              </a:r>
              <a:endParaRPr lang="es-ES" sz="2400" dirty="0">
                <a:solidFill>
                  <a:srgbClr val="3333FF"/>
                </a:solidFill>
                <a:latin typeface="Arial" panose="020B0604020202020204" pitchFamily="34" charset="0"/>
              </a:endParaRPr>
            </a:p>
          </p:txBody>
        </p:sp>
      </p:grpSp>
      <p:sp>
        <p:nvSpPr>
          <p:cNvPr id="5126" name="Rectangle 83"/>
          <p:cNvSpPr>
            <a:spLocks noChangeArrowheads="1"/>
          </p:cNvSpPr>
          <p:nvPr/>
        </p:nvSpPr>
        <p:spPr bwMode="auto">
          <a:xfrm>
            <a:off x="1374536" y="1016685"/>
            <a:ext cx="3711021" cy="942382"/>
          </a:xfrm>
          <a:prstGeom prst="rect">
            <a:avLst/>
          </a:prstGeom>
          <a:solidFill>
            <a:srgbClr val="99CCFF"/>
          </a:solidFill>
          <a:ln>
            <a:noFill/>
          </a:ln>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endParaRPr lang="es-ES" sz="2000">
              <a:solidFill>
                <a:srgbClr val="000000"/>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8EE02EAD-C413-4565-925F-315D6F6DA08F}"/>
                  </a:ext>
                </a:extLst>
              </p:cNvPr>
              <p:cNvSpPr txBox="1"/>
              <p:nvPr/>
            </p:nvSpPr>
            <p:spPr>
              <a:xfrm>
                <a:off x="1523520" y="1172038"/>
                <a:ext cx="2699906" cy="611834"/>
              </a:xfrm>
              <a:prstGeom prst="rect">
                <a:avLst/>
              </a:prstGeom>
              <a:noFill/>
            </p:spPr>
            <p:txBody>
              <a:bodyPr wrap="none" lIns="0" tIns="0" rIns="0" bIns="0" rtlCol="0">
                <a:spAutoFit/>
              </a:bodyPr>
              <a:lstStyle/>
              <a:p>
                <a14:m>
                  <m:oMath xmlns:m="http://schemas.openxmlformats.org/officeDocument/2006/math">
                    <m:f>
                      <m:fPr>
                        <m:ctrlPr>
                          <a:rPr lang="es-ES" sz="2800" i="1" smtClean="0">
                            <a:latin typeface="Cambria Math" panose="02040503050406030204" pitchFamily="18" charset="0"/>
                          </a:rPr>
                        </m:ctrlPr>
                      </m:fPr>
                      <m:num>
                        <m:sSub>
                          <m:sSubPr>
                            <m:ctrlPr>
                              <a:rPr lang="es-ES" sz="2800" i="1">
                                <a:latin typeface="Cambria Math" panose="02040503050406030204" pitchFamily="18" charset="0"/>
                              </a:rPr>
                            </m:ctrlPr>
                          </m:sSubPr>
                          <m:e>
                            <m:r>
                              <a:rPr lang="es-ES" sz="2800" i="1">
                                <a:latin typeface="Cambria Math" panose="02040503050406030204" pitchFamily="18" charset="0"/>
                              </a:rPr>
                              <m:t>𝑊</m:t>
                            </m:r>
                          </m:e>
                          <m:sub>
                            <m:r>
                              <a:rPr lang="es-ES" sz="2800" i="1">
                                <a:latin typeface="Cambria Math" panose="02040503050406030204" pitchFamily="18" charset="0"/>
                              </a:rPr>
                              <m:t>𝑃𝐼𝐿𝐴</m:t>
                            </m:r>
                          </m:sub>
                        </m:sSub>
                      </m:num>
                      <m:den>
                        <m:r>
                          <a:rPr lang="es-ES" sz="2800" b="0" i="1" smtClean="0">
                            <a:latin typeface="Cambria Math" panose="02040503050406030204" pitchFamily="18" charset="0"/>
                          </a:rPr>
                          <m:t>𝑒</m:t>
                        </m:r>
                      </m:den>
                    </m:f>
                    <m:r>
                      <a:rPr lang="es-ES" sz="2800" b="0" i="1" smtClean="0">
                        <a:latin typeface="Cambria Math" panose="02040503050406030204" pitchFamily="18" charset="0"/>
                      </a:rPr>
                      <m:t>= </m:t>
                    </m:r>
                    <m:sSup>
                      <m:sSupPr>
                        <m:ctrlPr>
                          <a:rPr lang="es-ES" sz="2800" b="0" i="1" smtClean="0">
                            <a:latin typeface="Cambria Math" panose="02040503050406030204" pitchFamily="18" charset="0"/>
                          </a:rPr>
                        </m:ctrlPr>
                      </m:sSupPr>
                      <m:e>
                        <m:r>
                          <a:rPr lang="es-ES" sz="2800" b="0" i="1" smtClean="0">
                            <a:latin typeface="Cambria Math" panose="02040503050406030204" pitchFamily="18" charset="0"/>
                          </a:rPr>
                          <m:t>𝑉</m:t>
                        </m:r>
                      </m:e>
                      <m:sup>
                        <m:r>
                          <a:rPr lang="es-ES" sz="2800" b="0" i="1" smtClean="0">
                            <a:latin typeface="Cambria Math" panose="02040503050406030204" pitchFamily="18" charset="0"/>
                          </a:rPr>
                          <m:t>+</m:t>
                        </m:r>
                      </m:sup>
                    </m:sSup>
                    <m:r>
                      <a:rPr lang="es-ES" sz="2800" b="0" i="1" smtClean="0">
                        <a:latin typeface="Cambria Math" panose="02040503050406030204" pitchFamily="18" charset="0"/>
                      </a:rPr>
                      <m:t>−</m:t>
                    </m:r>
                  </m:oMath>
                </a14:m>
                <a:r>
                  <a:rPr lang="es-ES" sz="2800" dirty="0"/>
                  <a:t> </a:t>
                </a:r>
                <a14:m>
                  <m:oMath xmlns:m="http://schemas.openxmlformats.org/officeDocument/2006/math">
                    <m:sSup>
                      <m:sSupPr>
                        <m:ctrlPr>
                          <a:rPr lang="es-ES" sz="2800" i="1">
                            <a:latin typeface="Cambria Math" panose="02040503050406030204" pitchFamily="18" charset="0"/>
                          </a:rPr>
                        </m:ctrlPr>
                      </m:sSupPr>
                      <m:e>
                        <m:r>
                          <a:rPr lang="es-ES" sz="2800" i="1">
                            <a:latin typeface="Cambria Math" panose="02040503050406030204" pitchFamily="18" charset="0"/>
                          </a:rPr>
                          <m:t>𝑉</m:t>
                        </m:r>
                      </m:e>
                      <m:sup>
                        <m:r>
                          <a:rPr lang="es-ES" sz="2800" b="0" i="1" smtClean="0">
                            <a:latin typeface="Cambria Math" panose="02040503050406030204" pitchFamily="18" charset="0"/>
                          </a:rPr>
                          <m:t>−</m:t>
                        </m:r>
                      </m:sup>
                    </m:sSup>
                  </m:oMath>
                </a14:m>
                <a:endParaRPr lang="es-ES" sz="2800" dirty="0"/>
              </a:p>
            </p:txBody>
          </p:sp>
        </mc:Choice>
        <mc:Fallback xmlns="">
          <p:sp>
            <p:nvSpPr>
              <p:cNvPr id="10" name="CuadroTexto 9">
                <a:extLst>
                  <a:ext uri="{FF2B5EF4-FFF2-40B4-BE49-F238E27FC236}">
                    <a16:creationId xmlns:a16="http://schemas.microsoft.com/office/drawing/2014/main" id="{8EE02EAD-C413-4565-925F-315D6F6DA08F}"/>
                  </a:ext>
                </a:extLst>
              </p:cNvPr>
              <p:cNvSpPr txBox="1">
                <a:spLocks noRot="1" noChangeAspect="1" noMove="1" noResize="1" noEditPoints="1" noAdjustHandles="1" noChangeArrowheads="1" noChangeShapeType="1" noTextEdit="1"/>
              </p:cNvSpPr>
              <p:nvPr/>
            </p:nvSpPr>
            <p:spPr>
              <a:xfrm>
                <a:off x="1523520" y="1172038"/>
                <a:ext cx="2699906" cy="611834"/>
              </a:xfrm>
              <a:prstGeom prst="rect">
                <a:avLst/>
              </a:prstGeom>
              <a:blipFill>
                <a:blip r:embed="rId4"/>
                <a:stretch>
                  <a:fillRect l="-226"/>
                </a:stretch>
              </a:blipFill>
            </p:spPr>
            <p:txBody>
              <a:bodyPr/>
              <a:lstStyle/>
              <a:p>
                <a:r>
                  <a:rPr lang="es-ES">
                    <a:noFill/>
                  </a:rPr>
                  <a:t> </a:t>
                </a:r>
              </a:p>
            </p:txBody>
          </p:sp>
        </mc:Fallback>
      </mc:AlternateContent>
      <p:grpSp>
        <p:nvGrpSpPr>
          <p:cNvPr id="5" name="Grupo 4"/>
          <p:cNvGrpSpPr/>
          <p:nvPr/>
        </p:nvGrpSpPr>
        <p:grpSpPr>
          <a:xfrm>
            <a:off x="3219450" y="5391739"/>
            <a:ext cx="2342269" cy="587442"/>
            <a:chOff x="783187" y="5034292"/>
            <a:chExt cx="2342269" cy="587442"/>
          </a:xfrm>
        </p:grpSpPr>
        <p:sp>
          <p:nvSpPr>
            <p:cNvPr id="23586" name="Text Box 66"/>
            <p:cNvSpPr txBox="1">
              <a:spLocks noChangeArrowheads="1"/>
            </p:cNvSpPr>
            <p:nvPr/>
          </p:nvSpPr>
          <p:spPr bwMode="auto">
            <a:xfrm>
              <a:off x="2258130" y="5034292"/>
              <a:ext cx="867326" cy="587442"/>
            </a:xfrm>
            <a:prstGeom prst="rect">
              <a:avLst/>
            </a:prstGeom>
            <a:solidFill>
              <a:srgbClr val="6666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08000" tIns="108000" rIns="108000" bIns="108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b="1">
                  <a:solidFill>
                    <a:srgbClr val="FFFFFF"/>
                  </a:solidFill>
                </a:rPr>
                <a:t>FEM</a:t>
              </a:r>
            </a:p>
          </p:txBody>
        </p:sp>
        <p:sp>
          <p:nvSpPr>
            <p:cNvPr id="23587" name="Line 70"/>
            <p:cNvSpPr>
              <a:spLocks noChangeShapeType="1"/>
            </p:cNvSpPr>
            <p:nvPr/>
          </p:nvSpPr>
          <p:spPr bwMode="auto">
            <a:xfrm rot="16200000">
              <a:off x="1462454" y="4629696"/>
              <a:ext cx="0" cy="1358534"/>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sz="2400"/>
            </a:p>
          </p:txBody>
        </p:sp>
      </p:grpSp>
      <p:sp>
        <p:nvSpPr>
          <p:cNvPr id="28" name="Text Box 62">
            <a:extLst>
              <a:ext uri="{FF2B5EF4-FFF2-40B4-BE49-F238E27FC236}">
                <a16:creationId xmlns:a16="http://schemas.microsoft.com/office/drawing/2014/main" id="{65FF2896-8F4E-473B-952F-CCDC2C97C091}"/>
              </a:ext>
            </a:extLst>
          </p:cNvPr>
          <p:cNvSpPr txBox="1">
            <a:spLocks noChangeArrowheads="1"/>
          </p:cNvSpPr>
          <p:nvPr/>
        </p:nvSpPr>
        <p:spPr bwMode="auto">
          <a:xfrm>
            <a:off x="8631082" y="2220493"/>
            <a:ext cx="1692494" cy="510231"/>
          </a:xfrm>
          <a:prstGeom prst="rect">
            <a:avLst/>
          </a:prstGeom>
          <a:noFill/>
          <a:ln>
            <a:noFill/>
          </a:ln>
        </p:spPr>
        <p:txBody>
          <a:bodyPr wrap="square" lIns="54000" tIns="46800" rIns="54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FF0000"/>
                </a:solidFill>
                <a:latin typeface="Arial" panose="020B0604020202020204" pitchFamily="34" charset="0"/>
              </a:rPr>
              <a:t>Es positiva</a:t>
            </a:r>
          </a:p>
        </p:txBody>
      </p:sp>
      <p:sp>
        <p:nvSpPr>
          <p:cNvPr id="2" name="Text Box 38">
            <a:extLst>
              <a:ext uri="{FF2B5EF4-FFF2-40B4-BE49-F238E27FC236}">
                <a16:creationId xmlns:a16="http://schemas.microsoft.com/office/drawing/2014/main" id="{2B2C8984-4712-4BC4-AEF2-C91FFD77BA79}"/>
              </a:ext>
            </a:extLst>
          </p:cNvPr>
          <p:cNvSpPr txBox="1">
            <a:spLocks noChangeArrowheads="1"/>
          </p:cNvSpPr>
          <p:nvPr/>
        </p:nvSpPr>
        <p:spPr bwMode="auto">
          <a:xfrm>
            <a:off x="3329092" y="6071105"/>
            <a:ext cx="2223984" cy="536549"/>
          </a:xfrm>
          <a:prstGeom prst="rect">
            <a:avLst/>
          </a:prstGeom>
          <a:solidFill>
            <a:srgbClr val="FFFF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1,5 V = 1,5 J</a:t>
            </a:r>
            <a:r>
              <a:rPr lang="es-ES" sz="2400" dirty="0">
                <a:solidFill>
                  <a:srgbClr val="3333FF"/>
                </a:solidFill>
                <a:latin typeface="Arial" panose="020B0604020202020204" pitchFamily="34" charset="0"/>
              </a:rPr>
              <a:t>/C</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3D8CD2D-423D-49FA-A908-7434E21070D4}"/>
                  </a:ext>
                </a:extLst>
              </p:cNvPr>
              <p:cNvSpPr txBox="1"/>
              <p:nvPr/>
            </p:nvSpPr>
            <p:spPr>
              <a:xfrm>
                <a:off x="4246179" y="1256582"/>
                <a:ext cx="7025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latin typeface="Cambria Math" panose="02040503050406030204" pitchFamily="18" charset="0"/>
                        </a:rPr>
                        <m:t>= </m:t>
                      </m:r>
                      <m:r>
                        <a:rPr lang="es-ES" sz="2800" b="0" i="1" smtClean="0">
                          <a:latin typeface="Cambria Math" panose="02040503050406030204" pitchFamily="18" charset="0"/>
                          <a:sym typeface="Symbol" panose="05050102010706020507" pitchFamily="18" charset="2"/>
                        </a:rPr>
                        <m:t></m:t>
                      </m:r>
                    </m:oMath>
                  </m:oMathPara>
                </a14:m>
                <a:endParaRPr lang="es-ES" sz="2800" dirty="0"/>
              </a:p>
            </p:txBody>
          </p:sp>
        </mc:Choice>
        <mc:Fallback xmlns="">
          <p:sp>
            <p:nvSpPr>
              <p:cNvPr id="6" name="CuadroTexto 5">
                <a:extLst>
                  <a:ext uri="{FF2B5EF4-FFF2-40B4-BE49-F238E27FC236}">
                    <a16:creationId xmlns:a16="http://schemas.microsoft.com/office/drawing/2014/main" id="{53D8CD2D-423D-49FA-A908-7434E21070D4}"/>
                  </a:ext>
                </a:extLst>
              </p:cNvPr>
              <p:cNvSpPr txBox="1">
                <a:spLocks noRot="1" noChangeAspect="1" noMove="1" noResize="1" noEditPoints="1" noAdjustHandles="1" noChangeArrowheads="1" noChangeShapeType="1" noTextEdit="1"/>
              </p:cNvSpPr>
              <p:nvPr/>
            </p:nvSpPr>
            <p:spPr>
              <a:xfrm>
                <a:off x="4246179" y="1256582"/>
                <a:ext cx="702500" cy="430887"/>
              </a:xfrm>
              <a:prstGeom prst="rect">
                <a:avLst/>
              </a:prstGeom>
              <a:blipFill>
                <a:blip r:embed="rId5"/>
                <a:stretch>
                  <a:fillRect/>
                </a:stretch>
              </a:blipFill>
            </p:spPr>
            <p:txBody>
              <a:bodyPr/>
              <a:lstStyle/>
              <a:p>
                <a:r>
                  <a:rPr lang="es-ES">
                    <a:noFill/>
                  </a:rPr>
                  <a:t> </a:t>
                </a:r>
              </a:p>
            </p:txBody>
          </p:sp>
        </mc:Fallback>
      </mc:AlternateContent>
      <p:sp>
        <p:nvSpPr>
          <p:cNvPr id="30" name="CuadroTexto 29">
            <a:extLst>
              <a:ext uri="{FF2B5EF4-FFF2-40B4-BE49-F238E27FC236}">
                <a16:creationId xmlns:a16="http://schemas.microsoft.com/office/drawing/2014/main" id="{55C6FB77-6496-497A-96A1-F7AEB84A13F7}"/>
              </a:ext>
            </a:extLst>
          </p:cNvPr>
          <p:cNvSpPr txBox="1">
            <a:spLocks noChangeArrowheads="1"/>
          </p:cNvSpPr>
          <p:nvPr/>
        </p:nvSpPr>
        <p:spPr bwMode="auto">
          <a:xfrm>
            <a:off x="1382156" y="380914"/>
            <a:ext cx="7729652" cy="461665"/>
          </a:xfrm>
          <a:prstGeom prst="rect">
            <a:avLst/>
          </a:prstGeom>
          <a:solidFill>
            <a:srgbClr val="FFFFFF"/>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olidFill>
                  <a:schemeClr val="tx1"/>
                </a:solidFill>
              </a:rPr>
              <a:t>Dividiendo </a:t>
            </a:r>
            <a:r>
              <a:rPr lang="es-ES" sz="2400">
                <a:solidFill>
                  <a:schemeClr val="tx1"/>
                </a:solidFill>
              </a:rPr>
              <a:t>por “e”, </a:t>
            </a:r>
            <a:r>
              <a:rPr lang="es-ES" sz="2400" dirty="0">
                <a:solidFill>
                  <a:schemeClr val="tx1"/>
                </a:solidFill>
              </a:rPr>
              <a:t>para tener el W por unidad de carga:</a:t>
            </a:r>
          </a:p>
        </p:txBody>
      </p:sp>
      <p:sp>
        <p:nvSpPr>
          <p:cNvPr id="31" name="Text Box 62">
            <a:extLst>
              <a:ext uri="{FF2B5EF4-FFF2-40B4-BE49-F238E27FC236}">
                <a16:creationId xmlns:a16="http://schemas.microsoft.com/office/drawing/2014/main" id="{39722774-5E7E-4806-9243-8C20AC1CB77B}"/>
              </a:ext>
            </a:extLst>
          </p:cNvPr>
          <p:cNvSpPr txBox="1">
            <a:spLocks noChangeArrowheads="1"/>
          </p:cNvSpPr>
          <p:nvPr/>
        </p:nvSpPr>
        <p:spPr bwMode="auto">
          <a:xfrm>
            <a:off x="8608540" y="1058052"/>
            <a:ext cx="1692494" cy="833178"/>
          </a:xfrm>
          <a:prstGeom prst="rect">
            <a:avLst/>
          </a:prstGeom>
          <a:noFill/>
          <a:ln>
            <a:noFill/>
          </a:ln>
        </p:spPr>
        <p:txBody>
          <a:bodyPr wrap="square" lIns="54000" tIns="46800" rIns="54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0000"/>
                </a:solidFill>
                <a:latin typeface="Arial" panose="020B0604020202020204" pitchFamily="34" charset="0"/>
              </a:rPr>
              <a:t>No es una fuerza</a:t>
            </a:r>
            <a:endParaRPr lang="es-ES" sz="2400" dirty="0">
              <a:solidFill>
                <a:srgbClr val="FF0000"/>
              </a:solidFill>
              <a:latin typeface="Arial" panose="020B0604020202020204" pitchFamily="34" charset="0"/>
            </a:endParaRPr>
          </a:p>
        </p:txBody>
      </p:sp>
    </p:spTree>
    <p:extLst>
      <p:ext uri="{BB962C8B-B14F-4D97-AF65-F5344CB8AC3E}">
        <p14:creationId xmlns:p14="http://schemas.microsoft.com/office/powerpoint/2010/main" val="4161344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5126"/>
                                        </p:tgtEl>
                                        <p:attrNameLst>
                                          <p:attrName>style.visibility</p:attrName>
                                        </p:attrNameLst>
                                      </p:cBhvr>
                                      <p:to>
                                        <p:strVal val="visible"/>
                                      </p:to>
                                    </p:set>
                                    <p:animEffect transition="in" filter="dissolve">
                                      <p:cBhvr>
                                        <p:cTn id="21" dur="500"/>
                                        <p:tgtEl>
                                          <p:spTgt spid="512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blinds(vertical)">
                                      <p:cBhvr>
                                        <p:cTn id="26" dur="500"/>
                                        <p:tgtEl>
                                          <p:spTgt spid="52"/>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p:tgtEl>
                                          <p:spTgt spid="21"/>
                                        </p:tgtEl>
                                        <p:attrNameLst>
                                          <p:attrName>ppt_y</p:attrName>
                                        </p:attrNameLst>
                                      </p:cBhvr>
                                      <p:tavLst>
                                        <p:tav tm="0">
                                          <p:val>
                                            <p:strVal val="#ppt_y+#ppt_h*1.125000"/>
                                          </p:val>
                                        </p:tav>
                                        <p:tav tm="100000">
                                          <p:val>
                                            <p:strVal val="#ppt_y"/>
                                          </p:val>
                                        </p:tav>
                                      </p:tavLst>
                                    </p:anim>
                                    <p:animEffect transition="in" filter="wipe(up)">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3601"/>
                                        </p:tgtEl>
                                        <p:attrNameLst>
                                          <p:attrName>style.visibility</p:attrName>
                                        </p:attrNameLst>
                                      </p:cBhvr>
                                      <p:to>
                                        <p:strVal val="visible"/>
                                      </p:to>
                                    </p:set>
                                    <p:animEffect transition="in" filter="wipe(up)">
                                      <p:cBhvr>
                                        <p:cTn id="47" dur="500"/>
                                        <p:tgtEl>
                                          <p:spTgt spid="2360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dissolve">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500"/>
                                        <p:tgtEl>
                                          <p:spTgt spid="2"/>
                                        </p:tgtEl>
                                        <p:attrNameLst>
                                          <p:attrName>ppt_y</p:attrName>
                                        </p:attrNameLst>
                                      </p:cBhvr>
                                      <p:tavLst>
                                        <p:tav tm="0">
                                          <p:val>
                                            <p:strVal val="#ppt_y-#ppt_h*1.125000"/>
                                          </p:val>
                                        </p:tav>
                                        <p:tav tm="100000">
                                          <p:val>
                                            <p:strVal val="#ppt_y"/>
                                          </p:val>
                                        </p:tav>
                                      </p:tavLst>
                                    </p:anim>
                                    <p:animEffect transition="in" filter="wipe(down)">
                                      <p:cBhvr>
                                        <p:cTn id="63" dur="500"/>
                                        <p:tgtEl>
                                          <p:spTgt spid="2"/>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23588"/>
                                        </p:tgtEl>
                                        <p:attrNameLst>
                                          <p:attrName>style.visibility</p:attrName>
                                        </p:attrNameLst>
                                      </p:cBhvr>
                                      <p:to>
                                        <p:strVal val="visible"/>
                                      </p:to>
                                    </p:set>
                                    <p:animEffect transition="in" filter="dissolve">
                                      <p:cBhvr>
                                        <p:cTn id="68" dur="500"/>
                                        <p:tgtEl>
                                          <p:spTgt spid="23588"/>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wipe(left)">
                                      <p:cBhvr>
                                        <p:cTn id="72" dur="500"/>
                                        <p:tgtEl>
                                          <p:spTgt spid="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wipe(left)">
                                      <p:cBhvr>
                                        <p:cTn id="77" dur="500"/>
                                        <p:tgtEl>
                                          <p:spTgt spid="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wipe(up)">
                                      <p:cBhvr>
                                        <p:cTn id="82" dur="500"/>
                                        <p:tgtEl>
                                          <p:spTgt spid="9"/>
                                        </p:tgtEl>
                                      </p:cBhvr>
                                    </p:animEffect>
                                  </p:childTnLst>
                                </p:cTn>
                              </p:par>
                            </p:childTnLst>
                          </p:cTn>
                        </p:par>
                        <p:par>
                          <p:cTn id="83" fill="hold">
                            <p:stCondLst>
                              <p:cond delay="500"/>
                            </p:stCondLst>
                            <p:childTnLst>
                              <p:par>
                                <p:cTn id="84" presetID="22" presetClass="entr" presetSubtype="8" fill="hold" nodeType="after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wipe(left)">
                                      <p:cBhvr>
                                        <p:cTn id="8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01" grpId="0" animBg="1"/>
      <p:bldP spid="23588" grpId="0" animBg="1"/>
      <p:bldP spid="52" grpId="0" animBg="1"/>
      <p:bldP spid="21" grpId="0" animBg="1"/>
      <p:bldP spid="5126" grpId="0" animBg="1"/>
      <p:bldP spid="10" grpId="0"/>
      <p:bldP spid="28" grpId="0" animBg="1"/>
      <p:bldP spid="2" grpId="0" animBg="1"/>
      <p:bldP spid="6" grpId="0"/>
      <p:bldP spid="30" grpId="0" animBg="1"/>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4">
            <a:extLst>
              <a:ext uri="{FF2B5EF4-FFF2-40B4-BE49-F238E27FC236}">
                <a16:creationId xmlns:a16="http://schemas.microsoft.com/office/drawing/2014/main" id="{2C5CD445-1495-4A7F-9113-37ACF8398CE7}"/>
              </a:ext>
            </a:extLst>
          </p:cNvPr>
          <p:cNvSpPr>
            <a:spLocks noChangeArrowheads="1"/>
          </p:cNvSpPr>
          <p:nvPr/>
        </p:nvSpPr>
        <p:spPr bwMode="auto">
          <a:xfrm>
            <a:off x="1331912" y="377985"/>
            <a:ext cx="87169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a:solidFill>
                  <a:srgbClr val="CC0000"/>
                </a:solidFill>
                <a:latin typeface="Arial" panose="020B0604020202020204" pitchFamily="34" charset="0"/>
              </a:rPr>
              <a:t>2.4.3. </a:t>
            </a:r>
            <a:r>
              <a:rPr lang="es-ES" sz="2400" b="1" dirty="0">
                <a:solidFill>
                  <a:srgbClr val="CC0000"/>
                </a:solidFill>
                <a:latin typeface="Arial" panose="020B0604020202020204" pitchFamily="34" charset="0"/>
              </a:rPr>
              <a:t>GRADIENTE Y SUPERFICIES EQUIPOTENCIALES</a:t>
            </a:r>
          </a:p>
        </p:txBody>
      </p:sp>
      <p:sp>
        <p:nvSpPr>
          <p:cNvPr id="1140" name="Text Box 116"/>
          <p:cNvSpPr txBox="1">
            <a:spLocks noChangeArrowheads="1"/>
          </p:cNvSpPr>
          <p:nvPr/>
        </p:nvSpPr>
        <p:spPr bwMode="auto">
          <a:xfrm>
            <a:off x="1302416" y="934281"/>
            <a:ext cx="8942798" cy="833178"/>
          </a:xfrm>
          <a:prstGeom prst="rect">
            <a:avLst/>
          </a:prstGeom>
          <a:solidFill>
            <a:schemeClr val="bg2">
              <a:lumMod val="60000"/>
              <a:lumOff val="40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Analicemos la relación </a:t>
            </a:r>
            <a:r>
              <a:rPr lang="es-ES" sz="2400">
                <a:latin typeface="Arial" panose="020B0604020202020204" pitchFamily="34" charset="0"/>
              </a:rPr>
              <a:t>de </a:t>
            </a:r>
            <a:r>
              <a:rPr lang="es-ES" sz="2400" b="1">
                <a:latin typeface="Arial" panose="020B0604020202020204" pitchFamily="34" charset="0"/>
              </a:rPr>
              <a:t>E</a:t>
            </a:r>
            <a:r>
              <a:rPr lang="es-ES" sz="2400" baseline="-25000">
                <a:latin typeface="Arial" panose="020B0604020202020204" pitchFamily="34" charset="0"/>
              </a:rPr>
              <a:t>cons</a:t>
            </a:r>
            <a:r>
              <a:rPr lang="es-ES" sz="2400">
                <a:latin typeface="Arial" panose="020B0604020202020204" pitchFamily="34" charset="0"/>
              </a:rPr>
              <a:t> </a:t>
            </a:r>
            <a:r>
              <a:rPr lang="es-ES" sz="2400" dirty="0">
                <a:latin typeface="Arial" panose="020B0604020202020204" pitchFamily="34" charset="0"/>
              </a:rPr>
              <a:t>y V, y </a:t>
            </a:r>
            <a:r>
              <a:rPr lang="es-ES" sz="2400">
                <a:latin typeface="Arial" panose="020B0604020202020204" pitchFamily="34" charset="0"/>
              </a:rPr>
              <a:t>de </a:t>
            </a:r>
            <a:r>
              <a:rPr lang="es-ES" sz="2400" b="1">
                <a:latin typeface="Arial" panose="020B0604020202020204" pitchFamily="34" charset="0"/>
              </a:rPr>
              <a:t>F</a:t>
            </a:r>
            <a:r>
              <a:rPr lang="es-ES" sz="2400" baseline="-25000">
                <a:latin typeface="Arial" panose="020B0604020202020204" pitchFamily="34" charset="0"/>
              </a:rPr>
              <a:t>cons</a:t>
            </a:r>
            <a:r>
              <a:rPr lang="es-ES" sz="2400" b="1">
                <a:latin typeface="Arial" panose="020B0604020202020204" pitchFamily="34" charset="0"/>
              </a:rPr>
              <a:t> </a:t>
            </a:r>
            <a:r>
              <a:rPr lang="es-ES" sz="2400">
                <a:latin typeface="Arial" panose="020B0604020202020204" pitchFamily="34" charset="0"/>
              </a:rPr>
              <a:t>y E</a:t>
            </a:r>
            <a:r>
              <a:rPr lang="es-ES" sz="2400" baseline="-25000">
                <a:latin typeface="Arial" panose="020B0604020202020204" pitchFamily="34" charset="0"/>
              </a:rPr>
              <a:t>P</a:t>
            </a:r>
            <a:r>
              <a:rPr lang="es-ES" sz="2400">
                <a:latin typeface="Arial" panose="020B0604020202020204" pitchFamily="34" charset="0"/>
              </a:rPr>
              <a:t>, localmente, es decir, al desplazarnos de un punto a otro adyacente</a:t>
            </a:r>
            <a:endParaRPr lang="es-ES" sz="2400" dirty="0">
              <a:latin typeface="Arial" panose="020B0604020202020204" pitchFamily="34" charset="0"/>
            </a:endParaRPr>
          </a:p>
        </p:txBody>
      </p:sp>
      <p:sp>
        <p:nvSpPr>
          <p:cNvPr id="9241" name="Text Box 162"/>
          <p:cNvSpPr txBox="1">
            <a:spLocks noChangeArrowheads="1"/>
          </p:cNvSpPr>
          <p:nvPr/>
        </p:nvSpPr>
        <p:spPr bwMode="auto">
          <a:xfrm>
            <a:off x="1463040" y="3242818"/>
            <a:ext cx="4216400" cy="884070"/>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latin typeface="Arial" panose="020B0604020202020204" pitchFamily="34" charset="0"/>
              </a:rPr>
              <a:t>Refleja que V disminuye</a:t>
            </a:r>
          </a:p>
          <a:p>
            <a:pPr algn="ctr" eaLnBrk="1" hangingPunct="1">
              <a:spcBef>
                <a:spcPts val="0"/>
              </a:spcBef>
              <a:buFontTx/>
              <a:buNone/>
              <a:defRPr/>
            </a:pPr>
            <a:r>
              <a:rPr lang="es-ES" sz="2400" dirty="0">
                <a:latin typeface="Arial" panose="020B0604020202020204" pitchFamily="34" charset="0"/>
              </a:rPr>
              <a:t>en la dirección y sentido de </a:t>
            </a:r>
            <a:r>
              <a:rPr lang="es-ES" sz="2400" b="1" dirty="0">
                <a:latin typeface="Arial" panose="020B0604020202020204" pitchFamily="34" charset="0"/>
              </a:rPr>
              <a:t>E</a:t>
            </a:r>
          </a:p>
        </p:txBody>
      </p:sp>
      <p:sp>
        <p:nvSpPr>
          <p:cNvPr id="9245" name="Text Box 158"/>
          <p:cNvSpPr txBox="1">
            <a:spLocks noChangeArrowheads="1"/>
          </p:cNvSpPr>
          <p:nvPr/>
        </p:nvSpPr>
        <p:spPr bwMode="auto">
          <a:xfrm>
            <a:off x="5832476" y="3242818"/>
            <a:ext cx="4216400" cy="884070"/>
          </a:xfrm>
          <a:prstGeom prst="rect">
            <a:avLst/>
          </a:prstGeom>
          <a:solidFill>
            <a:schemeClr val="accent1">
              <a:lumMod val="60000"/>
              <a:lumOff val="40000"/>
            </a:schemeClr>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 Refleja que E</a:t>
            </a:r>
            <a:r>
              <a:rPr lang="es-ES" sz="2400" baseline="-25000" dirty="0">
                <a:latin typeface="Arial" panose="020B0604020202020204" pitchFamily="34" charset="0"/>
              </a:rPr>
              <a:t>P</a:t>
            </a:r>
            <a:r>
              <a:rPr lang="es-ES" sz="2400" dirty="0">
                <a:latin typeface="Arial" panose="020B0604020202020204" pitchFamily="34" charset="0"/>
              </a:rPr>
              <a:t> disminuye  en la dirección y sentido de </a:t>
            </a:r>
            <a:r>
              <a:rPr lang="es-ES" sz="2400" b="1" dirty="0">
                <a:latin typeface="Arial" panose="020B0604020202020204" pitchFamily="34" charset="0"/>
              </a:rPr>
              <a:t>F</a:t>
            </a:r>
          </a:p>
        </p:txBody>
      </p:sp>
      <p:sp>
        <p:nvSpPr>
          <p:cNvPr id="9234" name="Text Box 134"/>
          <p:cNvSpPr txBox="1">
            <a:spLocks noChangeArrowheads="1"/>
          </p:cNvSpPr>
          <p:nvPr/>
        </p:nvSpPr>
        <p:spPr bwMode="auto">
          <a:xfrm>
            <a:off x="1463040" y="2653049"/>
            <a:ext cx="4216400" cy="510231"/>
          </a:xfrm>
          <a:prstGeom prst="rect">
            <a:avLst/>
          </a:prstGeom>
          <a:solidFill>
            <a:srgbClr val="FFFFFF"/>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sym typeface="Wingdings" panose="05000000000000000000" pitchFamily="2" charset="2"/>
              </a:rPr>
              <a:t> </a:t>
            </a:r>
            <a:r>
              <a:rPr lang="es-ES" sz="2400">
                <a:latin typeface="Arial" panose="020B0604020202020204" pitchFamily="34" charset="0"/>
                <a:sym typeface="Symbol" panose="05050102010706020507" pitchFamily="18" charset="2"/>
              </a:rPr>
              <a:t>Si </a:t>
            </a:r>
            <a:r>
              <a:rPr lang="es-ES" sz="2400" dirty="0">
                <a:latin typeface="Arial" panose="020B0604020202020204" pitchFamily="34" charset="0"/>
                <a:sym typeface="Symbol" panose="05050102010706020507" pitchFamily="18" charset="2"/>
              </a:rPr>
              <a:t>E</a:t>
            </a:r>
            <a:r>
              <a:rPr lang="es-ES" sz="2400" baseline="-250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 &gt; 0  </a:t>
            </a:r>
            <a:r>
              <a:rPr lang="es-ES" sz="2400" dirty="0" err="1">
                <a:latin typeface="Arial" panose="020B0604020202020204" pitchFamily="34" charset="0"/>
                <a:sym typeface="Symbol" panose="05050102010706020507" pitchFamily="18" charset="2"/>
              </a:rPr>
              <a:t>dV</a:t>
            </a: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&lt; 0</a:t>
            </a:r>
          </a:p>
        </p:txBody>
      </p:sp>
      <p:sp>
        <p:nvSpPr>
          <p:cNvPr id="46" name="Text Box 134"/>
          <p:cNvSpPr txBox="1">
            <a:spLocks noChangeArrowheads="1"/>
          </p:cNvSpPr>
          <p:nvPr/>
        </p:nvSpPr>
        <p:spPr bwMode="auto">
          <a:xfrm>
            <a:off x="5832476" y="2658321"/>
            <a:ext cx="4216399" cy="510231"/>
          </a:xfrm>
          <a:prstGeom prst="rect">
            <a:avLst/>
          </a:prstGeom>
          <a:solidFill>
            <a:srgbClr val="FFFFFF"/>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sym typeface="Wingdings" panose="05000000000000000000" pitchFamily="2" charset="2"/>
              </a:rPr>
              <a:t> </a:t>
            </a:r>
            <a:r>
              <a:rPr lang="es-ES" sz="2400">
                <a:latin typeface="Arial" panose="020B0604020202020204" pitchFamily="34" charset="0"/>
                <a:sym typeface="Symbol" panose="05050102010706020507" pitchFamily="18" charset="2"/>
              </a:rPr>
              <a:t>Si </a:t>
            </a:r>
            <a:r>
              <a:rPr lang="es-ES" sz="2400" dirty="0">
                <a:latin typeface="Arial" panose="020B0604020202020204" pitchFamily="34" charset="0"/>
                <a:sym typeface="Symbol" panose="05050102010706020507" pitchFamily="18" charset="2"/>
              </a:rPr>
              <a:t>F</a:t>
            </a:r>
            <a:r>
              <a:rPr lang="es-ES" sz="2400" baseline="-250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 &gt; 0  </a:t>
            </a:r>
            <a:r>
              <a:rPr lang="es-ES" sz="2400" dirty="0" err="1">
                <a:latin typeface="Arial" panose="020B0604020202020204" pitchFamily="34" charset="0"/>
                <a:sym typeface="Symbol" panose="05050102010706020507" pitchFamily="18" charset="2"/>
              </a:rPr>
              <a:t>dE</a:t>
            </a:r>
            <a:r>
              <a:rPr lang="es-ES" sz="2400" baseline="-25000" dirty="0" err="1">
                <a:latin typeface="Arial" panose="020B0604020202020204" pitchFamily="34" charset="0"/>
                <a:sym typeface="Symbol" panose="05050102010706020507" pitchFamily="18" charset="2"/>
              </a:rPr>
              <a:t>P</a:t>
            </a: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&lt; 0</a:t>
            </a:r>
          </a:p>
        </p:txBody>
      </p:sp>
      <p:sp>
        <p:nvSpPr>
          <p:cNvPr id="9238" name="Text Box 142"/>
          <p:cNvSpPr txBox="1">
            <a:spLocks noChangeArrowheads="1"/>
          </p:cNvSpPr>
          <p:nvPr/>
        </p:nvSpPr>
        <p:spPr bwMode="auto">
          <a:xfrm>
            <a:off x="1893724" y="1893236"/>
            <a:ext cx="3355033" cy="598104"/>
          </a:xfrm>
          <a:prstGeom prst="rect">
            <a:avLst/>
          </a:prstGeom>
          <a:solidFill>
            <a:srgbClr val="99CCFF"/>
          </a:solidFill>
          <a:ln>
            <a:noFill/>
          </a:ln>
          <a:effectLst/>
          <a:extLst>
            <a:ext uri="{53640926-AAD7-44D8-BBD7-CCE9431645EC}">
              <a14:shadowObscured xmlns:a14="http://schemas.microsoft.com/office/drawing/2010/main" val="1"/>
            </a:ext>
          </a:extLst>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dirty="0" err="1">
                <a:solidFill>
                  <a:srgbClr val="000000"/>
                </a:solidFill>
                <a:latin typeface="Arial" panose="020B0604020202020204" pitchFamily="34" charset="0"/>
                <a:sym typeface="Symbol" panose="05050102010706020507" pitchFamily="18" charset="2"/>
              </a:rPr>
              <a:t>dV</a:t>
            </a:r>
            <a:r>
              <a:rPr lang="es-ES" sz="2800" dirty="0">
                <a:solidFill>
                  <a:srgbClr val="000000"/>
                </a:solidFill>
                <a:latin typeface="Arial" panose="020B0604020202020204" pitchFamily="34" charset="0"/>
                <a:sym typeface="Symbol" panose="05050102010706020507" pitchFamily="18" charset="2"/>
              </a:rPr>
              <a:t> = W</a:t>
            </a:r>
            <a:r>
              <a:rPr lang="es-ES" sz="2800" b="1" baseline="-25000" dirty="0">
                <a:solidFill>
                  <a:srgbClr val="000000"/>
                </a:solidFill>
                <a:latin typeface="Arial" panose="020B0604020202020204" pitchFamily="34" charset="0"/>
                <a:sym typeface="Symbol" panose="05050102010706020507" pitchFamily="18" charset="2"/>
              </a:rPr>
              <a:t>E</a:t>
            </a:r>
            <a:r>
              <a:rPr lang="es-ES" sz="2800" dirty="0">
                <a:solidFill>
                  <a:srgbClr val="000000"/>
                </a:solidFill>
                <a:latin typeface="Arial" panose="020B0604020202020204" pitchFamily="34" charset="0"/>
                <a:sym typeface="Symbol" panose="05050102010706020507" pitchFamily="18" charset="2"/>
              </a:rPr>
              <a:t> = E</a:t>
            </a:r>
            <a:r>
              <a:rPr lang="es-ES" sz="2800" baseline="-25000" dirty="0">
                <a:solidFill>
                  <a:srgbClr val="000000"/>
                </a:solidFill>
                <a:latin typeface="Arial" panose="020B0604020202020204" pitchFamily="34" charset="0"/>
                <a:sym typeface="Symbol" panose="05050102010706020507" pitchFamily="18" charset="2"/>
              </a:rPr>
              <a:t>//</a:t>
            </a:r>
            <a:r>
              <a:rPr lang="es-ES" sz="2800" dirty="0">
                <a:solidFill>
                  <a:srgbClr val="000000"/>
                </a:solidFill>
                <a:latin typeface="Arial" panose="020B0604020202020204" pitchFamily="34" charset="0"/>
                <a:sym typeface="Symbol" panose="05050102010706020507" pitchFamily="18" charset="2"/>
              </a:rPr>
              <a:t> dl</a:t>
            </a:r>
          </a:p>
        </p:txBody>
      </p:sp>
      <p:sp>
        <p:nvSpPr>
          <p:cNvPr id="9236" name="Text Box 154"/>
          <p:cNvSpPr txBox="1">
            <a:spLocks noChangeArrowheads="1"/>
          </p:cNvSpPr>
          <p:nvPr/>
        </p:nvSpPr>
        <p:spPr bwMode="auto">
          <a:xfrm>
            <a:off x="6263160" y="1893236"/>
            <a:ext cx="3355033" cy="598104"/>
          </a:xfrm>
          <a:prstGeom prst="rect">
            <a:avLst/>
          </a:prstGeom>
          <a:solidFill>
            <a:srgbClr val="99CCFF"/>
          </a:solidFill>
          <a:ln>
            <a:noFill/>
          </a:ln>
          <a:effectLst/>
          <a:extLst>
            <a:ext uri="{53640926-AAD7-44D8-BBD7-CCE9431645EC}">
              <a14:shadowObscured xmlns:a14="http://schemas.microsoft.com/office/drawing/2010/main" val="1"/>
            </a:ext>
          </a:extLst>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800" dirty="0" err="1">
                <a:solidFill>
                  <a:srgbClr val="000000"/>
                </a:solidFill>
                <a:latin typeface="Arial" panose="020B0604020202020204" pitchFamily="34" charset="0"/>
                <a:sym typeface="Symbol" panose="05050102010706020507" pitchFamily="18" charset="2"/>
              </a:rPr>
              <a:t>dE</a:t>
            </a:r>
            <a:r>
              <a:rPr lang="es-ES" sz="2800" baseline="-25000" dirty="0" err="1">
                <a:solidFill>
                  <a:srgbClr val="000000"/>
                </a:solidFill>
                <a:latin typeface="Arial" panose="020B0604020202020204" pitchFamily="34" charset="0"/>
                <a:sym typeface="Symbol" panose="05050102010706020507" pitchFamily="18" charset="2"/>
              </a:rPr>
              <a:t>P</a:t>
            </a:r>
            <a:r>
              <a:rPr lang="es-ES" sz="2800" dirty="0">
                <a:solidFill>
                  <a:srgbClr val="000000"/>
                </a:solidFill>
                <a:latin typeface="Arial" panose="020B0604020202020204" pitchFamily="34" charset="0"/>
                <a:sym typeface="Symbol" panose="05050102010706020507" pitchFamily="18" charset="2"/>
              </a:rPr>
              <a:t>= W</a:t>
            </a:r>
            <a:r>
              <a:rPr lang="es-ES" sz="2800" b="1" baseline="-25000" dirty="0">
                <a:solidFill>
                  <a:srgbClr val="000000"/>
                </a:solidFill>
                <a:latin typeface="Arial" panose="020B0604020202020204" pitchFamily="34" charset="0"/>
                <a:sym typeface="Symbol" panose="05050102010706020507" pitchFamily="18" charset="2"/>
              </a:rPr>
              <a:t>F </a:t>
            </a:r>
            <a:r>
              <a:rPr lang="es-ES" sz="2800" dirty="0">
                <a:solidFill>
                  <a:srgbClr val="000000"/>
                </a:solidFill>
                <a:latin typeface="Arial" panose="020B0604020202020204" pitchFamily="34" charset="0"/>
                <a:sym typeface="Symbol" panose="05050102010706020507" pitchFamily="18" charset="2"/>
              </a:rPr>
              <a:t>= F</a:t>
            </a:r>
            <a:r>
              <a:rPr lang="es-ES" sz="2800" baseline="-25000" dirty="0">
                <a:solidFill>
                  <a:srgbClr val="000000"/>
                </a:solidFill>
                <a:latin typeface="Arial" panose="020B0604020202020204" pitchFamily="34" charset="0"/>
                <a:sym typeface="Symbol" panose="05050102010706020507" pitchFamily="18" charset="2"/>
              </a:rPr>
              <a:t>//</a:t>
            </a:r>
            <a:r>
              <a:rPr lang="es-ES" sz="2800" dirty="0">
                <a:solidFill>
                  <a:srgbClr val="000000"/>
                </a:solidFill>
                <a:latin typeface="Arial" panose="020B0604020202020204" pitchFamily="34" charset="0"/>
                <a:sym typeface="Symbol" panose="05050102010706020507" pitchFamily="18" charset="2"/>
              </a:rPr>
              <a:t> dl</a:t>
            </a:r>
          </a:p>
        </p:txBody>
      </p:sp>
      <p:sp>
        <p:nvSpPr>
          <p:cNvPr id="32" name="Text Box 150"/>
          <p:cNvSpPr txBox="1">
            <a:spLocks noChangeArrowheads="1"/>
          </p:cNvSpPr>
          <p:nvPr/>
        </p:nvSpPr>
        <p:spPr bwMode="auto">
          <a:xfrm>
            <a:off x="1809135" y="4139987"/>
            <a:ext cx="7905135" cy="833178"/>
          </a:xfrm>
          <a:prstGeom prst="rect">
            <a:avLst/>
          </a:prstGeom>
          <a:noFill/>
          <a:ln>
            <a:noFill/>
          </a:ln>
          <a:effectLst/>
          <a:extLst>
            <a:ext uri="{53640926-AAD7-44D8-BBD7-CCE9431645EC}">
              <a14:shadowObscured xmlns:a14="http://schemas.microsoft.com/office/drawing/2010/main" val="1"/>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(ocurre lo mismo en el caso gravitatorio</a:t>
            </a:r>
            <a:r>
              <a:rPr lang="es-ES" sz="2400">
                <a:solidFill>
                  <a:srgbClr val="FF0000"/>
                </a:solidFill>
                <a:latin typeface="Arial" panose="020B0604020202020204" pitchFamily="34" charset="0"/>
              </a:rPr>
              <a:t>: V y E</a:t>
            </a:r>
            <a:r>
              <a:rPr lang="es-ES" sz="2400" baseline="-25000">
                <a:solidFill>
                  <a:srgbClr val="FF0000"/>
                </a:solidFill>
                <a:latin typeface="Arial" panose="020B0604020202020204" pitchFamily="34" charset="0"/>
              </a:rPr>
              <a:t>P</a:t>
            </a:r>
            <a:r>
              <a:rPr lang="es-ES" sz="2400">
                <a:solidFill>
                  <a:srgbClr val="FF0000"/>
                </a:solidFill>
                <a:latin typeface="Arial" panose="020B0604020202020204" pitchFamily="34" charset="0"/>
              </a:rPr>
              <a:t> </a:t>
            </a:r>
            <a:r>
              <a:rPr lang="es-ES" sz="2400" dirty="0">
                <a:solidFill>
                  <a:srgbClr val="FF0000"/>
                </a:solidFill>
                <a:latin typeface="Arial" panose="020B0604020202020204" pitchFamily="34" charset="0"/>
              </a:rPr>
              <a:t>disminuyen hacia abajo, en el sentido </a:t>
            </a:r>
            <a:r>
              <a:rPr lang="es-ES" sz="2400">
                <a:solidFill>
                  <a:srgbClr val="FF0000"/>
                </a:solidFill>
                <a:latin typeface="Arial" panose="020B0604020202020204" pitchFamily="34" charset="0"/>
              </a:rPr>
              <a:t>de </a:t>
            </a:r>
            <a:r>
              <a:rPr lang="es-ES" sz="2400" b="1">
                <a:solidFill>
                  <a:srgbClr val="FF0000"/>
                </a:solidFill>
                <a:latin typeface="Arial" panose="020B0604020202020204" pitchFamily="34" charset="0"/>
              </a:rPr>
              <a:t>g</a:t>
            </a:r>
            <a:r>
              <a:rPr lang="es-ES" sz="2400">
                <a:solidFill>
                  <a:srgbClr val="FF0000"/>
                </a:solidFill>
                <a:latin typeface="Arial" panose="020B0604020202020204" pitchFamily="34" charset="0"/>
              </a:rPr>
              <a:t> y del </a:t>
            </a:r>
            <a:r>
              <a:rPr lang="es-ES" sz="2400" dirty="0">
                <a:solidFill>
                  <a:srgbClr val="FF0000"/>
                </a:solidFill>
                <a:latin typeface="Arial" panose="020B0604020202020204" pitchFamily="34" charset="0"/>
              </a:rPr>
              <a:t>peso)</a:t>
            </a:r>
          </a:p>
        </p:txBody>
      </p:sp>
      <p:sp>
        <p:nvSpPr>
          <p:cNvPr id="30" name="Text Box 74">
            <a:extLst>
              <a:ext uri="{FF2B5EF4-FFF2-40B4-BE49-F238E27FC236}">
                <a16:creationId xmlns:a16="http://schemas.microsoft.com/office/drawing/2014/main" id="{EA015A76-FF19-4859-9C0A-8CA88AD0678F}"/>
              </a:ext>
            </a:extLst>
          </p:cNvPr>
          <p:cNvSpPr txBox="1">
            <a:spLocks noChangeArrowheads="1"/>
          </p:cNvSpPr>
          <p:nvPr/>
        </p:nvSpPr>
        <p:spPr bwMode="auto">
          <a:xfrm>
            <a:off x="1463040" y="5055648"/>
            <a:ext cx="4216400" cy="536549"/>
          </a:xfrm>
          <a:prstGeom prst="rect">
            <a:avLst/>
          </a:prstGeom>
          <a:solidFill>
            <a:srgbClr val="FFFFFF"/>
          </a:solidFill>
          <a:ln>
            <a:noFill/>
          </a:ln>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ym typeface="Wingdings" panose="05000000000000000000" pitchFamily="2" charset="2"/>
              </a:rPr>
              <a:t> </a:t>
            </a:r>
            <a:r>
              <a:rPr lang="es-ES" sz="2400"/>
              <a:t>V </a:t>
            </a:r>
            <a:r>
              <a:rPr lang="es-ES" sz="2400" dirty="0"/>
              <a:t>se obtiene a partir de </a:t>
            </a:r>
            <a:r>
              <a:rPr lang="es-ES" sz="2400" b="1" dirty="0"/>
              <a:t>E</a:t>
            </a:r>
          </a:p>
        </p:txBody>
      </p:sp>
      <p:sp>
        <p:nvSpPr>
          <p:cNvPr id="37" name="Text Box 74">
            <a:extLst>
              <a:ext uri="{FF2B5EF4-FFF2-40B4-BE49-F238E27FC236}">
                <a16:creationId xmlns:a16="http://schemas.microsoft.com/office/drawing/2014/main" id="{04784279-653C-45C4-B664-105C8DAFF946}"/>
              </a:ext>
            </a:extLst>
          </p:cNvPr>
          <p:cNvSpPr txBox="1">
            <a:spLocks noChangeArrowheads="1"/>
          </p:cNvSpPr>
          <p:nvPr/>
        </p:nvSpPr>
        <p:spPr bwMode="auto">
          <a:xfrm>
            <a:off x="5832476" y="5061031"/>
            <a:ext cx="4216399" cy="536549"/>
          </a:xfrm>
          <a:prstGeom prst="rect">
            <a:avLst/>
          </a:prstGeom>
          <a:solidFill>
            <a:srgbClr val="FFFFFF"/>
          </a:solidFill>
          <a:ln>
            <a:noFill/>
          </a:ln>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r>
              <a:rPr lang="es-ES" sz="2400">
                <a:sym typeface="Wingdings" panose="05000000000000000000" pitchFamily="2" charset="2"/>
              </a:rPr>
              <a:t> </a:t>
            </a:r>
            <a:r>
              <a:rPr lang="es-ES" sz="2400"/>
              <a:t>E</a:t>
            </a:r>
            <a:r>
              <a:rPr lang="es-ES" sz="2400" baseline="-25000"/>
              <a:t>P</a:t>
            </a:r>
            <a:r>
              <a:rPr lang="es-ES" sz="2400"/>
              <a:t> </a:t>
            </a:r>
            <a:r>
              <a:rPr lang="es-ES" sz="2400" dirty="0"/>
              <a:t>se obtiene a partir de </a:t>
            </a:r>
            <a:r>
              <a:rPr lang="es-ES" sz="2400" b="1" dirty="0"/>
              <a:t>F</a:t>
            </a:r>
          </a:p>
        </p:txBody>
      </p:sp>
      <p:sp>
        <p:nvSpPr>
          <p:cNvPr id="39" name="CuadroTexto 38">
            <a:extLst>
              <a:ext uri="{FF2B5EF4-FFF2-40B4-BE49-F238E27FC236}">
                <a16:creationId xmlns:a16="http://schemas.microsoft.com/office/drawing/2014/main" id="{6911438D-8A43-4FA0-8A98-FC43FE2A3120}"/>
              </a:ext>
            </a:extLst>
          </p:cNvPr>
          <p:cNvSpPr txBox="1"/>
          <p:nvPr/>
        </p:nvSpPr>
        <p:spPr bwMode="auto">
          <a:xfrm>
            <a:off x="3636575" y="5712142"/>
            <a:ext cx="4256687" cy="507832"/>
          </a:xfrm>
          <a:prstGeom prst="rect">
            <a:avLst/>
          </a:prstGeom>
          <a:solidFill>
            <a:schemeClr val="bg2">
              <a:lumMod val="60000"/>
              <a:lumOff val="40000"/>
            </a:schemeClr>
          </a:solidFill>
        </p:spPr>
        <p:txBody>
          <a:bodyPr wrap="square" anchor="ctr" anchorCtr="0">
            <a:noAutofit/>
          </a:bodyPr>
          <a:lstStyle/>
          <a:p>
            <a:pPr algn="ctr">
              <a:defRPr/>
            </a:pPr>
            <a:r>
              <a:rPr lang="es-ES" sz="2400" dirty="0"/>
              <a:t>¿Cuál es la relación al revés?</a:t>
            </a:r>
          </a:p>
        </p:txBody>
      </p:sp>
      <p:sp>
        <p:nvSpPr>
          <p:cNvPr id="41" name="Text Box 74">
            <a:extLst>
              <a:ext uri="{FF2B5EF4-FFF2-40B4-BE49-F238E27FC236}">
                <a16:creationId xmlns:a16="http://schemas.microsoft.com/office/drawing/2014/main" id="{48F3362B-E796-464E-B2B2-FA579A3D18BB}"/>
              </a:ext>
            </a:extLst>
          </p:cNvPr>
          <p:cNvSpPr txBox="1">
            <a:spLocks noChangeArrowheads="1"/>
          </p:cNvSpPr>
          <p:nvPr/>
        </p:nvSpPr>
        <p:spPr bwMode="auto">
          <a:xfrm>
            <a:off x="3856478" y="6316992"/>
            <a:ext cx="3794927" cy="536549"/>
          </a:xfrm>
          <a:prstGeom prst="rect">
            <a:avLst/>
          </a:prstGeom>
          <a:solidFill>
            <a:srgbClr val="FFFF99"/>
          </a:solidFill>
          <a:ln>
            <a:noFill/>
          </a:ln>
        </p:spPr>
        <p:txBody>
          <a:bodyPr wrap="non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Esto nos lleva </a:t>
            </a:r>
            <a:r>
              <a:rPr lang="es-ES" sz="2400" dirty="0"/>
              <a:t>al gradiente</a:t>
            </a:r>
            <a:endParaRPr lang="es-ES" sz="2400" b="1"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40"/>
                                        </p:tgtEl>
                                        <p:attrNameLst>
                                          <p:attrName>style.visibility</p:attrName>
                                        </p:attrNameLst>
                                      </p:cBhvr>
                                      <p:to>
                                        <p:strVal val="visible"/>
                                      </p:to>
                                    </p:set>
                                    <p:animEffect transition="in" filter="wipe(up)">
                                      <p:cBhvr>
                                        <p:cTn id="7" dur="500"/>
                                        <p:tgtEl>
                                          <p:spTgt spid="114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9238"/>
                                        </p:tgtEl>
                                        <p:attrNameLst>
                                          <p:attrName>style.visibility</p:attrName>
                                        </p:attrNameLst>
                                      </p:cBhvr>
                                      <p:to>
                                        <p:strVal val="visible"/>
                                      </p:to>
                                    </p:set>
                                    <p:anim calcmode="lin" valueType="num">
                                      <p:cBhvr additive="base">
                                        <p:cTn id="12" dur="500"/>
                                        <p:tgtEl>
                                          <p:spTgt spid="9238"/>
                                        </p:tgtEl>
                                        <p:attrNameLst>
                                          <p:attrName>ppt_y</p:attrName>
                                        </p:attrNameLst>
                                      </p:cBhvr>
                                      <p:tavLst>
                                        <p:tav tm="0">
                                          <p:val>
                                            <p:strVal val="#ppt_y-#ppt_h*1.125000"/>
                                          </p:val>
                                        </p:tav>
                                        <p:tav tm="100000">
                                          <p:val>
                                            <p:strVal val="#ppt_y"/>
                                          </p:val>
                                        </p:tav>
                                      </p:tavLst>
                                    </p:anim>
                                    <p:animEffect transition="in" filter="wipe(down)">
                                      <p:cBhvr>
                                        <p:cTn id="13" dur="500"/>
                                        <p:tgtEl>
                                          <p:spTgt spid="9238"/>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9236"/>
                                        </p:tgtEl>
                                        <p:attrNameLst>
                                          <p:attrName>style.visibility</p:attrName>
                                        </p:attrNameLst>
                                      </p:cBhvr>
                                      <p:to>
                                        <p:strVal val="visible"/>
                                      </p:to>
                                    </p:set>
                                    <p:anim calcmode="lin" valueType="num">
                                      <p:cBhvr additive="base">
                                        <p:cTn id="18" dur="500"/>
                                        <p:tgtEl>
                                          <p:spTgt spid="9236"/>
                                        </p:tgtEl>
                                        <p:attrNameLst>
                                          <p:attrName>ppt_y</p:attrName>
                                        </p:attrNameLst>
                                      </p:cBhvr>
                                      <p:tavLst>
                                        <p:tav tm="0">
                                          <p:val>
                                            <p:strVal val="#ppt_y-#ppt_h*1.125000"/>
                                          </p:val>
                                        </p:tav>
                                        <p:tav tm="100000">
                                          <p:val>
                                            <p:strVal val="#ppt_y"/>
                                          </p:val>
                                        </p:tav>
                                      </p:tavLst>
                                    </p:anim>
                                    <p:animEffect transition="in" filter="wipe(down)">
                                      <p:cBhvr>
                                        <p:cTn id="19" dur="500"/>
                                        <p:tgtEl>
                                          <p:spTgt spid="923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234"/>
                                        </p:tgtEl>
                                        <p:attrNameLst>
                                          <p:attrName>style.visibility</p:attrName>
                                        </p:attrNameLst>
                                      </p:cBhvr>
                                      <p:to>
                                        <p:strVal val="visible"/>
                                      </p:to>
                                    </p:set>
                                    <p:animEffect transition="in" filter="wipe(left)">
                                      <p:cBhvr>
                                        <p:cTn id="24" dur="500"/>
                                        <p:tgtEl>
                                          <p:spTgt spid="923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wipe(left)">
                                      <p:cBhvr>
                                        <p:cTn id="29" dur="500"/>
                                        <p:tgtEl>
                                          <p:spTgt spid="4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5" fill="hold" grpId="0" nodeType="clickEffect">
                                  <p:stCondLst>
                                    <p:cond delay="0"/>
                                  </p:stCondLst>
                                  <p:childTnLst>
                                    <p:set>
                                      <p:cBhvr>
                                        <p:cTn id="33" dur="1" fill="hold">
                                          <p:stCondLst>
                                            <p:cond delay="0"/>
                                          </p:stCondLst>
                                        </p:cTn>
                                        <p:tgtEl>
                                          <p:spTgt spid="9241"/>
                                        </p:tgtEl>
                                        <p:attrNameLst>
                                          <p:attrName>style.visibility</p:attrName>
                                        </p:attrNameLst>
                                      </p:cBhvr>
                                      <p:to>
                                        <p:strVal val="visible"/>
                                      </p:to>
                                    </p:set>
                                    <p:animEffect transition="in" filter="blinds(vertical)">
                                      <p:cBhvr>
                                        <p:cTn id="34" dur="500"/>
                                        <p:tgtEl>
                                          <p:spTgt spid="9241"/>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5" fill="hold" grpId="0" nodeType="clickEffect">
                                  <p:stCondLst>
                                    <p:cond delay="0"/>
                                  </p:stCondLst>
                                  <p:childTnLst>
                                    <p:set>
                                      <p:cBhvr>
                                        <p:cTn id="38" dur="1" fill="hold">
                                          <p:stCondLst>
                                            <p:cond delay="0"/>
                                          </p:stCondLst>
                                        </p:cTn>
                                        <p:tgtEl>
                                          <p:spTgt spid="9245"/>
                                        </p:tgtEl>
                                        <p:attrNameLst>
                                          <p:attrName>style.visibility</p:attrName>
                                        </p:attrNameLst>
                                      </p:cBhvr>
                                      <p:to>
                                        <p:strVal val="visible"/>
                                      </p:to>
                                    </p:set>
                                    <p:animEffect transition="in" filter="blinds(vertical)">
                                      <p:cBhvr>
                                        <p:cTn id="39" dur="500"/>
                                        <p:tgtEl>
                                          <p:spTgt spid="9245"/>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left)">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left)">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grpId="0" nodeType="clickEffect">
                                  <p:stCondLst>
                                    <p:cond delay="0"/>
                                  </p:stCondLst>
                                  <p:childTnLst>
                                    <p:set>
                                      <p:cBhvr>
                                        <p:cTn id="59" dur="1" fill="hold">
                                          <p:stCondLst>
                                            <p:cond delay="0"/>
                                          </p:stCondLst>
                                        </p:cTn>
                                        <p:tgtEl>
                                          <p:spTgt spid="39"/>
                                        </p:tgtEl>
                                        <p:attrNameLst>
                                          <p:attrName>style.visibility</p:attrName>
                                        </p:attrNameLst>
                                      </p:cBhvr>
                                      <p:to>
                                        <p:strVal val="visible"/>
                                      </p:to>
                                    </p:set>
                                    <p:anim calcmode="lin" valueType="num">
                                      <p:cBhvr additive="base">
                                        <p:cTn id="60" dur="500"/>
                                        <p:tgtEl>
                                          <p:spTgt spid="39"/>
                                        </p:tgtEl>
                                        <p:attrNameLst>
                                          <p:attrName>ppt_y</p:attrName>
                                        </p:attrNameLst>
                                      </p:cBhvr>
                                      <p:tavLst>
                                        <p:tav tm="0">
                                          <p:val>
                                            <p:strVal val="#ppt_y+#ppt_h*1.125000"/>
                                          </p:val>
                                        </p:tav>
                                        <p:tav tm="100000">
                                          <p:val>
                                            <p:strVal val="#ppt_y"/>
                                          </p:val>
                                        </p:tav>
                                      </p:tavLst>
                                    </p:anim>
                                    <p:animEffect transition="in" filter="wipe(up)">
                                      <p:cBhvr>
                                        <p:cTn id="61" dur="5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up)">
                                      <p:cBhvr>
                                        <p:cTn id="6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 grpId="0" animBg="1"/>
      <p:bldP spid="9241" grpId="0" animBg="1"/>
      <p:bldP spid="9245" grpId="0" animBg="1"/>
      <p:bldP spid="9234" grpId="0" animBg="1"/>
      <p:bldP spid="46" grpId="0" animBg="1"/>
      <p:bldP spid="9238" grpId="0" animBg="1"/>
      <p:bldP spid="9236" grpId="0" animBg="1"/>
      <p:bldP spid="32" grpId="0"/>
      <p:bldP spid="30" grpId="0" animBg="1"/>
      <p:bldP spid="37" grpId="0" animBg="1"/>
      <p:bldP spid="39" grpId="0" animBg="1"/>
      <p:bldP spid="4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56" name="Text Box 72"/>
          <p:cNvSpPr txBox="1">
            <a:spLocks noChangeArrowheads="1"/>
          </p:cNvSpPr>
          <p:nvPr/>
        </p:nvSpPr>
        <p:spPr bwMode="auto">
          <a:xfrm>
            <a:off x="6926580" y="4309968"/>
            <a:ext cx="3292066" cy="9058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a:spcBef>
                <a:spcPct val="0"/>
              </a:spcBef>
              <a:buFontTx/>
              <a:buNone/>
            </a:pPr>
            <a:r>
              <a:rPr lang="es-ES" sz="2400">
                <a:solidFill>
                  <a:srgbClr val="3333FF"/>
                </a:solidFill>
                <a:latin typeface="Arial" panose="020B0604020202020204" pitchFamily="34" charset="0"/>
              </a:rPr>
              <a:t>¡Se tiene </a:t>
            </a:r>
            <a:r>
              <a:rPr lang="es-ES" sz="2400" dirty="0">
                <a:solidFill>
                  <a:srgbClr val="3333FF"/>
                </a:solidFill>
                <a:latin typeface="Arial" panose="020B0604020202020204" pitchFamily="34" charset="0"/>
              </a:rPr>
              <a:t>la variación máxima positiva!</a:t>
            </a:r>
          </a:p>
        </p:txBody>
      </p:sp>
      <p:sp>
        <p:nvSpPr>
          <p:cNvPr id="67672" name="Text Box 88"/>
          <p:cNvSpPr txBox="1">
            <a:spLocks noChangeArrowheads="1"/>
          </p:cNvSpPr>
          <p:nvPr/>
        </p:nvSpPr>
        <p:spPr bwMode="auto">
          <a:xfrm>
            <a:off x="2145670" y="5343191"/>
            <a:ext cx="7254851" cy="833178"/>
          </a:xfrm>
          <a:prstGeom prst="rect">
            <a:avLst/>
          </a:prstGeom>
          <a:solidFill>
            <a:srgbClr val="FFFF00"/>
          </a:solidFill>
          <a:ln>
            <a:noFill/>
          </a:ln>
        </p:spPr>
        <p:txBody>
          <a:bodyPr wrap="square" lIns="46800" tIns="46800" rIns="468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En el sentido y dirección de </a:t>
            </a:r>
            <a:r>
              <a:rPr lang="es-ES" sz="2400" b="1" dirty="0">
                <a:latin typeface="Arial" panose="020B0604020202020204" pitchFamily="34" charset="0"/>
              </a:rPr>
              <a:t>E</a:t>
            </a:r>
            <a:r>
              <a:rPr lang="es-ES" sz="2400" dirty="0">
                <a:latin typeface="Arial" panose="020B0604020202020204" pitchFamily="34" charset="0"/>
              </a:rPr>
              <a:t> no solo disminuye V, además V tiene su máxima disminución</a:t>
            </a:r>
            <a:endParaRPr lang="es-ES" sz="2400" b="1" dirty="0">
              <a:latin typeface="Arial" panose="020B0604020202020204" pitchFamily="34" charset="0"/>
            </a:endParaRPr>
          </a:p>
        </p:txBody>
      </p:sp>
      <p:sp>
        <p:nvSpPr>
          <p:cNvPr id="3" name="Text Box 5"/>
          <p:cNvSpPr txBox="1">
            <a:spLocks noChangeArrowheads="1"/>
          </p:cNvSpPr>
          <p:nvPr/>
        </p:nvSpPr>
        <p:spPr bwMode="auto">
          <a:xfrm>
            <a:off x="1435171" y="675679"/>
            <a:ext cx="8665276" cy="1237116"/>
          </a:xfrm>
          <a:prstGeom prst="rect">
            <a:avLst/>
          </a:prstGeom>
          <a:solidFill>
            <a:schemeClr val="accent1">
              <a:lumMod val="60000"/>
              <a:lumOff val="40000"/>
            </a:schemeClr>
          </a:solidFill>
          <a:ln>
            <a:noFill/>
          </a:ln>
          <a:extLst>
            <a:ext uri="{91240B29-F687-4F45-9708-019B960494DF}">
              <a14:hiddenLine xmlns:a14="http://schemas.microsoft.com/office/drawing/2010/main" w="38100" algn="ctr">
                <a:solidFill>
                  <a:srgbClr val="0000FF"/>
                </a:solidFill>
                <a:miter lim="800000"/>
                <a:headEnd/>
                <a:tailEnd/>
              </a14:hiddenLine>
            </a:ext>
          </a:extLst>
        </p:spPr>
        <p:txBody>
          <a:bodyPr wrap="square"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90000"/>
              </a:lnSpc>
              <a:spcBef>
                <a:spcPct val="50000"/>
              </a:spcBef>
              <a:buFontTx/>
              <a:buNone/>
              <a:defRPr/>
            </a:pPr>
            <a:r>
              <a:rPr lang="es-ES" sz="2400" dirty="0">
                <a:latin typeface="Arial" panose="020B0604020202020204" pitchFamily="34" charset="0"/>
              </a:rPr>
              <a:t>Para una función escalar definida en cada punto del espacio, es, en cada punto, el vector dirigido en la dirección de mayor variación de la función, en el sentido de aumento</a:t>
            </a:r>
          </a:p>
        </p:txBody>
      </p:sp>
      <p:sp>
        <p:nvSpPr>
          <p:cNvPr id="13336" name="Text Box 98"/>
          <p:cNvSpPr txBox="1">
            <a:spLocks noChangeArrowheads="1"/>
          </p:cNvSpPr>
          <p:nvPr/>
        </p:nvSpPr>
        <p:spPr bwMode="auto">
          <a:xfrm>
            <a:off x="3513258" y="92192"/>
            <a:ext cx="4512880" cy="463846"/>
          </a:xfrm>
          <a:prstGeom prst="rect">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FFFF"/>
                </a:solidFill>
                <a:latin typeface="Arial" panose="020B0604020202020204" pitchFamily="34" charset="0"/>
              </a:rPr>
              <a:t>DEFINICIÓN DEL GRADIENTE</a:t>
            </a:r>
          </a:p>
        </p:txBody>
      </p:sp>
      <p:grpSp>
        <p:nvGrpSpPr>
          <p:cNvPr id="13362" name="Grupo 4"/>
          <p:cNvGrpSpPr>
            <a:grpSpLocks/>
          </p:cNvGrpSpPr>
          <p:nvPr/>
        </p:nvGrpSpPr>
        <p:grpSpPr bwMode="auto">
          <a:xfrm>
            <a:off x="2841238" y="3119755"/>
            <a:ext cx="2114889" cy="564684"/>
            <a:chOff x="6725285" y="423958"/>
            <a:chExt cx="2115813" cy="564528"/>
          </a:xfrm>
        </p:grpSpPr>
        <p:sp>
          <p:nvSpPr>
            <p:cNvPr id="4" name="Rectángulo 3"/>
            <p:cNvSpPr/>
            <p:nvPr/>
          </p:nvSpPr>
          <p:spPr bwMode="auto">
            <a:xfrm>
              <a:off x="6739248" y="423958"/>
              <a:ext cx="2101850" cy="550708"/>
            </a:xfrm>
            <a:prstGeom prst="rect">
              <a:avLst/>
            </a:prstGeom>
            <a:solidFill>
              <a:srgbClr val="99CCFF"/>
            </a:solidFill>
            <a:ln w="12700" cap="flat" cmpd="sng" algn="ctr">
              <a:noFill/>
              <a:prstDash val="solid"/>
              <a:round/>
              <a:headEnd type="none" w="med" len="med"/>
              <a:tailEnd type="none" w="med" len="med"/>
            </a:ln>
            <a:effectLst/>
          </p:spPr>
          <p:txBody>
            <a:bodyPr wrap="square" lIns="90000" tIns="46800" rIns="90000" bIns="46800">
              <a:spAutoFit/>
            </a:bodyPr>
            <a:lstStyle/>
            <a:p>
              <a:pPr eaLnBrk="1" hangingPunct="1">
                <a:spcBef>
                  <a:spcPct val="50000"/>
                </a:spcBef>
                <a:defRPr/>
              </a:pPr>
              <a:endParaRPr lang="es-ES">
                <a:latin typeface="Arial" charset="0"/>
              </a:endParaRPr>
            </a:p>
          </p:txBody>
        </p:sp>
        <p:graphicFrame>
          <p:nvGraphicFramePr>
            <p:cNvPr id="13365" name="Object 73"/>
            <p:cNvGraphicFramePr>
              <a:graphicFrameLocks noChangeAspect="1"/>
            </p:cNvGraphicFramePr>
            <p:nvPr>
              <p:extLst>
                <p:ext uri="{D42A27DB-BD31-4B8C-83A1-F6EECF244321}">
                  <p14:modId xmlns:p14="http://schemas.microsoft.com/office/powerpoint/2010/main" val="2082681163"/>
                </p:ext>
              </p:extLst>
            </p:nvPr>
          </p:nvGraphicFramePr>
          <p:xfrm>
            <a:off x="6725285" y="463996"/>
            <a:ext cx="2101850" cy="524490"/>
          </p:xfrm>
          <a:graphic>
            <a:graphicData uri="http://schemas.openxmlformats.org/presentationml/2006/ole">
              <mc:AlternateContent xmlns:mc="http://schemas.openxmlformats.org/markup-compatibility/2006">
                <mc:Choice xmlns:v="urn:schemas-microsoft-com:vml" Requires="v">
                  <p:oleObj name="Ecuación" r:id="rId3" imgW="965200" imgH="241300" progId="Equation.3">
                    <p:embed/>
                  </p:oleObj>
                </mc:Choice>
                <mc:Fallback>
                  <p:oleObj name="Ecuación" r:id="rId3" imgW="9652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5285" y="463996"/>
                          <a:ext cx="2101850" cy="52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363" name="CuadroTexto 2"/>
          <p:cNvSpPr txBox="1">
            <a:spLocks noChangeArrowheads="1"/>
          </p:cNvSpPr>
          <p:nvPr/>
        </p:nvSpPr>
        <p:spPr bwMode="auto">
          <a:xfrm>
            <a:off x="1687285" y="3146108"/>
            <a:ext cx="12404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chemeClr val="tx1"/>
                </a:solidFill>
                <a:sym typeface="Symbol" panose="05050102010706020507" pitchFamily="18" charset="2"/>
              </a:rPr>
              <a:t>Como</a:t>
            </a:r>
            <a:r>
              <a:rPr lang="es-ES" sz="2400">
                <a:solidFill>
                  <a:schemeClr val="tx1"/>
                </a:solidFill>
              </a:rPr>
              <a:t>:</a:t>
            </a:r>
            <a:endParaRPr lang="es-ES" sz="2400" dirty="0">
              <a:solidFill>
                <a:schemeClr val="tx1"/>
              </a:solidFill>
            </a:endParaRPr>
          </a:p>
        </p:txBody>
      </p:sp>
      <p:grpSp>
        <p:nvGrpSpPr>
          <p:cNvPr id="14" name="Grupo 13"/>
          <p:cNvGrpSpPr>
            <a:grpSpLocks/>
          </p:cNvGrpSpPr>
          <p:nvPr/>
        </p:nvGrpSpPr>
        <p:grpSpPr bwMode="auto">
          <a:xfrm>
            <a:off x="1900777" y="4344701"/>
            <a:ext cx="842909" cy="855772"/>
            <a:chOff x="4622868" y="665316"/>
            <a:chExt cx="843302" cy="854992"/>
          </a:xfrm>
        </p:grpSpPr>
        <p:cxnSp>
          <p:nvCxnSpPr>
            <p:cNvPr id="13355" name="Conector recto de flecha 6"/>
            <p:cNvCxnSpPr>
              <a:cxnSpLocks noChangeShapeType="1"/>
            </p:cNvCxnSpPr>
            <p:nvPr/>
          </p:nvCxnSpPr>
          <p:spPr bwMode="auto">
            <a:xfrm>
              <a:off x="5048181" y="911729"/>
              <a:ext cx="417989" cy="0"/>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356" name="CuadroTexto 7"/>
            <p:cNvSpPr txBox="1">
              <a:spLocks noChangeArrowheads="1"/>
            </p:cNvSpPr>
            <p:nvPr/>
          </p:nvSpPr>
          <p:spPr bwMode="auto">
            <a:xfrm>
              <a:off x="4622868" y="665316"/>
              <a:ext cx="425314" cy="46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t>dl</a:t>
              </a:r>
            </a:p>
          </p:txBody>
        </p:sp>
        <p:sp>
          <p:nvSpPr>
            <p:cNvPr id="13357" name="Line 86"/>
            <p:cNvSpPr>
              <a:spLocks noChangeShapeType="1"/>
            </p:cNvSpPr>
            <p:nvPr/>
          </p:nvSpPr>
          <p:spPr bwMode="auto">
            <a:xfrm>
              <a:off x="4835524" y="704785"/>
              <a:ext cx="1524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p>
              <a:endParaRPr lang="en-GB"/>
            </a:p>
          </p:txBody>
        </p:sp>
        <p:cxnSp>
          <p:nvCxnSpPr>
            <p:cNvPr id="13358" name="Conector recto de flecha 9"/>
            <p:cNvCxnSpPr>
              <a:cxnSpLocks noChangeShapeType="1"/>
            </p:cNvCxnSpPr>
            <p:nvPr/>
          </p:nvCxnSpPr>
          <p:spPr bwMode="auto">
            <a:xfrm flipH="1">
              <a:off x="5020072" y="1277633"/>
              <a:ext cx="407870" cy="0"/>
            </a:xfrm>
            <a:prstGeom prst="straightConnector1">
              <a:avLst/>
            </a:prstGeom>
            <a:noFill/>
            <a:ln w="38100" algn="ctr">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3359" name="CuadroTexto 10"/>
            <p:cNvSpPr txBox="1">
              <a:spLocks noChangeArrowheads="1"/>
            </p:cNvSpPr>
            <p:nvPr/>
          </p:nvSpPr>
          <p:spPr bwMode="auto">
            <a:xfrm>
              <a:off x="4640294" y="1059064"/>
              <a:ext cx="390031" cy="46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rgbClr val="FF0000"/>
                  </a:solidFill>
                </a:rPr>
                <a:t>E</a:t>
              </a:r>
            </a:p>
          </p:txBody>
        </p:sp>
        <p:sp>
          <p:nvSpPr>
            <p:cNvPr id="13360" name="Line 86"/>
            <p:cNvSpPr>
              <a:spLocks noChangeShapeType="1"/>
            </p:cNvSpPr>
            <p:nvPr/>
          </p:nvSpPr>
          <p:spPr bwMode="auto">
            <a:xfrm>
              <a:off x="4736995" y="1098167"/>
              <a:ext cx="202844"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p>
              <a:endParaRPr lang="en-GB"/>
            </a:p>
          </p:txBody>
        </p:sp>
      </p:grpSp>
      <p:grpSp>
        <p:nvGrpSpPr>
          <p:cNvPr id="16" name="Grupo 15"/>
          <p:cNvGrpSpPr>
            <a:grpSpLocks/>
          </p:cNvGrpSpPr>
          <p:nvPr/>
        </p:nvGrpSpPr>
        <p:grpSpPr bwMode="auto">
          <a:xfrm>
            <a:off x="4922071" y="4547449"/>
            <a:ext cx="2085358" cy="487349"/>
            <a:chOff x="6800089" y="1419495"/>
            <a:chExt cx="1776932" cy="487349"/>
          </a:xfrm>
        </p:grpSpPr>
        <p:sp>
          <p:nvSpPr>
            <p:cNvPr id="13352" name="Text Box 88"/>
            <p:cNvSpPr txBox="1">
              <a:spLocks noChangeArrowheads="1"/>
            </p:cNvSpPr>
            <p:nvPr/>
          </p:nvSpPr>
          <p:spPr bwMode="auto">
            <a:xfrm>
              <a:off x="7107313" y="1419495"/>
              <a:ext cx="1469708"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dV =  |</a:t>
              </a:r>
              <a:r>
                <a:rPr lang="es-ES" sz="2400" b="1">
                  <a:solidFill>
                    <a:srgbClr val="000000"/>
                  </a:solidFill>
                  <a:latin typeface="Arial" panose="020B0604020202020204" pitchFamily="34" charset="0"/>
                  <a:sym typeface="Symbol" panose="05050102010706020507" pitchFamily="18" charset="2"/>
                </a:rPr>
                <a:t>E</a:t>
              </a:r>
              <a:r>
                <a:rPr lang="es-ES" sz="2400">
                  <a:solidFill>
                    <a:srgbClr val="000000"/>
                  </a:solidFill>
                  <a:latin typeface="Arial" panose="020B0604020202020204" pitchFamily="34" charset="0"/>
                  <a:sym typeface="Symbol" panose="05050102010706020507" pitchFamily="18" charset="2"/>
                </a:rPr>
                <a:t>| dl</a:t>
              </a:r>
            </a:p>
          </p:txBody>
        </p:sp>
        <p:sp>
          <p:nvSpPr>
            <p:cNvPr id="13354" name="AutoShape 95"/>
            <p:cNvSpPr>
              <a:spLocks noChangeArrowheads="1"/>
            </p:cNvSpPr>
            <p:nvPr/>
          </p:nvSpPr>
          <p:spPr bwMode="auto">
            <a:xfrm flipH="1">
              <a:off x="6800089" y="1430594"/>
              <a:ext cx="210979" cy="476250"/>
            </a:xfrm>
            <a:prstGeom prst="leftArrow">
              <a:avLst>
                <a:gd name="adj1" fmla="val 54667"/>
                <a:gd name="adj2" fmla="val 55528"/>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grpSp>
      <p:grpSp>
        <p:nvGrpSpPr>
          <p:cNvPr id="15" name="Grupo 14"/>
          <p:cNvGrpSpPr>
            <a:grpSpLocks/>
          </p:cNvGrpSpPr>
          <p:nvPr/>
        </p:nvGrpSpPr>
        <p:grpSpPr bwMode="auto">
          <a:xfrm>
            <a:off x="3043980" y="4552171"/>
            <a:ext cx="1686204" cy="496328"/>
            <a:chOff x="5651097" y="1432269"/>
            <a:chExt cx="1686430" cy="496328"/>
          </a:xfrm>
        </p:grpSpPr>
        <p:sp>
          <p:nvSpPr>
            <p:cNvPr id="13350" name="AutoShape 95"/>
            <p:cNvSpPr>
              <a:spLocks noChangeArrowheads="1"/>
            </p:cNvSpPr>
            <p:nvPr/>
          </p:nvSpPr>
          <p:spPr bwMode="auto">
            <a:xfrm flipH="1">
              <a:off x="5651097" y="1452347"/>
              <a:ext cx="210979" cy="476250"/>
            </a:xfrm>
            <a:prstGeom prst="leftArrow">
              <a:avLst>
                <a:gd name="adj1" fmla="val 54667"/>
                <a:gd name="adj2" fmla="val 55528"/>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13351" name="Text Box 88"/>
            <p:cNvSpPr txBox="1">
              <a:spLocks noChangeArrowheads="1"/>
            </p:cNvSpPr>
            <p:nvPr/>
          </p:nvSpPr>
          <p:spPr bwMode="auto">
            <a:xfrm>
              <a:off x="5996493" y="1432269"/>
              <a:ext cx="1341034"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E</a:t>
              </a:r>
              <a:r>
                <a:rPr lang="es-ES" sz="2400" baseline="-25000">
                  <a:solidFill>
                    <a:srgbClr val="000000"/>
                  </a:solidFill>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sym typeface="Symbol" panose="05050102010706020507" pitchFamily="18" charset="2"/>
                </a:rPr>
                <a:t> = -|</a:t>
              </a:r>
              <a:r>
                <a:rPr lang="es-ES" sz="2400" b="1">
                  <a:solidFill>
                    <a:srgbClr val="000000"/>
                  </a:solidFill>
                  <a:latin typeface="Arial" panose="020B0604020202020204" pitchFamily="34" charset="0"/>
                  <a:sym typeface="Symbol" panose="05050102010706020507" pitchFamily="18" charset="2"/>
                </a:rPr>
                <a:t>E</a:t>
              </a:r>
              <a:r>
                <a:rPr lang="es-ES" sz="2400">
                  <a:solidFill>
                    <a:srgbClr val="000000"/>
                  </a:solidFill>
                  <a:latin typeface="Arial" panose="020B0604020202020204" pitchFamily="34" charset="0"/>
                  <a:sym typeface="Symbol" panose="05050102010706020507" pitchFamily="18" charset="2"/>
                </a:rPr>
                <a:t>|</a:t>
              </a:r>
            </a:p>
          </p:txBody>
        </p:sp>
      </p:grpSp>
      <p:sp>
        <p:nvSpPr>
          <p:cNvPr id="67683" name="Text Box 99"/>
          <p:cNvSpPr txBox="1">
            <a:spLocks noChangeArrowheads="1"/>
          </p:cNvSpPr>
          <p:nvPr/>
        </p:nvSpPr>
        <p:spPr bwMode="auto">
          <a:xfrm>
            <a:off x="3710155" y="6353094"/>
            <a:ext cx="4129846" cy="463846"/>
          </a:xfrm>
          <a:prstGeom prst="rect">
            <a:avLst/>
          </a:prstGeom>
          <a:solidFill>
            <a:srgbClr val="FF99FF"/>
          </a:solidFill>
          <a:ln>
            <a:noFill/>
          </a:ln>
          <a:effectLst/>
          <a:extLst>
            <a:ext uri="{53640926-AAD7-44D8-BBD7-CCE9431645EC}">
              <a14:shadowObscured xmlns:a14="http://schemas.microsoft.com/office/drawing/2010/main" val="1"/>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dirty="0" err="1">
                <a:latin typeface="Arial" panose="020B0604020202020204" pitchFamily="34" charset="0"/>
              </a:rPr>
              <a:t>Grad</a:t>
            </a:r>
            <a:r>
              <a:rPr lang="es-ES" sz="2400" dirty="0" err="1">
                <a:latin typeface="Arial" panose="020B0604020202020204" pitchFamily="34" charset="0"/>
              </a:rPr>
              <a:t>V</a:t>
            </a:r>
            <a:r>
              <a:rPr lang="es-ES" sz="2400" dirty="0">
                <a:latin typeface="Arial" panose="020B0604020202020204" pitchFamily="34" charset="0"/>
              </a:rPr>
              <a:t> y </a:t>
            </a:r>
            <a:r>
              <a:rPr lang="es-ES" sz="2400" b="1" dirty="0">
                <a:latin typeface="Arial" panose="020B0604020202020204" pitchFamily="34" charset="0"/>
              </a:rPr>
              <a:t>E</a:t>
            </a:r>
            <a:r>
              <a:rPr lang="es-ES" sz="2400" dirty="0">
                <a:latin typeface="Arial" panose="020B0604020202020204" pitchFamily="34" charset="0"/>
              </a:rPr>
              <a:t> son </a:t>
            </a:r>
            <a:r>
              <a:rPr lang="es-ES" sz="2400" dirty="0" err="1">
                <a:latin typeface="Arial" panose="020B0604020202020204" pitchFamily="34" charset="0"/>
              </a:rPr>
              <a:t>antiparalelos</a:t>
            </a:r>
            <a:r>
              <a:rPr lang="es-ES" sz="2400" dirty="0">
                <a:latin typeface="Arial" panose="020B0604020202020204" pitchFamily="34" charset="0"/>
              </a:rPr>
              <a:t> </a:t>
            </a:r>
          </a:p>
        </p:txBody>
      </p:sp>
      <p:sp>
        <p:nvSpPr>
          <p:cNvPr id="41" name="Text Box 72"/>
          <p:cNvSpPr txBox="1">
            <a:spLocks noChangeArrowheads="1"/>
          </p:cNvSpPr>
          <p:nvPr/>
        </p:nvSpPr>
        <p:spPr bwMode="auto">
          <a:xfrm>
            <a:off x="1497485" y="3735865"/>
            <a:ext cx="6656257" cy="53654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a:spcBef>
                <a:spcPct val="0"/>
              </a:spcBef>
              <a:buFontTx/>
              <a:buNone/>
            </a:pPr>
            <a:r>
              <a:rPr lang="es-ES" sz="2400">
                <a:latin typeface="Arial" panose="020B0604020202020204" pitchFamily="34" charset="0"/>
              </a:rPr>
              <a:t>Si </a:t>
            </a:r>
            <a:r>
              <a:rPr lang="es-ES" sz="2400" dirty="0">
                <a:latin typeface="Arial" panose="020B0604020202020204" pitchFamily="34" charset="0"/>
              </a:rPr>
              <a:t>nos desplazamos en sentido contrario a </a:t>
            </a:r>
            <a:r>
              <a:rPr lang="es-ES" sz="2400" b="1" dirty="0">
                <a:latin typeface="Arial" panose="020B0604020202020204" pitchFamily="34" charset="0"/>
              </a:rPr>
              <a:t>E</a:t>
            </a:r>
            <a:r>
              <a:rPr lang="es-ES" sz="2400" dirty="0">
                <a:latin typeface="Arial" panose="020B0604020202020204" pitchFamily="34" charset="0"/>
              </a:rPr>
              <a:t>:</a:t>
            </a:r>
          </a:p>
        </p:txBody>
      </p:sp>
      <p:grpSp>
        <p:nvGrpSpPr>
          <p:cNvPr id="6" name="Grupo 5"/>
          <p:cNvGrpSpPr/>
          <p:nvPr/>
        </p:nvGrpSpPr>
        <p:grpSpPr>
          <a:xfrm>
            <a:off x="1449510" y="2462241"/>
            <a:ext cx="8708131" cy="463846"/>
            <a:chOff x="2262049" y="2125497"/>
            <a:chExt cx="8708131" cy="463846"/>
          </a:xfrm>
        </p:grpSpPr>
        <p:sp>
          <p:nvSpPr>
            <p:cNvPr id="38" name="Text Box 99"/>
            <p:cNvSpPr txBox="1">
              <a:spLocks noChangeArrowheads="1"/>
            </p:cNvSpPr>
            <p:nvPr/>
          </p:nvSpPr>
          <p:spPr bwMode="auto">
            <a:xfrm>
              <a:off x="2262049" y="2125497"/>
              <a:ext cx="8708131" cy="46384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sym typeface="Symbol" panose="05050102010706020507" pitchFamily="18" charset="2"/>
                </a:rPr>
                <a:t> </a:t>
              </a:r>
              <a:r>
                <a:rPr lang="es-ES" sz="2400">
                  <a:latin typeface="Arial" panose="020B0604020202020204" pitchFamily="34" charset="0"/>
                </a:rPr>
                <a:t>En el </a:t>
              </a:r>
              <a:r>
                <a:rPr lang="es-ES" sz="2400">
                  <a:solidFill>
                    <a:srgbClr val="008000"/>
                  </a:solidFill>
                  <a:latin typeface="Arial" panose="020B0604020202020204" pitchFamily="34" charset="0"/>
                </a:rPr>
                <a:t>caso eléctrico </a:t>
              </a:r>
              <a:r>
                <a:rPr lang="es-ES" sz="2400" dirty="0">
                  <a:latin typeface="Arial" panose="020B0604020202020204" pitchFamily="34" charset="0"/>
                </a:rPr>
                <a:t>la función escalar es V </a:t>
              </a:r>
              <a:r>
                <a:rPr lang="es-ES" sz="2400">
                  <a:latin typeface="Arial" panose="020B0604020202020204" pitchFamily="34" charset="0"/>
                </a:rPr>
                <a:t>y se tiene </a:t>
              </a:r>
              <a:r>
                <a:rPr lang="es-ES" sz="2400" dirty="0" err="1">
                  <a:latin typeface="Arial" panose="020B0604020202020204" pitchFamily="34" charset="0"/>
                </a:rPr>
                <a:t>GradV</a:t>
              </a:r>
              <a:endParaRPr lang="es-ES" sz="2400" dirty="0">
                <a:latin typeface="Arial" panose="020B0604020202020204" pitchFamily="34" charset="0"/>
              </a:endParaRPr>
            </a:p>
          </p:txBody>
        </p:sp>
        <p:cxnSp>
          <p:nvCxnSpPr>
            <p:cNvPr id="5" name="Conector recto de flecha 4"/>
            <p:cNvCxnSpPr/>
            <p:nvPr/>
          </p:nvCxnSpPr>
          <p:spPr bwMode="auto">
            <a:xfrm>
              <a:off x="9948027" y="2155641"/>
              <a:ext cx="522816" cy="0"/>
            </a:xfrm>
            <a:prstGeom prst="straightConnector1">
              <a:avLst/>
            </a:prstGeom>
            <a:noFill/>
            <a:ln w="12700" cap="flat" cmpd="sng" algn="ctr">
              <a:solidFill>
                <a:schemeClr val="tx1"/>
              </a:solidFill>
              <a:prstDash val="solid"/>
              <a:round/>
              <a:headEnd type="none" w="med" len="med"/>
              <a:tailEnd type="triangle"/>
            </a:ln>
            <a:effectLst/>
          </p:spPr>
        </p:cxnSp>
      </p:grpSp>
      <p:sp>
        <p:nvSpPr>
          <p:cNvPr id="28" name="Text Box 72">
            <a:extLst>
              <a:ext uri="{FF2B5EF4-FFF2-40B4-BE49-F238E27FC236}">
                <a16:creationId xmlns:a16="http://schemas.microsoft.com/office/drawing/2014/main" id="{1C86EC57-73C9-487F-8643-5C8EF17A7FFA}"/>
              </a:ext>
            </a:extLst>
          </p:cNvPr>
          <p:cNvSpPr txBox="1">
            <a:spLocks noChangeArrowheads="1"/>
          </p:cNvSpPr>
          <p:nvPr/>
        </p:nvSpPr>
        <p:spPr bwMode="auto">
          <a:xfrm>
            <a:off x="1435169" y="1857708"/>
            <a:ext cx="8665277" cy="53654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a:spcBef>
                <a:spcPct val="0"/>
              </a:spcBef>
              <a:buFontTx/>
              <a:buNone/>
            </a:pPr>
            <a:r>
              <a:rPr lang="es-ES" sz="2400" dirty="0">
                <a:solidFill>
                  <a:srgbClr val="FF0000"/>
                </a:solidFill>
                <a:latin typeface="Arial" panose="020B0604020202020204" pitchFamily="34" charset="0"/>
              </a:rPr>
              <a:t>(un ejemplo de función </a:t>
            </a:r>
            <a:r>
              <a:rPr lang="es-ES" sz="2400">
                <a:solidFill>
                  <a:srgbClr val="FF0000"/>
                </a:solidFill>
                <a:latin typeface="Arial" panose="020B0604020202020204" pitchFamily="34" charset="0"/>
              </a:rPr>
              <a:t>escalar es </a:t>
            </a:r>
            <a:r>
              <a:rPr lang="es-ES" sz="2400" dirty="0">
                <a:solidFill>
                  <a:srgbClr val="FF0000"/>
                </a:solidFill>
                <a:latin typeface="Arial" panose="020B0604020202020204" pitchFamily="34" charset="0"/>
              </a:rPr>
              <a:t>la temperatura)</a:t>
            </a:r>
          </a:p>
        </p:txBody>
      </p:sp>
    </p:spTree>
    <p:extLst>
      <p:ext uri="{BB962C8B-B14F-4D97-AF65-F5344CB8AC3E}">
        <p14:creationId xmlns:p14="http://schemas.microsoft.com/office/powerpoint/2010/main" val="12343259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13336"/>
                                        </p:tgtEl>
                                        <p:attrNameLst>
                                          <p:attrName>style.visibility</p:attrName>
                                        </p:attrNameLst>
                                      </p:cBhvr>
                                      <p:to>
                                        <p:strVal val="visible"/>
                                      </p:to>
                                    </p:set>
                                    <p:anim calcmode="lin" valueType="num">
                                      <p:cBhvr>
                                        <p:cTn id="7" dur="500" fill="hold"/>
                                        <p:tgtEl>
                                          <p:spTgt spid="13336"/>
                                        </p:tgtEl>
                                        <p:attrNameLst>
                                          <p:attrName>ppt_w</p:attrName>
                                        </p:attrNameLst>
                                      </p:cBhvr>
                                      <p:tavLst>
                                        <p:tav tm="0">
                                          <p:val>
                                            <p:strVal val="2/3*#ppt_w"/>
                                          </p:val>
                                        </p:tav>
                                        <p:tav tm="100000">
                                          <p:val>
                                            <p:strVal val="#ppt_w"/>
                                          </p:val>
                                        </p:tav>
                                      </p:tavLst>
                                    </p:anim>
                                    <p:anim calcmode="lin" valueType="num">
                                      <p:cBhvr>
                                        <p:cTn id="8" dur="500" fill="hold"/>
                                        <p:tgtEl>
                                          <p:spTgt spid="13336"/>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vertic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500"/>
                                        <p:tgtEl>
                                          <p:spTgt spid="28"/>
                                        </p:tgtEl>
                                        <p:attrNameLst>
                                          <p:attrName>ppt_y</p:attrName>
                                        </p:attrNameLst>
                                      </p:cBhvr>
                                      <p:tavLst>
                                        <p:tav tm="0">
                                          <p:val>
                                            <p:strVal val="#ppt_y-#ppt_h*1.125000"/>
                                          </p:val>
                                        </p:tav>
                                        <p:tav tm="100000">
                                          <p:val>
                                            <p:strVal val="#ppt_y"/>
                                          </p:val>
                                        </p:tav>
                                      </p:tavLst>
                                    </p:anim>
                                    <p:animEffect transition="in" filter="wipe(down)">
                                      <p:cBhvr>
                                        <p:cTn id="19"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3363"/>
                                        </p:tgtEl>
                                        <p:attrNameLst>
                                          <p:attrName>style.visibility</p:attrName>
                                        </p:attrNameLst>
                                      </p:cBhvr>
                                      <p:to>
                                        <p:strVal val="visible"/>
                                      </p:to>
                                    </p:set>
                                    <p:animEffect transition="in" filter="wipe(left)">
                                      <p:cBhvr>
                                        <p:cTn id="30" dur="500"/>
                                        <p:tgtEl>
                                          <p:spTgt spid="13363"/>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3362"/>
                                        </p:tgtEl>
                                        <p:attrNameLst>
                                          <p:attrName>style.visibility</p:attrName>
                                        </p:attrNameLst>
                                      </p:cBhvr>
                                      <p:to>
                                        <p:strVal val="visible"/>
                                      </p:to>
                                    </p:set>
                                    <p:animEffect transition="in" filter="wipe(left)">
                                      <p:cBhvr>
                                        <p:cTn id="34" dur="500"/>
                                        <p:tgtEl>
                                          <p:spTgt spid="13362"/>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additive="base">
                                        <p:cTn id="39" dur="500"/>
                                        <p:tgtEl>
                                          <p:spTgt spid="41"/>
                                        </p:tgtEl>
                                        <p:attrNameLst>
                                          <p:attrName>ppt_y</p:attrName>
                                        </p:attrNameLst>
                                      </p:cBhvr>
                                      <p:tavLst>
                                        <p:tav tm="0">
                                          <p:val>
                                            <p:strVal val="#ppt_y+#ppt_h*1.125000"/>
                                          </p:val>
                                        </p:tav>
                                        <p:tav tm="100000">
                                          <p:val>
                                            <p:strVal val="#ppt_y"/>
                                          </p:val>
                                        </p:tav>
                                      </p:tavLst>
                                    </p:anim>
                                    <p:animEffect transition="in" filter="wipe(up)">
                                      <p:cBhvr>
                                        <p:cTn id="40" dur="500"/>
                                        <p:tgtEl>
                                          <p:spTgt spid="41"/>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dissolv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272" fill="hold" grpId="0" nodeType="clickEffect">
                                  <p:stCondLst>
                                    <p:cond delay="0"/>
                                  </p:stCondLst>
                                  <p:childTnLst>
                                    <p:set>
                                      <p:cBhvr>
                                        <p:cTn id="58" dur="1" fill="hold">
                                          <p:stCondLst>
                                            <p:cond delay="0"/>
                                          </p:stCondLst>
                                        </p:cTn>
                                        <p:tgtEl>
                                          <p:spTgt spid="67656"/>
                                        </p:tgtEl>
                                        <p:attrNameLst>
                                          <p:attrName>style.visibility</p:attrName>
                                        </p:attrNameLst>
                                      </p:cBhvr>
                                      <p:to>
                                        <p:strVal val="visible"/>
                                      </p:to>
                                    </p:set>
                                    <p:anim calcmode="lin" valueType="num">
                                      <p:cBhvr>
                                        <p:cTn id="59" dur="500" fill="hold"/>
                                        <p:tgtEl>
                                          <p:spTgt spid="67656"/>
                                        </p:tgtEl>
                                        <p:attrNameLst>
                                          <p:attrName>ppt_w</p:attrName>
                                        </p:attrNameLst>
                                      </p:cBhvr>
                                      <p:tavLst>
                                        <p:tav tm="0">
                                          <p:val>
                                            <p:strVal val="2/3*#ppt_w"/>
                                          </p:val>
                                        </p:tav>
                                        <p:tav tm="100000">
                                          <p:val>
                                            <p:strVal val="#ppt_w"/>
                                          </p:val>
                                        </p:tav>
                                      </p:tavLst>
                                    </p:anim>
                                    <p:anim calcmode="lin" valueType="num">
                                      <p:cBhvr>
                                        <p:cTn id="60" dur="500" fill="hold"/>
                                        <p:tgtEl>
                                          <p:spTgt spid="67656"/>
                                        </p:tgtEl>
                                        <p:attrNameLst>
                                          <p:attrName>ppt_h</p:attrName>
                                        </p:attrNameLst>
                                      </p:cBhvr>
                                      <p:tavLst>
                                        <p:tav tm="0">
                                          <p:val>
                                            <p:strVal val="2/3*#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67672"/>
                                        </p:tgtEl>
                                        <p:attrNameLst>
                                          <p:attrName>style.visibility</p:attrName>
                                        </p:attrNameLst>
                                      </p:cBhvr>
                                      <p:to>
                                        <p:strVal val="visible"/>
                                      </p:to>
                                    </p:set>
                                    <p:animEffect transition="in" filter="wipe(up)">
                                      <p:cBhvr>
                                        <p:cTn id="65" dur="500"/>
                                        <p:tgtEl>
                                          <p:spTgt spid="67672"/>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1" fill="hold" grpId="0" nodeType="clickEffect">
                                  <p:stCondLst>
                                    <p:cond delay="0"/>
                                  </p:stCondLst>
                                  <p:childTnLst>
                                    <p:set>
                                      <p:cBhvr>
                                        <p:cTn id="69" dur="1" fill="hold">
                                          <p:stCondLst>
                                            <p:cond delay="0"/>
                                          </p:stCondLst>
                                        </p:cTn>
                                        <p:tgtEl>
                                          <p:spTgt spid="67683"/>
                                        </p:tgtEl>
                                        <p:attrNameLst>
                                          <p:attrName>style.visibility</p:attrName>
                                        </p:attrNameLst>
                                      </p:cBhvr>
                                      <p:to>
                                        <p:strVal val="visible"/>
                                      </p:to>
                                    </p:set>
                                    <p:anim calcmode="lin" valueType="num">
                                      <p:cBhvr additive="base">
                                        <p:cTn id="70" dur="500"/>
                                        <p:tgtEl>
                                          <p:spTgt spid="67683"/>
                                        </p:tgtEl>
                                        <p:attrNameLst>
                                          <p:attrName>ppt_y</p:attrName>
                                        </p:attrNameLst>
                                      </p:cBhvr>
                                      <p:tavLst>
                                        <p:tav tm="0">
                                          <p:val>
                                            <p:strVal val="#ppt_y-#ppt_h*1.125000"/>
                                          </p:val>
                                        </p:tav>
                                        <p:tav tm="100000">
                                          <p:val>
                                            <p:strVal val="#ppt_y"/>
                                          </p:val>
                                        </p:tav>
                                      </p:tavLst>
                                    </p:anim>
                                    <p:animEffect transition="in" filter="wipe(down)">
                                      <p:cBhvr>
                                        <p:cTn id="71" dur="500"/>
                                        <p:tgtEl>
                                          <p:spTgt spid="67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56" grpId="0"/>
      <p:bldP spid="67672" grpId="0" animBg="1"/>
      <p:bldP spid="3" grpId="0" animBg="1"/>
      <p:bldP spid="13336" grpId="0" animBg="1"/>
      <p:bldP spid="13363" grpId="0"/>
      <p:bldP spid="67683" grpId="0" animBg="1"/>
      <p:bldP spid="41" grpId="0"/>
      <p:bldP spid="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0" name="Text Box 96"/>
          <p:cNvSpPr txBox="1">
            <a:spLocks noChangeArrowheads="1"/>
          </p:cNvSpPr>
          <p:nvPr/>
        </p:nvSpPr>
        <p:spPr bwMode="auto">
          <a:xfrm>
            <a:off x="2543503" y="5352667"/>
            <a:ext cx="6463863" cy="833178"/>
          </a:xfrm>
          <a:prstGeom prst="rect">
            <a:avLst/>
          </a:prstGeom>
          <a:solidFill>
            <a:srgbClr val="FFFF00"/>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El módulo de </a:t>
            </a:r>
            <a:r>
              <a:rPr lang="es-ES" sz="2400" b="1" dirty="0">
                <a:latin typeface="Arial" panose="020B0604020202020204" pitchFamily="34" charset="0"/>
              </a:rPr>
              <a:t>E</a:t>
            </a:r>
            <a:r>
              <a:rPr lang="es-ES" sz="2400" dirty="0">
                <a:latin typeface="Arial" panose="020B0604020202020204" pitchFamily="34" charset="0"/>
              </a:rPr>
              <a:t> es igual a la máxima variación positiva de V por unidad de longitud</a:t>
            </a:r>
            <a:endParaRPr lang="es-ES" sz="2400" b="1" dirty="0">
              <a:latin typeface="Arial" panose="020B0604020202020204" pitchFamily="34" charset="0"/>
            </a:endParaRPr>
          </a:p>
        </p:txBody>
      </p:sp>
      <p:sp>
        <p:nvSpPr>
          <p:cNvPr id="13337" name="Text Box 64"/>
          <p:cNvSpPr txBox="1">
            <a:spLocks noChangeArrowheads="1"/>
          </p:cNvSpPr>
          <p:nvPr/>
        </p:nvSpPr>
        <p:spPr bwMode="auto">
          <a:xfrm>
            <a:off x="2255401" y="741418"/>
            <a:ext cx="7020560" cy="1347916"/>
          </a:xfrm>
          <a:prstGeom prst="rect">
            <a:avLst/>
          </a:prstGeom>
          <a:solidFill>
            <a:schemeClr val="accent1">
              <a:lumMod val="60000"/>
              <a:lumOff val="40000"/>
            </a:schemeClr>
          </a:solidFill>
          <a:ln>
            <a:noFill/>
          </a:ln>
        </p:spPr>
        <p:txBody>
          <a:bodyPr wrap="square"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rPr>
              <a:t>La variación de la </a:t>
            </a:r>
            <a:r>
              <a:rPr lang="es-ES" sz="2400">
                <a:latin typeface="Arial" panose="020B0604020202020204" pitchFamily="34" charset="0"/>
              </a:rPr>
              <a:t>función escalar, </a:t>
            </a:r>
            <a:r>
              <a:rPr lang="es-ES" sz="2400" dirty="0">
                <a:latin typeface="Arial" panose="020B0604020202020204" pitchFamily="34" charset="0"/>
              </a:rPr>
              <a:t>por unidad de longitud, en la dirección de mayor variación,</a:t>
            </a:r>
          </a:p>
          <a:p>
            <a:pPr algn="ctr" eaLnBrk="1" hangingPunct="1">
              <a:spcBef>
                <a:spcPts val="0"/>
              </a:spcBef>
              <a:buFontTx/>
              <a:buNone/>
            </a:pPr>
            <a:r>
              <a:rPr lang="es-ES" sz="2400" dirty="0">
                <a:latin typeface="Arial" panose="020B0604020202020204" pitchFamily="34" charset="0"/>
              </a:rPr>
              <a:t>en el sentido de aumento (así es positivo)</a:t>
            </a:r>
          </a:p>
        </p:txBody>
      </p:sp>
      <p:sp>
        <p:nvSpPr>
          <p:cNvPr id="13338" name="Text Box 97"/>
          <p:cNvSpPr txBox="1">
            <a:spLocks noChangeArrowheads="1"/>
          </p:cNvSpPr>
          <p:nvPr/>
        </p:nvSpPr>
        <p:spPr bwMode="auto">
          <a:xfrm>
            <a:off x="3615560" y="129250"/>
            <a:ext cx="4319752" cy="463846"/>
          </a:xfrm>
          <a:prstGeom prst="rect">
            <a:avLst/>
          </a:prstGeom>
          <a:solidFill>
            <a:srgbClr val="993366"/>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FFFF"/>
                </a:solidFill>
                <a:latin typeface="Arial" panose="020B0604020202020204" pitchFamily="34" charset="0"/>
              </a:rPr>
              <a:t>MÓDULO DEL GRADIENTE</a:t>
            </a:r>
          </a:p>
        </p:txBody>
      </p:sp>
      <p:sp>
        <p:nvSpPr>
          <p:cNvPr id="13352" name="Text Box 88"/>
          <p:cNvSpPr txBox="1">
            <a:spLocks noChangeArrowheads="1"/>
          </p:cNvSpPr>
          <p:nvPr/>
        </p:nvSpPr>
        <p:spPr bwMode="auto">
          <a:xfrm>
            <a:off x="2773680" y="4576161"/>
            <a:ext cx="2853905"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sym typeface="Symbol" panose="05050102010706020507" pitchFamily="18" charset="2"/>
              </a:rPr>
              <a:t>dV</a:t>
            </a:r>
            <a:r>
              <a:rPr lang="es-ES" sz="2400" baseline="-25000" dirty="0" err="1">
                <a:solidFill>
                  <a:srgbClr val="000000"/>
                </a:solidFill>
                <a:latin typeface="Arial" panose="020B0604020202020204" pitchFamily="34" charset="0"/>
                <a:sym typeface="Symbol" panose="05050102010706020507" pitchFamily="18" charset="2"/>
              </a:rPr>
              <a:t>máx</a:t>
            </a:r>
            <a:r>
              <a:rPr lang="es-ES" sz="2400" baseline="-25000" dirty="0">
                <a:solidFill>
                  <a:srgbClr val="000000"/>
                </a:solidFill>
                <a:latin typeface="Arial" panose="020B0604020202020204" pitchFamily="34" charset="0"/>
                <a:sym typeface="Symbol" panose="05050102010706020507" pitchFamily="18" charset="2"/>
              </a:rPr>
              <a:t> positiva</a:t>
            </a:r>
            <a:r>
              <a:rPr lang="es-ES" sz="2400" dirty="0">
                <a:solidFill>
                  <a:srgbClr val="000000"/>
                </a:solidFill>
                <a:latin typeface="Arial" panose="020B0604020202020204" pitchFamily="34" charset="0"/>
                <a:sym typeface="Symbol" panose="05050102010706020507" pitchFamily="18" charset="2"/>
              </a:rPr>
              <a:t> =  |</a:t>
            </a:r>
            <a:r>
              <a:rPr lang="es-ES" sz="2400" b="1" dirty="0">
                <a:solidFill>
                  <a:srgbClr val="000000"/>
                </a:solidFill>
                <a:latin typeface="Arial" panose="020B0604020202020204" pitchFamily="34" charset="0"/>
                <a:sym typeface="Symbol" panose="05050102010706020507" pitchFamily="18" charset="2"/>
              </a:rPr>
              <a:t>E</a:t>
            </a:r>
            <a:r>
              <a:rPr lang="es-ES" sz="2400" dirty="0">
                <a:solidFill>
                  <a:srgbClr val="000000"/>
                </a:solidFill>
                <a:latin typeface="Arial" panose="020B0604020202020204" pitchFamily="34" charset="0"/>
                <a:sym typeface="Symbol" panose="05050102010706020507" pitchFamily="18" charset="2"/>
              </a:rPr>
              <a:t>| dl</a:t>
            </a:r>
          </a:p>
        </p:txBody>
      </p:sp>
      <p:grpSp>
        <p:nvGrpSpPr>
          <p:cNvPr id="17" name="Grupo 16"/>
          <p:cNvGrpSpPr>
            <a:grpSpLocks/>
          </p:cNvGrpSpPr>
          <p:nvPr/>
        </p:nvGrpSpPr>
        <p:grpSpPr bwMode="auto">
          <a:xfrm>
            <a:off x="5795613" y="4344940"/>
            <a:ext cx="2678813" cy="836676"/>
            <a:chOff x="8553360" y="1239139"/>
            <a:chExt cx="2679974" cy="836676"/>
          </a:xfrm>
        </p:grpSpPr>
        <p:sp>
          <p:nvSpPr>
            <p:cNvPr id="13343" name="Text Box 89"/>
            <p:cNvSpPr txBox="1">
              <a:spLocks noChangeArrowheads="1"/>
            </p:cNvSpPr>
            <p:nvPr/>
          </p:nvSpPr>
          <p:spPr bwMode="auto">
            <a:xfrm>
              <a:off x="9592310" y="1239139"/>
              <a:ext cx="492125" cy="396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rPr>
                <a:t>dV</a:t>
              </a:r>
              <a:r>
                <a:rPr lang="es-ES" sz="2400" baseline="-25000" dirty="0" err="1">
                  <a:solidFill>
                    <a:srgbClr val="000000"/>
                  </a:solidFill>
                  <a:latin typeface="Arial" panose="020B0604020202020204" pitchFamily="34" charset="0"/>
                </a:rPr>
                <a:t>máx</a:t>
              </a:r>
              <a:r>
                <a:rPr lang="es-ES" sz="2400" baseline="-25000" dirty="0">
                  <a:solidFill>
                    <a:srgbClr val="000000"/>
                  </a:solidFill>
                  <a:latin typeface="Arial" panose="020B0604020202020204" pitchFamily="34" charset="0"/>
                </a:rPr>
                <a:t> positiva</a:t>
              </a:r>
            </a:p>
          </p:txBody>
        </p:sp>
        <p:sp>
          <p:nvSpPr>
            <p:cNvPr id="13344" name="Text Box 90"/>
            <p:cNvSpPr txBox="1">
              <a:spLocks noChangeArrowheads="1"/>
            </p:cNvSpPr>
            <p:nvPr/>
          </p:nvSpPr>
          <p:spPr bwMode="auto">
            <a:xfrm>
              <a:off x="8885317" y="1457370"/>
              <a:ext cx="701675" cy="4419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a:t>
              </a:r>
              <a:r>
                <a:rPr lang="es-ES" sz="2400" b="1">
                  <a:solidFill>
                    <a:srgbClr val="000000"/>
                  </a:solidFill>
                  <a:latin typeface="Arial" panose="020B0604020202020204" pitchFamily="34" charset="0"/>
                </a:rPr>
                <a:t>E</a:t>
              </a:r>
              <a:r>
                <a:rPr lang="es-ES" sz="2400">
                  <a:solidFill>
                    <a:srgbClr val="000000"/>
                  </a:solidFill>
                  <a:latin typeface="Arial" panose="020B0604020202020204" pitchFamily="34" charset="0"/>
                </a:rPr>
                <a:t>| =</a:t>
              </a:r>
            </a:p>
          </p:txBody>
        </p:sp>
        <p:sp>
          <p:nvSpPr>
            <p:cNvPr id="13345" name="Line 91"/>
            <p:cNvSpPr>
              <a:spLocks noChangeShapeType="1"/>
            </p:cNvSpPr>
            <p:nvPr/>
          </p:nvSpPr>
          <p:spPr bwMode="auto">
            <a:xfrm>
              <a:off x="9642453" y="1688465"/>
              <a:ext cx="15908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p>
              <a:endParaRPr lang="en-GB"/>
            </a:p>
          </p:txBody>
        </p:sp>
        <p:sp>
          <p:nvSpPr>
            <p:cNvPr id="13346" name="Text Box 92"/>
            <p:cNvSpPr txBox="1">
              <a:spLocks noChangeArrowheads="1"/>
            </p:cNvSpPr>
            <p:nvPr/>
          </p:nvSpPr>
          <p:spPr bwMode="auto">
            <a:xfrm>
              <a:off x="10274885" y="1678940"/>
              <a:ext cx="379413" cy="396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dl</a:t>
              </a:r>
            </a:p>
          </p:txBody>
        </p:sp>
        <p:sp>
          <p:nvSpPr>
            <p:cNvPr id="13347" name="AutoShape 95"/>
            <p:cNvSpPr>
              <a:spLocks noChangeArrowheads="1"/>
            </p:cNvSpPr>
            <p:nvPr/>
          </p:nvSpPr>
          <p:spPr bwMode="auto">
            <a:xfrm flipH="1">
              <a:off x="8553360" y="1476756"/>
              <a:ext cx="210979" cy="476250"/>
            </a:xfrm>
            <a:prstGeom prst="leftArrow">
              <a:avLst>
                <a:gd name="adj1" fmla="val 54667"/>
                <a:gd name="adj2" fmla="val 55528"/>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grpSp>
      <p:sp>
        <p:nvSpPr>
          <p:cNvPr id="40" name="Text Box 100"/>
          <p:cNvSpPr txBox="1">
            <a:spLocks noChangeArrowheads="1"/>
          </p:cNvSpPr>
          <p:nvPr/>
        </p:nvSpPr>
        <p:spPr bwMode="auto">
          <a:xfrm>
            <a:off x="1680981" y="2184497"/>
            <a:ext cx="8230273" cy="83317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Se le da este valor porque lo relevante no es la variación,</a:t>
            </a:r>
          </a:p>
          <a:p>
            <a:pPr eaLnBrk="1" hangingPunct="1">
              <a:spcBef>
                <a:spcPts val="0"/>
              </a:spcBef>
              <a:buFontTx/>
              <a:buNone/>
            </a:pPr>
            <a:r>
              <a:rPr lang="es-ES" sz="2400" dirty="0">
                <a:latin typeface="Arial" panose="020B0604020202020204" pitchFamily="34" charset="0"/>
              </a:rPr>
              <a:t>   sino cuánto es por unidad de longitud</a:t>
            </a:r>
          </a:p>
        </p:txBody>
      </p:sp>
      <p:sp>
        <p:nvSpPr>
          <p:cNvPr id="41" name="Text Box 99"/>
          <p:cNvSpPr txBox="1">
            <a:spLocks noChangeArrowheads="1"/>
          </p:cNvSpPr>
          <p:nvPr/>
        </p:nvSpPr>
        <p:spPr bwMode="auto">
          <a:xfrm>
            <a:off x="3187791" y="6327639"/>
            <a:ext cx="5173258" cy="463846"/>
          </a:xfrm>
          <a:prstGeom prst="rect">
            <a:avLst/>
          </a:prstGeom>
          <a:solidFill>
            <a:srgbClr val="FF99FF"/>
          </a:solidFill>
          <a:ln>
            <a:noFill/>
          </a:ln>
          <a:effectLst/>
          <a:extLst>
            <a:ext uri="{53640926-AAD7-44D8-BBD7-CCE9431645EC}">
              <a14:shadowObscured xmlns:a14="http://schemas.microsoft.com/office/drawing/2010/main" val="1"/>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dirty="0" err="1">
                <a:latin typeface="Arial" panose="020B0604020202020204" pitchFamily="34" charset="0"/>
              </a:rPr>
              <a:t>Grad</a:t>
            </a:r>
            <a:r>
              <a:rPr lang="es-ES" sz="2400" dirty="0" err="1">
                <a:latin typeface="Arial" panose="020B0604020202020204" pitchFamily="34" charset="0"/>
              </a:rPr>
              <a:t>V</a:t>
            </a:r>
            <a:r>
              <a:rPr lang="es-ES" sz="2400" dirty="0">
                <a:latin typeface="Arial" panose="020B0604020202020204" pitchFamily="34" charset="0"/>
              </a:rPr>
              <a:t> y </a:t>
            </a:r>
            <a:r>
              <a:rPr lang="es-ES" sz="2400" b="1">
                <a:latin typeface="Arial" panose="020B0604020202020204" pitchFamily="34" charset="0"/>
              </a:rPr>
              <a:t>E</a:t>
            </a:r>
            <a:r>
              <a:rPr lang="es-ES" sz="2400">
                <a:latin typeface="Arial" panose="020B0604020202020204" pitchFamily="34" charset="0"/>
              </a:rPr>
              <a:t> tienen el mismo módulo</a:t>
            </a:r>
            <a:endParaRPr lang="es-ES" sz="2400" dirty="0">
              <a:latin typeface="Arial" panose="020B0604020202020204" pitchFamily="34" charset="0"/>
            </a:endParaRPr>
          </a:p>
        </p:txBody>
      </p:sp>
      <p:sp>
        <p:nvSpPr>
          <p:cNvPr id="14" name="Text Box 100">
            <a:extLst>
              <a:ext uri="{FF2B5EF4-FFF2-40B4-BE49-F238E27FC236}">
                <a16:creationId xmlns:a16="http://schemas.microsoft.com/office/drawing/2014/main" id="{FE4135E5-9B92-45D1-802F-DA35F3C34B5D}"/>
              </a:ext>
            </a:extLst>
          </p:cNvPr>
          <p:cNvSpPr txBox="1">
            <a:spLocks noChangeArrowheads="1"/>
          </p:cNvSpPr>
          <p:nvPr/>
        </p:nvSpPr>
        <p:spPr bwMode="auto">
          <a:xfrm>
            <a:off x="1679832" y="3967041"/>
            <a:ext cx="4478758" cy="46384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latin typeface="Arial" panose="020B0604020202020204" pitchFamily="34" charset="0"/>
                <a:sym typeface="Symbol" panose="05050102010706020507" pitchFamily="18" charset="2"/>
              </a:rPr>
              <a:t> En </a:t>
            </a:r>
            <a:r>
              <a:rPr lang="es-ES" sz="2400" dirty="0">
                <a:latin typeface="Arial" panose="020B0604020202020204" pitchFamily="34" charset="0"/>
                <a:sym typeface="Symbol" panose="05050102010706020507" pitchFamily="18" charset="2"/>
              </a:rPr>
              <a:t>el </a:t>
            </a:r>
            <a:r>
              <a:rPr lang="es-ES" sz="2400" dirty="0">
                <a:solidFill>
                  <a:srgbClr val="008000"/>
                </a:solidFill>
                <a:latin typeface="Arial" panose="020B0604020202020204" pitchFamily="34" charset="0"/>
                <a:sym typeface="Symbol" panose="05050102010706020507" pitchFamily="18" charset="2"/>
              </a:rPr>
              <a:t>caso eléctrico</a:t>
            </a:r>
            <a:r>
              <a:rPr lang="es-ES" sz="2400" dirty="0">
                <a:latin typeface="Arial" panose="020B0604020202020204" pitchFamily="34" charset="0"/>
                <a:sym typeface="Symbol" panose="05050102010706020507" pitchFamily="18" charset="2"/>
              </a:rPr>
              <a:t>:</a:t>
            </a:r>
            <a:endParaRPr lang="es-ES" sz="2400" dirty="0">
              <a:latin typeface="Arial" panose="020B0604020202020204" pitchFamily="34" charset="0"/>
            </a:endParaRPr>
          </a:p>
        </p:txBody>
      </p:sp>
      <p:sp>
        <p:nvSpPr>
          <p:cNvPr id="15" name="Text Box 72">
            <a:extLst>
              <a:ext uri="{FF2B5EF4-FFF2-40B4-BE49-F238E27FC236}">
                <a16:creationId xmlns:a16="http://schemas.microsoft.com/office/drawing/2014/main" id="{40CAF26E-D64C-4731-9116-2DCA2403C96A}"/>
              </a:ext>
            </a:extLst>
          </p:cNvPr>
          <p:cNvSpPr txBox="1">
            <a:spLocks noChangeArrowheads="1"/>
          </p:cNvSpPr>
          <p:nvPr/>
        </p:nvSpPr>
        <p:spPr bwMode="auto">
          <a:xfrm>
            <a:off x="1594867" y="2937768"/>
            <a:ext cx="8342500" cy="9058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a:spcBef>
                <a:spcPct val="0"/>
              </a:spcBef>
              <a:buFontTx/>
              <a:buNone/>
            </a:pPr>
            <a:r>
              <a:rPr lang="es-ES" sz="2400">
                <a:solidFill>
                  <a:srgbClr val="FF0000"/>
                </a:solidFill>
                <a:latin typeface="Arial" panose="020B0604020202020204" pitchFamily="34" charset="0"/>
              </a:rPr>
              <a:t>Ej.: una </a:t>
            </a:r>
            <a:r>
              <a:rPr lang="es-ES" sz="2400" dirty="0">
                <a:solidFill>
                  <a:srgbClr val="FF0000"/>
                </a:solidFill>
                <a:latin typeface="Arial" panose="020B0604020202020204" pitchFamily="34" charset="0"/>
              </a:rPr>
              <a:t>variación de </a:t>
            </a:r>
            <a:r>
              <a:rPr lang="es-ES" sz="2400">
                <a:solidFill>
                  <a:srgbClr val="FF0000"/>
                </a:solidFill>
                <a:latin typeface="Arial" panose="020B0604020202020204" pitchFamily="34" charset="0"/>
              </a:rPr>
              <a:t>1000 ºC </a:t>
            </a:r>
            <a:r>
              <a:rPr lang="es-ES" sz="2400" dirty="0">
                <a:solidFill>
                  <a:srgbClr val="FF0000"/>
                </a:solidFill>
                <a:latin typeface="Arial" panose="020B0604020202020204" pitchFamily="34" charset="0"/>
              </a:rPr>
              <a:t>no es lo relevante, lo es por unidad de longitud: en 1 km </a:t>
            </a:r>
            <a:r>
              <a:rPr lang="es-ES" sz="2400" dirty="0">
                <a:solidFill>
                  <a:srgbClr val="FF0000"/>
                </a:solidFill>
                <a:latin typeface="Arial" panose="020B0604020202020204" pitchFamily="34" charset="0"/>
                <a:sym typeface="Symbol" panose="05050102010706020507" pitchFamily="18" charset="2"/>
              </a:rPr>
              <a:t> 1 </a:t>
            </a:r>
            <a:r>
              <a:rPr lang="es-ES" sz="2400" dirty="0" err="1">
                <a:solidFill>
                  <a:srgbClr val="FF0000"/>
                </a:solidFill>
                <a:latin typeface="Arial" panose="020B0604020202020204" pitchFamily="34" charset="0"/>
                <a:sym typeface="Symbol" panose="05050102010706020507" pitchFamily="18" charset="2"/>
              </a:rPr>
              <a:t>ºC</a:t>
            </a:r>
            <a:r>
              <a:rPr lang="es-ES" sz="2400" dirty="0">
                <a:solidFill>
                  <a:srgbClr val="FF0000"/>
                </a:solidFill>
                <a:latin typeface="Arial" panose="020B0604020202020204" pitchFamily="34" charset="0"/>
                <a:sym typeface="Symbol" panose="05050102010706020507" pitchFamily="18" charset="2"/>
              </a:rPr>
              <a:t>/m | en 1m  10</a:t>
            </a:r>
            <a:r>
              <a:rPr lang="es-ES" sz="2400" baseline="30000" dirty="0">
                <a:solidFill>
                  <a:srgbClr val="FF0000"/>
                </a:solidFill>
                <a:latin typeface="Arial" panose="020B0604020202020204" pitchFamily="34" charset="0"/>
                <a:sym typeface="Symbol" panose="05050102010706020507" pitchFamily="18" charset="2"/>
              </a:rPr>
              <a:t>3</a:t>
            </a:r>
            <a:r>
              <a:rPr lang="es-ES" sz="2400" dirty="0">
                <a:solidFill>
                  <a:srgbClr val="FF0000"/>
                </a:solidFill>
                <a:latin typeface="Arial" panose="020B0604020202020204" pitchFamily="34" charset="0"/>
                <a:sym typeface="Symbol" panose="05050102010706020507" pitchFamily="18" charset="2"/>
              </a:rPr>
              <a:t> </a:t>
            </a:r>
            <a:r>
              <a:rPr lang="es-ES" sz="2400" dirty="0" err="1">
                <a:solidFill>
                  <a:srgbClr val="FF0000"/>
                </a:solidFill>
                <a:latin typeface="Arial" panose="020B0604020202020204" pitchFamily="34" charset="0"/>
                <a:sym typeface="Symbol" panose="05050102010706020507" pitchFamily="18" charset="2"/>
              </a:rPr>
              <a:t>ºC</a:t>
            </a:r>
            <a:r>
              <a:rPr lang="es-ES" sz="2400">
                <a:solidFill>
                  <a:srgbClr val="FF0000"/>
                </a:solidFill>
                <a:latin typeface="Arial" panose="020B0604020202020204" pitchFamily="34" charset="0"/>
                <a:sym typeface="Symbol" panose="05050102010706020507" pitchFamily="18" charset="2"/>
              </a:rPr>
              <a:t>/m</a:t>
            </a:r>
            <a:endParaRPr lang="es-ES" sz="2400" dirty="0">
              <a:solidFill>
                <a:srgbClr val="FF0000"/>
              </a:solidFill>
              <a:latin typeface="Arial" panose="020B0604020202020204" pitchFamily="34" charset="0"/>
            </a:endParaRPr>
          </a:p>
        </p:txBody>
      </p:sp>
    </p:spTree>
    <p:extLst>
      <p:ext uri="{BB962C8B-B14F-4D97-AF65-F5344CB8AC3E}">
        <p14:creationId xmlns:p14="http://schemas.microsoft.com/office/powerpoint/2010/main" val="34904227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13338"/>
                                        </p:tgtEl>
                                        <p:attrNameLst>
                                          <p:attrName>style.visibility</p:attrName>
                                        </p:attrNameLst>
                                      </p:cBhvr>
                                      <p:to>
                                        <p:strVal val="visible"/>
                                      </p:to>
                                    </p:set>
                                    <p:anim calcmode="lin" valueType="num">
                                      <p:cBhvr>
                                        <p:cTn id="7" dur="500" fill="hold"/>
                                        <p:tgtEl>
                                          <p:spTgt spid="13338"/>
                                        </p:tgtEl>
                                        <p:attrNameLst>
                                          <p:attrName>ppt_w</p:attrName>
                                        </p:attrNameLst>
                                      </p:cBhvr>
                                      <p:tavLst>
                                        <p:tav tm="0">
                                          <p:val>
                                            <p:strVal val="2/3*#ppt_w"/>
                                          </p:val>
                                        </p:tav>
                                        <p:tav tm="100000">
                                          <p:val>
                                            <p:strVal val="#ppt_w"/>
                                          </p:val>
                                        </p:tav>
                                      </p:tavLst>
                                    </p:anim>
                                    <p:anim calcmode="lin" valueType="num">
                                      <p:cBhvr>
                                        <p:cTn id="8" dur="500" fill="hold"/>
                                        <p:tgtEl>
                                          <p:spTgt spid="13338"/>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3337"/>
                                        </p:tgtEl>
                                        <p:attrNameLst>
                                          <p:attrName>style.visibility</p:attrName>
                                        </p:attrNameLst>
                                      </p:cBhvr>
                                      <p:to>
                                        <p:strVal val="visible"/>
                                      </p:to>
                                    </p:set>
                                    <p:animEffect transition="in" filter="blinds(vertical)">
                                      <p:cBhvr>
                                        <p:cTn id="13" dur="500"/>
                                        <p:tgtEl>
                                          <p:spTgt spid="1333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up)">
                                      <p:cBhvr>
                                        <p:cTn id="18" dur="50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p:tgtEl>
                                          <p:spTgt spid="15"/>
                                        </p:tgtEl>
                                        <p:attrNameLst>
                                          <p:attrName>ppt_y</p:attrName>
                                        </p:attrNameLst>
                                      </p:cBhvr>
                                      <p:tavLst>
                                        <p:tav tm="0">
                                          <p:val>
                                            <p:strVal val="#ppt_y+#ppt_h*1.125000"/>
                                          </p:val>
                                        </p:tav>
                                        <p:tav tm="100000">
                                          <p:val>
                                            <p:strVal val="#ppt_y"/>
                                          </p:val>
                                        </p:tav>
                                      </p:tavLst>
                                    </p:anim>
                                    <p:animEffect transition="in" filter="wipe(up)">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13352"/>
                                        </p:tgtEl>
                                        <p:attrNameLst>
                                          <p:attrName>style.visibility</p:attrName>
                                        </p:attrNameLst>
                                      </p:cBhvr>
                                      <p:to>
                                        <p:strVal val="visible"/>
                                      </p:to>
                                    </p:set>
                                    <p:animEffect transition="in" filter="wipe(up)">
                                      <p:cBhvr>
                                        <p:cTn id="33" dur="500"/>
                                        <p:tgtEl>
                                          <p:spTgt spid="1335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67680"/>
                                        </p:tgtEl>
                                        <p:attrNameLst>
                                          <p:attrName>style.visibility</p:attrName>
                                        </p:attrNameLst>
                                      </p:cBhvr>
                                      <p:to>
                                        <p:strVal val="visible"/>
                                      </p:to>
                                    </p:set>
                                    <p:animEffect transition="in" filter="wipe(up)">
                                      <p:cBhvr>
                                        <p:cTn id="43" dur="500"/>
                                        <p:tgtEl>
                                          <p:spTgt spid="67680"/>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 calcmode="lin" valueType="num">
                                      <p:cBhvr additive="base">
                                        <p:cTn id="48" dur="500"/>
                                        <p:tgtEl>
                                          <p:spTgt spid="41"/>
                                        </p:tgtEl>
                                        <p:attrNameLst>
                                          <p:attrName>ppt_y</p:attrName>
                                        </p:attrNameLst>
                                      </p:cBhvr>
                                      <p:tavLst>
                                        <p:tav tm="0">
                                          <p:val>
                                            <p:strVal val="#ppt_y-#ppt_h*1.125000"/>
                                          </p:val>
                                        </p:tav>
                                        <p:tav tm="100000">
                                          <p:val>
                                            <p:strVal val="#ppt_y"/>
                                          </p:val>
                                        </p:tav>
                                      </p:tavLst>
                                    </p:anim>
                                    <p:animEffect transition="in" filter="wipe(down)">
                                      <p:cBhvr>
                                        <p:cTn id="4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0" grpId="0" animBg="1"/>
      <p:bldP spid="13337" grpId="0" animBg="1"/>
      <p:bldP spid="13338" grpId="0" animBg="1"/>
      <p:bldP spid="13352" grpId="0"/>
      <p:bldP spid="40" grpId="0"/>
      <p:bldP spid="41" grpId="0" animBg="1"/>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46CC132-3739-425B-8ECE-1C60D4DA2491}"/>
              </a:ext>
            </a:extLst>
          </p:cNvPr>
          <p:cNvSpPr/>
          <p:nvPr/>
        </p:nvSpPr>
        <p:spPr bwMode="auto">
          <a:xfrm>
            <a:off x="1287620" y="1317966"/>
            <a:ext cx="3960000" cy="828000"/>
          </a:xfrm>
          <a:prstGeom prst="rect">
            <a:avLst/>
          </a:prstGeom>
          <a:solidFill>
            <a:srgbClr val="99CCFF"/>
          </a:solidFill>
          <a:ln w="12700" cap="flat" cmpd="sng" algn="ctr">
            <a:noFill/>
            <a:prstDash val="solid"/>
            <a:round/>
            <a:headEnd type="none" w="med" len="med"/>
            <a:tailEnd type="none" w="med" len="med"/>
          </a:ln>
          <a:effectLst/>
        </p:spPr>
        <p:txBody>
          <a:bodyPr rot="0" spcFirstLastPara="0" vertOverflow="overflow" horzOverflow="overflow" vert="horz" wrap="none" lIns="90000" tIns="46800" rIns="90000" bIns="4680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74" name="CuadroTexto 73"/>
          <p:cNvSpPr txBox="1">
            <a:spLocks noChangeArrowheads="1"/>
          </p:cNvSpPr>
          <p:nvPr/>
        </p:nvSpPr>
        <p:spPr bwMode="auto">
          <a:xfrm>
            <a:off x="2015614" y="4695583"/>
            <a:ext cx="7472516" cy="1622734"/>
          </a:xfrm>
          <a:prstGeom prst="rect">
            <a:avLst/>
          </a:prstGeom>
          <a:solidFill>
            <a:srgbClr val="FFFF99"/>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dirty="0"/>
              <a:t>Se intuye que para tener cada componente de </a:t>
            </a:r>
            <a:r>
              <a:rPr lang="es-ES" sz="2400" b="1" dirty="0"/>
              <a:t>E</a:t>
            </a:r>
            <a:r>
              <a:rPr lang="es-ES" sz="2400" dirty="0"/>
              <a:t>, del gradiente, habrá que derivar, en concreto, que habrá que calcular la variación de V respecto a un desplazamiento en cada coordenada</a:t>
            </a:r>
          </a:p>
        </p:txBody>
      </p:sp>
      <p:sp>
        <p:nvSpPr>
          <p:cNvPr id="88" name="Text Box 10"/>
          <p:cNvSpPr txBox="1">
            <a:spLocks noChangeArrowheads="1"/>
          </p:cNvSpPr>
          <p:nvPr/>
        </p:nvSpPr>
        <p:spPr bwMode="auto">
          <a:xfrm>
            <a:off x="4427290" y="2236449"/>
            <a:ext cx="137759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sym typeface="Symbol" panose="05050102010706020507" pitchFamily="18" charset="2"/>
              </a:rPr>
              <a:t></a:t>
            </a:r>
            <a:r>
              <a:rPr lang="es-ES" sz="2400">
                <a:solidFill>
                  <a:srgbClr val="FF0000"/>
                </a:solidFill>
                <a:latin typeface="Arial" panose="020B0604020202020204" pitchFamily="34" charset="0"/>
                <a:sym typeface="Symbol" panose="05050102010706020507" pitchFamily="18" charset="2"/>
              </a:rPr>
              <a:t>: </a:t>
            </a:r>
            <a:r>
              <a:rPr lang="es-ES" sz="2400">
                <a:solidFill>
                  <a:srgbClr val="FF0000"/>
                </a:solidFill>
                <a:latin typeface="Arial" panose="020B0604020202020204" pitchFamily="34" charset="0"/>
              </a:rPr>
              <a:t>Nabla</a:t>
            </a:r>
            <a:endParaRPr lang="es-ES" sz="2400" dirty="0">
              <a:solidFill>
                <a:srgbClr val="FF0000"/>
              </a:solidFill>
              <a:latin typeface="Arial" panose="020B0604020202020204" pitchFamily="34" charset="0"/>
            </a:endParaRPr>
          </a:p>
        </p:txBody>
      </p:sp>
      <p:graphicFrame>
        <p:nvGraphicFramePr>
          <p:cNvPr id="23" name="Object 55"/>
          <p:cNvGraphicFramePr>
            <a:graphicFrameLocks noChangeAspect="1"/>
          </p:cNvGraphicFramePr>
          <p:nvPr>
            <p:extLst>
              <p:ext uri="{D42A27DB-BD31-4B8C-83A1-F6EECF244321}">
                <p14:modId xmlns:p14="http://schemas.microsoft.com/office/powerpoint/2010/main" val="155462203"/>
              </p:ext>
            </p:extLst>
          </p:nvPr>
        </p:nvGraphicFramePr>
        <p:xfrm>
          <a:off x="1403422" y="1344464"/>
          <a:ext cx="2352275" cy="701675"/>
        </p:xfrm>
        <a:graphic>
          <a:graphicData uri="http://schemas.openxmlformats.org/presentationml/2006/ole">
            <mc:AlternateContent xmlns:mc="http://schemas.openxmlformats.org/markup-compatibility/2006">
              <mc:Choice xmlns:v="urn:schemas-microsoft-com:vml" Requires="v">
                <p:oleObj name="Ecuación" r:id="rId3" imgW="685800" imgH="203200" progId="Equation.3">
                  <p:embed/>
                </p:oleObj>
              </mc:Choice>
              <mc:Fallback>
                <p:oleObj name="Ecuación" r:id="rId3" imgW="685800" imgH="203200" progId="Equation.3">
                  <p:embed/>
                  <p:pic>
                    <p:nvPicPr>
                      <p:cNvPr id="23"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422" y="1344464"/>
                        <a:ext cx="2352275" cy="701675"/>
                      </a:xfrm>
                      <a:prstGeom prst="rect">
                        <a:avLst/>
                      </a:prstGeom>
                      <a:noFill/>
                      <a:ln>
                        <a:noFill/>
                      </a:ln>
                    </p:spPr>
                  </p:pic>
                </p:oleObj>
              </mc:Fallback>
            </mc:AlternateContent>
          </a:graphicData>
        </a:graphic>
      </p:graphicFrame>
      <p:sp>
        <p:nvSpPr>
          <p:cNvPr id="31" name="Text Box 99"/>
          <p:cNvSpPr txBox="1">
            <a:spLocks noChangeArrowheads="1"/>
          </p:cNvSpPr>
          <p:nvPr/>
        </p:nvSpPr>
        <p:spPr bwMode="auto">
          <a:xfrm>
            <a:off x="1267300" y="460954"/>
            <a:ext cx="4859179" cy="510231"/>
          </a:xfrm>
          <a:prstGeom prst="rect">
            <a:avLst/>
          </a:prstGeom>
          <a:solidFill>
            <a:srgbClr val="FF99FF"/>
          </a:solidFill>
          <a:ln>
            <a:noFill/>
          </a:ln>
          <a:effectLst/>
          <a:extLst>
            <a:ext uri="{53640926-AAD7-44D8-BBD7-CCE9431645EC}">
              <a14:shadowObscured xmlns:a14="http://schemas.microsoft.com/office/drawing/2010/main" val="1"/>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dirty="0" err="1">
                <a:latin typeface="Arial" panose="020B0604020202020204" pitchFamily="34" charset="0"/>
              </a:rPr>
              <a:t>Grad</a:t>
            </a:r>
            <a:r>
              <a:rPr lang="es-ES" sz="2400" dirty="0" err="1">
                <a:latin typeface="Arial" panose="020B0604020202020204" pitchFamily="34" charset="0"/>
              </a:rPr>
              <a:t>V</a:t>
            </a:r>
            <a:r>
              <a:rPr lang="es-ES" sz="2400" dirty="0">
                <a:latin typeface="Arial" panose="020B0604020202020204" pitchFamily="34" charset="0"/>
              </a:rPr>
              <a:t> y </a:t>
            </a:r>
            <a:r>
              <a:rPr lang="es-ES" sz="2400" b="1" dirty="0">
                <a:latin typeface="Arial" panose="020B0604020202020204" pitchFamily="34" charset="0"/>
              </a:rPr>
              <a:t>E</a:t>
            </a:r>
            <a:r>
              <a:rPr lang="es-ES" sz="2400" dirty="0">
                <a:latin typeface="Arial" panose="020B0604020202020204" pitchFamily="34" charset="0"/>
              </a:rPr>
              <a:t> son vectores opuestos </a:t>
            </a:r>
          </a:p>
        </p:txBody>
      </p:sp>
      <p:graphicFrame>
        <p:nvGraphicFramePr>
          <p:cNvPr id="69672" name="Object 77"/>
          <p:cNvGraphicFramePr>
            <a:graphicFrameLocks noChangeAspect="1"/>
          </p:cNvGraphicFramePr>
          <p:nvPr>
            <p:extLst>
              <p:ext uri="{D42A27DB-BD31-4B8C-83A1-F6EECF244321}">
                <p14:modId xmlns:p14="http://schemas.microsoft.com/office/powerpoint/2010/main" val="978597565"/>
              </p:ext>
            </p:extLst>
          </p:nvPr>
        </p:nvGraphicFramePr>
        <p:xfrm>
          <a:off x="3725861" y="1485444"/>
          <a:ext cx="1465002" cy="556872"/>
        </p:xfrm>
        <a:graphic>
          <a:graphicData uri="http://schemas.openxmlformats.org/presentationml/2006/ole">
            <mc:AlternateContent xmlns:mc="http://schemas.openxmlformats.org/markup-compatibility/2006">
              <mc:Choice xmlns:v="urn:schemas-microsoft-com:vml" Requires="v">
                <p:oleObj name="Ecuación" r:id="rId5" imgW="469696" imgH="177723" progId="Equation.3">
                  <p:embed/>
                </p:oleObj>
              </mc:Choice>
              <mc:Fallback>
                <p:oleObj name="Ecuación" r:id="rId5" imgW="469696" imgH="177723" progId="Equation.3">
                  <p:embed/>
                  <p:pic>
                    <p:nvPicPr>
                      <p:cNvPr id="69672" name="Object 7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5861" y="1485444"/>
                        <a:ext cx="1465002" cy="556872"/>
                      </a:xfrm>
                      <a:prstGeom prst="rect">
                        <a:avLst/>
                      </a:prstGeom>
                      <a:noFill/>
                      <a:ln>
                        <a:noFill/>
                      </a:ln>
                      <a:effectLst/>
                    </p:spPr>
                  </p:pic>
                </p:oleObj>
              </mc:Fallback>
            </mc:AlternateContent>
          </a:graphicData>
        </a:graphic>
      </p:graphicFrame>
      <p:grpSp>
        <p:nvGrpSpPr>
          <p:cNvPr id="10" name="Grupo 9">
            <a:extLst>
              <a:ext uri="{FF2B5EF4-FFF2-40B4-BE49-F238E27FC236}">
                <a16:creationId xmlns:a16="http://schemas.microsoft.com/office/drawing/2014/main" id="{7095B092-23BF-4D58-9553-F67E51C3750C}"/>
              </a:ext>
            </a:extLst>
          </p:cNvPr>
          <p:cNvGrpSpPr/>
          <p:nvPr/>
        </p:nvGrpSpPr>
        <p:grpSpPr>
          <a:xfrm>
            <a:off x="1294711" y="3684058"/>
            <a:ext cx="5125409" cy="836676"/>
            <a:chOff x="1362086" y="1708181"/>
            <a:chExt cx="5125409" cy="836676"/>
          </a:xfrm>
        </p:grpSpPr>
        <p:grpSp>
          <p:nvGrpSpPr>
            <p:cNvPr id="82" name="Grupo 81"/>
            <p:cNvGrpSpPr>
              <a:grpSpLocks/>
            </p:cNvGrpSpPr>
            <p:nvPr/>
          </p:nvGrpSpPr>
          <p:grpSpPr bwMode="auto">
            <a:xfrm>
              <a:off x="2758695" y="1708181"/>
              <a:ext cx="3728800" cy="836676"/>
              <a:chOff x="7492848" y="1239139"/>
              <a:chExt cx="3730431" cy="836676"/>
            </a:xfrm>
          </p:grpSpPr>
          <p:sp>
            <p:nvSpPr>
              <p:cNvPr id="83" name="Text Box 89"/>
              <p:cNvSpPr txBox="1">
                <a:spLocks noChangeArrowheads="1"/>
              </p:cNvSpPr>
              <p:nvPr/>
            </p:nvSpPr>
            <p:spPr bwMode="auto">
              <a:xfrm>
                <a:off x="9592310" y="1239139"/>
                <a:ext cx="492125" cy="396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rPr>
                  <a:t>dV</a:t>
                </a:r>
                <a:r>
                  <a:rPr lang="es-ES" sz="2400" baseline="-25000" dirty="0" err="1">
                    <a:solidFill>
                      <a:srgbClr val="000000"/>
                    </a:solidFill>
                    <a:latin typeface="Arial" panose="020B0604020202020204" pitchFamily="34" charset="0"/>
                  </a:rPr>
                  <a:t>máx</a:t>
                </a:r>
                <a:r>
                  <a:rPr lang="es-ES" sz="2400" baseline="-25000" dirty="0">
                    <a:solidFill>
                      <a:srgbClr val="000000"/>
                    </a:solidFill>
                    <a:latin typeface="Arial" panose="020B0604020202020204" pitchFamily="34" charset="0"/>
                  </a:rPr>
                  <a:t> positiva</a:t>
                </a:r>
              </a:p>
            </p:txBody>
          </p:sp>
          <p:sp>
            <p:nvSpPr>
              <p:cNvPr id="84" name="Text Box 90"/>
              <p:cNvSpPr txBox="1">
                <a:spLocks noChangeArrowheads="1"/>
              </p:cNvSpPr>
              <p:nvPr/>
            </p:nvSpPr>
            <p:spPr bwMode="auto">
              <a:xfrm>
                <a:off x="7492848" y="1457966"/>
                <a:ext cx="701675" cy="44194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a:t>
                </a:r>
                <a:r>
                  <a:rPr lang="es-ES" sz="2400" b="1" dirty="0">
                    <a:solidFill>
                      <a:srgbClr val="000000"/>
                    </a:solidFill>
                    <a:latin typeface="Arial" panose="020B0604020202020204" pitchFamily="34" charset="0"/>
                  </a:rPr>
                  <a:t>E</a:t>
                </a:r>
                <a:r>
                  <a:rPr lang="es-ES" sz="2400" dirty="0">
                    <a:solidFill>
                      <a:srgbClr val="000000"/>
                    </a:solidFill>
                    <a:latin typeface="Arial" panose="020B0604020202020204" pitchFamily="34" charset="0"/>
                  </a:rPr>
                  <a:t>| = |</a:t>
                </a:r>
                <a:r>
                  <a:rPr lang="es-ES" sz="2400" b="1" dirty="0" err="1">
                    <a:solidFill>
                      <a:srgbClr val="000000"/>
                    </a:solidFill>
                    <a:latin typeface="Arial" panose="020B0604020202020204" pitchFamily="34" charset="0"/>
                  </a:rPr>
                  <a:t>grad</a:t>
                </a:r>
                <a:r>
                  <a:rPr lang="es-ES" sz="2400" dirty="0" err="1">
                    <a:solidFill>
                      <a:srgbClr val="000000"/>
                    </a:solidFill>
                    <a:latin typeface="Arial" panose="020B0604020202020204" pitchFamily="34" charset="0"/>
                  </a:rPr>
                  <a:t>V</a:t>
                </a:r>
                <a:r>
                  <a:rPr lang="es-ES" sz="2400" dirty="0">
                    <a:solidFill>
                      <a:srgbClr val="000000"/>
                    </a:solidFill>
                    <a:latin typeface="Arial" panose="020B0604020202020204" pitchFamily="34" charset="0"/>
                  </a:rPr>
                  <a:t>| =</a:t>
                </a:r>
              </a:p>
            </p:txBody>
          </p:sp>
          <p:sp>
            <p:nvSpPr>
              <p:cNvPr id="85" name="Line 91"/>
              <p:cNvSpPr>
                <a:spLocks noChangeShapeType="1"/>
              </p:cNvSpPr>
              <p:nvPr/>
            </p:nvSpPr>
            <p:spPr bwMode="auto">
              <a:xfrm>
                <a:off x="9632399" y="1688465"/>
                <a:ext cx="15908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p>
                <a:endParaRPr lang="en-GB"/>
              </a:p>
            </p:txBody>
          </p:sp>
          <p:sp>
            <p:nvSpPr>
              <p:cNvPr id="86" name="Text Box 92"/>
              <p:cNvSpPr txBox="1">
                <a:spLocks noChangeArrowheads="1"/>
              </p:cNvSpPr>
              <p:nvPr/>
            </p:nvSpPr>
            <p:spPr bwMode="auto">
              <a:xfrm>
                <a:off x="10274437" y="1678940"/>
                <a:ext cx="379413" cy="396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dl</a:t>
                </a:r>
              </a:p>
            </p:txBody>
          </p:sp>
        </p:grpSp>
        <p:sp>
          <p:nvSpPr>
            <p:cNvPr id="70" name="Text Box 54">
              <a:extLst>
                <a:ext uri="{FF2B5EF4-FFF2-40B4-BE49-F238E27FC236}">
                  <a16:creationId xmlns:a16="http://schemas.microsoft.com/office/drawing/2014/main" id="{A7249603-3D65-475A-9465-FD0735EA15AF}"/>
                </a:ext>
              </a:extLst>
            </p:cNvPr>
            <p:cNvSpPr txBox="1">
              <a:spLocks noChangeArrowheads="1"/>
            </p:cNvSpPr>
            <p:nvPr/>
          </p:nvSpPr>
          <p:spPr bwMode="auto">
            <a:xfrm>
              <a:off x="1362086" y="1906341"/>
              <a:ext cx="1412646" cy="514738"/>
            </a:xfrm>
            <a:prstGeom prst="rect">
              <a:avLst/>
            </a:prstGeom>
            <a:noFill/>
            <a:ln>
              <a:noFill/>
            </a:ln>
            <a:effectLst/>
            <a:extLst>
              <a:ext uri="{53640926-AAD7-44D8-BBD7-CCE9431645EC}">
                <a14:shadowObscured xmlns:a14="http://schemas.microsoft.com/office/drawing/2010/main" val="1"/>
              </a:ext>
            </a:extLst>
          </p:spPr>
          <p:txBody>
            <a:bodyPr wrap="square" lIns="72000" tIns="72000" rIns="72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defRPr/>
              </a:pPr>
              <a:r>
                <a:rPr lang="es-ES" sz="2400" dirty="0">
                  <a:sym typeface="Symbol" panose="05050102010706020507" pitchFamily="18" charset="2"/>
                </a:rPr>
                <a:t> </a:t>
              </a:r>
              <a:r>
                <a:rPr lang="es-ES" sz="2400" dirty="0"/>
                <a:t>Como:</a:t>
              </a:r>
              <a:endParaRPr lang="es-ES" sz="2400" b="1" dirty="0"/>
            </a:p>
          </p:txBody>
        </p:sp>
      </p:grpSp>
      <p:grpSp>
        <p:nvGrpSpPr>
          <p:cNvPr id="92" name="Group 55">
            <a:extLst>
              <a:ext uri="{FF2B5EF4-FFF2-40B4-BE49-F238E27FC236}">
                <a16:creationId xmlns:a16="http://schemas.microsoft.com/office/drawing/2014/main" id="{727B829C-6226-4AF6-B07C-D878531ABDE2}"/>
              </a:ext>
            </a:extLst>
          </p:cNvPr>
          <p:cNvGrpSpPr>
            <a:grpSpLocks/>
          </p:cNvGrpSpPr>
          <p:nvPr/>
        </p:nvGrpSpPr>
        <p:grpSpPr bwMode="auto">
          <a:xfrm>
            <a:off x="5386652" y="1491606"/>
            <a:ext cx="979490" cy="457200"/>
            <a:chOff x="4781" y="3323"/>
            <a:chExt cx="617" cy="288"/>
          </a:xfrm>
        </p:grpSpPr>
        <p:sp>
          <p:nvSpPr>
            <p:cNvPr id="93" name="Line 147">
              <a:extLst>
                <a:ext uri="{FF2B5EF4-FFF2-40B4-BE49-F238E27FC236}">
                  <a16:creationId xmlns:a16="http://schemas.microsoft.com/office/drawing/2014/main" id="{132E46B0-CC6B-4344-8059-93B80FB0FF6A}"/>
                </a:ext>
              </a:extLst>
            </p:cNvPr>
            <p:cNvSpPr>
              <a:spLocks noChangeShapeType="1"/>
            </p:cNvSpPr>
            <p:nvPr/>
          </p:nvSpPr>
          <p:spPr bwMode="auto">
            <a:xfrm rot="16200000">
              <a:off x="5090" y="3185"/>
              <a:ext cx="0" cy="617"/>
            </a:xfrm>
            <a:prstGeom prst="line">
              <a:avLst/>
            </a:prstGeom>
            <a:noFill/>
            <a:ln w="76200">
              <a:solidFill>
                <a:srgbClr val="008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lIns="90000" tIns="46800" rIns="90000" bIns="46800">
              <a:spAutoFit/>
            </a:bodyPr>
            <a:lstStyle/>
            <a:p>
              <a:endParaRPr lang="en-GB" dirty="0"/>
            </a:p>
          </p:txBody>
        </p:sp>
        <p:sp>
          <p:nvSpPr>
            <p:cNvPr id="94" name="Text Box 106">
              <a:extLst>
                <a:ext uri="{FF2B5EF4-FFF2-40B4-BE49-F238E27FC236}">
                  <a16:creationId xmlns:a16="http://schemas.microsoft.com/office/drawing/2014/main" id="{04825169-7BB8-45B9-A824-C6FD83E64CC8}"/>
                </a:ext>
              </a:extLst>
            </p:cNvPr>
            <p:cNvSpPr txBox="1">
              <a:spLocks noChangeArrowheads="1"/>
            </p:cNvSpPr>
            <p:nvPr/>
          </p:nvSpPr>
          <p:spPr bwMode="auto">
            <a:xfrm>
              <a:off x="4857" y="3323"/>
              <a:ext cx="379" cy="28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q</a:t>
              </a:r>
            </a:p>
          </p:txBody>
        </p:sp>
      </p:grpSp>
      <p:sp>
        <p:nvSpPr>
          <p:cNvPr id="95" name="Text Box 54">
            <a:extLst>
              <a:ext uri="{FF2B5EF4-FFF2-40B4-BE49-F238E27FC236}">
                <a16:creationId xmlns:a16="http://schemas.microsoft.com/office/drawing/2014/main" id="{0310F8EE-A58E-4215-A97C-DCAA8F23E79E}"/>
              </a:ext>
            </a:extLst>
          </p:cNvPr>
          <p:cNvSpPr txBox="1">
            <a:spLocks noChangeArrowheads="1"/>
          </p:cNvSpPr>
          <p:nvPr/>
        </p:nvSpPr>
        <p:spPr bwMode="auto">
          <a:xfrm>
            <a:off x="3798363" y="2886129"/>
            <a:ext cx="3885237" cy="514738"/>
          </a:xfrm>
          <a:prstGeom prst="rect">
            <a:avLst/>
          </a:prstGeom>
          <a:solidFill>
            <a:srgbClr val="FFFF00"/>
          </a:solidFill>
          <a:ln>
            <a:noFill/>
          </a:ln>
          <a:effectLst/>
          <a:extLst>
            <a:ext uri="{53640926-AAD7-44D8-BBD7-CCE9431645EC}">
              <a14:shadowObscured xmlns:a14="http://schemas.microsoft.com/office/drawing/2010/main" val="1"/>
            </a:ext>
          </a:extLst>
        </p:spPr>
        <p:txBody>
          <a:bodyPr wrap="square" lIns="72000" tIns="72000" rIns="72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defRPr/>
            </a:pPr>
            <a:r>
              <a:rPr lang="es-ES" sz="2400" dirty="0"/>
              <a:t>Son las relaciones al revés</a:t>
            </a:r>
            <a:endParaRPr lang="es-ES" sz="2400" b="1" dirty="0"/>
          </a:p>
        </p:txBody>
      </p:sp>
      <p:grpSp>
        <p:nvGrpSpPr>
          <p:cNvPr id="11" name="Grupo 10">
            <a:extLst>
              <a:ext uri="{FF2B5EF4-FFF2-40B4-BE49-F238E27FC236}">
                <a16:creationId xmlns:a16="http://schemas.microsoft.com/office/drawing/2014/main" id="{469E5BD5-D4B1-4E5B-BF09-2AE99736BA4D}"/>
              </a:ext>
            </a:extLst>
          </p:cNvPr>
          <p:cNvGrpSpPr/>
          <p:nvPr/>
        </p:nvGrpSpPr>
        <p:grpSpPr>
          <a:xfrm>
            <a:off x="6397956" y="1329963"/>
            <a:ext cx="3970160" cy="837524"/>
            <a:chOff x="6499556" y="1329963"/>
            <a:chExt cx="3970160" cy="837524"/>
          </a:xfrm>
        </p:grpSpPr>
        <p:sp>
          <p:nvSpPr>
            <p:cNvPr id="9" name="Rectángulo 8">
              <a:extLst>
                <a:ext uri="{FF2B5EF4-FFF2-40B4-BE49-F238E27FC236}">
                  <a16:creationId xmlns:a16="http://schemas.microsoft.com/office/drawing/2014/main" id="{69A41B1B-9327-40FD-AE59-F7462B86F76F}"/>
                </a:ext>
              </a:extLst>
            </p:cNvPr>
            <p:cNvSpPr/>
            <p:nvPr/>
          </p:nvSpPr>
          <p:spPr bwMode="auto">
            <a:xfrm>
              <a:off x="6499556" y="1329963"/>
              <a:ext cx="3970160" cy="837524"/>
            </a:xfrm>
            <a:prstGeom prst="rect">
              <a:avLst/>
            </a:prstGeom>
            <a:solidFill>
              <a:srgbClr val="99CCFF"/>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mc:AlternateContent xmlns:mc="http://schemas.openxmlformats.org/markup-compatibility/2006" xmlns:a14="http://schemas.microsoft.com/office/drawing/2010/main">
          <mc:Choice Requires="a14">
            <p:graphicFrame>
              <p:nvGraphicFramePr>
                <p:cNvPr id="91" name="Object 86">
                  <a:extLst>
                    <a:ext uri="{FF2B5EF4-FFF2-40B4-BE49-F238E27FC236}">
                      <a16:creationId xmlns:a16="http://schemas.microsoft.com/office/drawing/2014/main" id="{DE648353-6617-4C48-B1AF-4BFD4B4777E8}"/>
                    </a:ext>
                  </a:extLst>
                </p:cNvPr>
                <p:cNvGraphicFramePr>
                  <a:graphicFrameLocks noChangeAspect="1"/>
                </p:cNvGraphicFramePr>
                <p:nvPr>
                  <p:extLst>
                    <p:ext uri="{D42A27DB-BD31-4B8C-83A1-F6EECF244321}">
                      <p14:modId xmlns:p14="http://schemas.microsoft.com/office/powerpoint/2010/main" val="298238665"/>
                    </p:ext>
                  </p:extLst>
                </p:nvPr>
              </p:nvGraphicFramePr>
              <p:xfrm>
                <a:off x="6564875" y="1360443"/>
                <a:ext cx="2386013" cy="738187"/>
              </p:xfrm>
              <a:graphic>
                <a:graphicData uri="http://schemas.openxmlformats.org/presentationml/2006/ole">
                  <mc:AlternateContent>
                    <mc:Choice xmlns:v="urn:schemas-microsoft-com:vml" Requires="v">
                      <p:oleObj name="Ecuación" r:id="rId7" imgW="825500" imgH="254000" progId="Equation.3">
                        <p:embed/>
                      </p:oleObj>
                    </mc:Choice>
                    <mc:Fallback>
                      <p:oleObj name="Ecuación" r:id="rId7" imgW="825500" imgH="254000" progId="Equation.3">
                        <p:embed/>
                        <p:pic>
                          <p:nvPicPr>
                            <p:cNvPr id="24" name="Object 86"/>
                            <p:cNvPicPr>
                              <a:picLocks noChangeAspect="1" noChangeArrowheads="1"/>
                            </p:cNvPicPr>
                            <p:nvPr/>
                          </p:nvPicPr>
                          <p:blipFill>
                            <a:blip r:embed="rId8">
                              <a:extLst>
                                <a:ext uri="{28A0092B-C50C-407E-A947-70E740481C1C}">
                                  <a14:useLocalDpi val="0"/>
                                </a:ext>
                              </a:extLst>
                            </a:blip>
                            <a:srcRect/>
                            <a:stretch>
                              <a:fillRect/>
                            </a:stretch>
                          </p:blipFill>
                          <p:spPr bwMode="auto">
                            <a:xfrm>
                              <a:off x="6564875" y="1360443"/>
                              <a:ext cx="2386013" cy="738187"/>
                            </a:xfrm>
                            <a:prstGeom prst="rect">
                              <a:avLst/>
                            </a:prstGeom>
                            <a:noFill/>
                            <a:ln>
                              <a:noFill/>
                            </a:ln>
                          </p:spPr>
                        </p:pic>
                      </p:oleObj>
                    </mc:Fallback>
                  </mc:AlternateContent>
                </a:graphicData>
              </a:graphic>
            </p:graphicFrame>
          </mc:Choice>
          <mc:Fallback xmlns="">
            <p:graphicFrame>
              <p:nvGraphicFramePr>
                <p:cNvPr id="91" name="Object 86">
                  <a:extLst>
                    <a:ext uri="{FF2B5EF4-FFF2-40B4-BE49-F238E27FC236}">
                      <a16:creationId xmlns:a16="http://schemas.microsoft.com/office/drawing/2014/main" id="{DE648353-6617-4C48-B1AF-4BFD4B4777E8}"/>
                    </a:ext>
                  </a:extLst>
                </p:cNvPr>
                <p:cNvGraphicFramePr>
                  <a:graphicFrameLocks noChangeAspect="1"/>
                </p:cNvGraphicFramePr>
                <p:nvPr>
                  <p:extLst>
                    <p:ext uri="{D42A27DB-BD31-4B8C-83A1-F6EECF244321}">
                      <p14:modId xmlns:p14="http://schemas.microsoft.com/office/powerpoint/2010/main" val="298238665"/>
                    </p:ext>
                  </p:extLst>
                </p:nvPr>
              </p:nvGraphicFramePr>
              <p:xfrm>
                <a:off x="6564875" y="1360443"/>
                <a:ext cx="2386013" cy="738187"/>
              </p:xfrm>
              <a:graphic>
                <a:graphicData uri="http://schemas.openxmlformats.org/presentationml/2006/ole">
                  <mc:AlternateContent>
                    <mc:Choice xmlns:v="urn:schemas-microsoft-com:vml" Requires="v">
                      <p:oleObj spid="_x0000_s58495" name="Ecuación" r:id="rId10" imgW="825500" imgH="254000" progId="Equation.3">
                        <p:embed/>
                      </p:oleObj>
                    </mc:Choice>
                    <mc:Fallback>
                      <p:oleObj name="Ecuación" r:id="rId10" imgW="825500" imgH="254000" progId="Equation.3">
                        <p:embed/>
                        <p:pic>
                          <p:nvPicPr>
                            <p:cNvPr id="24" name="Object 8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64875" y="1360443"/>
                              <a:ext cx="2386013" cy="738187"/>
                            </a:xfrm>
                            <a:prstGeom prst="rect">
                              <a:avLst/>
                            </a:prstGeom>
                            <a:noFill/>
                            <a:ln>
                              <a:noFill/>
                            </a:ln>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96" name="Object 77">
                  <a:extLst>
                    <a:ext uri="{FF2B5EF4-FFF2-40B4-BE49-F238E27FC236}">
                      <a16:creationId xmlns:a16="http://schemas.microsoft.com/office/drawing/2014/main" id="{AACBEC18-E3EA-47D2-A756-E14D01FE4165}"/>
                    </a:ext>
                  </a:extLst>
                </p:cNvPr>
                <p:cNvSpPr txBox="1"/>
                <p:nvPr/>
              </p:nvSpPr>
              <p:spPr bwMode="auto">
                <a:xfrm>
                  <a:off x="8843520" y="1443028"/>
                  <a:ext cx="1465263" cy="5572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s-ES" sz="3200" i="0" smtClean="0">
                            <a:solidFill>
                              <a:srgbClr val="000000"/>
                            </a:solidFill>
                            <a:latin typeface="Cambria Math" panose="02040503050406030204" pitchFamily="18" charset="0"/>
                          </a:rPr>
                          <m:t>=−</m:t>
                        </m:r>
                        <m:r>
                          <m:rPr>
                            <m:sty m:val="p"/>
                          </m:rPr>
                          <a:rPr lang="es-ES" sz="3200" i="0" smtClean="0">
                            <a:solidFill>
                              <a:srgbClr val="000000"/>
                            </a:solidFill>
                            <a:latin typeface="Cambria Math" panose="02040503050406030204" pitchFamily="18" charset="0"/>
                          </a:rPr>
                          <m:t>∇</m:t>
                        </m:r>
                        <m:sSub>
                          <m:sSubPr>
                            <m:ctrlPr>
                              <a:rPr lang="es-ES" sz="3200" i="1" smtClean="0">
                                <a:solidFill>
                                  <a:srgbClr val="000000"/>
                                </a:solidFill>
                                <a:latin typeface="Cambria Math" panose="02040503050406030204" pitchFamily="18" charset="0"/>
                              </a:rPr>
                            </m:ctrlPr>
                          </m:sSubPr>
                          <m:e>
                            <m:r>
                              <m:rPr>
                                <m:sty m:val="p"/>
                              </m:rPr>
                              <a:rPr lang="es-ES" sz="3200" b="0" i="0" smtClean="0">
                                <a:solidFill>
                                  <a:srgbClr val="000000"/>
                                </a:solidFill>
                                <a:latin typeface="Cambria Math" panose="02040503050406030204" pitchFamily="18" charset="0"/>
                              </a:rPr>
                              <m:t>E</m:t>
                            </m:r>
                          </m:e>
                          <m:sub>
                            <m:r>
                              <m:rPr>
                                <m:sty m:val="p"/>
                              </m:rPr>
                              <a:rPr lang="es-ES" sz="3200" b="0" i="0" smtClean="0">
                                <a:solidFill>
                                  <a:srgbClr val="000000"/>
                                </a:solidFill>
                                <a:latin typeface="Cambria Math" panose="02040503050406030204" pitchFamily="18" charset="0"/>
                              </a:rPr>
                              <m:t>P</m:t>
                            </m:r>
                          </m:sub>
                        </m:sSub>
                      </m:oMath>
                    </m:oMathPara>
                  </a14:m>
                  <a:endParaRPr lang="es-ES" sz="3200" dirty="0">
                    <a:cs typeface="Arial" panose="020B0604020202020204" pitchFamily="34" charset="0"/>
                  </a:endParaRPr>
                </a:p>
              </p:txBody>
            </p:sp>
          </mc:Choice>
          <mc:Fallback xmlns="">
            <p:sp>
              <p:nvSpPr>
                <p:cNvPr id="96" name="Object 77">
                  <a:extLst>
                    <a:ext uri="{FF2B5EF4-FFF2-40B4-BE49-F238E27FC236}">
                      <a16:creationId xmlns:a16="http://schemas.microsoft.com/office/drawing/2014/main" id="{AACBEC18-E3EA-47D2-A756-E14D01FE4165}"/>
                    </a:ext>
                  </a:extLst>
                </p:cNvPr>
                <p:cNvSpPr txBox="1">
                  <a:spLocks noRot="1" noChangeAspect="1" noMove="1" noResize="1" noEditPoints="1" noAdjustHandles="1" noChangeArrowheads="1" noChangeShapeType="1" noTextEdit="1"/>
                </p:cNvSpPr>
                <p:nvPr/>
              </p:nvSpPr>
              <p:spPr bwMode="auto">
                <a:xfrm>
                  <a:off x="8843520" y="1443028"/>
                  <a:ext cx="1465263" cy="557213"/>
                </a:xfrm>
                <a:prstGeom prst="rect">
                  <a:avLst/>
                </a:prstGeom>
                <a:blipFill>
                  <a:blip r:embed="rId12"/>
                  <a:stretch>
                    <a:fillRect r="-417"/>
                  </a:stretch>
                </a:blipFill>
                <a:ln>
                  <a:noFill/>
                </a:ln>
                <a:effectLst/>
              </p:spPr>
              <p:txBody>
                <a:bodyPr/>
                <a:lstStyle/>
                <a:p>
                  <a:r>
                    <a:rPr lang="es-ES">
                      <a:noFill/>
                    </a:rPr>
                    <a:t> </a:t>
                  </a:r>
                </a:p>
              </p:txBody>
            </p:sp>
          </mc:Fallback>
        </mc:AlternateContent>
      </p:grpSp>
      <p:sp>
        <p:nvSpPr>
          <p:cNvPr id="2" name="Text Box 10">
            <a:extLst>
              <a:ext uri="{FF2B5EF4-FFF2-40B4-BE49-F238E27FC236}">
                <a16:creationId xmlns:a16="http://schemas.microsoft.com/office/drawing/2014/main" id="{D8285737-E9E2-51C8-608C-D3967735BF77}"/>
              </a:ext>
            </a:extLst>
          </p:cNvPr>
          <p:cNvSpPr txBox="1">
            <a:spLocks noChangeArrowheads="1"/>
          </p:cNvSpPr>
          <p:nvPr/>
        </p:nvSpPr>
        <p:spPr bwMode="auto">
          <a:xfrm>
            <a:off x="2898472" y="6361119"/>
            <a:ext cx="574417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sym typeface="Symbol" panose="05050102010706020507" pitchFamily="18" charset="2"/>
              </a:rPr>
              <a:t></a:t>
            </a:r>
            <a:r>
              <a:rPr lang="es-ES" sz="2400">
                <a:solidFill>
                  <a:srgbClr val="FF0000"/>
                </a:solidFill>
                <a:latin typeface="Arial" panose="020B0604020202020204" pitchFamily="34" charset="0"/>
                <a:sym typeface="Symbol" panose="05050102010706020507" pitchFamily="18" charset="2"/>
              </a:rPr>
              <a:t>: </a:t>
            </a:r>
            <a:r>
              <a:rPr lang="es-ES" sz="2400">
                <a:solidFill>
                  <a:srgbClr val="FF0000"/>
                </a:solidFill>
                <a:latin typeface="Arial" panose="020B0604020202020204" pitchFamily="34" charset="0"/>
              </a:rPr>
              <a:t>Es el operador de derivadas parciales</a:t>
            </a:r>
            <a:endParaRPr lang="es-ES" sz="2400" dirty="0">
              <a:solidFill>
                <a:srgbClr val="FF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dissolv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9672"/>
                                        </p:tgtEl>
                                        <p:attrNameLst>
                                          <p:attrName>style.visibility</p:attrName>
                                        </p:attrNameLst>
                                      </p:cBhvr>
                                      <p:to>
                                        <p:strVal val="visible"/>
                                      </p:to>
                                    </p:set>
                                    <p:animEffect transition="in" filter="wipe(left)">
                                      <p:cBhvr>
                                        <p:cTn id="21" dur="500"/>
                                        <p:tgtEl>
                                          <p:spTgt spid="69672"/>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wipe(left)">
                                      <p:cBhvr>
                                        <p:cTn id="24" dur="500"/>
                                        <p:tgtEl>
                                          <p:spTgt spid="8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2"/>
                                        </p:tgtEl>
                                        <p:attrNameLst>
                                          <p:attrName>style.visibility</p:attrName>
                                        </p:attrNameLst>
                                      </p:cBhvr>
                                      <p:to>
                                        <p:strVal val="visible"/>
                                      </p:to>
                                    </p:set>
                                    <p:animEffect transition="in" filter="wipe(left)">
                                      <p:cBhvr>
                                        <p:cTn id="29" dur="500"/>
                                        <p:tgtEl>
                                          <p:spTgt spid="9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95"/>
                                        </p:tgtEl>
                                        <p:attrNameLst>
                                          <p:attrName>style.visibility</p:attrName>
                                        </p:attrNameLst>
                                      </p:cBhvr>
                                      <p:to>
                                        <p:strVal val="visible"/>
                                      </p:to>
                                    </p:set>
                                    <p:anim calcmode="lin" valueType="num">
                                      <p:cBhvr additive="base">
                                        <p:cTn id="39" dur="500"/>
                                        <p:tgtEl>
                                          <p:spTgt spid="95"/>
                                        </p:tgtEl>
                                        <p:attrNameLst>
                                          <p:attrName>ppt_y</p:attrName>
                                        </p:attrNameLst>
                                      </p:cBhvr>
                                      <p:tavLst>
                                        <p:tav tm="0">
                                          <p:val>
                                            <p:strVal val="#ppt_y+#ppt_h*1.125000"/>
                                          </p:val>
                                        </p:tav>
                                        <p:tav tm="100000">
                                          <p:val>
                                            <p:strVal val="#ppt_y"/>
                                          </p:val>
                                        </p:tav>
                                      </p:tavLst>
                                    </p:anim>
                                    <p:animEffect transition="in" filter="wipe(up)">
                                      <p:cBhvr>
                                        <p:cTn id="40" dur="500"/>
                                        <p:tgtEl>
                                          <p:spTgt spid="9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74"/>
                                        </p:tgtEl>
                                        <p:attrNameLst>
                                          <p:attrName>style.visibility</p:attrName>
                                        </p:attrNameLst>
                                      </p:cBhvr>
                                      <p:to>
                                        <p:strVal val="visible"/>
                                      </p:to>
                                    </p:set>
                                    <p:animEffect transition="in" filter="wipe(up)">
                                      <p:cBhvr>
                                        <p:cTn id="50" dur="500"/>
                                        <p:tgtEl>
                                          <p:spTgt spid="7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up)">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4" grpId="0" animBg="1"/>
      <p:bldP spid="88" grpId="0"/>
      <p:bldP spid="31" grpId="0" animBg="1"/>
      <p:bldP spid="95" grpId="0" animBg="1"/>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B0E9B5F-675B-43DD-A33C-0E5CB17D0F28}"/>
              </a:ext>
            </a:extLst>
          </p:cNvPr>
          <p:cNvSpPr/>
          <p:nvPr/>
        </p:nvSpPr>
        <p:spPr bwMode="auto">
          <a:xfrm>
            <a:off x="1832610" y="4237330"/>
            <a:ext cx="7179310" cy="1280357"/>
          </a:xfrm>
          <a:prstGeom prst="rect">
            <a:avLst/>
          </a:prstGeom>
          <a:solidFill>
            <a:srgbClr val="FFFFFF"/>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38" name="Text Box 116">
            <a:extLst>
              <a:ext uri="{FF2B5EF4-FFF2-40B4-BE49-F238E27FC236}">
                <a16:creationId xmlns:a16="http://schemas.microsoft.com/office/drawing/2014/main" id="{AF331F40-35B1-4693-B992-9B6785B0857C}"/>
              </a:ext>
            </a:extLst>
          </p:cNvPr>
          <p:cNvSpPr txBox="1">
            <a:spLocks noChangeArrowheads="1"/>
          </p:cNvSpPr>
          <p:nvPr/>
        </p:nvSpPr>
        <p:spPr bwMode="auto">
          <a:xfrm>
            <a:off x="1983809" y="2613149"/>
            <a:ext cx="322822"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sym typeface="Symbol" panose="05050102010706020507" pitchFamily="18" charset="2"/>
              </a:rPr>
              <a:t></a:t>
            </a:r>
          </a:p>
        </p:txBody>
      </p:sp>
      <p:sp>
        <p:nvSpPr>
          <p:cNvPr id="39" name="Line 44">
            <a:extLst>
              <a:ext uri="{FF2B5EF4-FFF2-40B4-BE49-F238E27FC236}">
                <a16:creationId xmlns:a16="http://schemas.microsoft.com/office/drawing/2014/main" id="{C209F035-4979-4B80-90D6-FD6A7F616461}"/>
              </a:ext>
            </a:extLst>
          </p:cNvPr>
          <p:cNvSpPr>
            <a:spLocks noChangeShapeType="1"/>
          </p:cNvSpPr>
          <p:nvPr/>
        </p:nvSpPr>
        <p:spPr bwMode="auto">
          <a:xfrm flipH="1">
            <a:off x="3952193" y="1260240"/>
            <a:ext cx="0" cy="1980000"/>
          </a:xfrm>
          <a:prstGeom prst="line">
            <a:avLst/>
          </a:prstGeom>
          <a:noFill/>
          <a:ln w="25400">
            <a:solidFill>
              <a:srgbClr val="008000"/>
            </a:solidFill>
            <a:prstDash val="dash"/>
            <a:round/>
            <a:headEnd/>
            <a:tailEnd/>
          </a:ln>
          <a:extLst>
            <a:ext uri="{909E8E84-426E-40DD-AFC4-6F175D3DCCD1}">
              <a14:hiddenFill xmlns:a14="http://schemas.microsoft.com/office/drawing/2010/main">
                <a:noFill/>
              </a14:hiddenFill>
            </a:ext>
          </a:extLst>
        </p:spPr>
        <p:txBody>
          <a:bodyPr lIns="90000" tIns="46800" rIns="90000" bIns="46800">
            <a:noAutofit/>
          </a:bodyPr>
          <a:lstStyle/>
          <a:p>
            <a:endParaRPr lang="en-GB" sz="2400"/>
          </a:p>
        </p:txBody>
      </p:sp>
      <p:grpSp>
        <p:nvGrpSpPr>
          <p:cNvPr id="40" name="Group 69">
            <a:extLst>
              <a:ext uri="{FF2B5EF4-FFF2-40B4-BE49-F238E27FC236}">
                <a16:creationId xmlns:a16="http://schemas.microsoft.com/office/drawing/2014/main" id="{DF5C39F0-D277-4EA2-AA2D-1C9A236BC7EA}"/>
              </a:ext>
            </a:extLst>
          </p:cNvPr>
          <p:cNvGrpSpPr>
            <a:grpSpLocks/>
          </p:cNvGrpSpPr>
          <p:nvPr/>
        </p:nvGrpSpPr>
        <p:grpSpPr bwMode="auto">
          <a:xfrm>
            <a:off x="2943736" y="2281367"/>
            <a:ext cx="1009650" cy="474663"/>
            <a:chOff x="1707" y="3761"/>
            <a:chExt cx="636" cy="299"/>
          </a:xfrm>
        </p:grpSpPr>
        <p:sp>
          <p:nvSpPr>
            <p:cNvPr id="41" name="Line 26">
              <a:extLst>
                <a:ext uri="{FF2B5EF4-FFF2-40B4-BE49-F238E27FC236}">
                  <a16:creationId xmlns:a16="http://schemas.microsoft.com/office/drawing/2014/main" id="{46C33A87-FB29-4D2C-A558-77C84C29B51E}"/>
                </a:ext>
              </a:extLst>
            </p:cNvPr>
            <p:cNvSpPr>
              <a:spLocks noChangeShapeType="1"/>
            </p:cNvSpPr>
            <p:nvPr/>
          </p:nvSpPr>
          <p:spPr bwMode="auto">
            <a:xfrm flipV="1">
              <a:off x="2343" y="3799"/>
              <a:ext cx="0" cy="219"/>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solidFill>
                  <a:srgbClr val="008000"/>
                </a:solidFill>
              </a:endParaRPr>
            </a:p>
          </p:txBody>
        </p:sp>
        <p:sp>
          <p:nvSpPr>
            <p:cNvPr id="42" name="Text Box 27">
              <a:extLst>
                <a:ext uri="{FF2B5EF4-FFF2-40B4-BE49-F238E27FC236}">
                  <a16:creationId xmlns:a16="http://schemas.microsoft.com/office/drawing/2014/main" id="{5ED0725E-49B8-4F76-8A55-3F6DDAB7E905}"/>
                </a:ext>
              </a:extLst>
            </p:cNvPr>
            <p:cNvSpPr txBox="1">
              <a:spLocks noChangeArrowheads="1"/>
            </p:cNvSpPr>
            <p:nvPr/>
          </p:nvSpPr>
          <p:spPr bwMode="auto">
            <a:xfrm>
              <a:off x="1707" y="3761"/>
              <a:ext cx="5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err="1">
                  <a:solidFill>
                    <a:srgbClr val="FF0000"/>
                  </a:solidFill>
                  <a:latin typeface="Arial" panose="020B0604020202020204" pitchFamily="34" charset="0"/>
                </a:rPr>
                <a:t>GradV</a:t>
              </a:r>
              <a:endParaRPr lang="es-ES" sz="2000" dirty="0">
                <a:solidFill>
                  <a:srgbClr val="FF0000"/>
                </a:solidFill>
                <a:latin typeface="Arial" panose="020B0604020202020204" pitchFamily="34" charset="0"/>
              </a:endParaRPr>
            </a:p>
          </p:txBody>
        </p:sp>
        <p:sp>
          <p:nvSpPr>
            <p:cNvPr id="43" name="Line 28">
              <a:extLst>
                <a:ext uri="{FF2B5EF4-FFF2-40B4-BE49-F238E27FC236}">
                  <a16:creationId xmlns:a16="http://schemas.microsoft.com/office/drawing/2014/main" id="{80A3D3BF-E509-41B5-930E-9FDC53E704C1}"/>
                </a:ext>
              </a:extLst>
            </p:cNvPr>
            <p:cNvSpPr>
              <a:spLocks noChangeShapeType="1"/>
            </p:cNvSpPr>
            <p:nvPr/>
          </p:nvSpPr>
          <p:spPr bwMode="auto">
            <a:xfrm flipV="1">
              <a:off x="1798" y="3792"/>
              <a:ext cx="370" cy="0"/>
            </a:xfrm>
            <a:prstGeom prst="line">
              <a:avLst/>
            </a:prstGeom>
            <a:noFill/>
            <a:ln w="12700">
              <a:solidFill>
                <a:srgbClr val="FF0000"/>
              </a:solidFill>
              <a:round/>
              <a:headEnd/>
              <a:tailEnd type="stealth"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solidFill>
                  <a:srgbClr val="008000"/>
                </a:solidFill>
              </a:endParaRPr>
            </a:p>
          </p:txBody>
        </p:sp>
      </p:grpSp>
      <p:grpSp>
        <p:nvGrpSpPr>
          <p:cNvPr id="44" name="Group 52">
            <a:extLst>
              <a:ext uri="{FF2B5EF4-FFF2-40B4-BE49-F238E27FC236}">
                <a16:creationId xmlns:a16="http://schemas.microsoft.com/office/drawing/2014/main" id="{5E3AF008-6E2B-4A32-998A-E26C7CDC1607}"/>
              </a:ext>
            </a:extLst>
          </p:cNvPr>
          <p:cNvGrpSpPr>
            <a:grpSpLocks/>
          </p:cNvGrpSpPr>
          <p:nvPr/>
        </p:nvGrpSpPr>
        <p:grpSpPr bwMode="auto">
          <a:xfrm>
            <a:off x="3511110" y="1552704"/>
            <a:ext cx="438150" cy="474663"/>
            <a:chOff x="3187" y="3218"/>
            <a:chExt cx="276" cy="299"/>
          </a:xfrm>
        </p:grpSpPr>
        <p:sp>
          <p:nvSpPr>
            <p:cNvPr id="45" name="Line 23">
              <a:extLst>
                <a:ext uri="{FF2B5EF4-FFF2-40B4-BE49-F238E27FC236}">
                  <a16:creationId xmlns:a16="http://schemas.microsoft.com/office/drawing/2014/main" id="{ECD8BE54-F592-4B5B-9D29-D7B5E114896C}"/>
                </a:ext>
              </a:extLst>
            </p:cNvPr>
            <p:cNvSpPr>
              <a:spLocks noChangeShapeType="1"/>
            </p:cNvSpPr>
            <p:nvPr/>
          </p:nvSpPr>
          <p:spPr bwMode="auto">
            <a:xfrm>
              <a:off x="3463" y="3273"/>
              <a:ext cx="0" cy="219"/>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46" name="Text Box 24">
              <a:extLst>
                <a:ext uri="{FF2B5EF4-FFF2-40B4-BE49-F238E27FC236}">
                  <a16:creationId xmlns:a16="http://schemas.microsoft.com/office/drawing/2014/main" id="{489EBAF9-D248-4884-BE0E-A769B0114FD9}"/>
                </a:ext>
              </a:extLst>
            </p:cNvPr>
            <p:cNvSpPr txBox="1">
              <a:spLocks noChangeArrowheads="1"/>
            </p:cNvSpPr>
            <p:nvPr/>
          </p:nvSpPr>
          <p:spPr bwMode="auto">
            <a:xfrm>
              <a:off x="3187" y="3218"/>
              <a:ext cx="22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FF0000"/>
                  </a:solidFill>
                  <a:latin typeface="Arial" panose="020B0604020202020204" pitchFamily="34" charset="0"/>
                </a:rPr>
                <a:t>E</a:t>
              </a:r>
            </a:p>
          </p:txBody>
        </p:sp>
        <p:sp>
          <p:nvSpPr>
            <p:cNvPr id="47" name="Line 41">
              <a:extLst>
                <a:ext uri="{FF2B5EF4-FFF2-40B4-BE49-F238E27FC236}">
                  <a16:creationId xmlns:a16="http://schemas.microsoft.com/office/drawing/2014/main" id="{172E4382-68EE-4C88-96EB-17ACFFA803E8}"/>
                </a:ext>
              </a:extLst>
            </p:cNvPr>
            <p:cNvSpPr>
              <a:spLocks noChangeShapeType="1"/>
            </p:cNvSpPr>
            <p:nvPr/>
          </p:nvSpPr>
          <p:spPr bwMode="auto">
            <a:xfrm flipV="1">
              <a:off x="3247" y="3252"/>
              <a:ext cx="136" cy="0"/>
            </a:xfrm>
            <a:prstGeom prst="line">
              <a:avLst/>
            </a:prstGeom>
            <a:noFill/>
            <a:ln w="12700">
              <a:solidFill>
                <a:srgbClr val="FF0000"/>
              </a:solidFill>
              <a:round/>
              <a:headEnd/>
              <a:tailEnd type="stealth"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grpSp>
      <p:grpSp>
        <p:nvGrpSpPr>
          <p:cNvPr id="48" name="Group 119">
            <a:extLst>
              <a:ext uri="{FF2B5EF4-FFF2-40B4-BE49-F238E27FC236}">
                <a16:creationId xmlns:a16="http://schemas.microsoft.com/office/drawing/2014/main" id="{5453EAE8-115E-4A86-A320-BA34E56171DE}"/>
              </a:ext>
            </a:extLst>
          </p:cNvPr>
          <p:cNvGrpSpPr>
            <a:grpSpLocks/>
          </p:cNvGrpSpPr>
          <p:nvPr/>
        </p:nvGrpSpPr>
        <p:grpSpPr bwMode="auto">
          <a:xfrm>
            <a:off x="2157920" y="1174874"/>
            <a:ext cx="3956073" cy="1974850"/>
            <a:chOff x="939" y="2770"/>
            <a:chExt cx="2492" cy="1244"/>
          </a:xfrm>
        </p:grpSpPr>
        <p:sp>
          <p:nvSpPr>
            <p:cNvPr id="49" name="Line 16">
              <a:extLst>
                <a:ext uri="{FF2B5EF4-FFF2-40B4-BE49-F238E27FC236}">
                  <a16:creationId xmlns:a16="http://schemas.microsoft.com/office/drawing/2014/main" id="{CEC0A227-A9D7-4547-B99E-856B0867A18D}"/>
                </a:ext>
              </a:extLst>
            </p:cNvPr>
            <p:cNvSpPr>
              <a:spLocks noChangeShapeType="1"/>
            </p:cNvSpPr>
            <p:nvPr/>
          </p:nvSpPr>
          <p:spPr bwMode="auto">
            <a:xfrm>
              <a:off x="939" y="2940"/>
              <a:ext cx="192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50" name="Line 17">
              <a:extLst>
                <a:ext uri="{FF2B5EF4-FFF2-40B4-BE49-F238E27FC236}">
                  <a16:creationId xmlns:a16="http://schemas.microsoft.com/office/drawing/2014/main" id="{E95D1A33-6A3E-45D5-9432-C0C9FE77CE76}"/>
                </a:ext>
              </a:extLst>
            </p:cNvPr>
            <p:cNvSpPr>
              <a:spLocks noChangeShapeType="1"/>
            </p:cNvSpPr>
            <p:nvPr/>
          </p:nvSpPr>
          <p:spPr bwMode="auto">
            <a:xfrm>
              <a:off x="950" y="3391"/>
              <a:ext cx="192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51" name="Line 18">
              <a:extLst>
                <a:ext uri="{FF2B5EF4-FFF2-40B4-BE49-F238E27FC236}">
                  <a16:creationId xmlns:a16="http://schemas.microsoft.com/office/drawing/2014/main" id="{1AC0FB2C-D0FE-4448-85F5-FAA6F9A8F7E3}"/>
                </a:ext>
              </a:extLst>
            </p:cNvPr>
            <p:cNvSpPr>
              <a:spLocks noChangeShapeType="1"/>
            </p:cNvSpPr>
            <p:nvPr/>
          </p:nvSpPr>
          <p:spPr bwMode="auto">
            <a:xfrm>
              <a:off x="942" y="3842"/>
              <a:ext cx="192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52" name="Text Box 20">
              <a:extLst>
                <a:ext uri="{FF2B5EF4-FFF2-40B4-BE49-F238E27FC236}">
                  <a16:creationId xmlns:a16="http://schemas.microsoft.com/office/drawing/2014/main" id="{F9852686-455C-463F-80BB-2C66E1B2A887}"/>
                </a:ext>
              </a:extLst>
            </p:cNvPr>
            <p:cNvSpPr txBox="1">
              <a:spLocks noChangeArrowheads="1"/>
            </p:cNvSpPr>
            <p:nvPr/>
          </p:nvSpPr>
          <p:spPr bwMode="auto">
            <a:xfrm>
              <a:off x="2918" y="2770"/>
              <a:ext cx="513"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20 V</a:t>
              </a:r>
            </a:p>
          </p:txBody>
        </p:sp>
        <p:sp>
          <p:nvSpPr>
            <p:cNvPr id="53" name="Text Box 21">
              <a:extLst>
                <a:ext uri="{FF2B5EF4-FFF2-40B4-BE49-F238E27FC236}">
                  <a16:creationId xmlns:a16="http://schemas.microsoft.com/office/drawing/2014/main" id="{4CBC8394-B430-473F-BD24-171EB82A62B6}"/>
                </a:ext>
              </a:extLst>
            </p:cNvPr>
            <p:cNvSpPr txBox="1">
              <a:spLocks noChangeArrowheads="1"/>
            </p:cNvSpPr>
            <p:nvPr/>
          </p:nvSpPr>
          <p:spPr bwMode="auto">
            <a:xfrm>
              <a:off x="2917" y="3225"/>
              <a:ext cx="513"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10 V</a:t>
              </a:r>
            </a:p>
          </p:txBody>
        </p:sp>
        <p:sp>
          <p:nvSpPr>
            <p:cNvPr id="54" name="Text Box 22">
              <a:extLst>
                <a:ext uri="{FF2B5EF4-FFF2-40B4-BE49-F238E27FC236}">
                  <a16:creationId xmlns:a16="http://schemas.microsoft.com/office/drawing/2014/main" id="{6D46B2DA-4F51-414C-A2D2-9CE9D28E96AE}"/>
                </a:ext>
              </a:extLst>
            </p:cNvPr>
            <p:cNvSpPr txBox="1">
              <a:spLocks noChangeArrowheads="1"/>
            </p:cNvSpPr>
            <p:nvPr/>
          </p:nvSpPr>
          <p:spPr bwMode="auto">
            <a:xfrm>
              <a:off x="2997" y="3676"/>
              <a:ext cx="405"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0 V</a:t>
              </a:r>
            </a:p>
          </p:txBody>
        </p:sp>
        <p:sp>
          <p:nvSpPr>
            <p:cNvPr id="55" name="Text Box 42">
              <a:extLst>
                <a:ext uri="{FF2B5EF4-FFF2-40B4-BE49-F238E27FC236}">
                  <a16:creationId xmlns:a16="http://schemas.microsoft.com/office/drawing/2014/main" id="{F2660634-7C38-4A94-8EB1-DCFE8AF0DCF9}"/>
                </a:ext>
              </a:extLst>
            </p:cNvPr>
            <p:cNvSpPr txBox="1">
              <a:spLocks noChangeArrowheads="1"/>
            </p:cNvSpPr>
            <p:nvPr/>
          </p:nvSpPr>
          <p:spPr bwMode="auto">
            <a:xfrm>
              <a:off x="2391" y="2999"/>
              <a:ext cx="43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1 m</a:t>
              </a:r>
            </a:p>
          </p:txBody>
        </p:sp>
        <p:sp>
          <p:nvSpPr>
            <p:cNvPr id="56" name="Text Box 43">
              <a:extLst>
                <a:ext uri="{FF2B5EF4-FFF2-40B4-BE49-F238E27FC236}">
                  <a16:creationId xmlns:a16="http://schemas.microsoft.com/office/drawing/2014/main" id="{4ECC594E-91AC-42D4-980F-60034D00358C}"/>
                </a:ext>
              </a:extLst>
            </p:cNvPr>
            <p:cNvSpPr txBox="1">
              <a:spLocks noChangeArrowheads="1"/>
            </p:cNvSpPr>
            <p:nvPr/>
          </p:nvSpPr>
          <p:spPr bwMode="auto">
            <a:xfrm>
              <a:off x="2403" y="3462"/>
              <a:ext cx="43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1 m</a:t>
              </a:r>
            </a:p>
          </p:txBody>
        </p:sp>
      </p:grpSp>
      <p:grpSp>
        <p:nvGrpSpPr>
          <p:cNvPr id="57" name="Group 118">
            <a:extLst>
              <a:ext uri="{FF2B5EF4-FFF2-40B4-BE49-F238E27FC236}">
                <a16:creationId xmlns:a16="http://schemas.microsoft.com/office/drawing/2014/main" id="{EDB21107-2141-4194-9D1B-91D55B37CE5D}"/>
              </a:ext>
            </a:extLst>
          </p:cNvPr>
          <p:cNvGrpSpPr>
            <a:grpSpLocks/>
          </p:cNvGrpSpPr>
          <p:nvPr/>
        </p:nvGrpSpPr>
        <p:grpSpPr bwMode="auto">
          <a:xfrm>
            <a:off x="1677702" y="1011185"/>
            <a:ext cx="2060575" cy="2328863"/>
            <a:chOff x="748" y="2563"/>
            <a:chExt cx="1298" cy="1467"/>
          </a:xfrm>
        </p:grpSpPr>
        <p:sp>
          <p:nvSpPr>
            <p:cNvPr id="58" name="Line 99">
              <a:extLst>
                <a:ext uri="{FF2B5EF4-FFF2-40B4-BE49-F238E27FC236}">
                  <a16:creationId xmlns:a16="http://schemas.microsoft.com/office/drawing/2014/main" id="{9250EA58-D59B-4F7B-B436-F9BD6C7F9C6E}"/>
                </a:ext>
              </a:extLst>
            </p:cNvPr>
            <p:cNvSpPr>
              <a:spLocks noChangeShapeType="1"/>
            </p:cNvSpPr>
            <p:nvPr/>
          </p:nvSpPr>
          <p:spPr bwMode="auto">
            <a:xfrm rot="5400000" flipV="1">
              <a:off x="1556" y="3248"/>
              <a:ext cx="0" cy="98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lIns="90000" tIns="46800" rIns="90000" bIns="46800">
              <a:noAutofit/>
            </a:bodyPr>
            <a:lstStyle/>
            <a:p>
              <a:endParaRPr lang="en-GB" sz="2400"/>
            </a:p>
          </p:txBody>
        </p:sp>
        <p:sp>
          <p:nvSpPr>
            <p:cNvPr id="59" name="Line 96">
              <a:extLst>
                <a:ext uri="{FF2B5EF4-FFF2-40B4-BE49-F238E27FC236}">
                  <a16:creationId xmlns:a16="http://schemas.microsoft.com/office/drawing/2014/main" id="{BA51988F-38C8-4AF9-8B7A-CAD1EE265676}"/>
                </a:ext>
              </a:extLst>
            </p:cNvPr>
            <p:cNvSpPr>
              <a:spLocks noChangeShapeType="1"/>
            </p:cNvSpPr>
            <p:nvPr/>
          </p:nvSpPr>
          <p:spPr bwMode="auto">
            <a:xfrm flipV="1">
              <a:off x="1044" y="2701"/>
              <a:ext cx="0" cy="1186"/>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lIns="90000" tIns="46800" rIns="90000" bIns="46800">
              <a:spAutoFit/>
            </a:bodyPr>
            <a:lstStyle/>
            <a:p>
              <a:endParaRPr lang="en-GB" sz="2400"/>
            </a:p>
          </p:txBody>
        </p:sp>
        <p:sp>
          <p:nvSpPr>
            <p:cNvPr id="60" name="Text Box 97">
              <a:extLst>
                <a:ext uri="{FF2B5EF4-FFF2-40B4-BE49-F238E27FC236}">
                  <a16:creationId xmlns:a16="http://schemas.microsoft.com/office/drawing/2014/main" id="{233EA096-26E1-4552-A209-62B938F92FF6}"/>
                </a:ext>
              </a:extLst>
            </p:cNvPr>
            <p:cNvSpPr txBox="1">
              <a:spLocks noChangeArrowheads="1"/>
            </p:cNvSpPr>
            <p:nvPr/>
          </p:nvSpPr>
          <p:spPr bwMode="auto">
            <a:xfrm>
              <a:off x="748" y="2563"/>
              <a:ext cx="233"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Z</a:t>
              </a:r>
            </a:p>
          </p:txBody>
        </p:sp>
        <p:sp>
          <p:nvSpPr>
            <p:cNvPr id="61" name="Text Box 100">
              <a:extLst>
                <a:ext uri="{FF2B5EF4-FFF2-40B4-BE49-F238E27FC236}">
                  <a16:creationId xmlns:a16="http://schemas.microsoft.com/office/drawing/2014/main" id="{78C18C0F-33BD-4445-8A79-E9E8F70DF653}"/>
                </a:ext>
              </a:extLst>
            </p:cNvPr>
            <p:cNvSpPr txBox="1">
              <a:spLocks noChangeArrowheads="1"/>
            </p:cNvSpPr>
            <p:nvPr/>
          </p:nvSpPr>
          <p:spPr bwMode="auto">
            <a:xfrm>
              <a:off x="810" y="3718"/>
              <a:ext cx="24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X</a:t>
              </a:r>
            </a:p>
          </p:txBody>
        </p:sp>
        <p:sp>
          <p:nvSpPr>
            <p:cNvPr id="62" name="Text Box 102">
              <a:extLst>
                <a:ext uri="{FF2B5EF4-FFF2-40B4-BE49-F238E27FC236}">
                  <a16:creationId xmlns:a16="http://schemas.microsoft.com/office/drawing/2014/main" id="{BD27E6EB-FACF-4552-A36F-ED4A6B7619EF}"/>
                </a:ext>
              </a:extLst>
            </p:cNvPr>
            <p:cNvSpPr txBox="1">
              <a:spLocks noChangeArrowheads="1"/>
            </p:cNvSpPr>
            <p:nvPr/>
          </p:nvSpPr>
          <p:spPr bwMode="auto">
            <a:xfrm>
              <a:off x="1739" y="3738"/>
              <a:ext cx="24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Y</a:t>
              </a:r>
            </a:p>
          </p:txBody>
        </p:sp>
      </p:grpSp>
      <p:sp>
        <p:nvSpPr>
          <p:cNvPr id="63" name="Text Box 98">
            <a:extLst>
              <a:ext uri="{FF2B5EF4-FFF2-40B4-BE49-F238E27FC236}">
                <a16:creationId xmlns:a16="http://schemas.microsoft.com/office/drawing/2014/main" id="{F2B31EFA-894E-4B85-B789-B90BE32CC3C4}"/>
              </a:ext>
            </a:extLst>
          </p:cNvPr>
          <p:cNvSpPr txBox="1">
            <a:spLocks noChangeArrowheads="1"/>
          </p:cNvSpPr>
          <p:nvPr/>
        </p:nvSpPr>
        <p:spPr bwMode="auto">
          <a:xfrm>
            <a:off x="2706386" y="3360369"/>
            <a:ext cx="2436722" cy="71006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000" dirty="0">
                <a:solidFill>
                  <a:srgbClr val="008000"/>
                </a:solidFill>
                <a:latin typeface="Arial" panose="020B0604020202020204" pitchFamily="34" charset="0"/>
              </a:rPr>
              <a:t>Dirección de máxima variación</a:t>
            </a:r>
          </a:p>
        </p:txBody>
      </p:sp>
      <p:sp>
        <p:nvSpPr>
          <p:cNvPr id="64" name="Text Box 100">
            <a:extLst>
              <a:ext uri="{FF2B5EF4-FFF2-40B4-BE49-F238E27FC236}">
                <a16:creationId xmlns:a16="http://schemas.microsoft.com/office/drawing/2014/main" id="{567213B4-621E-473B-8864-DD967B94E1AF}"/>
              </a:ext>
            </a:extLst>
          </p:cNvPr>
          <p:cNvSpPr txBox="1">
            <a:spLocks noChangeArrowheads="1"/>
          </p:cNvSpPr>
          <p:nvPr/>
        </p:nvSpPr>
        <p:spPr bwMode="auto">
          <a:xfrm>
            <a:off x="6937381" y="2639519"/>
            <a:ext cx="2193527" cy="101784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a:t>
            </a:r>
            <a:r>
              <a:rPr lang="es-ES" sz="2400" b="1" dirty="0">
                <a:solidFill>
                  <a:srgbClr val="FF0000"/>
                </a:solidFill>
                <a:latin typeface="Arial" panose="020B0604020202020204" pitchFamily="34" charset="0"/>
              </a:rPr>
              <a:t>E</a:t>
            </a:r>
            <a:r>
              <a:rPr lang="es-ES" sz="2400" dirty="0">
                <a:solidFill>
                  <a:srgbClr val="FF0000"/>
                </a:solidFill>
                <a:latin typeface="Arial" panose="020B0604020202020204" pitchFamily="34" charset="0"/>
              </a:rPr>
              <a:t>| = |</a:t>
            </a:r>
            <a:r>
              <a:rPr lang="es-ES" sz="2400" b="1" dirty="0" err="1">
                <a:solidFill>
                  <a:srgbClr val="FF0000"/>
                </a:solidFill>
                <a:latin typeface="Arial" panose="020B0604020202020204" pitchFamily="34" charset="0"/>
              </a:rPr>
              <a:t>grad</a:t>
            </a:r>
            <a:r>
              <a:rPr lang="es-ES" sz="2400" dirty="0" err="1">
                <a:solidFill>
                  <a:srgbClr val="FF0000"/>
                </a:solidFill>
                <a:latin typeface="Arial" panose="020B0604020202020204" pitchFamily="34" charset="0"/>
              </a:rPr>
              <a:t>V</a:t>
            </a:r>
            <a:r>
              <a:rPr lang="es-ES" sz="2400" dirty="0">
                <a:solidFill>
                  <a:srgbClr val="FF0000"/>
                </a:solidFill>
                <a:latin typeface="Arial" panose="020B0604020202020204" pitchFamily="34" charset="0"/>
              </a:rPr>
              <a:t>| =</a:t>
            </a:r>
          </a:p>
          <a:p>
            <a:pPr eaLnBrk="1" hangingPunct="1">
              <a:spcBef>
                <a:spcPct val="50000"/>
              </a:spcBef>
              <a:buFontTx/>
              <a:buNone/>
            </a:pPr>
            <a:r>
              <a:rPr lang="es-ES" sz="2400">
                <a:solidFill>
                  <a:srgbClr val="FF0000"/>
                </a:solidFill>
                <a:latin typeface="Arial" panose="020B0604020202020204" pitchFamily="34" charset="0"/>
              </a:rPr>
              <a:t>      = </a:t>
            </a:r>
            <a:r>
              <a:rPr lang="es-ES" sz="2400" dirty="0">
                <a:solidFill>
                  <a:srgbClr val="FF0000"/>
                </a:solidFill>
                <a:latin typeface="Arial" panose="020B0604020202020204" pitchFamily="34" charset="0"/>
              </a:rPr>
              <a:t>10 V/m</a:t>
            </a:r>
          </a:p>
        </p:txBody>
      </p:sp>
      <p:grpSp>
        <p:nvGrpSpPr>
          <p:cNvPr id="65" name="Group 102">
            <a:extLst>
              <a:ext uri="{FF2B5EF4-FFF2-40B4-BE49-F238E27FC236}">
                <a16:creationId xmlns:a16="http://schemas.microsoft.com/office/drawing/2014/main" id="{6E2C4A49-EB1D-45E2-8AD5-5686D417BDD1}"/>
              </a:ext>
            </a:extLst>
          </p:cNvPr>
          <p:cNvGrpSpPr>
            <a:grpSpLocks/>
          </p:cNvGrpSpPr>
          <p:nvPr/>
        </p:nvGrpSpPr>
        <p:grpSpPr bwMode="auto">
          <a:xfrm>
            <a:off x="6236392" y="1284829"/>
            <a:ext cx="1785939" cy="1692276"/>
            <a:chOff x="3441" y="3028"/>
            <a:chExt cx="1125" cy="1066"/>
          </a:xfrm>
        </p:grpSpPr>
        <p:graphicFrame>
          <p:nvGraphicFramePr>
            <p:cNvPr id="66" name="Object 116">
              <a:extLst>
                <a:ext uri="{FF2B5EF4-FFF2-40B4-BE49-F238E27FC236}">
                  <a16:creationId xmlns:a16="http://schemas.microsoft.com/office/drawing/2014/main" id="{7DB72C96-F338-44D8-AE7E-F11439767C85}"/>
                </a:ext>
              </a:extLst>
            </p:cNvPr>
            <p:cNvGraphicFramePr>
              <a:graphicFrameLocks noChangeAspect="1"/>
            </p:cNvGraphicFramePr>
            <p:nvPr/>
          </p:nvGraphicFramePr>
          <p:xfrm>
            <a:off x="3739" y="3430"/>
            <a:ext cx="827" cy="301"/>
          </p:xfrm>
          <a:graphic>
            <a:graphicData uri="http://schemas.openxmlformats.org/presentationml/2006/ole">
              <mc:AlternateContent xmlns:mc="http://schemas.openxmlformats.org/markup-compatibility/2006">
                <mc:Choice xmlns:v="urn:schemas-microsoft-com:vml" Requires="v">
                  <p:oleObj name="Ecuación" r:id="rId3" imgW="558558" imgH="203112" progId="Equation.3">
                    <p:embed/>
                  </p:oleObj>
                </mc:Choice>
                <mc:Fallback>
                  <p:oleObj name="Ecuación" r:id="rId3" imgW="558558" imgH="203112" progId="Equation.3">
                    <p:embed/>
                    <p:pic>
                      <p:nvPicPr>
                        <p:cNvPr id="66" name="Object 116">
                          <a:extLst>
                            <a:ext uri="{FF2B5EF4-FFF2-40B4-BE49-F238E27FC236}">
                              <a16:creationId xmlns:a16="http://schemas.microsoft.com/office/drawing/2014/main" id="{7DB72C96-F338-44D8-AE7E-F11439767C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9" y="3430"/>
                          <a:ext cx="827" cy="301"/>
                        </a:xfrm>
                        <a:prstGeom prst="rect">
                          <a:avLst/>
                        </a:prstGeom>
                        <a:solidFill>
                          <a:srgbClr val="FFFFFF"/>
                        </a:solidFill>
                        <a:ln>
                          <a:noFill/>
                        </a:ln>
                        <a:effectLst/>
                      </p:spPr>
                    </p:pic>
                  </p:oleObj>
                </mc:Fallback>
              </mc:AlternateContent>
            </a:graphicData>
          </a:graphic>
        </p:graphicFrame>
        <p:sp>
          <p:nvSpPr>
            <p:cNvPr id="67" name="AutoShape 101">
              <a:extLst>
                <a:ext uri="{FF2B5EF4-FFF2-40B4-BE49-F238E27FC236}">
                  <a16:creationId xmlns:a16="http://schemas.microsoft.com/office/drawing/2014/main" id="{82D6A98E-7E24-4415-80B3-A8F57888EEDF}"/>
                </a:ext>
              </a:extLst>
            </p:cNvPr>
            <p:cNvSpPr>
              <a:spLocks/>
            </p:cNvSpPr>
            <p:nvPr/>
          </p:nvSpPr>
          <p:spPr bwMode="auto">
            <a:xfrm>
              <a:off x="3441" y="3028"/>
              <a:ext cx="197" cy="1066"/>
            </a:xfrm>
            <a:prstGeom prst="rightBrace">
              <a:avLst>
                <a:gd name="adj1" fmla="val 81116"/>
                <a:gd name="adj2" fmla="val 49606"/>
              </a:avLst>
            </a:prstGeom>
            <a:noFill/>
            <a:ln w="25400">
              <a:solidFill>
                <a:srgbClr val="008000"/>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sp>
        <p:nvSpPr>
          <p:cNvPr id="68" name="CuadroTexto 67">
            <a:extLst>
              <a:ext uri="{FF2B5EF4-FFF2-40B4-BE49-F238E27FC236}">
                <a16:creationId xmlns:a16="http://schemas.microsoft.com/office/drawing/2014/main" id="{DECAD6B3-3948-4711-96EB-3CD812DEB58D}"/>
              </a:ext>
            </a:extLst>
          </p:cNvPr>
          <p:cNvSpPr txBox="1">
            <a:spLocks noChangeArrowheads="1"/>
          </p:cNvSpPr>
          <p:nvPr/>
        </p:nvSpPr>
        <p:spPr bwMode="auto">
          <a:xfrm>
            <a:off x="9387897" y="4669338"/>
            <a:ext cx="662361" cy="46166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t>Ok!</a:t>
            </a:r>
          </a:p>
        </p:txBody>
      </p:sp>
      <p:sp>
        <p:nvSpPr>
          <p:cNvPr id="71" name="Text Box 116">
            <a:extLst>
              <a:ext uri="{FF2B5EF4-FFF2-40B4-BE49-F238E27FC236}">
                <a16:creationId xmlns:a16="http://schemas.microsoft.com/office/drawing/2014/main" id="{AAC74152-00AB-4BDC-A5AD-378F11736E53}"/>
              </a:ext>
            </a:extLst>
          </p:cNvPr>
          <p:cNvSpPr txBox="1">
            <a:spLocks noChangeArrowheads="1"/>
          </p:cNvSpPr>
          <p:nvPr/>
        </p:nvSpPr>
        <p:spPr bwMode="auto">
          <a:xfrm>
            <a:off x="3412352" y="487977"/>
            <a:ext cx="4700990" cy="463846"/>
          </a:xfrm>
          <a:prstGeom prst="rect">
            <a:avLst/>
          </a:prstGeom>
          <a:solidFill>
            <a:schemeClr val="bg2">
              <a:lumMod val="60000"/>
              <a:lumOff val="40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Veamos la situación más simple</a:t>
            </a:r>
          </a:p>
        </p:txBody>
      </p:sp>
      <mc:AlternateContent xmlns:mc="http://schemas.openxmlformats.org/markup-compatibility/2006" xmlns:a14="http://schemas.microsoft.com/office/drawing/2010/main">
        <mc:Choice Requires="a14">
          <p:sp>
            <p:nvSpPr>
              <p:cNvPr id="69" name="Object 120">
                <a:extLst>
                  <a:ext uri="{FF2B5EF4-FFF2-40B4-BE49-F238E27FC236}">
                    <a16:creationId xmlns:a16="http://schemas.microsoft.com/office/drawing/2014/main" id="{50FAFDC7-F56F-4983-849B-1E17E6DAAFAC}"/>
                  </a:ext>
                </a:extLst>
              </p:cNvPr>
              <p:cNvSpPr txBox="1"/>
              <p:nvPr/>
            </p:nvSpPr>
            <p:spPr bwMode="auto">
              <a:xfrm>
                <a:off x="3690495" y="4540544"/>
                <a:ext cx="3767074" cy="780214"/>
              </a:xfrm>
              <a:prstGeom prst="rect">
                <a:avLst/>
              </a:prstGeom>
              <a:noFill/>
              <a:ln>
                <a:noFill/>
              </a:ln>
              <a:effectLst/>
            </p:spPr>
            <p:txBody>
              <a:bodyPr wrap="square">
                <a:spAutoFit/>
              </a:bodyPr>
              <a:lstStyle/>
              <a:p>
                <a14:m>
                  <m:oMath xmlns:m="http://schemas.openxmlformats.org/officeDocument/2006/math">
                    <m:r>
                      <a:rPr lang="es-ES" sz="2800" b="0" i="1" smtClean="0">
                        <a:solidFill>
                          <a:srgbClr val="000000"/>
                        </a:solidFill>
                        <a:latin typeface="Cambria Math" panose="02040503050406030204" pitchFamily="18" charset="0"/>
                        <a:ea typeface="Cambria Math" panose="02040503050406030204" pitchFamily="18" charset="0"/>
                      </a:rPr>
                      <m:t>=</m:t>
                    </m:r>
                  </m:oMath>
                </a14:m>
                <a:r>
                  <a:rPr lang="es-ES" sz="2800" dirty="0"/>
                  <a:t> </a:t>
                </a:r>
                <a14:m>
                  <m:oMath xmlns:m="http://schemas.openxmlformats.org/officeDocument/2006/math">
                    <m:r>
                      <a:rPr lang="es-ES" sz="2800">
                        <a:latin typeface="Cambria Math" panose="02040503050406030204" pitchFamily="18" charset="0"/>
                      </a:rPr>
                      <m:t>−</m:t>
                    </m:r>
                    <m:d>
                      <m:dPr>
                        <m:ctrlPr>
                          <a:rPr lang="es-ES" sz="2800" i="1" smtClean="0">
                            <a:latin typeface="Cambria Math" panose="02040503050406030204" pitchFamily="18" charset="0"/>
                          </a:rPr>
                        </m:ctrlPr>
                      </m:dPr>
                      <m:e>
                        <m:f>
                          <m:fPr>
                            <m:ctrlPr>
                              <a:rPr lang="es-ES" sz="2800" i="1" smtClean="0">
                                <a:latin typeface="Cambria Math" panose="02040503050406030204" pitchFamily="18" charset="0"/>
                              </a:rPr>
                            </m:ctrlPr>
                          </m:fPr>
                          <m:num>
                            <m:r>
                              <a:rPr lang="es-ES" sz="2800" i="1">
                                <a:latin typeface="Cambria Math" panose="02040503050406030204" pitchFamily="18" charset="0"/>
                                <a:ea typeface="Cambria Math" panose="02040503050406030204" pitchFamily="18" charset="0"/>
                              </a:rPr>
                              <m:t>𝜕</m:t>
                            </m:r>
                            <m:r>
                              <m:rPr>
                                <m:sty m:val="p"/>
                              </m:rPr>
                              <a:rPr lang="es-ES" sz="2800">
                                <a:latin typeface="Cambria Math" panose="02040503050406030204" pitchFamily="18" charset="0"/>
                              </a:rPr>
                              <m:t>V</m:t>
                            </m:r>
                          </m:num>
                          <m:den>
                            <m:r>
                              <a:rPr lang="es-ES" sz="2800" i="1">
                                <a:latin typeface="Cambria Math" panose="02040503050406030204" pitchFamily="18" charset="0"/>
                                <a:ea typeface="Cambria Math" panose="02040503050406030204" pitchFamily="18" charset="0"/>
                              </a:rPr>
                              <m:t>𝜕</m:t>
                            </m:r>
                            <m:r>
                              <m:rPr>
                                <m:sty m:val="p"/>
                              </m:rPr>
                              <a:rPr lang="es-ES" sz="2800" b="0" i="0" smtClean="0">
                                <a:latin typeface="Cambria Math" panose="02040503050406030204" pitchFamily="18" charset="0"/>
                              </a:rPr>
                              <m:t>x</m:t>
                            </m:r>
                          </m:den>
                        </m:f>
                        <m:acc>
                          <m:accPr>
                            <m:chr m:val="⃗"/>
                            <m:ctrlPr>
                              <a:rPr lang="es-ES" sz="2800" i="1">
                                <a:latin typeface="Cambria Math" panose="02040503050406030204" pitchFamily="18" charset="0"/>
                              </a:rPr>
                            </m:ctrlPr>
                          </m:accPr>
                          <m:e>
                            <m:r>
                              <m:rPr>
                                <m:sty m:val="p"/>
                              </m:rPr>
                              <a:rPr lang="es-ES" sz="2800">
                                <a:latin typeface="Cambria Math" panose="02040503050406030204" pitchFamily="18" charset="0"/>
                              </a:rPr>
                              <m:t>i</m:t>
                            </m:r>
                          </m:e>
                        </m:acc>
                        <m:r>
                          <a:rPr lang="es-ES" sz="2800" b="0" i="1" smtClean="0">
                            <a:latin typeface="Cambria Math" panose="02040503050406030204" pitchFamily="18" charset="0"/>
                          </a:rPr>
                          <m:t>+</m:t>
                        </m:r>
                        <m:f>
                          <m:fPr>
                            <m:ctrlPr>
                              <a:rPr lang="es-ES" sz="2800" i="1">
                                <a:latin typeface="Cambria Math" panose="02040503050406030204" pitchFamily="18" charset="0"/>
                              </a:rPr>
                            </m:ctrlPr>
                          </m:fPr>
                          <m:num>
                            <m:r>
                              <a:rPr lang="es-ES" sz="2800" i="1">
                                <a:latin typeface="Cambria Math" panose="02040503050406030204" pitchFamily="18" charset="0"/>
                                <a:ea typeface="Cambria Math" panose="02040503050406030204" pitchFamily="18" charset="0"/>
                              </a:rPr>
                              <m:t>𝜕</m:t>
                            </m:r>
                            <m:r>
                              <m:rPr>
                                <m:sty m:val="p"/>
                              </m:rPr>
                              <a:rPr lang="es-ES" sz="2800">
                                <a:latin typeface="Cambria Math" panose="02040503050406030204" pitchFamily="18" charset="0"/>
                              </a:rPr>
                              <m:t>V</m:t>
                            </m:r>
                          </m:num>
                          <m:den>
                            <m:r>
                              <a:rPr lang="es-ES" sz="2800" i="1">
                                <a:latin typeface="Cambria Math" panose="02040503050406030204" pitchFamily="18" charset="0"/>
                                <a:ea typeface="Cambria Math" panose="02040503050406030204" pitchFamily="18" charset="0"/>
                              </a:rPr>
                              <m:t>𝜕</m:t>
                            </m:r>
                            <m:r>
                              <m:rPr>
                                <m:sty m:val="p"/>
                              </m:rPr>
                              <a:rPr lang="es-ES" sz="2800" b="0" i="0" smtClean="0">
                                <a:latin typeface="Cambria Math" panose="02040503050406030204" pitchFamily="18" charset="0"/>
                              </a:rPr>
                              <m:t>y</m:t>
                            </m:r>
                          </m:den>
                        </m:f>
                        <m:acc>
                          <m:accPr>
                            <m:chr m:val="⃗"/>
                            <m:ctrlPr>
                              <a:rPr lang="es-ES" sz="2800" i="1">
                                <a:latin typeface="Cambria Math" panose="02040503050406030204" pitchFamily="18" charset="0"/>
                              </a:rPr>
                            </m:ctrlPr>
                          </m:accPr>
                          <m:e>
                            <m:r>
                              <m:rPr>
                                <m:sty m:val="p"/>
                              </m:rPr>
                              <a:rPr lang="es-ES" sz="2800" b="0" i="0" smtClean="0">
                                <a:latin typeface="Cambria Math" panose="02040503050406030204" pitchFamily="18" charset="0"/>
                              </a:rPr>
                              <m:t>j</m:t>
                            </m:r>
                          </m:e>
                        </m:acc>
                        <m:r>
                          <a:rPr lang="es-ES" sz="2800" i="1">
                            <a:latin typeface="Cambria Math" panose="02040503050406030204" pitchFamily="18" charset="0"/>
                          </a:rPr>
                          <m:t>+</m:t>
                        </m:r>
                        <m:f>
                          <m:fPr>
                            <m:ctrlPr>
                              <a:rPr lang="es-ES" sz="2800" i="1">
                                <a:latin typeface="Cambria Math" panose="02040503050406030204" pitchFamily="18" charset="0"/>
                              </a:rPr>
                            </m:ctrlPr>
                          </m:fPr>
                          <m:num>
                            <m:r>
                              <a:rPr lang="es-ES" sz="2800" i="1">
                                <a:latin typeface="Cambria Math" panose="02040503050406030204" pitchFamily="18" charset="0"/>
                                <a:ea typeface="Cambria Math" panose="02040503050406030204" pitchFamily="18" charset="0"/>
                              </a:rPr>
                              <m:t>𝜕</m:t>
                            </m:r>
                            <m:r>
                              <m:rPr>
                                <m:sty m:val="p"/>
                              </m:rPr>
                              <a:rPr lang="es-ES" sz="2800">
                                <a:latin typeface="Cambria Math" panose="02040503050406030204" pitchFamily="18" charset="0"/>
                              </a:rPr>
                              <m:t>V</m:t>
                            </m:r>
                          </m:num>
                          <m:den>
                            <m:r>
                              <a:rPr lang="es-ES" sz="2800" i="1">
                                <a:latin typeface="Cambria Math" panose="02040503050406030204" pitchFamily="18" charset="0"/>
                                <a:ea typeface="Cambria Math" panose="02040503050406030204" pitchFamily="18" charset="0"/>
                              </a:rPr>
                              <m:t>𝜕</m:t>
                            </m:r>
                            <m:r>
                              <m:rPr>
                                <m:sty m:val="p"/>
                              </m:rPr>
                              <a:rPr lang="es-ES" sz="2800" b="0" i="0" smtClean="0">
                                <a:latin typeface="Cambria Math" panose="02040503050406030204" pitchFamily="18" charset="0"/>
                              </a:rPr>
                              <m:t>z</m:t>
                            </m:r>
                          </m:den>
                        </m:f>
                        <m:acc>
                          <m:accPr>
                            <m:chr m:val="⃗"/>
                            <m:ctrlPr>
                              <a:rPr lang="es-ES" sz="2800" i="1">
                                <a:latin typeface="Cambria Math" panose="02040503050406030204" pitchFamily="18" charset="0"/>
                              </a:rPr>
                            </m:ctrlPr>
                          </m:accPr>
                          <m:e>
                            <m:r>
                              <m:rPr>
                                <m:sty m:val="p"/>
                              </m:rPr>
                              <a:rPr lang="es-ES" sz="2800" b="0" i="0" smtClean="0">
                                <a:latin typeface="Cambria Math" panose="02040503050406030204" pitchFamily="18" charset="0"/>
                              </a:rPr>
                              <m:t>k</m:t>
                            </m:r>
                          </m:e>
                        </m:acc>
                      </m:e>
                    </m:d>
                  </m:oMath>
                </a14:m>
                <a:endParaRPr lang="es-ES" sz="2800" dirty="0"/>
              </a:p>
            </p:txBody>
          </p:sp>
        </mc:Choice>
        <mc:Fallback xmlns="">
          <p:sp>
            <p:nvSpPr>
              <p:cNvPr id="69" name="Object 120">
                <a:extLst>
                  <a:ext uri="{FF2B5EF4-FFF2-40B4-BE49-F238E27FC236}">
                    <a16:creationId xmlns:a16="http://schemas.microsoft.com/office/drawing/2014/main" id="{50FAFDC7-F56F-4983-849B-1E17E6DAAFAC}"/>
                  </a:ext>
                </a:extLst>
              </p:cNvPr>
              <p:cNvSpPr txBox="1">
                <a:spLocks noRot="1" noChangeAspect="1" noMove="1" noResize="1" noEditPoints="1" noAdjustHandles="1" noChangeArrowheads="1" noChangeShapeType="1" noTextEdit="1"/>
              </p:cNvSpPr>
              <p:nvPr/>
            </p:nvSpPr>
            <p:spPr bwMode="auto">
              <a:xfrm>
                <a:off x="3690495" y="4540544"/>
                <a:ext cx="3767074" cy="780214"/>
              </a:xfrm>
              <a:prstGeom prst="rect">
                <a:avLst/>
              </a:prstGeom>
              <a:blipFill>
                <a:blip r:embed="rId5"/>
                <a:stretch>
                  <a:fillRect/>
                </a:stretch>
              </a:blipFill>
              <a:ln>
                <a:noFill/>
              </a:ln>
              <a:effectLst/>
            </p:spPr>
            <p:txBody>
              <a:bodyPr/>
              <a:lstStyle/>
              <a:p>
                <a:r>
                  <a:rPr lang="es-ES">
                    <a:noFill/>
                  </a:rPr>
                  <a:t> </a:t>
                </a:r>
              </a:p>
            </p:txBody>
          </p:sp>
        </mc:Fallback>
      </mc:AlternateContent>
      <p:grpSp>
        <p:nvGrpSpPr>
          <p:cNvPr id="4" name="Grupo 3">
            <a:extLst>
              <a:ext uri="{FF2B5EF4-FFF2-40B4-BE49-F238E27FC236}">
                <a16:creationId xmlns:a16="http://schemas.microsoft.com/office/drawing/2014/main" id="{BE3D2976-BD2B-44CF-8115-D1A537C0E399}"/>
              </a:ext>
            </a:extLst>
          </p:cNvPr>
          <p:cNvGrpSpPr/>
          <p:nvPr/>
        </p:nvGrpSpPr>
        <p:grpSpPr>
          <a:xfrm>
            <a:off x="4517749" y="4185604"/>
            <a:ext cx="965651" cy="1024917"/>
            <a:chOff x="8380434" y="1512360"/>
            <a:chExt cx="965651" cy="1024917"/>
          </a:xfrm>
        </p:grpSpPr>
        <p:sp>
          <p:nvSpPr>
            <p:cNvPr id="72" name="Text Box 10">
              <a:extLst>
                <a:ext uri="{FF2B5EF4-FFF2-40B4-BE49-F238E27FC236}">
                  <a16:creationId xmlns:a16="http://schemas.microsoft.com/office/drawing/2014/main" id="{8C4AD9E0-EB0F-4D9C-9FCA-F36D5AF4832D}"/>
                </a:ext>
              </a:extLst>
            </p:cNvPr>
            <p:cNvSpPr txBox="1">
              <a:spLocks noChangeArrowheads="1"/>
            </p:cNvSpPr>
            <p:nvPr/>
          </p:nvSpPr>
          <p:spPr bwMode="auto">
            <a:xfrm>
              <a:off x="8992805" y="1512360"/>
              <a:ext cx="35328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sym typeface="Symbol" panose="05050102010706020507" pitchFamily="18" charset="2"/>
                </a:rPr>
                <a:t>0</a:t>
              </a:r>
              <a:endParaRPr lang="es-ES" sz="2400" dirty="0">
                <a:solidFill>
                  <a:srgbClr val="FF0000"/>
                </a:solidFill>
                <a:latin typeface="Arial" panose="020B0604020202020204" pitchFamily="34" charset="0"/>
              </a:endParaRPr>
            </a:p>
          </p:txBody>
        </p:sp>
        <p:cxnSp>
          <p:nvCxnSpPr>
            <p:cNvPr id="3" name="Conector recto de flecha 2">
              <a:extLst>
                <a:ext uri="{FF2B5EF4-FFF2-40B4-BE49-F238E27FC236}">
                  <a16:creationId xmlns:a16="http://schemas.microsoft.com/office/drawing/2014/main" id="{3897EF10-D00F-420B-943D-5BFEEDB0E3A5}"/>
                </a:ext>
              </a:extLst>
            </p:cNvPr>
            <p:cNvCxnSpPr>
              <a:cxnSpLocks/>
            </p:cNvCxnSpPr>
            <p:nvPr/>
          </p:nvCxnSpPr>
          <p:spPr bwMode="auto">
            <a:xfrm flipV="1">
              <a:off x="8380434" y="1835275"/>
              <a:ext cx="649815" cy="702002"/>
            </a:xfrm>
            <a:prstGeom prst="straightConnector1">
              <a:avLst/>
            </a:prstGeom>
            <a:noFill/>
            <a:ln w="38100" cap="flat" cmpd="sng" algn="ctr">
              <a:solidFill>
                <a:srgbClr val="FF0000"/>
              </a:solidFill>
              <a:prstDash val="solid"/>
              <a:round/>
              <a:headEnd type="none" w="med" len="med"/>
              <a:tailEnd type="triangle" w="med" len="lg"/>
            </a:ln>
            <a:effectLst/>
          </p:spPr>
        </p:cxnSp>
      </p:grpSp>
      <p:grpSp>
        <p:nvGrpSpPr>
          <p:cNvPr id="73" name="Grupo 72">
            <a:extLst>
              <a:ext uri="{FF2B5EF4-FFF2-40B4-BE49-F238E27FC236}">
                <a16:creationId xmlns:a16="http://schemas.microsoft.com/office/drawing/2014/main" id="{90A7E23D-F04E-4D6E-9715-E37F11A3B795}"/>
              </a:ext>
            </a:extLst>
          </p:cNvPr>
          <p:cNvGrpSpPr/>
          <p:nvPr/>
        </p:nvGrpSpPr>
        <p:grpSpPr>
          <a:xfrm>
            <a:off x="5422741" y="4206850"/>
            <a:ext cx="965651" cy="1024917"/>
            <a:chOff x="8380434" y="1512360"/>
            <a:chExt cx="965651" cy="1024917"/>
          </a:xfrm>
        </p:grpSpPr>
        <p:sp>
          <p:nvSpPr>
            <p:cNvPr id="76" name="Text Box 10">
              <a:extLst>
                <a:ext uri="{FF2B5EF4-FFF2-40B4-BE49-F238E27FC236}">
                  <a16:creationId xmlns:a16="http://schemas.microsoft.com/office/drawing/2014/main" id="{C0201A30-4B18-42AE-9254-A40B71BC4317}"/>
                </a:ext>
              </a:extLst>
            </p:cNvPr>
            <p:cNvSpPr txBox="1">
              <a:spLocks noChangeArrowheads="1"/>
            </p:cNvSpPr>
            <p:nvPr/>
          </p:nvSpPr>
          <p:spPr bwMode="auto">
            <a:xfrm>
              <a:off x="8992805" y="1512360"/>
              <a:ext cx="35328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sym typeface="Symbol" panose="05050102010706020507" pitchFamily="18" charset="2"/>
                </a:rPr>
                <a:t>0</a:t>
              </a:r>
              <a:endParaRPr lang="es-ES" sz="2400" dirty="0">
                <a:solidFill>
                  <a:srgbClr val="FF0000"/>
                </a:solidFill>
                <a:latin typeface="Arial" panose="020B0604020202020204" pitchFamily="34" charset="0"/>
              </a:endParaRPr>
            </a:p>
          </p:txBody>
        </p:sp>
        <p:cxnSp>
          <p:nvCxnSpPr>
            <p:cNvPr id="77" name="Conector recto de flecha 76">
              <a:extLst>
                <a:ext uri="{FF2B5EF4-FFF2-40B4-BE49-F238E27FC236}">
                  <a16:creationId xmlns:a16="http://schemas.microsoft.com/office/drawing/2014/main" id="{1FA6370B-A520-4D4E-9722-4176B3C175B1}"/>
                </a:ext>
              </a:extLst>
            </p:cNvPr>
            <p:cNvCxnSpPr>
              <a:cxnSpLocks/>
            </p:cNvCxnSpPr>
            <p:nvPr/>
          </p:nvCxnSpPr>
          <p:spPr bwMode="auto">
            <a:xfrm flipV="1">
              <a:off x="8380434" y="1835275"/>
              <a:ext cx="649815" cy="702002"/>
            </a:xfrm>
            <a:prstGeom prst="straightConnector1">
              <a:avLst/>
            </a:prstGeom>
            <a:noFill/>
            <a:ln w="38100" cap="flat" cmpd="sng" algn="ctr">
              <a:solidFill>
                <a:srgbClr val="FF0000"/>
              </a:solidFill>
              <a:prstDash val="solid"/>
              <a:round/>
              <a:headEnd type="none" w="med" len="med"/>
              <a:tailEnd type="triangle" w="med" len="lg"/>
            </a:ln>
            <a:effectLst/>
          </p:spPr>
        </p:cxnSp>
      </p:grpSp>
      <p:grpSp>
        <p:nvGrpSpPr>
          <p:cNvPr id="78" name="Grupo 77">
            <a:extLst>
              <a:ext uri="{FF2B5EF4-FFF2-40B4-BE49-F238E27FC236}">
                <a16:creationId xmlns:a16="http://schemas.microsoft.com/office/drawing/2014/main" id="{A5A3BF1D-1254-443F-9542-B6CD0EA5B8B9}"/>
              </a:ext>
            </a:extLst>
          </p:cNvPr>
          <p:cNvGrpSpPr/>
          <p:nvPr/>
        </p:nvGrpSpPr>
        <p:grpSpPr>
          <a:xfrm>
            <a:off x="6384334" y="4208106"/>
            <a:ext cx="1137171" cy="1024917"/>
            <a:chOff x="8380434" y="1512360"/>
            <a:chExt cx="1137171" cy="1024917"/>
          </a:xfrm>
        </p:grpSpPr>
        <p:sp>
          <p:nvSpPr>
            <p:cNvPr id="79" name="Text Box 10">
              <a:extLst>
                <a:ext uri="{FF2B5EF4-FFF2-40B4-BE49-F238E27FC236}">
                  <a16:creationId xmlns:a16="http://schemas.microsoft.com/office/drawing/2014/main" id="{5E9E8689-BAD3-4D3F-A4CD-C1C1C754BEE0}"/>
                </a:ext>
              </a:extLst>
            </p:cNvPr>
            <p:cNvSpPr txBox="1">
              <a:spLocks noChangeArrowheads="1"/>
            </p:cNvSpPr>
            <p:nvPr/>
          </p:nvSpPr>
          <p:spPr bwMode="auto">
            <a:xfrm>
              <a:off x="8992805" y="1512360"/>
              <a:ext cx="52480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sym typeface="Symbol" panose="05050102010706020507" pitchFamily="18" charset="2"/>
                </a:rPr>
                <a:t>10</a:t>
              </a:r>
              <a:endParaRPr lang="es-ES" sz="2400" dirty="0">
                <a:solidFill>
                  <a:srgbClr val="FF0000"/>
                </a:solidFill>
                <a:latin typeface="Arial" panose="020B0604020202020204" pitchFamily="34" charset="0"/>
              </a:endParaRPr>
            </a:p>
          </p:txBody>
        </p:sp>
        <p:cxnSp>
          <p:nvCxnSpPr>
            <p:cNvPr id="80" name="Conector recto de flecha 79">
              <a:extLst>
                <a:ext uri="{FF2B5EF4-FFF2-40B4-BE49-F238E27FC236}">
                  <a16:creationId xmlns:a16="http://schemas.microsoft.com/office/drawing/2014/main" id="{84787256-E8A2-4D09-BBDB-E1628DF97C6F}"/>
                </a:ext>
              </a:extLst>
            </p:cNvPr>
            <p:cNvCxnSpPr>
              <a:cxnSpLocks/>
            </p:cNvCxnSpPr>
            <p:nvPr/>
          </p:nvCxnSpPr>
          <p:spPr bwMode="auto">
            <a:xfrm flipV="1">
              <a:off x="8380434" y="1835275"/>
              <a:ext cx="649815" cy="702002"/>
            </a:xfrm>
            <a:prstGeom prst="straightConnector1">
              <a:avLst/>
            </a:prstGeom>
            <a:noFill/>
            <a:ln w="38100" cap="flat" cmpd="sng" algn="ctr">
              <a:solidFill>
                <a:srgbClr val="FF0000"/>
              </a:solidFill>
              <a:prstDash val="solid"/>
              <a:round/>
              <a:headEnd type="none" w="med" len="med"/>
              <a:tailEnd type="triangle" w="med" len="lg"/>
            </a:ln>
            <a:effectLst/>
          </p:spPr>
        </p:cxnSp>
      </p:grpSp>
      <p:sp>
        <p:nvSpPr>
          <p:cNvPr id="81" name="Text Box 10">
            <a:extLst>
              <a:ext uri="{FF2B5EF4-FFF2-40B4-BE49-F238E27FC236}">
                <a16:creationId xmlns:a16="http://schemas.microsoft.com/office/drawing/2014/main" id="{6128E891-EDBC-403E-81AA-E73C54AEBEED}"/>
              </a:ext>
            </a:extLst>
          </p:cNvPr>
          <p:cNvSpPr txBox="1">
            <a:spLocks noChangeArrowheads="1"/>
          </p:cNvSpPr>
          <p:nvPr/>
        </p:nvSpPr>
        <p:spPr bwMode="auto">
          <a:xfrm>
            <a:off x="4571599" y="5420421"/>
            <a:ext cx="273213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sym typeface="Symbol" panose="05050102010706020507" pitchFamily="18" charset="2"/>
              </a:rPr>
              <a:t>: </a:t>
            </a:r>
            <a:r>
              <a:rPr lang="es-ES" sz="2400" dirty="0">
                <a:solidFill>
                  <a:srgbClr val="FF0000"/>
                </a:solidFill>
                <a:latin typeface="Arial" panose="020B0604020202020204" pitchFamily="34" charset="0"/>
              </a:rPr>
              <a:t>Derivada parcial</a:t>
            </a:r>
          </a:p>
        </p:txBody>
      </p:sp>
      <p:sp>
        <p:nvSpPr>
          <p:cNvPr id="87" name="Text Box 79">
            <a:extLst>
              <a:ext uri="{FF2B5EF4-FFF2-40B4-BE49-F238E27FC236}">
                <a16:creationId xmlns:a16="http://schemas.microsoft.com/office/drawing/2014/main" id="{F322F42C-B507-490A-9113-BB29295C27E4}"/>
              </a:ext>
            </a:extLst>
          </p:cNvPr>
          <p:cNvSpPr txBox="1">
            <a:spLocks noChangeArrowheads="1"/>
          </p:cNvSpPr>
          <p:nvPr/>
        </p:nvSpPr>
        <p:spPr bwMode="auto">
          <a:xfrm>
            <a:off x="4690288" y="5965058"/>
            <a:ext cx="4321631" cy="905881"/>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Es derivar tomando al resto de variables como ctes.</a:t>
            </a:r>
          </a:p>
        </p:txBody>
      </p:sp>
      <mc:AlternateContent xmlns:mc="http://schemas.openxmlformats.org/markup-compatibility/2006" xmlns:a14="http://schemas.microsoft.com/office/drawing/2010/main">
        <mc:Choice Requires="a14">
          <p:sp>
            <p:nvSpPr>
              <p:cNvPr id="89" name="Object 120">
                <a:extLst>
                  <a:ext uri="{FF2B5EF4-FFF2-40B4-BE49-F238E27FC236}">
                    <a16:creationId xmlns:a16="http://schemas.microsoft.com/office/drawing/2014/main" id="{80DCED98-63D1-494F-BA0B-A1C2F8A7EB23}"/>
                  </a:ext>
                </a:extLst>
              </p:cNvPr>
              <p:cNvSpPr txBox="1"/>
              <p:nvPr/>
            </p:nvSpPr>
            <p:spPr bwMode="auto">
              <a:xfrm>
                <a:off x="1906266" y="4574394"/>
                <a:ext cx="2003170" cy="575479"/>
              </a:xfrm>
              <a:prstGeom prst="rect">
                <a:avLst/>
              </a:prstGeom>
              <a:noFill/>
              <a:ln>
                <a:noFill/>
              </a:ln>
              <a:effectLst/>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sz="2800" i="1" smtClean="0">
                              <a:solidFill>
                                <a:srgbClr val="000000"/>
                              </a:solidFill>
                              <a:latin typeface="Cambria Math" panose="02040503050406030204" pitchFamily="18" charset="0"/>
                            </a:rPr>
                          </m:ctrlPr>
                        </m:accPr>
                        <m:e>
                          <m:r>
                            <m:rPr>
                              <m:sty m:val="p"/>
                            </m:rPr>
                            <a:rPr lang="es-ES" sz="2800" i="0">
                              <a:solidFill>
                                <a:srgbClr val="000000"/>
                              </a:solidFill>
                              <a:latin typeface="Cambria Math" panose="02040503050406030204" pitchFamily="18" charset="0"/>
                            </a:rPr>
                            <m:t>E</m:t>
                          </m:r>
                        </m:e>
                      </m:acc>
                      <m:r>
                        <a:rPr lang="es-ES" sz="2800" i="0">
                          <a:solidFill>
                            <a:srgbClr val="000000"/>
                          </a:solidFill>
                          <a:latin typeface="Cambria Math" panose="02040503050406030204" pitchFamily="18" charset="0"/>
                        </a:rPr>
                        <m:t>=</m:t>
                      </m:r>
                      <m:r>
                        <a:rPr lang="es-ES" sz="2800" b="0" i="0" smtClean="0">
                          <a:solidFill>
                            <a:srgbClr val="000000"/>
                          </a:solidFill>
                          <a:latin typeface="Cambria Math" panose="02040503050406030204" pitchFamily="18" charset="0"/>
                        </a:rPr>
                        <m:t>− </m:t>
                      </m:r>
                      <m:r>
                        <m:rPr>
                          <m:sty m:val="p"/>
                        </m:rPr>
                        <a:rPr lang="es-ES" sz="2800" b="0" i="1" smtClean="0">
                          <a:solidFill>
                            <a:srgbClr val="000000"/>
                          </a:solidFill>
                          <a:latin typeface="Cambria Math" panose="02040503050406030204" pitchFamily="18" charset="0"/>
                          <a:ea typeface="Cambria Math" panose="02040503050406030204" pitchFamily="18" charset="0"/>
                        </a:rPr>
                        <m:t>∇</m:t>
                      </m:r>
                      <m:r>
                        <a:rPr lang="es-ES" sz="2800" b="0" i="1" smtClean="0">
                          <a:solidFill>
                            <a:srgbClr val="000000"/>
                          </a:solidFill>
                          <a:latin typeface="Cambria Math" panose="02040503050406030204" pitchFamily="18" charset="0"/>
                          <a:ea typeface="Cambria Math" panose="02040503050406030204" pitchFamily="18" charset="0"/>
                        </a:rPr>
                        <m:t>𝑉</m:t>
                      </m:r>
                    </m:oMath>
                  </m:oMathPara>
                </a14:m>
                <a:endParaRPr lang="es-ES" sz="2800" dirty="0"/>
              </a:p>
            </p:txBody>
          </p:sp>
        </mc:Choice>
        <mc:Fallback xmlns="">
          <p:sp>
            <p:nvSpPr>
              <p:cNvPr id="89" name="Object 120">
                <a:extLst>
                  <a:ext uri="{FF2B5EF4-FFF2-40B4-BE49-F238E27FC236}">
                    <a16:creationId xmlns:a16="http://schemas.microsoft.com/office/drawing/2014/main" id="{80DCED98-63D1-494F-BA0B-A1C2F8A7EB23}"/>
                  </a:ext>
                </a:extLst>
              </p:cNvPr>
              <p:cNvSpPr txBox="1">
                <a:spLocks noRot="1" noChangeAspect="1" noMove="1" noResize="1" noEditPoints="1" noAdjustHandles="1" noChangeArrowheads="1" noChangeShapeType="1" noTextEdit="1"/>
              </p:cNvSpPr>
              <p:nvPr/>
            </p:nvSpPr>
            <p:spPr bwMode="auto">
              <a:xfrm>
                <a:off x="1906266" y="4574394"/>
                <a:ext cx="2003170" cy="575479"/>
              </a:xfrm>
              <a:prstGeom prst="rect">
                <a:avLst/>
              </a:prstGeom>
              <a:blipFill>
                <a:blip r:embed="rId6"/>
                <a:stretch>
                  <a:fillRect/>
                </a:stretch>
              </a:blipFill>
              <a:ln>
                <a:noFill/>
              </a:ln>
              <a:effectLst/>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0" name="Object 120">
                <a:extLst>
                  <a:ext uri="{FF2B5EF4-FFF2-40B4-BE49-F238E27FC236}">
                    <a16:creationId xmlns:a16="http://schemas.microsoft.com/office/drawing/2014/main" id="{04E142E4-DC64-4E1B-9F90-E2AA92A64BF8}"/>
                  </a:ext>
                </a:extLst>
              </p:cNvPr>
              <p:cNvSpPr txBox="1"/>
              <p:nvPr/>
            </p:nvSpPr>
            <p:spPr bwMode="auto">
              <a:xfrm>
                <a:off x="7303735" y="4571557"/>
                <a:ext cx="1534701" cy="587084"/>
              </a:xfrm>
              <a:prstGeom prst="rect">
                <a:avLst/>
              </a:prstGeom>
              <a:noFill/>
              <a:ln>
                <a:noFill/>
              </a:ln>
              <a:effectLst/>
            </p:spPr>
            <p:txBody>
              <a:bodyPr wrap="square">
                <a:spAutoFit/>
              </a:bodyPr>
              <a:lstStyle/>
              <a:p>
                <a14:m>
                  <m:oMath xmlns:m="http://schemas.openxmlformats.org/officeDocument/2006/math">
                    <m:r>
                      <a:rPr lang="es-ES" sz="2800" b="0" i="1" smtClean="0">
                        <a:solidFill>
                          <a:srgbClr val="000000"/>
                        </a:solidFill>
                        <a:latin typeface="Cambria Math" panose="02040503050406030204" pitchFamily="18" charset="0"/>
                        <a:ea typeface="Cambria Math" panose="02040503050406030204" pitchFamily="18" charset="0"/>
                      </a:rPr>
                      <m:t>=</m:t>
                    </m:r>
                  </m:oMath>
                </a14:m>
                <a:r>
                  <a:rPr lang="es-ES" sz="2800" dirty="0"/>
                  <a:t> </a:t>
                </a:r>
                <a14:m>
                  <m:oMath xmlns:m="http://schemas.openxmlformats.org/officeDocument/2006/math">
                    <m:r>
                      <a:rPr lang="es-ES" sz="2800">
                        <a:latin typeface="Cambria Math" panose="02040503050406030204" pitchFamily="18" charset="0"/>
                      </a:rPr>
                      <m:t>−</m:t>
                    </m:r>
                    <m:r>
                      <a:rPr lang="es-ES" sz="2800" b="0" i="1" smtClean="0">
                        <a:latin typeface="Cambria Math" panose="02040503050406030204" pitchFamily="18" charset="0"/>
                      </a:rPr>
                      <m:t>10</m:t>
                    </m:r>
                    <m:acc>
                      <m:accPr>
                        <m:chr m:val="⃗"/>
                        <m:ctrlPr>
                          <a:rPr lang="es-ES" sz="2800" i="1">
                            <a:latin typeface="Cambria Math" panose="02040503050406030204" pitchFamily="18" charset="0"/>
                          </a:rPr>
                        </m:ctrlPr>
                      </m:accPr>
                      <m:e>
                        <m:r>
                          <a:rPr lang="es-ES" sz="2800" b="0" i="0" smtClean="0">
                            <a:latin typeface="Cambria Math" panose="02040503050406030204" pitchFamily="18" charset="0"/>
                          </a:rPr>
                          <m:t> </m:t>
                        </m:r>
                        <m:r>
                          <m:rPr>
                            <m:sty m:val="p"/>
                          </m:rPr>
                          <a:rPr lang="es-ES" sz="2800">
                            <a:latin typeface="Cambria Math" panose="02040503050406030204" pitchFamily="18" charset="0"/>
                          </a:rPr>
                          <m:t>k</m:t>
                        </m:r>
                      </m:e>
                    </m:acc>
                  </m:oMath>
                </a14:m>
                <a:endParaRPr lang="es-ES" sz="2800" dirty="0"/>
              </a:p>
            </p:txBody>
          </p:sp>
        </mc:Choice>
        <mc:Fallback xmlns="">
          <p:sp>
            <p:nvSpPr>
              <p:cNvPr id="90" name="Object 120">
                <a:extLst>
                  <a:ext uri="{FF2B5EF4-FFF2-40B4-BE49-F238E27FC236}">
                    <a16:creationId xmlns:a16="http://schemas.microsoft.com/office/drawing/2014/main" id="{04E142E4-DC64-4E1B-9F90-E2AA92A64BF8}"/>
                  </a:ext>
                </a:extLst>
              </p:cNvPr>
              <p:cNvSpPr txBox="1">
                <a:spLocks noRot="1" noChangeAspect="1" noMove="1" noResize="1" noEditPoints="1" noAdjustHandles="1" noChangeArrowheads="1" noChangeShapeType="1" noTextEdit="1"/>
              </p:cNvSpPr>
              <p:nvPr/>
            </p:nvSpPr>
            <p:spPr bwMode="auto">
              <a:xfrm>
                <a:off x="7303735" y="4571557"/>
                <a:ext cx="1534701" cy="587084"/>
              </a:xfrm>
              <a:prstGeom prst="rect">
                <a:avLst/>
              </a:prstGeom>
              <a:blipFill>
                <a:blip r:embed="rId7"/>
                <a:stretch>
                  <a:fillRect/>
                </a:stretch>
              </a:blipFill>
              <a:ln>
                <a:noFill/>
              </a:ln>
              <a:effectLst/>
            </p:spPr>
            <p:txBody>
              <a:bodyPr/>
              <a:lstStyle/>
              <a:p>
                <a:r>
                  <a:rPr lang="es-ES">
                    <a:noFill/>
                  </a:rPr>
                  <a:t> </a:t>
                </a:r>
              </a:p>
            </p:txBody>
          </p:sp>
        </mc:Fallback>
      </mc:AlternateContent>
    </p:spTree>
    <p:extLst>
      <p:ext uri="{BB962C8B-B14F-4D97-AF65-F5344CB8AC3E}">
        <p14:creationId xmlns:p14="http://schemas.microsoft.com/office/powerpoint/2010/main" val="13514236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up)">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dissolve">
                                      <p:cBhvr>
                                        <p:cTn id="12" dur="500"/>
                                        <p:tgtEl>
                                          <p:spTgt spid="57"/>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dissolve">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left)">
                                      <p:cBhvr>
                                        <p:cTn id="20" dur="500"/>
                                        <p:tgtEl>
                                          <p:spTgt spid="4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wipe(left)">
                                      <p:cBhvr>
                                        <p:cTn id="25" dur="500"/>
                                        <p:tgtEl>
                                          <p:spTgt spid="65"/>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barn(outVertical)">
                                      <p:cBhvr>
                                        <p:cTn id="30" dur="500"/>
                                        <p:tgtEl>
                                          <p:spTgt spid="6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down)">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down)">
                                      <p:cBhvr>
                                        <p:cTn id="40" dur="5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wipe(up)">
                                      <p:cBhvr>
                                        <p:cTn id="45" dur="5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wipe(up)">
                                      <p:cBhvr>
                                        <p:cTn id="50" dur="500"/>
                                        <p:tgtEl>
                                          <p:spTgt spid="64"/>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dissolve">
                                      <p:cBhvr>
                                        <p:cTn id="55" dur="500"/>
                                        <p:tgtEl>
                                          <p:spTgt spid="2"/>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89"/>
                                        </p:tgtEl>
                                        <p:attrNameLst>
                                          <p:attrName>style.visibility</p:attrName>
                                        </p:attrNameLst>
                                      </p:cBhvr>
                                      <p:to>
                                        <p:strVal val="visible"/>
                                      </p:to>
                                    </p:set>
                                    <p:animEffect transition="in" filter="dissolve">
                                      <p:cBhvr>
                                        <p:cTn id="58" dur="500"/>
                                        <p:tgtEl>
                                          <p:spTgt spid="8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wipe(left)">
                                      <p:cBhvr>
                                        <p:cTn id="63" dur="500"/>
                                        <p:tgtEl>
                                          <p:spTgt spid="6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wipe(left)">
                                      <p:cBhvr>
                                        <p:cTn id="68" dur="500"/>
                                        <p:tgtEl>
                                          <p:spTgt spid="8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87"/>
                                        </p:tgtEl>
                                        <p:attrNameLst>
                                          <p:attrName>style.visibility</p:attrName>
                                        </p:attrNameLst>
                                      </p:cBhvr>
                                      <p:to>
                                        <p:strVal val="visible"/>
                                      </p:to>
                                    </p:set>
                                    <p:animEffect transition="in" filter="wipe(up)">
                                      <p:cBhvr>
                                        <p:cTn id="73" dur="500"/>
                                        <p:tgtEl>
                                          <p:spTgt spid="8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wipe(down)">
                                      <p:cBhvr>
                                        <p:cTn id="78" dur="500"/>
                                        <p:tgtEl>
                                          <p:spTgt spid="4"/>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73"/>
                                        </p:tgtEl>
                                        <p:attrNameLst>
                                          <p:attrName>style.visibility</p:attrName>
                                        </p:attrNameLst>
                                      </p:cBhvr>
                                      <p:to>
                                        <p:strVal val="visible"/>
                                      </p:to>
                                    </p:set>
                                    <p:animEffect transition="in" filter="wipe(down)">
                                      <p:cBhvr>
                                        <p:cTn id="83" dur="500"/>
                                        <p:tgtEl>
                                          <p:spTgt spid="7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78"/>
                                        </p:tgtEl>
                                        <p:attrNameLst>
                                          <p:attrName>style.visibility</p:attrName>
                                        </p:attrNameLst>
                                      </p:cBhvr>
                                      <p:to>
                                        <p:strVal val="visible"/>
                                      </p:to>
                                    </p:set>
                                    <p:animEffect transition="in" filter="wipe(down)">
                                      <p:cBhvr>
                                        <p:cTn id="88" dur="500"/>
                                        <p:tgtEl>
                                          <p:spTgt spid="7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90"/>
                                        </p:tgtEl>
                                        <p:attrNameLst>
                                          <p:attrName>style.visibility</p:attrName>
                                        </p:attrNameLst>
                                      </p:cBhvr>
                                      <p:to>
                                        <p:strVal val="visible"/>
                                      </p:to>
                                    </p:set>
                                    <p:animEffect transition="in" filter="wipe(left)">
                                      <p:cBhvr>
                                        <p:cTn id="93" dur="500"/>
                                        <p:tgtEl>
                                          <p:spTgt spid="90"/>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68"/>
                                        </p:tgtEl>
                                        <p:attrNameLst>
                                          <p:attrName>style.visibility</p:attrName>
                                        </p:attrNameLst>
                                      </p:cBhvr>
                                      <p:to>
                                        <p:strVal val="visible"/>
                                      </p:to>
                                    </p:set>
                                    <p:anim calcmode="lin" valueType="num">
                                      <p:cBhvr>
                                        <p:cTn id="98" dur="500" fill="hold"/>
                                        <p:tgtEl>
                                          <p:spTgt spid="68"/>
                                        </p:tgtEl>
                                        <p:attrNameLst>
                                          <p:attrName>ppt_w</p:attrName>
                                        </p:attrNameLst>
                                      </p:cBhvr>
                                      <p:tavLst>
                                        <p:tav tm="0">
                                          <p:val>
                                            <p:fltVal val="0"/>
                                          </p:val>
                                        </p:tav>
                                        <p:tav tm="100000">
                                          <p:val>
                                            <p:strVal val="#ppt_w"/>
                                          </p:val>
                                        </p:tav>
                                      </p:tavLst>
                                    </p:anim>
                                    <p:anim calcmode="lin" valueType="num">
                                      <p:cBhvr>
                                        <p:cTn id="99" dur="500" fill="hold"/>
                                        <p:tgtEl>
                                          <p:spTgt spid="68"/>
                                        </p:tgtEl>
                                        <p:attrNameLst>
                                          <p:attrName>ppt_h</p:attrName>
                                        </p:attrNameLst>
                                      </p:cBhvr>
                                      <p:tavLst>
                                        <p:tav tm="0">
                                          <p:val>
                                            <p:fltVal val="0"/>
                                          </p:val>
                                        </p:tav>
                                        <p:tav tm="100000">
                                          <p:val>
                                            <p:strVal val="#ppt_h"/>
                                          </p:val>
                                        </p:tav>
                                      </p:tavLst>
                                    </p:anim>
                                    <p:animEffect transition="in" filter="fade">
                                      <p:cBhvr>
                                        <p:cTn id="10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8" grpId="0"/>
      <p:bldP spid="39" grpId="0" animBg="1"/>
      <p:bldP spid="63" grpId="0"/>
      <p:bldP spid="64" grpId="0"/>
      <p:bldP spid="68" grpId="0" animBg="1"/>
      <p:bldP spid="71" grpId="0" animBg="1"/>
      <p:bldP spid="69" grpId="0"/>
      <p:bldP spid="81" grpId="0"/>
      <p:bldP spid="87" grpId="0" animBg="1"/>
      <p:bldP spid="89" grpId="0"/>
      <p:bldP spid="9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804" name="Picture 3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3005" y="3366575"/>
            <a:ext cx="43973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19503" name="Line 41"/>
          <p:cNvSpPr>
            <a:spLocks noChangeShapeType="1"/>
          </p:cNvSpPr>
          <p:nvPr/>
        </p:nvSpPr>
        <p:spPr bwMode="auto">
          <a:xfrm>
            <a:off x="2892873" y="4818428"/>
            <a:ext cx="0" cy="360363"/>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grpSp>
        <p:nvGrpSpPr>
          <p:cNvPr id="5" name="Group 85"/>
          <p:cNvGrpSpPr>
            <a:grpSpLocks/>
          </p:cNvGrpSpPr>
          <p:nvPr/>
        </p:nvGrpSpPr>
        <p:grpSpPr bwMode="auto">
          <a:xfrm>
            <a:off x="7458683" y="2636567"/>
            <a:ext cx="1666875" cy="1204913"/>
            <a:chOff x="4163" y="1948"/>
            <a:chExt cx="1050" cy="759"/>
          </a:xfrm>
        </p:grpSpPr>
        <p:sp>
          <p:nvSpPr>
            <p:cNvPr id="19499" name="Rectangle 46"/>
            <p:cNvSpPr>
              <a:spLocks noChangeArrowheads="1"/>
            </p:cNvSpPr>
            <p:nvPr/>
          </p:nvSpPr>
          <p:spPr bwMode="auto">
            <a:xfrm>
              <a:off x="4163" y="1948"/>
              <a:ext cx="1050" cy="75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endParaRPr lang="es-ES" sz="2400">
                <a:solidFill>
                  <a:srgbClr val="000000"/>
                </a:solidFill>
                <a:latin typeface="Arial" panose="020B0604020202020204" pitchFamily="34" charset="0"/>
              </a:endParaRPr>
            </a:p>
          </p:txBody>
        </p:sp>
        <p:graphicFrame>
          <p:nvGraphicFramePr>
            <p:cNvPr id="9" name="Object 47"/>
            <p:cNvGraphicFramePr>
              <a:graphicFrameLocks noChangeAspect="1"/>
            </p:cNvGraphicFramePr>
            <p:nvPr/>
          </p:nvGraphicFramePr>
          <p:xfrm>
            <a:off x="4243" y="2025"/>
            <a:ext cx="931" cy="563"/>
          </p:xfrm>
          <a:graphic>
            <a:graphicData uri="http://schemas.openxmlformats.org/presentationml/2006/ole">
              <mc:AlternateContent xmlns:mc="http://schemas.openxmlformats.org/markup-compatibility/2006">
                <mc:Choice xmlns:v="urn:schemas-microsoft-com:vml" Requires="v">
                  <p:oleObj name="Ecuación" r:id="rId4" imgW="545863" imgH="330057" progId="Equation.3">
                    <p:embed/>
                  </p:oleObj>
                </mc:Choice>
                <mc:Fallback>
                  <p:oleObj name="Ecuación" r:id="rId4" imgW="545863" imgH="33005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3" y="2025"/>
                          <a:ext cx="931" cy="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120"/>
          <p:cNvGrpSpPr>
            <a:grpSpLocks/>
          </p:cNvGrpSpPr>
          <p:nvPr/>
        </p:nvGrpSpPr>
        <p:grpSpPr bwMode="auto">
          <a:xfrm>
            <a:off x="7719133" y="4631508"/>
            <a:ext cx="1057274" cy="868371"/>
            <a:chOff x="5460" y="1755"/>
            <a:chExt cx="666" cy="547"/>
          </a:xfrm>
        </p:grpSpPr>
        <p:sp>
          <p:nvSpPr>
            <p:cNvPr id="19496" name="AutoShape 52"/>
            <p:cNvSpPr>
              <a:spLocks noChangeArrowheads="1"/>
            </p:cNvSpPr>
            <p:nvPr/>
          </p:nvSpPr>
          <p:spPr bwMode="auto">
            <a:xfrm>
              <a:off x="5621" y="1755"/>
              <a:ext cx="350" cy="219"/>
            </a:xfrm>
            <a:prstGeom prst="downArrow">
              <a:avLst>
                <a:gd name="adj1" fmla="val 49713"/>
                <a:gd name="adj2" fmla="val 4840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9497" name="Text Box 51"/>
            <p:cNvSpPr txBox="1">
              <a:spLocks noChangeArrowheads="1"/>
            </p:cNvSpPr>
            <p:nvPr/>
          </p:nvSpPr>
          <p:spPr bwMode="auto">
            <a:xfrm>
              <a:off x="5460" y="2027"/>
              <a:ext cx="666" cy="275"/>
            </a:xfrm>
            <a:prstGeom prst="rect">
              <a:avLst/>
            </a:prstGeom>
            <a:solidFill>
              <a:srgbClr val="FFFF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 = cte.</a:t>
              </a:r>
            </a:p>
          </p:txBody>
        </p:sp>
      </p:grpSp>
      <p:grpSp>
        <p:nvGrpSpPr>
          <p:cNvPr id="7" name="Group 121"/>
          <p:cNvGrpSpPr>
            <a:grpSpLocks/>
          </p:cNvGrpSpPr>
          <p:nvPr/>
        </p:nvGrpSpPr>
        <p:grpSpPr bwMode="auto">
          <a:xfrm>
            <a:off x="6484855" y="5658428"/>
            <a:ext cx="3579813" cy="1208088"/>
            <a:chOff x="4701" y="2389"/>
            <a:chExt cx="2255" cy="761"/>
          </a:xfrm>
        </p:grpSpPr>
        <p:sp>
          <p:nvSpPr>
            <p:cNvPr id="19494" name="AutoShape 53"/>
            <p:cNvSpPr>
              <a:spLocks noChangeArrowheads="1"/>
            </p:cNvSpPr>
            <p:nvPr/>
          </p:nvSpPr>
          <p:spPr bwMode="auto">
            <a:xfrm>
              <a:off x="5650" y="2389"/>
              <a:ext cx="350" cy="219"/>
            </a:xfrm>
            <a:prstGeom prst="downArrow">
              <a:avLst>
                <a:gd name="adj1" fmla="val 49713"/>
                <a:gd name="adj2" fmla="val 48403"/>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9495" name="Text Box 54"/>
            <p:cNvSpPr txBox="1">
              <a:spLocks noChangeArrowheads="1"/>
            </p:cNvSpPr>
            <p:nvPr/>
          </p:nvSpPr>
          <p:spPr bwMode="auto">
            <a:xfrm>
              <a:off x="4701" y="2625"/>
              <a:ext cx="2255"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3333FF"/>
                  </a:solidFill>
                  <a:latin typeface="Arial" panose="020B0604020202020204" pitchFamily="34" charset="0"/>
                </a:rPr>
                <a:t>Superficie Esférica centrada en la carga</a:t>
              </a:r>
            </a:p>
          </p:txBody>
        </p:sp>
      </p:grpSp>
      <p:sp>
        <p:nvSpPr>
          <p:cNvPr id="288817" name="Text Box 49"/>
          <p:cNvSpPr txBox="1">
            <a:spLocks noChangeArrowheads="1"/>
          </p:cNvSpPr>
          <p:nvPr/>
        </p:nvSpPr>
        <p:spPr bwMode="auto">
          <a:xfrm>
            <a:off x="6752364" y="1896730"/>
            <a:ext cx="2836998" cy="514738"/>
          </a:xfrm>
          <a:prstGeom prst="rect">
            <a:avLst/>
          </a:prstGeom>
          <a:solidFill>
            <a:schemeClr val="tx2">
              <a:lumMod val="25000"/>
              <a:lumOff val="75000"/>
            </a:schemeClr>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a:latin typeface="Arial" panose="020B0604020202020204" pitchFamily="34" charset="0"/>
              </a:rPr>
              <a:t>CARGA PUNTUAL</a:t>
            </a:r>
          </a:p>
        </p:txBody>
      </p:sp>
      <p:sp>
        <p:nvSpPr>
          <p:cNvPr id="19492" name="Oval 39"/>
          <p:cNvSpPr>
            <a:spLocks noChangeArrowheads="1"/>
          </p:cNvSpPr>
          <p:nvPr/>
        </p:nvSpPr>
        <p:spPr bwMode="auto">
          <a:xfrm>
            <a:off x="1799880" y="2493450"/>
            <a:ext cx="2159000" cy="215900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4156" name="Text Box 60"/>
          <p:cNvSpPr txBox="1">
            <a:spLocks noChangeArrowheads="1"/>
          </p:cNvSpPr>
          <p:nvPr/>
        </p:nvSpPr>
        <p:spPr bwMode="auto">
          <a:xfrm>
            <a:off x="2399169" y="1055688"/>
            <a:ext cx="6736437" cy="463846"/>
          </a:xfrm>
          <a:prstGeom prst="rect">
            <a:avLst/>
          </a:prstGeom>
          <a:solidFill>
            <a:schemeClr val="accent1">
              <a:lumMod val="60000"/>
              <a:lumOff val="40000"/>
            </a:schemeClr>
          </a:solidFill>
          <a:ln>
            <a:noFill/>
          </a:ln>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Superficies con el mismo V en todos sus puntos</a:t>
            </a:r>
          </a:p>
        </p:txBody>
      </p:sp>
      <p:sp>
        <p:nvSpPr>
          <p:cNvPr id="4" name="CuadroTexto 3"/>
          <p:cNvSpPr txBox="1">
            <a:spLocks noChangeArrowheads="1"/>
          </p:cNvSpPr>
          <p:nvPr/>
        </p:nvSpPr>
        <p:spPr bwMode="auto">
          <a:xfrm>
            <a:off x="2172942" y="3371338"/>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t>Q</a:t>
            </a:r>
          </a:p>
        </p:txBody>
      </p:sp>
      <p:sp>
        <p:nvSpPr>
          <p:cNvPr id="51" name="Text Box 60"/>
          <p:cNvSpPr txBox="1">
            <a:spLocks noChangeArrowheads="1"/>
          </p:cNvSpPr>
          <p:nvPr/>
        </p:nvSpPr>
        <p:spPr bwMode="auto">
          <a:xfrm>
            <a:off x="3165556" y="416273"/>
            <a:ext cx="5261158" cy="514738"/>
          </a:xfrm>
          <a:prstGeom prst="rect">
            <a:avLst/>
          </a:prstGeom>
          <a:solidFill>
            <a:srgbClr val="666699"/>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FFFF"/>
                </a:solidFill>
                <a:latin typeface="Arial" panose="020B0604020202020204" pitchFamily="34" charset="0"/>
              </a:rPr>
              <a:t>SUPERFICIES EQUIPOTENCIALES</a:t>
            </a:r>
          </a:p>
        </p:txBody>
      </p:sp>
      <p:sp>
        <p:nvSpPr>
          <p:cNvPr id="288818" name="Text Box 50"/>
          <p:cNvSpPr txBox="1">
            <a:spLocks noChangeArrowheads="1"/>
          </p:cNvSpPr>
          <p:nvPr/>
        </p:nvSpPr>
        <p:spPr bwMode="auto">
          <a:xfrm>
            <a:off x="7142239" y="4051152"/>
            <a:ext cx="2326576" cy="463846"/>
          </a:xfrm>
          <a:prstGeom prst="rect">
            <a:avLst/>
          </a:prstGeom>
          <a:solidFill>
            <a:schemeClr val="bg2">
              <a:lumMod val="60000"/>
              <a:lumOff val="40000"/>
            </a:schemeClr>
          </a:solidFill>
          <a:ln>
            <a:noFill/>
          </a:ln>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solidFill>
                  <a:srgbClr val="000000"/>
                </a:solidFill>
                <a:latin typeface="Arial" panose="020B0604020202020204" pitchFamily="34" charset="0"/>
              </a:rPr>
              <a:t>¿Para V = cte.?</a:t>
            </a:r>
          </a:p>
        </p:txBody>
      </p:sp>
      <p:sp>
        <p:nvSpPr>
          <p:cNvPr id="19488" name="Rectangle 106"/>
          <p:cNvSpPr>
            <a:spLocks noChangeArrowheads="1"/>
          </p:cNvSpPr>
          <p:nvPr/>
        </p:nvSpPr>
        <p:spPr bwMode="auto">
          <a:xfrm>
            <a:off x="10163179" y="621670"/>
            <a:ext cx="138113" cy="5904000"/>
          </a:xfrm>
          <a:prstGeom prst="rect">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19489" name="AutoShape 107"/>
          <p:cNvSpPr>
            <a:spLocks noChangeArrowheads="1"/>
          </p:cNvSpPr>
          <p:nvPr/>
        </p:nvSpPr>
        <p:spPr bwMode="auto">
          <a:xfrm>
            <a:off x="8629652" y="527571"/>
            <a:ext cx="1671640" cy="328437"/>
          </a:xfrm>
          <a:prstGeom prst="leftArrow">
            <a:avLst>
              <a:gd name="adj1" fmla="val 41713"/>
              <a:gd name="adj2" fmla="val 70705"/>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14" name="Rectángulo 13"/>
          <p:cNvSpPr/>
          <p:nvPr/>
        </p:nvSpPr>
        <p:spPr bwMode="auto">
          <a:xfrm>
            <a:off x="9787096" y="6415666"/>
            <a:ext cx="514198" cy="113365"/>
          </a:xfrm>
          <a:prstGeom prst="rect">
            <a:avLst/>
          </a:prstGeom>
          <a:solidFill>
            <a:schemeClr val="accent1"/>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26" name="Text Box 40">
            <a:extLst>
              <a:ext uri="{FF2B5EF4-FFF2-40B4-BE49-F238E27FC236}">
                <a16:creationId xmlns:a16="http://schemas.microsoft.com/office/drawing/2014/main" id="{8E29D256-B991-4969-89F4-805DC05C343C}"/>
              </a:ext>
            </a:extLst>
          </p:cNvPr>
          <p:cNvSpPr txBox="1">
            <a:spLocks noChangeArrowheads="1"/>
          </p:cNvSpPr>
          <p:nvPr/>
        </p:nvSpPr>
        <p:spPr bwMode="auto">
          <a:xfrm>
            <a:off x="1471513" y="5379318"/>
            <a:ext cx="2853906" cy="1275213"/>
          </a:xfrm>
          <a:prstGeom prst="rect">
            <a:avLst/>
          </a:prstGeom>
          <a:solidFill>
            <a:schemeClr val="accent1">
              <a:lumMod val="60000"/>
              <a:lumOff val="40000"/>
            </a:schemeClr>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En ella </a:t>
            </a:r>
            <a:r>
              <a:rPr lang="es-ES" sz="2400" dirty="0">
                <a:latin typeface="Arial" panose="020B0604020202020204" pitchFamily="34" charset="0"/>
              </a:rPr>
              <a:t>una carga q tiene </a:t>
            </a:r>
            <a:r>
              <a:rPr lang="es-ES" sz="2400" dirty="0" err="1">
                <a:latin typeface="Arial" panose="020B0604020202020204" pitchFamily="34" charset="0"/>
              </a:rPr>
              <a:t>E</a:t>
            </a:r>
            <a:r>
              <a:rPr lang="es-ES" sz="2400" baseline="-25000" dirty="0" err="1">
                <a:latin typeface="Arial" panose="020B0604020202020204" pitchFamily="34" charset="0"/>
              </a:rPr>
              <a:t>p</a:t>
            </a:r>
            <a:r>
              <a:rPr lang="es-ES" sz="2400" baseline="-25000" dirty="0">
                <a:latin typeface="Arial" panose="020B0604020202020204" pitchFamily="34" charset="0"/>
              </a:rPr>
              <a:t> </a:t>
            </a:r>
            <a:r>
              <a:rPr lang="es-ES" sz="2400" dirty="0">
                <a:latin typeface="Arial" panose="020B0604020202020204" pitchFamily="34" charset="0"/>
              </a:rPr>
              <a:t>cte</a:t>
            </a:r>
            <a:r>
              <a:rPr lang="es-ES" sz="2400">
                <a:latin typeface="Arial" panose="020B0604020202020204" pitchFamily="34" charset="0"/>
              </a:rPr>
              <a:t>. </a:t>
            </a:r>
          </a:p>
          <a:p>
            <a:pPr algn="ctr" eaLnBrk="1" hangingPunct="1">
              <a:spcBef>
                <a:spcPts val="0"/>
              </a:spcBef>
              <a:buFontTx/>
              <a:buNone/>
            </a:pPr>
            <a:r>
              <a:rPr lang="es-ES" sz="2400">
                <a:latin typeface="Arial" panose="020B0604020202020204" pitchFamily="34" charset="0"/>
              </a:rPr>
              <a:t>(</a:t>
            </a:r>
            <a:r>
              <a:rPr lang="es-ES" sz="2400" dirty="0" err="1">
                <a:latin typeface="Arial" panose="020B0604020202020204" pitchFamily="34" charset="0"/>
              </a:rPr>
              <a:t>E</a:t>
            </a:r>
            <a:r>
              <a:rPr lang="es-ES" sz="2400" baseline="-25000" dirty="0" err="1">
                <a:latin typeface="Arial" panose="020B0604020202020204" pitchFamily="34" charset="0"/>
              </a:rPr>
              <a:t>p</a:t>
            </a:r>
            <a:r>
              <a:rPr lang="es-ES" sz="2400" baseline="-25000" dirty="0">
                <a:latin typeface="Arial" panose="020B0604020202020204" pitchFamily="34" charset="0"/>
              </a:rPr>
              <a:t> </a:t>
            </a:r>
            <a:r>
              <a:rPr lang="es-ES" sz="2400" dirty="0">
                <a:latin typeface="Arial" panose="020B0604020202020204" pitchFamily="34" charset="0"/>
              </a:rPr>
              <a:t>= </a:t>
            </a:r>
            <a:r>
              <a:rPr lang="es-ES" sz="2400" dirty="0" err="1">
                <a:latin typeface="Arial" panose="020B0604020202020204" pitchFamily="34" charset="0"/>
              </a:rPr>
              <a:t>qV</a:t>
            </a:r>
            <a:r>
              <a:rPr lang="es-ES" sz="2400" dirty="0">
                <a:latin typeface="Arial" panose="020B0604020202020204" pitchFamily="34" charset="0"/>
              </a:rPr>
              <a:t>)</a:t>
            </a:r>
          </a:p>
        </p:txBody>
      </p:sp>
      <p:sp>
        <p:nvSpPr>
          <p:cNvPr id="25" name="Line 41">
            <a:extLst>
              <a:ext uri="{FF2B5EF4-FFF2-40B4-BE49-F238E27FC236}">
                <a16:creationId xmlns:a16="http://schemas.microsoft.com/office/drawing/2014/main" id="{0E65302B-7087-49B5-BEB7-6D73D69FB80A}"/>
              </a:ext>
            </a:extLst>
          </p:cNvPr>
          <p:cNvSpPr>
            <a:spLocks noChangeShapeType="1"/>
          </p:cNvSpPr>
          <p:nvPr/>
        </p:nvSpPr>
        <p:spPr bwMode="auto">
          <a:xfrm flipH="1" flipV="1">
            <a:off x="4166842" y="4267201"/>
            <a:ext cx="2613134" cy="1765880"/>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Tree>
    <p:extLst>
      <p:ext uri="{BB962C8B-B14F-4D97-AF65-F5344CB8AC3E}">
        <p14:creationId xmlns:p14="http://schemas.microsoft.com/office/powerpoint/2010/main" val="35434325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strVal val="2/3*#ppt_w"/>
                                          </p:val>
                                        </p:tav>
                                        <p:tav tm="100000">
                                          <p:val>
                                            <p:strVal val="#ppt_w"/>
                                          </p:val>
                                        </p:tav>
                                      </p:tavLst>
                                    </p:anim>
                                    <p:anim calcmode="lin" valueType="num">
                                      <p:cBhvr>
                                        <p:cTn id="8" dur="500" fill="hold"/>
                                        <p:tgtEl>
                                          <p:spTgt spid="51"/>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4156"/>
                                        </p:tgtEl>
                                        <p:attrNameLst>
                                          <p:attrName>style.visibility</p:attrName>
                                        </p:attrNameLst>
                                      </p:cBhvr>
                                      <p:to>
                                        <p:strVal val="visible"/>
                                      </p:to>
                                    </p:set>
                                    <p:animEffect transition="in" filter="blinds(vertical)">
                                      <p:cBhvr>
                                        <p:cTn id="13" dur="500"/>
                                        <p:tgtEl>
                                          <p:spTgt spid="415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88817"/>
                                        </p:tgtEl>
                                        <p:attrNameLst>
                                          <p:attrName>style.visibility</p:attrName>
                                        </p:attrNameLst>
                                      </p:cBhvr>
                                      <p:to>
                                        <p:strVal val="visible"/>
                                      </p:to>
                                    </p:set>
                                    <p:animEffect transition="in" filter="wipe(up)">
                                      <p:cBhvr>
                                        <p:cTn id="18" dur="500"/>
                                        <p:tgtEl>
                                          <p:spTgt spid="288817"/>
                                        </p:tgtEl>
                                      </p:cBhvr>
                                    </p:animEffect>
                                  </p:childTnLst>
                                </p:cTn>
                              </p:par>
                              <p:par>
                                <p:cTn id="19" presetID="23" presetClass="entr" presetSubtype="272" fill="hold" nodeType="withEffect">
                                  <p:stCondLst>
                                    <p:cond delay="0"/>
                                  </p:stCondLst>
                                  <p:childTnLst>
                                    <p:set>
                                      <p:cBhvr>
                                        <p:cTn id="20" dur="1" fill="hold">
                                          <p:stCondLst>
                                            <p:cond delay="0"/>
                                          </p:stCondLst>
                                        </p:cTn>
                                        <p:tgtEl>
                                          <p:spTgt spid="288804"/>
                                        </p:tgtEl>
                                        <p:attrNameLst>
                                          <p:attrName>style.visibility</p:attrName>
                                        </p:attrNameLst>
                                      </p:cBhvr>
                                      <p:to>
                                        <p:strVal val="visible"/>
                                      </p:to>
                                    </p:set>
                                    <p:anim calcmode="lin" valueType="num">
                                      <p:cBhvr>
                                        <p:cTn id="21" dur="500" fill="hold"/>
                                        <p:tgtEl>
                                          <p:spTgt spid="288804"/>
                                        </p:tgtEl>
                                        <p:attrNameLst>
                                          <p:attrName>ppt_w</p:attrName>
                                        </p:attrNameLst>
                                      </p:cBhvr>
                                      <p:tavLst>
                                        <p:tav tm="0">
                                          <p:val>
                                            <p:strVal val="2/3*#ppt_w"/>
                                          </p:val>
                                        </p:tav>
                                        <p:tav tm="100000">
                                          <p:val>
                                            <p:strVal val="#ppt_w"/>
                                          </p:val>
                                        </p:tav>
                                      </p:tavLst>
                                    </p:anim>
                                    <p:anim calcmode="lin" valueType="num">
                                      <p:cBhvr>
                                        <p:cTn id="22" dur="500" fill="hold"/>
                                        <p:tgtEl>
                                          <p:spTgt spid="288804"/>
                                        </p:tgtEl>
                                        <p:attrNameLst>
                                          <p:attrName>ppt_h</p:attrName>
                                        </p:attrNameLst>
                                      </p:cBhvr>
                                      <p:tavLst>
                                        <p:tav tm="0">
                                          <p:val>
                                            <p:strVal val="2/3*#ppt_h"/>
                                          </p:val>
                                        </p:tav>
                                        <p:tav tm="100000">
                                          <p:val>
                                            <p:strVal val="#ppt_h"/>
                                          </p:val>
                                        </p:tav>
                                      </p:tavLst>
                                    </p:anim>
                                  </p:childTnLst>
                                </p:cTn>
                              </p:par>
                              <p:par>
                                <p:cTn id="23" presetID="9"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dissolve">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88818"/>
                                        </p:tgtEl>
                                        <p:attrNameLst>
                                          <p:attrName>style.visibility</p:attrName>
                                        </p:attrNameLst>
                                      </p:cBhvr>
                                      <p:to>
                                        <p:strVal val="visible"/>
                                      </p:to>
                                    </p:set>
                                    <p:animEffect transition="in" filter="wipe(up)">
                                      <p:cBhvr>
                                        <p:cTn id="35" dur="500"/>
                                        <p:tgtEl>
                                          <p:spTgt spid="2888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up)">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up)">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childTnLst>
                          </p:cTn>
                        </p:par>
                        <p:par>
                          <p:cTn id="51" fill="hold">
                            <p:stCondLst>
                              <p:cond delay="500"/>
                            </p:stCondLst>
                            <p:childTnLst>
                              <p:par>
                                <p:cTn id="52" presetID="22" presetClass="entr" presetSubtype="4" fill="hold" grpId="0" nodeType="afterEffect">
                                  <p:stCondLst>
                                    <p:cond delay="0"/>
                                  </p:stCondLst>
                                  <p:childTnLst>
                                    <p:set>
                                      <p:cBhvr>
                                        <p:cTn id="53" dur="1" fill="hold">
                                          <p:stCondLst>
                                            <p:cond delay="0"/>
                                          </p:stCondLst>
                                        </p:cTn>
                                        <p:tgtEl>
                                          <p:spTgt spid="19488"/>
                                        </p:tgtEl>
                                        <p:attrNameLst>
                                          <p:attrName>style.visibility</p:attrName>
                                        </p:attrNameLst>
                                      </p:cBhvr>
                                      <p:to>
                                        <p:strVal val="visible"/>
                                      </p:to>
                                    </p:set>
                                    <p:animEffect transition="in" filter="wipe(down)">
                                      <p:cBhvr>
                                        <p:cTn id="54" dur="500"/>
                                        <p:tgtEl>
                                          <p:spTgt spid="19488"/>
                                        </p:tgtEl>
                                      </p:cBhvr>
                                    </p:animEffect>
                                  </p:childTnLst>
                                </p:cTn>
                              </p:par>
                            </p:childTnLst>
                          </p:cTn>
                        </p:par>
                        <p:par>
                          <p:cTn id="55" fill="hold">
                            <p:stCondLst>
                              <p:cond delay="1000"/>
                            </p:stCondLst>
                            <p:childTnLst>
                              <p:par>
                                <p:cTn id="56" presetID="22" presetClass="entr" presetSubtype="2" fill="hold" grpId="0" nodeType="afterEffect">
                                  <p:stCondLst>
                                    <p:cond delay="0"/>
                                  </p:stCondLst>
                                  <p:childTnLst>
                                    <p:set>
                                      <p:cBhvr>
                                        <p:cTn id="57" dur="1" fill="hold">
                                          <p:stCondLst>
                                            <p:cond delay="0"/>
                                          </p:stCondLst>
                                        </p:cTn>
                                        <p:tgtEl>
                                          <p:spTgt spid="19489"/>
                                        </p:tgtEl>
                                        <p:attrNameLst>
                                          <p:attrName>style.visibility</p:attrName>
                                        </p:attrNameLst>
                                      </p:cBhvr>
                                      <p:to>
                                        <p:strVal val="visible"/>
                                      </p:to>
                                    </p:set>
                                    <p:animEffect transition="in" filter="wipe(right)">
                                      <p:cBhvr>
                                        <p:cTn id="58" dur="500"/>
                                        <p:tgtEl>
                                          <p:spTgt spid="1948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down)">
                                      <p:cBhvr>
                                        <p:cTn id="63" dur="500"/>
                                        <p:tgtEl>
                                          <p:spTgt spid="25"/>
                                        </p:tgtEl>
                                      </p:cBhvr>
                                    </p:animEffect>
                                  </p:childTnLst>
                                </p:cTn>
                              </p:par>
                            </p:childTnLst>
                          </p:cTn>
                        </p:par>
                        <p:par>
                          <p:cTn id="64" fill="hold">
                            <p:stCondLst>
                              <p:cond delay="500"/>
                            </p:stCondLst>
                            <p:childTnLst>
                              <p:par>
                                <p:cTn id="65" presetID="9" presetClass="entr" presetSubtype="0" fill="hold" grpId="0" nodeType="afterEffect">
                                  <p:stCondLst>
                                    <p:cond delay="0"/>
                                  </p:stCondLst>
                                  <p:childTnLst>
                                    <p:set>
                                      <p:cBhvr>
                                        <p:cTn id="66" dur="1" fill="hold">
                                          <p:stCondLst>
                                            <p:cond delay="0"/>
                                          </p:stCondLst>
                                        </p:cTn>
                                        <p:tgtEl>
                                          <p:spTgt spid="19492"/>
                                        </p:tgtEl>
                                        <p:attrNameLst>
                                          <p:attrName>style.visibility</p:attrName>
                                        </p:attrNameLst>
                                      </p:cBhvr>
                                      <p:to>
                                        <p:strVal val="visible"/>
                                      </p:to>
                                    </p:set>
                                    <p:animEffect transition="in" filter="dissolve">
                                      <p:cBhvr>
                                        <p:cTn id="67" dur="500"/>
                                        <p:tgtEl>
                                          <p:spTgt spid="1949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19503"/>
                                        </p:tgtEl>
                                        <p:attrNameLst>
                                          <p:attrName>style.visibility</p:attrName>
                                        </p:attrNameLst>
                                      </p:cBhvr>
                                      <p:to>
                                        <p:strVal val="visible"/>
                                      </p:to>
                                    </p:set>
                                    <p:animEffect transition="in" filter="wipe(up)">
                                      <p:cBhvr>
                                        <p:cTn id="72" dur="500"/>
                                        <p:tgtEl>
                                          <p:spTgt spid="19503"/>
                                        </p:tgtEl>
                                      </p:cBhvr>
                                    </p:animEffect>
                                  </p:childTnLst>
                                </p:cTn>
                              </p:par>
                            </p:childTnLst>
                          </p:cTn>
                        </p:par>
                        <p:par>
                          <p:cTn id="73" fill="hold">
                            <p:stCondLst>
                              <p:cond delay="500"/>
                            </p:stCondLst>
                            <p:childTnLst>
                              <p:par>
                                <p:cTn id="74" presetID="22" presetClass="entr" presetSubtype="1" fill="hold" grpId="0" nodeType="after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wipe(up)">
                                      <p:cBhvr>
                                        <p:cTn id="7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03" grpId="0" animBg="1"/>
      <p:bldP spid="288817" grpId="0" animBg="1"/>
      <p:bldP spid="19492" grpId="0" animBg="1"/>
      <p:bldP spid="4156" grpId="0" animBg="1"/>
      <p:bldP spid="4" grpId="0"/>
      <p:bldP spid="51" grpId="0" animBg="1"/>
      <p:bldP spid="288818" grpId="0" animBg="1"/>
      <p:bldP spid="19488" grpId="0" animBg="1"/>
      <p:bldP spid="19489" grpId="0" animBg="1"/>
      <p:bldP spid="14" grpId="0" animBg="1"/>
      <p:bldP spid="26" grpId="0" animBg="1"/>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90"/>
          <p:cNvGrpSpPr>
            <a:grpSpLocks/>
          </p:cNvGrpSpPr>
          <p:nvPr/>
        </p:nvGrpSpPr>
        <p:grpSpPr bwMode="auto">
          <a:xfrm>
            <a:off x="1468092" y="2101338"/>
            <a:ext cx="2800350" cy="2800350"/>
            <a:chOff x="952" y="1368"/>
            <a:chExt cx="1764" cy="1764"/>
          </a:xfrm>
        </p:grpSpPr>
        <p:sp>
          <p:nvSpPr>
            <p:cNvPr id="36" name="Line 42"/>
            <p:cNvSpPr>
              <a:spLocks noChangeShapeType="1"/>
            </p:cNvSpPr>
            <p:nvPr/>
          </p:nvSpPr>
          <p:spPr bwMode="auto">
            <a:xfrm rot="5400000" flipV="1">
              <a:off x="1833" y="1426"/>
              <a:ext cx="1" cy="1764"/>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
          <p:nvSpPr>
            <p:cNvPr id="37" name="Line 33"/>
            <p:cNvSpPr>
              <a:spLocks noChangeShapeType="1"/>
            </p:cNvSpPr>
            <p:nvPr/>
          </p:nvSpPr>
          <p:spPr bwMode="auto">
            <a:xfrm flipV="1">
              <a:off x="1844" y="1368"/>
              <a:ext cx="1" cy="1764"/>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
          <p:nvSpPr>
            <p:cNvPr id="38" name="Line 34"/>
            <p:cNvSpPr>
              <a:spLocks noChangeShapeType="1"/>
            </p:cNvSpPr>
            <p:nvPr/>
          </p:nvSpPr>
          <p:spPr bwMode="auto">
            <a:xfrm flipV="1">
              <a:off x="1036" y="1645"/>
              <a:ext cx="1583" cy="1341"/>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
          <p:nvSpPr>
            <p:cNvPr id="39" name="Line 35"/>
            <p:cNvSpPr>
              <a:spLocks noChangeShapeType="1"/>
            </p:cNvSpPr>
            <p:nvPr/>
          </p:nvSpPr>
          <p:spPr bwMode="auto">
            <a:xfrm>
              <a:off x="1104" y="1669"/>
              <a:ext cx="1583" cy="1341"/>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grpSp>
      <p:grpSp>
        <p:nvGrpSpPr>
          <p:cNvPr id="40" name="Group 67"/>
          <p:cNvGrpSpPr>
            <a:grpSpLocks/>
          </p:cNvGrpSpPr>
          <p:nvPr/>
        </p:nvGrpSpPr>
        <p:grpSpPr bwMode="auto">
          <a:xfrm>
            <a:off x="3955954" y="2647365"/>
            <a:ext cx="2297114" cy="831852"/>
            <a:chOff x="2393" y="1373"/>
            <a:chExt cx="1447" cy="524"/>
          </a:xfrm>
        </p:grpSpPr>
        <p:sp>
          <p:nvSpPr>
            <p:cNvPr id="41" name="Text Box 43"/>
            <p:cNvSpPr txBox="1">
              <a:spLocks noChangeArrowheads="1"/>
            </p:cNvSpPr>
            <p:nvPr/>
          </p:nvSpPr>
          <p:spPr bwMode="auto">
            <a:xfrm>
              <a:off x="2588" y="1373"/>
              <a:ext cx="125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90000"/>
                </a:lnSpc>
                <a:spcBef>
                  <a:spcPct val="50000"/>
                </a:spcBef>
                <a:buFontTx/>
                <a:buNone/>
              </a:pPr>
              <a:r>
                <a:rPr lang="es-ES" sz="2400" dirty="0">
                  <a:solidFill>
                    <a:srgbClr val="008000"/>
                  </a:solidFill>
                  <a:latin typeface="Arial" panose="020B0604020202020204" pitchFamily="34" charset="0"/>
                </a:rPr>
                <a:t>Línea de campo</a:t>
              </a:r>
            </a:p>
          </p:txBody>
        </p:sp>
        <p:sp>
          <p:nvSpPr>
            <p:cNvPr id="42" name="Line 44"/>
            <p:cNvSpPr>
              <a:spLocks noChangeShapeType="1"/>
            </p:cNvSpPr>
            <p:nvPr/>
          </p:nvSpPr>
          <p:spPr bwMode="auto">
            <a:xfrm flipV="1">
              <a:off x="2393" y="1524"/>
              <a:ext cx="363" cy="1"/>
            </a:xfrm>
            <a:prstGeom prst="line">
              <a:avLst/>
            </a:prstGeom>
            <a:noFill/>
            <a:ln w="25400">
              <a:solidFill>
                <a:srgbClr val="008000"/>
              </a:solidFill>
              <a:round/>
              <a:headEnd/>
              <a:tailEnd type="stealth" w="lg" len="lg"/>
            </a:ln>
            <a:extLst>
              <a:ext uri="{909E8E84-426E-40DD-AFC4-6F175D3DCCD1}">
                <a14:hiddenFill xmlns:a14="http://schemas.microsoft.com/office/drawing/2010/main">
                  <a:noFill/>
                </a14:hiddenFill>
              </a:ext>
            </a:extLst>
          </p:spPr>
          <p:txBody>
            <a:bodyPr wrap="square" lIns="90000" tIns="82800" rIns="90000" bIns="82800">
              <a:noAutofit/>
            </a:bodyPr>
            <a:lstStyle/>
            <a:p>
              <a:endParaRPr lang="en-GB" sz="2400"/>
            </a:p>
          </p:txBody>
        </p:sp>
      </p:grpSp>
      <p:grpSp>
        <p:nvGrpSpPr>
          <p:cNvPr id="43" name="Grupo 42"/>
          <p:cNvGrpSpPr/>
          <p:nvPr/>
        </p:nvGrpSpPr>
        <p:grpSpPr>
          <a:xfrm>
            <a:off x="3101448" y="2666245"/>
            <a:ext cx="511867" cy="499616"/>
            <a:chOff x="2891101" y="2319853"/>
            <a:chExt cx="511867" cy="499616"/>
          </a:xfrm>
        </p:grpSpPr>
        <p:cxnSp>
          <p:nvCxnSpPr>
            <p:cNvPr id="44" name="Conector recto de flecha 43"/>
            <p:cNvCxnSpPr/>
            <p:nvPr/>
          </p:nvCxnSpPr>
          <p:spPr bwMode="auto">
            <a:xfrm flipV="1">
              <a:off x="3186360" y="2615508"/>
              <a:ext cx="216608" cy="186262"/>
            </a:xfrm>
            <a:prstGeom prst="straightConnector1">
              <a:avLst/>
            </a:prstGeom>
            <a:noFill/>
            <a:ln w="38100" cap="flat" cmpd="sng" algn="ctr">
              <a:solidFill>
                <a:srgbClr val="FF0000"/>
              </a:solidFill>
              <a:prstDash val="solid"/>
              <a:round/>
              <a:headEnd type="none" w="med" len="med"/>
              <a:tailEnd type="triangle"/>
            </a:ln>
            <a:effectLst/>
          </p:spPr>
        </p:cxnSp>
        <p:sp>
          <p:nvSpPr>
            <p:cNvPr id="45" name="Text Box 43"/>
            <p:cNvSpPr txBox="1">
              <a:spLocks noChangeArrowheads="1"/>
            </p:cNvSpPr>
            <p:nvPr/>
          </p:nvSpPr>
          <p:spPr bwMode="auto">
            <a:xfrm>
              <a:off x="2891101" y="2319853"/>
              <a:ext cx="428555" cy="499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90000"/>
                </a:lnSpc>
                <a:spcBef>
                  <a:spcPct val="50000"/>
                </a:spcBef>
                <a:buFontTx/>
                <a:buNone/>
              </a:pPr>
              <a:r>
                <a:rPr lang="es-ES" sz="2400">
                  <a:solidFill>
                    <a:srgbClr val="FF0000"/>
                  </a:solidFill>
                  <a:latin typeface="Arial" panose="020B0604020202020204" pitchFamily="34" charset="0"/>
                </a:rPr>
                <a:t>E</a:t>
              </a:r>
            </a:p>
          </p:txBody>
        </p:sp>
        <p:cxnSp>
          <p:nvCxnSpPr>
            <p:cNvPr id="46" name="Conector recto de flecha 45"/>
            <p:cNvCxnSpPr/>
            <p:nvPr/>
          </p:nvCxnSpPr>
          <p:spPr bwMode="auto">
            <a:xfrm>
              <a:off x="2991255" y="2380350"/>
              <a:ext cx="228245" cy="0"/>
            </a:xfrm>
            <a:prstGeom prst="straightConnector1">
              <a:avLst/>
            </a:prstGeom>
            <a:noFill/>
            <a:ln w="12700" cap="flat" cmpd="sng" algn="ctr">
              <a:solidFill>
                <a:srgbClr val="FF0000"/>
              </a:solidFill>
              <a:prstDash val="solid"/>
              <a:round/>
              <a:headEnd type="none" w="med" len="med"/>
              <a:tailEnd type="triangle"/>
            </a:ln>
            <a:effectLst/>
          </p:spPr>
        </p:cxnSp>
      </p:grpSp>
      <p:sp>
        <p:nvSpPr>
          <p:cNvPr id="4158" name="Text Box 113"/>
          <p:cNvSpPr txBox="1">
            <a:spLocks noChangeArrowheads="1"/>
          </p:cNvSpPr>
          <p:nvPr/>
        </p:nvSpPr>
        <p:spPr bwMode="auto">
          <a:xfrm>
            <a:off x="6510965" y="1813174"/>
            <a:ext cx="3477097" cy="1202510"/>
          </a:xfrm>
          <a:prstGeom prst="rect">
            <a:avLst/>
          </a:prstGeom>
          <a:solidFill>
            <a:schemeClr val="bg2">
              <a:lumMod val="60000"/>
              <a:lumOff val="40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a:latin typeface="Arial" panose="020B0604020202020204" pitchFamily="34" charset="0"/>
                <a:sym typeface="Symbol" panose="05050102010706020507" pitchFamily="18" charset="2"/>
              </a:rPr>
              <a:t>Si pintamos </a:t>
            </a:r>
            <a:r>
              <a:rPr lang="es-ES" sz="2400" dirty="0">
                <a:latin typeface="Arial" panose="020B0604020202020204" pitchFamily="34" charset="0"/>
                <a:sym typeface="Symbol" panose="05050102010706020507" pitchFamily="18" charset="2"/>
              </a:rPr>
              <a:t>algunas a un </a:t>
            </a:r>
            <a:r>
              <a:rPr lang="es-ES" sz="2400">
                <a:latin typeface="Arial" panose="020B0604020202020204" pitchFamily="34" charset="0"/>
                <a:sym typeface="Symbol" panose="05050102010706020507" pitchFamily="18" charset="2"/>
              </a:rPr>
              <a:t>V fijo </a:t>
            </a:r>
            <a:r>
              <a:rPr lang="es-ES" sz="2400" dirty="0">
                <a:latin typeface="Arial" panose="020B0604020202020204" pitchFamily="34" charset="0"/>
                <a:sym typeface="Symbol" panose="05050102010706020507" pitchFamily="18" charset="2"/>
              </a:rPr>
              <a:t>entre ellas, ¿a qué distancia están?</a:t>
            </a:r>
          </a:p>
        </p:txBody>
      </p:sp>
      <p:pic>
        <p:nvPicPr>
          <p:cNvPr id="288804" name="Picture 3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3007" y="3366572"/>
            <a:ext cx="43973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nvGrpSpPr>
          <p:cNvPr id="8" name="Group 88"/>
          <p:cNvGrpSpPr>
            <a:grpSpLocks/>
          </p:cNvGrpSpPr>
          <p:nvPr/>
        </p:nvGrpSpPr>
        <p:grpSpPr bwMode="auto">
          <a:xfrm>
            <a:off x="1799882" y="2493447"/>
            <a:ext cx="2159000" cy="2159000"/>
            <a:chOff x="1161" y="1615"/>
            <a:chExt cx="1360" cy="1360"/>
          </a:xfrm>
        </p:grpSpPr>
        <p:sp>
          <p:nvSpPr>
            <p:cNvPr id="19490" name="Oval 37"/>
            <p:cNvSpPr>
              <a:spLocks noChangeArrowheads="1"/>
            </p:cNvSpPr>
            <p:nvPr/>
          </p:nvSpPr>
          <p:spPr bwMode="auto">
            <a:xfrm>
              <a:off x="1677" y="2124"/>
              <a:ext cx="340" cy="34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9491" name="Oval 38"/>
            <p:cNvSpPr>
              <a:spLocks noChangeArrowheads="1"/>
            </p:cNvSpPr>
            <p:nvPr/>
          </p:nvSpPr>
          <p:spPr bwMode="auto">
            <a:xfrm>
              <a:off x="1506" y="1960"/>
              <a:ext cx="680" cy="68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9492" name="Oval 39"/>
            <p:cNvSpPr>
              <a:spLocks noChangeArrowheads="1"/>
            </p:cNvSpPr>
            <p:nvPr/>
          </p:nvSpPr>
          <p:spPr bwMode="auto">
            <a:xfrm>
              <a:off x="1161" y="1615"/>
              <a:ext cx="1360" cy="136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9493" name="Oval 83"/>
            <p:cNvSpPr>
              <a:spLocks noChangeArrowheads="1"/>
            </p:cNvSpPr>
            <p:nvPr/>
          </p:nvSpPr>
          <p:spPr bwMode="auto">
            <a:xfrm>
              <a:off x="1627" y="2072"/>
              <a:ext cx="453" cy="453"/>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graphicFrame>
        <p:nvGraphicFramePr>
          <p:cNvPr id="288891" name="Object 123"/>
          <p:cNvGraphicFramePr>
            <a:graphicFrameLocks noChangeAspect="1"/>
          </p:cNvGraphicFramePr>
          <p:nvPr>
            <p:extLst>
              <p:ext uri="{D42A27DB-BD31-4B8C-83A1-F6EECF244321}">
                <p14:modId xmlns:p14="http://schemas.microsoft.com/office/powerpoint/2010/main" val="4101288911"/>
              </p:ext>
            </p:extLst>
          </p:nvPr>
        </p:nvGraphicFramePr>
        <p:xfrm>
          <a:off x="7420598" y="3938073"/>
          <a:ext cx="1833562" cy="682625"/>
        </p:xfrm>
        <a:graphic>
          <a:graphicData uri="http://schemas.openxmlformats.org/presentationml/2006/ole">
            <mc:AlternateContent xmlns:mc="http://schemas.openxmlformats.org/markup-compatibility/2006">
              <mc:Choice xmlns:v="urn:schemas-microsoft-com:vml" Requires="v">
                <p:oleObj name="Ecuación" r:id="rId4" imgW="850531" imgH="317362" progId="Equation.3">
                  <p:embed/>
                </p:oleObj>
              </mc:Choice>
              <mc:Fallback>
                <p:oleObj name="Ecuación" r:id="rId4" imgW="850531" imgH="31736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0598" y="3938073"/>
                        <a:ext cx="1833562"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149"/>
          <p:cNvGraphicFramePr>
            <a:graphicFrameLocks noChangeAspect="1"/>
          </p:cNvGraphicFramePr>
          <p:nvPr>
            <p:extLst>
              <p:ext uri="{D42A27DB-BD31-4B8C-83A1-F6EECF244321}">
                <p14:modId xmlns:p14="http://schemas.microsoft.com/office/powerpoint/2010/main" val="738950461"/>
              </p:ext>
            </p:extLst>
          </p:nvPr>
        </p:nvGraphicFramePr>
        <p:xfrm>
          <a:off x="6900060" y="3348815"/>
          <a:ext cx="2406650" cy="517525"/>
        </p:xfrm>
        <a:graphic>
          <a:graphicData uri="http://schemas.openxmlformats.org/presentationml/2006/ole">
            <mc:AlternateContent xmlns:mc="http://schemas.openxmlformats.org/markup-compatibility/2006">
              <mc:Choice xmlns:v="urn:schemas-microsoft-com:vml" Requires="v">
                <p:oleObj name="Ecuación" r:id="rId6" imgW="1117600" imgH="241300" progId="Equation.3">
                  <p:embed/>
                </p:oleObj>
              </mc:Choice>
              <mc:Fallback>
                <p:oleObj name="Ecuación" r:id="rId6" imgW="11176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00060" y="3348815"/>
                        <a:ext cx="240665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56" name="Text Box 60"/>
          <p:cNvSpPr txBox="1">
            <a:spLocks noChangeArrowheads="1"/>
          </p:cNvSpPr>
          <p:nvPr/>
        </p:nvSpPr>
        <p:spPr bwMode="auto">
          <a:xfrm>
            <a:off x="2399169" y="1055688"/>
            <a:ext cx="6736437" cy="463846"/>
          </a:xfrm>
          <a:prstGeom prst="rect">
            <a:avLst/>
          </a:prstGeom>
          <a:solidFill>
            <a:schemeClr val="accent1">
              <a:lumMod val="60000"/>
              <a:lumOff val="40000"/>
            </a:schemeClr>
          </a:solidFill>
          <a:ln>
            <a:noFill/>
          </a:ln>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Superficies con el mismo V en todos sus puntos</a:t>
            </a:r>
          </a:p>
        </p:txBody>
      </p:sp>
      <p:sp>
        <p:nvSpPr>
          <p:cNvPr id="4160" name="Text Box 64"/>
          <p:cNvSpPr txBox="1">
            <a:spLocks noChangeArrowheads="1"/>
          </p:cNvSpPr>
          <p:nvPr/>
        </p:nvSpPr>
        <p:spPr bwMode="auto">
          <a:xfrm>
            <a:off x="7055102" y="3702601"/>
            <a:ext cx="676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cte.</a:t>
            </a:r>
          </a:p>
        </p:txBody>
      </p:sp>
      <p:sp>
        <p:nvSpPr>
          <p:cNvPr id="11" name="Text Box 67"/>
          <p:cNvSpPr txBox="1">
            <a:spLocks noChangeArrowheads="1"/>
          </p:cNvSpPr>
          <p:nvPr/>
        </p:nvSpPr>
        <p:spPr bwMode="auto">
          <a:xfrm>
            <a:off x="9020971" y="4341301"/>
            <a:ext cx="701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cte.</a:t>
            </a:r>
          </a:p>
        </p:txBody>
      </p:sp>
      <p:grpSp>
        <p:nvGrpSpPr>
          <p:cNvPr id="4169" name="Group 73"/>
          <p:cNvGrpSpPr>
            <a:grpSpLocks/>
          </p:cNvGrpSpPr>
          <p:nvPr/>
        </p:nvGrpSpPr>
        <p:grpSpPr bwMode="auto">
          <a:xfrm>
            <a:off x="8525669" y="4560855"/>
            <a:ext cx="752475" cy="609600"/>
            <a:chOff x="2896" y="3909"/>
            <a:chExt cx="474" cy="384"/>
          </a:xfrm>
        </p:grpSpPr>
        <p:sp>
          <p:nvSpPr>
            <p:cNvPr id="19486" name="Text Box 65"/>
            <p:cNvSpPr txBox="1">
              <a:spLocks noChangeArrowheads="1"/>
            </p:cNvSpPr>
            <p:nvPr/>
          </p:nvSpPr>
          <p:spPr bwMode="auto">
            <a:xfrm>
              <a:off x="2896" y="4062"/>
              <a:ext cx="47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baja con r</a:t>
              </a:r>
            </a:p>
          </p:txBody>
        </p:sp>
        <p:sp>
          <p:nvSpPr>
            <p:cNvPr id="19487" name="Line 68"/>
            <p:cNvSpPr>
              <a:spLocks noChangeShapeType="1"/>
            </p:cNvSpPr>
            <p:nvPr/>
          </p:nvSpPr>
          <p:spPr bwMode="auto">
            <a:xfrm>
              <a:off x="2974" y="3909"/>
              <a:ext cx="0" cy="136"/>
            </a:xfrm>
            <a:prstGeom prst="line">
              <a:avLst/>
            </a:prstGeom>
            <a:noFill/>
            <a:ln w="254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p>
              <a:endParaRPr lang="en-GB" sz="2400">
                <a:solidFill>
                  <a:srgbClr val="008000"/>
                </a:solidFill>
              </a:endParaRPr>
            </a:p>
          </p:txBody>
        </p:sp>
      </p:grpSp>
      <p:sp>
        <p:nvSpPr>
          <p:cNvPr id="19485" name="Text Box 66"/>
          <p:cNvSpPr txBox="1">
            <a:spLocks noChangeArrowheads="1"/>
          </p:cNvSpPr>
          <p:nvPr/>
        </p:nvSpPr>
        <p:spPr bwMode="auto">
          <a:xfrm>
            <a:off x="6313717" y="5304602"/>
            <a:ext cx="3976691" cy="1571624"/>
          </a:xfrm>
          <a:prstGeom prst="rect">
            <a:avLst/>
          </a:prstGeom>
          <a:solidFill>
            <a:srgbClr val="FFFF99"/>
          </a:solidFill>
          <a:ln>
            <a:noFill/>
          </a:ln>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latin typeface="Arial" panose="020B0604020202020204" pitchFamily="34" charset="0"/>
              </a:rPr>
              <a:t>Cuanto mayor sea r, </a:t>
            </a:r>
            <a:r>
              <a:rPr lang="es-ES" sz="2400">
                <a:latin typeface="Arial" panose="020B0604020202020204" pitchFamily="34" charset="0"/>
              </a:rPr>
              <a:t>más desplazamientos dl, </a:t>
            </a:r>
            <a:r>
              <a:rPr lang="es-ES" sz="2400" dirty="0">
                <a:latin typeface="Arial" panose="020B0604020202020204" pitchFamily="34" charset="0"/>
              </a:rPr>
              <a:t>más sumandos, hacen falta para tener un determinado </a:t>
            </a:r>
            <a:r>
              <a:rPr lang="es-ES" sz="2400" dirty="0">
                <a:latin typeface="Arial" panose="020B0604020202020204" pitchFamily="34" charset="0"/>
                <a:sym typeface="Symbol" panose="05050102010706020507" pitchFamily="18" charset="2"/>
              </a:rPr>
              <a:t>V</a:t>
            </a:r>
          </a:p>
        </p:txBody>
      </p:sp>
      <p:sp>
        <p:nvSpPr>
          <p:cNvPr id="12" name="AutoShape 69"/>
          <p:cNvSpPr>
            <a:spLocks noChangeArrowheads="1"/>
          </p:cNvSpPr>
          <p:nvPr/>
        </p:nvSpPr>
        <p:spPr bwMode="auto">
          <a:xfrm flipH="1">
            <a:off x="5415585" y="5816177"/>
            <a:ext cx="668338" cy="584200"/>
          </a:xfrm>
          <a:prstGeom prst="rightArrow">
            <a:avLst>
              <a:gd name="adj1" fmla="val 53944"/>
              <a:gd name="adj2" fmla="val 5481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sp>
        <p:nvSpPr>
          <p:cNvPr id="19483" name="Text Box 113"/>
          <p:cNvSpPr txBox="1">
            <a:spLocks noChangeArrowheads="1"/>
          </p:cNvSpPr>
          <p:nvPr/>
        </p:nvSpPr>
        <p:spPr bwMode="auto">
          <a:xfrm>
            <a:off x="2788620" y="5688124"/>
            <a:ext cx="2375156" cy="833178"/>
          </a:xfrm>
          <a:prstGeom prst="rect">
            <a:avLst/>
          </a:prstGeom>
          <a:solidFill>
            <a:schemeClr val="accent1">
              <a:lumMod val="60000"/>
              <a:lumOff val="40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sym typeface="Symbol" panose="05050102010706020507" pitchFamily="18" charset="2"/>
              </a:rPr>
              <a:t>No están equiespaciadas </a:t>
            </a:r>
          </a:p>
        </p:txBody>
      </p:sp>
      <p:grpSp>
        <p:nvGrpSpPr>
          <p:cNvPr id="4168" name="Group 72"/>
          <p:cNvGrpSpPr>
            <a:grpSpLocks/>
          </p:cNvGrpSpPr>
          <p:nvPr/>
        </p:nvGrpSpPr>
        <p:grpSpPr bwMode="auto">
          <a:xfrm>
            <a:off x="4556222" y="4034406"/>
            <a:ext cx="2886073" cy="833438"/>
            <a:chOff x="1673" y="3967"/>
            <a:chExt cx="1818" cy="525"/>
          </a:xfrm>
        </p:grpSpPr>
        <p:sp>
          <p:nvSpPr>
            <p:cNvPr id="19482" name="Text Box 127"/>
            <p:cNvSpPr txBox="1">
              <a:spLocks noChangeArrowheads="1"/>
            </p:cNvSpPr>
            <p:nvPr/>
          </p:nvSpPr>
          <p:spPr bwMode="auto">
            <a:xfrm>
              <a:off x="1673" y="3967"/>
              <a:ext cx="1217"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008000"/>
                  </a:solidFill>
                  <a:latin typeface="Arial" panose="020B0604020202020204" pitchFamily="34" charset="0"/>
                </a:rPr>
                <a:t>A lo largo de una línea</a:t>
              </a:r>
            </a:p>
          </p:txBody>
        </p:sp>
        <p:sp>
          <p:nvSpPr>
            <p:cNvPr id="13" name="Line 71"/>
            <p:cNvSpPr>
              <a:spLocks noChangeShapeType="1"/>
            </p:cNvSpPr>
            <p:nvPr/>
          </p:nvSpPr>
          <p:spPr bwMode="auto">
            <a:xfrm flipV="1">
              <a:off x="2906" y="4128"/>
              <a:ext cx="585" cy="0"/>
            </a:xfrm>
            <a:prstGeom prst="line">
              <a:avLst/>
            </a:prstGeom>
            <a:noFill/>
            <a:ln w="25400">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p>
              <a:endParaRPr lang="en-GB" sz="2400"/>
            </a:p>
          </p:txBody>
        </p:sp>
      </p:grpSp>
      <p:sp>
        <p:nvSpPr>
          <p:cNvPr id="4" name="CuadroTexto 3"/>
          <p:cNvSpPr txBox="1">
            <a:spLocks noChangeArrowheads="1"/>
          </p:cNvSpPr>
          <p:nvPr/>
        </p:nvSpPr>
        <p:spPr bwMode="auto">
          <a:xfrm>
            <a:off x="2172944" y="3371335"/>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t>Q</a:t>
            </a:r>
          </a:p>
        </p:txBody>
      </p:sp>
      <p:sp>
        <p:nvSpPr>
          <p:cNvPr id="51" name="Text Box 60"/>
          <p:cNvSpPr txBox="1">
            <a:spLocks noChangeArrowheads="1"/>
          </p:cNvSpPr>
          <p:nvPr/>
        </p:nvSpPr>
        <p:spPr bwMode="auto">
          <a:xfrm>
            <a:off x="3165556" y="416273"/>
            <a:ext cx="5261158" cy="514738"/>
          </a:xfrm>
          <a:prstGeom prst="rect">
            <a:avLst/>
          </a:prstGeom>
          <a:solidFill>
            <a:srgbClr val="666699"/>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FFFF"/>
                </a:solidFill>
                <a:latin typeface="Arial" panose="020B0604020202020204" pitchFamily="34" charset="0"/>
              </a:rPr>
              <a:t>SUPERFICIES EQUIPOTENCIALES</a:t>
            </a:r>
          </a:p>
        </p:txBody>
      </p:sp>
      <p:sp>
        <p:nvSpPr>
          <p:cNvPr id="55" name="AutoShape 69"/>
          <p:cNvSpPr>
            <a:spLocks noChangeArrowheads="1"/>
          </p:cNvSpPr>
          <p:nvPr/>
        </p:nvSpPr>
        <p:spPr bwMode="auto">
          <a:xfrm rot="14788936">
            <a:off x="3366056" y="4959962"/>
            <a:ext cx="456484" cy="584200"/>
          </a:xfrm>
          <a:prstGeom prst="rightArrow">
            <a:avLst>
              <a:gd name="adj1" fmla="val 53944"/>
              <a:gd name="adj2" fmla="val 5481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spTree>
    <p:extLst>
      <p:ext uri="{BB962C8B-B14F-4D97-AF65-F5344CB8AC3E}">
        <p14:creationId xmlns:p14="http://schemas.microsoft.com/office/powerpoint/2010/main" val="4117368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158"/>
                                        </p:tgtEl>
                                        <p:attrNameLst>
                                          <p:attrName>style.visibility</p:attrName>
                                        </p:attrNameLst>
                                      </p:cBhvr>
                                      <p:to>
                                        <p:strVal val="visible"/>
                                      </p:to>
                                    </p:set>
                                    <p:animEffect transition="in" filter="wipe(up)">
                                      <p:cBhvr>
                                        <p:cTn id="7" dur="500"/>
                                        <p:tgtEl>
                                          <p:spTgt spid="41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99"/>
                                        </p:tgtEl>
                                        <p:attrNameLst>
                                          <p:attrName>style.visibility</p:attrName>
                                        </p:attrNameLst>
                                      </p:cBhvr>
                                      <p:to>
                                        <p:strVal val="visible"/>
                                      </p:to>
                                    </p:set>
                                    <p:animEffect transition="in" filter="wipe(left)">
                                      <p:cBhvr>
                                        <p:cTn id="12" dur="500"/>
                                        <p:tgtEl>
                                          <p:spTgt spid="409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32"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diamond(out)">
                                      <p:cBhvr>
                                        <p:cTn id="17" dur="500"/>
                                        <p:tgtEl>
                                          <p:spTgt spid="35"/>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par>
                          <p:cTn id="22" fill="hold">
                            <p:stCondLst>
                              <p:cond delay="1000"/>
                            </p:stCondLst>
                            <p:childTnLst>
                              <p:par>
                                <p:cTn id="23" presetID="18" presetClass="entr" presetSubtype="3" fill="hold"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strips(upRight)">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168"/>
                                        </p:tgtEl>
                                        <p:attrNameLst>
                                          <p:attrName>style.visibility</p:attrName>
                                        </p:attrNameLst>
                                      </p:cBhvr>
                                      <p:to>
                                        <p:strVal val="visible"/>
                                      </p:to>
                                    </p:set>
                                    <p:animEffect transition="in" filter="wipe(left)">
                                      <p:cBhvr>
                                        <p:cTn id="30" dur="500"/>
                                        <p:tgtEl>
                                          <p:spTgt spid="416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88891"/>
                                        </p:tgtEl>
                                        <p:attrNameLst>
                                          <p:attrName>style.visibility</p:attrName>
                                        </p:attrNameLst>
                                      </p:cBhvr>
                                      <p:to>
                                        <p:strVal val="visible"/>
                                      </p:to>
                                    </p:set>
                                    <p:animEffect transition="in" filter="wipe(left)">
                                      <p:cBhvr>
                                        <p:cTn id="35" dur="500"/>
                                        <p:tgtEl>
                                          <p:spTgt spid="288891"/>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272" fill="hold" grpId="0" nodeType="clickEffect">
                                  <p:stCondLst>
                                    <p:cond delay="0"/>
                                  </p:stCondLst>
                                  <p:childTnLst>
                                    <p:set>
                                      <p:cBhvr>
                                        <p:cTn id="39" dur="1" fill="hold">
                                          <p:stCondLst>
                                            <p:cond delay="0"/>
                                          </p:stCondLst>
                                        </p:cTn>
                                        <p:tgtEl>
                                          <p:spTgt spid="4160"/>
                                        </p:tgtEl>
                                        <p:attrNameLst>
                                          <p:attrName>style.visibility</p:attrName>
                                        </p:attrNameLst>
                                      </p:cBhvr>
                                      <p:to>
                                        <p:strVal val="visible"/>
                                      </p:to>
                                    </p:set>
                                    <p:anim calcmode="lin" valueType="num">
                                      <p:cBhvr>
                                        <p:cTn id="40" dur="500" fill="hold"/>
                                        <p:tgtEl>
                                          <p:spTgt spid="4160"/>
                                        </p:tgtEl>
                                        <p:attrNameLst>
                                          <p:attrName>ppt_w</p:attrName>
                                        </p:attrNameLst>
                                      </p:cBhvr>
                                      <p:tavLst>
                                        <p:tav tm="0">
                                          <p:val>
                                            <p:strVal val="2/3*#ppt_w"/>
                                          </p:val>
                                        </p:tav>
                                        <p:tav tm="100000">
                                          <p:val>
                                            <p:strVal val="#ppt_w"/>
                                          </p:val>
                                        </p:tav>
                                      </p:tavLst>
                                    </p:anim>
                                    <p:anim calcmode="lin" valueType="num">
                                      <p:cBhvr>
                                        <p:cTn id="41" dur="500" fill="hold"/>
                                        <p:tgtEl>
                                          <p:spTgt spid="4160"/>
                                        </p:tgtEl>
                                        <p:attrNameLst>
                                          <p:attrName>ppt_h</p:attrName>
                                        </p:attrNameLst>
                                      </p:cBhvr>
                                      <p:tavLst>
                                        <p:tav tm="0">
                                          <p:val>
                                            <p:strVal val="2/3*#ppt_h"/>
                                          </p:val>
                                        </p:tav>
                                        <p:tav tm="100000">
                                          <p:val>
                                            <p:strVal val="#ppt_h"/>
                                          </p:val>
                                        </p:tav>
                                      </p:tavLst>
                                    </p:anim>
                                  </p:childTnLst>
                                </p:cTn>
                              </p:par>
                            </p:childTnLst>
                          </p:cTn>
                        </p:par>
                        <p:par>
                          <p:cTn id="42" fill="hold" nodeType="withGroup">
                            <p:stCondLst>
                              <p:cond delay="500"/>
                            </p:stCondLst>
                            <p:childTnLst>
                              <p:par>
                                <p:cTn id="43" presetID="23" presetClass="entr" presetSubtype="272"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500" fill="hold"/>
                                        <p:tgtEl>
                                          <p:spTgt spid="11"/>
                                        </p:tgtEl>
                                        <p:attrNameLst>
                                          <p:attrName>ppt_w</p:attrName>
                                        </p:attrNameLst>
                                      </p:cBhvr>
                                      <p:tavLst>
                                        <p:tav tm="0">
                                          <p:val>
                                            <p:strVal val="2/3*#ppt_w"/>
                                          </p:val>
                                        </p:tav>
                                        <p:tav tm="100000">
                                          <p:val>
                                            <p:strVal val="#ppt_w"/>
                                          </p:val>
                                        </p:tav>
                                      </p:tavLst>
                                    </p:anim>
                                    <p:anim calcmode="lin" valueType="num">
                                      <p:cBhvr>
                                        <p:cTn id="46" dur="500" fill="hold"/>
                                        <p:tgtEl>
                                          <p:spTgt spid="11"/>
                                        </p:tgtEl>
                                        <p:attrNameLst>
                                          <p:attrName>ppt_h</p:attrName>
                                        </p:attrNameLst>
                                      </p:cBhvr>
                                      <p:tavLst>
                                        <p:tav tm="0">
                                          <p:val>
                                            <p:strVal val="2/3*#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4169"/>
                                        </p:tgtEl>
                                        <p:attrNameLst>
                                          <p:attrName>style.visibility</p:attrName>
                                        </p:attrNameLst>
                                      </p:cBhvr>
                                      <p:to>
                                        <p:strVal val="visible"/>
                                      </p:to>
                                    </p:set>
                                    <p:animEffect transition="in" filter="wipe(up)">
                                      <p:cBhvr>
                                        <p:cTn id="51" dur="500"/>
                                        <p:tgtEl>
                                          <p:spTgt spid="4169"/>
                                        </p:tgtEl>
                                      </p:cBhvr>
                                    </p:animEffect>
                                  </p:childTnLst>
                                </p:cTn>
                              </p:par>
                            </p:childTnLst>
                          </p:cTn>
                        </p:par>
                      </p:childTnLst>
                    </p:cTn>
                  </p:par>
                  <p:par>
                    <p:cTn id="52" fill="hold">
                      <p:stCondLst>
                        <p:cond delay="indefinite"/>
                      </p:stCondLst>
                      <p:childTnLst>
                        <p:par>
                          <p:cTn id="53" fill="hold" nodeType="withGroup">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9485"/>
                                        </p:tgtEl>
                                        <p:attrNameLst>
                                          <p:attrName>style.visibility</p:attrName>
                                        </p:attrNameLst>
                                      </p:cBhvr>
                                      <p:to>
                                        <p:strVal val="visible"/>
                                      </p:to>
                                    </p:set>
                                    <p:animEffect transition="in" filter="wipe(up)">
                                      <p:cBhvr>
                                        <p:cTn id="56" dur="500"/>
                                        <p:tgtEl>
                                          <p:spTgt spid="1948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right)">
                                      <p:cBhvr>
                                        <p:cTn id="61" dur="500"/>
                                        <p:tgtEl>
                                          <p:spTgt spid="12"/>
                                        </p:tgtEl>
                                      </p:cBhvr>
                                    </p:animEffect>
                                  </p:childTnLst>
                                </p:cTn>
                              </p:par>
                            </p:childTnLst>
                          </p:cTn>
                        </p:par>
                        <p:par>
                          <p:cTn id="62" fill="hold">
                            <p:stCondLst>
                              <p:cond delay="500"/>
                            </p:stCondLst>
                            <p:childTnLst>
                              <p:par>
                                <p:cTn id="63" presetID="3" presetClass="entr" presetSubtype="5" fill="hold" grpId="0" nodeType="afterEffect">
                                  <p:stCondLst>
                                    <p:cond delay="0"/>
                                  </p:stCondLst>
                                  <p:childTnLst>
                                    <p:set>
                                      <p:cBhvr>
                                        <p:cTn id="64" dur="1" fill="hold">
                                          <p:stCondLst>
                                            <p:cond delay="0"/>
                                          </p:stCondLst>
                                        </p:cTn>
                                        <p:tgtEl>
                                          <p:spTgt spid="19483"/>
                                        </p:tgtEl>
                                        <p:attrNameLst>
                                          <p:attrName>style.visibility</p:attrName>
                                        </p:attrNameLst>
                                      </p:cBhvr>
                                      <p:to>
                                        <p:strVal val="visible"/>
                                      </p:to>
                                    </p:set>
                                    <p:animEffect transition="in" filter="blinds(vertical)">
                                      <p:cBhvr>
                                        <p:cTn id="65" dur="500"/>
                                        <p:tgtEl>
                                          <p:spTgt spid="1948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wipe(down)">
                                      <p:cBhvr>
                                        <p:cTn id="70" dur="500"/>
                                        <p:tgtEl>
                                          <p:spTgt spid="55"/>
                                        </p:tgtEl>
                                      </p:cBhvr>
                                    </p:animEffect>
                                  </p:childTnLst>
                                </p:cTn>
                              </p:par>
                            </p:childTnLst>
                          </p:cTn>
                        </p:par>
                        <p:par>
                          <p:cTn id="71" fill="hold">
                            <p:stCondLst>
                              <p:cond delay="500"/>
                            </p:stCondLst>
                            <p:childTnLst>
                              <p:par>
                                <p:cTn id="72" presetID="8" presetClass="entr" presetSubtype="32" fill="hold" nodeType="after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diamond(out)">
                                      <p:cBhvr>
                                        <p:cTn id="7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8" grpId="0" animBg="1"/>
      <p:bldP spid="4160" grpId="0"/>
      <p:bldP spid="11" grpId="0"/>
      <p:bldP spid="19485" grpId="0" animBg="1"/>
      <p:bldP spid="12" grpId="0" animBg="1"/>
      <p:bldP spid="19483" grpId="0" animBg="1"/>
      <p:bldP spid="5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p:cNvSpPr txBox="1">
            <a:spLocks noChangeArrowheads="1"/>
          </p:cNvSpPr>
          <p:nvPr/>
        </p:nvSpPr>
        <p:spPr bwMode="auto">
          <a:xfrm>
            <a:off x="4707307" y="2057017"/>
            <a:ext cx="5905837" cy="830997"/>
          </a:xfrm>
          <a:prstGeom prst="rect">
            <a:avLst/>
          </a:prstGeom>
          <a:solidFill>
            <a:srgbClr val="FFFFFF"/>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ym typeface="Wingdings" panose="05000000000000000000" pitchFamily="2" charset="2"/>
              </a:rPr>
              <a:t></a:t>
            </a:r>
            <a:r>
              <a:rPr lang="es-ES" sz="2400" dirty="0">
                <a:sym typeface="Symbol" panose="05050102010706020507" pitchFamily="18" charset="2"/>
              </a:rPr>
              <a:t> </a:t>
            </a:r>
            <a:r>
              <a:rPr lang="es-ES" sz="2400" dirty="0">
                <a:solidFill>
                  <a:srgbClr val="3333FF"/>
                </a:solidFill>
                <a:sym typeface="Symbol" panose="05050102010706020507" pitchFamily="18" charset="2"/>
              </a:rPr>
              <a:t>No se cortan</a:t>
            </a:r>
          </a:p>
          <a:p>
            <a:r>
              <a:rPr lang="es-ES" sz="2400" dirty="0">
                <a:sym typeface="Symbol" panose="05050102010706020507" pitchFamily="18" charset="2"/>
              </a:rPr>
              <a:t>    Porque corresponden a distinto V</a:t>
            </a:r>
            <a:endParaRPr lang="es-ES" sz="2400" dirty="0"/>
          </a:p>
        </p:txBody>
      </p:sp>
      <p:sp>
        <p:nvSpPr>
          <p:cNvPr id="53" name="CuadroTexto 52"/>
          <p:cNvSpPr txBox="1">
            <a:spLocks noChangeArrowheads="1"/>
          </p:cNvSpPr>
          <p:nvPr/>
        </p:nvSpPr>
        <p:spPr bwMode="auto">
          <a:xfrm>
            <a:off x="4708684" y="4905593"/>
            <a:ext cx="5905837" cy="1569660"/>
          </a:xfrm>
          <a:prstGeom prst="rect">
            <a:avLst/>
          </a:prstGeom>
          <a:solidFill>
            <a:srgbClr val="FFFFFF"/>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ym typeface="Wingdings" panose="05000000000000000000" pitchFamily="2" charset="2"/>
              </a:rPr>
              <a:t></a:t>
            </a:r>
            <a:r>
              <a:rPr lang="es-ES" sz="2400" dirty="0">
                <a:sym typeface="Symbol" panose="05050102010706020507" pitchFamily="18" charset="2"/>
              </a:rPr>
              <a:t> </a:t>
            </a:r>
            <a:r>
              <a:rPr lang="es-ES" sz="2400" dirty="0">
                <a:solidFill>
                  <a:srgbClr val="3333FF"/>
                </a:solidFill>
                <a:sym typeface="Symbol" panose="05050102010706020507" pitchFamily="18" charset="2"/>
              </a:rPr>
              <a:t>Cuanto más juntas estén,</a:t>
            </a:r>
          </a:p>
          <a:p>
            <a:r>
              <a:rPr lang="es-ES" sz="2400" dirty="0">
                <a:solidFill>
                  <a:srgbClr val="3333FF"/>
                </a:solidFill>
                <a:sym typeface="Symbol" panose="05050102010706020507" pitchFamily="18" charset="2"/>
              </a:rPr>
              <a:t>    mayor es el campo</a:t>
            </a:r>
          </a:p>
          <a:p>
            <a:r>
              <a:rPr lang="es-ES" sz="2400">
                <a:solidFill>
                  <a:srgbClr val="3333FF"/>
                </a:solidFill>
                <a:sym typeface="Symbol" panose="05050102010706020507" pitchFamily="18" charset="2"/>
              </a:rPr>
              <a:t>    </a:t>
            </a:r>
            <a:r>
              <a:rPr lang="es-ES" sz="2400">
                <a:sym typeface="Symbol" panose="05050102010706020507" pitchFamily="18" charset="2"/>
              </a:rPr>
              <a:t>Porque mayor es la </a:t>
            </a:r>
            <a:r>
              <a:rPr lang="es-ES" sz="2400" dirty="0">
                <a:sym typeface="Symbol" panose="05050102010706020507" pitchFamily="18" charset="2"/>
              </a:rPr>
              <a:t>variación </a:t>
            </a:r>
            <a:r>
              <a:rPr lang="es-ES" sz="2400">
                <a:sym typeface="Symbol" panose="05050102010706020507" pitchFamily="18" charset="2"/>
              </a:rPr>
              <a:t>de V</a:t>
            </a:r>
          </a:p>
          <a:p>
            <a:r>
              <a:rPr lang="es-ES" sz="2400">
                <a:sym typeface="Symbol" panose="05050102010706020507" pitchFamily="18" charset="2"/>
              </a:rPr>
              <a:t>    por unidad de longitud (el módulo de </a:t>
            </a:r>
            <a:r>
              <a:rPr lang="es-ES" sz="2400" b="1">
                <a:sym typeface="Symbol" panose="05050102010706020507" pitchFamily="18" charset="2"/>
              </a:rPr>
              <a:t>E</a:t>
            </a:r>
            <a:r>
              <a:rPr lang="es-ES" sz="2400">
                <a:sym typeface="Symbol" panose="05050102010706020507" pitchFamily="18" charset="2"/>
              </a:rPr>
              <a:t>)</a:t>
            </a:r>
            <a:endParaRPr lang="es-ES" sz="2400" dirty="0">
              <a:sym typeface="Symbol" panose="05050102010706020507" pitchFamily="18" charset="2"/>
            </a:endParaRPr>
          </a:p>
        </p:txBody>
      </p:sp>
      <p:sp>
        <p:nvSpPr>
          <p:cNvPr id="54" name="CuadroTexto 53"/>
          <p:cNvSpPr txBox="1">
            <a:spLocks noChangeArrowheads="1"/>
          </p:cNvSpPr>
          <p:nvPr/>
        </p:nvSpPr>
        <p:spPr bwMode="auto">
          <a:xfrm>
            <a:off x="4718516" y="3111973"/>
            <a:ext cx="5896005" cy="1569660"/>
          </a:xfrm>
          <a:prstGeom prst="rect">
            <a:avLst/>
          </a:prstGeom>
          <a:solidFill>
            <a:srgbClr val="FFFFFF"/>
          </a:solidFill>
          <a:ln>
            <a:noFill/>
          </a:ln>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ym typeface="Wingdings" panose="05000000000000000000" pitchFamily="2" charset="2"/>
              </a:rPr>
              <a:t></a:t>
            </a:r>
            <a:r>
              <a:rPr lang="es-ES" sz="2400" dirty="0">
                <a:sym typeface="Symbol" panose="05050102010706020507" pitchFamily="18" charset="2"/>
              </a:rPr>
              <a:t> </a:t>
            </a:r>
            <a:r>
              <a:rPr lang="es-ES" sz="2400" dirty="0">
                <a:solidFill>
                  <a:srgbClr val="3333FF"/>
                </a:solidFill>
                <a:sym typeface="Symbol" panose="05050102010706020507" pitchFamily="18" charset="2"/>
              </a:rPr>
              <a:t>Son perpendiculares a las líneas</a:t>
            </a:r>
          </a:p>
          <a:p>
            <a:r>
              <a:rPr lang="es-ES" sz="2400" dirty="0">
                <a:solidFill>
                  <a:srgbClr val="3333FF"/>
                </a:solidFill>
                <a:sym typeface="Symbol" panose="05050102010706020507" pitchFamily="18" charset="2"/>
              </a:rPr>
              <a:t>    de campo, al campo</a:t>
            </a:r>
          </a:p>
          <a:p>
            <a:r>
              <a:rPr lang="es-ES" sz="2400" dirty="0">
                <a:sym typeface="Symbol" panose="05050102010706020507" pitchFamily="18" charset="2"/>
              </a:rPr>
              <a:t>    Porque el trabajo del campo debe ser</a:t>
            </a:r>
          </a:p>
          <a:p>
            <a:r>
              <a:rPr lang="es-ES" sz="2400" dirty="0">
                <a:sym typeface="Symbol" panose="05050102010706020507" pitchFamily="18" charset="2"/>
              </a:rPr>
              <a:t>    nulo en ellas, al no </a:t>
            </a:r>
            <a:r>
              <a:rPr lang="es-ES" sz="2400">
                <a:sym typeface="Symbol" panose="05050102010706020507" pitchFamily="18" charset="2"/>
              </a:rPr>
              <a:t>haber ddp</a:t>
            </a:r>
            <a:endParaRPr lang="es-ES" sz="2400" dirty="0">
              <a:sym typeface="Symbol" panose="05050102010706020507" pitchFamily="18" charset="2"/>
            </a:endParaRPr>
          </a:p>
        </p:txBody>
      </p:sp>
      <p:sp>
        <p:nvSpPr>
          <p:cNvPr id="19" name="Text Box 60"/>
          <p:cNvSpPr txBox="1">
            <a:spLocks noChangeArrowheads="1"/>
          </p:cNvSpPr>
          <p:nvPr/>
        </p:nvSpPr>
        <p:spPr bwMode="auto">
          <a:xfrm>
            <a:off x="4551016" y="1158160"/>
            <a:ext cx="2441475" cy="514738"/>
          </a:xfrm>
          <a:prstGeom prst="rect">
            <a:avLst/>
          </a:prstGeom>
          <a:solidFill>
            <a:srgbClr val="993366"/>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FFFF"/>
                </a:solidFill>
                <a:latin typeface="Arial" panose="020B0604020202020204" pitchFamily="34" charset="0"/>
              </a:rPr>
              <a:t>PROPIEDADES</a:t>
            </a:r>
          </a:p>
        </p:txBody>
      </p:sp>
      <p:sp>
        <p:nvSpPr>
          <p:cNvPr id="17" name="Text Box 60"/>
          <p:cNvSpPr txBox="1">
            <a:spLocks noChangeArrowheads="1"/>
          </p:cNvSpPr>
          <p:nvPr/>
        </p:nvSpPr>
        <p:spPr bwMode="auto">
          <a:xfrm>
            <a:off x="3165556" y="416273"/>
            <a:ext cx="5261158" cy="514738"/>
          </a:xfrm>
          <a:prstGeom prst="rect">
            <a:avLst/>
          </a:prstGeom>
          <a:solidFill>
            <a:srgbClr val="666699"/>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FFFF"/>
                </a:solidFill>
                <a:latin typeface="Arial" panose="020B0604020202020204" pitchFamily="34" charset="0"/>
              </a:rPr>
              <a:t>SUPERFICIES EQUIPOTENCIALES</a:t>
            </a:r>
          </a:p>
        </p:txBody>
      </p:sp>
      <p:grpSp>
        <p:nvGrpSpPr>
          <p:cNvPr id="2" name="Group 90">
            <a:extLst>
              <a:ext uri="{FF2B5EF4-FFF2-40B4-BE49-F238E27FC236}">
                <a16:creationId xmlns:a16="http://schemas.microsoft.com/office/drawing/2014/main" id="{10E84BA4-09A1-69BD-F5C1-5D18146662AF}"/>
              </a:ext>
            </a:extLst>
          </p:cNvPr>
          <p:cNvGrpSpPr>
            <a:grpSpLocks/>
          </p:cNvGrpSpPr>
          <p:nvPr/>
        </p:nvGrpSpPr>
        <p:grpSpPr bwMode="auto">
          <a:xfrm>
            <a:off x="1468092" y="2101338"/>
            <a:ext cx="2800350" cy="2800350"/>
            <a:chOff x="952" y="1368"/>
            <a:chExt cx="1764" cy="1764"/>
          </a:xfrm>
        </p:grpSpPr>
        <p:sp>
          <p:nvSpPr>
            <p:cNvPr id="3" name="Line 42">
              <a:extLst>
                <a:ext uri="{FF2B5EF4-FFF2-40B4-BE49-F238E27FC236}">
                  <a16:creationId xmlns:a16="http://schemas.microsoft.com/office/drawing/2014/main" id="{2F65DFCA-532F-2B07-5A97-560750AF1ADB}"/>
                </a:ext>
              </a:extLst>
            </p:cNvPr>
            <p:cNvSpPr>
              <a:spLocks noChangeShapeType="1"/>
            </p:cNvSpPr>
            <p:nvPr/>
          </p:nvSpPr>
          <p:spPr bwMode="auto">
            <a:xfrm rot="5400000" flipV="1">
              <a:off x="1833" y="1426"/>
              <a:ext cx="1" cy="1764"/>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
          <p:nvSpPr>
            <p:cNvPr id="4" name="Line 33">
              <a:extLst>
                <a:ext uri="{FF2B5EF4-FFF2-40B4-BE49-F238E27FC236}">
                  <a16:creationId xmlns:a16="http://schemas.microsoft.com/office/drawing/2014/main" id="{24411D22-7BC6-BCD3-C0D4-6FB969953CFE}"/>
                </a:ext>
              </a:extLst>
            </p:cNvPr>
            <p:cNvSpPr>
              <a:spLocks noChangeShapeType="1"/>
            </p:cNvSpPr>
            <p:nvPr/>
          </p:nvSpPr>
          <p:spPr bwMode="auto">
            <a:xfrm flipV="1">
              <a:off x="1844" y="1368"/>
              <a:ext cx="1" cy="1764"/>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
          <p:nvSpPr>
            <p:cNvPr id="5" name="Line 34">
              <a:extLst>
                <a:ext uri="{FF2B5EF4-FFF2-40B4-BE49-F238E27FC236}">
                  <a16:creationId xmlns:a16="http://schemas.microsoft.com/office/drawing/2014/main" id="{35F4DC87-3083-BBDF-445B-E9F68BD798F9}"/>
                </a:ext>
              </a:extLst>
            </p:cNvPr>
            <p:cNvSpPr>
              <a:spLocks noChangeShapeType="1"/>
            </p:cNvSpPr>
            <p:nvPr/>
          </p:nvSpPr>
          <p:spPr bwMode="auto">
            <a:xfrm flipV="1">
              <a:off x="1036" y="1645"/>
              <a:ext cx="1583" cy="1341"/>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sp>
          <p:nvSpPr>
            <p:cNvPr id="6" name="Line 35">
              <a:extLst>
                <a:ext uri="{FF2B5EF4-FFF2-40B4-BE49-F238E27FC236}">
                  <a16:creationId xmlns:a16="http://schemas.microsoft.com/office/drawing/2014/main" id="{C7D3390A-FF86-0D48-5300-AA5968E82AB5}"/>
                </a:ext>
              </a:extLst>
            </p:cNvPr>
            <p:cNvSpPr>
              <a:spLocks noChangeShapeType="1"/>
            </p:cNvSpPr>
            <p:nvPr/>
          </p:nvSpPr>
          <p:spPr bwMode="auto">
            <a:xfrm>
              <a:off x="1104" y="1669"/>
              <a:ext cx="1583" cy="1341"/>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sz="2400"/>
            </a:p>
          </p:txBody>
        </p:sp>
      </p:grpSp>
      <p:grpSp>
        <p:nvGrpSpPr>
          <p:cNvPr id="7" name="Grupo 6">
            <a:extLst>
              <a:ext uri="{FF2B5EF4-FFF2-40B4-BE49-F238E27FC236}">
                <a16:creationId xmlns:a16="http://schemas.microsoft.com/office/drawing/2014/main" id="{724CE47B-48FF-23D7-4820-D2EFE4B51CB0}"/>
              </a:ext>
            </a:extLst>
          </p:cNvPr>
          <p:cNvGrpSpPr/>
          <p:nvPr/>
        </p:nvGrpSpPr>
        <p:grpSpPr>
          <a:xfrm>
            <a:off x="3101448" y="2666245"/>
            <a:ext cx="511867" cy="499616"/>
            <a:chOff x="2891101" y="2319853"/>
            <a:chExt cx="511867" cy="499616"/>
          </a:xfrm>
        </p:grpSpPr>
        <p:cxnSp>
          <p:nvCxnSpPr>
            <p:cNvPr id="8" name="Conector recto de flecha 7">
              <a:extLst>
                <a:ext uri="{FF2B5EF4-FFF2-40B4-BE49-F238E27FC236}">
                  <a16:creationId xmlns:a16="http://schemas.microsoft.com/office/drawing/2014/main" id="{DAAD3E7B-7F11-B4F5-7CE5-4D3C55ADAA80}"/>
                </a:ext>
              </a:extLst>
            </p:cNvPr>
            <p:cNvCxnSpPr/>
            <p:nvPr/>
          </p:nvCxnSpPr>
          <p:spPr bwMode="auto">
            <a:xfrm flipV="1">
              <a:off x="3186360" y="2615508"/>
              <a:ext cx="216608" cy="186262"/>
            </a:xfrm>
            <a:prstGeom prst="straightConnector1">
              <a:avLst/>
            </a:prstGeom>
            <a:noFill/>
            <a:ln w="38100" cap="flat" cmpd="sng" algn="ctr">
              <a:solidFill>
                <a:srgbClr val="FF0000"/>
              </a:solidFill>
              <a:prstDash val="solid"/>
              <a:round/>
              <a:headEnd type="none" w="med" len="med"/>
              <a:tailEnd type="triangle"/>
            </a:ln>
            <a:effectLst/>
          </p:spPr>
        </p:cxnSp>
        <p:sp>
          <p:nvSpPr>
            <p:cNvPr id="10" name="Text Box 43">
              <a:extLst>
                <a:ext uri="{FF2B5EF4-FFF2-40B4-BE49-F238E27FC236}">
                  <a16:creationId xmlns:a16="http://schemas.microsoft.com/office/drawing/2014/main" id="{9EA8A4AD-96CD-4256-B5C1-7E81F85E8C73}"/>
                </a:ext>
              </a:extLst>
            </p:cNvPr>
            <p:cNvSpPr txBox="1">
              <a:spLocks noChangeArrowheads="1"/>
            </p:cNvSpPr>
            <p:nvPr/>
          </p:nvSpPr>
          <p:spPr bwMode="auto">
            <a:xfrm>
              <a:off x="2891101" y="2319853"/>
              <a:ext cx="428555" cy="499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90000"/>
                </a:lnSpc>
                <a:spcBef>
                  <a:spcPct val="50000"/>
                </a:spcBef>
                <a:buFontTx/>
                <a:buNone/>
              </a:pPr>
              <a:r>
                <a:rPr lang="es-ES" sz="2400">
                  <a:solidFill>
                    <a:srgbClr val="FF0000"/>
                  </a:solidFill>
                  <a:latin typeface="Arial" panose="020B0604020202020204" pitchFamily="34" charset="0"/>
                </a:rPr>
                <a:t>E</a:t>
              </a:r>
            </a:p>
          </p:txBody>
        </p:sp>
        <p:cxnSp>
          <p:nvCxnSpPr>
            <p:cNvPr id="11" name="Conector recto de flecha 10">
              <a:extLst>
                <a:ext uri="{FF2B5EF4-FFF2-40B4-BE49-F238E27FC236}">
                  <a16:creationId xmlns:a16="http://schemas.microsoft.com/office/drawing/2014/main" id="{E94F68CB-E853-DA84-F66E-943ABC885AEC}"/>
                </a:ext>
              </a:extLst>
            </p:cNvPr>
            <p:cNvCxnSpPr/>
            <p:nvPr/>
          </p:nvCxnSpPr>
          <p:spPr bwMode="auto">
            <a:xfrm>
              <a:off x="2991255" y="2380350"/>
              <a:ext cx="228245" cy="0"/>
            </a:xfrm>
            <a:prstGeom prst="straightConnector1">
              <a:avLst/>
            </a:prstGeom>
            <a:noFill/>
            <a:ln w="12700" cap="flat" cmpd="sng" algn="ctr">
              <a:solidFill>
                <a:srgbClr val="FF0000"/>
              </a:solidFill>
              <a:prstDash val="solid"/>
              <a:round/>
              <a:headEnd type="none" w="med" len="med"/>
              <a:tailEnd type="triangle"/>
            </a:ln>
            <a:effectLst/>
          </p:spPr>
        </p:cxnSp>
      </p:grpSp>
      <p:pic>
        <p:nvPicPr>
          <p:cNvPr id="12" name="Picture 36">
            <a:extLst>
              <a:ext uri="{FF2B5EF4-FFF2-40B4-BE49-F238E27FC236}">
                <a16:creationId xmlns:a16="http://schemas.microsoft.com/office/drawing/2014/main" id="{73950034-8DE9-0503-49DE-9EF30EAE9A6E}"/>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3007" y="3366572"/>
            <a:ext cx="43973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nvGrpSpPr>
          <p:cNvPr id="13" name="Group 88">
            <a:extLst>
              <a:ext uri="{FF2B5EF4-FFF2-40B4-BE49-F238E27FC236}">
                <a16:creationId xmlns:a16="http://schemas.microsoft.com/office/drawing/2014/main" id="{1E9BD9F8-D136-3B60-574E-D0BC3CC4E1F5}"/>
              </a:ext>
            </a:extLst>
          </p:cNvPr>
          <p:cNvGrpSpPr>
            <a:grpSpLocks/>
          </p:cNvGrpSpPr>
          <p:nvPr/>
        </p:nvGrpSpPr>
        <p:grpSpPr bwMode="auto">
          <a:xfrm>
            <a:off x="1799882" y="2493447"/>
            <a:ext cx="2159000" cy="2159000"/>
            <a:chOff x="1161" y="1615"/>
            <a:chExt cx="1360" cy="1360"/>
          </a:xfrm>
        </p:grpSpPr>
        <p:sp>
          <p:nvSpPr>
            <p:cNvPr id="14" name="Oval 37">
              <a:extLst>
                <a:ext uri="{FF2B5EF4-FFF2-40B4-BE49-F238E27FC236}">
                  <a16:creationId xmlns:a16="http://schemas.microsoft.com/office/drawing/2014/main" id="{B29F8044-3443-9322-F998-25182E3214AC}"/>
                </a:ext>
              </a:extLst>
            </p:cNvPr>
            <p:cNvSpPr>
              <a:spLocks noChangeArrowheads="1"/>
            </p:cNvSpPr>
            <p:nvPr/>
          </p:nvSpPr>
          <p:spPr bwMode="auto">
            <a:xfrm>
              <a:off x="1677" y="2124"/>
              <a:ext cx="340" cy="34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5" name="Oval 38">
              <a:extLst>
                <a:ext uri="{FF2B5EF4-FFF2-40B4-BE49-F238E27FC236}">
                  <a16:creationId xmlns:a16="http://schemas.microsoft.com/office/drawing/2014/main" id="{589F02CD-93D5-57ED-940E-0B3EC9CED5CE}"/>
                </a:ext>
              </a:extLst>
            </p:cNvPr>
            <p:cNvSpPr>
              <a:spLocks noChangeArrowheads="1"/>
            </p:cNvSpPr>
            <p:nvPr/>
          </p:nvSpPr>
          <p:spPr bwMode="auto">
            <a:xfrm>
              <a:off x="1506" y="1960"/>
              <a:ext cx="680" cy="68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6" name="Oval 39">
              <a:extLst>
                <a:ext uri="{FF2B5EF4-FFF2-40B4-BE49-F238E27FC236}">
                  <a16:creationId xmlns:a16="http://schemas.microsoft.com/office/drawing/2014/main" id="{07644E5F-7303-6430-B00E-3F07AE782BDC}"/>
                </a:ext>
              </a:extLst>
            </p:cNvPr>
            <p:cNvSpPr>
              <a:spLocks noChangeArrowheads="1"/>
            </p:cNvSpPr>
            <p:nvPr/>
          </p:nvSpPr>
          <p:spPr bwMode="auto">
            <a:xfrm>
              <a:off x="1161" y="1615"/>
              <a:ext cx="1360" cy="136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18" name="Oval 83">
              <a:extLst>
                <a:ext uri="{FF2B5EF4-FFF2-40B4-BE49-F238E27FC236}">
                  <a16:creationId xmlns:a16="http://schemas.microsoft.com/office/drawing/2014/main" id="{86CF4B3B-C37B-359A-2BDB-A0AE8467F15A}"/>
                </a:ext>
              </a:extLst>
            </p:cNvPr>
            <p:cNvSpPr>
              <a:spLocks noChangeArrowheads="1"/>
            </p:cNvSpPr>
            <p:nvPr/>
          </p:nvSpPr>
          <p:spPr bwMode="auto">
            <a:xfrm>
              <a:off x="1627" y="2072"/>
              <a:ext cx="453" cy="453"/>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sp>
        <p:nvSpPr>
          <p:cNvPr id="20" name="CuadroTexto 19">
            <a:extLst>
              <a:ext uri="{FF2B5EF4-FFF2-40B4-BE49-F238E27FC236}">
                <a16:creationId xmlns:a16="http://schemas.microsoft.com/office/drawing/2014/main" id="{CCBA9297-0AC0-5F7C-FF28-4BE7A3264980}"/>
              </a:ext>
            </a:extLst>
          </p:cNvPr>
          <p:cNvSpPr txBox="1">
            <a:spLocks noChangeArrowheads="1"/>
          </p:cNvSpPr>
          <p:nvPr/>
        </p:nvSpPr>
        <p:spPr bwMode="auto">
          <a:xfrm>
            <a:off x="2172944" y="3371335"/>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t>Q</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strVal val="2/3*#ppt_w"/>
                                          </p:val>
                                        </p:tav>
                                        <p:tav tm="100000">
                                          <p:val>
                                            <p:strVal val="#ppt_w"/>
                                          </p:val>
                                        </p:tav>
                                      </p:tavLst>
                                    </p:anim>
                                    <p:anim calcmode="lin" valueType="num">
                                      <p:cBhvr>
                                        <p:cTn id="8" dur="500" fill="hold"/>
                                        <p:tgtEl>
                                          <p:spTgt spid="19"/>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wipe(up)">
                                      <p:cBhvr>
                                        <p:cTn id="18" dur="500"/>
                                        <p:tgtEl>
                                          <p:spTgt spid="5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up)">
                                      <p:cBhvr>
                                        <p:cTn id="2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nimBg="1"/>
      <p:bldP spid="54"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 Box 44"/>
          <p:cNvSpPr txBox="1">
            <a:spLocks noChangeArrowheads="1"/>
          </p:cNvSpPr>
          <p:nvPr/>
        </p:nvSpPr>
        <p:spPr bwMode="auto">
          <a:xfrm>
            <a:off x="1452881" y="1168008"/>
            <a:ext cx="8666479" cy="1644545"/>
          </a:xfrm>
          <a:prstGeom prst="rect">
            <a:avLst/>
          </a:prstGeom>
          <a:solidFill>
            <a:srgbClr val="FFFFFF"/>
          </a:solidFill>
          <a:ln>
            <a:noFill/>
          </a:ln>
          <a:effectLst/>
          <a:extLst>
            <a:ext uri="{53640926-AAD7-44D8-BBD7-CCE9431645EC}">
              <a14:shadowObscured xmlns:a14="http://schemas.microsoft.com/office/drawing/2010/main" val="1"/>
            </a:ext>
          </a:extLst>
        </p:spPr>
        <p:txBody>
          <a:bodyPr wrap="square" lIns="126000" tIns="82800" rIns="126000" bIns="828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spcBef>
                <a:spcPts val="0"/>
              </a:spcBef>
            </a:pPr>
            <a:r>
              <a:rPr lang="es-ES" sz="2400" dirty="0">
                <a:sym typeface="Symbol" panose="05050102010706020507" pitchFamily="18" charset="2"/>
              </a:rPr>
              <a:t> </a:t>
            </a:r>
            <a:r>
              <a:rPr lang="es-ES" sz="2400" dirty="0">
                <a:solidFill>
                  <a:schemeClr val="tx1"/>
                </a:solidFill>
              </a:rPr>
              <a:t>Con una </a:t>
            </a:r>
            <a:r>
              <a:rPr lang="es-ES" sz="2400" dirty="0">
                <a:solidFill>
                  <a:srgbClr val="3333FF"/>
                </a:solidFill>
              </a:rPr>
              <a:t>superficie esférica uniformemente cargada</a:t>
            </a:r>
            <a:r>
              <a:rPr lang="es-ES" sz="2400" dirty="0">
                <a:solidFill>
                  <a:schemeClr val="tx1"/>
                </a:solidFill>
              </a:rPr>
              <a:t>, en el exterior, o con una </a:t>
            </a:r>
            <a:r>
              <a:rPr lang="es-ES" sz="2400" dirty="0">
                <a:solidFill>
                  <a:srgbClr val="3333FF"/>
                </a:solidFill>
              </a:rPr>
              <a:t>esfera maciza con capas esféricas uniformemente cargadas</a:t>
            </a:r>
            <a:r>
              <a:rPr lang="es-ES" sz="2400" dirty="0">
                <a:solidFill>
                  <a:schemeClr val="tx1"/>
                </a:solidFill>
              </a:rPr>
              <a:t>, se tienen también superficies equipotenciales esféricas y líneas de campo radiales</a:t>
            </a:r>
          </a:p>
        </p:txBody>
      </p:sp>
      <p:sp>
        <p:nvSpPr>
          <p:cNvPr id="17" name="Text Box 60">
            <a:extLst>
              <a:ext uri="{FF2B5EF4-FFF2-40B4-BE49-F238E27FC236}">
                <a16:creationId xmlns:a16="http://schemas.microsoft.com/office/drawing/2014/main" id="{67DBE7B2-4D68-4F83-91D4-1147438238AC}"/>
              </a:ext>
            </a:extLst>
          </p:cNvPr>
          <p:cNvSpPr txBox="1">
            <a:spLocks noChangeArrowheads="1"/>
          </p:cNvSpPr>
          <p:nvPr/>
        </p:nvSpPr>
        <p:spPr bwMode="auto">
          <a:xfrm>
            <a:off x="4517351" y="460442"/>
            <a:ext cx="2485974" cy="514738"/>
          </a:xfrm>
          <a:prstGeom prst="rect">
            <a:avLst/>
          </a:prstGeom>
          <a:solidFill>
            <a:srgbClr val="C0C0C0"/>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COMENTARIOS</a:t>
            </a:r>
          </a:p>
        </p:txBody>
      </p:sp>
      <p:grpSp>
        <p:nvGrpSpPr>
          <p:cNvPr id="7" name="Group 90">
            <a:extLst>
              <a:ext uri="{FF2B5EF4-FFF2-40B4-BE49-F238E27FC236}">
                <a16:creationId xmlns:a16="http://schemas.microsoft.com/office/drawing/2014/main" id="{FC4D2C34-1A0D-490D-9679-3CBBD2622E05}"/>
              </a:ext>
            </a:extLst>
          </p:cNvPr>
          <p:cNvGrpSpPr>
            <a:grpSpLocks/>
          </p:cNvGrpSpPr>
          <p:nvPr/>
        </p:nvGrpSpPr>
        <p:grpSpPr bwMode="auto">
          <a:xfrm>
            <a:off x="4349846" y="3204282"/>
            <a:ext cx="2800350" cy="2800350"/>
            <a:chOff x="952" y="1368"/>
            <a:chExt cx="1764" cy="1764"/>
          </a:xfrm>
        </p:grpSpPr>
        <p:sp>
          <p:nvSpPr>
            <p:cNvPr id="8" name="Line 42">
              <a:extLst>
                <a:ext uri="{FF2B5EF4-FFF2-40B4-BE49-F238E27FC236}">
                  <a16:creationId xmlns:a16="http://schemas.microsoft.com/office/drawing/2014/main" id="{9C941C9A-7FE1-4998-B854-A5A916F468B3}"/>
                </a:ext>
              </a:extLst>
            </p:cNvPr>
            <p:cNvSpPr>
              <a:spLocks noChangeShapeType="1"/>
            </p:cNvSpPr>
            <p:nvPr/>
          </p:nvSpPr>
          <p:spPr bwMode="auto">
            <a:xfrm rot="5400000" flipV="1">
              <a:off x="1833" y="1426"/>
              <a:ext cx="1" cy="1764"/>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a:p>
          </p:txBody>
        </p:sp>
        <p:sp>
          <p:nvSpPr>
            <p:cNvPr id="9" name="Line 33">
              <a:extLst>
                <a:ext uri="{FF2B5EF4-FFF2-40B4-BE49-F238E27FC236}">
                  <a16:creationId xmlns:a16="http://schemas.microsoft.com/office/drawing/2014/main" id="{4A3FD75C-C8D1-4967-9216-B1AE2750F642}"/>
                </a:ext>
              </a:extLst>
            </p:cNvPr>
            <p:cNvSpPr>
              <a:spLocks noChangeShapeType="1"/>
            </p:cNvSpPr>
            <p:nvPr/>
          </p:nvSpPr>
          <p:spPr bwMode="auto">
            <a:xfrm flipV="1">
              <a:off x="1844" y="1368"/>
              <a:ext cx="1" cy="1764"/>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a:p>
          </p:txBody>
        </p:sp>
        <p:sp>
          <p:nvSpPr>
            <p:cNvPr id="10" name="Line 34">
              <a:extLst>
                <a:ext uri="{FF2B5EF4-FFF2-40B4-BE49-F238E27FC236}">
                  <a16:creationId xmlns:a16="http://schemas.microsoft.com/office/drawing/2014/main" id="{6AD674E7-30F5-4057-A0D9-104448B243A6}"/>
                </a:ext>
              </a:extLst>
            </p:cNvPr>
            <p:cNvSpPr>
              <a:spLocks noChangeShapeType="1"/>
            </p:cNvSpPr>
            <p:nvPr/>
          </p:nvSpPr>
          <p:spPr bwMode="auto">
            <a:xfrm flipV="1">
              <a:off x="1036" y="1645"/>
              <a:ext cx="1583" cy="1341"/>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a:p>
          </p:txBody>
        </p:sp>
        <p:sp>
          <p:nvSpPr>
            <p:cNvPr id="11" name="Line 35">
              <a:extLst>
                <a:ext uri="{FF2B5EF4-FFF2-40B4-BE49-F238E27FC236}">
                  <a16:creationId xmlns:a16="http://schemas.microsoft.com/office/drawing/2014/main" id="{5743618E-5C35-4A87-86C1-19CBA8847FB5}"/>
                </a:ext>
              </a:extLst>
            </p:cNvPr>
            <p:cNvSpPr>
              <a:spLocks noChangeShapeType="1"/>
            </p:cNvSpPr>
            <p:nvPr/>
          </p:nvSpPr>
          <p:spPr bwMode="auto">
            <a:xfrm>
              <a:off x="1104" y="1669"/>
              <a:ext cx="1583" cy="1341"/>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lIns="90000" tIns="82800" rIns="90000" bIns="82800"/>
            <a:lstStyle/>
            <a:p>
              <a:endParaRPr lang="en-GB"/>
            </a:p>
          </p:txBody>
        </p:sp>
      </p:grpSp>
      <p:pic>
        <p:nvPicPr>
          <p:cNvPr id="12" name="Picture 36">
            <a:extLst>
              <a:ext uri="{FF2B5EF4-FFF2-40B4-BE49-F238E27FC236}">
                <a16:creationId xmlns:a16="http://schemas.microsoft.com/office/drawing/2014/main" id="{E5C790ED-5527-410E-9482-22C286C91E2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759" y="4469519"/>
            <a:ext cx="43973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nvGrpSpPr>
          <p:cNvPr id="13" name="Group 88">
            <a:extLst>
              <a:ext uri="{FF2B5EF4-FFF2-40B4-BE49-F238E27FC236}">
                <a16:creationId xmlns:a16="http://schemas.microsoft.com/office/drawing/2014/main" id="{DCC05BF0-E85E-4866-A99A-EE83024DDEAB}"/>
              </a:ext>
            </a:extLst>
          </p:cNvPr>
          <p:cNvGrpSpPr>
            <a:grpSpLocks/>
          </p:cNvGrpSpPr>
          <p:nvPr/>
        </p:nvGrpSpPr>
        <p:grpSpPr bwMode="auto">
          <a:xfrm>
            <a:off x="4681634" y="3606442"/>
            <a:ext cx="2159000" cy="2159000"/>
            <a:chOff x="1161" y="1615"/>
            <a:chExt cx="1360" cy="1360"/>
          </a:xfrm>
        </p:grpSpPr>
        <p:sp>
          <p:nvSpPr>
            <p:cNvPr id="14" name="Oval 37">
              <a:extLst>
                <a:ext uri="{FF2B5EF4-FFF2-40B4-BE49-F238E27FC236}">
                  <a16:creationId xmlns:a16="http://schemas.microsoft.com/office/drawing/2014/main" id="{11A1FE89-D0E1-4A65-8304-2219106BE28A}"/>
                </a:ext>
              </a:extLst>
            </p:cNvPr>
            <p:cNvSpPr>
              <a:spLocks noChangeArrowheads="1"/>
            </p:cNvSpPr>
            <p:nvPr/>
          </p:nvSpPr>
          <p:spPr bwMode="auto">
            <a:xfrm>
              <a:off x="1677" y="2124"/>
              <a:ext cx="340" cy="34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15" name="Oval 38">
              <a:extLst>
                <a:ext uri="{FF2B5EF4-FFF2-40B4-BE49-F238E27FC236}">
                  <a16:creationId xmlns:a16="http://schemas.microsoft.com/office/drawing/2014/main" id="{7334AC34-50A4-4E60-8553-1A57854BB434}"/>
                </a:ext>
              </a:extLst>
            </p:cNvPr>
            <p:cNvSpPr>
              <a:spLocks noChangeArrowheads="1"/>
            </p:cNvSpPr>
            <p:nvPr/>
          </p:nvSpPr>
          <p:spPr bwMode="auto">
            <a:xfrm>
              <a:off x="1506" y="1960"/>
              <a:ext cx="680" cy="68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18" name="Oval 39">
              <a:extLst>
                <a:ext uri="{FF2B5EF4-FFF2-40B4-BE49-F238E27FC236}">
                  <a16:creationId xmlns:a16="http://schemas.microsoft.com/office/drawing/2014/main" id="{E5A7F440-6661-4E89-9B12-29FE96BC5987}"/>
                </a:ext>
              </a:extLst>
            </p:cNvPr>
            <p:cNvSpPr>
              <a:spLocks noChangeArrowheads="1"/>
            </p:cNvSpPr>
            <p:nvPr/>
          </p:nvSpPr>
          <p:spPr bwMode="auto">
            <a:xfrm>
              <a:off x="1161" y="1615"/>
              <a:ext cx="1360" cy="1360"/>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19" name="Oval 83">
              <a:extLst>
                <a:ext uri="{FF2B5EF4-FFF2-40B4-BE49-F238E27FC236}">
                  <a16:creationId xmlns:a16="http://schemas.microsoft.com/office/drawing/2014/main" id="{E98CA5B6-6EC6-4468-875D-FC08F1D7B09C}"/>
                </a:ext>
              </a:extLst>
            </p:cNvPr>
            <p:cNvSpPr>
              <a:spLocks noChangeArrowheads="1"/>
            </p:cNvSpPr>
            <p:nvPr/>
          </p:nvSpPr>
          <p:spPr bwMode="auto">
            <a:xfrm>
              <a:off x="1627" y="2072"/>
              <a:ext cx="453" cy="453"/>
            </a:xfrm>
            <a:prstGeom prst="ellipse">
              <a:avLst/>
            </a:pr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grpSp>
      <p:sp>
        <p:nvSpPr>
          <p:cNvPr id="20" name="CuadroTexto 19">
            <a:extLst>
              <a:ext uri="{FF2B5EF4-FFF2-40B4-BE49-F238E27FC236}">
                <a16:creationId xmlns:a16="http://schemas.microsoft.com/office/drawing/2014/main" id="{ED5855B5-43C1-47EA-9CFD-943E299D113D}"/>
              </a:ext>
            </a:extLst>
          </p:cNvPr>
          <p:cNvSpPr txBox="1">
            <a:spLocks noChangeArrowheads="1"/>
          </p:cNvSpPr>
          <p:nvPr/>
        </p:nvSpPr>
        <p:spPr bwMode="auto">
          <a:xfrm>
            <a:off x="5051682" y="4473024"/>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t>Q</a:t>
            </a:r>
          </a:p>
        </p:txBody>
      </p:sp>
      <p:grpSp>
        <p:nvGrpSpPr>
          <p:cNvPr id="21" name="Grupo 20">
            <a:extLst>
              <a:ext uri="{FF2B5EF4-FFF2-40B4-BE49-F238E27FC236}">
                <a16:creationId xmlns:a16="http://schemas.microsoft.com/office/drawing/2014/main" id="{110BA887-7D65-4A12-BD25-7A076D134AA1}"/>
              </a:ext>
            </a:extLst>
          </p:cNvPr>
          <p:cNvGrpSpPr/>
          <p:nvPr/>
        </p:nvGrpSpPr>
        <p:grpSpPr>
          <a:xfrm>
            <a:off x="5980186" y="3767934"/>
            <a:ext cx="511867" cy="499616"/>
            <a:chOff x="2891101" y="2319853"/>
            <a:chExt cx="511867" cy="499616"/>
          </a:xfrm>
        </p:grpSpPr>
        <p:cxnSp>
          <p:nvCxnSpPr>
            <p:cNvPr id="22" name="Conector recto de flecha 21">
              <a:extLst>
                <a:ext uri="{FF2B5EF4-FFF2-40B4-BE49-F238E27FC236}">
                  <a16:creationId xmlns:a16="http://schemas.microsoft.com/office/drawing/2014/main" id="{9B0E1DAA-D2D7-4898-AA34-03E928F2FEFD}"/>
                </a:ext>
              </a:extLst>
            </p:cNvPr>
            <p:cNvCxnSpPr/>
            <p:nvPr/>
          </p:nvCxnSpPr>
          <p:spPr bwMode="auto">
            <a:xfrm flipV="1">
              <a:off x="3186360" y="2615508"/>
              <a:ext cx="216608" cy="186262"/>
            </a:xfrm>
            <a:prstGeom prst="straightConnector1">
              <a:avLst/>
            </a:prstGeom>
            <a:noFill/>
            <a:ln w="38100" cap="flat" cmpd="sng" algn="ctr">
              <a:solidFill>
                <a:srgbClr val="FF0000"/>
              </a:solidFill>
              <a:prstDash val="solid"/>
              <a:round/>
              <a:headEnd type="none" w="med" len="med"/>
              <a:tailEnd type="triangle"/>
            </a:ln>
            <a:effectLst/>
          </p:spPr>
        </p:cxnSp>
        <p:sp>
          <p:nvSpPr>
            <p:cNvPr id="23" name="Text Box 43">
              <a:extLst>
                <a:ext uri="{FF2B5EF4-FFF2-40B4-BE49-F238E27FC236}">
                  <a16:creationId xmlns:a16="http://schemas.microsoft.com/office/drawing/2014/main" id="{2AA660C5-D276-4841-868D-EB2FC5293A35}"/>
                </a:ext>
              </a:extLst>
            </p:cNvPr>
            <p:cNvSpPr txBox="1">
              <a:spLocks noChangeArrowheads="1"/>
            </p:cNvSpPr>
            <p:nvPr/>
          </p:nvSpPr>
          <p:spPr bwMode="auto">
            <a:xfrm>
              <a:off x="2891101" y="2319853"/>
              <a:ext cx="428555" cy="499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90000"/>
                </a:lnSpc>
                <a:spcBef>
                  <a:spcPct val="50000"/>
                </a:spcBef>
                <a:buFontTx/>
                <a:buNone/>
              </a:pPr>
              <a:r>
                <a:rPr lang="es-ES" sz="2400">
                  <a:solidFill>
                    <a:srgbClr val="FF0000"/>
                  </a:solidFill>
                  <a:latin typeface="Arial" panose="020B0604020202020204" pitchFamily="34" charset="0"/>
                </a:rPr>
                <a:t>E</a:t>
              </a:r>
            </a:p>
          </p:txBody>
        </p:sp>
        <p:cxnSp>
          <p:nvCxnSpPr>
            <p:cNvPr id="24" name="Conector recto de flecha 23">
              <a:extLst>
                <a:ext uri="{FF2B5EF4-FFF2-40B4-BE49-F238E27FC236}">
                  <a16:creationId xmlns:a16="http://schemas.microsoft.com/office/drawing/2014/main" id="{C927770A-190D-4B75-8778-97ABBD72FF35}"/>
                </a:ext>
              </a:extLst>
            </p:cNvPr>
            <p:cNvCxnSpPr/>
            <p:nvPr/>
          </p:nvCxnSpPr>
          <p:spPr bwMode="auto">
            <a:xfrm>
              <a:off x="2991255" y="2380350"/>
              <a:ext cx="228245" cy="0"/>
            </a:xfrm>
            <a:prstGeom prst="straightConnector1">
              <a:avLst/>
            </a:prstGeom>
            <a:noFill/>
            <a:ln w="12700" cap="flat" cmpd="sng" algn="ctr">
              <a:solidFill>
                <a:srgbClr val="FF0000"/>
              </a:solidFill>
              <a:prstDash val="solid"/>
              <a:round/>
              <a:headEnd type="none" w="med" len="med"/>
              <a:tailEnd type="triangle"/>
            </a:ln>
            <a:effectLst/>
          </p:spPr>
        </p:cxnSp>
      </p:grpSp>
      <p:sp>
        <p:nvSpPr>
          <p:cNvPr id="2" name="Text Box 65">
            <a:extLst>
              <a:ext uri="{FF2B5EF4-FFF2-40B4-BE49-F238E27FC236}">
                <a16:creationId xmlns:a16="http://schemas.microsoft.com/office/drawing/2014/main" id="{3090DF0D-A074-4B5B-9990-C01987BF8F35}"/>
              </a:ext>
            </a:extLst>
          </p:cNvPr>
          <p:cNvSpPr txBox="1">
            <a:spLocks noChangeArrowheads="1"/>
          </p:cNvSpPr>
          <p:nvPr/>
        </p:nvSpPr>
        <p:spPr bwMode="auto">
          <a:xfrm>
            <a:off x="3042308" y="6297403"/>
            <a:ext cx="5457829"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0000"/>
                </a:solidFill>
                <a:latin typeface="Arial" panose="020B0604020202020204" pitchFamily="34" charset="0"/>
              </a:rPr>
              <a:t>En el caso gravitatorio ocurre lo mismo</a:t>
            </a:r>
            <a:endParaRPr lang="es-ES" sz="2400" dirty="0">
              <a:solidFill>
                <a:srgbClr val="FF0000"/>
              </a:solidFill>
              <a:latin typeface="Arial" panose="020B0604020202020204" pitchFamily="34" charset="0"/>
            </a:endParaRPr>
          </a:p>
        </p:txBody>
      </p:sp>
    </p:spTree>
    <p:extLst>
      <p:ext uri="{BB962C8B-B14F-4D97-AF65-F5344CB8AC3E}">
        <p14:creationId xmlns:p14="http://schemas.microsoft.com/office/powerpoint/2010/main" val="6461060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2/3*#ppt_w"/>
                                          </p:val>
                                        </p:tav>
                                        <p:tav tm="100000">
                                          <p:val>
                                            <p:strVal val="#ppt_w"/>
                                          </p:val>
                                        </p:tav>
                                      </p:tavLst>
                                    </p:anim>
                                    <p:anim calcmode="lin" valueType="num">
                                      <p:cBhvr>
                                        <p:cTn id="8" dur="500" fill="hold"/>
                                        <p:tgtEl>
                                          <p:spTgt spid="17"/>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wipe(up)">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17" grpId="0" animBg="1"/>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Box 45"/>
          <p:cNvSpPr txBox="1">
            <a:spLocks noChangeArrowheads="1"/>
          </p:cNvSpPr>
          <p:nvPr/>
        </p:nvSpPr>
        <p:spPr bwMode="auto">
          <a:xfrm>
            <a:off x="1452881" y="3316656"/>
            <a:ext cx="8666479" cy="2361398"/>
          </a:xfrm>
          <a:prstGeom prst="rect">
            <a:avLst/>
          </a:prstGeom>
          <a:solidFill>
            <a:srgbClr val="FFFF99"/>
          </a:solidFill>
          <a:ln>
            <a:noFill/>
          </a:ln>
          <a:effectLst/>
          <a:extLst>
            <a:ext uri="{53640926-AAD7-44D8-BBD7-CCE9431645EC}">
              <a14:shadowObscured xmlns:a14="http://schemas.microsoft.com/office/drawing/2010/main" val="1"/>
            </a:ext>
          </a:extLst>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ts val="0"/>
              </a:spcBef>
            </a:pPr>
            <a:r>
              <a:rPr lang="es-ES" sz="2400" dirty="0">
                <a:solidFill>
                  <a:schemeClr val="tx1"/>
                </a:solidFill>
              </a:rPr>
              <a:t>Es lo que se tiene en la </a:t>
            </a:r>
            <a:r>
              <a:rPr lang="es-ES" sz="2400" dirty="0">
                <a:solidFill>
                  <a:srgbClr val="3333FF"/>
                </a:solidFill>
              </a:rPr>
              <a:t>superficie terrestre</a:t>
            </a:r>
            <a:r>
              <a:rPr lang="es-ES" sz="2400" dirty="0">
                <a:solidFill>
                  <a:schemeClr val="tx1"/>
                </a:solidFill>
              </a:rPr>
              <a:t>: </a:t>
            </a:r>
            <a:r>
              <a:rPr lang="es-ES" sz="2400" b="1" dirty="0">
                <a:solidFill>
                  <a:schemeClr val="tx1"/>
                </a:solidFill>
              </a:rPr>
              <a:t>g</a:t>
            </a:r>
            <a:r>
              <a:rPr lang="es-ES" sz="2400" dirty="0">
                <a:solidFill>
                  <a:schemeClr val="tx1"/>
                </a:solidFill>
              </a:rPr>
              <a:t> localmente no cambia y es </a:t>
            </a:r>
            <a:r>
              <a:rPr lang="es-ES" sz="2400" dirty="0">
                <a:solidFill>
                  <a:schemeClr val="tx1"/>
                </a:solidFill>
                <a:sym typeface="Symbol" panose="05050102010706020507" pitchFamily="18" charset="2"/>
              </a:rPr>
              <a:t> a la superficie</a:t>
            </a:r>
            <a:r>
              <a:rPr lang="es-ES" sz="2400">
                <a:solidFill>
                  <a:schemeClr val="tx1"/>
                </a:solidFill>
                <a:sym typeface="Symbol" panose="05050102010706020507" pitchFamily="18" charset="2"/>
              </a:rPr>
              <a:t>. Esto indica que hay líneas de campo verticales, </a:t>
            </a:r>
            <a:r>
              <a:rPr lang="es-ES" sz="2400" dirty="0">
                <a:solidFill>
                  <a:schemeClr val="tx1"/>
                </a:solidFill>
                <a:sym typeface="Symbol" panose="05050102010706020507" pitchFamily="18" charset="2"/>
              </a:rPr>
              <a:t>paralelas y equiespaciadas.</a:t>
            </a:r>
            <a:r>
              <a:rPr lang="es-ES" sz="2400" dirty="0">
                <a:solidFill>
                  <a:schemeClr val="tx1"/>
                </a:solidFill>
              </a:rPr>
              <a:t> La E</a:t>
            </a:r>
            <a:r>
              <a:rPr lang="es-ES" sz="2400" baseline="-25000" dirty="0">
                <a:solidFill>
                  <a:schemeClr val="tx1"/>
                </a:solidFill>
              </a:rPr>
              <a:t>P</a:t>
            </a:r>
            <a:r>
              <a:rPr lang="es-ES" sz="2400" dirty="0">
                <a:solidFill>
                  <a:schemeClr val="tx1"/>
                </a:solidFill>
              </a:rPr>
              <a:t> varía proporcionalmente con </a:t>
            </a:r>
            <a:r>
              <a:rPr lang="es-ES" sz="2400">
                <a:solidFill>
                  <a:schemeClr val="tx1"/>
                </a:solidFill>
              </a:rPr>
              <a:t>la altura, y es cte. en horizontal</a:t>
            </a:r>
          </a:p>
          <a:p>
            <a:pPr algn="ctr" eaLnBrk="1" hangingPunct="1">
              <a:spcBef>
                <a:spcPts val="0"/>
              </a:spcBef>
            </a:pPr>
            <a:r>
              <a:rPr lang="es-ES" sz="2400">
                <a:solidFill>
                  <a:schemeClr val="tx1"/>
                </a:solidFill>
              </a:rPr>
              <a:t>porque </a:t>
            </a:r>
            <a:r>
              <a:rPr lang="es-ES" sz="2400" b="1">
                <a:solidFill>
                  <a:schemeClr val="tx1"/>
                </a:solidFill>
              </a:rPr>
              <a:t>g</a:t>
            </a:r>
            <a:r>
              <a:rPr lang="es-ES" sz="2400">
                <a:solidFill>
                  <a:schemeClr val="tx1"/>
                </a:solidFill>
              </a:rPr>
              <a:t> no </a:t>
            </a:r>
            <a:r>
              <a:rPr lang="es-ES" sz="2400" dirty="0">
                <a:solidFill>
                  <a:schemeClr val="tx1"/>
                </a:solidFill>
              </a:rPr>
              <a:t>trabaja </a:t>
            </a:r>
            <a:r>
              <a:rPr lang="es-ES" sz="2400">
                <a:solidFill>
                  <a:schemeClr val="tx1"/>
                </a:solidFill>
              </a:rPr>
              <a:t>en horizontal. Esto indica que hay planos equipotenciales horizontales, paralelos y equiespaciados</a:t>
            </a:r>
            <a:endParaRPr lang="es-ES" sz="2400" dirty="0">
              <a:solidFill>
                <a:schemeClr val="tx1"/>
              </a:solidFill>
            </a:endParaRPr>
          </a:p>
        </p:txBody>
      </p:sp>
      <p:sp>
        <p:nvSpPr>
          <p:cNvPr id="31" name="Text Box 44"/>
          <p:cNvSpPr txBox="1">
            <a:spLocks noChangeArrowheads="1"/>
          </p:cNvSpPr>
          <p:nvPr/>
        </p:nvSpPr>
        <p:spPr bwMode="auto">
          <a:xfrm>
            <a:off x="1452881" y="1137451"/>
            <a:ext cx="8666479" cy="2013877"/>
          </a:xfrm>
          <a:prstGeom prst="rect">
            <a:avLst/>
          </a:prstGeom>
          <a:solidFill>
            <a:srgbClr val="FFFFFF"/>
          </a:solidFill>
          <a:ln>
            <a:noFill/>
          </a:ln>
          <a:effectLst/>
          <a:extLst>
            <a:ext uri="{53640926-AAD7-44D8-BBD7-CCE9431645EC}">
              <a14:shadowObscured xmlns:a14="http://schemas.microsoft.com/office/drawing/2010/main" val="1"/>
            </a:ext>
          </a:extLst>
        </p:spPr>
        <p:txBody>
          <a:bodyPr wrap="square" lIns="126000" tIns="82800" rIns="126000" bIns="828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spcBef>
                <a:spcPts val="0"/>
              </a:spcBef>
            </a:pPr>
            <a:r>
              <a:rPr lang="es-ES" sz="2400" dirty="0">
                <a:sym typeface="Symbol" panose="05050102010706020507" pitchFamily="18" charset="2"/>
              </a:rPr>
              <a:t> </a:t>
            </a:r>
            <a:r>
              <a:rPr lang="es-ES" sz="2400" dirty="0">
                <a:solidFill>
                  <a:schemeClr val="tx1"/>
                </a:solidFill>
              </a:rPr>
              <a:t>Si la esfera es “enorme” (p.ej. la Tierra con respecto a nosotros en el caso gravitatorio), </a:t>
            </a:r>
            <a:r>
              <a:rPr lang="es-ES" sz="2400" dirty="0">
                <a:solidFill>
                  <a:srgbClr val="3333FF"/>
                </a:solidFill>
              </a:rPr>
              <a:t>a nivel local </a:t>
            </a:r>
            <a:r>
              <a:rPr lang="es-ES" sz="2400" dirty="0">
                <a:solidFill>
                  <a:schemeClr val="tx1"/>
                </a:solidFill>
              </a:rPr>
              <a:t>se tienden a ver las superficies como planos paralelos equiespaciados (es lógico, la Tierra se ve plana). Y las líneas de campo como rectas paralelas equiespaciadas perpendiculares a ellos</a:t>
            </a:r>
          </a:p>
        </p:txBody>
      </p:sp>
      <p:sp>
        <p:nvSpPr>
          <p:cNvPr id="16" name="CuadroTexto 15"/>
          <p:cNvSpPr txBox="1"/>
          <p:nvPr/>
        </p:nvSpPr>
        <p:spPr>
          <a:xfrm>
            <a:off x="2236449" y="6008302"/>
            <a:ext cx="7063152" cy="461665"/>
          </a:xfrm>
          <a:prstGeom prst="rect">
            <a:avLst/>
          </a:prstGeom>
          <a:solidFill>
            <a:schemeClr val="tx2">
              <a:lumMod val="25000"/>
              <a:lumOff val="75000"/>
            </a:schemeClr>
          </a:solidFill>
        </p:spPr>
        <p:txBody>
          <a:bodyPr wrap="none" rtlCol="0">
            <a:spAutoFit/>
          </a:bodyPr>
          <a:lstStyle/>
          <a:p>
            <a:r>
              <a:rPr lang="es-ES" sz="2400" dirty="0"/>
              <a:t>Esta situación corresponde a un </a:t>
            </a:r>
            <a:r>
              <a:rPr lang="es-ES" sz="2400" b="1" dirty="0"/>
              <a:t>campo uniforme</a:t>
            </a:r>
            <a:endParaRPr lang="en-GB" sz="2400" b="1" dirty="0"/>
          </a:p>
        </p:txBody>
      </p:sp>
      <p:sp>
        <p:nvSpPr>
          <p:cNvPr id="17" name="Text Box 60">
            <a:extLst>
              <a:ext uri="{FF2B5EF4-FFF2-40B4-BE49-F238E27FC236}">
                <a16:creationId xmlns:a16="http://schemas.microsoft.com/office/drawing/2014/main" id="{67DBE7B2-4D68-4F83-91D4-1147438238AC}"/>
              </a:ext>
            </a:extLst>
          </p:cNvPr>
          <p:cNvSpPr txBox="1">
            <a:spLocks noChangeArrowheads="1"/>
          </p:cNvSpPr>
          <p:nvPr/>
        </p:nvSpPr>
        <p:spPr bwMode="auto">
          <a:xfrm>
            <a:off x="4517351" y="460435"/>
            <a:ext cx="2485974" cy="514738"/>
          </a:xfrm>
          <a:prstGeom prst="rect">
            <a:avLst/>
          </a:prstGeom>
          <a:solidFill>
            <a:srgbClr val="C0C0C0"/>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COMENTARIOS</a:t>
            </a:r>
          </a:p>
        </p:txBody>
      </p:sp>
    </p:spTree>
    <p:extLst>
      <p:ext uri="{BB962C8B-B14F-4D97-AF65-F5344CB8AC3E}">
        <p14:creationId xmlns:p14="http://schemas.microsoft.com/office/powerpoint/2010/main" val="39390520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up)">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p:tgtEl>
                                          <p:spTgt spid="16"/>
                                        </p:tgtEl>
                                        <p:attrNameLst>
                                          <p:attrName>ppt_y</p:attrName>
                                        </p:attrNameLst>
                                      </p:cBhvr>
                                      <p:tavLst>
                                        <p:tav tm="0">
                                          <p:val>
                                            <p:strVal val="#ppt_y+#ppt_h*1.125000"/>
                                          </p:val>
                                        </p:tav>
                                        <p:tav tm="100000">
                                          <p:val>
                                            <p:strVal val="#ppt_y"/>
                                          </p:val>
                                        </p:tav>
                                      </p:tavLst>
                                    </p:anim>
                                    <p:animEffect transition="in" filter="wipe(up)">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31"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9"/>
          <p:cNvGrpSpPr>
            <a:grpSpLocks/>
          </p:cNvGrpSpPr>
          <p:nvPr/>
        </p:nvGrpSpPr>
        <p:grpSpPr bwMode="auto">
          <a:xfrm>
            <a:off x="1776667" y="4979797"/>
            <a:ext cx="2947987" cy="1454150"/>
            <a:chOff x="1250" y="1365"/>
            <a:chExt cx="1857" cy="916"/>
          </a:xfrm>
        </p:grpSpPr>
        <p:sp>
          <p:nvSpPr>
            <p:cNvPr id="23587" name="Line 29"/>
            <p:cNvSpPr>
              <a:spLocks noChangeShapeType="1"/>
            </p:cNvSpPr>
            <p:nvPr/>
          </p:nvSpPr>
          <p:spPr bwMode="auto">
            <a:xfrm>
              <a:off x="1250" y="1365"/>
              <a:ext cx="18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23588" name="Line 30"/>
            <p:cNvSpPr>
              <a:spLocks noChangeShapeType="1"/>
            </p:cNvSpPr>
            <p:nvPr/>
          </p:nvSpPr>
          <p:spPr bwMode="auto">
            <a:xfrm>
              <a:off x="1267" y="1818"/>
              <a:ext cx="18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sp>
          <p:nvSpPr>
            <p:cNvPr id="23589" name="Line 31"/>
            <p:cNvSpPr>
              <a:spLocks noChangeShapeType="1"/>
            </p:cNvSpPr>
            <p:nvPr/>
          </p:nvSpPr>
          <p:spPr bwMode="auto">
            <a:xfrm>
              <a:off x="1270" y="2281"/>
              <a:ext cx="18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82800" rIns="90000" bIns="82800">
              <a:spAutoFit/>
            </a:bodyPr>
            <a:lstStyle/>
            <a:p>
              <a:endParaRPr lang="en-GB" sz="2400"/>
            </a:p>
          </p:txBody>
        </p:sp>
      </p:grpSp>
      <p:grpSp>
        <p:nvGrpSpPr>
          <p:cNvPr id="3" name="Group 74"/>
          <p:cNvGrpSpPr>
            <a:grpSpLocks/>
          </p:cNvGrpSpPr>
          <p:nvPr/>
        </p:nvGrpSpPr>
        <p:grpSpPr bwMode="auto">
          <a:xfrm>
            <a:off x="2237042" y="4624197"/>
            <a:ext cx="2119312" cy="2159000"/>
            <a:chOff x="1589" y="1372"/>
            <a:chExt cx="1335" cy="1360"/>
          </a:xfrm>
        </p:grpSpPr>
        <p:sp>
          <p:nvSpPr>
            <p:cNvPr id="23583" name="Line 43"/>
            <p:cNvSpPr>
              <a:spLocks noChangeShapeType="1"/>
            </p:cNvSpPr>
            <p:nvPr/>
          </p:nvSpPr>
          <p:spPr bwMode="auto">
            <a:xfrm rot="16200000" flipH="1">
              <a:off x="909" y="2052"/>
              <a:ext cx="1360" cy="0"/>
            </a:xfrm>
            <a:prstGeom prst="line">
              <a:avLst/>
            </a:prstGeom>
            <a:noFill/>
            <a:ln w="25400">
              <a:solidFill>
                <a:srgbClr val="008000"/>
              </a:solidFill>
              <a:round/>
              <a:headEnd/>
              <a:tailEnd type="stealth"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23584" name="Line 44"/>
            <p:cNvSpPr>
              <a:spLocks noChangeShapeType="1"/>
            </p:cNvSpPr>
            <p:nvPr/>
          </p:nvSpPr>
          <p:spPr bwMode="auto">
            <a:xfrm rot="16200000" flipH="1">
              <a:off x="1337" y="2052"/>
              <a:ext cx="1360" cy="0"/>
            </a:xfrm>
            <a:prstGeom prst="line">
              <a:avLst/>
            </a:prstGeom>
            <a:noFill/>
            <a:ln w="25400">
              <a:solidFill>
                <a:srgbClr val="008000"/>
              </a:solidFill>
              <a:round/>
              <a:headEnd/>
              <a:tailEnd type="stealth"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23585" name="Line 45"/>
            <p:cNvSpPr>
              <a:spLocks noChangeShapeType="1"/>
            </p:cNvSpPr>
            <p:nvPr/>
          </p:nvSpPr>
          <p:spPr bwMode="auto">
            <a:xfrm rot="16200000" flipH="1">
              <a:off x="1794" y="2052"/>
              <a:ext cx="1360" cy="0"/>
            </a:xfrm>
            <a:prstGeom prst="line">
              <a:avLst/>
            </a:prstGeom>
            <a:noFill/>
            <a:ln w="25400">
              <a:solidFill>
                <a:srgbClr val="008000"/>
              </a:solidFill>
              <a:round/>
              <a:headEnd/>
              <a:tailEnd type="stealth"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sp>
          <p:nvSpPr>
            <p:cNvPr id="23586" name="Line 46"/>
            <p:cNvSpPr>
              <a:spLocks noChangeShapeType="1"/>
            </p:cNvSpPr>
            <p:nvPr/>
          </p:nvSpPr>
          <p:spPr bwMode="auto">
            <a:xfrm rot="16200000" flipH="1">
              <a:off x="2244" y="2052"/>
              <a:ext cx="1360" cy="0"/>
            </a:xfrm>
            <a:prstGeom prst="line">
              <a:avLst/>
            </a:prstGeom>
            <a:noFill/>
            <a:ln w="25400">
              <a:solidFill>
                <a:srgbClr val="008000"/>
              </a:solidFill>
              <a:round/>
              <a:headEnd/>
              <a:tailEnd type="stealth" w="lg" len="lg"/>
            </a:ln>
            <a:extLst>
              <a:ext uri="{909E8E84-426E-40DD-AFC4-6F175D3DCCD1}">
                <a14:hiddenFill xmlns:a14="http://schemas.microsoft.com/office/drawing/2010/main">
                  <a:noFill/>
                </a14:hiddenFill>
              </a:ext>
            </a:extLst>
          </p:spPr>
          <p:txBody>
            <a:bodyPr lIns="90000" tIns="82800" rIns="90000" bIns="82800">
              <a:spAutoFit/>
            </a:bodyPr>
            <a:lstStyle/>
            <a:p>
              <a:endParaRPr lang="en-GB" sz="2400"/>
            </a:p>
          </p:txBody>
        </p:sp>
      </p:grpSp>
      <p:sp>
        <p:nvSpPr>
          <p:cNvPr id="5142" name="Text Box 47"/>
          <p:cNvSpPr txBox="1">
            <a:spLocks noChangeArrowheads="1"/>
          </p:cNvSpPr>
          <p:nvPr/>
        </p:nvSpPr>
        <p:spPr bwMode="auto">
          <a:xfrm>
            <a:off x="1765237" y="449898"/>
            <a:ext cx="3073058" cy="514738"/>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FFFF"/>
                </a:solidFill>
                <a:latin typeface="Arial" panose="020B0604020202020204" pitchFamily="34" charset="0"/>
              </a:rPr>
              <a:t>CAMPO UNIFORME</a:t>
            </a:r>
          </a:p>
        </p:txBody>
      </p:sp>
      <p:grpSp>
        <p:nvGrpSpPr>
          <p:cNvPr id="5177" name="Group 57"/>
          <p:cNvGrpSpPr>
            <a:grpSpLocks/>
          </p:cNvGrpSpPr>
          <p:nvPr/>
        </p:nvGrpSpPr>
        <p:grpSpPr bwMode="auto">
          <a:xfrm>
            <a:off x="1604264" y="1425828"/>
            <a:ext cx="3419474" cy="1608138"/>
            <a:chOff x="1120" y="1622"/>
            <a:chExt cx="2154" cy="1013"/>
          </a:xfrm>
        </p:grpSpPr>
        <p:sp>
          <p:nvSpPr>
            <p:cNvPr id="23581" name="AutoShape 48"/>
            <p:cNvSpPr>
              <a:spLocks noChangeArrowheads="1"/>
            </p:cNvSpPr>
            <p:nvPr/>
          </p:nvSpPr>
          <p:spPr bwMode="auto">
            <a:xfrm>
              <a:off x="2059" y="1622"/>
              <a:ext cx="276" cy="213"/>
            </a:xfrm>
            <a:prstGeom prst="downArrow">
              <a:avLst>
                <a:gd name="adj1" fmla="val 49713"/>
                <a:gd name="adj2" fmla="val 54541"/>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3582" name="Text Box 51"/>
            <p:cNvSpPr txBox="1">
              <a:spLocks noChangeArrowheads="1"/>
            </p:cNvSpPr>
            <p:nvPr/>
          </p:nvSpPr>
          <p:spPr bwMode="auto">
            <a:xfrm>
              <a:off x="1120" y="1878"/>
              <a:ext cx="2154" cy="757"/>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Las líneas de campo son paralelas y equiespaciadas</a:t>
              </a:r>
            </a:p>
          </p:txBody>
        </p:sp>
      </p:grpSp>
      <p:sp>
        <p:nvSpPr>
          <p:cNvPr id="5156" name="Text Box 49"/>
          <p:cNvSpPr txBox="1">
            <a:spLocks noChangeArrowheads="1"/>
          </p:cNvSpPr>
          <p:nvPr/>
        </p:nvSpPr>
        <p:spPr bwMode="auto">
          <a:xfrm>
            <a:off x="1595119" y="3175889"/>
            <a:ext cx="3419935" cy="1202510"/>
          </a:xfrm>
          <a:prstGeom prst="rect">
            <a:avLst/>
          </a:prstGeom>
          <a:solidFill>
            <a:srgbClr val="99CCFF"/>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Las superficies equipotenciales tienen</a:t>
            </a:r>
          </a:p>
          <a:p>
            <a:pPr algn="ctr" eaLnBrk="1" hangingPunct="1">
              <a:spcBef>
                <a:spcPts val="0"/>
              </a:spcBef>
              <a:buFontTx/>
              <a:buNone/>
            </a:pPr>
            <a:r>
              <a:rPr lang="es-ES" sz="2400">
                <a:latin typeface="Arial" panose="020B0604020202020204" pitchFamily="34" charset="0"/>
              </a:rPr>
              <a:t>que ser </a:t>
            </a:r>
            <a:r>
              <a:rPr lang="es-ES" sz="2400">
                <a:latin typeface="Arial" panose="020B0604020202020204" pitchFamily="34" charset="0"/>
                <a:sym typeface="Symbol" panose="05050102010706020507" pitchFamily="18" charset="2"/>
              </a:rPr>
              <a:t> a las líneas</a:t>
            </a:r>
            <a:endParaRPr lang="es-ES" sz="2400">
              <a:latin typeface="Arial" panose="020B0604020202020204" pitchFamily="34" charset="0"/>
            </a:endParaRPr>
          </a:p>
        </p:txBody>
      </p:sp>
      <p:grpSp>
        <p:nvGrpSpPr>
          <p:cNvPr id="5162" name="Group 42"/>
          <p:cNvGrpSpPr>
            <a:grpSpLocks/>
          </p:cNvGrpSpPr>
          <p:nvPr/>
        </p:nvGrpSpPr>
        <p:grpSpPr bwMode="auto">
          <a:xfrm>
            <a:off x="9110803" y="2655169"/>
            <a:ext cx="752475" cy="696913"/>
            <a:chOff x="2798" y="4090"/>
            <a:chExt cx="474" cy="439"/>
          </a:xfrm>
        </p:grpSpPr>
        <p:sp>
          <p:nvSpPr>
            <p:cNvPr id="23579" name="Text Box 65"/>
            <p:cNvSpPr txBox="1">
              <a:spLocks noChangeArrowheads="1"/>
            </p:cNvSpPr>
            <p:nvPr/>
          </p:nvSpPr>
          <p:spPr bwMode="auto">
            <a:xfrm>
              <a:off x="2798" y="4090"/>
              <a:ext cx="47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cte.</a:t>
              </a:r>
            </a:p>
          </p:txBody>
        </p:sp>
        <p:sp>
          <p:nvSpPr>
            <p:cNvPr id="23580" name="Line 44"/>
            <p:cNvSpPr>
              <a:spLocks noChangeShapeType="1"/>
            </p:cNvSpPr>
            <p:nvPr/>
          </p:nvSpPr>
          <p:spPr bwMode="auto">
            <a:xfrm flipV="1">
              <a:off x="2974" y="4393"/>
              <a:ext cx="0" cy="136"/>
            </a:xfrm>
            <a:prstGeom prst="line">
              <a:avLst/>
            </a:prstGeom>
            <a:noFill/>
            <a:ln w="25400">
              <a:solidFill>
                <a:srgbClr val="3333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spAutoFit/>
            </a:bodyPr>
            <a:lstStyle/>
            <a:p>
              <a:endParaRPr lang="en-GB" sz="2400"/>
            </a:p>
          </p:txBody>
        </p:sp>
      </p:grpSp>
      <p:grpSp>
        <p:nvGrpSpPr>
          <p:cNvPr id="5173" name="Group 53"/>
          <p:cNvGrpSpPr>
            <a:grpSpLocks/>
          </p:cNvGrpSpPr>
          <p:nvPr/>
        </p:nvGrpSpPr>
        <p:grpSpPr bwMode="auto">
          <a:xfrm>
            <a:off x="5946915" y="2664062"/>
            <a:ext cx="4305300" cy="1481140"/>
            <a:chOff x="3578" y="1272"/>
            <a:chExt cx="2712" cy="933"/>
          </a:xfrm>
        </p:grpSpPr>
        <p:graphicFrame>
          <p:nvGraphicFramePr>
            <p:cNvPr id="23572" name="Object 123"/>
            <p:cNvGraphicFramePr>
              <a:graphicFrameLocks noChangeAspect="1"/>
            </p:cNvGraphicFramePr>
            <p:nvPr>
              <p:extLst>
                <p:ext uri="{D42A27DB-BD31-4B8C-83A1-F6EECF244321}">
                  <p14:modId xmlns:p14="http://schemas.microsoft.com/office/powerpoint/2010/main" val="4114534774"/>
                </p:ext>
              </p:extLst>
            </p:nvPr>
          </p:nvGraphicFramePr>
          <p:xfrm>
            <a:off x="4970" y="1775"/>
            <a:ext cx="1155" cy="430"/>
          </p:xfrm>
          <a:graphic>
            <a:graphicData uri="http://schemas.openxmlformats.org/presentationml/2006/ole">
              <mc:AlternateContent xmlns:mc="http://schemas.openxmlformats.org/markup-compatibility/2006">
                <mc:Choice xmlns:v="urn:schemas-microsoft-com:vml" Requires="v">
                  <p:oleObj name="Ecuación" r:id="rId3" imgW="850531" imgH="317362" progId="Equation.3">
                    <p:embed/>
                  </p:oleObj>
                </mc:Choice>
                <mc:Fallback>
                  <p:oleObj name="Ecuación" r:id="rId3" imgW="850531" imgH="31736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0" y="1775"/>
                          <a:ext cx="1155" cy="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73" name="Object 149"/>
            <p:cNvGraphicFramePr>
              <a:graphicFrameLocks noChangeAspect="1"/>
            </p:cNvGraphicFramePr>
            <p:nvPr>
              <p:extLst>
                <p:ext uri="{D42A27DB-BD31-4B8C-83A1-F6EECF244321}">
                  <p14:modId xmlns:p14="http://schemas.microsoft.com/office/powerpoint/2010/main" val="3076803795"/>
                </p:ext>
              </p:extLst>
            </p:nvPr>
          </p:nvGraphicFramePr>
          <p:xfrm>
            <a:off x="3578" y="1833"/>
            <a:ext cx="1516" cy="326"/>
          </p:xfrm>
          <a:graphic>
            <a:graphicData uri="http://schemas.openxmlformats.org/presentationml/2006/ole">
              <mc:AlternateContent xmlns:mc="http://schemas.openxmlformats.org/markup-compatibility/2006">
                <mc:Choice xmlns:v="urn:schemas-microsoft-com:vml" Requires="v">
                  <p:oleObj name="Ecuación" r:id="rId5" imgW="1117600" imgH="241300" progId="Equation.3">
                    <p:embed/>
                  </p:oleObj>
                </mc:Choice>
                <mc:Fallback>
                  <p:oleObj name="Ecuación" r:id="rId5" imgW="11176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8" y="1833"/>
                          <a:ext cx="1516"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74" name="Text Box 64"/>
            <p:cNvSpPr txBox="1">
              <a:spLocks noChangeArrowheads="1"/>
            </p:cNvSpPr>
            <p:nvPr/>
          </p:nvSpPr>
          <p:spPr bwMode="auto">
            <a:xfrm>
              <a:off x="3632" y="1559"/>
              <a:ext cx="42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cte.</a:t>
              </a:r>
            </a:p>
          </p:txBody>
        </p:sp>
        <p:sp>
          <p:nvSpPr>
            <p:cNvPr id="23575" name="Text Box 67"/>
            <p:cNvSpPr txBox="1">
              <a:spLocks noChangeArrowheads="1"/>
            </p:cNvSpPr>
            <p:nvPr/>
          </p:nvSpPr>
          <p:spPr bwMode="auto">
            <a:xfrm>
              <a:off x="5848" y="1532"/>
              <a:ext cx="4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rPr>
                <a:t>cte.</a:t>
              </a:r>
            </a:p>
          </p:txBody>
        </p:sp>
        <p:grpSp>
          <p:nvGrpSpPr>
            <p:cNvPr id="23576" name="Group 45"/>
            <p:cNvGrpSpPr>
              <a:grpSpLocks/>
            </p:cNvGrpSpPr>
            <p:nvPr/>
          </p:nvGrpSpPr>
          <p:grpSpPr bwMode="auto">
            <a:xfrm>
              <a:off x="4563" y="1272"/>
              <a:ext cx="910" cy="642"/>
              <a:chOff x="1790" y="3462"/>
              <a:chExt cx="910" cy="642"/>
            </a:xfrm>
          </p:grpSpPr>
          <p:sp>
            <p:nvSpPr>
              <p:cNvPr id="23577" name="Text Box 127"/>
              <p:cNvSpPr txBox="1">
                <a:spLocks noChangeArrowheads="1"/>
              </p:cNvSpPr>
              <p:nvPr/>
            </p:nvSpPr>
            <p:spPr bwMode="auto">
              <a:xfrm>
                <a:off x="1790" y="3462"/>
                <a:ext cx="91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008000"/>
                    </a:solidFill>
                    <a:latin typeface="Arial" panose="020B0604020202020204" pitchFamily="34" charset="0"/>
                  </a:rPr>
                  <a:t>a lo largo de línea</a:t>
                </a:r>
              </a:p>
            </p:txBody>
          </p:sp>
          <p:sp>
            <p:nvSpPr>
              <p:cNvPr id="23578" name="Line 47"/>
              <p:cNvSpPr>
                <a:spLocks noChangeShapeType="1"/>
              </p:cNvSpPr>
              <p:nvPr/>
            </p:nvSpPr>
            <p:spPr bwMode="auto">
              <a:xfrm flipH="1">
                <a:off x="2427" y="3968"/>
                <a:ext cx="0" cy="136"/>
              </a:xfrm>
              <a:prstGeom prst="line">
                <a:avLst/>
              </a:prstGeom>
              <a:noFill/>
              <a:ln w="25400">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p>
                <a:endParaRPr lang="en-GB" sz="2400"/>
              </a:p>
            </p:txBody>
          </p:sp>
        </p:grpSp>
      </p:grpSp>
      <p:sp>
        <p:nvSpPr>
          <p:cNvPr id="21524" name="Text Box 66"/>
          <p:cNvSpPr txBox="1">
            <a:spLocks noChangeArrowheads="1"/>
          </p:cNvSpPr>
          <p:nvPr/>
        </p:nvSpPr>
        <p:spPr bwMode="auto">
          <a:xfrm>
            <a:off x="5861940" y="1428583"/>
            <a:ext cx="4221162" cy="833436"/>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latin typeface="Arial" panose="020B0604020202020204" pitchFamily="34" charset="0"/>
              </a:rPr>
              <a:t>Mismo número de sumandos, de pasos dl, para un </a:t>
            </a:r>
            <a:r>
              <a:rPr lang="es-ES" sz="2400" dirty="0">
                <a:latin typeface="Arial" panose="020B0604020202020204" pitchFamily="34" charset="0"/>
                <a:sym typeface="Symbol" panose="05050102010706020507" pitchFamily="18" charset="2"/>
              </a:rPr>
              <a:t>V fijo</a:t>
            </a:r>
          </a:p>
        </p:txBody>
      </p:sp>
      <p:sp>
        <p:nvSpPr>
          <p:cNvPr id="23571" name="AutoShape 50"/>
          <p:cNvSpPr>
            <a:spLocks noChangeArrowheads="1"/>
          </p:cNvSpPr>
          <p:nvPr/>
        </p:nvSpPr>
        <p:spPr bwMode="auto">
          <a:xfrm rot="16200000" flipV="1">
            <a:off x="7986015" y="2050882"/>
            <a:ext cx="255587" cy="854075"/>
          </a:xfrm>
          <a:prstGeom prst="rightArrow">
            <a:avLst>
              <a:gd name="adj1" fmla="val 53944"/>
              <a:gd name="adj2" fmla="val 5481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sp>
        <p:nvSpPr>
          <p:cNvPr id="5157" name="Text Box 49"/>
          <p:cNvSpPr txBox="1">
            <a:spLocks noChangeArrowheads="1"/>
          </p:cNvSpPr>
          <p:nvPr/>
        </p:nvSpPr>
        <p:spPr bwMode="auto">
          <a:xfrm>
            <a:off x="6830518" y="503059"/>
            <a:ext cx="2498725" cy="463846"/>
          </a:xfrm>
          <a:prstGeom prst="rect">
            <a:avLst/>
          </a:prstGeom>
          <a:solidFill>
            <a:srgbClr val="99CCFF"/>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Equiespaciados</a:t>
            </a:r>
          </a:p>
        </p:txBody>
      </p:sp>
      <p:sp>
        <p:nvSpPr>
          <p:cNvPr id="21523" name="AutoShape 51"/>
          <p:cNvSpPr>
            <a:spLocks noChangeArrowheads="1"/>
          </p:cNvSpPr>
          <p:nvPr/>
        </p:nvSpPr>
        <p:spPr bwMode="auto">
          <a:xfrm rot="16200000" flipV="1">
            <a:off x="7974902" y="748765"/>
            <a:ext cx="255677" cy="854123"/>
          </a:xfrm>
          <a:prstGeom prst="rightArrow">
            <a:avLst>
              <a:gd name="adj1" fmla="val 53944"/>
              <a:gd name="adj2" fmla="val 5481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sp>
        <p:nvSpPr>
          <p:cNvPr id="23568" name="Text Box 49"/>
          <p:cNvSpPr txBox="1">
            <a:spLocks noChangeArrowheads="1"/>
          </p:cNvSpPr>
          <p:nvPr/>
        </p:nvSpPr>
        <p:spPr bwMode="auto">
          <a:xfrm>
            <a:off x="6241358" y="5515545"/>
            <a:ext cx="3775078" cy="1201738"/>
          </a:xfrm>
          <a:prstGeom prst="rect">
            <a:avLst/>
          </a:prstGeom>
          <a:solidFill>
            <a:srgbClr val="99CCFF"/>
          </a:solidFill>
          <a:ln>
            <a:noFill/>
          </a:ln>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Las superficies equipotenciales son planos paralelos</a:t>
            </a:r>
          </a:p>
        </p:txBody>
      </p:sp>
      <p:sp>
        <p:nvSpPr>
          <p:cNvPr id="23569" name="AutoShape 61"/>
          <p:cNvSpPr>
            <a:spLocks noChangeArrowheads="1"/>
          </p:cNvSpPr>
          <p:nvPr/>
        </p:nvSpPr>
        <p:spPr bwMode="auto">
          <a:xfrm>
            <a:off x="5153278" y="5817170"/>
            <a:ext cx="802329" cy="642938"/>
          </a:xfrm>
          <a:prstGeom prst="rightArrow">
            <a:avLst>
              <a:gd name="adj1" fmla="val 53944"/>
              <a:gd name="adj2" fmla="val 5481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sp>
        <p:nvSpPr>
          <p:cNvPr id="40" name="Text Box 50"/>
          <p:cNvSpPr txBox="1">
            <a:spLocks noChangeArrowheads="1"/>
          </p:cNvSpPr>
          <p:nvPr/>
        </p:nvSpPr>
        <p:spPr bwMode="auto">
          <a:xfrm>
            <a:off x="5715298" y="4419702"/>
            <a:ext cx="4819246" cy="463846"/>
          </a:xfrm>
          <a:prstGeom prst="rect">
            <a:avLst/>
          </a:prstGeom>
          <a:solidFill>
            <a:schemeClr val="bg2">
              <a:lumMod val="60000"/>
              <a:lumOff val="40000"/>
            </a:schemeClr>
          </a:solidFill>
          <a:ln>
            <a:noFill/>
          </a:ln>
        </p:spPr>
        <p:txBody>
          <a:bodyPr wrap="non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solidFill>
                  <a:srgbClr val="000000"/>
                </a:solidFill>
                <a:latin typeface="Arial" panose="020B0604020202020204" pitchFamily="34" charset="0"/>
              </a:rPr>
              <a:t>¿Para un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rPr>
              <a:t>V fijo, a qué distancia?</a:t>
            </a:r>
          </a:p>
        </p:txBody>
      </p:sp>
      <p:sp>
        <p:nvSpPr>
          <p:cNvPr id="37" name="AutoShape 50"/>
          <p:cNvSpPr>
            <a:spLocks noChangeArrowheads="1"/>
          </p:cNvSpPr>
          <p:nvPr/>
        </p:nvSpPr>
        <p:spPr bwMode="auto">
          <a:xfrm rot="16200000" flipV="1">
            <a:off x="7949706" y="4720372"/>
            <a:ext cx="255587" cy="854075"/>
          </a:xfrm>
          <a:prstGeom prst="rightArrow">
            <a:avLst>
              <a:gd name="adj1" fmla="val 53944"/>
              <a:gd name="adj2" fmla="val 5481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46800" rIns="90000" bIns="46800" anchor="ctr">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sp>
        <p:nvSpPr>
          <p:cNvPr id="4" name="CuadroTexto 3"/>
          <p:cNvSpPr txBox="1"/>
          <p:nvPr/>
        </p:nvSpPr>
        <p:spPr>
          <a:xfrm>
            <a:off x="1718224" y="951526"/>
            <a:ext cx="3188693" cy="400110"/>
          </a:xfrm>
          <a:prstGeom prst="rect">
            <a:avLst/>
          </a:prstGeom>
          <a:noFill/>
        </p:spPr>
        <p:txBody>
          <a:bodyPr wrap="none" rtlCol="0">
            <a:spAutoFit/>
          </a:bodyPr>
          <a:lstStyle/>
          <a:p>
            <a:r>
              <a:rPr lang="es-ES">
                <a:solidFill>
                  <a:srgbClr val="FF0000"/>
                </a:solidFill>
              </a:rPr>
              <a:t>(campo cte. en el espacio)</a:t>
            </a:r>
          </a:p>
        </p:txBody>
      </p:sp>
    </p:spTree>
    <p:extLst>
      <p:ext uri="{BB962C8B-B14F-4D97-AF65-F5344CB8AC3E}">
        <p14:creationId xmlns:p14="http://schemas.microsoft.com/office/powerpoint/2010/main" val="14781128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177"/>
                                        </p:tgtEl>
                                        <p:attrNameLst>
                                          <p:attrName>style.visibility</p:attrName>
                                        </p:attrNameLst>
                                      </p:cBhvr>
                                      <p:to>
                                        <p:strVal val="visible"/>
                                      </p:to>
                                    </p:set>
                                    <p:animEffect transition="in" filter="wipe(up)">
                                      <p:cBhvr>
                                        <p:cTn id="13" dur="500"/>
                                        <p:tgtEl>
                                          <p:spTgt spid="517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up)">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5156"/>
                                        </p:tgtEl>
                                        <p:attrNameLst>
                                          <p:attrName>style.visibility</p:attrName>
                                        </p:attrNameLst>
                                      </p:cBhvr>
                                      <p:to>
                                        <p:strVal val="visible"/>
                                      </p:to>
                                    </p:set>
                                    <p:animEffect transition="in" filter="wipe(up)">
                                      <p:cBhvr>
                                        <p:cTn id="23" dur="500"/>
                                        <p:tgtEl>
                                          <p:spTgt spid="515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3569"/>
                                        </p:tgtEl>
                                        <p:attrNameLst>
                                          <p:attrName>style.visibility</p:attrName>
                                        </p:attrNameLst>
                                      </p:cBhvr>
                                      <p:to>
                                        <p:strVal val="visible"/>
                                      </p:to>
                                    </p:set>
                                    <p:animEffect transition="in" filter="wipe(left)">
                                      <p:cBhvr>
                                        <p:cTn id="33" dur="500"/>
                                        <p:tgtEl>
                                          <p:spTgt spid="23569"/>
                                        </p:tgtEl>
                                      </p:cBhvr>
                                    </p:animEffect>
                                  </p:childTnLst>
                                </p:cTn>
                              </p:par>
                            </p:childTnLst>
                          </p:cTn>
                        </p:par>
                        <p:par>
                          <p:cTn id="34" fill="hold">
                            <p:stCondLst>
                              <p:cond delay="500"/>
                            </p:stCondLst>
                            <p:childTnLst>
                              <p:par>
                                <p:cTn id="35" presetID="3" presetClass="entr" presetSubtype="5" fill="hold" grpId="0" nodeType="afterEffect">
                                  <p:stCondLst>
                                    <p:cond delay="0"/>
                                  </p:stCondLst>
                                  <p:childTnLst>
                                    <p:set>
                                      <p:cBhvr>
                                        <p:cTn id="36" dur="1" fill="hold">
                                          <p:stCondLst>
                                            <p:cond delay="0"/>
                                          </p:stCondLst>
                                        </p:cTn>
                                        <p:tgtEl>
                                          <p:spTgt spid="23568"/>
                                        </p:tgtEl>
                                        <p:attrNameLst>
                                          <p:attrName>style.visibility</p:attrName>
                                        </p:attrNameLst>
                                      </p:cBhvr>
                                      <p:to>
                                        <p:strVal val="visible"/>
                                      </p:to>
                                    </p:set>
                                    <p:animEffect transition="in" filter="blinds(vertical)">
                                      <p:cBhvr>
                                        <p:cTn id="37" dur="500"/>
                                        <p:tgtEl>
                                          <p:spTgt spid="235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wipe(down)">
                                      <p:cBhvr>
                                        <p:cTn id="42" dur="500"/>
                                        <p:tgtEl>
                                          <p:spTgt spid="37"/>
                                        </p:tgtEl>
                                      </p:cBhvr>
                                    </p:animEffect>
                                  </p:childTnLst>
                                </p:cTn>
                              </p:par>
                            </p:childTnLst>
                          </p:cTn>
                        </p:par>
                        <p:par>
                          <p:cTn id="43" fill="hold">
                            <p:stCondLst>
                              <p:cond delay="500"/>
                            </p:stCondLst>
                            <p:childTnLst>
                              <p:par>
                                <p:cTn id="44" presetID="16" presetClass="entr" presetSubtype="37" fill="hold" grpId="0"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barn(outVertical)">
                                      <p:cBhvr>
                                        <p:cTn id="46" dur="500"/>
                                        <p:tgtEl>
                                          <p:spTgt spid="4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5173"/>
                                        </p:tgtEl>
                                        <p:attrNameLst>
                                          <p:attrName>style.visibility</p:attrName>
                                        </p:attrNameLst>
                                      </p:cBhvr>
                                      <p:to>
                                        <p:strVal val="visible"/>
                                      </p:to>
                                    </p:set>
                                    <p:animEffect transition="in" filter="dissolve">
                                      <p:cBhvr>
                                        <p:cTn id="51" dur="500"/>
                                        <p:tgtEl>
                                          <p:spTgt spid="517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nodeType="clickEffect">
                                  <p:stCondLst>
                                    <p:cond delay="0"/>
                                  </p:stCondLst>
                                  <p:childTnLst>
                                    <p:set>
                                      <p:cBhvr>
                                        <p:cTn id="55" dur="1" fill="hold">
                                          <p:stCondLst>
                                            <p:cond delay="0"/>
                                          </p:stCondLst>
                                        </p:cTn>
                                        <p:tgtEl>
                                          <p:spTgt spid="5162"/>
                                        </p:tgtEl>
                                        <p:attrNameLst>
                                          <p:attrName>style.visibility</p:attrName>
                                        </p:attrNameLst>
                                      </p:cBhvr>
                                      <p:to>
                                        <p:strVal val="visible"/>
                                      </p:to>
                                    </p:set>
                                    <p:animEffect transition="in" filter="wipe(down)">
                                      <p:cBhvr>
                                        <p:cTn id="56" dur="500"/>
                                        <p:tgtEl>
                                          <p:spTgt spid="516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3571"/>
                                        </p:tgtEl>
                                        <p:attrNameLst>
                                          <p:attrName>style.visibility</p:attrName>
                                        </p:attrNameLst>
                                      </p:cBhvr>
                                      <p:to>
                                        <p:strVal val="visible"/>
                                      </p:to>
                                    </p:set>
                                    <p:animEffect transition="in" filter="wipe(down)">
                                      <p:cBhvr>
                                        <p:cTn id="61" dur="500"/>
                                        <p:tgtEl>
                                          <p:spTgt spid="23571"/>
                                        </p:tgtEl>
                                      </p:cBhvr>
                                    </p:animEffect>
                                  </p:childTnLst>
                                </p:cTn>
                              </p:par>
                            </p:childTnLst>
                          </p:cTn>
                        </p:par>
                        <p:par>
                          <p:cTn id="62" fill="hold">
                            <p:stCondLst>
                              <p:cond delay="500"/>
                            </p:stCondLst>
                            <p:childTnLst>
                              <p:par>
                                <p:cTn id="63" presetID="22" presetClass="entr" presetSubtype="1" fill="hold" grpId="0" nodeType="afterEffect">
                                  <p:stCondLst>
                                    <p:cond delay="0"/>
                                  </p:stCondLst>
                                  <p:childTnLst>
                                    <p:set>
                                      <p:cBhvr>
                                        <p:cTn id="64" dur="1" fill="hold">
                                          <p:stCondLst>
                                            <p:cond delay="0"/>
                                          </p:stCondLst>
                                        </p:cTn>
                                        <p:tgtEl>
                                          <p:spTgt spid="21524"/>
                                        </p:tgtEl>
                                        <p:attrNameLst>
                                          <p:attrName>style.visibility</p:attrName>
                                        </p:attrNameLst>
                                      </p:cBhvr>
                                      <p:to>
                                        <p:strVal val="visible"/>
                                      </p:to>
                                    </p:set>
                                    <p:animEffect transition="in" filter="wipe(up)">
                                      <p:cBhvr>
                                        <p:cTn id="65" dur="500"/>
                                        <p:tgtEl>
                                          <p:spTgt spid="2152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21523"/>
                                        </p:tgtEl>
                                        <p:attrNameLst>
                                          <p:attrName>style.visibility</p:attrName>
                                        </p:attrNameLst>
                                      </p:cBhvr>
                                      <p:to>
                                        <p:strVal val="visible"/>
                                      </p:to>
                                    </p:set>
                                    <p:animEffect transition="in" filter="wipe(down)">
                                      <p:cBhvr>
                                        <p:cTn id="70" dur="500"/>
                                        <p:tgtEl>
                                          <p:spTgt spid="21523"/>
                                        </p:tgtEl>
                                      </p:cBhvr>
                                    </p:animEffect>
                                  </p:childTnLst>
                                </p:cTn>
                              </p:par>
                            </p:childTnLst>
                          </p:cTn>
                        </p:par>
                        <p:par>
                          <p:cTn id="71" fill="hold">
                            <p:stCondLst>
                              <p:cond delay="500"/>
                            </p:stCondLst>
                            <p:childTnLst>
                              <p:par>
                                <p:cTn id="72" presetID="3" presetClass="entr" presetSubtype="10" fill="hold" grpId="0" nodeType="afterEffect">
                                  <p:stCondLst>
                                    <p:cond delay="0"/>
                                  </p:stCondLst>
                                  <p:childTnLst>
                                    <p:set>
                                      <p:cBhvr>
                                        <p:cTn id="73" dur="1" fill="hold">
                                          <p:stCondLst>
                                            <p:cond delay="0"/>
                                          </p:stCondLst>
                                        </p:cTn>
                                        <p:tgtEl>
                                          <p:spTgt spid="5157"/>
                                        </p:tgtEl>
                                        <p:attrNameLst>
                                          <p:attrName>style.visibility</p:attrName>
                                        </p:attrNameLst>
                                      </p:cBhvr>
                                      <p:to>
                                        <p:strVal val="visible"/>
                                      </p:to>
                                    </p:set>
                                    <p:animEffect transition="in" filter="blinds(horizontal)">
                                      <p:cBhvr>
                                        <p:cTn id="74" dur="500"/>
                                        <p:tgtEl>
                                          <p:spTgt spid="5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6" grpId="0" animBg="1"/>
      <p:bldP spid="21524" grpId="0" animBg="1"/>
      <p:bldP spid="23571" grpId="0" animBg="1"/>
      <p:bldP spid="5157" grpId="0" animBg="1"/>
      <p:bldP spid="21523" grpId="0" animBg="1"/>
      <p:bldP spid="23568" grpId="0" animBg="1"/>
      <p:bldP spid="23569" grpId="0" animBg="1"/>
      <p:bldP spid="40" grpId="0" animBg="1"/>
      <p:bldP spid="37" grpId="0" animBg="1"/>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202"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315720"/>
            <a:ext cx="5500688" cy="432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13322" name="Text Box 10"/>
          <p:cNvSpPr txBox="1">
            <a:spLocks noChangeArrowheads="1"/>
          </p:cNvSpPr>
          <p:nvPr/>
        </p:nvSpPr>
        <p:spPr bwMode="auto">
          <a:xfrm>
            <a:off x="1320800" y="5829896"/>
            <a:ext cx="8991281" cy="1051287"/>
          </a:xfrm>
          <a:prstGeom prst="rect">
            <a:avLst/>
          </a:prstGeom>
          <a:solidFill>
            <a:srgbClr val="FFFF99"/>
          </a:solidFill>
          <a:ln>
            <a:noFill/>
          </a:ln>
        </p:spPr>
        <p:txBody>
          <a:bodyPr wrap="square" lIns="126000" tIns="154800" rIns="126000" bIns="154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defRPr/>
            </a:pPr>
            <a:r>
              <a:rPr lang="es-ES" sz="2400" dirty="0">
                <a:latin typeface="Arial" panose="020B0604020202020204" pitchFamily="34" charset="0"/>
              </a:rPr>
              <a:t>Líneas más </a:t>
            </a:r>
            <a:r>
              <a:rPr lang="es-ES" sz="2400">
                <a:latin typeface="Arial" panose="020B0604020202020204" pitchFamily="34" charset="0"/>
              </a:rPr>
              <a:t>juntas </a:t>
            </a:r>
            <a:r>
              <a:rPr lang="es-ES" sz="2400">
                <a:latin typeface="Arial" panose="020B0604020202020204" pitchFamily="34" charset="0"/>
                <a:sym typeface="Symbol" panose="05050102010706020507" pitchFamily="18" charset="2"/>
              </a:rPr>
              <a:t> Más </a:t>
            </a:r>
            <a:r>
              <a:rPr lang="es-ES" sz="2400" dirty="0">
                <a:latin typeface="Arial" panose="020B0604020202020204" pitchFamily="34" charset="0"/>
                <a:sym typeface="Symbol" panose="05050102010706020507" pitchFamily="18" charset="2"/>
              </a:rPr>
              <a:t>variación de </a:t>
            </a:r>
            <a:r>
              <a:rPr lang="es-ES" sz="2400">
                <a:latin typeface="Arial" panose="020B0604020202020204" pitchFamily="34" charset="0"/>
                <a:sym typeface="Symbol" panose="05050102010706020507" pitchFamily="18" charset="2"/>
              </a:rPr>
              <a:t>altura para un mismo</a:t>
            </a:r>
          </a:p>
          <a:p>
            <a:pPr algn="ctr" eaLnBrk="1" hangingPunct="1">
              <a:spcBef>
                <a:spcPts val="0"/>
              </a:spcBef>
              <a:buFontTx/>
              <a:buNone/>
              <a:defRPr/>
            </a:pPr>
            <a:r>
              <a:rPr lang="es-ES" sz="2400">
                <a:latin typeface="Arial" panose="020B0604020202020204" pitchFamily="34" charset="0"/>
                <a:sym typeface="Symbol" panose="05050102010706020507" pitchFamily="18" charset="2"/>
              </a:rPr>
              <a:t>avance horizontal (más pendiente)  </a:t>
            </a:r>
            <a:r>
              <a:rPr lang="es-ES" sz="2400">
                <a:latin typeface="Arial" panose="020B0604020202020204" pitchFamily="34" charset="0"/>
              </a:rPr>
              <a:t>Mayor </a:t>
            </a:r>
            <a:r>
              <a:rPr lang="es-ES" sz="2400" dirty="0">
                <a:latin typeface="Arial" panose="020B0604020202020204" pitchFamily="34" charset="0"/>
              </a:rPr>
              <a:t>gradiente de altura</a:t>
            </a:r>
          </a:p>
        </p:txBody>
      </p:sp>
      <p:sp>
        <p:nvSpPr>
          <p:cNvPr id="13325" name="Text Box 13"/>
          <p:cNvSpPr txBox="1">
            <a:spLocks noChangeArrowheads="1"/>
          </p:cNvSpPr>
          <p:nvPr/>
        </p:nvSpPr>
        <p:spPr bwMode="auto">
          <a:xfrm>
            <a:off x="1320799" y="301775"/>
            <a:ext cx="8991281" cy="905881"/>
          </a:xfrm>
          <a:prstGeom prst="rect">
            <a:avLst/>
          </a:prstGeom>
          <a:solidFill>
            <a:srgbClr val="CCFFCC"/>
          </a:solidFill>
          <a:ln>
            <a:noFill/>
          </a:ln>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chemeClr val="tx1"/>
                </a:solidFill>
              </a:rPr>
              <a:t>En la vida cotidiana al hablar de gradiente nos referimos a que una magnitud escalar definida en el espacio varía (ej.: el color)</a:t>
            </a:r>
          </a:p>
        </p:txBody>
      </p:sp>
      <p:sp>
        <p:nvSpPr>
          <p:cNvPr id="9" name="Text Box 4"/>
          <p:cNvSpPr txBox="1">
            <a:spLocks noChangeArrowheads="1"/>
          </p:cNvSpPr>
          <p:nvPr/>
        </p:nvSpPr>
        <p:spPr bwMode="auto">
          <a:xfrm>
            <a:off x="7046407" y="1355960"/>
            <a:ext cx="3273425" cy="1051287"/>
          </a:xfrm>
          <a:prstGeom prst="rect">
            <a:avLst/>
          </a:prstGeom>
          <a:solidFill>
            <a:srgbClr val="FFFFFF"/>
          </a:solidFill>
          <a:ln>
            <a:noFill/>
          </a:ln>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b="1" u="sng">
                <a:latin typeface="Arial" panose="020B0604020202020204" pitchFamily="34" charset="0"/>
              </a:rPr>
              <a:t>Mapa de un terreno</a:t>
            </a:r>
            <a:r>
              <a:rPr lang="es-ES" sz="2400">
                <a:latin typeface="Arial" panose="020B0604020202020204" pitchFamily="34" charset="0"/>
              </a:rPr>
              <a:t> </a:t>
            </a:r>
            <a:r>
              <a:rPr lang="es-ES" sz="2400">
                <a:solidFill>
                  <a:srgbClr val="FF0000"/>
                </a:solidFill>
                <a:latin typeface="Arial" panose="020B0604020202020204" pitchFamily="34" charset="0"/>
              </a:rPr>
              <a:t>(topográfico)</a:t>
            </a:r>
          </a:p>
        </p:txBody>
      </p:sp>
      <p:cxnSp>
        <p:nvCxnSpPr>
          <p:cNvPr id="3" name="Conector recto de flecha 2"/>
          <p:cNvCxnSpPr>
            <a:cxnSpLocks noChangeShapeType="1"/>
          </p:cNvCxnSpPr>
          <p:nvPr/>
        </p:nvCxnSpPr>
        <p:spPr bwMode="auto">
          <a:xfrm flipH="1">
            <a:off x="5455087" y="3304903"/>
            <a:ext cx="1287357" cy="1138437"/>
          </a:xfrm>
          <a:prstGeom prst="straightConnector1">
            <a:avLst/>
          </a:prstGeom>
          <a:noFill/>
          <a:ln w="38100" algn="ctr">
            <a:solidFill>
              <a:srgbClr val="FF0000"/>
            </a:solidFill>
            <a:round/>
            <a:headEnd/>
            <a:tailEnd type="triangle" w="lg" len="lg"/>
          </a:ln>
          <a:extLst>
            <a:ext uri="{909E8E84-426E-40DD-AFC4-6F175D3DCCD1}">
              <a14:hiddenFill xmlns:a14="http://schemas.microsoft.com/office/drawing/2010/main">
                <a:noFill/>
              </a14:hiddenFill>
            </a:ext>
          </a:extLst>
        </p:spPr>
      </p:cxnSp>
      <p:grpSp>
        <p:nvGrpSpPr>
          <p:cNvPr id="8" name="Grupo 7"/>
          <p:cNvGrpSpPr>
            <a:grpSpLocks/>
          </p:cNvGrpSpPr>
          <p:nvPr/>
        </p:nvGrpSpPr>
        <p:grpSpPr bwMode="auto">
          <a:xfrm>
            <a:off x="7080781" y="2336161"/>
            <a:ext cx="3231301" cy="688406"/>
            <a:chOff x="6806970" y="1848442"/>
            <a:chExt cx="3231109" cy="688059"/>
          </a:xfrm>
        </p:grpSpPr>
        <p:sp>
          <p:nvSpPr>
            <p:cNvPr id="25621" name="Text Box 4"/>
            <p:cNvSpPr txBox="1">
              <a:spLocks noChangeArrowheads="1"/>
            </p:cNvSpPr>
            <p:nvPr/>
          </p:nvSpPr>
          <p:spPr bwMode="auto">
            <a:xfrm>
              <a:off x="9467214" y="1848442"/>
              <a:ext cx="570865" cy="68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rPr>
                <a:t>V</a:t>
              </a:r>
            </a:p>
          </p:txBody>
        </p:sp>
        <p:sp>
          <p:nvSpPr>
            <p:cNvPr id="25622" name="Text Box 4"/>
            <p:cNvSpPr txBox="1">
              <a:spLocks noChangeArrowheads="1"/>
            </p:cNvSpPr>
            <p:nvPr/>
          </p:nvSpPr>
          <p:spPr bwMode="auto">
            <a:xfrm>
              <a:off x="6806970" y="1854890"/>
              <a:ext cx="1531266" cy="68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sym typeface="Symbol" panose="05050102010706020507" pitchFamily="18" charset="2"/>
                </a:rPr>
                <a:t>Altura</a:t>
              </a:r>
              <a:endParaRPr lang="es-ES" sz="2400">
                <a:latin typeface="Arial" panose="020B0604020202020204" pitchFamily="34" charset="0"/>
              </a:endParaRPr>
            </a:p>
          </p:txBody>
        </p:sp>
        <p:cxnSp>
          <p:nvCxnSpPr>
            <p:cNvPr id="25623" name="Conector recto de flecha 4"/>
            <p:cNvCxnSpPr>
              <a:cxnSpLocks noChangeShapeType="1"/>
            </p:cNvCxnSpPr>
            <p:nvPr/>
          </p:nvCxnSpPr>
          <p:spPr bwMode="auto">
            <a:xfrm>
              <a:off x="8721604" y="2189110"/>
              <a:ext cx="581609" cy="0"/>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grpSp>
        <p:nvGrpSpPr>
          <p:cNvPr id="19" name="Grupo 18"/>
          <p:cNvGrpSpPr>
            <a:grpSpLocks/>
          </p:cNvGrpSpPr>
          <p:nvPr/>
        </p:nvGrpSpPr>
        <p:grpSpPr bwMode="auto">
          <a:xfrm>
            <a:off x="6942495" y="4847093"/>
            <a:ext cx="3369589" cy="1051287"/>
            <a:chOff x="6667795" y="4623413"/>
            <a:chExt cx="3370283" cy="1050709"/>
          </a:xfrm>
        </p:grpSpPr>
        <p:sp>
          <p:nvSpPr>
            <p:cNvPr id="25618" name="Text Box 4"/>
            <p:cNvSpPr txBox="1">
              <a:spLocks noChangeArrowheads="1"/>
            </p:cNvSpPr>
            <p:nvPr/>
          </p:nvSpPr>
          <p:spPr bwMode="auto">
            <a:xfrm>
              <a:off x="9467213" y="4825119"/>
              <a:ext cx="570865" cy="68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b="1" dirty="0">
                  <a:latin typeface="Arial" panose="020B0604020202020204" pitchFamily="34" charset="0"/>
                </a:rPr>
                <a:t>E</a:t>
              </a:r>
              <a:endParaRPr lang="es-ES" sz="2400" dirty="0">
                <a:latin typeface="Arial" panose="020B0604020202020204" pitchFamily="34" charset="0"/>
              </a:endParaRPr>
            </a:p>
          </p:txBody>
        </p:sp>
        <p:sp>
          <p:nvSpPr>
            <p:cNvPr id="25619" name="Text Box 4"/>
            <p:cNvSpPr txBox="1">
              <a:spLocks noChangeArrowheads="1"/>
            </p:cNvSpPr>
            <p:nvPr/>
          </p:nvSpPr>
          <p:spPr bwMode="auto">
            <a:xfrm>
              <a:off x="6667795" y="4623413"/>
              <a:ext cx="1960563" cy="1050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rPr>
                <a:t>Pendiente hacia abajo</a:t>
              </a:r>
            </a:p>
          </p:txBody>
        </p:sp>
        <p:cxnSp>
          <p:nvCxnSpPr>
            <p:cNvPr id="25620" name="Conector recto de flecha 22"/>
            <p:cNvCxnSpPr>
              <a:cxnSpLocks noChangeShapeType="1"/>
            </p:cNvCxnSpPr>
            <p:nvPr/>
          </p:nvCxnSpPr>
          <p:spPr bwMode="auto">
            <a:xfrm>
              <a:off x="8756747" y="5138182"/>
              <a:ext cx="528735" cy="0"/>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grpSp>
        <p:nvGrpSpPr>
          <p:cNvPr id="18" name="Grupo 17"/>
          <p:cNvGrpSpPr>
            <a:grpSpLocks/>
          </p:cNvGrpSpPr>
          <p:nvPr/>
        </p:nvGrpSpPr>
        <p:grpSpPr bwMode="auto">
          <a:xfrm>
            <a:off x="6959136" y="4012267"/>
            <a:ext cx="3388663" cy="1051286"/>
            <a:chOff x="6685652" y="3781121"/>
            <a:chExt cx="3388138" cy="1052508"/>
          </a:xfrm>
        </p:grpSpPr>
        <p:sp>
          <p:nvSpPr>
            <p:cNvPr id="25615" name="Text Box 4"/>
            <p:cNvSpPr txBox="1">
              <a:spLocks noChangeArrowheads="1"/>
            </p:cNvSpPr>
            <p:nvPr/>
          </p:nvSpPr>
          <p:spPr bwMode="auto">
            <a:xfrm>
              <a:off x="9431500" y="3952762"/>
              <a:ext cx="642290" cy="68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dirty="0">
                  <a:latin typeface="Arial" panose="020B0604020202020204" pitchFamily="34" charset="0"/>
                  <a:sym typeface="Symbol" panose="05050102010706020507" pitchFamily="18" charset="2"/>
                </a:rPr>
                <a:t>V</a:t>
              </a:r>
              <a:endParaRPr lang="es-ES" sz="2400" dirty="0">
                <a:latin typeface="Arial" panose="020B0604020202020204" pitchFamily="34" charset="0"/>
              </a:endParaRPr>
            </a:p>
          </p:txBody>
        </p:sp>
        <p:sp>
          <p:nvSpPr>
            <p:cNvPr id="25616" name="Text Box 4"/>
            <p:cNvSpPr txBox="1">
              <a:spLocks noChangeArrowheads="1"/>
            </p:cNvSpPr>
            <p:nvPr/>
          </p:nvSpPr>
          <p:spPr bwMode="auto">
            <a:xfrm>
              <a:off x="6685652" y="3781121"/>
              <a:ext cx="1948816" cy="105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rPr>
                <a:t>Pendiente hacia arriba</a:t>
              </a:r>
            </a:p>
          </p:txBody>
        </p:sp>
        <p:cxnSp>
          <p:nvCxnSpPr>
            <p:cNvPr id="25617" name="Conector recto de flecha 23"/>
            <p:cNvCxnSpPr>
              <a:cxnSpLocks noChangeShapeType="1"/>
            </p:cNvCxnSpPr>
            <p:nvPr/>
          </p:nvCxnSpPr>
          <p:spPr bwMode="auto">
            <a:xfrm>
              <a:off x="8740489" y="4295665"/>
              <a:ext cx="581609" cy="0"/>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grpSp>
        <p:nvGrpSpPr>
          <p:cNvPr id="17" name="Grupo 16"/>
          <p:cNvGrpSpPr>
            <a:grpSpLocks/>
          </p:cNvGrpSpPr>
          <p:nvPr/>
        </p:nvGrpSpPr>
        <p:grpSpPr bwMode="auto">
          <a:xfrm>
            <a:off x="6665807" y="2808108"/>
            <a:ext cx="3818994" cy="1420618"/>
            <a:chOff x="6474176" y="2468571"/>
            <a:chExt cx="3818638" cy="1419803"/>
          </a:xfrm>
        </p:grpSpPr>
        <p:sp>
          <p:nvSpPr>
            <p:cNvPr id="25612" name="Text Box 4"/>
            <p:cNvSpPr txBox="1">
              <a:spLocks noChangeArrowheads="1"/>
            </p:cNvSpPr>
            <p:nvPr/>
          </p:nvSpPr>
          <p:spPr bwMode="auto">
            <a:xfrm>
              <a:off x="9376509" y="2468571"/>
              <a:ext cx="916305" cy="105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rPr>
                <a:t>Sup. Eq.</a:t>
              </a:r>
            </a:p>
          </p:txBody>
        </p:sp>
        <p:sp>
          <p:nvSpPr>
            <p:cNvPr id="25613" name="Text Box 4"/>
            <p:cNvSpPr txBox="1">
              <a:spLocks noChangeArrowheads="1"/>
            </p:cNvSpPr>
            <p:nvPr/>
          </p:nvSpPr>
          <p:spPr bwMode="auto">
            <a:xfrm>
              <a:off x="6474176" y="2468571"/>
              <a:ext cx="2348424" cy="141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 typeface="Symbol" panose="05050102010706020507" pitchFamily="18" charset="2"/>
                <a:buNone/>
              </a:pPr>
              <a:r>
                <a:rPr lang="es-ES" sz="2400" dirty="0">
                  <a:solidFill>
                    <a:srgbClr val="FF0000"/>
                  </a:solidFill>
                  <a:latin typeface="Arial" panose="020B0604020202020204" pitchFamily="34" charset="0"/>
                </a:rPr>
                <a:t>Línea de Nivel</a:t>
              </a:r>
            </a:p>
            <a:p>
              <a:pPr algn="ctr" eaLnBrk="1" hangingPunct="1">
                <a:spcBef>
                  <a:spcPct val="0"/>
                </a:spcBef>
                <a:buFont typeface="Symbol" panose="05050102010706020507" pitchFamily="18" charset="2"/>
                <a:buNone/>
              </a:pPr>
              <a:r>
                <a:rPr lang="es-ES" sz="2400" dirty="0">
                  <a:solidFill>
                    <a:srgbClr val="FF0000"/>
                  </a:solidFill>
                  <a:latin typeface="Arial" panose="020B0604020202020204" pitchFamily="34" charset="0"/>
                </a:rPr>
                <a:t>(línea a</a:t>
              </a:r>
            </a:p>
            <a:p>
              <a:pPr algn="ctr" eaLnBrk="1" hangingPunct="1">
                <a:spcBef>
                  <a:spcPct val="0"/>
                </a:spcBef>
                <a:buFont typeface="Symbol" panose="05050102010706020507" pitchFamily="18" charset="2"/>
                <a:buNone/>
              </a:pPr>
              <a:r>
                <a:rPr lang="es-ES" sz="2400" dirty="0">
                  <a:solidFill>
                    <a:srgbClr val="FF0000"/>
                  </a:solidFill>
                  <a:latin typeface="Arial" panose="020B0604020202020204" pitchFamily="34" charset="0"/>
                </a:rPr>
                <a:t>altura cte.)</a:t>
              </a:r>
            </a:p>
          </p:txBody>
        </p:sp>
        <p:cxnSp>
          <p:nvCxnSpPr>
            <p:cNvPr id="25614" name="Conector recto de flecha 24"/>
            <p:cNvCxnSpPr>
              <a:cxnSpLocks noChangeShapeType="1"/>
            </p:cNvCxnSpPr>
            <p:nvPr/>
          </p:nvCxnSpPr>
          <p:spPr bwMode="auto">
            <a:xfrm>
              <a:off x="8822600" y="2817054"/>
              <a:ext cx="528735" cy="0"/>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325"/>
                                        </p:tgtEl>
                                        <p:attrNameLst>
                                          <p:attrName>style.visibility</p:attrName>
                                        </p:attrNameLst>
                                      </p:cBhvr>
                                      <p:to>
                                        <p:strVal val="visible"/>
                                      </p:to>
                                    </p:set>
                                    <p:animEffect transition="in" filter="wipe(up)">
                                      <p:cBhvr>
                                        <p:cTn id="7" dur="500"/>
                                        <p:tgtEl>
                                          <p:spTgt spid="133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3" presetClass="entr" presetSubtype="10" fill="hold" nodeType="withEffect">
                                  <p:stCondLst>
                                    <p:cond delay="0"/>
                                  </p:stCondLst>
                                  <p:childTnLst>
                                    <p:set>
                                      <p:cBhvr>
                                        <p:cTn id="14" dur="1" fill="hold">
                                          <p:stCondLst>
                                            <p:cond delay="0"/>
                                          </p:stCondLst>
                                        </p:cTn>
                                        <p:tgtEl>
                                          <p:spTgt spid="306202"/>
                                        </p:tgtEl>
                                        <p:attrNameLst>
                                          <p:attrName>style.visibility</p:attrName>
                                        </p:attrNameLst>
                                      </p:cBhvr>
                                      <p:to>
                                        <p:strVal val="visible"/>
                                      </p:to>
                                    </p:set>
                                    <p:animEffect transition="in" filter="blinds(horizontal)">
                                      <p:cBhvr>
                                        <p:cTn id="15" dur="500"/>
                                        <p:tgtEl>
                                          <p:spTgt spid="30620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p:tgtEl>
                                          <p:spTgt spid="8"/>
                                        </p:tgtEl>
                                        <p:attrNameLst>
                                          <p:attrName>ppt_y</p:attrName>
                                        </p:attrNameLst>
                                      </p:cBhvr>
                                      <p:tavLst>
                                        <p:tav tm="0">
                                          <p:val>
                                            <p:strVal val="#ppt_y+#ppt_h*1.125000"/>
                                          </p:val>
                                        </p:tav>
                                        <p:tav tm="100000">
                                          <p:val>
                                            <p:strVal val="#ppt_y"/>
                                          </p:val>
                                        </p:tav>
                                      </p:tavLst>
                                    </p:anim>
                                    <p:animEffect transition="in" filter="wipe(up)">
                                      <p:cBhvr>
                                        <p:cTn id="21" dur="5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p:tgtEl>
                                          <p:spTgt spid="17"/>
                                        </p:tgtEl>
                                        <p:attrNameLst>
                                          <p:attrName>ppt_y</p:attrName>
                                        </p:attrNameLst>
                                      </p:cBhvr>
                                      <p:tavLst>
                                        <p:tav tm="0">
                                          <p:val>
                                            <p:strVal val="#ppt_y+#ppt_h*1.125000"/>
                                          </p:val>
                                        </p:tav>
                                        <p:tav tm="100000">
                                          <p:val>
                                            <p:strVal val="#ppt_y"/>
                                          </p:val>
                                        </p:tav>
                                      </p:tavLst>
                                    </p:anim>
                                    <p:animEffect transition="in" filter="wipe(up)">
                                      <p:cBhvr>
                                        <p:cTn id="27" dur="500"/>
                                        <p:tgtEl>
                                          <p:spTgt spid="17"/>
                                        </p:tgtEl>
                                      </p:cBhvr>
                                    </p:animEffect>
                                  </p:childTnLst>
                                </p:cTn>
                              </p:par>
                            </p:childTnLst>
                          </p:cTn>
                        </p:par>
                      </p:childTnLst>
                    </p:cTn>
                  </p:par>
                  <p:par>
                    <p:cTn id="28" fill="hold">
                      <p:stCondLst>
                        <p:cond delay="indefinite"/>
                      </p:stCondLst>
                      <p:childTnLst>
                        <p:par>
                          <p:cTn id="29" fill="hold" nodeType="after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up)">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p:tgtEl>
                                          <p:spTgt spid="18"/>
                                        </p:tgtEl>
                                        <p:attrNameLst>
                                          <p:attrName>ppt_y</p:attrName>
                                        </p:attrNameLst>
                                      </p:cBhvr>
                                      <p:tavLst>
                                        <p:tav tm="0">
                                          <p:val>
                                            <p:strVal val="#ppt_y+#ppt_h*1.125000"/>
                                          </p:val>
                                        </p:tav>
                                        <p:tav tm="100000">
                                          <p:val>
                                            <p:strVal val="#ppt_y"/>
                                          </p:val>
                                        </p:tav>
                                      </p:tavLst>
                                    </p:anim>
                                    <p:animEffect transition="in" filter="wipe(up)">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p:tgtEl>
                                          <p:spTgt spid="19"/>
                                        </p:tgtEl>
                                        <p:attrNameLst>
                                          <p:attrName>ppt_y</p:attrName>
                                        </p:attrNameLst>
                                      </p:cBhvr>
                                      <p:tavLst>
                                        <p:tav tm="0">
                                          <p:val>
                                            <p:strVal val="#ppt_y+#ppt_h*1.125000"/>
                                          </p:val>
                                        </p:tav>
                                        <p:tav tm="100000">
                                          <p:val>
                                            <p:strVal val="#ppt_y"/>
                                          </p:val>
                                        </p:tav>
                                      </p:tavLst>
                                    </p:anim>
                                    <p:animEffect transition="in" filter="wipe(up)">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3322"/>
                                        </p:tgtEl>
                                        <p:attrNameLst>
                                          <p:attrName>style.visibility</p:attrName>
                                        </p:attrNameLst>
                                      </p:cBhvr>
                                      <p:to>
                                        <p:strVal val="visible"/>
                                      </p:to>
                                    </p:set>
                                    <p:animEffect transition="in" filter="wipe(up)">
                                      <p:cBhvr>
                                        <p:cTn id="49"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2" grpId="0" animBg="1"/>
      <p:bldP spid="13325"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203"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4615" y="330391"/>
            <a:ext cx="5667375" cy="432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98317" name="Text Box 13"/>
          <p:cNvSpPr txBox="1">
            <a:spLocks noChangeArrowheads="1"/>
          </p:cNvSpPr>
          <p:nvPr/>
        </p:nvSpPr>
        <p:spPr bwMode="auto">
          <a:xfrm>
            <a:off x="1345130" y="4917975"/>
            <a:ext cx="5092700" cy="833178"/>
          </a:xfrm>
          <a:prstGeom prst="rect">
            <a:avLst/>
          </a:prstGeom>
          <a:solidFill>
            <a:srgbClr val="CCFFCC"/>
          </a:solidFill>
          <a:ln>
            <a:noFill/>
          </a:ln>
        </p:spPr>
        <p:txBody>
          <a:bodyPr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La rotación terrestre hace que las masas de aire se muevan en espiral</a:t>
            </a:r>
          </a:p>
        </p:txBody>
      </p:sp>
      <p:sp>
        <p:nvSpPr>
          <p:cNvPr id="9" name="Text Box 10"/>
          <p:cNvSpPr txBox="1">
            <a:spLocks noChangeArrowheads="1"/>
          </p:cNvSpPr>
          <p:nvPr/>
        </p:nvSpPr>
        <p:spPr bwMode="auto">
          <a:xfrm>
            <a:off x="1334932" y="5952485"/>
            <a:ext cx="8885357" cy="1174065"/>
          </a:xfrm>
          <a:prstGeom prst="rect">
            <a:avLst/>
          </a:prstGeom>
          <a:solidFill>
            <a:srgbClr val="FFFF99"/>
          </a:solidFill>
          <a:ln>
            <a:noFill/>
          </a:ln>
        </p:spPr>
        <p:txBody>
          <a:bodyPr wrap="square" lIns="126000" tIns="154800" rIns="126000" bIns="154800" anchor="ctr" anchorCtr="1">
            <a:no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defRPr/>
            </a:pPr>
            <a:r>
              <a:rPr lang="es-ES" sz="2400" dirty="0">
                <a:latin typeface="Arial" panose="020B0604020202020204" pitchFamily="34" charset="0"/>
              </a:rPr>
              <a:t>Isobaras más juntas </a:t>
            </a: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 </a:t>
            </a:r>
            <a:r>
              <a:rPr lang="es-ES" sz="2400" dirty="0">
                <a:latin typeface="Arial" panose="020B0604020202020204" pitchFamily="34" charset="0"/>
                <a:sym typeface="Symbol" panose="05050102010706020507" pitchFamily="18" charset="2"/>
              </a:rPr>
              <a:t>Más variación de presión por unidad de longitud (más gradiente)  </a:t>
            </a:r>
            <a:r>
              <a:rPr lang="es-ES" sz="2400" dirty="0">
                <a:latin typeface="Arial" panose="020B0604020202020204" pitchFamily="34" charset="0"/>
              </a:rPr>
              <a:t>Más velocidad del viento</a:t>
            </a:r>
          </a:p>
          <a:p>
            <a:pPr algn="ctr" eaLnBrk="1" hangingPunct="1">
              <a:spcBef>
                <a:spcPts val="0"/>
              </a:spcBef>
              <a:buFontTx/>
              <a:buNone/>
              <a:defRPr/>
            </a:pPr>
            <a:r>
              <a:rPr lang="es-ES" sz="2400">
                <a:latin typeface="Arial" panose="020B0604020202020204" pitchFamily="34" charset="0"/>
              </a:rPr>
              <a:t>(porque la </a:t>
            </a:r>
            <a:r>
              <a:rPr lang="es-ES" sz="2400" dirty="0">
                <a:latin typeface="Arial" panose="020B0604020202020204" pitchFamily="34" charset="0"/>
              </a:rPr>
              <a:t>masa de aire es menor para la misma </a:t>
            </a:r>
            <a:r>
              <a:rPr lang="es-ES" sz="2400">
                <a:latin typeface="Arial" panose="020B0604020202020204" pitchFamily="34" charset="0"/>
              </a:rPr>
              <a:t>fuerza</a:t>
            </a:r>
            <a:r>
              <a:rPr lang="es-ES" sz="2400">
                <a:latin typeface="Arial" panose="020B0604020202020204" pitchFamily="34" charset="0"/>
                <a:sym typeface="Symbol" panose="05050102010706020507" pitchFamily="18" charset="2"/>
              </a:rPr>
              <a:t> neta)</a:t>
            </a:r>
            <a:endParaRPr lang="es-ES" sz="2400" dirty="0">
              <a:latin typeface="Arial" panose="020B0604020202020204" pitchFamily="34" charset="0"/>
            </a:endParaRPr>
          </a:p>
        </p:txBody>
      </p:sp>
      <p:sp>
        <p:nvSpPr>
          <p:cNvPr id="10" name="Text Box 4"/>
          <p:cNvSpPr txBox="1">
            <a:spLocks noChangeArrowheads="1"/>
          </p:cNvSpPr>
          <p:nvPr/>
        </p:nvSpPr>
        <p:spPr bwMode="auto">
          <a:xfrm>
            <a:off x="7298053" y="304515"/>
            <a:ext cx="2912747" cy="1051287"/>
          </a:xfrm>
          <a:prstGeom prst="rect">
            <a:avLst/>
          </a:prstGeom>
          <a:solidFill>
            <a:srgbClr val="FFFFFF"/>
          </a:solidFill>
          <a:ln>
            <a:noFill/>
          </a:ln>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b="1" u="sng">
                <a:latin typeface="Arial" panose="020B0604020202020204" pitchFamily="34" charset="0"/>
              </a:rPr>
              <a:t>Mapa del tiempo</a:t>
            </a:r>
            <a:r>
              <a:rPr lang="es-ES" sz="2400">
                <a:latin typeface="Arial" panose="020B0604020202020204" pitchFamily="34" charset="0"/>
              </a:rPr>
              <a:t> </a:t>
            </a:r>
            <a:r>
              <a:rPr lang="es-ES" sz="2400">
                <a:solidFill>
                  <a:srgbClr val="FF0000"/>
                </a:solidFill>
                <a:latin typeface="Arial" panose="020B0604020202020204" pitchFamily="34" charset="0"/>
              </a:rPr>
              <a:t>(meteorológico)</a:t>
            </a:r>
          </a:p>
        </p:txBody>
      </p:sp>
      <p:grpSp>
        <p:nvGrpSpPr>
          <p:cNvPr id="11" name="Grupo 10"/>
          <p:cNvGrpSpPr>
            <a:grpSpLocks/>
          </p:cNvGrpSpPr>
          <p:nvPr/>
        </p:nvGrpSpPr>
        <p:grpSpPr bwMode="auto">
          <a:xfrm>
            <a:off x="7019680" y="1245978"/>
            <a:ext cx="3291252" cy="1051287"/>
            <a:chOff x="6914271" y="1756990"/>
            <a:chExt cx="3291252" cy="1050757"/>
          </a:xfrm>
        </p:grpSpPr>
        <p:sp>
          <p:nvSpPr>
            <p:cNvPr id="27669" name="Text Box 4"/>
            <p:cNvSpPr txBox="1">
              <a:spLocks noChangeArrowheads="1"/>
            </p:cNvSpPr>
            <p:nvPr/>
          </p:nvSpPr>
          <p:spPr bwMode="auto">
            <a:xfrm>
              <a:off x="9634658" y="1949740"/>
              <a:ext cx="570865" cy="68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rPr>
                <a:t>V</a:t>
              </a:r>
            </a:p>
          </p:txBody>
        </p:sp>
        <p:sp>
          <p:nvSpPr>
            <p:cNvPr id="27670" name="Text Box 4"/>
            <p:cNvSpPr txBox="1">
              <a:spLocks noChangeArrowheads="1"/>
            </p:cNvSpPr>
            <p:nvPr/>
          </p:nvSpPr>
          <p:spPr bwMode="auto">
            <a:xfrm>
              <a:off x="6914271" y="1756990"/>
              <a:ext cx="2028284" cy="1050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 typeface="Symbol" panose="05050102010706020507" pitchFamily="18" charset="2"/>
                <a:buNone/>
              </a:pPr>
              <a:r>
                <a:rPr lang="es-ES" sz="2400">
                  <a:latin typeface="Arial" panose="020B0604020202020204" pitchFamily="34" charset="0"/>
                  <a:sym typeface="Symbol" panose="05050102010706020507" pitchFamily="18" charset="2"/>
                </a:rPr>
                <a:t>Presión a cierta altura</a:t>
              </a:r>
              <a:endParaRPr lang="es-ES" sz="2400">
                <a:latin typeface="Arial" panose="020B0604020202020204" pitchFamily="34" charset="0"/>
              </a:endParaRPr>
            </a:p>
          </p:txBody>
        </p:sp>
        <p:cxnSp>
          <p:nvCxnSpPr>
            <p:cNvPr id="27671" name="Conector recto de flecha 13"/>
            <p:cNvCxnSpPr>
              <a:cxnSpLocks noChangeShapeType="1"/>
            </p:cNvCxnSpPr>
            <p:nvPr/>
          </p:nvCxnSpPr>
          <p:spPr bwMode="auto">
            <a:xfrm>
              <a:off x="8951324" y="2290657"/>
              <a:ext cx="487269" cy="2365"/>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grpSp>
        <p:nvGrpSpPr>
          <p:cNvPr id="15" name="Grupo 14"/>
          <p:cNvGrpSpPr>
            <a:grpSpLocks/>
          </p:cNvGrpSpPr>
          <p:nvPr/>
        </p:nvGrpSpPr>
        <p:grpSpPr bwMode="auto">
          <a:xfrm>
            <a:off x="7207995" y="4357655"/>
            <a:ext cx="3125272" cy="1051287"/>
            <a:chOff x="7125017" y="4146650"/>
            <a:chExt cx="3125271" cy="1050709"/>
          </a:xfrm>
        </p:grpSpPr>
        <p:sp>
          <p:nvSpPr>
            <p:cNvPr id="27666" name="Text Box 4"/>
            <p:cNvSpPr txBox="1">
              <a:spLocks noChangeArrowheads="1"/>
            </p:cNvSpPr>
            <p:nvPr/>
          </p:nvSpPr>
          <p:spPr bwMode="auto">
            <a:xfrm>
              <a:off x="9679423" y="4333203"/>
              <a:ext cx="570865" cy="68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b="1" dirty="0">
                  <a:latin typeface="Arial" panose="020B0604020202020204" pitchFamily="34" charset="0"/>
                </a:rPr>
                <a:t>E</a:t>
              </a:r>
              <a:endParaRPr lang="es-ES" sz="2400" dirty="0">
                <a:latin typeface="Arial" panose="020B0604020202020204" pitchFamily="34" charset="0"/>
              </a:endParaRPr>
            </a:p>
          </p:txBody>
        </p:sp>
        <p:sp>
          <p:nvSpPr>
            <p:cNvPr id="27667" name="Text Box 4"/>
            <p:cNvSpPr txBox="1">
              <a:spLocks noChangeArrowheads="1"/>
            </p:cNvSpPr>
            <p:nvPr/>
          </p:nvSpPr>
          <p:spPr bwMode="auto">
            <a:xfrm>
              <a:off x="7125017" y="4146650"/>
              <a:ext cx="1653223" cy="1050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rPr>
                <a:t>Velocidad del viento</a:t>
              </a:r>
            </a:p>
          </p:txBody>
        </p:sp>
        <p:cxnSp>
          <p:nvCxnSpPr>
            <p:cNvPr id="27668" name="Conector recto de flecha 17"/>
            <p:cNvCxnSpPr>
              <a:cxnSpLocks noChangeShapeType="1"/>
            </p:cNvCxnSpPr>
            <p:nvPr/>
          </p:nvCxnSpPr>
          <p:spPr bwMode="auto">
            <a:xfrm>
              <a:off x="8990439" y="4668280"/>
              <a:ext cx="528735" cy="0"/>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grpSp>
        <p:nvGrpSpPr>
          <p:cNvPr id="23" name="Grupo 22"/>
          <p:cNvGrpSpPr>
            <a:grpSpLocks/>
          </p:cNvGrpSpPr>
          <p:nvPr/>
        </p:nvGrpSpPr>
        <p:grpSpPr bwMode="auto">
          <a:xfrm>
            <a:off x="6931334" y="2062100"/>
            <a:ext cx="3565809" cy="1420619"/>
            <a:chOff x="6870048" y="2529411"/>
            <a:chExt cx="3566156" cy="1419803"/>
          </a:xfrm>
        </p:grpSpPr>
        <p:sp>
          <p:nvSpPr>
            <p:cNvPr id="27660" name="Text Box 4"/>
            <p:cNvSpPr txBox="1">
              <a:spLocks noChangeArrowheads="1"/>
            </p:cNvSpPr>
            <p:nvPr/>
          </p:nvSpPr>
          <p:spPr bwMode="auto">
            <a:xfrm>
              <a:off x="9519899" y="2548210"/>
              <a:ext cx="916305" cy="105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rPr>
                <a:t>Sup. Eq.</a:t>
              </a:r>
            </a:p>
          </p:txBody>
        </p:sp>
        <p:sp>
          <p:nvSpPr>
            <p:cNvPr id="27661" name="Text Box 4"/>
            <p:cNvSpPr txBox="1">
              <a:spLocks noChangeArrowheads="1"/>
            </p:cNvSpPr>
            <p:nvPr/>
          </p:nvSpPr>
          <p:spPr bwMode="auto">
            <a:xfrm>
              <a:off x="6870048" y="2529411"/>
              <a:ext cx="2358512" cy="141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 typeface="Symbol" panose="05050102010706020507" pitchFamily="18" charset="2"/>
                <a:buNone/>
              </a:pPr>
              <a:r>
                <a:rPr lang="es-ES" sz="2400" dirty="0">
                  <a:solidFill>
                    <a:srgbClr val="FF0000"/>
                  </a:solidFill>
                  <a:latin typeface="Arial" panose="020B0604020202020204" pitchFamily="34" charset="0"/>
                </a:rPr>
                <a:t>Isobara</a:t>
              </a:r>
            </a:p>
            <a:p>
              <a:pPr algn="ctr" eaLnBrk="1" hangingPunct="1">
                <a:spcBef>
                  <a:spcPct val="0"/>
                </a:spcBef>
                <a:buFont typeface="Symbol" panose="05050102010706020507" pitchFamily="18" charset="2"/>
                <a:buNone/>
              </a:pPr>
              <a:r>
                <a:rPr lang="es-ES" sz="2400" dirty="0">
                  <a:solidFill>
                    <a:srgbClr val="FF0000"/>
                  </a:solidFill>
                  <a:latin typeface="Arial" panose="020B0604020202020204" pitchFamily="34" charset="0"/>
                </a:rPr>
                <a:t>(línea a  presión cte.)</a:t>
              </a:r>
            </a:p>
          </p:txBody>
        </p:sp>
        <p:cxnSp>
          <p:nvCxnSpPr>
            <p:cNvPr id="27662" name="Conector recto de flecha 25"/>
            <p:cNvCxnSpPr>
              <a:cxnSpLocks noChangeShapeType="1"/>
            </p:cNvCxnSpPr>
            <p:nvPr/>
          </p:nvCxnSpPr>
          <p:spPr bwMode="auto">
            <a:xfrm>
              <a:off x="9004333" y="2887120"/>
              <a:ext cx="480669" cy="0"/>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sp>
        <p:nvSpPr>
          <p:cNvPr id="2" name="CuadroTexto 1"/>
          <p:cNvSpPr txBox="1">
            <a:spLocks noChangeArrowheads="1"/>
          </p:cNvSpPr>
          <p:nvPr/>
        </p:nvSpPr>
        <p:spPr bwMode="auto">
          <a:xfrm>
            <a:off x="6648097" y="5132143"/>
            <a:ext cx="26731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solidFill>
                  <a:srgbClr val="FF0000"/>
                </a:solidFill>
              </a:rPr>
              <a:t>(hacia </a:t>
            </a:r>
            <a:r>
              <a:rPr lang="es-ES" sz="2400" dirty="0">
                <a:solidFill>
                  <a:srgbClr val="FF0000"/>
                </a:solidFill>
              </a:rPr>
              <a:t>menor presión)</a:t>
            </a:r>
          </a:p>
        </p:txBody>
      </p:sp>
      <p:cxnSp>
        <p:nvCxnSpPr>
          <p:cNvPr id="6" name="Conector recto de flecha 5"/>
          <p:cNvCxnSpPr>
            <a:cxnSpLocks/>
          </p:cNvCxnSpPr>
          <p:nvPr/>
        </p:nvCxnSpPr>
        <p:spPr bwMode="auto">
          <a:xfrm flipH="1">
            <a:off x="6829227" y="2420015"/>
            <a:ext cx="685670" cy="122530"/>
          </a:xfrm>
          <a:prstGeom prst="straightConnector1">
            <a:avLst/>
          </a:prstGeom>
          <a:noFill/>
          <a:ln w="38100" cap="flat" cmpd="sng" algn="ctr">
            <a:solidFill>
              <a:srgbClr val="FF0000"/>
            </a:solidFill>
            <a:prstDash val="solid"/>
            <a:round/>
            <a:headEnd type="none" w="med" len="med"/>
            <a:tailEnd type="triangle" w="lg" len="lg"/>
          </a:ln>
          <a:effectLst/>
        </p:spPr>
      </p:cxnSp>
      <p:grpSp>
        <p:nvGrpSpPr>
          <p:cNvPr id="19" name="Grupo 18"/>
          <p:cNvGrpSpPr>
            <a:grpSpLocks/>
          </p:cNvGrpSpPr>
          <p:nvPr/>
        </p:nvGrpSpPr>
        <p:grpSpPr bwMode="auto">
          <a:xfrm>
            <a:off x="7207995" y="3230821"/>
            <a:ext cx="3141256" cy="1051287"/>
            <a:chOff x="7130890" y="3513232"/>
            <a:chExt cx="3141770" cy="1052509"/>
          </a:xfrm>
        </p:grpSpPr>
        <p:sp>
          <p:nvSpPr>
            <p:cNvPr id="27663" name="Text Box 4"/>
            <p:cNvSpPr txBox="1">
              <a:spLocks noChangeArrowheads="1"/>
            </p:cNvSpPr>
            <p:nvPr/>
          </p:nvSpPr>
          <p:spPr bwMode="auto">
            <a:xfrm>
              <a:off x="9657022" y="3658579"/>
              <a:ext cx="615638" cy="68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dirty="0">
                  <a:latin typeface="Arial" panose="020B0604020202020204" pitchFamily="34" charset="0"/>
                  <a:sym typeface="Symbol" panose="05050102010706020507" pitchFamily="18" charset="2"/>
                </a:rPr>
                <a:t>V</a:t>
              </a:r>
              <a:endParaRPr lang="es-ES" sz="2400" dirty="0">
                <a:latin typeface="Arial" panose="020B0604020202020204" pitchFamily="34" charset="0"/>
              </a:endParaRPr>
            </a:p>
          </p:txBody>
        </p:sp>
        <p:sp>
          <p:nvSpPr>
            <p:cNvPr id="27664" name="Text Box 4"/>
            <p:cNvSpPr txBox="1">
              <a:spLocks noChangeArrowheads="1"/>
            </p:cNvSpPr>
            <p:nvPr/>
          </p:nvSpPr>
          <p:spPr bwMode="auto">
            <a:xfrm>
              <a:off x="7130890" y="3513232"/>
              <a:ext cx="1637190" cy="1052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90000" tIns="154800" rIns="90000" bIns="154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dirty="0">
                  <a:latin typeface="Arial" panose="020B0604020202020204" pitchFamily="34" charset="0"/>
                </a:rPr>
                <a:t>Gradiente de presión</a:t>
              </a:r>
            </a:p>
          </p:txBody>
        </p:sp>
        <p:cxnSp>
          <p:nvCxnSpPr>
            <p:cNvPr id="27665" name="Conector recto de flecha 21"/>
            <p:cNvCxnSpPr>
              <a:cxnSpLocks noChangeShapeType="1"/>
            </p:cNvCxnSpPr>
            <p:nvPr/>
          </p:nvCxnSpPr>
          <p:spPr bwMode="auto">
            <a:xfrm>
              <a:off x="8990469" y="3988755"/>
              <a:ext cx="528736" cy="0"/>
            </a:xfrm>
            <a:prstGeom prst="straightConnector1">
              <a:avLst/>
            </a:prstGeom>
            <a:noFill/>
            <a:ln w="38100" algn="ctr">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grpSp>
      <p:sp>
        <p:nvSpPr>
          <p:cNvPr id="25" name="CuadroTexto 24"/>
          <p:cNvSpPr txBox="1">
            <a:spLocks noChangeArrowheads="1"/>
          </p:cNvSpPr>
          <p:nvPr/>
        </p:nvSpPr>
        <p:spPr bwMode="auto">
          <a:xfrm>
            <a:off x="6849818" y="4050221"/>
            <a:ext cx="22888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dirty="0">
                <a:solidFill>
                  <a:srgbClr val="FF0000"/>
                </a:solidFill>
              </a:rPr>
              <a:t>(</a:t>
            </a:r>
            <a:r>
              <a:rPr lang="es-ES" sz="2400" dirty="0">
                <a:solidFill>
                  <a:srgbClr val="FF0000"/>
                </a:solidFill>
                <a:sym typeface="Symbol" panose="05050102010706020507" pitchFamily="18" charset="2"/>
              </a:rPr>
              <a:t> a isobara</a:t>
            </a:r>
            <a:r>
              <a:rPr lang="es-ES" sz="2400" dirty="0">
                <a:solidFill>
                  <a:srgbClr val="FF0000"/>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par>
                                <p:cTn id="8" presetID="3" presetClass="entr" presetSubtype="10" fill="hold" nodeType="withEffect">
                                  <p:stCondLst>
                                    <p:cond delay="0"/>
                                  </p:stCondLst>
                                  <p:childTnLst>
                                    <p:set>
                                      <p:cBhvr>
                                        <p:cTn id="9" dur="1" fill="hold">
                                          <p:stCondLst>
                                            <p:cond delay="0"/>
                                          </p:stCondLst>
                                        </p:cTn>
                                        <p:tgtEl>
                                          <p:spTgt spid="306203"/>
                                        </p:tgtEl>
                                        <p:attrNameLst>
                                          <p:attrName>style.visibility</p:attrName>
                                        </p:attrNameLst>
                                      </p:cBhvr>
                                      <p:to>
                                        <p:strVal val="visible"/>
                                      </p:to>
                                    </p:set>
                                    <p:animEffect transition="in" filter="blinds(horizontal)">
                                      <p:cBhvr>
                                        <p:cTn id="10" dur="500"/>
                                        <p:tgtEl>
                                          <p:spTgt spid="30620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p:tgtEl>
                                          <p:spTgt spid="11"/>
                                        </p:tgtEl>
                                        <p:attrNameLst>
                                          <p:attrName>ppt_y</p:attrName>
                                        </p:attrNameLst>
                                      </p:cBhvr>
                                      <p:tavLst>
                                        <p:tav tm="0">
                                          <p:val>
                                            <p:strVal val="#ppt_y+#ppt_h*1.125000"/>
                                          </p:val>
                                        </p:tav>
                                        <p:tav tm="100000">
                                          <p:val>
                                            <p:strVal val="#ppt_y"/>
                                          </p:val>
                                        </p:tav>
                                      </p:tavLst>
                                    </p:anim>
                                    <p:animEffect transition="in" filter="wipe(up)">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p:tgtEl>
                                          <p:spTgt spid="23"/>
                                        </p:tgtEl>
                                        <p:attrNameLst>
                                          <p:attrName>ppt_y</p:attrName>
                                        </p:attrNameLst>
                                      </p:cBhvr>
                                      <p:tavLst>
                                        <p:tav tm="0">
                                          <p:val>
                                            <p:strVal val="#ppt_y+#ppt_h*1.125000"/>
                                          </p:val>
                                        </p:tav>
                                        <p:tav tm="100000">
                                          <p:val>
                                            <p:strVal val="#ppt_y"/>
                                          </p:val>
                                        </p:tav>
                                      </p:tavLst>
                                    </p:anim>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righ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p:tgtEl>
                                          <p:spTgt spid="19"/>
                                        </p:tgtEl>
                                        <p:attrNameLst>
                                          <p:attrName>ppt_y</p:attrName>
                                        </p:attrNameLst>
                                      </p:cBhvr>
                                      <p:tavLst>
                                        <p:tav tm="0">
                                          <p:val>
                                            <p:strVal val="#ppt_y+#ppt_h*1.125000"/>
                                          </p:val>
                                        </p:tav>
                                        <p:tav tm="100000">
                                          <p:val>
                                            <p:strVal val="#ppt_y"/>
                                          </p:val>
                                        </p:tav>
                                      </p:tavLst>
                                    </p:anim>
                                    <p:animEffect transition="in" filter="wipe(up)">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p:tgtEl>
                                          <p:spTgt spid="25"/>
                                        </p:tgtEl>
                                        <p:attrNameLst>
                                          <p:attrName>ppt_y</p:attrName>
                                        </p:attrNameLst>
                                      </p:cBhvr>
                                      <p:tavLst>
                                        <p:tav tm="0">
                                          <p:val>
                                            <p:strVal val="#ppt_y+#ppt_h*1.125000"/>
                                          </p:val>
                                        </p:tav>
                                        <p:tav tm="100000">
                                          <p:val>
                                            <p:strVal val="#ppt_y"/>
                                          </p:val>
                                        </p:tav>
                                      </p:tavLst>
                                    </p:anim>
                                    <p:animEffect transition="in" filter="wipe(up)">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p:tgtEl>
                                          <p:spTgt spid="15"/>
                                        </p:tgtEl>
                                        <p:attrNameLst>
                                          <p:attrName>ppt_y</p:attrName>
                                        </p:attrNameLst>
                                      </p:cBhvr>
                                      <p:tavLst>
                                        <p:tav tm="0">
                                          <p:val>
                                            <p:strVal val="#ppt_y+#ppt_h*1.125000"/>
                                          </p:val>
                                        </p:tav>
                                        <p:tav tm="100000">
                                          <p:val>
                                            <p:strVal val="#ppt_y"/>
                                          </p:val>
                                        </p:tav>
                                      </p:tavLst>
                                    </p:anim>
                                    <p:animEffect transition="in" filter="wipe(up)">
                                      <p:cBhvr>
                                        <p:cTn id="45" dur="500"/>
                                        <p:tgtEl>
                                          <p:spTgt spid="15"/>
                                        </p:tgtEl>
                                      </p:cBhvr>
                                    </p:animEffect>
                                  </p:childTnLst>
                                </p:cTn>
                              </p:par>
                            </p:childTnLst>
                          </p:cTn>
                        </p:par>
                      </p:childTnLst>
                    </p:cTn>
                  </p:par>
                  <p:par>
                    <p:cTn id="46" fill="hold">
                      <p:stCondLst>
                        <p:cond delay="indefinite"/>
                      </p:stCondLst>
                      <p:childTnLst>
                        <p:par>
                          <p:cTn id="47" fill="hold" nodeType="withGroup">
                            <p:stCondLst>
                              <p:cond delay="0"/>
                            </p:stCondLst>
                            <p:childTnLst>
                              <p:par>
                                <p:cTn id="48" presetID="12" presetClass="entr" presetSubtype="4"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 calcmode="lin" valueType="num">
                                      <p:cBhvr additive="base">
                                        <p:cTn id="50" dur="500"/>
                                        <p:tgtEl>
                                          <p:spTgt spid="2"/>
                                        </p:tgtEl>
                                        <p:attrNameLst>
                                          <p:attrName>ppt_y</p:attrName>
                                        </p:attrNameLst>
                                      </p:cBhvr>
                                      <p:tavLst>
                                        <p:tav tm="0">
                                          <p:val>
                                            <p:strVal val="#ppt_y+#ppt_h*1.125000"/>
                                          </p:val>
                                        </p:tav>
                                        <p:tav tm="100000">
                                          <p:val>
                                            <p:strVal val="#ppt_y"/>
                                          </p:val>
                                        </p:tav>
                                      </p:tavLst>
                                    </p:anim>
                                    <p:animEffect transition="in" filter="wipe(up)">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98317"/>
                                        </p:tgtEl>
                                        <p:attrNameLst>
                                          <p:attrName>style.visibility</p:attrName>
                                        </p:attrNameLst>
                                      </p:cBhvr>
                                      <p:to>
                                        <p:strVal val="visible"/>
                                      </p:to>
                                    </p:set>
                                    <p:animEffect transition="in" filter="wipe(up)">
                                      <p:cBhvr>
                                        <p:cTn id="56" dur="500"/>
                                        <p:tgtEl>
                                          <p:spTgt spid="9831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up)">
                                      <p:cBhvr>
                                        <p:cTn id="6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7" grpId="0" animBg="1"/>
      <p:bldP spid="9" grpId="0" animBg="1"/>
      <p:bldP spid="10" grpId="0" animBg="1"/>
      <p:bldP spid="2" grpId="0"/>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o 10"/>
          <p:cNvGrpSpPr/>
          <p:nvPr/>
        </p:nvGrpSpPr>
        <p:grpSpPr>
          <a:xfrm>
            <a:off x="8482111" y="3487201"/>
            <a:ext cx="1854200" cy="1286962"/>
            <a:chOff x="7130914" y="3940764"/>
            <a:chExt cx="1854200" cy="1286962"/>
          </a:xfrm>
        </p:grpSpPr>
        <p:sp>
          <p:nvSpPr>
            <p:cNvPr id="29714" name="Text Box 57"/>
            <p:cNvSpPr txBox="1">
              <a:spLocks noChangeArrowheads="1"/>
            </p:cNvSpPr>
            <p:nvPr/>
          </p:nvSpPr>
          <p:spPr bwMode="auto">
            <a:xfrm>
              <a:off x="7130914" y="4394548"/>
              <a:ext cx="1854200" cy="833178"/>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sym typeface="Symbol" panose="05050102010706020507" pitchFamily="18" charset="2"/>
                </a:rPr>
                <a:t>El c</a:t>
              </a:r>
              <a:r>
                <a:rPr lang="es-ES" sz="2400" dirty="0">
                  <a:latin typeface="Arial" panose="020B0604020202020204" pitchFamily="34" charset="0"/>
                </a:rPr>
                <a:t>ampo es mayor</a:t>
              </a:r>
            </a:p>
          </p:txBody>
        </p:sp>
        <p:sp>
          <p:nvSpPr>
            <p:cNvPr id="46" name="Flecha abajo 54"/>
            <p:cNvSpPr>
              <a:spLocks noChangeArrowheads="1"/>
            </p:cNvSpPr>
            <p:nvPr/>
          </p:nvSpPr>
          <p:spPr bwMode="auto">
            <a:xfrm>
              <a:off x="7800099" y="3940764"/>
              <a:ext cx="528807" cy="412533"/>
            </a:xfrm>
            <a:prstGeom prst="downArrow">
              <a:avLst>
                <a:gd name="adj1" fmla="val 50000"/>
                <a:gd name="adj2" fmla="val 50000"/>
              </a:avLst>
            </a:prstGeom>
            <a:solidFill>
              <a:schemeClr val="accent1"/>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grpSp>
      <p:pic>
        <p:nvPicPr>
          <p:cNvPr id="14389" name="Picture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267" y="2424575"/>
            <a:ext cx="5151314" cy="243990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pic>
      <p:sp>
        <p:nvSpPr>
          <p:cNvPr id="14370" name="Text Box 84"/>
          <p:cNvSpPr txBox="1">
            <a:spLocks noChangeArrowheads="1"/>
          </p:cNvSpPr>
          <p:nvPr/>
        </p:nvSpPr>
        <p:spPr bwMode="auto">
          <a:xfrm>
            <a:off x="1512443" y="914861"/>
            <a:ext cx="8503914" cy="536549"/>
          </a:xfrm>
          <a:prstGeom prst="rect">
            <a:avLst/>
          </a:prstGeom>
          <a:solidFill>
            <a:schemeClr val="tx2">
              <a:lumMod val="25000"/>
              <a:lumOff val="75000"/>
            </a:schemeClr>
          </a:solidFill>
          <a:ln>
            <a:noFill/>
          </a:ln>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latin typeface="Arial" panose="020B0604020202020204" pitchFamily="34" charset="0"/>
              </a:rPr>
              <a:t>Suelo y aire quedan cargados por el rozamiento entre ambos</a:t>
            </a:r>
          </a:p>
        </p:txBody>
      </p:sp>
      <p:grpSp>
        <p:nvGrpSpPr>
          <p:cNvPr id="8" name="Group 62"/>
          <p:cNvGrpSpPr>
            <a:grpSpLocks/>
          </p:cNvGrpSpPr>
          <p:nvPr/>
        </p:nvGrpSpPr>
        <p:grpSpPr bwMode="auto">
          <a:xfrm>
            <a:off x="1179817" y="2450599"/>
            <a:ext cx="1928813" cy="709614"/>
            <a:chOff x="858" y="318"/>
            <a:chExt cx="1215" cy="447"/>
          </a:xfrm>
        </p:grpSpPr>
        <p:sp>
          <p:nvSpPr>
            <p:cNvPr id="29738" name="Text Box 58"/>
            <p:cNvSpPr txBox="1">
              <a:spLocks noChangeArrowheads="1"/>
            </p:cNvSpPr>
            <p:nvPr/>
          </p:nvSpPr>
          <p:spPr bwMode="auto">
            <a:xfrm>
              <a:off x="858" y="318"/>
              <a:ext cx="106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000" dirty="0">
                  <a:solidFill>
                    <a:srgbClr val="3333FF"/>
                  </a:solidFill>
                  <a:latin typeface="Arial" panose="020B0604020202020204" pitchFamily="34" charset="0"/>
                  <a:sym typeface="Symbol" panose="05050102010706020507" pitchFamily="18" charset="2"/>
                </a:rPr>
                <a:t>Superficie equipotencial</a:t>
              </a:r>
            </a:p>
          </p:txBody>
        </p:sp>
        <p:sp>
          <p:nvSpPr>
            <p:cNvPr id="29739" name="Line 59"/>
            <p:cNvSpPr>
              <a:spLocks noChangeShapeType="1"/>
            </p:cNvSpPr>
            <p:nvPr/>
          </p:nvSpPr>
          <p:spPr bwMode="auto">
            <a:xfrm flipV="1">
              <a:off x="1903" y="657"/>
              <a:ext cx="170" cy="0"/>
            </a:xfrm>
            <a:prstGeom prst="line">
              <a:avLst/>
            </a:prstGeom>
            <a:noFill/>
            <a:ln w="25400">
              <a:solidFill>
                <a:srgbClr val="3333FF"/>
              </a:solidFill>
              <a:round/>
              <a:headEnd/>
              <a:tailEnd type="triangle" w="lg" len="lg"/>
            </a:ln>
            <a:extLst>
              <a:ext uri="{909E8E84-426E-40DD-AFC4-6F175D3DCCD1}">
                <a14:hiddenFill xmlns:a14="http://schemas.microsoft.com/office/drawing/2010/main">
                  <a:noFill/>
                </a14:hiddenFill>
              </a:ext>
            </a:extLst>
          </p:spPr>
          <p:txBody>
            <a:bodyPr wrap="square" lIns="90000" tIns="46800" rIns="90000" bIns="46800">
              <a:noAutofit/>
            </a:bodyPr>
            <a:lstStyle/>
            <a:p>
              <a:endParaRPr lang="en-GB" sz="2400"/>
            </a:p>
          </p:txBody>
        </p:sp>
      </p:grpSp>
      <p:sp>
        <p:nvSpPr>
          <p:cNvPr id="29721" name="Text Box 46"/>
          <p:cNvSpPr txBox="1">
            <a:spLocks noChangeArrowheads="1"/>
          </p:cNvSpPr>
          <p:nvPr/>
        </p:nvSpPr>
        <p:spPr bwMode="auto">
          <a:xfrm>
            <a:off x="1265083" y="6137625"/>
            <a:ext cx="9332417" cy="978584"/>
          </a:xfrm>
          <a:prstGeom prst="rect">
            <a:avLst/>
          </a:prstGeom>
          <a:solidFill>
            <a:srgbClr val="C0C0C0"/>
          </a:solidFill>
          <a:ln>
            <a:noFill/>
          </a:ln>
        </p:spPr>
        <p:txBody>
          <a:bodyPr wrap="square" lIns="90000" tIns="118800" rIns="90000" bIns="118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El </a:t>
            </a:r>
            <a:r>
              <a:rPr lang="es-ES" sz="2400" b="1">
                <a:latin typeface="Arial" panose="020B0604020202020204" pitchFamily="34" charset="0"/>
              </a:rPr>
              <a:t>E</a:t>
            </a:r>
            <a:r>
              <a:rPr lang="es-ES" sz="2400">
                <a:latin typeface="Arial" panose="020B0604020202020204" pitchFamily="34" charset="0"/>
              </a:rPr>
              <a:t> se invierte y crece durante una tormenta al quedar cargadas las nubes que se generan en el encuentro de masas de aire</a:t>
            </a:r>
          </a:p>
        </p:txBody>
      </p:sp>
      <p:grpSp>
        <p:nvGrpSpPr>
          <p:cNvPr id="3" name="Grupo 2"/>
          <p:cNvGrpSpPr>
            <a:grpSpLocks/>
          </p:cNvGrpSpPr>
          <p:nvPr/>
        </p:nvGrpSpPr>
        <p:grpSpPr bwMode="auto">
          <a:xfrm>
            <a:off x="2081058" y="1506254"/>
            <a:ext cx="7388771" cy="773951"/>
            <a:chOff x="-556867" y="1981906"/>
            <a:chExt cx="7391993" cy="774155"/>
          </a:xfrm>
        </p:grpSpPr>
        <p:sp>
          <p:nvSpPr>
            <p:cNvPr id="29734" name="Text Box 86"/>
            <p:cNvSpPr txBox="1">
              <a:spLocks noChangeArrowheads="1"/>
            </p:cNvSpPr>
            <p:nvPr/>
          </p:nvSpPr>
          <p:spPr bwMode="auto">
            <a:xfrm>
              <a:off x="-556867" y="2292094"/>
              <a:ext cx="7391993" cy="463967"/>
            </a:xfrm>
            <a:prstGeom prst="rect">
              <a:avLst/>
            </a:prstGeom>
            <a:solidFill>
              <a:srgbClr val="FFFF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sym typeface="Symbol" panose="05050102010706020507" pitchFamily="18" charset="2"/>
                </a:rPr>
                <a:t>En cada punto del aire esa carga genera un </a:t>
              </a:r>
              <a:r>
                <a:rPr lang="es-ES" sz="2400" b="1" dirty="0">
                  <a:latin typeface="Arial" panose="020B0604020202020204" pitchFamily="34" charset="0"/>
                  <a:sym typeface="Symbol" panose="05050102010706020507" pitchFamily="18" charset="2"/>
                </a:rPr>
                <a:t>E</a:t>
              </a:r>
              <a:r>
                <a:rPr lang="es-ES" sz="2400" dirty="0">
                  <a:latin typeface="Arial" panose="020B0604020202020204" pitchFamily="34" charset="0"/>
                  <a:sym typeface="Symbol" panose="05050102010706020507" pitchFamily="18" charset="2"/>
                </a:rPr>
                <a:t> y un V</a:t>
              </a:r>
            </a:p>
          </p:txBody>
        </p:sp>
        <p:sp>
          <p:nvSpPr>
            <p:cNvPr id="29735" name="Flecha abajo 1"/>
            <p:cNvSpPr>
              <a:spLocks noChangeArrowheads="1"/>
            </p:cNvSpPr>
            <p:nvPr/>
          </p:nvSpPr>
          <p:spPr bwMode="auto">
            <a:xfrm>
              <a:off x="2874136" y="1981906"/>
              <a:ext cx="529038" cy="256217"/>
            </a:xfrm>
            <a:prstGeom prst="downArrow">
              <a:avLst>
                <a:gd name="adj1" fmla="val 50000"/>
                <a:gd name="adj2" fmla="val 50000"/>
              </a:avLst>
            </a:prstGeom>
            <a:solidFill>
              <a:schemeClr val="accent1"/>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grpSp>
      <p:sp>
        <p:nvSpPr>
          <p:cNvPr id="29730" name="Oval 47"/>
          <p:cNvSpPr>
            <a:spLocks noChangeArrowheads="1"/>
          </p:cNvSpPr>
          <p:nvPr/>
        </p:nvSpPr>
        <p:spPr bwMode="auto">
          <a:xfrm>
            <a:off x="6390910" y="2574086"/>
            <a:ext cx="790768" cy="739061"/>
          </a:xfrm>
          <a:prstGeom prst="ellipse">
            <a:avLst/>
          </a:prstGeom>
          <a:noFill/>
          <a:ln w="25400"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nvGrpSpPr>
          <p:cNvPr id="29731" name="Grupo 19"/>
          <p:cNvGrpSpPr>
            <a:grpSpLocks/>
          </p:cNvGrpSpPr>
          <p:nvPr/>
        </p:nvGrpSpPr>
        <p:grpSpPr bwMode="auto">
          <a:xfrm>
            <a:off x="7181678" y="2527028"/>
            <a:ext cx="3181991" cy="833178"/>
            <a:chOff x="4764185" y="3886796"/>
            <a:chExt cx="3181991" cy="833651"/>
          </a:xfrm>
        </p:grpSpPr>
        <p:sp>
          <p:nvSpPr>
            <p:cNvPr id="29732" name="Text Box 49"/>
            <p:cNvSpPr txBox="1">
              <a:spLocks noChangeArrowheads="1"/>
            </p:cNvSpPr>
            <p:nvPr/>
          </p:nvSpPr>
          <p:spPr bwMode="auto">
            <a:xfrm>
              <a:off x="6091976" y="3886796"/>
              <a:ext cx="1854200" cy="833651"/>
            </a:xfrm>
            <a:prstGeom prst="rect">
              <a:avLst/>
            </a:prstGeom>
            <a:solidFill>
              <a:schemeClr val="accent5"/>
            </a:solidFill>
            <a:ln w="25400" algn="ctr">
              <a:noFill/>
              <a:miter lim="800000"/>
              <a:headEnd/>
              <a:tailEnd/>
            </a:ln>
          </p:spPr>
          <p:txBody>
            <a:bodyPr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Sup. más cercanas</a:t>
              </a:r>
            </a:p>
          </p:txBody>
        </p:sp>
        <p:cxnSp>
          <p:nvCxnSpPr>
            <p:cNvPr id="29733" name="Conector recto 5"/>
            <p:cNvCxnSpPr>
              <a:cxnSpLocks noChangeShapeType="1"/>
              <a:stCxn id="29730" idx="6"/>
              <a:endCxn id="29732" idx="1"/>
            </p:cNvCxnSpPr>
            <p:nvPr/>
          </p:nvCxnSpPr>
          <p:spPr bwMode="auto">
            <a:xfrm>
              <a:off x="4764185" y="4293106"/>
              <a:ext cx="1327791" cy="10516"/>
            </a:xfrm>
            <a:prstGeom prst="line">
              <a:avLst/>
            </a:prstGeom>
            <a:noFill/>
            <a:ln w="25400" algn="ctr">
              <a:solidFill>
                <a:srgbClr val="3333FF"/>
              </a:solidFill>
              <a:round/>
              <a:headEnd/>
              <a:tailEnd/>
            </a:ln>
            <a:extLst>
              <a:ext uri="{909E8E84-426E-40DD-AFC4-6F175D3DCCD1}">
                <a14:hiddenFill xmlns:a14="http://schemas.microsoft.com/office/drawing/2010/main">
                  <a:noFill/>
                </a14:hiddenFill>
              </a:ext>
            </a:extLst>
          </p:spPr>
        </p:cxnSp>
      </p:grpSp>
      <p:sp>
        <p:nvSpPr>
          <p:cNvPr id="29719" name="Text Box 75"/>
          <p:cNvSpPr txBox="1">
            <a:spLocks noChangeArrowheads="1"/>
          </p:cNvSpPr>
          <p:nvPr/>
        </p:nvSpPr>
        <p:spPr bwMode="auto">
          <a:xfrm>
            <a:off x="4071983" y="4970453"/>
            <a:ext cx="6261430" cy="514738"/>
          </a:xfrm>
          <a:prstGeom prst="rect">
            <a:avLst/>
          </a:prstGeom>
          <a:solidFill>
            <a:srgbClr val="99CCFF"/>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rPr>
              <a:t>El radio de curvatura de la cabeza es menor</a:t>
            </a:r>
          </a:p>
        </p:txBody>
      </p:sp>
      <p:sp>
        <p:nvSpPr>
          <p:cNvPr id="29717" name="Text Box 75"/>
          <p:cNvSpPr txBox="1">
            <a:spLocks noChangeArrowheads="1"/>
          </p:cNvSpPr>
          <p:nvPr/>
        </p:nvSpPr>
        <p:spPr bwMode="auto">
          <a:xfrm>
            <a:off x="1828806" y="5585539"/>
            <a:ext cx="8497672" cy="463846"/>
          </a:xfrm>
          <a:prstGeom prst="rect">
            <a:avLst/>
          </a:prstGeom>
          <a:solidFill>
            <a:srgbClr val="FFFF00"/>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Provoca una </a:t>
            </a:r>
            <a:r>
              <a:rPr lang="es-ES" sz="2400" dirty="0">
                <a:latin typeface="Arial" panose="020B0604020202020204" pitchFamily="34" charset="0"/>
              </a:rPr>
              <a:t>densidad de </a:t>
            </a:r>
            <a:r>
              <a:rPr lang="es-ES" sz="2400">
                <a:latin typeface="Arial" panose="020B0604020202020204" pitchFamily="34" charset="0"/>
              </a:rPr>
              <a:t>carga mayor y con ello un mayor </a:t>
            </a:r>
            <a:r>
              <a:rPr lang="es-ES" sz="2400" b="1">
                <a:latin typeface="Arial" panose="020B0604020202020204" pitchFamily="34" charset="0"/>
              </a:rPr>
              <a:t>E</a:t>
            </a:r>
            <a:endParaRPr lang="es-ES" sz="2400" dirty="0">
              <a:latin typeface="Arial" panose="020B0604020202020204" pitchFamily="34" charset="0"/>
            </a:endParaRPr>
          </a:p>
        </p:txBody>
      </p:sp>
      <p:sp>
        <p:nvSpPr>
          <p:cNvPr id="42" name="Rectangle 4"/>
          <p:cNvSpPr>
            <a:spLocks noChangeArrowheads="1"/>
          </p:cNvSpPr>
          <p:nvPr/>
        </p:nvSpPr>
        <p:spPr bwMode="auto">
          <a:xfrm>
            <a:off x="1331913" y="377985"/>
            <a:ext cx="471803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dirty="0">
                <a:solidFill>
                  <a:srgbClr val="CC0000"/>
                </a:solidFill>
                <a:latin typeface="Arial" panose="020B0604020202020204" pitchFamily="34" charset="0"/>
              </a:rPr>
              <a:t>2.5. RUPTURA DIELÉCTRICA</a:t>
            </a:r>
          </a:p>
        </p:txBody>
      </p:sp>
      <p:sp>
        <p:nvSpPr>
          <p:cNvPr id="29718" name="Text Box 83"/>
          <p:cNvSpPr txBox="1">
            <a:spLocks noChangeArrowheads="1"/>
          </p:cNvSpPr>
          <p:nvPr/>
        </p:nvSpPr>
        <p:spPr bwMode="auto">
          <a:xfrm>
            <a:off x="655037" y="4031299"/>
            <a:ext cx="2011962" cy="1202510"/>
          </a:xfrm>
          <a:prstGeom prst="rect">
            <a:avLst/>
          </a:prstGeom>
          <a:solidFill>
            <a:srgbClr val="99CCFF"/>
          </a:solidFill>
          <a:ln>
            <a:noFill/>
          </a:ln>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sym typeface="Symbol" panose="05050102010706020507" pitchFamily="18" charset="2"/>
              </a:rPr>
              <a:t>El radio de curvatura del suelo es </a:t>
            </a:r>
          </a:p>
        </p:txBody>
      </p:sp>
      <p:sp>
        <p:nvSpPr>
          <p:cNvPr id="52" name="Oval 47">
            <a:extLst>
              <a:ext uri="{FF2B5EF4-FFF2-40B4-BE49-F238E27FC236}">
                <a16:creationId xmlns:a16="http://schemas.microsoft.com/office/drawing/2014/main" id="{EB05DAB3-9DD2-4E6D-BFD8-97B6CF417A1D}"/>
              </a:ext>
            </a:extLst>
          </p:cNvPr>
          <p:cNvSpPr>
            <a:spLocks noChangeArrowheads="1"/>
          </p:cNvSpPr>
          <p:nvPr/>
        </p:nvSpPr>
        <p:spPr bwMode="auto">
          <a:xfrm>
            <a:off x="3030315" y="4208505"/>
            <a:ext cx="790768" cy="750581"/>
          </a:xfrm>
          <a:prstGeom prst="ellipse">
            <a:avLst/>
          </a:prstGeom>
          <a:noFill/>
          <a:ln w="25400"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53" name="Text Box 81">
            <a:extLst>
              <a:ext uri="{FF2B5EF4-FFF2-40B4-BE49-F238E27FC236}">
                <a16:creationId xmlns:a16="http://schemas.microsoft.com/office/drawing/2014/main" id="{6EB10508-B972-4422-8F7A-9B13D00B5812}"/>
              </a:ext>
            </a:extLst>
          </p:cNvPr>
          <p:cNvSpPr txBox="1">
            <a:spLocks noChangeArrowheads="1"/>
          </p:cNvSpPr>
          <p:nvPr/>
        </p:nvSpPr>
        <p:spPr bwMode="auto">
          <a:xfrm>
            <a:off x="8319815" y="322324"/>
            <a:ext cx="2038194" cy="463846"/>
          </a:xfrm>
          <a:prstGeom prst="rect">
            <a:avLst/>
          </a:prstGeom>
          <a:solidFill>
            <a:schemeClr val="bg2">
              <a:lumMod val="60000"/>
              <a:lumOff val="40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defRPr/>
            </a:pPr>
            <a:r>
              <a:rPr lang="es-ES" sz="2400" dirty="0">
                <a:latin typeface="Arial" panose="020B0604020202020204" pitchFamily="34" charset="0"/>
              </a:rPr>
              <a:t>Situación 1</a:t>
            </a:r>
            <a:endParaRPr lang="es-ES" sz="2400" dirty="0">
              <a:latin typeface="Arial" panose="020B0604020202020204" pitchFamily="34" charset="0"/>
              <a:sym typeface="Symbol" panose="05050102010706020507" pitchFamily="18" charset="2"/>
            </a:endParaRPr>
          </a:p>
        </p:txBody>
      </p:sp>
      <p:grpSp>
        <p:nvGrpSpPr>
          <p:cNvPr id="5" name="Grupo 4">
            <a:extLst>
              <a:ext uri="{FF2B5EF4-FFF2-40B4-BE49-F238E27FC236}">
                <a16:creationId xmlns:a16="http://schemas.microsoft.com/office/drawing/2014/main" id="{93F56532-D561-8791-D145-FF13FFA61EDA}"/>
              </a:ext>
            </a:extLst>
          </p:cNvPr>
          <p:cNvGrpSpPr/>
          <p:nvPr/>
        </p:nvGrpSpPr>
        <p:grpSpPr>
          <a:xfrm>
            <a:off x="657269" y="3163962"/>
            <a:ext cx="2451361" cy="1184458"/>
            <a:chOff x="657269" y="3447732"/>
            <a:chExt cx="2451361" cy="1184458"/>
          </a:xfrm>
        </p:grpSpPr>
        <p:sp>
          <p:nvSpPr>
            <p:cNvPr id="45" name="Line 59">
              <a:extLst>
                <a:ext uri="{FF2B5EF4-FFF2-40B4-BE49-F238E27FC236}">
                  <a16:creationId xmlns:a16="http://schemas.microsoft.com/office/drawing/2014/main" id="{BF6FF07E-9F08-45D6-A247-94217407D613}"/>
                </a:ext>
              </a:extLst>
            </p:cNvPr>
            <p:cNvSpPr>
              <a:spLocks noChangeShapeType="1"/>
            </p:cNvSpPr>
            <p:nvPr/>
          </p:nvSpPr>
          <p:spPr bwMode="auto">
            <a:xfrm>
              <a:off x="2666999" y="4255262"/>
              <a:ext cx="441631" cy="376928"/>
            </a:xfrm>
            <a:prstGeom prst="line">
              <a:avLst/>
            </a:prstGeom>
            <a:noFill/>
            <a:ln w="25400">
              <a:solidFill>
                <a:srgbClr val="3333FF"/>
              </a:solidFill>
              <a:round/>
              <a:headEnd type="none" w="med" len="med"/>
              <a:tailEnd type="none" w="med" len="med"/>
            </a:ln>
            <a:extLst>
              <a:ext uri="{909E8E84-426E-40DD-AFC4-6F175D3DCCD1}">
                <a14:hiddenFill xmlns:a14="http://schemas.microsoft.com/office/drawing/2010/main">
                  <a:noFill/>
                </a14:hiddenFill>
              </a:ext>
            </a:extLst>
          </p:spPr>
          <p:txBody>
            <a:bodyPr wrap="square" lIns="90000" tIns="46800" rIns="90000" bIns="46800">
              <a:noAutofit/>
            </a:bodyPr>
            <a:lstStyle/>
            <a:p>
              <a:endParaRPr lang="en-GB" sz="2400"/>
            </a:p>
          </p:txBody>
        </p:sp>
        <p:sp>
          <p:nvSpPr>
            <p:cNvPr id="2" name="Text Box 49">
              <a:extLst>
                <a:ext uri="{FF2B5EF4-FFF2-40B4-BE49-F238E27FC236}">
                  <a16:creationId xmlns:a16="http://schemas.microsoft.com/office/drawing/2014/main" id="{FCB9E6DC-99E8-CD44-7080-C51FC6482FE4}"/>
                </a:ext>
              </a:extLst>
            </p:cNvPr>
            <p:cNvSpPr txBox="1">
              <a:spLocks noChangeArrowheads="1"/>
            </p:cNvSpPr>
            <p:nvPr/>
          </p:nvSpPr>
          <p:spPr bwMode="auto">
            <a:xfrm>
              <a:off x="657269" y="3447732"/>
              <a:ext cx="2009730" cy="833178"/>
            </a:xfrm>
            <a:prstGeom prst="rect">
              <a:avLst/>
            </a:prstGeom>
            <a:solidFill>
              <a:schemeClr val="accent5"/>
            </a:solidFill>
            <a:ln w="25400" algn="ctr">
              <a:noFill/>
              <a:miter lim="800000"/>
              <a:headEnd/>
              <a:tailEnd/>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Sup. más alejadas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arn(outVertical)">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370"/>
                                        </p:tgtEl>
                                        <p:attrNameLst>
                                          <p:attrName>style.visibility</p:attrName>
                                        </p:attrNameLst>
                                      </p:cBhvr>
                                      <p:to>
                                        <p:strVal val="visible"/>
                                      </p:to>
                                    </p:set>
                                    <p:animEffect transition="in" filter="wipe(up)">
                                      <p:cBhvr>
                                        <p:cTn id="12" dur="500"/>
                                        <p:tgtEl>
                                          <p:spTgt spid="143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par>
                          <p:cTn id="18" fill="hold" nodeType="withGroup">
                            <p:stCondLst>
                              <p:cond delay="500"/>
                            </p:stCondLst>
                            <p:childTnLst>
                              <p:par>
                                <p:cTn id="19" presetID="9" presetClass="entr" presetSubtype="0" fill="hold" nodeType="afterEffect">
                                  <p:stCondLst>
                                    <p:cond delay="0"/>
                                  </p:stCondLst>
                                  <p:childTnLst>
                                    <p:set>
                                      <p:cBhvr>
                                        <p:cTn id="20" dur="1" fill="hold">
                                          <p:stCondLst>
                                            <p:cond delay="0"/>
                                          </p:stCondLst>
                                        </p:cTn>
                                        <p:tgtEl>
                                          <p:spTgt spid="14389"/>
                                        </p:tgtEl>
                                        <p:attrNameLst>
                                          <p:attrName>style.visibility</p:attrName>
                                        </p:attrNameLst>
                                      </p:cBhvr>
                                      <p:to>
                                        <p:strVal val="visible"/>
                                      </p:to>
                                    </p:set>
                                    <p:animEffect transition="in" filter="dissolve">
                                      <p:cBhvr>
                                        <p:cTn id="21" dur="500"/>
                                        <p:tgtEl>
                                          <p:spTgt spid="1438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par>
                          <p:cTn id="32" fill="hold">
                            <p:stCondLst>
                              <p:cond delay="500"/>
                            </p:stCondLst>
                            <p:childTnLst>
                              <p:par>
                                <p:cTn id="33" presetID="23" presetClass="entr" presetSubtype="272" fill="hold" grpId="0" nodeType="afterEffect">
                                  <p:stCondLst>
                                    <p:cond delay="0"/>
                                  </p:stCondLst>
                                  <p:childTnLst>
                                    <p:set>
                                      <p:cBhvr>
                                        <p:cTn id="34" dur="1" fill="hold">
                                          <p:stCondLst>
                                            <p:cond delay="0"/>
                                          </p:stCondLst>
                                        </p:cTn>
                                        <p:tgtEl>
                                          <p:spTgt spid="52"/>
                                        </p:tgtEl>
                                        <p:attrNameLst>
                                          <p:attrName>style.visibility</p:attrName>
                                        </p:attrNameLst>
                                      </p:cBhvr>
                                      <p:to>
                                        <p:strVal val="visible"/>
                                      </p:to>
                                    </p:set>
                                    <p:anim calcmode="lin" valueType="num">
                                      <p:cBhvr>
                                        <p:cTn id="35" dur="500" fill="hold"/>
                                        <p:tgtEl>
                                          <p:spTgt spid="52"/>
                                        </p:tgtEl>
                                        <p:attrNameLst>
                                          <p:attrName>ppt_w</p:attrName>
                                        </p:attrNameLst>
                                      </p:cBhvr>
                                      <p:tavLst>
                                        <p:tav tm="0">
                                          <p:val>
                                            <p:strVal val="2/3*#ppt_w"/>
                                          </p:val>
                                        </p:tav>
                                        <p:tav tm="100000">
                                          <p:val>
                                            <p:strVal val="#ppt_w"/>
                                          </p:val>
                                        </p:tav>
                                      </p:tavLst>
                                    </p:anim>
                                    <p:anim calcmode="lin" valueType="num">
                                      <p:cBhvr>
                                        <p:cTn id="36" dur="500" fill="hold"/>
                                        <p:tgtEl>
                                          <p:spTgt spid="52"/>
                                        </p:tgtEl>
                                        <p:attrNameLst>
                                          <p:attrName>ppt_h</p:attrName>
                                        </p:attrNameLst>
                                      </p:cBhvr>
                                      <p:tavLst>
                                        <p:tav tm="0">
                                          <p:val>
                                            <p:strVal val="2/3*#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272" fill="hold" grpId="0" nodeType="clickEffect">
                                  <p:stCondLst>
                                    <p:cond delay="0"/>
                                  </p:stCondLst>
                                  <p:childTnLst>
                                    <p:set>
                                      <p:cBhvr>
                                        <p:cTn id="40" dur="1" fill="hold">
                                          <p:stCondLst>
                                            <p:cond delay="0"/>
                                          </p:stCondLst>
                                        </p:cTn>
                                        <p:tgtEl>
                                          <p:spTgt spid="29730"/>
                                        </p:tgtEl>
                                        <p:attrNameLst>
                                          <p:attrName>style.visibility</p:attrName>
                                        </p:attrNameLst>
                                      </p:cBhvr>
                                      <p:to>
                                        <p:strVal val="visible"/>
                                      </p:to>
                                    </p:set>
                                    <p:anim calcmode="lin" valueType="num">
                                      <p:cBhvr>
                                        <p:cTn id="41" dur="500" fill="hold"/>
                                        <p:tgtEl>
                                          <p:spTgt spid="29730"/>
                                        </p:tgtEl>
                                        <p:attrNameLst>
                                          <p:attrName>ppt_w</p:attrName>
                                        </p:attrNameLst>
                                      </p:cBhvr>
                                      <p:tavLst>
                                        <p:tav tm="0">
                                          <p:val>
                                            <p:strVal val="2/3*#ppt_w"/>
                                          </p:val>
                                        </p:tav>
                                        <p:tav tm="100000">
                                          <p:val>
                                            <p:strVal val="#ppt_w"/>
                                          </p:val>
                                        </p:tav>
                                      </p:tavLst>
                                    </p:anim>
                                    <p:anim calcmode="lin" valueType="num">
                                      <p:cBhvr>
                                        <p:cTn id="42" dur="500" fill="hold"/>
                                        <p:tgtEl>
                                          <p:spTgt spid="29730"/>
                                        </p:tgtEl>
                                        <p:attrNameLst>
                                          <p:attrName>ppt_h</p:attrName>
                                        </p:attrNameLst>
                                      </p:cBhvr>
                                      <p:tavLst>
                                        <p:tav tm="0">
                                          <p:val>
                                            <p:strVal val="2/3*#ppt_h"/>
                                          </p:val>
                                        </p:tav>
                                        <p:tav tm="100000">
                                          <p:val>
                                            <p:strVal val="#ppt_h"/>
                                          </p:val>
                                        </p:tav>
                                      </p:tavLst>
                                    </p:anim>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29731"/>
                                        </p:tgtEl>
                                        <p:attrNameLst>
                                          <p:attrName>style.visibility</p:attrName>
                                        </p:attrNameLst>
                                      </p:cBhvr>
                                      <p:to>
                                        <p:strVal val="visible"/>
                                      </p:to>
                                    </p:set>
                                    <p:animEffect transition="in" filter="wipe(left)">
                                      <p:cBhvr>
                                        <p:cTn id="46" dur="500"/>
                                        <p:tgtEl>
                                          <p:spTgt spid="2973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up)">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29718"/>
                                        </p:tgtEl>
                                        <p:attrNameLst>
                                          <p:attrName>style.visibility</p:attrName>
                                        </p:attrNameLst>
                                      </p:cBhvr>
                                      <p:to>
                                        <p:strVal val="visible"/>
                                      </p:to>
                                    </p:set>
                                    <p:animEffect transition="in" filter="wipe(up)">
                                      <p:cBhvr>
                                        <p:cTn id="56" dur="500"/>
                                        <p:tgtEl>
                                          <p:spTgt spid="2971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9719"/>
                                        </p:tgtEl>
                                        <p:attrNameLst>
                                          <p:attrName>style.visibility</p:attrName>
                                        </p:attrNameLst>
                                      </p:cBhvr>
                                      <p:to>
                                        <p:strVal val="visible"/>
                                      </p:to>
                                    </p:set>
                                    <p:animEffect transition="in" filter="wipe(up)">
                                      <p:cBhvr>
                                        <p:cTn id="61" dur="500"/>
                                        <p:tgtEl>
                                          <p:spTgt spid="29719"/>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1" fill="hold" grpId="0" nodeType="clickEffect">
                                  <p:stCondLst>
                                    <p:cond delay="0"/>
                                  </p:stCondLst>
                                  <p:childTnLst>
                                    <p:set>
                                      <p:cBhvr>
                                        <p:cTn id="65" dur="1" fill="hold">
                                          <p:stCondLst>
                                            <p:cond delay="0"/>
                                          </p:stCondLst>
                                        </p:cTn>
                                        <p:tgtEl>
                                          <p:spTgt spid="29717"/>
                                        </p:tgtEl>
                                        <p:attrNameLst>
                                          <p:attrName>style.visibility</p:attrName>
                                        </p:attrNameLst>
                                      </p:cBhvr>
                                      <p:to>
                                        <p:strVal val="visible"/>
                                      </p:to>
                                    </p:set>
                                    <p:anim calcmode="lin" valueType="num">
                                      <p:cBhvr additive="base">
                                        <p:cTn id="66" dur="500"/>
                                        <p:tgtEl>
                                          <p:spTgt spid="29717"/>
                                        </p:tgtEl>
                                        <p:attrNameLst>
                                          <p:attrName>ppt_y</p:attrName>
                                        </p:attrNameLst>
                                      </p:cBhvr>
                                      <p:tavLst>
                                        <p:tav tm="0">
                                          <p:val>
                                            <p:strVal val="#ppt_y-#ppt_h*1.125000"/>
                                          </p:val>
                                        </p:tav>
                                        <p:tav tm="100000">
                                          <p:val>
                                            <p:strVal val="#ppt_y"/>
                                          </p:val>
                                        </p:tav>
                                      </p:tavLst>
                                    </p:anim>
                                    <p:animEffect transition="in" filter="wipe(down)">
                                      <p:cBhvr>
                                        <p:cTn id="67" dur="500"/>
                                        <p:tgtEl>
                                          <p:spTgt spid="29717"/>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9721"/>
                                        </p:tgtEl>
                                        <p:attrNameLst>
                                          <p:attrName>style.visibility</p:attrName>
                                        </p:attrNameLst>
                                      </p:cBhvr>
                                      <p:to>
                                        <p:strVal val="visible"/>
                                      </p:to>
                                    </p:set>
                                    <p:animEffect transition="in" filter="dissolve">
                                      <p:cBhvr>
                                        <p:cTn id="72" dur="500"/>
                                        <p:tgtEl>
                                          <p:spTgt spid="29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0" grpId="0" animBg="1"/>
      <p:bldP spid="29721" grpId="0" animBg="1"/>
      <p:bldP spid="29730" grpId="0" animBg="1"/>
      <p:bldP spid="29719" grpId="0" animBg="1"/>
      <p:bldP spid="29717" grpId="0" animBg="1"/>
      <p:bldP spid="29718" grpId="0" animBg="1"/>
      <p:bldP spid="52" grpId="0" animBg="1"/>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9" descr="lineas5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9566" y="1691649"/>
            <a:ext cx="3656546" cy="328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36" name="Text Box 81"/>
          <p:cNvSpPr txBox="1">
            <a:spLocks noChangeArrowheads="1"/>
          </p:cNvSpPr>
          <p:nvPr/>
        </p:nvSpPr>
        <p:spPr bwMode="auto">
          <a:xfrm>
            <a:off x="1370937" y="1074300"/>
            <a:ext cx="2318471" cy="1202510"/>
          </a:xfrm>
          <a:prstGeom prst="rect">
            <a:avLst/>
          </a:prstGeom>
          <a:solidFill>
            <a:schemeClr val="tx2">
              <a:lumMod val="25000"/>
              <a:lumOff val="75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defRPr/>
            </a:pPr>
            <a:r>
              <a:rPr lang="es-ES" sz="2400" dirty="0">
                <a:latin typeface="Arial" panose="020B0604020202020204" pitchFamily="34" charset="0"/>
              </a:rPr>
              <a:t>2 conductores con carga de distinto </a:t>
            </a:r>
            <a:r>
              <a:rPr lang="es-ES" sz="2400" dirty="0">
                <a:latin typeface="Arial" panose="020B0604020202020204" pitchFamily="34" charset="0"/>
                <a:sym typeface="Symbol" panose="05050102010706020507" pitchFamily="18" charset="2"/>
              </a:rPr>
              <a:t>signo</a:t>
            </a:r>
          </a:p>
        </p:txBody>
      </p:sp>
      <p:sp>
        <p:nvSpPr>
          <p:cNvPr id="29737" name="Text Box 41"/>
          <p:cNvSpPr txBox="1">
            <a:spLocks noChangeArrowheads="1"/>
          </p:cNvSpPr>
          <p:nvPr/>
        </p:nvSpPr>
        <p:spPr bwMode="auto">
          <a:xfrm>
            <a:off x="1370937" y="2290039"/>
            <a:ext cx="231847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solidFill>
                  <a:srgbClr val="FF0000"/>
                </a:solidFill>
                <a:latin typeface="Arial" panose="020B0604020202020204" pitchFamily="34" charset="0"/>
              </a:rPr>
              <a:t>(se nota en que las líneas van de uno a </a:t>
            </a:r>
            <a:r>
              <a:rPr lang="es-ES" sz="2400">
                <a:solidFill>
                  <a:srgbClr val="FF0000"/>
                </a:solidFill>
                <a:latin typeface="Arial" panose="020B0604020202020204" pitchFamily="34" charset="0"/>
              </a:rPr>
              <a:t>otro)</a:t>
            </a:r>
            <a:endParaRPr lang="es-ES" sz="2400" dirty="0">
              <a:solidFill>
                <a:srgbClr val="FF0000"/>
              </a:solidFill>
              <a:latin typeface="Arial" panose="020B0604020202020204" pitchFamily="34" charset="0"/>
            </a:endParaRPr>
          </a:p>
        </p:txBody>
      </p:sp>
      <p:sp>
        <p:nvSpPr>
          <p:cNvPr id="29724" name="Oval 55"/>
          <p:cNvSpPr>
            <a:spLocks noChangeArrowheads="1"/>
          </p:cNvSpPr>
          <p:nvPr/>
        </p:nvSpPr>
        <p:spPr bwMode="auto">
          <a:xfrm>
            <a:off x="5370567" y="2832369"/>
            <a:ext cx="752537" cy="706403"/>
          </a:xfrm>
          <a:prstGeom prst="ellipse">
            <a:avLst/>
          </a:prstGeom>
          <a:noFill/>
          <a:ln w="25400"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9725" name="Oval 68"/>
          <p:cNvSpPr>
            <a:spLocks noChangeArrowheads="1"/>
          </p:cNvSpPr>
          <p:nvPr/>
        </p:nvSpPr>
        <p:spPr bwMode="auto">
          <a:xfrm>
            <a:off x="6292899" y="1753246"/>
            <a:ext cx="752537" cy="706403"/>
          </a:xfrm>
          <a:prstGeom prst="ellipse">
            <a:avLst/>
          </a:prstGeom>
          <a:noFill/>
          <a:ln w="25400"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29726" name="Oval 68"/>
          <p:cNvSpPr>
            <a:spLocks noChangeArrowheads="1"/>
          </p:cNvSpPr>
          <p:nvPr/>
        </p:nvSpPr>
        <p:spPr bwMode="auto">
          <a:xfrm>
            <a:off x="4358707" y="1768485"/>
            <a:ext cx="752537" cy="706403"/>
          </a:xfrm>
          <a:prstGeom prst="ellipse">
            <a:avLst/>
          </a:prstGeom>
          <a:noFill/>
          <a:ln w="25400"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nvGrpSpPr>
          <p:cNvPr id="3" name="Grupo 2">
            <a:extLst>
              <a:ext uri="{FF2B5EF4-FFF2-40B4-BE49-F238E27FC236}">
                <a16:creationId xmlns:a16="http://schemas.microsoft.com/office/drawing/2014/main" id="{8B354D10-6798-4F1A-ABD8-A33F26A410A1}"/>
              </a:ext>
            </a:extLst>
          </p:cNvPr>
          <p:cNvGrpSpPr/>
          <p:nvPr/>
        </p:nvGrpSpPr>
        <p:grpSpPr>
          <a:xfrm>
            <a:off x="5001038" y="2292087"/>
            <a:ext cx="5377992" cy="1153338"/>
            <a:chOff x="5001038" y="2292087"/>
            <a:chExt cx="5377992" cy="1153338"/>
          </a:xfrm>
        </p:grpSpPr>
        <p:cxnSp>
          <p:nvCxnSpPr>
            <p:cNvPr id="29727" name="Conector recto 39"/>
            <p:cNvCxnSpPr>
              <a:cxnSpLocks noChangeShapeType="1"/>
              <a:endCxn id="29723" idx="1"/>
            </p:cNvCxnSpPr>
            <p:nvPr/>
          </p:nvCxnSpPr>
          <p:spPr bwMode="auto">
            <a:xfrm flipV="1">
              <a:off x="6123104" y="3028837"/>
              <a:ext cx="2319170" cy="117408"/>
            </a:xfrm>
            <a:prstGeom prst="line">
              <a:avLst/>
            </a:prstGeom>
            <a:noFill/>
            <a:ln w="25400" algn="ctr">
              <a:solidFill>
                <a:srgbClr val="3333FF"/>
              </a:solidFill>
              <a:round/>
              <a:headEnd/>
              <a:tailEnd/>
            </a:ln>
            <a:extLst>
              <a:ext uri="{909E8E84-426E-40DD-AFC4-6F175D3DCCD1}">
                <a14:hiddenFill xmlns:a14="http://schemas.microsoft.com/office/drawing/2010/main">
                  <a:noFill/>
                </a14:hiddenFill>
              </a:ext>
            </a:extLst>
          </p:spPr>
        </p:cxnSp>
        <p:cxnSp>
          <p:nvCxnSpPr>
            <p:cNvPr id="29728" name="Conector recto 41"/>
            <p:cNvCxnSpPr>
              <a:cxnSpLocks noChangeShapeType="1"/>
              <a:stCxn id="29723" idx="1"/>
            </p:cNvCxnSpPr>
            <p:nvPr/>
          </p:nvCxnSpPr>
          <p:spPr bwMode="auto">
            <a:xfrm flipH="1" flipV="1">
              <a:off x="6969266" y="2292087"/>
              <a:ext cx="1473008" cy="736750"/>
            </a:xfrm>
            <a:prstGeom prst="line">
              <a:avLst/>
            </a:prstGeom>
            <a:noFill/>
            <a:ln w="25400" algn="ctr">
              <a:solidFill>
                <a:srgbClr val="3333FF"/>
              </a:solidFill>
              <a:round/>
              <a:headEnd/>
              <a:tailEnd/>
            </a:ln>
            <a:extLst>
              <a:ext uri="{909E8E84-426E-40DD-AFC4-6F175D3DCCD1}">
                <a14:hiddenFill xmlns:a14="http://schemas.microsoft.com/office/drawing/2010/main">
                  <a:noFill/>
                </a14:hiddenFill>
              </a:ext>
            </a:extLst>
          </p:spPr>
        </p:cxnSp>
        <p:cxnSp>
          <p:nvCxnSpPr>
            <p:cNvPr id="29729" name="Conector recto 43"/>
            <p:cNvCxnSpPr>
              <a:cxnSpLocks noChangeShapeType="1"/>
              <a:stCxn id="29723" idx="1"/>
              <a:endCxn id="29726" idx="5"/>
            </p:cNvCxnSpPr>
            <p:nvPr/>
          </p:nvCxnSpPr>
          <p:spPr bwMode="auto">
            <a:xfrm flipH="1" flipV="1">
              <a:off x="5001038" y="2371438"/>
              <a:ext cx="3441236" cy="657399"/>
            </a:xfrm>
            <a:prstGeom prst="line">
              <a:avLst/>
            </a:prstGeom>
            <a:noFill/>
            <a:ln w="25400" algn="ctr">
              <a:solidFill>
                <a:srgbClr val="3333FF"/>
              </a:solidFill>
              <a:round/>
              <a:headEnd/>
              <a:tailEnd/>
            </a:ln>
            <a:extLst>
              <a:ext uri="{909E8E84-426E-40DD-AFC4-6F175D3DCCD1}">
                <a14:hiddenFill xmlns:a14="http://schemas.microsoft.com/office/drawing/2010/main">
                  <a:noFill/>
                </a14:hiddenFill>
              </a:ext>
            </a:extLst>
          </p:spPr>
        </p:cxnSp>
        <p:sp>
          <p:nvSpPr>
            <p:cNvPr id="29723" name="Text Box 54"/>
            <p:cNvSpPr txBox="1">
              <a:spLocks noChangeArrowheads="1"/>
            </p:cNvSpPr>
            <p:nvPr/>
          </p:nvSpPr>
          <p:spPr bwMode="auto">
            <a:xfrm>
              <a:off x="8442274" y="2612249"/>
              <a:ext cx="1936756" cy="833176"/>
            </a:xfrm>
            <a:prstGeom prst="rect">
              <a:avLst/>
            </a:prstGeom>
            <a:solidFill>
              <a:schemeClr val="accent5"/>
            </a:solidFill>
            <a:ln w="25400" algn="ctr">
              <a:noFill/>
              <a:miter lim="800000"/>
              <a:headEnd/>
              <a:tailEnd/>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Densidad de  líneas mayor</a:t>
              </a:r>
            </a:p>
          </p:txBody>
        </p:sp>
      </p:grpSp>
      <p:grpSp>
        <p:nvGrpSpPr>
          <p:cNvPr id="43" name="Grupo 42">
            <a:extLst>
              <a:ext uri="{FF2B5EF4-FFF2-40B4-BE49-F238E27FC236}">
                <a16:creationId xmlns:a16="http://schemas.microsoft.com/office/drawing/2014/main" id="{024949A8-5677-4788-AD09-9020D6AB5745}"/>
              </a:ext>
            </a:extLst>
          </p:cNvPr>
          <p:cNvGrpSpPr/>
          <p:nvPr/>
        </p:nvGrpSpPr>
        <p:grpSpPr>
          <a:xfrm>
            <a:off x="8472279" y="3531945"/>
            <a:ext cx="1854200" cy="1336128"/>
            <a:chOff x="7130914" y="4078412"/>
            <a:chExt cx="1854200" cy="1336128"/>
          </a:xfrm>
        </p:grpSpPr>
        <p:sp>
          <p:nvSpPr>
            <p:cNvPr id="45" name="Text Box 57">
              <a:extLst>
                <a:ext uri="{FF2B5EF4-FFF2-40B4-BE49-F238E27FC236}">
                  <a16:creationId xmlns:a16="http://schemas.microsoft.com/office/drawing/2014/main" id="{50CC5CE8-D819-4D09-B2B9-F36064097B6A}"/>
                </a:ext>
              </a:extLst>
            </p:cNvPr>
            <p:cNvSpPr txBox="1">
              <a:spLocks noChangeArrowheads="1"/>
            </p:cNvSpPr>
            <p:nvPr/>
          </p:nvSpPr>
          <p:spPr bwMode="auto">
            <a:xfrm>
              <a:off x="7130914" y="4581362"/>
              <a:ext cx="1854200" cy="833178"/>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sym typeface="Symbol" panose="05050102010706020507" pitchFamily="18" charset="2"/>
                </a:rPr>
                <a:t>El c</a:t>
              </a:r>
              <a:r>
                <a:rPr lang="es-ES" sz="2400" dirty="0">
                  <a:latin typeface="Arial" panose="020B0604020202020204" pitchFamily="34" charset="0"/>
                </a:rPr>
                <a:t>ampo es mayor</a:t>
              </a:r>
            </a:p>
          </p:txBody>
        </p:sp>
        <p:sp>
          <p:nvSpPr>
            <p:cNvPr id="47" name="Flecha abajo 54">
              <a:extLst>
                <a:ext uri="{FF2B5EF4-FFF2-40B4-BE49-F238E27FC236}">
                  <a16:creationId xmlns:a16="http://schemas.microsoft.com/office/drawing/2014/main" id="{AF3EEFCF-D539-473C-AAFC-26686C107968}"/>
                </a:ext>
              </a:extLst>
            </p:cNvPr>
            <p:cNvSpPr>
              <a:spLocks noChangeArrowheads="1"/>
            </p:cNvSpPr>
            <p:nvPr/>
          </p:nvSpPr>
          <p:spPr bwMode="auto">
            <a:xfrm>
              <a:off x="7800099" y="4078412"/>
              <a:ext cx="528807" cy="412533"/>
            </a:xfrm>
            <a:prstGeom prst="downArrow">
              <a:avLst>
                <a:gd name="adj1" fmla="val 50000"/>
                <a:gd name="adj2" fmla="val 50000"/>
              </a:avLst>
            </a:prstGeom>
            <a:solidFill>
              <a:schemeClr val="accent1"/>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grpSp>
      <p:sp>
        <p:nvSpPr>
          <p:cNvPr id="48" name="Text Box 75">
            <a:extLst>
              <a:ext uri="{FF2B5EF4-FFF2-40B4-BE49-F238E27FC236}">
                <a16:creationId xmlns:a16="http://schemas.microsoft.com/office/drawing/2014/main" id="{9A54F988-7B91-44EF-AFC5-5F3EB8268881}"/>
              </a:ext>
            </a:extLst>
          </p:cNvPr>
          <p:cNvSpPr txBox="1">
            <a:spLocks noChangeArrowheads="1"/>
          </p:cNvSpPr>
          <p:nvPr/>
        </p:nvSpPr>
        <p:spPr bwMode="auto">
          <a:xfrm>
            <a:off x="5761038" y="5170043"/>
            <a:ext cx="4551044" cy="51473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El radio de curvatura es menor</a:t>
            </a:r>
          </a:p>
        </p:txBody>
      </p:sp>
      <p:sp>
        <p:nvSpPr>
          <p:cNvPr id="49" name="Text Box 75">
            <a:extLst>
              <a:ext uri="{FF2B5EF4-FFF2-40B4-BE49-F238E27FC236}">
                <a16:creationId xmlns:a16="http://schemas.microsoft.com/office/drawing/2014/main" id="{A00216BC-9C9D-4C38-A04D-6E9D761248F9}"/>
              </a:ext>
            </a:extLst>
          </p:cNvPr>
          <p:cNvSpPr txBox="1">
            <a:spLocks noChangeArrowheads="1"/>
          </p:cNvSpPr>
          <p:nvPr/>
        </p:nvSpPr>
        <p:spPr bwMode="auto">
          <a:xfrm>
            <a:off x="5761038" y="5779833"/>
            <a:ext cx="4551044" cy="833178"/>
          </a:xfrm>
          <a:prstGeom prst="rect">
            <a:avLst/>
          </a:prstGeom>
          <a:solidFill>
            <a:srgbClr val="FFFF00"/>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Provoca una </a:t>
            </a:r>
            <a:r>
              <a:rPr lang="es-ES" sz="2400" dirty="0">
                <a:latin typeface="Arial" panose="020B0604020202020204" pitchFamily="34" charset="0"/>
              </a:rPr>
              <a:t>densidad de </a:t>
            </a:r>
            <a:r>
              <a:rPr lang="es-ES" sz="2400">
                <a:latin typeface="Arial" panose="020B0604020202020204" pitchFamily="34" charset="0"/>
              </a:rPr>
              <a:t>carga mayor y con ello un mayor </a:t>
            </a:r>
            <a:r>
              <a:rPr lang="es-ES" sz="2400" b="1">
                <a:latin typeface="Arial" panose="020B0604020202020204" pitchFamily="34" charset="0"/>
              </a:rPr>
              <a:t>E</a:t>
            </a:r>
            <a:endParaRPr lang="es-ES" sz="2400" b="1" dirty="0">
              <a:latin typeface="Arial" panose="020B0604020202020204" pitchFamily="34" charset="0"/>
            </a:endParaRPr>
          </a:p>
        </p:txBody>
      </p:sp>
      <p:sp>
        <p:nvSpPr>
          <p:cNvPr id="62" name="Text Box 83">
            <a:extLst>
              <a:ext uri="{FF2B5EF4-FFF2-40B4-BE49-F238E27FC236}">
                <a16:creationId xmlns:a16="http://schemas.microsoft.com/office/drawing/2014/main" id="{EFAD00FE-F710-4D79-9B1A-55B61E898BFC}"/>
              </a:ext>
            </a:extLst>
          </p:cNvPr>
          <p:cNvSpPr txBox="1">
            <a:spLocks noChangeArrowheads="1"/>
          </p:cNvSpPr>
          <p:nvPr/>
        </p:nvSpPr>
        <p:spPr bwMode="auto">
          <a:xfrm>
            <a:off x="1948767" y="5195114"/>
            <a:ext cx="1306940" cy="463846"/>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sym typeface="Symbol" panose="05050102010706020507" pitchFamily="18" charset="2"/>
              </a:rPr>
              <a:t>Radio </a:t>
            </a:r>
          </a:p>
        </p:txBody>
      </p:sp>
      <p:sp>
        <p:nvSpPr>
          <p:cNvPr id="63" name="Line 59">
            <a:extLst>
              <a:ext uri="{FF2B5EF4-FFF2-40B4-BE49-F238E27FC236}">
                <a16:creationId xmlns:a16="http://schemas.microsoft.com/office/drawing/2014/main" id="{C73FBC81-4750-4985-A2A0-88FC9E67B320}"/>
              </a:ext>
            </a:extLst>
          </p:cNvPr>
          <p:cNvSpPr>
            <a:spLocks noChangeShapeType="1"/>
          </p:cNvSpPr>
          <p:nvPr/>
        </p:nvSpPr>
        <p:spPr bwMode="auto">
          <a:xfrm flipV="1">
            <a:off x="2611121" y="2302271"/>
            <a:ext cx="2908464" cy="1838125"/>
          </a:xfrm>
          <a:prstGeom prst="line">
            <a:avLst/>
          </a:prstGeom>
          <a:noFill/>
          <a:ln w="25400">
            <a:solidFill>
              <a:srgbClr val="3333FF"/>
            </a:solidFill>
            <a:round/>
            <a:headEnd type="none" w="med" len="med"/>
            <a:tailEnd type="none" w="med" len="med"/>
          </a:ln>
          <a:extLst>
            <a:ext uri="{909E8E84-426E-40DD-AFC4-6F175D3DCCD1}">
              <a14:hiddenFill xmlns:a14="http://schemas.microsoft.com/office/drawing/2010/main">
                <a:noFill/>
              </a14:hiddenFill>
            </a:ext>
          </a:extLst>
        </p:spPr>
        <p:txBody>
          <a:bodyPr wrap="square" lIns="90000" tIns="46800" rIns="90000" bIns="46800">
            <a:noAutofit/>
          </a:bodyPr>
          <a:lstStyle/>
          <a:p>
            <a:endParaRPr lang="en-GB" sz="2400"/>
          </a:p>
        </p:txBody>
      </p:sp>
      <p:sp>
        <p:nvSpPr>
          <p:cNvPr id="64" name="Oval 47">
            <a:extLst>
              <a:ext uri="{FF2B5EF4-FFF2-40B4-BE49-F238E27FC236}">
                <a16:creationId xmlns:a16="http://schemas.microsoft.com/office/drawing/2014/main" id="{7AA7150B-3BFE-4577-8A64-1043BDE0A5F7}"/>
              </a:ext>
            </a:extLst>
          </p:cNvPr>
          <p:cNvSpPr>
            <a:spLocks noChangeArrowheads="1"/>
          </p:cNvSpPr>
          <p:nvPr/>
        </p:nvSpPr>
        <p:spPr bwMode="auto">
          <a:xfrm>
            <a:off x="5451683" y="1846575"/>
            <a:ext cx="594115" cy="563923"/>
          </a:xfrm>
          <a:prstGeom prst="ellipse">
            <a:avLst/>
          </a:prstGeom>
          <a:noFill/>
          <a:ln w="25400"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65" name="Text Box 81">
            <a:extLst>
              <a:ext uri="{FF2B5EF4-FFF2-40B4-BE49-F238E27FC236}">
                <a16:creationId xmlns:a16="http://schemas.microsoft.com/office/drawing/2014/main" id="{6C3D9DE6-AC03-488C-A840-DD7BAD34C822}"/>
              </a:ext>
            </a:extLst>
          </p:cNvPr>
          <p:cNvSpPr txBox="1">
            <a:spLocks noChangeArrowheads="1"/>
          </p:cNvSpPr>
          <p:nvPr/>
        </p:nvSpPr>
        <p:spPr bwMode="auto">
          <a:xfrm>
            <a:off x="8319815" y="322324"/>
            <a:ext cx="2038194" cy="463846"/>
          </a:xfrm>
          <a:prstGeom prst="rect">
            <a:avLst/>
          </a:prstGeom>
          <a:solidFill>
            <a:schemeClr val="bg2">
              <a:lumMod val="60000"/>
              <a:lumOff val="40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defRPr/>
            </a:pPr>
            <a:r>
              <a:rPr lang="es-ES" sz="2400" dirty="0">
                <a:latin typeface="Arial" panose="020B0604020202020204" pitchFamily="34" charset="0"/>
              </a:rPr>
              <a:t>Situación 2</a:t>
            </a:r>
            <a:endParaRPr lang="es-ES" sz="2400" dirty="0">
              <a:latin typeface="Arial" panose="020B0604020202020204" pitchFamily="34" charset="0"/>
              <a:sym typeface="Symbol" panose="05050102010706020507" pitchFamily="18" charset="2"/>
            </a:endParaRPr>
          </a:p>
        </p:txBody>
      </p:sp>
      <p:sp>
        <p:nvSpPr>
          <p:cNvPr id="7" name="Text Box 54">
            <a:extLst>
              <a:ext uri="{FF2B5EF4-FFF2-40B4-BE49-F238E27FC236}">
                <a16:creationId xmlns:a16="http://schemas.microsoft.com/office/drawing/2014/main" id="{38BEF812-86AF-3399-D51B-B7040427FFED}"/>
              </a:ext>
            </a:extLst>
          </p:cNvPr>
          <p:cNvSpPr txBox="1">
            <a:spLocks noChangeArrowheads="1"/>
          </p:cNvSpPr>
          <p:nvPr/>
        </p:nvSpPr>
        <p:spPr bwMode="auto">
          <a:xfrm>
            <a:off x="1574463" y="4140397"/>
            <a:ext cx="2055548" cy="833178"/>
          </a:xfrm>
          <a:prstGeom prst="rect">
            <a:avLst/>
          </a:prstGeom>
          <a:solidFill>
            <a:schemeClr val="accent5"/>
          </a:solidFill>
          <a:ln w="25400" algn="ctr">
            <a:noFill/>
            <a:miter lim="800000"/>
            <a:headEnd/>
            <a:tailEnd/>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Densidad de  </a:t>
            </a:r>
            <a:r>
              <a:rPr lang="es-ES" sz="2400">
                <a:latin typeface="Arial" panose="020B0604020202020204" pitchFamily="34" charset="0"/>
              </a:rPr>
              <a:t>líneas menor</a:t>
            </a:r>
            <a:endParaRPr lang="es-ES" sz="2400" dirty="0">
              <a:latin typeface="Arial" panose="020B0604020202020204" pitchFamily="34" charset="0"/>
            </a:endParaRPr>
          </a:p>
        </p:txBody>
      </p:sp>
    </p:spTree>
    <p:extLst>
      <p:ext uri="{BB962C8B-B14F-4D97-AF65-F5344CB8AC3E}">
        <p14:creationId xmlns:p14="http://schemas.microsoft.com/office/powerpoint/2010/main" val="36069435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arn(outVertical)">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736"/>
                                        </p:tgtEl>
                                        <p:attrNameLst>
                                          <p:attrName>style.visibility</p:attrName>
                                        </p:attrNameLst>
                                      </p:cBhvr>
                                      <p:to>
                                        <p:strVal val="visible"/>
                                      </p:to>
                                    </p:set>
                                    <p:animEffect transition="in" filter="wipe(up)">
                                      <p:cBhvr>
                                        <p:cTn id="12" dur="500"/>
                                        <p:tgtEl>
                                          <p:spTgt spid="2973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4338"/>
                                        </p:tgtEl>
                                        <p:attrNameLst>
                                          <p:attrName>style.visibility</p:attrName>
                                        </p:attrNameLst>
                                      </p:cBhvr>
                                      <p:to>
                                        <p:strVal val="visible"/>
                                      </p:to>
                                    </p:set>
                                    <p:animEffect transition="in" filter="dissolve">
                                      <p:cBhvr>
                                        <p:cTn id="16" dur="500"/>
                                        <p:tgtEl>
                                          <p:spTgt spid="143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9737"/>
                                        </p:tgtEl>
                                        <p:attrNameLst>
                                          <p:attrName>style.visibility</p:attrName>
                                        </p:attrNameLst>
                                      </p:cBhvr>
                                      <p:to>
                                        <p:strVal val="visible"/>
                                      </p:to>
                                    </p:set>
                                    <p:animEffect transition="in" filter="wipe(up)">
                                      <p:cBhvr>
                                        <p:cTn id="21" dur="500"/>
                                        <p:tgtEl>
                                          <p:spTgt spid="29737"/>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272" fill="hold" grpId="0" nodeType="clickEffect">
                                  <p:stCondLst>
                                    <p:cond delay="0"/>
                                  </p:stCondLst>
                                  <p:childTnLst>
                                    <p:set>
                                      <p:cBhvr>
                                        <p:cTn id="25" dur="1" fill="hold">
                                          <p:stCondLst>
                                            <p:cond delay="0"/>
                                          </p:stCondLst>
                                        </p:cTn>
                                        <p:tgtEl>
                                          <p:spTgt spid="29726"/>
                                        </p:tgtEl>
                                        <p:attrNameLst>
                                          <p:attrName>style.visibility</p:attrName>
                                        </p:attrNameLst>
                                      </p:cBhvr>
                                      <p:to>
                                        <p:strVal val="visible"/>
                                      </p:to>
                                    </p:set>
                                    <p:anim calcmode="lin" valueType="num">
                                      <p:cBhvr>
                                        <p:cTn id="26" dur="500" fill="hold"/>
                                        <p:tgtEl>
                                          <p:spTgt spid="29726"/>
                                        </p:tgtEl>
                                        <p:attrNameLst>
                                          <p:attrName>ppt_w</p:attrName>
                                        </p:attrNameLst>
                                      </p:cBhvr>
                                      <p:tavLst>
                                        <p:tav tm="0">
                                          <p:val>
                                            <p:strVal val="2/3*#ppt_w"/>
                                          </p:val>
                                        </p:tav>
                                        <p:tav tm="100000">
                                          <p:val>
                                            <p:strVal val="#ppt_w"/>
                                          </p:val>
                                        </p:tav>
                                      </p:tavLst>
                                    </p:anim>
                                    <p:anim calcmode="lin" valueType="num">
                                      <p:cBhvr>
                                        <p:cTn id="27" dur="500" fill="hold"/>
                                        <p:tgtEl>
                                          <p:spTgt spid="29726"/>
                                        </p:tgtEl>
                                        <p:attrNameLst>
                                          <p:attrName>ppt_h</p:attrName>
                                        </p:attrNameLst>
                                      </p:cBhvr>
                                      <p:tavLst>
                                        <p:tav tm="0">
                                          <p:val>
                                            <p:strVal val="2/3*#ppt_h"/>
                                          </p:val>
                                        </p:tav>
                                        <p:tav tm="100000">
                                          <p:val>
                                            <p:strVal val="#ppt_h"/>
                                          </p:val>
                                        </p:tav>
                                      </p:tavLst>
                                    </p:anim>
                                  </p:childTnLst>
                                </p:cTn>
                              </p:par>
                              <p:par>
                                <p:cTn id="28" presetID="23" presetClass="entr" presetSubtype="272" fill="hold" grpId="0" nodeType="withEffect">
                                  <p:stCondLst>
                                    <p:cond delay="0"/>
                                  </p:stCondLst>
                                  <p:childTnLst>
                                    <p:set>
                                      <p:cBhvr>
                                        <p:cTn id="29" dur="1" fill="hold">
                                          <p:stCondLst>
                                            <p:cond delay="0"/>
                                          </p:stCondLst>
                                        </p:cTn>
                                        <p:tgtEl>
                                          <p:spTgt spid="29725"/>
                                        </p:tgtEl>
                                        <p:attrNameLst>
                                          <p:attrName>style.visibility</p:attrName>
                                        </p:attrNameLst>
                                      </p:cBhvr>
                                      <p:to>
                                        <p:strVal val="visible"/>
                                      </p:to>
                                    </p:set>
                                    <p:anim calcmode="lin" valueType="num">
                                      <p:cBhvr>
                                        <p:cTn id="30" dur="500" fill="hold"/>
                                        <p:tgtEl>
                                          <p:spTgt spid="29725"/>
                                        </p:tgtEl>
                                        <p:attrNameLst>
                                          <p:attrName>ppt_w</p:attrName>
                                        </p:attrNameLst>
                                      </p:cBhvr>
                                      <p:tavLst>
                                        <p:tav tm="0">
                                          <p:val>
                                            <p:strVal val="2/3*#ppt_w"/>
                                          </p:val>
                                        </p:tav>
                                        <p:tav tm="100000">
                                          <p:val>
                                            <p:strVal val="#ppt_w"/>
                                          </p:val>
                                        </p:tav>
                                      </p:tavLst>
                                    </p:anim>
                                    <p:anim calcmode="lin" valueType="num">
                                      <p:cBhvr>
                                        <p:cTn id="31" dur="500" fill="hold"/>
                                        <p:tgtEl>
                                          <p:spTgt spid="29725"/>
                                        </p:tgtEl>
                                        <p:attrNameLst>
                                          <p:attrName>ppt_h</p:attrName>
                                        </p:attrNameLst>
                                      </p:cBhvr>
                                      <p:tavLst>
                                        <p:tav tm="0">
                                          <p:val>
                                            <p:strVal val="2/3*#ppt_h"/>
                                          </p:val>
                                        </p:tav>
                                        <p:tav tm="100000">
                                          <p:val>
                                            <p:strVal val="#ppt_h"/>
                                          </p:val>
                                        </p:tav>
                                      </p:tavLst>
                                    </p:anim>
                                  </p:childTnLst>
                                </p:cTn>
                              </p:par>
                              <p:par>
                                <p:cTn id="32" presetID="23" presetClass="entr" presetSubtype="272" fill="hold" grpId="0" nodeType="withEffect">
                                  <p:stCondLst>
                                    <p:cond delay="0"/>
                                  </p:stCondLst>
                                  <p:childTnLst>
                                    <p:set>
                                      <p:cBhvr>
                                        <p:cTn id="33" dur="1" fill="hold">
                                          <p:stCondLst>
                                            <p:cond delay="0"/>
                                          </p:stCondLst>
                                        </p:cTn>
                                        <p:tgtEl>
                                          <p:spTgt spid="29724"/>
                                        </p:tgtEl>
                                        <p:attrNameLst>
                                          <p:attrName>style.visibility</p:attrName>
                                        </p:attrNameLst>
                                      </p:cBhvr>
                                      <p:to>
                                        <p:strVal val="visible"/>
                                      </p:to>
                                    </p:set>
                                    <p:anim calcmode="lin" valueType="num">
                                      <p:cBhvr>
                                        <p:cTn id="34" dur="500" fill="hold"/>
                                        <p:tgtEl>
                                          <p:spTgt spid="29724"/>
                                        </p:tgtEl>
                                        <p:attrNameLst>
                                          <p:attrName>ppt_w</p:attrName>
                                        </p:attrNameLst>
                                      </p:cBhvr>
                                      <p:tavLst>
                                        <p:tav tm="0">
                                          <p:val>
                                            <p:strVal val="2/3*#ppt_w"/>
                                          </p:val>
                                        </p:tav>
                                        <p:tav tm="100000">
                                          <p:val>
                                            <p:strVal val="#ppt_w"/>
                                          </p:val>
                                        </p:tav>
                                      </p:tavLst>
                                    </p:anim>
                                    <p:anim calcmode="lin" valueType="num">
                                      <p:cBhvr>
                                        <p:cTn id="35" dur="500" fill="hold"/>
                                        <p:tgtEl>
                                          <p:spTgt spid="29724"/>
                                        </p:tgtEl>
                                        <p:attrNameLst>
                                          <p:attrName>ppt_h</p:attrName>
                                        </p:attrNameLst>
                                      </p:cBhvr>
                                      <p:tavLst>
                                        <p:tav tm="0">
                                          <p:val>
                                            <p:strVal val="2/3*#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64"/>
                                        </p:tgtEl>
                                        <p:attrNameLst>
                                          <p:attrName>style.visibility</p:attrName>
                                        </p:attrNameLst>
                                      </p:cBhvr>
                                      <p:to>
                                        <p:strVal val="visible"/>
                                      </p:to>
                                    </p:set>
                                    <p:anim calcmode="lin" valueType="num">
                                      <p:cBhvr>
                                        <p:cTn id="45" dur="500" fill="hold"/>
                                        <p:tgtEl>
                                          <p:spTgt spid="64"/>
                                        </p:tgtEl>
                                        <p:attrNameLst>
                                          <p:attrName>ppt_w</p:attrName>
                                        </p:attrNameLst>
                                      </p:cBhvr>
                                      <p:tavLst>
                                        <p:tav tm="0">
                                          <p:val>
                                            <p:fltVal val="0"/>
                                          </p:val>
                                        </p:tav>
                                        <p:tav tm="100000">
                                          <p:val>
                                            <p:strVal val="#ppt_w"/>
                                          </p:val>
                                        </p:tav>
                                      </p:tavLst>
                                    </p:anim>
                                    <p:anim calcmode="lin" valueType="num">
                                      <p:cBhvr>
                                        <p:cTn id="46"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wipe(up)">
                                      <p:cBhvr>
                                        <p:cTn id="51" dur="500"/>
                                        <p:tgtEl>
                                          <p:spTgt spid="63"/>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up)">
                                      <p:cBhvr>
                                        <p:cTn id="55" dur="500"/>
                                        <p:tgtEl>
                                          <p:spTgt spid="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wipe(up)">
                                      <p:cBhvr>
                                        <p:cTn id="60" dur="500"/>
                                        <p:tgtEl>
                                          <p:spTgt spid="4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62"/>
                                        </p:tgtEl>
                                        <p:attrNameLst>
                                          <p:attrName>style.visibility</p:attrName>
                                        </p:attrNameLst>
                                      </p:cBhvr>
                                      <p:to>
                                        <p:strVal val="visible"/>
                                      </p:to>
                                    </p:set>
                                    <p:animEffect transition="in" filter="wipe(up)">
                                      <p:cBhvr>
                                        <p:cTn id="65" dur="500"/>
                                        <p:tgtEl>
                                          <p:spTgt spid="6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wipe(up)">
                                      <p:cBhvr>
                                        <p:cTn id="70" dur="500"/>
                                        <p:tgtEl>
                                          <p:spTgt spid="48"/>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1" fill="hold" grpId="0" nodeType="clickEffect">
                                  <p:stCondLst>
                                    <p:cond delay="0"/>
                                  </p:stCondLst>
                                  <p:childTnLst>
                                    <p:set>
                                      <p:cBhvr>
                                        <p:cTn id="74" dur="1" fill="hold">
                                          <p:stCondLst>
                                            <p:cond delay="0"/>
                                          </p:stCondLst>
                                        </p:cTn>
                                        <p:tgtEl>
                                          <p:spTgt spid="49"/>
                                        </p:tgtEl>
                                        <p:attrNameLst>
                                          <p:attrName>style.visibility</p:attrName>
                                        </p:attrNameLst>
                                      </p:cBhvr>
                                      <p:to>
                                        <p:strVal val="visible"/>
                                      </p:to>
                                    </p:set>
                                    <p:anim calcmode="lin" valueType="num">
                                      <p:cBhvr additive="base">
                                        <p:cTn id="75" dur="500"/>
                                        <p:tgtEl>
                                          <p:spTgt spid="49"/>
                                        </p:tgtEl>
                                        <p:attrNameLst>
                                          <p:attrName>ppt_y</p:attrName>
                                        </p:attrNameLst>
                                      </p:cBhvr>
                                      <p:tavLst>
                                        <p:tav tm="0">
                                          <p:val>
                                            <p:strVal val="#ppt_y-#ppt_h*1.125000"/>
                                          </p:val>
                                        </p:tav>
                                        <p:tav tm="100000">
                                          <p:val>
                                            <p:strVal val="#ppt_y"/>
                                          </p:val>
                                        </p:tav>
                                      </p:tavLst>
                                    </p:anim>
                                    <p:animEffect transition="in" filter="wipe(down)">
                                      <p:cBhvr>
                                        <p:cTn id="7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6" grpId="0" animBg="1"/>
      <p:bldP spid="29737" grpId="0"/>
      <p:bldP spid="29724" grpId="0" animBg="1"/>
      <p:bldP spid="29725" grpId="0" animBg="1"/>
      <p:bldP spid="29726" grpId="0" animBg="1"/>
      <p:bldP spid="48" grpId="0" animBg="1"/>
      <p:bldP spid="49" grpId="0" animBg="1"/>
      <p:bldP spid="62" grpId="0" animBg="1"/>
      <p:bldP spid="63" grpId="0" animBg="1"/>
      <p:bldP spid="64" grpId="0" animBg="1"/>
      <p:bldP spid="65"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5" name="Text Box 104"/>
          <p:cNvSpPr txBox="1">
            <a:spLocks noChangeArrowheads="1"/>
          </p:cNvSpPr>
          <p:nvPr/>
        </p:nvSpPr>
        <p:spPr bwMode="auto">
          <a:xfrm>
            <a:off x="1320800" y="3978795"/>
            <a:ext cx="9293564" cy="833178"/>
          </a:xfrm>
          <a:prstGeom prst="rect">
            <a:avLst/>
          </a:prstGeom>
          <a:solidFill>
            <a:schemeClr val="accent1">
              <a:lumMod val="60000"/>
              <a:lumOff val="40000"/>
            </a:schemeClr>
          </a:solidFill>
          <a:ln>
            <a:noFill/>
          </a:ln>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dirty="0">
                <a:latin typeface="Arial" panose="020B0604020202020204" pitchFamily="34" charset="0"/>
              </a:rPr>
              <a:t>Si los e</a:t>
            </a:r>
            <a:r>
              <a:rPr lang="es-ES" sz="2400" baseline="30000" dirty="0">
                <a:latin typeface="Arial" panose="020B0604020202020204" pitchFamily="34" charset="0"/>
              </a:rPr>
              <a:t>-</a:t>
            </a:r>
            <a:r>
              <a:rPr lang="es-ES" sz="2400" dirty="0">
                <a:latin typeface="Arial" panose="020B0604020202020204" pitchFamily="34" charset="0"/>
              </a:rPr>
              <a:t> adquieren suficiente E</a:t>
            </a:r>
            <a:r>
              <a:rPr lang="es-ES" sz="2400" baseline="-25000" dirty="0">
                <a:latin typeface="Arial" panose="020B0604020202020204" pitchFamily="34" charset="0"/>
              </a:rPr>
              <a:t>C</a:t>
            </a:r>
            <a:r>
              <a:rPr lang="es-ES" sz="2400" dirty="0">
                <a:latin typeface="Arial" panose="020B0604020202020204" pitchFamily="34" charset="0"/>
              </a:rPr>
              <a:t> para ionizar al colisionar con el medio,</a:t>
            </a:r>
            <a:r>
              <a:rPr lang="es-ES" sz="2400" dirty="0">
                <a:latin typeface="Arial" panose="020B0604020202020204" pitchFamily="34" charset="0"/>
                <a:sym typeface="Symbol" panose="05050102010706020507" pitchFamily="18" charset="2"/>
              </a:rPr>
              <a:t> se tiene una </a:t>
            </a:r>
            <a:r>
              <a:rPr lang="es-ES" sz="2400" dirty="0">
                <a:solidFill>
                  <a:srgbClr val="008000"/>
                </a:solidFill>
                <a:latin typeface="Arial" panose="020B0604020202020204" pitchFamily="34" charset="0"/>
                <a:sym typeface="Symbol" panose="05050102010706020507" pitchFamily="18" charset="2"/>
              </a:rPr>
              <a:t>avalancha</a:t>
            </a:r>
            <a:r>
              <a:rPr lang="es-ES" sz="2400" dirty="0">
                <a:latin typeface="Arial" panose="020B0604020202020204" pitchFamily="34" charset="0"/>
                <a:sym typeface="Symbol" panose="05050102010706020507" pitchFamily="18" charset="2"/>
              </a:rPr>
              <a:t>, un aumento notable de la corriente</a:t>
            </a:r>
          </a:p>
        </p:txBody>
      </p:sp>
      <p:sp>
        <p:nvSpPr>
          <p:cNvPr id="15398" name="Text Box 94"/>
          <p:cNvSpPr txBox="1">
            <a:spLocks noChangeArrowheads="1"/>
          </p:cNvSpPr>
          <p:nvPr/>
        </p:nvSpPr>
        <p:spPr bwMode="auto">
          <a:xfrm>
            <a:off x="1310641" y="4893802"/>
            <a:ext cx="9303723" cy="120251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sym typeface="Symbol" panose="05050102010706020507" pitchFamily="18" charset="2"/>
              </a:rPr>
              <a:t>La interacción de los e</a:t>
            </a:r>
            <a:r>
              <a:rPr lang="es-ES" sz="2400" baseline="300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 con el medio produce su </a:t>
            </a:r>
            <a:r>
              <a:rPr lang="es-ES" sz="2400" dirty="0">
                <a:solidFill>
                  <a:srgbClr val="3333FF"/>
                </a:solidFill>
                <a:latin typeface="Arial" panose="020B0604020202020204" pitchFamily="34" charset="0"/>
                <a:sym typeface="Symbol" panose="05050102010706020507" pitchFamily="18" charset="2"/>
              </a:rPr>
              <a:t>calentamiento</a:t>
            </a:r>
            <a:r>
              <a:rPr lang="es-ES" sz="2400" dirty="0">
                <a:latin typeface="Arial" panose="020B0604020202020204" pitchFamily="34" charset="0"/>
                <a:sym typeface="Symbol" panose="05050102010706020507" pitchFamily="18" charset="2"/>
              </a:rPr>
              <a:t>,</a:t>
            </a:r>
          </a:p>
          <a:p>
            <a:pPr algn="ctr" eaLnBrk="1" hangingPunct="1">
              <a:spcBef>
                <a:spcPts val="0"/>
              </a:spcBef>
              <a:buFontTx/>
              <a:buNone/>
            </a:pPr>
            <a:r>
              <a:rPr lang="es-ES" sz="2400" dirty="0">
                <a:latin typeface="Arial" panose="020B0604020202020204" pitchFamily="34" charset="0"/>
                <a:sym typeface="Symbol" panose="05050102010706020507" pitchFamily="18" charset="2"/>
              </a:rPr>
              <a:t>y esto puede dar lugar a: rayos, truenos, arcos, chispazos, petardazos, y al daño o quemado de componentes en circuitos</a:t>
            </a:r>
          </a:p>
        </p:txBody>
      </p:sp>
      <p:sp>
        <p:nvSpPr>
          <p:cNvPr id="31765" name="Text Box 101"/>
          <p:cNvSpPr txBox="1">
            <a:spLocks noChangeArrowheads="1"/>
          </p:cNvSpPr>
          <p:nvPr/>
        </p:nvSpPr>
        <p:spPr bwMode="auto">
          <a:xfrm>
            <a:off x="7900761" y="2939180"/>
            <a:ext cx="2238704" cy="884070"/>
          </a:xfrm>
          <a:prstGeom prst="rect">
            <a:avLst/>
          </a:prstGeom>
          <a:solidFill>
            <a:srgbClr val="FFFF00"/>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a:latin typeface="Arial" panose="020B0604020202020204" pitchFamily="34" charset="0"/>
              </a:rPr>
              <a:t>Se producen corrientes</a:t>
            </a:r>
          </a:p>
        </p:txBody>
      </p:sp>
      <p:sp>
        <p:nvSpPr>
          <p:cNvPr id="31761" name="Text Box 67"/>
          <p:cNvSpPr txBox="1">
            <a:spLocks noChangeArrowheads="1"/>
          </p:cNvSpPr>
          <p:nvPr/>
        </p:nvSpPr>
        <p:spPr bwMode="auto">
          <a:xfrm>
            <a:off x="1227080" y="155819"/>
            <a:ext cx="5373420" cy="905881"/>
          </a:xfrm>
          <a:prstGeom prst="rect">
            <a:avLst/>
          </a:prstGeom>
          <a:solidFill>
            <a:schemeClr val="tx2">
              <a:lumMod val="25000"/>
              <a:lumOff val="75000"/>
            </a:schemeClr>
          </a:solidFill>
          <a:ln>
            <a:noFill/>
          </a:ln>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Si en un aislante |</a:t>
            </a:r>
            <a:r>
              <a:rPr lang="es-ES" sz="2400" b="1" dirty="0">
                <a:latin typeface="Arial" panose="020B0604020202020204" pitchFamily="34" charset="0"/>
              </a:rPr>
              <a:t>E</a:t>
            </a:r>
            <a:r>
              <a:rPr lang="es-ES" sz="2400" dirty="0">
                <a:latin typeface="Arial" panose="020B0604020202020204" pitchFamily="34" charset="0"/>
              </a:rPr>
              <a:t>| &gt; cierto valor </a:t>
            </a:r>
            <a:r>
              <a:rPr lang="es-ES" sz="2400" dirty="0">
                <a:latin typeface="Arial" panose="020B0604020202020204" pitchFamily="34" charset="0"/>
                <a:cs typeface="Arial" panose="020B0604020202020204" pitchFamily="34" charset="0"/>
              </a:rPr>
              <a:t>(rigidez dieléctrica, tensión de ruptura)</a:t>
            </a:r>
            <a:endParaRPr lang="es-ES" sz="2400" dirty="0">
              <a:latin typeface="Arial" panose="020B0604020202020204" pitchFamily="34" charset="0"/>
              <a:cs typeface="Arial" panose="020B0604020202020204" pitchFamily="34" charset="0"/>
              <a:sym typeface="Symbol" panose="05050102010706020507" pitchFamily="18" charset="2"/>
            </a:endParaRPr>
          </a:p>
        </p:txBody>
      </p:sp>
      <p:sp>
        <p:nvSpPr>
          <p:cNvPr id="31757" name="Text Box 60"/>
          <p:cNvSpPr txBox="1">
            <a:spLocks noChangeArrowheads="1"/>
          </p:cNvSpPr>
          <p:nvPr/>
        </p:nvSpPr>
        <p:spPr bwMode="auto">
          <a:xfrm>
            <a:off x="7900760" y="1997097"/>
            <a:ext cx="2238703" cy="833178"/>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dirty="0">
                <a:solidFill>
                  <a:srgbClr val="FFFFFF"/>
                </a:solidFill>
                <a:latin typeface="Arial" panose="020B0604020202020204" pitchFamily="34" charset="0"/>
              </a:rPr>
              <a:t>RUPTURA DIELÉCTRICA</a:t>
            </a:r>
          </a:p>
        </p:txBody>
      </p:sp>
      <p:grpSp>
        <p:nvGrpSpPr>
          <p:cNvPr id="2" name="Grupo 1"/>
          <p:cNvGrpSpPr>
            <a:grpSpLocks/>
          </p:cNvGrpSpPr>
          <p:nvPr/>
        </p:nvGrpSpPr>
        <p:grpSpPr bwMode="auto">
          <a:xfrm>
            <a:off x="6710790" y="147571"/>
            <a:ext cx="3917189" cy="916496"/>
            <a:chOff x="5212570" y="1126385"/>
            <a:chExt cx="4619724" cy="918881"/>
          </a:xfrm>
        </p:grpSpPr>
        <p:sp>
          <p:nvSpPr>
            <p:cNvPr id="31766" name="Text Box 96"/>
            <p:cNvSpPr txBox="1">
              <a:spLocks noChangeArrowheads="1"/>
            </p:cNvSpPr>
            <p:nvPr/>
          </p:nvSpPr>
          <p:spPr bwMode="auto">
            <a:xfrm>
              <a:off x="5588053" y="1126385"/>
              <a:ext cx="4244241" cy="918881"/>
            </a:xfrm>
            <a:prstGeom prst="rect">
              <a:avLst/>
            </a:prstGeom>
            <a:solidFill>
              <a:srgbClr val="FFFF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El </a:t>
              </a:r>
              <a:r>
                <a:rPr lang="es-ES" sz="2400" b="1" dirty="0">
                  <a:latin typeface="Arial" panose="020B0604020202020204" pitchFamily="34" charset="0"/>
                </a:rPr>
                <a:t>E</a:t>
              </a:r>
              <a:r>
                <a:rPr lang="es-ES" sz="2400" dirty="0">
                  <a:latin typeface="Arial" panose="020B0604020202020204" pitchFamily="34" charset="0"/>
                </a:rPr>
                <a:t> es capaz de extraer e</a:t>
              </a:r>
              <a:r>
                <a:rPr lang="es-ES" sz="2400" baseline="30000" dirty="0">
                  <a:latin typeface="Arial" panose="020B0604020202020204" pitchFamily="34" charset="0"/>
                </a:rPr>
                <a:t>-</a:t>
              </a:r>
              <a:r>
                <a:rPr lang="es-ES" sz="2400" dirty="0">
                  <a:latin typeface="Arial" panose="020B0604020202020204" pitchFamily="34" charset="0"/>
                </a:rPr>
                <a:t> de átomos (ionizar)</a:t>
              </a:r>
            </a:p>
          </p:txBody>
        </p:sp>
        <p:sp>
          <p:nvSpPr>
            <p:cNvPr id="31767" name="Flecha abajo 22"/>
            <p:cNvSpPr>
              <a:spLocks noChangeArrowheads="1"/>
            </p:cNvSpPr>
            <p:nvPr/>
          </p:nvSpPr>
          <p:spPr bwMode="auto">
            <a:xfrm rot="16200000">
              <a:off x="4997257" y="1441167"/>
              <a:ext cx="720610" cy="289984"/>
            </a:xfrm>
            <a:prstGeom prst="downArrow">
              <a:avLst>
                <a:gd name="adj1" fmla="val 50000"/>
                <a:gd name="adj2" fmla="val 50000"/>
              </a:avLst>
            </a:prstGeom>
            <a:solidFill>
              <a:schemeClr val="accent1"/>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n-US" sz="2400"/>
            </a:p>
          </p:txBody>
        </p:sp>
      </p:grpSp>
      <p:sp>
        <p:nvSpPr>
          <p:cNvPr id="31764" name="Text Box 93"/>
          <p:cNvSpPr txBox="1">
            <a:spLocks noChangeArrowheads="1"/>
          </p:cNvSpPr>
          <p:nvPr/>
        </p:nvSpPr>
        <p:spPr bwMode="auto">
          <a:xfrm>
            <a:off x="1335356" y="1992804"/>
            <a:ext cx="6535908"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sym typeface="Wingdings" panose="05000000000000000000" pitchFamily="2" charset="2"/>
              </a:rPr>
              <a:t> </a:t>
            </a:r>
            <a:r>
              <a:rPr lang="es-ES" sz="2400">
                <a:latin typeface="Arial" panose="020B0604020202020204" pitchFamily="34" charset="0"/>
                <a:sym typeface="Symbol" panose="05050102010706020507" pitchFamily="18" charset="2"/>
              </a:rPr>
              <a:t>Donde </a:t>
            </a:r>
            <a:r>
              <a:rPr lang="es-ES" sz="2400" dirty="0">
                <a:latin typeface="Arial" panose="020B0604020202020204" pitchFamily="34" charset="0"/>
                <a:sym typeface="Symbol" panose="05050102010706020507" pitchFamily="18" charset="2"/>
              </a:rPr>
              <a:t>ocurra en un medio aislante, el medio se hace conductor, y se dice que se produce:</a:t>
            </a:r>
          </a:p>
        </p:txBody>
      </p:sp>
      <p:sp>
        <p:nvSpPr>
          <p:cNvPr id="31762" name="Text Box 100"/>
          <p:cNvSpPr txBox="1">
            <a:spLocks noChangeArrowheads="1"/>
          </p:cNvSpPr>
          <p:nvPr/>
        </p:nvSpPr>
        <p:spPr bwMode="auto">
          <a:xfrm>
            <a:off x="1316798" y="2945723"/>
            <a:ext cx="6554466" cy="833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0000"/>
                </a:solidFill>
                <a:latin typeface="Arial" panose="020B0604020202020204" pitchFamily="34" charset="0"/>
                <a:sym typeface="Wingdings" panose="05000000000000000000" pitchFamily="2" charset="2"/>
              </a:rPr>
              <a:t> </a:t>
            </a:r>
            <a:r>
              <a:rPr lang="es-ES" sz="2400">
                <a:solidFill>
                  <a:srgbClr val="000000"/>
                </a:solidFill>
                <a:latin typeface="Arial" panose="020B0604020202020204" pitchFamily="34" charset="0"/>
              </a:rPr>
              <a:t>Los e</a:t>
            </a:r>
            <a:r>
              <a:rPr lang="es-ES" sz="2400" baseline="30000">
                <a:solidFill>
                  <a:srgbClr val="000000"/>
                </a:solidFill>
                <a:latin typeface="Arial" panose="020B0604020202020204" pitchFamily="34" charset="0"/>
              </a:rPr>
              <a:t>-</a:t>
            </a:r>
            <a:r>
              <a:rPr lang="es-ES" sz="2400">
                <a:solidFill>
                  <a:srgbClr val="000000"/>
                </a:solidFill>
                <a:latin typeface="Arial" panose="020B0604020202020204" pitchFamily="34" charset="0"/>
              </a:rPr>
              <a:t> extraídos, </a:t>
            </a:r>
            <a:r>
              <a:rPr lang="es-ES" sz="2400" dirty="0">
                <a:solidFill>
                  <a:srgbClr val="000000"/>
                </a:solidFill>
                <a:latin typeface="Arial" panose="020B0604020202020204" pitchFamily="34" charset="0"/>
              </a:rPr>
              <a:t>y </a:t>
            </a:r>
            <a:r>
              <a:rPr lang="es-ES" sz="2400">
                <a:solidFill>
                  <a:srgbClr val="000000"/>
                </a:solidFill>
                <a:latin typeface="Arial" panose="020B0604020202020204" pitchFamily="34" charset="0"/>
              </a:rPr>
              <a:t>los cationes </a:t>
            </a:r>
            <a:r>
              <a:rPr lang="es-ES" sz="2400" dirty="0">
                <a:solidFill>
                  <a:srgbClr val="000000"/>
                </a:solidFill>
                <a:latin typeface="Arial" panose="020B0604020202020204" pitchFamily="34" charset="0"/>
              </a:rPr>
              <a:t>si pueden, se mueven por la fuerza que sufren debida al </a:t>
            </a:r>
            <a:r>
              <a:rPr lang="es-ES" sz="2400" b="1" dirty="0">
                <a:latin typeface="Arial" panose="020B0604020202020204" pitchFamily="34" charset="0"/>
              </a:rPr>
              <a:t>E</a:t>
            </a:r>
            <a:endParaRPr lang="es-ES" sz="2400" dirty="0">
              <a:latin typeface="Arial" panose="020B0604020202020204" pitchFamily="34" charset="0"/>
            </a:endParaRPr>
          </a:p>
        </p:txBody>
      </p:sp>
      <p:sp>
        <p:nvSpPr>
          <p:cNvPr id="31759" name="CuadroTexto 7"/>
          <p:cNvSpPr txBox="1">
            <a:spLocks noChangeArrowheads="1"/>
          </p:cNvSpPr>
          <p:nvPr/>
        </p:nvSpPr>
        <p:spPr bwMode="auto">
          <a:xfrm>
            <a:off x="1361440" y="6207776"/>
            <a:ext cx="8816043" cy="884070"/>
          </a:xfrm>
          <a:prstGeom prst="rect">
            <a:avLst/>
          </a:prstGeom>
          <a:solidFill>
            <a:srgbClr val="FFFF99"/>
          </a:solidFill>
          <a:ln>
            <a:noFill/>
          </a:ln>
        </p:spPr>
        <p:txBody>
          <a:bodyPr wrap="squar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No obstante, la </a:t>
            </a:r>
            <a:r>
              <a:rPr lang="es-ES" sz="2400" dirty="0"/>
              <a:t>ruptura puede </a:t>
            </a:r>
            <a:r>
              <a:rPr lang="es-ES" sz="2400"/>
              <a:t>ser deseada. En un fluorescente,</a:t>
            </a:r>
          </a:p>
          <a:p>
            <a:pPr algn="ctr"/>
            <a:r>
              <a:rPr lang="es-ES" sz="2400"/>
              <a:t>no LED, p.ej., se busca inicialmente para conseguir emitir </a:t>
            </a:r>
            <a:r>
              <a:rPr lang="es-ES" sz="2400" dirty="0"/>
              <a:t>luz</a:t>
            </a:r>
          </a:p>
        </p:txBody>
      </p:sp>
      <p:sp>
        <p:nvSpPr>
          <p:cNvPr id="17" name="CuadroTexto 16"/>
          <p:cNvSpPr txBox="1"/>
          <p:nvPr/>
        </p:nvSpPr>
        <p:spPr>
          <a:xfrm>
            <a:off x="2195461" y="1124718"/>
            <a:ext cx="7944001" cy="461665"/>
          </a:xfrm>
          <a:prstGeom prst="rect">
            <a:avLst/>
          </a:prstGeom>
          <a:noFill/>
        </p:spPr>
        <p:txBody>
          <a:bodyPr wrap="square" rtlCol="0">
            <a:spAutoFit/>
          </a:bodyPr>
          <a:lstStyle/>
          <a:p>
            <a:r>
              <a:rPr lang="es-ES" sz="2400" u="sng" dirty="0">
                <a:solidFill>
                  <a:srgbClr val="FF0000"/>
                </a:solidFill>
              </a:rPr>
              <a:t>Aire seco</a:t>
            </a:r>
            <a:r>
              <a:rPr lang="es-ES" sz="2400" dirty="0">
                <a:solidFill>
                  <a:srgbClr val="FF0000"/>
                </a:solidFill>
              </a:rPr>
              <a:t>: 3 MV/m = 3 10</a:t>
            </a:r>
            <a:r>
              <a:rPr lang="es-ES" sz="2400" baseline="30000" dirty="0">
                <a:solidFill>
                  <a:srgbClr val="FF0000"/>
                </a:solidFill>
              </a:rPr>
              <a:t>6</a:t>
            </a:r>
            <a:r>
              <a:rPr lang="es-ES" sz="2400" dirty="0">
                <a:solidFill>
                  <a:srgbClr val="FF0000"/>
                </a:solidFill>
              </a:rPr>
              <a:t> V/m = 3000 V/mm = </a:t>
            </a:r>
            <a:r>
              <a:rPr lang="es-ES" sz="2400">
                <a:solidFill>
                  <a:srgbClr val="FF0000"/>
                </a:solidFill>
              </a:rPr>
              <a:t>3    V</a:t>
            </a:r>
            <a:r>
              <a:rPr lang="es-ES" sz="2400" dirty="0">
                <a:solidFill>
                  <a:srgbClr val="FF0000"/>
                </a:solidFill>
              </a:rPr>
              <a:t>/</a:t>
            </a:r>
            <a:r>
              <a:rPr lang="es-ES" sz="2400" dirty="0">
                <a:solidFill>
                  <a:srgbClr val="FF0000"/>
                </a:solidFill>
                <a:sym typeface="Symbol" panose="05050102010706020507" pitchFamily="18" charset="2"/>
              </a:rPr>
              <a:t>m</a:t>
            </a:r>
            <a:endParaRPr lang="es-ES" sz="2400" dirty="0">
              <a:solidFill>
                <a:srgbClr val="FF0000"/>
              </a:solidFill>
            </a:endParaRPr>
          </a:p>
        </p:txBody>
      </p:sp>
      <p:sp>
        <p:nvSpPr>
          <p:cNvPr id="3" name="CuadroTexto 2">
            <a:extLst>
              <a:ext uri="{FF2B5EF4-FFF2-40B4-BE49-F238E27FC236}">
                <a16:creationId xmlns:a16="http://schemas.microsoft.com/office/drawing/2014/main" id="{228672F1-5834-5F04-DC48-D87F35D6C91B}"/>
              </a:ext>
            </a:extLst>
          </p:cNvPr>
          <p:cNvSpPr txBox="1"/>
          <p:nvPr/>
        </p:nvSpPr>
        <p:spPr>
          <a:xfrm>
            <a:off x="1745694" y="1476506"/>
            <a:ext cx="9055655" cy="461665"/>
          </a:xfrm>
          <a:prstGeom prst="rect">
            <a:avLst/>
          </a:prstGeom>
          <a:noFill/>
        </p:spPr>
        <p:txBody>
          <a:bodyPr wrap="square" rtlCol="0">
            <a:spAutoFit/>
          </a:bodyPr>
          <a:lstStyle/>
          <a:p>
            <a:r>
              <a:rPr lang="es-ES" sz="2400" u="sng">
                <a:solidFill>
                  <a:srgbClr val="FF0000"/>
                </a:solidFill>
              </a:rPr>
              <a:t>Aire húmedo</a:t>
            </a:r>
            <a:r>
              <a:rPr lang="es-ES" sz="2400">
                <a:solidFill>
                  <a:srgbClr val="FF0000"/>
                </a:solidFill>
              </a:rPr>
              <a:t>: 1  kV/m = 1 10</a:t>
            </a:r>
            <a:r>
              <a:rPr lang="es-ES" sz="2400" baseline="30000">
                <a:solidFill>
                  <a:srgbClr val="FF0000"/>
                </a:solidFill>
              </a:rPr>
              <a:t>3</a:t>
            </a:r>
            <a:r>
              <a:rPr lang="es-ES" sz="2400">
                <a:solidFill>
                  <a:srgbClr val="FF0000"/>
                </a:solidFill>
              </a:rPr>
              <a:t> V/m =       1 V/mm = 1 mV/</a:t>
            </a:r>
            <a:r>
              <a:rPr lang="es-ES" sz="2400">
                <a:solidFill>
                  <a:srgbClr val="FF0000"/>
                </a:solidFill>
                <a:sym typeface="Symbol" panose="05050102010706020507" pitchFamily="18" charset="2"/>
              </a:rPr>
              <a:t></a:t>
            </a:r>
            <a:r>
              <a:rPr lang="es-ES" sz="2400">
                <a:solidFill>
                  <a:srgbClr val="FF0000"/>
                </a:solidFill>
              </a:rPr>
              <a:t>m</a:t>
            </a:r>
            <a:endParaRPr lang="es-ES" sz="24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1761"/>
                                        </p:tgtEl>
                                        <p:attrNameLst>
                                          <p:attrName>style.visibility</p:attrName>
                                        </p:attrNameLst>
                                      </p:cBhvr>
                                      <p:to>
                                        <p:strVal val="visible"/>
                                      </p:to>
                                    </p:set>
                                    <p:animEffect transition="in" filter="wipe(up)">
                                      <p:cBhvr>
                                        <p:cTn id="7" dur="500"/>
                                        <p:tgtEl>
                                          <p:spTgt spid="317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p:tgtEl>
                                          <p:spTgt spid="17"/>
                                        </p:tgtEl>
                                        <p:attrNameLst>
                                          <p:attrName>ppt_y</p:attrName>
                                        </p:attrNameLst>
                                      </p:cBhvr>
                                      <p:tavLst>
                                        <p:tav tm="0">
                                          <p:val>
                                            <p:strVal val="#ppt_y+#ppt_h*1.125000"/>
                                          </p:val>
                                        </p:tav>
                                        <p:tav tm="100000">
                                          <p:val>
                                            <p:strVal val="#ppt_y"/>
                                          </p:val>
                                        </p:tav>
                                      </p:tavLst>
                                    </p:anim>
                                    <p:animEffect transition="in" filter="wipe(up)">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p:tgtEl>
                                          <p:spTgt spid="3"/>
                                        </p:tgtEl>
                                        <p:attrNameLst>
                                          <p:attrName>ppt_y</p:attrName>
                                        </p:attrNameLst>
                                      </p:cBhvr>
                                      <p:tavLst>
                                        <p:tav tm="0">
                                          <p:val>
                                            <p:strVal val="#ppt_y+#ppt_h*1.125000"/>
                                          </p:val>
                                        </p:tav>
                                        <p:tav tm="100000">
                                          <p:val>
                                            <p:strVal val="#ppt_y"/>
                                          </p:val>
                                        </p:tav>
                                      </p:tavLst>
                                    </p:anim>
                                    <p:animEffect transition="in" filter="wipe(up)">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1764"/>
                                        </p:tgtEl>
                                        <p:attrNameLst>
                                          <p:attrName>style.visibility</p:attrName>
                                        </p:attrNameLst>
                                      </p:cBhvr>
                                      <p:to>
                                        <p:strVal val="visible"/>
                                      </p:to>
                                    </p:set>
                                    <p:animEffect transition="in" filter="wipe(up)">
                                      <p:cBhvr>
                                        <p:cTn id="29" dur="500"/>
                                        <p:tgtEl>
                                          <p:spTgt spid="3176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5" fill="hold" grpId="0" nodeType="clickEffect">
                                  <p:stCondLst>
                                    <p:cond delay="0"/>
                                  </p:stCondLst>
                                  <p:childTnLst>
                                    <p:set>
                                      <p:cBhvr>
                                        <p:cTn id="33" dur="1" fill="hold">
                                          <p:stCondLst>
                                            <p:cond delay="0"/>
                                          </p:stCondLst>
                                        </p:cTn>
                                        <p:tgtEl>
                                          <p:spTgt spid="31757"/>
                                        </p:tgtEl>
                                        <p:attrNameLst>
                                          <p:attrName>style.visibility</p:attrName>
                                        </p:attrNameLst>
                                      </p:cBhvr>
                                      <p:to>
                                        <p:strVal val="visible"/>
                                      </p:to>
                                    </p:set>
                                    <p:animEffect transition="in" filter="blinds(vertical)">
                                      <p:cBhvr>
                                        <p:cTn id="34" dur="500"/>
                                        <p:tgtEl>
                                          <p:spTgt spid="3175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31762"/>
                                        </p:tgtEl>
                                        <p:attrNameLst>
                                          <p:attrName>style.visibility</p:attrName>
                                        </p:attrNameLst>
                                      </p:cBhvr>
                                      <p:to>
                                        <p:strVal val="visible"/>
                                      </p:to>
                                    </p:set>
                                    <p:animEffect transition="in" filter="wipe(up)">
                                      <p:cBhvr>
                                        <p:cTn id="39" dur="500"/>
                                        <p:tgtEl>
                                          <p:spTgt spid="31762"/>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37" fill="hold" grpId="0" nodeType="clickEffect">
                                  <p:stCondLst>
                                    <p:cond delay="0"/>
                                  </p:stCondLst>
                                  <p:childTnLst>
                                    <p:set>
                                      <p:cBhvr>
                                        <p:cTn id="43" dur="1" fill="hold">
                                          <p:stCondLst>
                                            <p:cond delay="0"/>
                                          </p:stCondLst>
                                        </p:cTn>
                                        <p:tgtEl>
                                          <p:spTgt spid="31765"/>
                                        </p:tgtEl>
                                        <p:attrNameLst>
                                          <p:attrName>style.visibility</p:attrName>
                                        </p:attrNameLst>
                                      </p:cBhvr>
                                      <p:to>
                                        <p:strVal val="visible"/>
                                      </p:to>
                                    </p:set>
                                    <p:animEffect transition="in" filter="barn(outVertical)">
                                      <p:cBhvr>
                                        <p:cTn id="44" dur="500"/>
                                        <p:tgtEl>
                                          <p:spTgt spid="3176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5405"/>
                                        </p:tgtEl>
                                        <p:attrNameLst>
                                          <p:attrName>style.visibility</p:attrName>
                                        </p:attrNameLst>
                                      </p:cBhvr>
                                      <p:to>
                                        <p:strVal val="visible"/>
                                      </p:to>
                                    </p:set>
                                    <p:animEffect transition="in" filter="wipe(up)">
                                      <p:cBhvr>
                                        <p:cTn id="49" dur="500"/>
                                        <p:tgtEl>
                                          <p:spTgt spid="1540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15398"/>
                                        </p:tgtEl>
                                        <p:attrNameLst>
                                          <p:attrName>style.visibility</p:attrName>
                                        </p:attrNameLst>
                                      </p:cBhvr>
                                      <p:to>
                                        <p:strVal val="visible"/>
                                      </p:to>
                                    </p:set>
                                    <p:animEffect transition="in" filter="wipe(up)">
                                      <p:cBhvr>
                                        <p:cTn id="54" dur="500"/>
                                        <p:tgtEl>
                                          <p:spTgt spid="1539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31759"/>
                                        </p:tgtEl>
                                        <p:attrNameLst>
                                          <p:attrName>style.visibility</p:attrName>
                                        </p:attrNameLst>
                                      </p:cBhvr>
                                      <p:to>
                                        <p:strVal val="visible"/>
                                      </p:to>
                                    </p:set>
                                    <p:animEffect transition="in" filter="wipe(up)">
                                      <p:cBhvr>
                                        <p:cTn id="59" dur="500"/>
                                        <p:tgtEl>
                                          <p:spTgt spid="31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05" grpId="0" animBg="1"/>
      <p:bldP spid="15398" grpId="0" animBg="1"/>
      <p:bldP spid="31765" grpId="0" animBg="1"/>
      <p:bldP spid="31761" grpId="0" animBg="1"/>
      <p:bldP spid="31757" grpId="0" animBg="1"/>
      <p:bldP spid="31764" grpId="0"/>
      <p:bldP spid="31762" grpId="0"/>
      <p:bldP spid="31759" grpId="0" animBg="1"/>
      <p:bldP spid="17"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05" name="Text Box 110"/>
          <p:cNvSpPr txBox="1">
            <a:spLocks noChangeArrowheads="1"/>
          </p:cNvSpPr>
          <p:nvPr/>
        </p:nvSpPr>
        <p:spPr bwMode="auto">
          <a:xfrm>
            <a:off x="1511618" y="1840951"/>
            <a:ext cx="8525828" cy="51473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72000" rIns="90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Será más probable donde el </a:t>
            </a:r>
            <a:r>
              <a:rPr lang="es-ES" sz="2400">
                <a:solidFill>
                  <a:srgbClr val="3333FF"/>
                </a:solidFill>
                <a:latin typeface="Arial" panose="020B0604020202020204" pitchFamily="34" charset="0"/>
              </a:rPr>
              <a:t>radio de curvatura </a:t>
            </a:r>
            <a:r>
              <a:rPr lang="es-ES" sz="2400">
                <a:latin typeface="Arial" panose="020B0604020202020204" pitchFamily="34" charset="0"/>
              </a:rPr>
              <a:t>sea </a:t>
            </a:r>
            <a:r>
              <a:rPr lang="es-ES" sz="2400">
                <a:solidFill>
                  <a:srgbClr val="3333FF"/>
                </a:solidFill>
                <a:latin typeface="Arial" panose="020B0604020202020204" pitchFamily="34" charset="0"/>
              </a:rPr>
              <a:t>menor</a:t>
            </a:r>
          </a:p>
        </p:txBody>
      </p:sp>
      <p:sp>
        <p:nvSpPr>
          <p:cNvPr id="276542" name="Text Box 62"/>
          <p:cNvSpPr txBox="1">
            <a:spLocks noChangeArrowheads="1"/>
          </p:cNvSpPr>
          <p:nvPr/>
        </p:nvSpPr>
        <p:spPr bwMode="auto">
          <a:xfrm>
            <a:off x="1511618" y="86116"/>
            <a:ext cx="8525828" cy="1659085"/>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lIns="90000" tIns="72000" rIns="90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El paso del medio de </a:t>
            </a:r>
            <a:r>
              <a:rPr lang="es-ES" sz="2400">
                <a:solidFill>
                  <a:srgbClr val="3333FF"/>
                </a:solidFill>
                <a:latin typeface="Arial" panose="020B0604020202020204" pitchFamily="34" charset="0"/>
              </a:rPr>
              <a:t>aislante a conductor </a:t>
            </a:r>
            <a:r>
              <a:rPr lang="es-ES" sz="2400">
                <a:latin typeface="Arial" panose="020B0604020202020204" pitchFamily="34" charset="0"/>
              </a:rPr>
              <a:t>cerca del suelo</a:t>
            </a:r>
          </a:p>
          <a:p>
            <a:pPr algn="ctr" eaLnBrk="1" hangingPunct="1">
              <a:spcBef>
                <a:spcPts val="0"/>
              </a:spcBef>
              <a:buFontTx/>
              <a:buNone/>
            </a:pPr>
            <a:r>
              <a:rPr lang="es-ES" sz="2400">
                <a:latin typeface="Arial" panose="020B0604020202020204" pitchFamily="34" charset="0"/>
              </a:rPr>
              <a:t>durante una tormenta </a:t>
            </a:r>
            <a:r>
              <a:rPr lang="es-ES" sz="2400">
                <a:solidFill>
                  <a:srgbClr val="3333FF"/>
                </a:solidFill>
                <a:latin typeface="Arial" panose="020B0604020202020204" pitchFamily="34" charset="0"/>
              </a:rPr>
              <a:t>(1ª situación)</a:t>
            </a:r>
            <a:r>
              <a:rPr lang="es-ES" sz="2400">
                <a:latin typeface="Arial" panose="020B0604020202020204" pitchFamily="34" charset="0"/>
              </a:rPr>
              <a:t>, o cerca de la superficie</a:t>
            </a:r>
          </a:p>
          <a:p>
            <a:pPr algn="ctr" eaLnBrk="1" hangingPunct="1">
              <a:spcBef>
                <a:spcPts val="0"/>
              </a:spcBef>
              <a:buFontTx/>
              <a:buNone/>
            </a:pPr>
            <a:r>
              <a:rPr lang="es-ES" sz="2400">
                <a:latin typeface="Arial" panose="020B0604020202020204" pitchFamily="34" charset="0"/>
              </a:rPr>
              <a:t>de los conductores al aumentar su carga </a:t>
            </a:r>
            <a:r>
              <a:rPr lang="es-ES" sz="2400">
                <a:solidFill>
                  <a:srgbClr val="3333FF"/>
                </a:solidFill>
                <a:latin typeface="Arial" panose="020B0604020202020204" pitchFamily="34" charset="0"/>
              </a:rPr>
              <a:t>(2ª situación)</a:t>
            </a:r>
            <a:r>
              <a:rPr lang="es-ES" sz="2400">
                <a:latin typeface="Arial" panose="020B0604020202020204" pitchFamily="34" charset="0"/>
              </a:rPr>
              <a:t>,</a:t>
            </a:r>
          </a:p>
          <a:p>
            <a:pPr algn="ctr" eaLnBrk="1" hangingPunct="1">
              <a:spcBef>
                <a:spcPts val="0"/>
              </a:spcBef>
              <a:buFontTx/>
              <a:buNone/>
            </a:pPr>
            <a:r>
              <a:rPr lang="es-ES" sz="2400">
                <a:latin typeface="Arial" panose="020B0604020202020204" pitchFamily="34" charset="0"/>
              </a:rPr>
              <a:t>será más probable donde primero se alcance el E</a:t>
            </a:r>
            <a:r>
              <a:rPr lang="es-ES" sz="2400" baseline="-25000">
                <a:latin typeface="Arial" panose="020B0604020202020204" pitchFamily="34" charset="0"/>
              </a:rPr>
              <a:t>RUPTURA</a:t>
            </a:r>
          </a:p>
        </p:txBody>
      </p:sp>
      <p:sp>
        <p:nvSpPr>
          <p:cNvPr id="33810" name="Text Box 2"/>
          <p:cNvSpPr txBox="1">
            <a:spLocks noChangeArrowheads="1"/>
          </p:cNvSpPr>
          <p:nvPr/>
        </p:nvSpPr>
        <p:spPr bwMode="auto">
          <a:xfrm>
            <a:off x="6405703" y="2536338"/>
            <a:ext cx="4287838" cy="1941173"/>
          </a:xfrm>
          <a:prstGeom prst="rect">
            <a:avLst/>
          </a:prstGeom>
          <a:solidFill>
            <a:srgbClr val="FFFF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t>Asegura la descarga de las nubes </a:t>
            </a:r>
            <a:r>
              <a:rPr lang="es-ES" sz="2400"/>
              <a:t>a tierra </a:t>
            </a:r>
            <a:r>
              <a:rPr lang="es-ES" sz="2400" dirty="0"/>
              <a:t>a través </a:t>
            </a:r>
            <a:r>
              <a:rPr lang="es-ES" sz="2400"/>
              <a:t>del pararrayos </a:t>
            </a:r>
            <a:r>
              <a:rPr lang="es-ES" sz="2400" dirty="0"/>
              <a:t>tras definirse un camino de ruptura en el aire, mientras haya ruptura</a:t>
            </a:r>
          </a:p>
        </p:txBody>
      </p:sp>
      <p:sp>
        <p:nvSpPr>
          <p:cNvPr id="33811" name="43 CuadroTexto"/>
          <p:cNvSpPr txBox="1">
            <a:spLocks noChangeArrowheads="1"/>
          </p:cNvSpPr>
          <p:nvPr/>
        </p:nvSpPr>
        <p:spPr bwMode="auto">
          <a:xfrm>
            <a:off x="1327576" y="3075583"/>
            <a:ext cx="3171443" cy="830997"/>
          </a:xfrm>
          <a:prstGeom prst="rect">
            <a:avLst/>
          </a:prstGeom>
          <a:solidFill>
            <a:srgbClr val="FFFFFF"/>
          </a:solidFill>
          <a:ln>
            <a:noFill/>
          </a:ln>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Se usa un pararrayos conectado a tierra</a:t>
            </a:r>
          </a:p>
        </p:txBody>
      </p:sp>
      <p:sp>
        <p:nvSpPr>
          <p:cNvPr id="33812" name="Text Box 40"/>
          <p:cNvSpPr txBox="1">
            <a:spLocks noChangeArrowheads="1"/>
          </p:cNvSpPr>
          <p:nvPr/>
        </p:nvSpPr>
        <p:spPr bwMode="auto">
          <a:xfrm>
            <a:off x="1225187" y="3900259"/>
            <a:ext cx="5147190" cy="46384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dirty="0">
                <a:solidFill>
                  <a:srgbClr val="FF0000"/>
                </a:solidFill>
              </a:rPr>
              <a:t>(estructura </a:t>
            </a:r>
            <a:r>
              <a:rPr lang="es-ES" sz="2400">
                <a:solidFill>
                  <a:srgbClr val="FF0000"/>
                </a:solidFill>
              </a:rPr>
              <a:t>conductora "puntiaguda")</a:t>
            </a:r>
            <a:endParaRPr lang="es-ES" sz="2400" dirty="0">
              <a:solidFill>
                <a:srgbClr val="FF0000"/>
              </a:solidFill>
            </a:endParaRPr>
          </a:p>
        </p:txBody>
      </p:sp>
      <p:sp>
        <p:nvSpPr>
          <p:cNvPr id="33802" name="47 CuadroTexto"/>
          <p:cNvSpPr txBox="1">
            <a:spLocks noChangeArrowheads="1"/>
          </p:cNvSpPr>
          <p:nvPr/>
        </p:nvSpPr>
        <p:spPr bwMode="auto">
          <a:xfrm>
            <a:off x="1323545" y="4572545"/>
            <a:ext cx="8713901" cy="461665"/>
          </a:xfrm>
          <a:prstGeom prst="rect">
            <a:avLst/>
          </a:prstGeom>
          <a:solidFill>
            <a:schemeClr val="bg2">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latin typeface="Arial" panose="020B0604020202020204" pitchFamily="34" charset="0"/>
              </a:rPr>
              <a:t>Para proteger un circuito eléctrico o electrónico de descargas:</a:t>
            </a:r>
          </a:p>
        </p:txBody>
      </p:sp>
      <p:sp>
        <p:nvSpPr>
          <p:cNvPr id="33806" name="52 CuadroTexto"/>
          <p:cNvSpPr txBox="1">
            <a:spLocks noChangeArrowheads="1"/>
          </p:cNvSpPr>
          <p:nvPr/>
        </p:nvSpPr>
        <p:spPr bwMode="auto">
          <a:xfrm>
            <a:off x="1326763" y="5120762"/>
            <a:ext cx="4866366" cy="830997"/>
          </a:xfrm>
          <a:prstGeom prst="rect">
            <a:avLst/>
          </a:prstGeom>
          <a:solidFill>
            <a:srgbClr val="FFFFFF"/>
          </a:solidFill>
          <a:ln>
            <a:noFill/>
          </a:ln>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Se usan </a:t>
            </a:r>
            <a:r>
              <a:rPr lang="es-ES" sz="2400">
                <a:latin typeface="Arial" panose="020B0604020202020204" pitchFamily="34" charset="0"/>
              </a:rPr>
              <a:t>estructuras "puntiagudas" </a:t>
            </a:r>
            <a:r>
              <a:rPr lang="es-ES" sz="2400" dirty="0">
                <a:latin typeface="Arial" panose="020B0604020202020204" pitchFamily="34" charset="0"/>
              </a:rPr>
              <a:t>conductoras cercanas</a:t>
            </a:r>
          </a:p>
        </p:txBody>
      </p:sp>
      <p:grpSp>
        <p:nvGrpSpPr>
          <p:cNvPr id="2" name="Grupo 1"/>
          <p:cNvGrpSpPr>
            <a:grpSpLocks/>
          </p:cNvGrpSpPr>
          <p:nvPr/>
        </p:nvGrpSpPr>
        <p:grpSpPr bwMode="auto">
          <a:xfrm>
            <a:off x="1225187" y="5974585"/>
            <a:ext cx="4987606" cy="845285"/>
            <a:chOff x="1179513" y="5432109"/>
            <a:chExt cx="4987607" cy="845285"/>
          </a:xfrm>
        </p:grpSpPr>
        <p:grpSp>
          <p:nvGrpSpPr>
            <p:cNvPr id="3" name="Group 25"/>
            <p:cNvGrpSpPr>
              <a:grpSpLocks/>
            </p:cNvGrpSpPr>
            <p:nvPr/>
          </p:nvGrpSpPr>
          <p:grpSpPr bwMode="auto">
            <a:xfrm rot="-5400000">
              <a:off x="3500440" y="5057461"/>
              <a:ext cx="365125" cy="1601788"/>
              <a:chOff x="5610" y="1865"/>
              <a:chExt cx="230" cy="1009"/>
            </a:xfrm>
          </p:grpSpPr>
          <p:sp>
            <p:nvSpPr>
              <p:cNvPr id="33809" name="49 Triángulo isósceles"/>
              <p:cNvSpPr>
                <a:spLocks noChangeArrowheads="1"/>
              </p:cNvSpPr>
              <p:nvPr/>
            </p:nvSpPr>
            <p:spPr bwMode="auto">
              <a:xfrm>
                <a:off x="5610" y="2421"/>
                <a:ext cx="227" cy="453"/>
              </a:xfrm>
              <a:prstGeom prst="triangle">
                <a:avLst>
                  <a:gd name="adj" fmla="val 50000"/>
                </a:avLst>
              </a:prstGeom>
              <a:solidFill>
                <a:srgbClr val="0000FF"/>
              </a:solidFill>
              <a:ln w="12700" algn="ctr">
                <a:solidFill>
                  <a:schemeClr val="tx1"/>
                </a:solidFill>
                <a:round/>
                <a:headEnd/>
                <a:tailEnd/>
              </a:ln>
            </p:spPr>
            <p:txBody>
              <a:bodyPr rot="10800000"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sp>
            <p:nvSpPr>
              <p:cNvPr id="4" name="50 Triángulo isósceles"/>
              <p:cNvSpPr>
                <a:spLocks noChangeArrowheads="1"/>
              </p:cNvSpPr>
              <p:nvPr/>
            </p:nvSpPr>
            <p:spPr bwMode="auto">
              <a:xfrm flipV="1">
                <a:off x="5613" y="1865"/>
                <a:ext cx="227" cy="453"/>
              </a:xfrm>
              <a:prstGeom prst="triangle">
                <a:avLst>
                  <a:gd name="adj" fmla="val 50000"/>
                </a:avLst>
              </a:prstGeom>
              <a:solidFill>
                <a:srgbClr val="0000FF"/>
              </a:solidFill>
              <a:ln w="12700" algn="ctr">
                <a:solidFill>
                  <a:schemeClr val="tx1"/>
                </a:solidFill>
                <a:round/>
                <a:headEnd/>
                <a:tailEnd/>
              </a:ln>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400">
                  <a:solidFill>
                    <a:srgbClr val="000000"/>
                  </a:solidFill>
                  <a:latin typeface="Arial" panose="020B0604020202020204" pitchFamily="34" charset="0"/>
                </a:endParaRPr>
              </a:p>
            </p:txBody>
          </p:sp>
        </p:grpSp>
        <p:sp>
          <p:nvSpPr>
            <p:cNvPr id="33807" name="51 CuadroTexto"/>
            <p:cNvSpPr txBox="1">
              <a:spLocks noChangeArrowheads="1"/>
            </p:cNvSpPr>
            <p:nvPr/>
          </p:nvSpPr>
          <p:spPr bwMode="auto">
            <a:xfrm>
              <a:off x="4505007" y="5432109"/>
              <a:ext cx="16621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rPr>
                <a:t>Conectada a tierra</a:t>
              </a:r>
            </a:p>
          </p:txBody>
        </p:sp>
        <p:sp>
          <p:nvSpPr>
            <p:cNvPr id="33808" name="53 CuadroTexto"/>
            <p:cNvSpPr txBox="1">
              <a:spLocks noChangeArrowheads="1"/>
            </p:cNvSpPr>
            <p:nvPr/>
          </p:nvSpPr>
          <p:spPr bwMode="auto">
            <a:xfrm>
              <a:off x="1179513" y="5446397"/>
              <a:ext cx="16919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rPr>
                <a:t>Conectada a sistema</a:t>
              </a:r>
            </a:p>
          </p:txBody>
        </p:sp>
      </p:grpSp>
      <p:sp>
        <p:nvSpPr>
          <p:cNvPr id="33801" name="Text Box 2"/>
          <p:cNvSpPr txBox="1">
            <a:spLocks noChangeArrowheads="1"/>
          </p:cNvSpPr>
          <p:nvPr/>
        </p:nvSpPr>
        <p:spPr bwMode="auto">
          <a:xfrm>
            <a:off x="6405378" y="5126546"/>
            <a:ext cx="4287838" cy="1571842"/>
          </a:xfrm>
          <a:prstGeom prst="rect">
            <a:avLst/>
          </a:prstGeom>
          <a:solidFill>
            <a:srgbClr val="FFFF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90000" tIns="46800" rIns="90000" bIns="46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spcBef>
                <a:spcPct val="50000"/>
              </a:spcBef>
            </a:pPr>
            <a:r>
              <a:rPr lang="es-ES" sz="2400"/>
              <a:t>Asegura la descarga a tierra tras sobrecarga a través de las estructuras por la ruptura del aire en la zona entre ellas</a:t>
            </a:r>
          </a:p>
        </p:txBody>
      </p:sp>
      <p:sp>
        <p:nvSpPr>
          <p:cNvPr id="21" name="43 CuadroTexto"/>
          <p:cNvSpPr txBox="1">
            <a:spLocks noChangeArrowheads="1"/>
          </p:cNvSpPr>
          <p:nvPr/>
        </p:nvSpPr>
        <p:spPr bwMode="auto">
          <a:xfrm>
            <a:off x="1322435" y="2530405"/>
            <a:ext cx="4870694" cy="461665"/>
          </a:xfrm>
          <a:prstGeom prst="rect">
            <a:avLst/>
          </a:prstGeom>
          <a:solidFill>
            <a:schemeClr val="bg2">
              <a:lumMod val="60000"/>
              <a:lumOff val="40000"/>
            </a:schemeClr>
          </a:solidFill>
          <a:ln>
            <a:noFill/>
          </a:ln>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latin typeface="Arial" panose="020B0604020202020204" pitchFamily="34" charset="0"/>
              </a:rPr>
              <a:t>Para proteger un edificio de rayos: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76542"/>
                                        </p:tgtEl>
                                        <p:attrNameLst>
                                          <p:attrName>style.visibility</p:attrName>
                                        </p:attrNameLst>
                                      </p:cBhvr>
                                      <p:to>
                                        <p:strVal val="visible"/>
                                      </p:to>
                                    </p:set>
                                    <p:animEffect transition="in" filter="wipe(up)">
                                      <p:cBhvr>
                                        <p:cTn id="7" dur="500"/>
                                        <p:tgtEl>
                                          <p:spTgt spid="2765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53305"/>
                                        </p:tgtEl>
                                        <p:attrNameLst>
                                          <p:attrName>style.visibility</p:attrName>
                                        </p:attrNameLst>
                                      </p:cBhvr>
                                      <p:to>
                                        <p:strVal val="visible"/>
                                      </p:to>
                                    </p:set>
                                    <p:anim calcmode="lin" valueType="num">
                                      <p:cBhvr additive="base">
                                        <p:cTn id="12" dur="500"/>
                                        <p:tgtEl>
                                          <p:spTgt spid="53305"/>
                                        </p:tgtEl>
                                        <p:attrNameLst>
                                          <p:attrName>ppt_y</p:attrName>
                                        </p:attrNameLst>
                                      </p:cBhvr>
                                      <p:tavLst>
                                        <p:tav tm="0">
                                          <p:val>
                                            <p:strVal val="#ppt_y-#ppt_h*1.125000"/>
                                          </p:val>
                                        </p:tav>
                                        <p:tav tm="100000">
                                          <p:val>
                                            <p:strVal val="#ppt_y"/>
                                          </p:val>
                                        </p:tav>
                                      </p:tavLst>
                                    </p:anim>
                                    <p:animEffect transition="in" filter="wipe(down)">
                                      <p:cBhvr>
                                        <p:cTn id="13" dur="500"/>
                                        <p:tgtEl>
                                          <p:spTgt spid="533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p:tgtEl>
                                          <p:spTgt spid="21"/>
                                        </p:tgtEl>
                                        <p:attrNameLst>
                                          <p:attrName>ppt_y</p:attrName>
                                        </p:attrNameLst>
                                      </p:cBhvr>
                                      <p:tavLst>
                                        <p:tav tm="0">
                                          <p:val>
                                            <p:strVal val="#ppt_y+#ppt_h*1.125000"/>
                                          </p:val>
                                        </p:tav>
                                        <p:tav tm="100000">
                                          <p:val>
                                            <p:strVal val="#ppt_y"/>
                                          </p:val>
                                        </p:tav>
                                      </p:tavLst>
                                    </p:anim>
                                    <p:animEffect transition="in" filter="wipe(up)">
                                      <p:cBhvr>
                                        <p:cTn id="19" dur="500"/>
                                        <p:tgtEl>
                                          <p:spTgt spid="2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3811"/>
                                        </p:tgtEl>
                                        <p:attrNameLst>
                                          <p:attrName>style.visibility</p:attrName>
                                        </p:attrNameLst>
                                      </p:cBhvr>
                                      <p:to>
                                        <p:strVal val="visible"/>
                                      </p:to>
                                    </p:set>
                                    <p:animEffect transition="in" filter="wipe(up)">
                                      <p:cBhvr>
                                        <p:cTn id="24" dur="500"/>
                                        <p:tgtEl>
                                          <p:spTgt spid="338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1" fill="hold" grpId="0" nodeType="clickEffect">
                                  <p:stCondLst>
                                    <p:cond delay="0"/>
                                  </p:stCondLst>
                                  <p:childTnLst>
                                    <p:set>
                                      <p:cBhvr>
                                        <p:cTn id="28" dur="1" fill="hold">
                                          <p:stCondLst>
                                            <p:cond delay="0"/>
                                          </p:stCondLst>
                                        </p:cTn>
                                        <p:tgtEl>
                                          <p:spTgt spid="33812"/>
                                        </p:tgtEl>
                                        <p:attrNameLst>
                                          <p:attrName>style.visibility</p:attrName>
                                        </p:attrNameLst>
                                      </p:cBhvr>
                                      <p:to>
                                        <p:strVal val="visible"/>
                                      </p:to>
                                    </p:set>
                                    <p:anim calcmode="lin" valueType="num">
                                      <p:cBhvr additive="base">
                                        <p:cTn id="29" dur="500"/>
                                        <p:tgtEl>
                                          <p:spTgt spid="33812"/>
                                        </p:tgtEl>
                                        <p:attrNameLst>
                                          <p:attrName>ppt_y</p:attrName>
                                        </p:attrNameLst>
                                      </p:cBhvr>
                                      <p:tavLst>
                                        <p:tav tm="0">
                                          <p:val>
                                            <p:strVal val="#ppt_y-#ppt_h*1.125000"/>
                                          </p:val>
                                        </p:tav>
                                        <p:tav tm="100000">
                                          <p:val>
                                            <p:strVal val="#ppt_y"/>
                                          </p:val>
                                        </p:tav>
                                      </p:tavLst>
                                    </p:anim>
                                    <p:animEffect transition="in" filter="wipe(down)">
                                      <p:cBhvr>
                                        <p:cTn id="30" dur="500"/>
                                        <p:tgtEl>
                                          <p:spTgt spid="338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3810"/>
                                        </p:tgtEl>
                                        <p:attrNameLst>
                                          <p:attrName>style.visibility</p:attrName>
                                        </p:attrNameLst>
                                      </p:cBhvr>
                                      <p:to>
                                        <p:strVal val="visible"/>
                                      </p:to>
                                    </p:set>
                                    <p:animEffect transition="in" filter="wipe(up)">
                                      <p:cBhvr>
                                        <p:cTn id="35" dur="500"/>
                                        <p:tgtEl>
                                          <p:spTgt spid="338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33802"/>
                                        </p:tgtEl>
                                        <p:attrNameLst>
                                          <p:attrName>style.visibility</p:attrName>
                                        </p:attrNameLst>
                                      </p:cBhvr>
                                      <p:to>
                                        <p:strVal val="visible"/>
                                      </p:to>
                                    </p:set>
                                    <p:anim calcmode="lin" valueType="num">
                                      <p:cBhvr additive="base">
                                        <p:cTn id="40" dur="500"/>
                                        <p:tgtEl>
                                          <p:spTgt spid="33802"/>
                                        </p:tgtEl>
                                        <p:attrNameLst>
                                          <p:attrName>ppt_y</p:attrName>
                                        </p:attrNameLst>
                                      </p:cBhvr>
                                      <p:tavLst>
                                        <p:tav tm="0">
                                          <p:val>
                                            <p:strVal val="#ppt_y+#ppt_h*1.125000"/>
                                          </p:val>
                                        </p:tav>
                                        <p:tav tm="100000">
                                          <p:val>
                                            <p:strVal val="#ppt_y"/>
                                          </p:val>
                                        </p:tav>
                                      </p:tavLst>
                                    </p:anim>
                                    <p:animEffect transition="in" filter="wipe(up)">
                                      <p:cBhvr>
                                        <p:cTn id="41" dur="500"/>
                                        <p:tgtEl>
                                          <p:spTgt spid="3380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3806"/>
                                        </p:tgtEl>
                                        <p:attrNameLst>
                                          <p:attrName>style.visibility</p:attrName>
                                        </p:attrNameLst>
                                      </p:cBhvr>
                                      <p:to>
                                        <p:strVal val="visible"/>
                                      </p:to>
                                    </p:set>
                                    <p:animEffect transition="in" filter="wipe(up)">
                                      <p:cBhvr>
                                        <p:cTn id="46" dur="500"/>
                                        <p:tgtEl>
                                          <p:spTgt spid="3380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6" presetClass="entr" presetSubtype="37"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barn(outVertical)">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33801"/>
                                        </p:tgtEl>
                                        <p:attrNameLst>
                                          <p:attrName>style.visibility</p:attrName>
                                        </p:attrNameLst>
                                      </p:cBhvr>
                                      <p:to>
                                        <p:strVal val="visible"/>
                                      </p:to>
                                    </p:set>
                                    <p:animEffect transition="in" filter="wipe(up)">
                                      <p:cBhvr>
                                        <p:cTn id="56" dur="500"/>
                                        <p:tgtEl>
                                          <p:spTgt spid="33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05" grpId="0" animBg="1"/>
      <p:bldP spid="276542" grpId="0" animBg="1"/>
      <p:bldP spid="33810" grpId="0" animBg="1"/>
      <p:bldP spid="33811" grpId="0" animBg="1"/>
      <p:bldP spid="33812" grpId="0"/>
      <p:bldP spid="33802" grpId="0" animBg="1"/>
      <p:bldP spid="33806" grpId="0" animBg="1"/>
      <p:bldP spid="33801" grpId="0" animBg="1"/>
      <p:bldP spid="2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FNT_2012_TEMA1_1">
  <a:themeElements>
    <a:clrScheme name="FNT_2012_TEMA1_1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FNT_2012_TEMA1_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s-ES" sz="2000" b="0" i="0" u="none" strike="noStrike" cap="none" normalizeH="0" baseline="0" smtClean="0">
            <a:ln>
              <a:noFill/>
            </a:ln>
            <a:solidFill>
              <a:srgbClr val="000000"/>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s-ES" sz="2000" b="0" i="0" u="none" strike="noStrike" cap="none" normalizeH="0" baseline="0" smtClean="0">
            <a:ln>
              <a:noFill/>
            </a:ln>
            <a:solidFill>
              <a:srgbClr val="000000"/>
            </a:solidFill>
            <a:effectLst/>
            <a:latin typeface="Arial" charset="0"/>
          </a:defRPr>
        </a:defPPr>
      </a:lstStyle>
    </a:lnDef>
  </a:objectDefaults>
  <a:extraClrSchemeLst>
    <a:extraClrScheme>
      <a:clrScheme name="FNT_2012_TEMA1_1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FNT_2012_TEMA1_1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FNT_2012_TEMA1_1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FNT_2012_TEMA1_1</Template>
  <TotalTime>10535</TotalTime>
  <Words>2966</Words>
  <Application>Microsoft Office PowerPoint</Application>
  <PresentationFormat>Personalizado</PresentationFormat>
  <Paragraphs>498</Paragraphs>
  <Slides>32</Slides>
  <Notes>32</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32</vt:i4>
      </vt:variant>
    </vt:vector>
  </HeadingPairs>
  <TitlesOfParts>
    <vt:vector size="41" baseType="lpstr">
      <vt:lpstr>Arial</vt:lpstr>
      <vt:lpstr>Cambria Math</vt:lpstr>
      <vt:lpstr>Comic Sans MS</vt:lpstr>
      <vt:lpstr>Symbol</vt:lpstr>
      <vt:lpstr>Times New Roman</vt:lpstr>
      <vt:lpstr>Trebuchet MS</vt:lpstr>
      <vt:lpstr>Wingdings</vt:lpstr>
      <vt:lpstr>FNT_2012_TEMA1_1</vt:lpstr>
      <vt:lpstr>Ecuación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FÍSICA</dc:creator>
  <cp:lastModifiedBy>Jose Enrique Martin Dominguez</cp:lastModifiedBy>
  <cp:revision>1437</cp:revision>
  <dcterms:created xsi:type="dcterms:W3CDTF">2012-02-20T13:06:36Z</dcterms:created>
  <dcterms:modified xsi:type="dcterms:W3CDTF">2024-10-19T10:23:00Z</dcterms:modified>
</cp:coreProperties>
</file>