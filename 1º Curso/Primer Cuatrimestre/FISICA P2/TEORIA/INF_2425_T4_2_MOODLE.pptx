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6"/>
  </p:notesMasterIdLst>
  <p:handoutMasterIdLst>
    <p:handoutMasterId r:id="rId27"/>
  </p:handoutMasterIdLst>
  <p:sldIdLst>
    <p:sldId id="442" r:id="rId2"/>
    <p:sldId id="534" r:id="rId3"/>
    <p:sldId id="492" r:id="rId4"/>
    <p:sldId id="551" r:id="rId5"/>
    <p:sldId id="552" r:id="rId6"/>
    <p:sldId id="494" r:id="rId7"/>
    <p:sldId id="547" r:id="rId8"/>
    <p:sldId id="507" r:id="rId9"/>
    <p:sldId id="499" r:id="rId10"/>
    <p:sldId id="503" r:id="rId11"/>
    <p:sldId id="530" r:id="rId12"/>
    <p:sldId id="549" r:id="rId13"/>
    <p:sldId id="542" r:id="rId14"/>
    <p:sldId id="553" r:id="rId15"/>
    <p:sldId id="531" r:id="rId16"/>
    <p:sldId id="536" r:id="rId17"/>
    <p:sldId id="543" r:id="rId18"/>
    <p:sldId id="510" r:id="rId19"/>
    <p:sldId id="538" r:id="rId20"/>
    <p:sldId id="511" r:id="rId21"/>
    <p:sldId id="512" r:id="rId22"/>
    <p:sldId id="544" r:id="rId23"/>
    <p:sldId id="550" r:id="rId24"/>
    <p:sldId id="327" r:id="rId25"/>
  </p:sldIdLst>
  <p:sldSz cx="10801350" cy="7200900"/>
  <p:notesSz cx="6815138" cy="99425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6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FFFF99"/>
    <a:srgbClr val="FFFFFF"/>
    <a:srgbClr val="EDE7E3"/>
    <a:srgbClr val="008000"/>
    <a:srgbClr val="99CCFF"/>
    <a:srgbClr val="CCFFCC"/>
    <a:srgbClr val="CCECFF"/>
    <a:srgbClr val="C0C0C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72" autoAdjust="0"/>
    <p:restoredTop sz="90168" autoAdjust="0"/>
  </p:normalViewPr>
  <p:slideViewPr>
    <p:cSldViewPr snapToGrid="0" showGuides="1">
      <p:cViewPr varScale="1">
        <p:scale>
          <a:sx n="103" d="100"/>
          <a:sy n="103" d="100"/>
        </p:scale>
        <p:origin x="1530" y="108"/>
      </p:cViewPr>
      <p:guideLst>
        <p:guide orient="horz" pos="2268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61CBFDE-3D0B-4E39-9634-3F2D62E97ED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97773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09600" y="746125"/>
            <a:ext cx="55943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3062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FF22A08-81EE-44C4-BE5D-F7799AB6B00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568468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61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A23A578-70D3-4EB9-8B49-C4C393B4A72B}" type="slidenum">
              <a:rPr lang="es-ES" smtClean="0"/>
              <a:pPr>
                <a:spcBef>
                  <a:spcPct val="0"/>
                </a:spcBef>
              </a:pPr>
              <a:t>1</a:t>
            </a:fld>
            <a:endParaRPr lang="es-ES"/>
          </a:p>
        </p:txBody>
      </p:sp>
      <p:sp>
        <p:nvSpPr>
          <p:cNvPr id="61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567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CD748B-B17D-43D9-990A-14B0D0CC9FA0}" type="slidenum">
              <a:rPr lang="es-ES" smtClean="0"/>
              <a:pPr>
                <a:spcBef>
                  <a:spcPct val="0"/>
                </a:spcBef>
              </a:pPr>
              <a:t>2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418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66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66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9C12656-FED7-40BF-BB6B-8A2A0E45935B}" type="slidenum">
              <a:rPr lang="es-ES" smtClean="0"/>
              <a:pPr>
                <a:spcBef>
                  <a:spcPct val="0"/>
                </a:spcBef>
              </a:pPr>
              <a:t>3</a:t>
            </a:fld>
            <a:endParaRPr lang="es-ES"/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559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673234-A962-48CE-9787-95E544DF5B91}" type="slidenum">
              <a:rPr lang="es-ES" smtClean="0"/>
              <a:pPr>
                <a:spcBef>
                  <a:spcPct val="0"/>
                </a:spcBef>
              </a:pPr>
              <a:t>4</a:t>
            </a:fld>
            <a:endParaRPr lang="es-ES"/>
          </a:p>
        </p:txBody>
      </p:sp>
      <p:sp>
        <p:nvSpPr>
          <p:cNvPr id="286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230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41B86-3A1C-1825-818B-788436581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1B2DE087-B5B6-ACA1-168E-9A5D75019DF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5" name="Rectangle 6">
            <a:extLst>
              <a:ext uri="{FF2B5EF4-FFF2-40B4-BE49-F238E27FC236}">
                <a16:creationId xmlns:a16="http://schemas.microsoft.com/office/drawing/2014/main" id="{888B066C-3B26-EA01-3565-5CB99BAB51F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6" name="Rectangle 7">
            <a:extLst>
              <a:ext uri="{FF2B5EF4-FFF2-40B4-BE49-F238E27FC236}">
                <a16:creationId xmlns:a16="http://schemas.microsoft.com/office/drawing/2014/main" id="{F7773AAF-0236-B6CB-9F3D-EC89DA48CF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673234-A962-48CE-9787-95E544DF5B91}" type="slidenum">
              <a:rPr lang="es-ES" smtClean="0"/>
              <a:pPr>
                <a:spcBef>
                  <a:spcPct val="0"/>
                </a:spcBef>
              </a:pPr>
              <a:t>5</a:t>
            </a:fld>
            <a:endParaRPr lang="es-ES"/>
          </a:p>
        </p:txBody>
      </p:sp>
      <p:sp>
        <p:nvSpPr>
          <p:cNvPr id="28677" name="Rectangle 2">
            <a:extLst>
              <a:ext uri="{FF2B5EF4-FFF2-40B4-BE49-F238E27FC236}">
                <a16:creationId xmlns:a16="http://schemas.microsoft.com/office/drawing/2014/main" id="{7135A0F7-61F4-BB9A-E77B-E9DBBDE443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>
            <a:extLst>
              <a:ext uri="{FF2B5EF4-FFF2-40B4-BE49-F238E27FC236}">
                <a16:creationId xmlns:a16="http://schemas.microsoft.com/office/drawing/2014/main" id="{CB59784C-0F65-9E98-8E26-35C51C0FBA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818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07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07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9DC2B58-3120-40AE-B603-9A52A1D1A4A1}" type="slidenum">
              <a:rPr lang="es-ES" smtClean="0"/>
              <a:pPr>
                <a:spcBef>
                  <a:spcPct val="0"/>
                </a:spcBef>
              </a:pPr>
              <a:t>6</a:t>
            </a:fld>
            <a:endParaRPr lang="es-ES"/>
          </a:p>
        </p:txBody>
      </p:sp>
      <p:sp>
        <p:nvSpPr>
          <p:cNvPr id="307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b="1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0050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27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18C469D-1B70-4661-8DC2-B3FD083F8942}" type="slidenum">
              <a:rPr lang="es-ES" smtClean="0"/>
              <a:pPr>
                <a:spcBef>
                  <a:spcPct val="0"/>
                </a:spcBef>
              </a:pPr>
              <a:t>7</a:t>
            </a:fld>
            <a:endParaRPr lang="es-ES"/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99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48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48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8A0FCAF-CFC6-4A38-B7E2-203793B54840}" type="slidenum">
              <a:rPr lang="es-ES" smtClean="0"/>
              <a:pPr>
                <a:spcBef>
                  <a:spcPct val="0"/>
                </a:spcBef>
              </a:pPr>
              <a:t>8</a:t>
            </a:fld>
            <a:endParaRPr lang="es-ES"/>
          </a:p>
        </p:txBody>
      </p:sp>
      <p:sp>
        <p:nvSpPr>
          <p:cNvPr id="348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5269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68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68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C1DEF73-5839-4E42-B13B-4F3D346B79A5}" type="slidenum">
              <a:rPr lang="es-ES" smtClean="0"/>
              <a:pPr>
                <a:spcBef>
                  <a:spcPct val="0"/>
                </a:spcBef>
              </a:pPr>
              <a:t>9</a:t>
            </a:fld>
            <a:endParaRPr lang="es-ES"/>
          </a:p>
        </p:txBody>
      </p:sp>
      <p:sp>
        <p:nvSpPr>
          <p:cNvPr id="368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8576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68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68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C1DEF73-5839-4E42-B13B-4F3D346B79A5}" type="slidenum">
              <a:rPr lang="es-ES" smtClean="0"/>
              <a:pPr>
                <a:spcBef>
                  <a:spcPct val="0"/>
                </a:spcBef>
              </a:pPr>
              <a:t>10</a:t>
            </a:fld>
            <a:endParaRPr lang="es-ES"/>
          </a:p>
        </p:txBody>
      </p:sp>
      <p:sp>
        <p:nvSpPr>
          <p:cNvPr id="368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868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EDEC5F9-29B1-4A24-86C1-CAE7217B9F1E}" type="slidenum">
              <a:rPr lang="es-ES" smtClean="0"/>
              <a:pPr>
                <a:spcBef>
                  <a:spcPct val="0"/>
                </a:spcBef>
              </a:pPr>
              <a:t>11</a:t>
            </a:fld>
            <a:endParaRPr lang="es-E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3775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8286C10-07B2-4654-B856-3A51B0AD1D19}" type="slidenum">
              <a:rPr lang="es-ES" smtClean="0"/>
              <a:pPr>
                <a:spcBef>
                  <a:spcPct val="0"/>
                </a:spcBef>
              </a:pPr>
              <a:t>12</a:t>
            </a:fld>
            <a:endParaRPr lang="es-ES"/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1458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8286C10-07B2-4654-B856-3A51B0AD1D19}" type="slidenum">
              <a:rPr lang="es-ES" smtClean="0"/>
              <a:pPr>
                <a:spcBef>
                  <a:spcPct val="0"/>
                </a:spcBef>
              </a:pPr>
              <a:t>13</a:t>
            </a:fld>
            <a:endParaRPr lang="es-ES"/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7087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5C0904A-FC4E-4D40-9054-076792491440}" type="slidenum">
              <a:rPr lang="es-ES" smtClean="0"/>
              <a:pPr>
                <a:spcBef>
                  <a:spcPct val="0"/>
                </a:spcBef>
              </a:pPr>
              <a:t>14</a:t>
            </a:fld>
            <a:endParaRPr lang="es-ES"/>
          </a:p>
        </p:txBody>
      </p:sp>
      <p:sp>
        <p:nvSpPr>
          <p:cNvPr id="10245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6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7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20DA428-3BE2-407E-8E08-69FC5F2ED35B}" type="slidenum">
              <a:rPr lang="es-ES"/>
              <a:pPr algn="r" eaLnBrk="1" hangingPunct="1">
                <a:spcBef>
                  <a:spcPct val="0"/>
                </a:spcBef>
              </a:pPr>
              <a:t>14</a:t>
            </a:fld>
            <a:endParaRPr lang="es-ES"/>
          </a:p>
        </p:txBody>
      </p:sp>
      <p:sp>
        <p:nvSpPr>
          <p:cNvPr id="102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130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0854E3-E77A-40EC-9B38-1F5C400E018A}" type="slidenum">
              <a:rPr lang="es-ES" smtClean="0"/>
              <a:pPr>
                <a:spcBef>
                  <a:spcPct val="0"/>
                </a:spcBef>
              </a:pPr>
              <a:t>15</a:t>
            </a:fld>
            <a:endParaRPr lang="es-ES"/>
          </a:p>
        </p:txBody>
      </p:sp>
      <p:sp>
        <p:nvSpPr>
          <p:cNvPr id="12293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4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5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3612DE5-2D3C-493A-A30F-70DCCEF8D034}" type="slidenum">
              <a:rPr lang="es-ES"/>
              <a:pPr algn="r" eaLnBrk="1" hangingPunct="1">
                <a:spcBef>
                  <a:spcPct val="0"/>
                </a:spcBef>
              </a:pPr>
              <a:t>15</a:t>
            </a:fld>
            <a:endParaRPr lang="es-ES"/>
          </a:p>
        </p:txBody>
      </p:sp>
      <p:sp>
        <p:nvSpPr>
          <p:cNvPr id="122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0866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0854E3-E77A-40EC-9B38-1F5C400E018A}" type="slidenum">
              <a:rPr lang="es-ES" smtClean="0"/>
              <a:pPr>
                <a:spcBef>
                  <a:spcPct val="0"/>
                </a:spcBef>
              </a:pPr>
              <a:t>16</a:t>
            </a:fld>
            <a:endParaRPr lang="es-ES"/>
          </a:p>
        </p:txBody>
      </p:sp>
      <p:sp>
        <p:nvSpPr>
          <p:cNvPr id="12293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4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5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3612DE5-2D3C-493A-A30F-70DCCEF8D034}" type="slidenum">
              <a:rPr lang="es-ES"/>
              <a:pPr algn="r" eaLnBrk="1" hangingPunct="1">
                <a:spcBef>
                  <a:spcPct val="0"/>
                </a:spcBef>
              </a:pPr>
              <a:t>16</a:t>
            </a:fld>
            <a:endParaRPr lang="es-ES"/>
          </a:p>
        </p:txBody>
      </p:sp>
      <p:sp>
        <p:nvSpPr>
          <p:cNvPr id="122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1965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0854E3-E77A-40EC-9B38-1F5C400E018A}" type="slidenum">
              <a:rPr lang="es-ES" smtClean="0"/>
              <a:pPr>
                <a:spcBef>
                  <a:spcPct val="0"/>
                </a:spcBef>
              </a:pPr>
              <a:t>17</a:t>
            </a:fld>
            <a:endParaRPr lang="es-ES"/>
          </a:p>
        </p:txBody>
      </p:sp>
      <p:sp>
        <p:nvSpPr>
          <p:cNvPr id="12293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4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5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3612DE5-2D3C-493A-A30F-70DCCEF8D034}" type="slidenum">
              <a:rPr lang="es-ES"/>
              <a:pPr algn="r" eaLnBrk="1" hangingPunct="1">
                <a:spcBef>
                  <a:spcPct val="0"/>
                </a:spcBef>
              </a:pPr>
              <a:t>17</a:t>
            </a:fld>
            <a:endParaRPr lang="es-ES"/>
          </a:p>
        </p:txBody>
      </p:sp>
      <p:sp>
        <p:nvSpPr>
          <p:cNvPr id="122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9859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D8561F7-6215-409C-B388-ACDDD8108762}" type="slidenum">
              <a:rPr lang="es-ES" smtClean="0"/>
              <a:pPr>
                <a:spcBef>
                  <a:spcPct val="0"/>
                </a:spcBef>
              </a:pPr>
              <a:t>18</a:t>
            </a:fld>
            <a:endParaRPr lang="es-ES"/>
          </a:p>
        </p:txBody>
      </p:sp>
      <p:sp>
        <p:nvSpPr>
          <p:cNvPr id="14341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42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3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C88F72C-D201-484A-AE27-CDA8ECBB5A39}" type="slidenum">
              <a:rPr lang="es-ES"/>
              <a:pPr algn="r" eaLnBrk="1" hangingPunct="1">
                <a:spcBef>
                  <a:spcPct val="0"/>
                </a:spcBef>
              </a:pPr>
              <a:t>18</a:t>
            </a:fld>
            <a:endParaRPr lang="es-ES"/>
          </a:p>
        </p:txBody>
      </p:sp>
      <p:sp>
        <p:nvSpPr>
          <p:cNvPr id="143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b="1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7437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D8561F7-6215-409C-B388-ACDDD8108762}" type="slidenum">
              <a:rPr lang="es-ES" smtClean="0"/>
              <a:pPr>
                <a:spcBef>
                  <a:spcPct val="0"/>
                </a:spcBef>
              </a:pPr>
              <a:t>19</a:t>
            </a:fld>
            <a:endParaRPr lang="es-ES"/>
          </a:p>
        </p:txBody>
      </p:sp>
      <p:sp>
        <p:nvSpPr>
          <p:cNvPr id="14341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42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3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C88F72C-D201-484A-AE27-CDA8ECBB5A39}" type="slidenum">
              <a:rPr lang="es-ES"/>
              <a:pPr algn="r" eaLnBrk="1" hangingPunct="1">
                <a:spcBef>
                  <a:spcPct val="0"/>
                </a:spcBef>
              </a:pPr>
              <a:t>19</a:t>
            </a:fld>
            <a:endParaRPr lang="es-ES"/>
          </a:p>
        </p:txBody>
      </p:sp>
      <p:sp>
        <p:nvSpPr>
          <p:cNvPr id="143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b="1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1549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63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0811CE8-A06F-4A4F-A85D-6B1D19E2D3C4}" type="slidenum">
              <a:rPr lang="es-ES" smtClean="0"/>
              <a:pPr>
                <a:spcBef>
                  <a:spcPct val="0"/>
                </a:spcBef>
              </a:pPr>
              <a:t>20</a:t>
            </a:fld>
            <a:endParaRPr lang="es-ES"/>
          </a:p>
        </p:txBody>
      </p:sp>
      <p:sp>
        <p:nvSpPr>
          <p:cNvPr id="16389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6390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6391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71FBCE3-8561-426C-A962-4537B526FE07}" type="slidenum">
              <a:rPr lang="es-ES"/>
              <a:pPr algn="r" eaLnBrk="1" hangingPunct="1">
                <a:spcBef>
                  <a:spcPct val="0"/>
                </a:spcBef>
              </a:pPr>
              <a:t>20</a:t>
            </a:fld>
            <a:endParaRPr lang="es-ES"/>
          </a:p>
        </p:txBody>
      </p:sp>
      <p:sp>
        <p:nvSpPr>
          <p:cNvPr id="163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9784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9C1FA43-D1F4-4076-8D4F-E5F27CD063B8}" type="slidenum">
              <a:rPr lang="es-ES" smtClean="0"/>
              <a:pPr>
                <a:spcBef>
                  <a:spcPct val="0"/>
                </a:spcBef>
              </a:pPr>
              <a:t>21</a:t>
            </a:fld>
            <a:endParaRPr lang="es-ES"/>
          </a:p>
        </p:txBody>
      </p:sp>
      <p:sp>
        <p:nvSpPr>
          <p:cNvPr id="18437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8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9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94D235F-CA1B-4B37-9A7A-94BFB69A58F1}" type="slidenum">
              <a:rPr lang="es-ES"/>
              <a:pPr algn="r" eaLnBrk="1" hangingPunct="1">
                <a:spcBef>
                  <a:spcPct val="0"/>
                </a:spcBef>
              </a:pPr>
              <a:t>21</a:t>
            </a:fld>
            <a:endParaRPr lang="es-ES"/>
          </a:p>
        </p:txBody>
      </p:sp>
      <p:sp>
        <p:nvSpPr>
          <p:cNvPr id="184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4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3276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5C0904A-FC4E-4D40-9054-076792491440}" type="slidenum">
              <a:rPr lang="es-ES" smtClean="0"/>
              <a:pPr>
                <a:spcBef>
                  <a:spcPct val="0"/>
                </a:spcBef>
              </a:pPr>
              <a:t>22</a:t>
            </a:fld>
            <a:endParaRPr lang="es-ES"/>
          </a:p>
        </p:txBody>
      </p:sp>
      <p:sp>
        <p:nvSpPr>
          <p:cNvPr id="10245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6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7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20DA428-3BE2-407E-8E08-69FC5F2ED35B}" type="slidenum">
              <a:rPr lang="es-ES"/>
              <a:pPr algn="r" eaLnBrk="1" hangingPunct="1">
                <a:spcBef>
                  <a:spcPct val="0"/>
                </a:spcBef>
              </a:pPr>
              <a:t>22</a:t>
            </a:fld>
            <a:endParaRPr lang="es-ES"/>
          </a:p>
        </p:txBody>
      </p:sp>
      <p:sp>
        <p:nvSpPr>
          <p:cNvPr id="102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9784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5C0904A-FC4E-4D40-9054-076792491440}" type="slidenum">
              <a:rPr lang="es-ES" smtClean="0"/>
              <a:pPr>
                <a:spcBef>
                  <a:spcPct val="0"/>
                </a:spcBef>
              </a:pPr>
              <a:t>23</a:t>
            </a:fld>
            <a:endParaRPr lang="es-ES"/>
          </a:p>
        </p:txBody>
      </p:sp>
      <p:sp>
        <p:nvSpPr>
          <p:cNvPr id="10245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6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7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20DA428-3BE2-407E-8E08-69FC5F2ED35B}" type="slidenum">
              <a:rPr lang="es-ES"/>
              <a:pPr algn="r" eaLnBrk="1" hangingPunct="1">
                <a:spcBef>
                  <a:spcPct val="0"/>
                </a:spcBef>
              </a:pPr>
              <a:t>23</a:t>
            </a:fld>
            <a:endParaRPr lang="es-ES"/>
          </a:p>
        </p:txBody>
      </p:sp>
      <p:sp>
        <p:nvSpPr>
          <p:cNvPr id="102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220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8EA3F7-702B-4B0D-81A4-AED70E249B9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0357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3DC6C-2E76-4296-9062-4BBEC81CDA7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1506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488" y="4627563"/>
            <a:ext cx="9182100" cy="14303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2488" y="3052763"/>
            <a:ext cx="9182100" cy="15748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5312EB-F15C-4E51-91E5-28775903C59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7683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EA33DA-E2FC-468B-9ABD-251275A6022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7923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8925"/>
            <a:ext cx="972185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750" y="1611313"/>
            <a:ext cx="4772025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39750" y="2284413"/>
            <a:ext cx="4772025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486400" y="1611313"/>
            <a:ext cx="4775200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486400" y="2284413"/>
            <a:ext cx="4775200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86242E-BFDD-4AC9-8E9F-B067F239BBB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3554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CBF347-6C7D-4FD9-9883-1B2E0C31C82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9729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969304-CAEB-4DAD-844D-1CBAD9C7F7E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2924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7338"/>
            <a:ext cx="3554413" cy="1219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22750" y="287338"/>
            <a:ext cx="6038850" cy="61452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9750" y="1506538"/>
            <a:ext cx="3554413" cy="4926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719C96-6DD6-41F2-B63E-E08C388481B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4380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17725" y="5040313"/>
            <a:ext cx="6480175" cy="5953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117725" y="642938"/>
            <a:ext cx="6480175" cy="4321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117725" y="5635625"/>
            <a:ext cx="6480175" cy="8445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680986-8504-4A96-B9F7-275A879252D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5709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EC3A9C-38A7-4E23-8926-569433960A5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1804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3D39A5-663E-4224-A253-92C534CB8BE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8790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946D1-682A-4502-A174-FB1CD890CFA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5925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D26553B-6385-4A78-9BF0-AB53EBBAA7D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7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2" r:id="rId9"/>
    <p:sldLayoutId id="2147483983" r:id="rId10"/>
    <p:sldLayoutId id="2147483984" r:id="rId11"/>
    <p:sldLayoutId id="2147483985" r:id="rId12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5pPr>
      <a:lvl6pPr marL="27717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6pPr>
      <a:lvl7pPr marL="32289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7pPr>
      <a:lvl8pPr marL="36861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8pPr>
      <a:lvl9pPr marL="41433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1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6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image" Target="../media/image5.wmf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0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6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4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7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8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1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3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4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5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2582863" y="3119438"/>
            <a:ext cx="6370637" cy="968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CORRIENTE ELÉCTRICA</a:t>
            </a: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CIRCUITOS DE CORRIENTE CONTINUA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5300663" y="4805363"/>
            <a:ext cx="9334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(2/3)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5065713" y="2298700"/>
            <a:ext cx="1397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TEMA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5">
            <a:extLst>
              <a:ext uri="{FF2B5EF4-FFF2-40B4-BE49-F238E27FC236}">
                <a16:creationId xmlns:a16="http://schemas.microsoft.com/office/drawing/2014/main" id="{2D02FD44-45C8-41EA-B5A0-A2A50C51C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3428" y="3346184"/>
            <a:ext cx="7956000" cy="471481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748590B-2C86-4E05-8125-441FEFB20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8232" y="5214340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3105897-6000-4AC6-8060-FBC602F67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6505" y="4097302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224" name="Rectangle 25"/>
          <p:cNvSpPr>
            <a:spLocks noChangeArrowheads="1"/>
          </p:cNvSpPr>
          <p:nvPr/>
        </p:nvSpPr>
        <p:spPr bwMode="auto">
          <a:xfrm>
            <a:off x="2238223" y="4100187"/>
            <a:ext cx="5580000" cy="761391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8690580" y="1691294"/>
            <a:ext cx="2059960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T1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06/11/24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T2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04/11/24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T3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05/11/24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1504830" y="3372145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1504830" y="2287039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1509713" y="588963"/>
            <a:ext cx="8520112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 dirty="0">
                <a:solidFill>
                  <a:srgbClr val="CC0000"/>
                </a:solidFill>
                <a:latin typeface="Arial" panose="020B0604020202020204" pitchFamily="34" charset="0"/>
              </a:rPr>
              <a:t>TEMA 4: CORRIENTE ELÉCTRICA.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 dirty="0">
                <a:solidFill>
                  <a:srgbClr val="CC0000"/>
                </a:solidFill>
                <a:latin typeface="Arial" panose="020B0604020202020204" pitchFamily="34" charset="0"/>
              </a:rPr>
              <a:t>               CIRCUITOS DE CORRIENTE CONTINUA</a:t>
            </a:r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1482605" y="2229889"/>
            <a:ext cx="708025" cy="3424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4.1.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4.2.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4.3.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4.4.</a:t>
            </a:r>
          </a:p>
        </p:txBody>
      </p:sp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2231905" y="2229889"/>
            <a:ext cx="7957124" cy="453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Corriente Eléctrica.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Intensidad y Densidad de Corriente.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Ley de Ohm: Conductividad y Resistencia Eléctricas.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Potencia en Corriente Continua: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FEM, FCEM y Ley de Joule.</a:t>
            </a:r>
            <a:endParaRPr lang="es-ES" sz="28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Circuitos de </a:t>
            </a:r>
            <a:r>
              <a:rPr lang="es-ES" sz="2400" b="1">
                <a:latin typeface="Arial" panose="020B0604020202020204" pitchFamily="34" charset="0"/>
              </a:rPr>
              <a:t>Corriente Continua. </a:t>
            </a:r>
            <a:r>
              <a:rPr lang="es-ES" sz="2400" b="1" dirty="0">
                <a:latin typeface="Arial" panose="020B0604020202020204" pitchFamily="34" charset="0"/>
              </a:rPr>
              <a:t>Leyes de Kirchhoff. Asociación de Resistencias </a:t>
            </a:r>
            <a:r>
              <a:rPr lang="es-ES" sz="2400" b="1">
                <a:latin typeface="Arial" panose="020B0604020202020204" pitchFamily="34" charset="0"/>
              </a:rPr>
              <a:t>o Conductancias: </a:t>
            </a:r>
            <a:r>
              <a:rPr lang="es-ES" sz="2400" b="1" dirty="0">
                <a:latin typeface="Arial" panose="020B0604020202020204" pitchFamily="34" charset="0"/>
              </a:rPr>
              <a:t>Asociación en Serie. Asociación en Paralelo. Transformaciones Estrella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 b="1" dirty="0">
                <a:latin typeface="Arial" panose="020B0604020202020204" pitchFamily="34" charset="0"/>
              </a:rPr>
              <a:t>Triángulo.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9224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 bwMode="auto">
          <a:xfrm>
            <a:off x="1832974" y="391530"/>
            <a:ext cx="2161979" cy="425625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0519" name="Text Box 39"/>
          <p:cNvSpPr txBox="1">
            <a:spLocks noChangeArrowheads="1"/>
          </p:cNvSpPr>
          <p:nvPr/>
        </p:nvSpPr>
        <p:spPr bwMode="auto">
          <a:xfrm>
            <a:off x="1491826" y="5138518"/>
            <a:ext cx="8766271" cy="16445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/>
              <a:t>Los electrones se mueven </a:t>
            </a:r>
            <a:r>
              <a:rPr lang="es-ES" sz="2400" dirty="0"/>
              <a:t>a lo largo </a:t>
            </a:r>
            <a:r>
              <a:rPr lang="es-ES" sz="2400"/>
              <a:t>del tiempo </a:t>
            </a:r>
            <a:r>
              <a:rPr lang="es-ES" sz="2400" dirty="0"/>
              <a:t>en todas las direcciones por igual, presentando la misma distribución de velocidades en </a:t>
            </a:r>
            <a:r>
              <a:rPr lang="es-ES" sz="2400"/>
              <a:t>ambos sentidos (de ahí que la media sea nula). Esto hace que los e</a:t>
            </a:r>
            <a:r>
              <a:rPr lang="es-ES" sz="2400" baseline="30000"/>
              <a:t>-</a:t>
            </a:r>
            <a:r>
              <a:rPr lang="es-ES" sz="2400"/>
              <a:t> terminen por volver </a:t>
            </a:r>
            <a:r>
              <a:rPr lang="es-ES" sz="2400" dirty="0"/>
              <a:t>al punto </a:t>
            </a:r>
            <a:r>
              <a:rPr lang="es-ES" sz="2400"/>
              <a:t>de partida</a:t>
            </a:r>
            <a:endParaRPr lang="es-ES" sz="2400" dirty="0"/>
          </a:p>
        </p:txBody>
      </p:sp>
      <p:sp>
        <p:nvSpPr>
          <p:cNvPr id="25604" name="Rectangle 2"/>
          <p:cNvSpPr>
            <a:spLocks noChangeArrowheads="1"/>
          </p:cNvSpPr>
          <p:nvPr/>
        </p:nvSpPr>
        <p:spPr bwMode="auto">
          <a:xfrm>
            <a:off x="1238031" y="383581"/>
            <a:ext cx="8520113" cy="839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4.2. LEY DE OHM: CONDUCTIVIDAD 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       RESISTENCIA ELÉCTRICAS</a:t>
            </a:r>
          </a:p>
        </p:txBody>
      </p:sp>
      <p:sp>
        <p:nvSpPr>
          <p:cNvPr id="477187" name="Text Box 3"/>
          <p:cNvSpPr txBox="1">
            <a:spLocks noChangeArrowheads="1"/>
          </p:cNvSpPr>
          <p:nvPr/>
        </p:nvSpPr>
        <p:spPr bwMode="auto">
          <a:xfrm>
            <a:off x="1491825" y="1434597"/>
            <a:ext cx="4989997" cy="9058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Analicemos el movimiento de electrones en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un sólido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conductor:</a:t>
            </a:r>
          </a:p>
        </p:txBody>
      </p:sp>
      <p:sp>
        <p:nvSpPr>
          <p:cNvPr id="477188" name="Text Box 4"/>
          <p:cNvSpPr txBox="1">
            <a:spLocks noChangeArrowheads="1"/>
          </p:cNvSpPr>
          <p:nvPr/>
        </p:nvSpPr>
        <p:spPr bwMode="auto">
          <a:xfrm>
            <a:off x="1424246" y="2440993"/>
            <a:ext cx="886041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Pueden alcanzar velocidades muy altas, del orden de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10</a:t>
            </a:r>
            <a:r>
              <a:rPr lang="es-ES" sz="2400" baseline="300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6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m/s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1541" name="Text Box 6"/>
          <p:cNvSpPr txBox="1">
            <a:spLocks noChangeArrowheads="1"/>
          </p:cNvSpPr>
          <p:nvPr/>
        </p:nvSpPr>
        <p:spPr bwMode="auto">
          <a:xfrm>
            <a:off x="1429025" y="3021835"/>
            <a:ext cx="6579723" cy="201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Symbol" panose="05050102010706020507" pitchFamily="18" charset="2"/>
              <a:buChar char="·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Las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colisiones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es decir, la interacción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de un e</a:t>
            </a:r>
            <a:r>
              <a:rPr lang="es-ES" sz="2400" baseline="30000" dirty="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con átomos, moléculas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y e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dan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lugar a un movimiento de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dirección cambiante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y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velocidad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promedio nula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entendiéndola como un vector (como ocurre con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las moléculas de un gas)</a:t>
            </a:r>
          </a:p>
        </p:txBody>
      </p:sp>
      <p:sp>
        <p:nvSpPr>
          <p:cNvPr id="21545" name="Text Box 41"/>
          <p:cNvSpPr txBox="1">
            <a:spLocks noChangeArrowheads="1"/>
          </p:cNvSpPr>
          <p:nvPr/>
        </p:nvSpPr>
        <p:spPr bwMode="auto">
          <a:xfrm>
            <a:off x="7273157" y="368714"/>
            <a:ext cx="3394840" cy="1275213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/>
              <a:t>Da la relación entre lo que causa la corriente y su efecto: la corriente</a:t>
            </a:r>
          </a:p>
        </p:txBody>
      </p: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8256142" y="3279642"/>
            <a:ext cx="1958975" cy="1600200"/>
            <a:chOff x="7708900" y="1860550"/>
            <a:chExt cx="1958975" cy="1600200"/>
          </a:xfrm>
        </p:grpSpPr>
        <p:sp>
          <p:nvSpPr>
            <p:cNvPr id="25610" name="Freeform 15"/>
            <p:cNvSpPr>
              <a:spLocks/>
            </p:cNvSpPr>
            <p:nvPr/>
          </p:nvSpPr>
          <p:spPr bwMode="auto">
            <a:xfrm>
              <a:off x="7708900" y="1860550"/>
              <a:ext cx="1958975" cy="1600200"/>
            </a:xfrm>
            <a:custGeom>
              <a:avLst/>
              <a:gdLst>
                <a:gd name="T0" fmla="*/ 2147483646 w 1234"/>
                <a:gd name="T1" fmla="*/ 2147483646 h 1008"/>
                <a:gd name="T2" fmla="*/ 2147483646 w 1234"/>
                <a:gd name="T3" fmla="*/ 2147483646 h 1008"/>
                <a:gd name="T4" fmla="*/ 2147483646 w 1234"/>
                <a:gd name="T5" fmla="*/ 2147483646 h 1008"/>
                <a:gd name="T6" fmla="*/ 0 w 1234"/>
                <a:gd name="T7" fmla="*/ 2147483646 h 1008"/>
                <a:gd name="T8" fmla="*/ 2147483646 w 1234"/>
                <a:gd name="T9" fmla="*/ 2147483646 h 1008"/>
                <a:gd name="T10" fmla="*/ 2147483646 w 1234"/>
                <a:gd name="T11" fmla="*/ 2147483646 h 1008"/>
                <a:gd name="T12" fmla="*/ 2147483646 w 1234"/>
                <a:gd name="T13" fmla="*/ 0 h 1008"/>
                <a:gd name="T14" fmla="*/ 2147483646 w 1234"/>
                <a:gd name="T15" fmla="*/ 2147483646 h 1008"/>
                <a:gd name="T16" fmla="*/ 2147483646 w 1234"/>
                <a:gd name="T17" fmla="*/ 2147483646 h 1008"/>
                <a:gd name="T18" fmla="*/ 2147483646 w 1234"/>
                <a:gd name="T19" fmla="*/ 2147483646 h 1008"/>
                <a:gd name="T20" fmla="*/ 0 w 1234"/>
                <a:gd name="T21" fmla="*/ 2147483646 h 1008"/>
                <a:gd name="T22" fmla="*/ 2147483646 w 1234"/>
                <a:gd name="T23" fmla="*/ 2147483646 h 1008"/>
                <a:gd name="T24" fmla="*/ 2147483646 w 1234"/>
                <a:gd name="T25" fmla="*/ 2147483646 h 1008"/>
                <a:gd name="T26" fmla="*/ 2147483646 w 1234"/>
                <a:gd name="T27" fmla="*/ 2147483646 h 100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34"/>
                <a:gd name="T43" fmla="*/ 0 h 1008"/>
                <a:gd name="T44" fmla="*/ 1234 w 1234"/>
                <a:gd name="T45" fmla="*/ 1008 h 100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34" h="1008">
                  <a:moveTo>
                    <a:pt x="401" y="606"/>
                  </a:moveTo>
                  <a:lnTo>
                    <a:pt x="504" y="164"/>
                  </a:lnTo>
                  <a:lnTo>
                    <a:pt x="895" y="216"/>
                  </a:lnTo>
                  <a:lnTo>
                    <a:pt x="0" y="401"/>
                  </a:lnTo>
                  <a:lnTo>
                    <a:pt x="987" y="483"/>
                  </a:lnTo>
                  <a:lnTo>
                    <a:pt x="997" y="41"/>
                  </a:lnTo>
                  <a:lnTo>
                    <a:pt x="555" y="0"/>
                  </a:lnTo>
                  <a:lnTo>
                    <a:pt x="576" y="627"/>
                  </a:lnTo>
                  <a:lnTo>
                    <a:pt x="1234" y="884"/>
                  </a:lnTo>
                  <a:lnTo>
                    <a:pt x="380" y="843"/>
                  </a:lnTo>
                  <a:lnTo>
                    <a:pt x="0" y="10"/>
                  </a:lnTo>
                  <a:lnTo>
                    <a:pt x="843" y="349"/>
                  </a:lnTo>
                  <a:lnTo>
                    <a:pt x="761" y="1008"/>
                  </a:lnTo>
                  <a:lnTo>
                    <a:pt x="401" y="606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25611" name="Line 23"/>
            <p:cNvSpPr>
              <a:spLocks noChangeShapeType="1"/>
            </p:cNvSpPr>
            <p:nvPr/>
          </p:nvSpPr>
          <p:spPr bwMode="auto">
            <a:xfrm rot="21000000" flipV="1">
              <a:off x="8120063" y="23971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25612" name="Line 24"/>
            <p:cNvSpPr>
              <a:spLocks noChangeShapeType="1"/>
            </p:cNvSpPr>
            <p:nvPr/>
          </p:nvSpPr>
          <p:spPr bwMode="auto">
            <a:xfrm rot="480000" flipH="1" flipV="1">
              <a:off x="8704263" y="21431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25613" name="Line 25"/>
            <p:cNvSpPr>
              <a:spLocks noChangeShapeType="1"/>
            </p:cNvSpPr>
            <p:nvPr/>
          </p:nvSpPr>
          <p:spPr bwMode="auto">
            <a:xfrm rot="-4920000" flipH="1" flipV="1">
              <a:off x="8348663" y="24860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25614" name="Line 26"/>
            <p:cNvSpPr>
              <a:spLocks noChangeShapeType="1"/>
            </p:cNvSpPr>
            <p:nvPr/>
          </p:nvSpPr>
          <p:spPr bwMode="auto">
            <a:xfrm rot="-8700000" flipH="1" flipV="1">
              <a:off x="8501063" y="30702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25615" name="Line 27"/>
            <p:cNvSpPr>
              <a:spLocks noChangeShapeType="1"/>
            </p:cNvSpPr>
            <p:nvPr/>
          </p:nvSpPr>
          <p:spPr bwMode="auto">
            <a:xfrm rot="6300000" flipH="1" flipV="1">
              <a:off x="8920163" y="28416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25616" name="Line 28"/>
            <p:cNvSpPr>
              <a:spLocks noChangeShapeType="1"/>
            </p:cNvSpPr>
            <p:nvPr/>
          </p:nvSpPr>
          <p:spPr bwMode="auto">
            <a:xfrm rot="480000" flipH="1" flipV="1">
              <a:off x="8094663" y="20669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25617" name="Line 29"/>
            <p:cNvSpPr>
              <a:spLocks noChangeShapeType="1"/>
            </p:cNvSpPr>
            <p:nvPr/>
          </p:nvSpPr>
          <p:spPr bwMode="auto">
            <a:xfrm rot="15300000" flipH="1">
              <a:off x="8031163" y="27527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25618" name="Line 30"/>
            <p:cNvSpPr>
              <a:spLocks noChangeShapeType="1"/>
            </p:cNvSpPr>
            <p:nvPr/>
          </p:nvSpPr>
          <p:spPr bwMode="auto">
            <a:xfrm rot="21120000" flipV="1">
              <a:off x="9047163" y="32353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25619" name="Line 31"/>
            <p:cNvSpPr>
              <a:spLocks noChangeShapeType="1"/>
            </p:cNvSpPr>
            <p:nvPr/>
          </p:nvSpPr>
          <p:spPr bwMode="auto">
            <a:xfrm rot="480000" flipH="1" flipV="1">
              <a:off x="9174163" y="30956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25620" name="Line 32"/>
            <p:cNvSpPr>
              <a:spLocks noChangeShapeType="1"/>
            </p:cNvSpPr>
            <p:nvPr/>
          </p:nvSpPr>
          <p:spPr bwMode="auto">
            <a:xfrm rot="5100000" flipH="1" flipV="1">
              <a:off x="8526463" y="20034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25621" name="Line 33"/>
            <p:cNvSpPr>
              <a:spLocks noChangeShapeType="1"/>
            </p:cNvSpPr>
            <p:nvPr/>
          </p:nvSpPr>
          <p:spPr bwMode="auto">
            <a:xfrm flipV="1">
              <a:off x="8882063" y="1887538"/>
              <a:ext cx="144463" cy="15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25622" name="Line 34"/>
            <p:cNvSpPr>
              <a:spLocks noChangeShapeType="1"/>
            </p:cNvSpPr>
            <p:nvPr/>
          </p:nvSpPr>
          <p:spPr bwMode="auto">
            <a:xfrm rot="16200000" flipH="1">
              <a:off x="9212263" y="23336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25623" name="Line 35"/>
            <p:cNvSpPr>
              <a:spLocks noChangeShapeType="1"/>
            </p:cNvSpPr>
            <p:nvPr/>
          </p:nvSpPr>
          <p:spPr bwMode="auto">
            <a:xfrm rot="480000" flipH="1" flipV="1">
              <a:off x="8767763" y="25876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pic>
          <p:nvPicPr>
            <p:cNvPr id="25624" name="Picture 170" descr="Image2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85776" y="2689059"/>
              <a:ext cx="294925" cy="281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7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7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0519" grpId="0" animBg="1"/>
      <p:bldP spid="477187" grpId="0" animBg="1"/>
      <p:bldP spid="477188" grpId="0"/>
      <p:bldP spid="21541" grpId="0"/>
      <p:bldP spid="2154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223" name="Text Box 39"/>
          <p:cNvSpPr txBox="1">
            <a:spLocks noChangeArrowheads="1"/>
          </p:cNvSpPr>
          <p:nvPr/>
        </p:nvSpPr>
        <p:spPr bwMode="auto">
          <a:xfrm>
            <a:off x="3362020" y="450326"/>
            <a:ext cx="5286877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Si se establece un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campo eléctrico: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1886787" y="2350355"/>
            <a:ext cx="620712" cy="525465"/>
            <a:chOff x="4893" y="1864"/>
            <a:chExt cx="391" cy="331"/>
          </a:xfrm>
        </p:grpSpPr>
        <p:sp>
          <p:nvSpPr>
            <p:cNvPr id="27684" name="Text Box 11"/>
            <p:cNvSpPr txBox="1">
              <a:spLocks noChangeArrowheads="1"/>
            </p:cNvSpPr>
            <p:nvPr/>
          </p:nvSpPr>
          <p:spPr bwMode="auto">
            <a:xfrm>
              <a:off x="4994" y="1864"/>
              <a:ext cx="22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6" name="Line 12"/>
            <p:cNvSpPr>
              <a:spLocks noChangeShapeType="1"/>
            </p:cNvSpPr>
            <p:nvPr/>
          </p:nvSpPr>
          <p:spPr bwMode="auto">
            <a:xfrm>
              <a:off x="5047" y="1911"/>
              <a:ext cx="144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27686" name="Line 13"/>
            <p:cNvSpPr>
              <a:spLocks noChangeShapeType="1"/>
            </p:cNvSpPr>
            <p:nvPr/>
          </p:nvSpPr>
          <p:spPr bwMode="auto">
            <a:xfrm>
              <a:off x="4893" y="2195"/>
              <a:ext cx="39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</p:grp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2059923" y="3354252"/>
            <a:ext cx="650876" cy="381000"/>
            <a:chOff x="6434" y="1467"/>
            <a:chExt cx="410" cy="240"/>
          </a:xfrm>
        </p:grpSpPr>
        <p:sp>
          <p:nvSpPr>
            <p:cNvPr id="27681" name="Text Box 20"/>
            <p:cNvSpPr txBox="1">
              <a:spLocks noChangeArrowheads="1"/>
            </p:cNvSpPr>
            <p:nvPr/>
          </p:nvSpPr>
          <p:spPr bwMode="auto">
            <a:xfrm>
              <a:off x="6434" y="1467"/>
              <a:ext cx="229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7760" tIns="38880" rIns="77760" bIns="38880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v</a:t>
              </a:r>
              <a:r>
                <a:rPr lang="es-ES" sz="2400" baseline="-25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a</a:t>
              </a:r>
              <a:endParaRPr lang="es-ES" sz="2400" dirty="0">
                <a:solidFill>
                  <a:srgbClr val="3333FF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7682" name="Line 21"/>
            <p:cNvSpPr>
              <a:spLocks noChangeShapeType="1"/>
            </p:cNvSpPr>
            <p:nvPr/>
          </p:nvSpPr>
          <p:spPr bwMode="auto">
            <a:xfrm>
              <a:off x="6687" y="1628"/>
              <a:ext cx="157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 anchorCtr="1"/>
            <a:lstStyle/>
            <a:p>
              <a:endParaRPr lang="es-ES"/>
            </a:p>
          </p:txBody>
        </p:sp>
        <p:sp>
          <p:nvSpPr>
            <p:cNvPr id="27683" name="Line 22"/>
            <p:cNvSpPr>
              <a:spLocks noChangeShapeType="1"/>
            </p:cNvSpPr>
            <p:nvPr/>
          </p:nvSpPr>
          <p:spPr bwMode="auto">
            <a:xfrm>
              <a:off x="6471" y="1524"/>
              <a:ext cx="14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90D177D4-2B5E-0728-8558-D4FC9A1260F8}"/>
              </a:ext>
            </a:extLst>
          </p:cNvPr>
          <p:cNvGrpSpPr>
            <a:grpSpLocks/>
          </p:cNvGrpSpPr>
          <p:nvPr/>
        </p:nvGrpSpPr>
        <p:grpSpPr bwMode="auto">
          <a:xfrm>
            <a:off x="1268954" y="540994"/>
            <a:ext cx="1958975" cy="1600200"/>
            <a:chOff x="7708900" y="1860550"/>
            <a:chExt cx="1958975" cy="1600200"/>
          </a:xfrm>
        </p:grpSpPr>
        <p:sp>
          <p:nvSpPr>
            <p:cNvPr id="9" name="Freeform 15">
              <a:extLst>
                <a:ext uri="{FF2B5EF4-FFF2-40B4-BE49-F238E27FC236}">
                  <a16:creationId xmlns:a16="http://schemas.microsoft.com/office/drawing/2014/main" id="{5BAAFE5A-65E5-68D3-7FBF-74299E888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8900" y="1860550"/>
              <a:ext cx="1958975" cy="1600200"/>
            </a:xfrm>
            <a:custGeom>
              <a:avLst/>
              <a:gdLst>
                <a:gd name="T0" fmla="*/ 2147483646 w 1234"/>
                <a:gd name="T1" fmla="*/ 2147483646 h 1008"/>
                <a:gd name="T2" fmla="*/ 2147483646 w 1234"/>
                <a:gd name="T3" fmla="*/ 2147483646 h 1008"/>
                <a:gd name="T4" fmla="*/ 2147483646 w 1234"/>
                <a:gd name="T5" fmla="*/ 2147483646 h 1008"/>
                <a:gd name="T6" fmla="*/ 0 w 1234"/>
                <a:gd name="T7" fmla="*/ 2147483646 h 1008"/>
                <a:gd name="T8" fmla="*/ 2147483646 w 1234"/>
                <a:gd name="T9" fmla="*/ 2147483646 h 1008"/>
                <a:gd name="T10" fmla="*/ 2147483646 w 1234"/>
                <a:gd name="T11" fmla="*/ 2147483646 h 1008"/>
                <a:gd name="T12" fmla="*/ 2147483646 w 1234"/>
                <a:gd name="T13" fmla="*/ 0 h 1008"/>
                <a:gd name="T14" fmla="*/ 2147483646 w 1234"/>
                <a:gd name="T15" fmla="*/ 2147483646 h 1008"/>
                <a:gd name="T16" fmla="*/ 2147483646 w 1234"/>
                <a:gd name="T17" fmla="*/ 2147483646 h 1008"/>
                <a:gd name="T18" fmla="*/ 2147483646 w 1234"/>
                <a:gd name="T19" fmla="*/ 2147483646 h 1008"/>
                <a:gd name="T20" fmla="*/ 0 w 1234"/>
                <a:gd name="T21" fmla="*/ 2147483646 h 1008"/>
                <a:gd name="T22" fmla="*/ 2147483646 w 1234"/>
                <a:gd name="T23" fmla="*/ 2147483646 h 1008"/>
                <a:gd name="T24" fmla="*/ 2147483646 w 1234"/>
                <a:gd name="T25" fmla="*/ 2147483646 h 1008"/>
                <a:gd name="T26" fmla="*/ 2147483646 w 1234"/>
                <a:gd name="T27" fmla="*/ 2147483646 h 100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34"/>
                <a:gd name="T43" fmla="*/ 0 h 1008"/>
                <a:gd name="T44" fmla="*/ 1234 w 1234"/>
                <a:gd name="T45" fmla="*/ 1008 h 100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34" h="1008">
                  <a:moveTo>
                    <a:pt x="401" y="606"/>
                  </a:moveTo>
                  <a:lnTo>
                    <a:pt x="504" y="164"/>
                  </a:lnTo>
                  <a:lnTo>
                    <a:pt x="895" y="216"/>
                  </a:lnTo>
                  <a:lnTo>
                    <a:pt x="0" y="401"/>
                  </a:lnTo>
                  <a:lnTo>
                    <a:pt x="987" y="483"/>
                  </a:lnTo>
                  <a:lnTo>
                    <a:pt x="997" y="41"/>
                  </a:lnTo>
                  <a:lnTo>
                    <a:pt x="555" y="0"/>
                  </a:lnTo>
                  <a:lnTo>
                    <a:pt x="576" y="627"/>
                  </a:lnTo>
                  <a:lnTo>
                    <a:pt x="1234" y="884"/>
                  </a:lnTo>
                  <a:lnTo>
                    <a:pt x="380" y="843"/>
                  </a:lnTo>
                  <a:lnTo>
                    <a:pt x="0" y="10"/>
                  </a:lnTo>
                  <a:lnTo>
                    <a:pt x="843" y="349"/>
                  </a:lnTo>
                  <a:lnTo>
                    <a:pt x="761" y="1008"/>
                  </a:lnTo>
                  <a:lnTo>
                    <a:pt x="401" y="606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10" name="Line 23">
              <a:extLst>
                <a:ext uri="{FF2B5EF4-FFF2-40B4-BE49-F238E27FC236}">
                  <a16:creationId xmlns:a16="http://schemas.microsoft.com/office/drawing/2014/main" id="{34D224D3-441E-D2C8-22E0-4E322864379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000000" flipV="1">
              <a:off x="8120063" y="23971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11" name="Line 24">
              <a:extLst>
                <a:ext uri="{FF2B5EF4-FFF2-40B4-BE49-F238E27FC236}">
                  <a16:creationId xmlns:a16="http://schemas.microsoft.com/office/drawing/2014/main" id="{35C9B757-6FA7-43D7-DF51-991FBEB1A3D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80000" flipH="1" flipV="1">
              <a:off x="8704263" y="21431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12" name="Line 25">
              <a:extLst>
                <a:ext uri="{FF2B5EF4-FFF2-40B4-BE49-F238E27FC236}">
                  <a16:creationId xmlns:a16="http://schemas.microsoft.com/office/drawing/2014/main" id="{9242B192-287A-C776-126C-E39D3D90C9A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4920000" flipH="1" flipV="1">
              <a:off x="8348663" y="24860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13" name="Line 26">
              <a:extLst>
                <a:ext uri="{FF2B5EF4-FFF2-40B4-BE49-F238E27FC236}">
                  <a16:creationId xmlns:a16="http://schemas.microsoft.com/office/drawing/2014/main" id="{8C086489-F36A-E5CA-8619-9FF95320DB7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8700000" flipH="1" flipV="1">
              <a:off x="8501063" y="30702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B7D771B1-1C67-30A7-414C-7AA6A6C3CF7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6300000" flipH="1" flipV="1">
              <a:off x="8920163" y="28416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2FB9BC87-2681-8B51-DA85-B2111DC30A2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80000" flipH="1" flipV="1">
              <a:off x="8094663" y="20669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C070A5E7-E292-7B0A-FF24-2FC50D1E645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5300000" flipH="1">
              <a:off x="8031163" y="27527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17" name="Line 30">
              <a:extLst>
                <a:ext uri="{FF2B5EF4-FFF2-40B4-BE49-F238E27FC236}">
                  <a16:creationId xmlns:a16="http://schemas.microsoft.com/office/drawing/2014/main" id="{F8E1C4DD-3E93-0C64-B674-47D2DFC24A1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120000" flipV="1">
              <a:off x="9047163" y="32353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18" name="Line 31">
              <a:extLst>
                <a:ext uri="{FF2B5EF4-FFF2-40B4-BE49-F238E27FC236}">
                  <a16:creationId xmlns:a16="http://schemas.microsoft.com/office/drawing/2014/main" id="{90197B88-CEAB-1E88-165F-853A8C6962E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80000" flipH="1" flipV="1">
              <a:off x="9174163" y="30956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19" name="Line 32">
              <a:extLst>
                <a:ext uri="{FF2B5EF4-FFF2-40B4-BE49-F238E27FC236}">
                  <a16:creationId xmlns:a16="http://schemas.microsoft.com/office/drawing/2014/main" id="{35CA3788-F52E-953F-3B40-58D433323C7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100000" flipH="1" flipV="1">
              <a:off x="8526463" y="20034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20" name="Line 33">
              <a:extLst>
                <a:ext uri="{FF2B5EF4-FFF2-40B4-BE49-F238E27FC236}">
                  <a16:creationId xmlns:a16="http://schemas.microsoft.com/office/drawing/2014/main" id="{0452FF53-6297-3B53-4744-1969B2967F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82063" y="1887538"/>
              <a:ext cx="144463" cy="15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21" name="Line 34">
              <a:extLst>
                <a:ext uri="{FF2B5EF4-FFF2-40B4-BE49-F238E27FC236}">
                  <a16:creationId xmlns:a16="http://schemas.microsoft.com/office/drawing/2014/main" id="{498F6F19-D7BF-45C1-6928-345B0CB95CC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9212263" y="23336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22" name="Line 35">
              <a:extLst>
                <a:ext uri="{FF2B5EF4-FFF2-40B4-BE49-F238E27FC236}">
                  <a16:creationId xmlns:a16="http://schemas.microsoft.com/office/drawing/2014/main" id="{3BCC0851-B3BC-E200-9885-BE49E7AEE1E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80000" flipH="1" flipV="1">
              <a:off x="8767763" y="25876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pic>
          <p:nvPicPr>
            <p:cNvPr id="23" name="Picture 170" descr="Image2">
              <a:extLst>
                <a:ext uri="{FF2B5EF4-FFF2-40B4-BE49-F238E27FC236}">
                  <a16:creationId xmlns:a16="http://schemas.microsoft.com/office/drawing/2014/main" id="{7E20B50A-0182-7BEF-8F81-2CD540277F75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85776" y="2689059"/>
              <a:ext cx="294925" cy="281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Text Box 39">
            <a:extLst>
              <a:ext uri="{FF2B5EF4-FFF2-40B4-BE49-F238E27FC236}">
                <a16:creationId xmlns:a16="http://schemas.microsoft.com/office/drawing/2014/main" id="{90CD34BD-BD9D-7288-E723-F69C055BD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9878" y="4324622"/>
            <a:ext cx="6738340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</a:pPr>
            <a:r>
              <a:rPr lang="es-ES" sz="2400">
                <a:sym typeface="Symbol" panose="05050102010706020507" pitchFamily="18" charset="2"/>
              </a:rPr>
              <a:t>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es del orden de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0,1 mm/s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y es la velocidad</a:t>
            </a:r>
          </a:p>
          <a:p>
            <a:pPr algn="just"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de la corriente en un cable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4" name="Text Box 39">
            <a:extLst>
              <a:ext uri="{FF2B5EF4-FFF2-40B4-BE49-F238E27FC236}">
                <a16:creationId xmlns:a16="http://schemas.microsoft.com/office/drawing/2014/main" id="{52955307-9DAF-4B00-0E67-511743098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1975" y="5505399"/>
            <a:ext cx="7632179" cy="53654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En 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CC los e</a:t>
            </a:r>
            <a:r>
              <a:rPr lang="es-ES" sz="2400" baseline="3000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 tardan aprox. 3 horas en recorrer 1 metro</a:t>
            </a:r>
          </a:p>
        </p:txBody>
      </p:sp>
      <p:sp>
        <p:nvSpPr>
          <p:cNvPr id="25" name="Text Box 39">
            <a:extLst>
              <a:ext uri="{FF2B5EF4-FFF2-40B4-BE49-F238E27FC236}">
                <a16:creationId xmlns:a16="http://schemas.microsoft.com/office/drawing/2014/main" id="{6EC7A47C-8535-BF65-1980-1A4966BCC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1975" y="6206076"/>
            <a:ext cx="7632179" cy="53654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En CA (50 Hz) los e</a:t>
            </a:r>
            <a:r>
              <a:rPr lang="es-ES" sz="2400" baseline="3000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 oscilan con una amplitud de 1 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6" name="Text Box 39">
            <a:extLst>
              <a:ext uri="{FF2B5EF4-FFF2-40B4-BE49-F238E27FC236}">
                <a16:creationId xmlns:a16="http://schemas.microsoft.com/office/drawing/2014/main" id="{48E11EA8-1F3F-E118-7C1B-00402A0BC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6596" y="1086301"/>
            <a:ext cx="6095197" cy="3121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El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efecto combinado de la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fuerza eléctrica, que tiende a desplazar a los portadores de carga en la dirección de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y de las colisiones, que no favorecen ese desplaza-miento,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da lugar a una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velocidad promedio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 desplazamiento o arrastre, </a:t>
            </a: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en direc-ción de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y en sentido contrario a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para portadores de carga negativa (electrones)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223" grpId="0"/>
      <p:bldP spid="7" grpId="0"/>
      <p:bldP spid="24" grpId="0" animBg="1"/>
      <p:bldP spid="25" grpId="0" animBg="1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46D85-17D8-389E-6404-809307AC4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295E48F-1B0F-D8FB-FF4D-7C03F1A32974}"/>
              </a:ext>
            </a:extLst>
          </p:cNvPr>
          <p:cNvGrpSpPr>
            <a:grpSpLocks/>
          </p:cNvGrpSpPr>
          <p:nvPr/>
        </p:nvGrpSpPr>
        <p:grpSpPr bwMode="auto">
          <a:xfrm>
            <a:off x="3957659" y="1014069"/>
            <a:ext cx="1519237" cy="904875"/>
            <a:chOff x="4569" y="1533"/>
            <a:chExt cx="957" cy="570"/>
          </a:xfrm>
        </p:grpSpPr>
        <p:sp>
          <p:nvSpPr>
            <p:cNvPr id="27687" name="Rectangle 3">
              <a:extLst>
                <a:ext uri="{FF2B5EF4-FFF2-40B4-BE49-F238E27FC236}">
                  <a16:creationId xmlns:a16="http://schemas.microsoft.com/office/drawing/2014/main" id="{8B19009A-B89A-0B52-629D-6E0AE5C2A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9" y="1533"/>
              <a:ext cx="957" cy="57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7688" name="Object 4">
              <a:extLst>
                <a:ext uri="{FF2B5EF4-FFF2-40B4-BE49-F238E27FC236}">
                  <a16:creationId xmlns:a16="http://schemas.microsoft.com/office/drawing/2014/main" id="{998E2EE7-CDB9-77C8-2044-BE70712F29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71" y="1609"/>
            <a:ext cx="740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672808" imgH="253890" progId="Equation.3">
                    <p:embed/>
                  </p:oleObj>
                </mc:Choice>
                <mc:Fallback>
                  <p:oleObj name="Ecuación" r:id="rId3" imgW="672808" imgH="253890" progId="Equation.3">
                    <p:embed/>
                    <p:pic>
                      <p:nvPicPr>
                        <p:cNvPr id="27688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1" y="1609"/>
                          <a:ext cx="740" cy="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9258" name="Text Box 26">
            <a:extLst>
              <a:ext uri="{FF2B5EF4-FFF2-40B4-BE49-F238E27FC236}">
                <a16:creationId xmlns:a16="http://schemas.microsoft.com/office/drawing/2014/main" id="{C93E534C-FCCB-77FC-8180-B445F975D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585" y="1011787"/>
            <a:ext cx="3100551" cy="905881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: movilidad de los portadores de carga</a:t>
            </a:r>
          </a:p>
        </p:txBody>
      </p:sp>
      <p:sp>
        <p:nvSpPr>
          <p:cNvPr id="479278" name="Text Box 46">
            <a:extLst>
              <a:ext uri="{FF2B5EF4-FFF2-40B4-BE49-F238E27FC236}">
                <a16:creationId xmlns:a16="http://schemas.microsoft.com/office/drawing/2014/main" id="{7D2D2520-B3E6-D6DC-8B15-239A3A69B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2193" y="4613016"/>
            <a:ext cx="8670274" cy="19920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80000" tIns="72000" rIns="18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depende inversamente de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interacción con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el material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y de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temperatura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(de la agitación molecular) porque no favorecen el desplazamiento. Una mayor agitación molecular aumenta la probabilidad de interacción. La dependencia con la interacción es fuerte y con la temperatura suave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7685" name="Text Box 36">
            <a:extLst>
              <a:ext uri="{FF2B5EF4-FFF2-40B4-BE49-F238E27FC236}">
                <a16:creationId xmlns:a16="http://schemas.microsoft.com/office/drawing/2014/main" id="{7B4BDF48-6840-8A98-3F7C-E50B869F2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677" y="3393173"/>
            <a:ext cx="4051604" cy="905881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s-ES" sz="2400" dirty="0">
                <a:latin typeface="Arial" panose="020B0604020202020204" pitchFamily="34" charset="0"/>
              </a:rPr>
              <a:t> mayor</a:t>
            </a:r>
            <a:r>
              <a:rPr lang="es-ES" sz="2400" b="1" dirty="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 y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latin typeface="Arial" panose="020B0604020202020204" pitchFamily="34" charset="0"/>
              </a:rPr>
              <a:t>, mayor </a:t>
            </a:r>
            <a:r>
              <a:rPr lang="es-ES" sz="2400">
                <a:latin typeface="Arial" panose="020B0604020202020204" pitchFamily="34" charset="0"/>
              </a:rPr>
              <a:t>es </a:t>
            </a:r>
            <a:r>
              <a:rPr lang="es-ES" sz="2400" b="1">
                <a:latin typeface="Arial" panose="020B0604020202020204" pitchFamily="34" charset="0"/>
              </a:rPr>
              <a:t>v</a:t>
            </a:r>
            <a:r>
              <a:rPr lang="es-ES" sz="2400" baseline="-25000">
                <a:latin typeface="Arial" panose="020B0604020202020204" pitchFamily="34" charset="0"/>
              </a:rPr>
              <a:t>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y mayor </a:t>
            </a:r>
            <a:r>
              <a:rPr lang="es-ES" sz="2400" dirty="0">
                <a:latin typeface="Arial" panose="020B0604020202020204" pitchFamily="34" charset="0"/>
              </a:rPr>
              <a:t>es la corriente</a:t>
            </a:r>
            <a:endParaRPr lang="es-ES" sz="2400" baseline="-25000" dirty="0">
              <a:latin typeface="Arial" panose="020B0604020202020204" pitchFamily="34" charset="0"/>
            </a:endParaRPr>
          </a:p>
        </p:txBody>
      </p:sp>
      <p:sp>
        <p:nvSpPr>
          <p:cNvPr id="27690" name="Text Box 42">
            <a:extLst>
              <a:ext uri="{FF2B5EF4-FFF2-40B4-BE49-F238E27FC236}">
                <a16:creationId xmlns:a16="http://schemas.microsoft.com/office/drawing/2014/main" id="{1D6FA1E6-311A-723D-DA28-A138946B6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7792" y="2018644"/>
            <a:ext cx="414504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rgbClr val="FF0000"/>
                </a:solidFill>
              </a:rPr>
              <a:t>(da cuenta de la </a:t>
            </a:r>
            <a:r>
              <a:rPr lang="es-ES" sz="2400">
                <a:solidFill>
                  <a:srgbClr val="FF0000"/>
                </a:solidFill>
              </a:rPr>
              <a:t>facilidad que pone </a:t>
            </a:r>
            <a:r>
              <a:rPr lang="es-ES" sz="2400" dirty="0">
                <a:solidFill>
                  <a:srgbClr val="FF0000"/>
                </a:solidFill>
              </a:rPr>
              <a:t>el medio </a:t>
            </a:r>
            <a:r>
              <a:rPr lang="es-ES" sz="2400">
                <a:solidFill>
                  <a:srgbClr val="FF0000"/>
                </a:solidFill>
              </a:rPr>
              <a:t>a su desplazamiento</a:t>
            </a:r>
            <a:r>
              <a:rPr lang="es-ES" sz="2400" dirty="0">
                <a:solidFill>
                  <a:srgbClr val="FF0000"/>
                </a:solidFill>
              </a:rPr>
              <a:t>)</a:t>
            </a:r>
          </a:p>
        </p:txBody>
      </p:sp>
      <p:grpSp>
        <p:nvGrpSpPr>
          <p:cNvPr id="5" name="Group 10">
            <a:extLst>
              <a:ext uri="{FF2B5EF4-FFF2-40B4-BE49-F238E27FC236}">
                <a16:creationId xmlns:a16="http://schemas.microsoft.com/office/drawing/2014/main" id="{847C5C3D-1C7F-3701-144B-91A4EBF87F55}"/>
              </a:ext>
            </a:extLst>
          </p:cNvPr>
          <p:cNvGrpSpPr>
            <a:grpSpLocks/>
          </p:cNvGrpSpPr>
          <p:nvPr/>
        </p:nvGrpSpPr>
        <p:grpSpPr bwMode="auto">
          <a:xfrm>
            <a:off x="1886787" y="2350355"/>
            <a:ext cx="620712" cy="525465"/>
            <a:chOff x="4893" y="1864"/>
            <a:chExt cx="391" cy="331"/>
          </a:xfrm>
        </p:grpSpPr>
        <p:sp>
          <p:nvSpPr>
            <p:cNvPr id="25" name="Text Box 11">
              <a:extLst>
                <a:ext uri="{FF2B5EF4-FFF2-40B4-BE49-F238E27FC236}">
                  <a16:creationId xmlns:a16="http://schemas.microsoft.com/office/drawing/2014/main" id="{98E12F25-F8DA-EDFB-529D-FFB1CCCD27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4" y="1864"/>
              <a:ext cx="22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26" name="Line 12">
              <a:extLst>
                <a:ext uri="{FF2B5EF4-FFF2-40B4-BE49-F238E27FC236}">
                  <a16:creationId xmlns:a16="http://schemas.microsoft.com/office/drawing/2014/main" id="{1485A0AD-8BB2-9CEE-E114-682717623A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7" y="1911"/>
              <a:ext cx="144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27" name="Line 13">
              <a:extLst>
                <a:ext uri="{FF2B5EF4-FFF2-40B4-BE49-F238E27FC236}">
                  <a16:creationId xmlns:a16="http://schemas.microsoft.com/office/drawing/2014/main" id="{0EE6FCA8-5BB0-92D3-14DA-4CB0F11E97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3" y="2195"/>
              <a:ext cx="39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</p:grpSp>
      <p:grpSp>
        <p:nvGrpSpPr>
          <p:cNvPr id="28" name="Group 19">
            <a:extLst>
              <a:ext uri="{FF2B5EF4-FFF2-40B4-BE49-F238E27FC236}">
                <a16:creationId xmlns:a16="http://schemas.microsoft.com/office/drawing/2014/main" id="{4917AB0A-A6DA-A2A8-7DEE-4AAFBBECF3C1}"/>
              </a:ext>
            </a:extLst>
          </p:cNvPr>
          <p:cNvGrpSpPr>
            <a:grpSpLocks/>
          </p:cNvGrpSpPr>
          <p:nvPr/>
        </p:nvGrpSpPr>
        <p:grpSpPr bwMode="auto">
          <a:xfrm>
            <a:off x="2059923" y="3354252"/>
            <a:ext cx="650876" cy="381000"/>
            <a:chOff x="6434" y="1467"/>
            <a:chExt cx="410" cy="240"/>
          </a:xfrm>
        </p:grpSpPr>
        <p:sp>
          <p:nvSpPr>
            <p:cNvPr id="29" name="Text Box 20">
              <a:extLst>
                <a:ext uri="{FF2B5EF4-FFF2-40B4-BE49-F238E27FC236}">
                  <a16:creationId xmlns:a16="http://schemas.microsoft.com/office/drawing/2014/main" id="{DC4BD480-71C8-9C0A-20DA-A66CC1FD2E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4" y="1467"/>
              <a:ext cx="229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7760" tIns="38880" rIns="77760" bIns="38880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v</a:t>
              </a:r>
              <a:r>
                <a:rPr lang="es-ES" sz="2400" baseline="-25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a</a:t>
              </a:r>
              <a:endParaRPr lang="es-ES" sz="2400" dirty="0">
                <a:solidFill>
                  <a:srgbClr val="3333FF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0" name="Line 21">
              <a:extLst>
                <a:ext uri="{FF2B5EF4-FFF2-40B4-BE49-F238E27FC236}">
                  <a16:creationId xmlns:a16="http://schemas.microsoft.com/office/drawing/2014/main" id="{FCD6BB9D-02F2-65FC-B2B4-7D09FBC6FE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87" y="1628"/>
              <a:ext cx="157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 anchorCtr="1"/>
            <a:lstStyle/>
            <a:p>
              <a:endParaRPr lang="es-ES"/>
            </a:p>
          </p:txBody>
        </p:sp>
        <p:sp>
          <p:nvSpPr>
            <p:cNvPr id="31" name="Line 22">
              <a:extLst>
                <a:ext uri="{FF2B5EF4-FFF2-40B4-BE49-F238E27FC236}">
                  <a16:creationId xmlns:a16="http://schemas.microsoft.com/office/drawing/2014/main" id="{C835205F-3F8D-F699-CF52-5EB6289B03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71" y="1524"/>
              <a:ext cx="14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60E45C08-A877-3BC1-81A1-C4F2250553AB}"/>
              </a:ext>
            </a:extLst>
          </p:cNvPr>
          <p:cNvGrpSpPr>
            <a:grpSpLocks/>
          </p:cNvGrpSpPr>
          <p:nvPr/>
        </p:nvGrpSpPr>
        <p:grpSpPr bwMode="auto">
          <a:xfrm>
            <a:off x="1268954" y="540994"/>
            <a:ext cx="1958975" cy="1600200"/>
            <a:chOff x="7708900" y="1860550"/>
            <a:chExt cx="1958975" cy="1600200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7EEFDB64-5A47-1919-1533-F9E7B3464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8900" y="1860550"/>
              <a:ext cx="1958975" cy="1600200"/>
            </a:xfrm>
            <a:custGeom>
              <a:avLst/>
              <a:gdLst>
                <a:gd name="T0" fmla="*/ 2147483646 w 1234"/>
                <a:gd name="T1" fmla="*/ 2147483646 h 1008"/>
                <a:gd name="T2" fmla="*/ 2147483646 w 1234"/>
                <a:gd name="T3" fmla="*/ 2147483646 h 1008"/>
                <a:gd name="T4" fmla="*/ 2147483646 w 1234"/>
                <a:gd name="T5" fmla="*/ 2147483646 h 1008"/>
                <a:gd name="T6" fmla="*/ 0 w 1234"/>
                <a:gd name="T7" fmla="*/ 2147483646 h 1008"/>
                <a:gd name="T8" fmla="*/ 2147483646 w 1234"/>
                <a:gd name="T9" fmla="*/ 2147483646 h 1008"/>
                <a:gd name="T10" fmla="*/ 2147483646 w 1234"/>
                <a:gd name="T11" fmla="*/ 2147483646 h 1008"/>
                <a:gd name="T12" fmla="*/ 2147483646 w 1234"/>
                <a:gd name="T13" fmla="*/ 0 h 1008"/>
                <a:gd name="T14" fmla="*/ 2147483646 w 1234"/>
                <a:gd name="T15" fmla="*/ 2147483646 h 1008"/>
                <a:gd name="T16" fmla="*/ 2147483646 w 1234"/>
                <a:gd name="T17" fmla="*/ 2147483646 h 1008"/>
                <a:gd name="T18" fmla="*/ 2147483646 w 1234"/>
                <a:gd name="T19" fmla="*/ 2147483646 h 1008"/>
                <a:gd name="T20" fmla="*/ 0 w 1234"/>
                <a:gd name="T21" fmla="*/ 2147483646 h 1008"/>
                <a:gd name="T22" fmla="*/ 2147483646 w 1234"/>
                <a:gd name="T23" fmla="*/ 2147483646 h 1008"/>
                <a:gd name="T24" fmla="*/ 2147483646 w 1234"/>
                <a:gd name="T25" fmla="*/ 2147483646 h 1008"/>
                <a:gd name="T26" fmla="*/ 2147483646 w 1234"/>
                <a:gd name="T27" fmla="*/ 2147483646 h 100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34"/>
                <a:gd name="T43" fmla="*/ 0 h 1008"/>
                <a:gd name="T44" fmla="*/ 1234 w 1234"/>
                <a:gd name="T45" fmla="*/ 1008 h 100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34" h="1008">
                  <a:moveTo>
                    <a:pt x="401" y="606"/>
                  </a:moveTo>
                  <a:lnTo>
                    <a:pt x="504" y="164"/>
                  </a:lnTo>
                  <a:lnTo>
                    <a:pt x="895" y="216"/>
                  </a:lnTo>
                  <a:lnTo>
                    <a:pt x="0" y="401"/>
                  </a:lnTo>
                  <a:lnTo>
                    <a:pt x="987" y="483"/>
                  </a:lnTo>
                  <a:lnTo>
                    <a:pt x="997" y="41"/>
                  </a:lnTo>
                  <a:lnTo>
                    <a:pt x="555" y="0"/>
                  </a:lnTo>
                  <a:lnTo>
                    <a:pt x="576" y="627"/>
                  </a:lnTo>
                  <a:lnTo>
                    <a:pt x="1234" y="884"/>
                  </a:lnTo>
                  <a:lnTo>
                    <a:pt x="380" y="843"/>
                  </a:lnTo>
                  <a:lnTo>
                    <a:pt x="0" y="10"/>
                  </a:lnTo>
                  <a:lnTo>
                    <a:pt x="843" y="349"/>
                  </a:lnTo>
                  <a:lnTo>
                    <a:pt x="761" y="1008"/>
                  </a:lnTo>
                  <a:lnTo>
                    <a:pt x="401" y="606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34" name="Line 23">
              <a:extLst>
                <a:ext uri="{FF2B5EF4-FFF2-40B4-BE49-F238E27FC236}">
                  <a16:creationId xmlns:a16="http://schemas.microsoft.com/office/drawing/2014/main" id="{0200939F-E5C0-7341-4D97-A6C452F05BC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000000" flipV="1">
              <a:off x="8120063" y="23971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35" name="Line 24">
              <a:extLst>
                <a:ext uri="{FF2B5EF4-FFF2-40B4-BE49-F238E27FC236}">
                  <a16:creationId xmlns:a16="http://schemas.microsoft.com/office/drawing/2014/main" id="{F230B1F2-14CC-FA40-94FF-E99A9F0C7A6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80000" flipH="1" flipV="1">
              <a:off x="8704263" y="21431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36" name="Line 25">
              <a:extLst>
                <a:ext uri="{FF2B5EF4-FFF2-40B4-BE49-F238E27FC236}">
                  <a16:creationId xmlns:a16="http://schemas.microsoft.com/office/drawing/2014/main" id="{8EE9D774-0AE0-4F89-C9B2-AB58248B1DE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4920000" flipH="1" flipV="1">
              <a:off x="8348663" y="24860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37" name="Line 26">
              <a:extLst>
                <a:ext uri="{FF2B5EF4-FFF2-40B4-BE49-F238E27FC236}">
                  <a16:creationId xmlns:a16="http://schemas.microsoft.com/office/drawing/2014/main" id="{947AB5F2-8EE3-3BDA-6291-72E8D21754D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8700000" flipH="1" flipV="1">
              <a:off x="8501063" y="30702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38" name="Line 27">
              <a:extLst>
                <a:ext uri="{FF2B5EF4-FFF2-40B4-BE49-F238E27FC236}">
                  <a16:creationId xmlns:a16="http://schemas.microsoft.com/office/drawing/2014/main" id="{B598279B-2767-947C-3E70-45806EE6991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6300000" flipH="1" flipV="1">
              <a:off x="8920163" y="28416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39" name="Line 28">
              <a:extLst>
                <a:ext uri="{FF2B5EF4-FFF2-40B4-BE49-F238E27FC236}">
                  <a16:creationId xmlns:a16="http://schemas.microsoft.com/office/drawing/2014/main" id="{4DB6F1DB-972C-998E-862D-29971A59432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80000" flipH="1" flipV="1">
              <a:off x="8094663" y="20669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40" name="Line 29">
              <a:extLst>
                <a:ext uri="{FF2B5EF4-FFF2-40B4-BE49-F238E27FC236}">
                  <a16:creationId xmlns:a16="http://schemas.microsoft.com/office/drawing/2014/main" id="{6753A3B1-3B87-2FDE-D4FB-2B7B1AD3053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5300000" flipH="1">
              <a:off x="8031163" y="27527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41" name="Line 30">
              <a:extLst>
                <a:ext uri="{FF2B5EF4-FFF2-40B4-BE49-F238E27FC236}">
                  <a16:creationId xmlns:a16="http://schemas.microsoft.com/office/drawing/2014/main" id="{7B115AFC-36AD-5E67-61A5-FFB4205CE34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120000" flipV="1">
              <a:off x="9047163" y="32353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42" name="Line 31">
              <a:extLst>
                <a:ext uri="{FF2B5EF4-FFF2-40B4-BE49-F238E27FC236}">
                  <a16:creationId xmlns:a16="http://schemas.microsoft.com/office/drawing/2014/main" id="{933473E6-DE66-282E-5422-4178EAF5949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80000" flipH="1" flipV="1">
              <a:off x="9174163" y="30956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43" name="Line 32">
              <a:extLst>
                <a:ext uri="{FF2B5EF4-FFF2-40B4-BE49-F238E27FC236}">
                  <a16:creationId xmlns:a16="http://schemas.microsoft.com/office/drawing/2014/main" id="{C2957D9F-88AB-526B-4FE0-E24A5A540B0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100000" flipH="1" flipV="1">
              <a:off x="8526463" y="20034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44" name="Line 33">
              <a:extLst>
                <a:ext uri="{FF2B5EF4-FFF2-40B4-BE49-F238E27FC236}">
                  <a16:creationId xmlns:a16="http://schemas.microsoft.com/office/drawing/2014/main" id="{1AD19C41-262C-9E18-CCDB-59ED90CA0D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82063" y="1887538"/>
              <a:ext cx="144463" cy="15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45" name="Line 34">
              <a:extLst>
                <a:ext uri="{FF2B5EF4-FFF2-40B4-BE49-F238E27FC236}">
                  <a16:creationId xmlns:a16="http://schemas.microsoft.com/office/drawing/2014/main" id="{73CC33C3-F8F9-3FAD-47E0-5E856DD41FD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9212263" y="23336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46" name="Line 35">
              <a:extLst>
                <a:ext uri="{FF2B5EF4-FFF2-40B4-BE49-F238E27FC236}">
                  <a16:creationId xmlns:a16="http://schemas.microsoft.com/office/drawing/2014/main" id="{AE2F6E05-7237-BE6C-6759-37B40357A1F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80000" flipH="1" flipV="1">
              <a:off x="8767763" y="2587625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pic>
          <p:nvPicPr>
            <p:cNvPr id="47" name="Picture 170" descr="Image2">
              <a:extLst>
                <a:ext uri="{FF2B5EF4-FFF2-40B4-BE49-F238E27FC236}">
                  <a16:creationId xmlns:a16="http://schemas.microsoft.com/office/drawing/2014/main" id="{267D34C7-62C4-A7DD-A672-1FE46703FE7A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85776" y="2689059"/>
              <a:ext cx="294925" cy="281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16348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479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7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7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79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58" grpId="0" animBg="1"/>
      <p:bldP spid="479278" grpId="0" animBg="1"/>
      <p:bldP spid="27685" grpId="0" animBg="1"/>
      <p:bldP spid="2769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9E449D01-3936-B208-4F38-9F8D583BF1BA}"/>
              </a:ext>
            </a:extLst>
          </p:cNvPr>
          <p:cNvSpPr/>
          <p:nvPr/>
        </p:nvSpPr>
        <p:spPr bwMode="auto">
          <a:xfrm>
            <a:off x="1773716" y="1450980"/>
            <a:ext cx="7954178" cy="104496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6D569539-935E-4E08-90CB-71E3A12C04C7}"/>
              </a:ext>
            </a:extLst>
          </p:cNvPr>
          <p:cNvSpPr/>
          <p:nvPr/>
        </p:nvSpPr>
        <p:spPr bwMode="auto">
          <a:xfrm>
            <a:off x="8958977" y="1718633"/>
            <a:ext cx="293096" cy="603250"/>
          </a:xfrm>
          <a:prstGeom prst="rect">
            <a:avLst/>
          </a:prstGeom>
          <a:solidFill>
            <a:srgbClr val="99CCFF"/>
          </a:solidFill>
          <a:ln w="381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E1FA4BA-6A77-4B2D-9942-161441136478}"/>
              </a:ext>
            </a:extLst>
          </p:cNvPr>
          <p:cNvSpPr/>
          <p:nvPr/>
        </p:nvSpPr>
        <p:spPr bwMode="auto">
          <a:xfrm>
            <a:off x="7504330" y="1705380"/>
            <a:ext cx="691106" cy="603250"/>
          </a:xfrm>
          <a:prstGeom prst="rect">
            <a:avLst/>
          </a:prstGeom>
          <a:solidFill>
            <a:srgbClr val="99CCFF"/>
          </a:solidFill>
          <a:ln w="381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8524076" y="4331677"/>
            <a:ext cx="1366837" cy="706437"/>
            <a:chOff x="5446" y="3325"/>
            <a:chExt cx="861" cy="445"/>
          </a:xfrm>
        </p:grpSpPr>
        <p:sp>
          <p:nvSpPr>
            <p:cNvPr id="29752" name="Rectangle 29"/>
            <p:cNvSpPr>
              <a:spLocks noChangeArrowheads="1"/>
            </p:cNvSpPr>
            <p:nvPr/>
          </p:nvSpPr>
          <p:spPr bwMode="auto">
            <a:xfrm>
              <a:off x="5446" y="3325"/>
              <a:ext cx="861" cy="445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9753" name="Object 30"/>
            <p:cNvGraphicFramePr>
              <a:graphicFrameLocks noChangeAspect="1"/>
            </p:cNvGraphicFramePr>
            <p:nvPr/>
          </p:nvGraphicFramePr>
          <p:xfrm>
            <a:off x="5477" y="3386"/>
            <a:ext cx="799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494870" imgH="215713" progId="Equation.3">
                    <p:embed/>
                  </p:oleObj>
                </mc:Choice>
                <mc:Fallback>
                  <p:oleObj name="Ecuación" r:id="rId3" imgW="494870" imgH="215713" progId="Equation.3">
                    <p:embed/>
                    <p:pic>
                      <p:nvPicPr>
                        <p:cNvPr id="29753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7" y="3386"/>
                          <a:ext cx="799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1837" name="Text Box 13"/>
          <p:cNvSpPr txBox="1">
            <a:spLocks noChangeArrowheads="1"/>
          </p:cNvSpPr>
          <p:nvPr/>
        </p:nvSpPr>
        <p:spPr bwMode="auto">
          <a:xfrm>
            <a:off x="3072861" y="417418"/>
            <a:ext cx="5416316" cy="609252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LEY DE OHM a nivel microscópico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1843" name="Object 19"/>
              <p:cNvSpPr txBox="1">
                <a:spLocks noGrp="1"/>
              </p:cNvSpPr>
              <p:nvPr>
                <p:ph/>
              </p:nvPr>
            </p:nvSpPr>
            <p:spPr bwMode="auto">
              <a:xfrm>
                <a:off x="5599273" y="1695441"/>
                <a:ext cx="1487487" cy="646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ne</m:t>
                      </m:r>
                      <m: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s-E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E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s-E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es-ES" sz="2800"/>
              </a:p>
            </p:txBody>
          </p:sp>
        </mc:Choice>
        <mc:Fallback xmlns="">
          <p:sp>
            <p:nvSpPr>
              <p:cNvPr id="461843" name="Object 1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 bwMode="auto">
              <a:xfrm>
                <a:off x="5599273" y="1695441"/>
                <a:ext cx="1487487" cy="6461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1"/>
          <p:cNvSpPr txBox="1">
            <a:spLocks noChangeArrowheads="1"/>
          </p:cNvSpPr>
          <p:nvPr/>
        </p:nvSpPr>
        <p:spPr bwMode="auto">
          <a:xfrm>
            <a:off x="8064089" y="5126058"/>
            <a:ext cx="2156681" cy="906467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Resistividad eléctrica</a:t>
            </a: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8D919C39-361E-409E-BEAF-153AE5D38270}"/>
              </a:ext>
            </a:extLst>
          </p:cNvPr>
          <p:cNvGrpSpPr/>
          <p:nvPr/>
        </p:nvGrpSpPr>
        <p:grpSpPr>
          <a:xfrm>
            <a:off x="3712984" y="4318745"/>
            <a:ext cx="1674815" cy="813753"/>
            <a:chOff x="3659194" y="3270696"/>
            <a:chExt cx="1674815" cy="813753"/>
          </a:xfrm>
        </p:grpSpPr>
        <p:sp>
          <p:nvSpPr>
            <p:cNvPr id="29758" name="Rectangle 4"/>
            <p:cNvSpPr>
              <a:spLocks noChangeArrowheads="1"/>
            </p:cNvSpPr>
            <p:nvPr/>
          </p:nvSpPr>
          <p:spPr bwMode="auto">
            <a:xfrm>
              <a:off x="3659194" y="3270696"/>
              <a:ext cx="1674815" cy="813753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Object 19"/>
                <p:cNvSpPr txBox="1"/>
                <p:nvPr/>
              </p:nvSpPr>
              <p:spPr bwMode="auto">
                <a:xfrm>
                  <a:off x="3793928" y="3307931"/>
                  <a:ext cx="1470222" cy="5953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s-ES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ES" sz="3200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acc>
                        <m:r>
                          <a:rPr lang="es-ES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s-ES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s-ES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  <m:acc>
                          <m:accPr>
                            <m:chr m:val="⃗"/>
                            <m:ctrlPr>
                              <a:rPr lang="es-E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ES" sz="32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acc>
                      </m:oMath>
                    </m:oMathPara>
                  </a14:m>
                  <a:endParaRPr lang="es-ES" sz="3200"/>
                </a:p>
              </p:txBody>
            </p:sp>
          </mc:Choice>
          <mc:Fallback xmlns="">
            <p:sp>
              <p:nvSpPr>
                <p:cNvPr id="4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93928" y="3307931"/>
                  <a:ext cx="1470222" cy="59531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62E4F769-E004-4751-9865-F284EDCCB7DD}"/>
              </a:ext>
            </a:extLst>
          </p:cNvPr>
          <p:cNvGrpSpPr/>
          <p:nvPr/>
        </p:nvGrpSpPr>
        <p:grpSpPr>
          <a:xfrm>
            <a:off x="5341869" y="4315899"/>
            <a:ext cx="2480227" cy="796290"/>
            <a:chOff x="5341869" y="3289366"/>
            <a:chExt cx="2480227" cy="796290"/>
          </a:xfrm>
        </p:grpSpPr>
        <p:sp>
          <p:nvSpPr>
            <p:cNvPr id="461826" name="Rectangle 2"/>
            <p:cNvSpPr>
              <a:spLocks noChangeArrowheads="1"/>
            </p:cNvSpPr>
            <p:nvPr/>
          </p:nvSpPr>
          <p:spPr bwMode="auto">
            <a:xfrm>
              <a:off x="6127783" y="3289366"/>
              <a:ext cx="1564640" cy="796290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bject 19"/>
                <p:cNvSpPr txBox="1"/>
                <p:nvPr/>
              </p:nvSpPr>
              <p:spPr bwMode="auto">
                <a:xfrm>
                  <a:off x="5341869" y="3325813"/>
                  <a:ext cx="2480227" cy="6397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ES" sz="320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  <m:r>
                          <a:rPr lang="es-ES" sz="320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↔</m:t>
                        </m:r>
                        <m:r>
                          <a:rPr lang="es-ES" sz="320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 </m:t>
                        </m:r>
                        <m:acc>
                          <m:accPr>
                            <m:chr m:val="⃗"/>
                            <m:ctrlPr>
                              <a:rPr lang="es-E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ES" sz="32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acc>
                        <m:r>
                          <a:rPr lang="es-ES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s-ES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  <m:r>
                          <a:rPr lang="es-ES" sz="3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  <m:acc>
                          <m:accPr>
                            <m:chr m:val="⃗"/>
                            <m:ctrlPr>
                              <a:rPr lang="es-E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ES" sz="32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acc>
                      </m:oMath>
                    </m:oMathPara>
                  </a14:m>
                  <a:endParaRPr lang="es-ES" sz="3200"/>
                </a:p>
              </p:txBody>
            </p:sp>
          </mc:Choice>
          <mc:Fallback xmlns="">
            <p:sp>
              <p:nvSpPr>
                <p:cNvPr id="5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41869" y="3325813"/>
                  <a:ext cx="2480227" cy="63976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714" name="Text Box 24"/>
          <p:cNvSpPr txBox="1">
            <a:spLocks noChangeArrowheads="1"/>
          </p:cNvSpPr>
          <p:nvPr/>
        </p:nvSpPr>
        <p:spPr bwMode="auto">
          <a:xfrm>
            <a:off x="8053473" y="2568175"/>
            <a:ext cx="2178053" cy="884241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Conductividad eléctrica</a:t>
            </a:r>
          </a:p>
        </p:txBody>
      </p:sp>
      <p:sp>
        <p:nvSpPr>
          <p:cNvPr id="29731" name="Text Box 31"/>
          <p:cNvSpPr txBox="1">
            <a:spLocks noChangeArrowheads="1"/>
          </p:cNvSpPr>
          <p:nvPr/>
        </p:nvSpPr>
        <p:spPr bwMode="auto">
          <a:xfrm>
            <a:off x="1394635" y="3607264"/>
            <a:ext cx="3614867" cy="536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: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Densidad de carga</a:t>
            </a:r>
          </a:p>
        </p:txBody>
      </p:sp>
      <p:sp>
        <p:nvSpPr>
          <p:cNvPr id="29727" name="Text Box 97"/>
          <p:cNvSpPr txBox="1">
            <a:spLocks noChangeArrowheads="1"/>
          </p:cNvSpPr>
          <p:nvPr/>
        </p:nvSpPr>
        <p:spPr bwMode="auto">
          <a:xfrm>
            <a:off x="5069697" y="2612220"/>
            <a:ext cx="2983776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Todo portador tiene la misma carga: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“e”</a:t>
            </a:r>
          </a:p>
        </p:txBody>
      </p:sp>
      <p:sp>
        <p:nvSpPr>
          <p:cNvPr id="29729" name="Text Box 62"/>
          <p:cNvSpPr txBox="1">
            <a:spLocks noChangeArrowheads="1"/>
          </p:cNvSpPr>
          <p:nvPr/>
        </p:nvSpPr>
        <p:spPr bwMode="auto">
          <a:xfrm>
            <a:off x="5101912" y="3611549"/>
            <a:ext cx="409548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n: Densidad de portadores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AFDF96E4-1CF8-49E0-9BF8-DDF4A1C38CD9}"/>
              </a:ext>
            </a:extLst>
          </p:cNvPr>
          <p:cNvGrpSpPr/>
          <p:nvPr/>
        </p:nvGrpSpPr>
        <p:grpSpPr>
          <a:xfrm>
            <a:off x="5259695" y="5001079"/>
            <a:ext cx="1788219" cy="790045"/>
            <a:chOff x="5138530" y="4126280"/>
            <a:chExt cx="1788219" cy="790045"/>
          </a:xfrm>
        </p:grpSpPr>
        <p:sp>
          <p:nvSpPr>
            <p:cNvPr id="29756" name="Text Box 15"/>
            <p:cNvSpPr txBox="1">
              <a:spLocks noChangeArrowheads="1"/>
            </p:cNvSpPr>
            <p:nvPr/>
          </p:nvSpPr>
          <p:spPr bwMode="auto">
            <a:xfrm>
              <a:off x="5402730" y="4379778"/>
              <a:ext cx="1524019" cy="5365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CAUSA</a:t>
              </a:r>
            </a:p>
          </p:txBody>
        </p:sp>
        <p:sp>
          <p:nvSpPr>
            <p:cNvPr id="70" name="Line 22"/>
            <p:cNvSpPr>
              <a:spLocks noChangeShapeType="1"/>
            </p:cNvSpPr>
            <p:nvPr/>
          </p:nvSpPr>
          <p:spPr bwMode="auto">
            <a:xfrm flipH="1" flipV="1">
              <a:off x="5138530" y="4126280"/>
              <a:ext cx="406952" cy="35502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s-ES" sz="2400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F48E3DDE-F45B-4C0E-ACD7-C04046C6BE54}"/>
              </a:ext>
            </a:extLst>
          </p:cNvPr>
          <p:cNvGrpSpPr/>
          <p:nvPr/>
        </p:nvGrpSpPr>
        <p:grpSpPr>
          <a:xfrm>
            <a:off x="2346420" y="5014833"/>
            <a:ext cx="1494426" cy="784248"/>
            <a:chOff x="2340755" y="4149665"/>
            <a:chExt cx="1494426" cy="784248"/>
          </a:xfrm>
        </p:grpSpPr>
        <p:sp>
          <p:nvSpPr>
            <p:cNvPr id="29757" name="Text Box 16"/>
            <p:cNvSpPr txBox="1">
              <a:spLocks noChangeArrowheads="1"/>
            </p:cNvSpPr>
            <p:nvPr/>
          </p:nvSpPr>
          <p:spPr bwMode="auto">
            <a:xfrm>
              <a:off x="2340755" y="4397365"/>
              <a:ext cx="1444643" cy="536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EFECTO</a:t>
              </a:r>
            </a:p>
          </p:txBody>
        </p:sp>
        <p:sp>
          <p:nvSpPr>
            <p:cNvPr id="72" name="Line 22">
              <a:extLst>
                <a:ext uri="{FF2B5EF4-FFF2-40B4-BE49-F238E27FC236}">
                  <a16:creationId xmlns:a16="http://schemas.microsoft.com/office/drawing/2014/main" id="{F3133E1A-5E3A-4DC8-92FB-37660C1168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85361" y="4149665"/>
              <a:ext cx="349820" cy="331639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s-ES" sz="2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bject 19">
                <a:extLst>
                  <a:ext uri="{FF2B5EF4-FFF2-40B4-BE49-F238E27FC236}">
                    <a16:creationId xmlns:a16="http://schemas.microsoft.com/office/drawing/2014/main" id="{0B7A7A6B-3B4F-4579-9994-62EEC4BB548F}"/>
                  </a:ext>
                </a:extLst>
              </p:cNvPr>
              <p:cNvSpPr txBox="1"/>
              <p:nvPr/>
            </p:nvSpPr>
            <p:spPr bwMode="auto">
              <a:xfrm>
                <a:off x="4860908" y="1672008"/>
                <a:ext cx="1079271" cy="646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28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ρ</m:t>
                      </m:r>
                      <m: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s-E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E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s-E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es-ES" sz="28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4" name="Object 19">
                <a:extLst>
                  <a:ext uri="{FF2B5EF4-FFF2-40B4-BE49-F238E27FC236}">
                    <a16:creationId xmlns:a16="http://schemas.microsoft.com/office/drawing/2014/main" id="{0B7A7A6B-3B4F-4579-9994-62EEC4BB5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60908" y="1672008"/>
                <a:ext cx="1079271" cy="6461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Object 19">
                <a:extLst>
                  <a:ext uri="{FF2B5EF4-FFF2-40B4-BE49-F238E27FC236}">
                    <a16:creationId xmlns:a16="http://schemas.microsoft.com/office/drawing/2014/main" id="{93E5A4EE-17A2-4B69-9AF2-DDC84D158679}"/>
                  </a:ext>
                </a:extLst>
              </p:cNvPr>
              <p:cNvSpPr txBox="1"/>
              <p:nvPr/>
            </p:nvSpPr>
            <p:spPr bwMode="auto">
              <a:xfrm>
                <a:off x="7111292" y="1673821"/>
                <a:ext cx="1377950" cy="603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neμ</m:t>
                      </m:r>
                      <m: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acc>
                        <m:accPr>
                          <m:chr m:val="⃗"/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E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acc>
                    </m:oMath>
                  </m:oMathPara>
                </a14:m>
                <a:endParaRPr lang="es-ES" sz="2800"/>
              </a:p>
            </p:txBody>
          </p:sp>
        </mc:Choice>
        <mc:Fallback xmlns="">
          <p:sp>
            <p:nvSpPr>
              <p:cNvPr id="79" name="Object 19">
                <a:extLst>
                  <a:ext uri="{FF2B5EF4-FFF2-40B4-BE49-F238E27FC236}">
                    <a16:creationId xmlns:a16="http://schemas.microsoft.com/office/drawing/2014/main" id="{93E5A4EE-17A2-4B69-9AF2-DDC84D15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11292" y="1673821"/>
                <a:ext cx="1377950" cy="60325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Object 19">
                <a:extLst>
                  <a:ext uri="{FF2B5EF4-FFF2-40B4-BE49-F238E27FC236}">
                    <a16:creationId xmlns:a16="http://schemas.microsoft.com/office/drawing/2014/main" id="{C55A7910-05E7-4521-A1F6-01CC2B6F377B}"/>
                  </a:ext>
                </a:extLst>
              </p:cNvPr>
              <p:cNvSpPr txBox="1"/>
              <p:nvPr/>
            </p:nvSpPr>
            <p:spPr bwMode="auto">
              <a:xfrm>
                <a:off x="8553530" y="1668968"/>
                <a:ext cx="1377950" cy="603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acc>
                        <m:accPr>
                          <m:chr m:val="⃗"/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E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acc>
                    </m:oMath>
                  </m:oMathPara>
                </a14:m>
                <a:endParaRPr lang="es-ES" sz="2800"/>
              </a:p>
            </p:txBody>
          </p:sp>
        </mc:Choice>
        <mc:Fallback xmlns="">
          <p:sp>
            <p:nvSpPr>
              <p:cNvPr id="82" name="Object 19">
                <a:extLst>
                  <a:ext uri="{FF2B5EF4-FFF2-40B4-BE49-F238E27FC236}">
                    <a16:creationId xmlns:a16="http://schemas.microsoft.com/office/drawing/2014/main" id="{C55A7910-05E7-4521-A1F6-01CC2B6F3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53530" y="1668968"/>
                <a:ext cx="1377950" cy="60325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19">
                <a:extLst>
                  <a:ext uri="{FF2B5EF4-FFF2-40B4-BE49-F238E27FC236}">
                    <a16:creationId xmlns:a16="http://schemas.microsoft.com/office/drawing/2014/main" id="{CE0A71BA-F3A6-4A38-882C-67290D7A6D8B}"/>
                  </a:ext>
                </a:extLst>
              </p:cNvPr>
              <p:cNvSpPr txBox="1"/>
              <p:nvPr/>
            </p:nvSpPr>
            <p:spPr bwMode="auto">
              <a:xfrm>
                <a:off x="1936056" y="1697538"/>
                <a:ext cx="785367" cy="646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E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ES" sz="28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</m:acc>
                      <m: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ES" sz="28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7" name="Object 19">
                <a:extLst>
                  <a:ext uri="{FF2B5EF4-FFF2-40B4-BE49-F238E27FC236}">
                    <a16:creationId xmlns:a16="http://schemas.microsoft.com/office/drawing/2014/main" id="{CE0A71BA-F3A6-4A38-882C-67290D7A6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36056" y="1697538"/>
                <a:ext cx="785367" cy="64611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9">
                <a:extLst>
                  <a:ext uri="{FF2B5EF4-FFF2-40B4-BE49-F238E27FC236}">
                    <a16:creationId xmlns:a16="http://schemas.microsoft.com/office/drawing/2014/main" id="{B2FCB3D7-92EF-433B-B059-6D7010E1ACB0}"/>
                  </a:ext>
                </a:extLst>
              </p:cNvPr>
              <p:cNvSpPr txBox="1"/>
              <p:nvPr/>
            </p:nvSpPr>
            <p:spPr bwMode="auto">
              <a:xfrm>
                <a:off x="2580816" y="1551380"/>
                <a:ext cx="1492242" cy="9445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  <m: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sSub>
                        <m:sSubPr>
                          <m:ctrlP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acc>
                            <m:accPr>
                              <m:chr m:val="⃑"/>
                              <m:ctrlP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sub>
                      </m:sSub>
                    </m:oMath>
                  </m:oMathPara>
                </a14:m>
                <a:endParaRPr lang="es-ES" sz="2400"/>
              </a:p>
            </p:txBody>
          </p:sp>
        </mc:Choice>
        <mc:Fallback xmlns="">
          <p:sp>
            <p:nvSpPr>
              <p:cNvPr id="35" name="Object 9">
                <a:extLst>
                  <a:ext uri="{FF2B5EF4-FFF2-40B4-BE49-F238E27FC236}">
                    <a16:creationId xmlns:a16="http://schemas.microsoft.com/office/drawing/2014/main" id="{B2FCB3D7-92EF-433B-B059-6D7010E1A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80816" y="1551380"/>
                <a:ext cx="1492242" cy="94456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9">
                <a:extLst>
                  <a:ext uri="{FF2B5EF4-FFF2-40B4-BE49-F238E27FC236}">
                    <a16:creationId xmlns:a16="http://schemas.microsoft.com/office/drawing/2014/main" id="{DF517998-E80B-4E1D-98B5-5D4A7157FBE1}"/>
                  </a:ext>
                </a:extLst>
              </p:cNvPr>
              <p:cNvSpPr txBox="1"/>
              <p:nvPr/>
            </p:nvSpPr>
            <p:spPr bwMode="auto">
              <a:xfrm>
                <a:off x="3934560" y="1552998"/>
                <a:ext cx="1108740" cy="9445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  <m:r>
                        <a:rPr lang="es-E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ES" sz="2400"/>
              </a:p>
            </p:txBody>
          </p:sp>
        </mc:Choice>
        <mc:Fallback xmlns="">
          <p:sp>
            <p:nvSpPr>
              <p:cNvPr id="38" name="Object 9">
                <a:extLst>
                  <a:ext uri="{FF2B5EF4-FFF2-40B4-BE49-F238E27FC236}">
                    <a16:creationId xmlns:a16="http://schemas.microsoft.com/office/drawing/2014/main" id="{DF517998-E80B-4E1D-98B5-5D4A7157F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4560" y="1552998"/>
                <a:ext cx="1108740" cy="94456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upo 35">
            <a:extLst>
              <a:ext uri="{FF2B5EF4-FFF2-40B4-BE49-F238E27FC236}">
                <a16:creationId xmlns:a16="http://schemas.microsoft.com/office/drawing/2014/main" id="{273BB9D0-3CA1-46D4-A22B-319A504E2A0E}"/>
              </a:ext>
            </a:extLst>
          </p:cNvPr>
          <p:cNvGrpSpPr/>
          <p:nvPr/>
        </p:nvGrpSpPr>
        <p:grpSpPr>
          <a:xfrm>
            <a:off x="3906812" y="4999649"/>
            <a:ext cx="1524019" cy="927421"/>
            <a:chOff x="4800972" y="4029325"/>
            <a:chExt cx="1524019" cy="927421"/>
          </a:xfrm>
        </p:grpSpPr>
        <p:sp>
          <p:nvSpPr>
            <p:cNvPr id="39" name="Text Box 15">
              <a:extLst>
                <a:ext uri="{FF2B5EF4-FFF2-40B4-BE49-F238E27FC236}">
                  <a16:creationId xmlns:a16="http://schemas.microsoft.com/office/drawing/2014/main" id="{063A65BE-A063-4CC3-9781-48DDEDA94D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972" y="4420199"/>
              <a:ext cx="1524019" cy="5365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MEDIO</a:t>
              </a:r>
              <a:endParaRPr lang="es-ES" sz="2400" b="1" dirty="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" name="Line 22">
              <a:extLst>
                <a:ext uri="{FF2B5EF4-FFF2-40B4-BE49-F238E27FC236}">
                  <a16:creationId xmlns:a16="http://schemas.microsoft.com/office/drawing/2014/main" id="{1A55549D-A7C2-467C-81E7-481530D4D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9989" y="4029325"/>
              <a:ext cx="0" cy="42725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s-ES" sz="2400"/>
            </a:p>
          </p:txBody>
        </p:sp>
      </p:grpSp>
      <p:sp>
        <p:nvSpPr>
          <p:cNvPr id="8" name="Text Box 31">
            <a:extLst>
              <a:ext uri="{FF2B5EF4-FFF2-40B4-BE49-F238E27FC236}">
                <a16:creationId xmlns:a16="http://schemas.microsoft.com/office/drawing/2014/main" id="{70FB162A-8343-8C5F-1072-4F0693FDB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014" y="2584454"/>
            <a:ext cx="3994069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dx</a:t>
            </a:r>
            <a:r>
              <a:rPr lang="es-ES" sz="2400" baseline="-25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Desplazaminiento en dirección de arrastre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 Box 36">
            <a:extLst>
              <a:ext uri="{FF2B5EF4-FFF2-40B4-BE49-F238E27FC236}">
                <a16:creationId xmlns:a16="http://schemas.microsoft.com/office/drawing/2014/main" id="{0955F92D-A6B9-9C4F-FBBC-5E0202CCE4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9761" y="6223835"/>
            <a:ext cx="8496277" cy="53654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Para igual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a</a:t>
            </a:r>
            <a:r>
              <a:rPr lang="es-ES" sz="2400">
                <a:latin typeface="Arial" panose="020B0604020202020204" pitchFamily="34" charset="0"/>
              </a:rPr>
              <a:t> mayor</a:t>
            </a:r>
            <a:r>
              <a:rPr lang="es-ES" sz="2400" b="1"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 y </a:t>
            </a:r>
            <a:r>
              <a:rPr lang="es-ES" sz="2400">
                <a:latin typeface="Arial" panose="020B0604020202020204" pitchFamily="34" charset="0"/>
              </a:rPr>
              <a:t>menor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, mayor es j y la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corriente</a:t>
            </a:r>
            <a:endParaRPr lang="es-ES" sz="2400" baseline="-25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61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9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9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29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61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9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9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6" grpId="0" animBg="1"/>
      <p:bldP spid="28" grpId="0" animBg="1"/>
      <p:bldP spid="461837" grpId="0" animBg="1"/>
      <p:bldP spid="461843" grpId="0" build="p"/>
      <p:bldP spid="3" grpId="0" animBg="1"/>
      <p:bldP spid="29714" grpId="0" animBg="1"/>
      <p:bldP spid="29731" grpId="0"/>
      <p:bldP spid="29727" grpId="0"/>
      <p:bldP spid="29729" grpId="0"/>
      <p:bldP spid="74" grpId="0"/>
      <p:bldP spid="79" grpId="0"/>
      <p:bldP spid="82" grpId="0"/>
      <p:bldP spid="37" grpId="0"/>
      <p:bldP spid="35" grpId="0"/>
      <p:bldP spid="38" grpId="0"/>
      <p:bldP spid="8" grpId="0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ángulo 44">
            <a:extLst>
              <a:ext uri="{FF2B5EF4-FFF2-40B4-BE49-F238E27FC236}">
                <a16:creationId xmlns:a16="http://schemas.microsoft.com/office/drawing/2014/main" id="{F1DED9BB-7E7C-4E6D-9BCC-FFC88E1DA148}"/>
              </a:ext>
            </a:extLst>
          </p:cNvPr>
          <p:cNvSpPr/>
          <p:nvPr/>
        </p:nvSpPr>
        <p:spPr bwMode="auto">
          <a:xfrm rot="5400000">
            <a:off x="7112314" y="3573859"/>
            <a:ext cx="4409346" cy="210604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9" name="Rectángulo 18"/>
          <p:cNvSpPr/>
          <p:nvPr/>
        </p:nvSpPr>
        <p:spPr bwMode="auto">
          <a:xfrm>
            <a:off x="1200839" y="2161847"/>
            <a:ext cx="9169171" cy="103539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aphicFrame>
        <p:nvGraphicFramePr>
          <p:cNvPr id="4577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6367373"/>
              </p:ext>
            </p:extLst>
          </p:nvPr>
        </p:nvGraphicFramePr>
        <p:xfrm>
          <a:off x="4892116" y="2270832"/>
          <a:ext cx="33718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473200" imgH="330200" progId="Equation.3">
                  <p:embed/>
                </p:oleObj>
              </mc:Choice>
              <mc:Fallback>
                <p:oleObj name="Ecuación" r:id="rId3" imgW="1473200" imgH="330200" progId="Equation.3">
                  <p:embed/>
                  <p:pic>
                    <p:nvPicPr>
                      <p:cNvPr id="45773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2116" y="2270832"/>
                        <a:ext cx="337185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701" name="Group 53"/>
          <p:cNvGrpSpPr>
            <a:grpSpLocks/>
          </p:cNvGrpSpPr>
          <p:nvPr/>
        </p:nvGrpSpPr>
        <p:grpSpPr bwMode="auto">
          <a:xfrm>
            <a:off x="1285716" y="2341064"/>
            <a:ext cx="3403601" cy="695325"/>
            <a:chOff x="937" y="1935"/>
            <a:chExt cx="2144" cy="438"/>
          </a:xfrm>
        </p:grpSpPr>
        <p:sp>
          <p:nvSpPr>
            <p:cNvPr id="31775" name="Rectangle 19"/>
            <p:cNvSpPr>
              <a:spLocks noChangeArrowheads="1"/>
            </p:cNvSpPr>
            <p:nvPr/>
          </p:nvSpPr>
          <p:spPr bwMode="auto">
            <a:xfrm>
              <a:off x="937" y="1935"/>
              <a:ext cx="2144" cy="438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1776" name="Object 20"/>
            <p:cNvGraphicFramePr>
              <a:graphicFrameLocks noChangeAspect="1"/>
            </p:cNvGraphicFramePr>
            <p:nvPr/>
          </p:nvGraphicFramePr>
          <p:xfrm>
            <a:off x="996" y="1938"/>
            <a:ext cx="1997" cy="4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346040" imgH="279360" progId="Equation.3">
                    <p:embed/>
                  </p:oleObj>
                </mc:Choice>
                <mc:Fallback>
                  <p:oleObj name="Ecuación" r:id="rId5" imgW="1346040" imgH="279360" progId="Equation.3">
                    <p:embed/>
                    <p:pic>
                      <p:nvPicPr>
                        <p:cNvPr id="31776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6" y="1938"/>
                          <a:ext cx="1997" cy="4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upo 7"/>
          <p:cNvGrpSpPr>
            <a:grpSpLocks/>
          </p:cNvGrpSpPr>
          <p:nvPr/>
        </p:nvGrpSpPr>
        <p:grpSpPr bwMode="auto">
          <a:xfrm>
            <a:off x="7942751" y="1993234"/>
            <a:ext cx="1359201" cy="382122"/>
            <a:chOff x="6975463" y="2529283"/>
            <a:chExt cx="1306077" cy="381663"/>
          </a:xfrm>
        </p:grpSpPr>
        <p:sp>
          <p:nvSpPr>
            <p:cNvPr id="31773" name="Forma libre 10"/>
            <p:cNvSpPr>
              <a:spLocks/>
            </p:cNvSpPr>
            <p:nvPr/>
          </p:nvSpPr>
          <p:spPr bwMode="auto">
            <a:xfrm>
              <a:off x="6975463" y="2590271"/>
              <a:ext cx="1306077" cy="320675"/>
            </a:xfrm>
            <a:custGeom>
              <a:avLst/>
              <a:gdLst>
                <a:gd name="T0" fmla="*/ 0 w 1436914"/>
                <a:gd name="T1" fmla="*/ 280006 h 321671"/>
                <a:gd name="T2" fmla="*/ 671862 w 1436914"/>
                <a:gd name="T3" fmla="*/ 124 h 321671"/>
                <a:gd name="T4" fmla="*/ 1433963 w 1436914"/>
                <a:gd name="T5" fmla="*/ 308957 h 3216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36914" h="321671">
                  <a:moveTo>
                    <a:pt x="0" y="291526"/>
                  </a:moveTo>
                  <a:cubicBezTo>
                    <a:pt x="216877" y="143313"/>
                    <a:pt x="433754" y="-4900"/>
                    <a:pt x="673240" y="124"/>
                  </a:cubicBezTo>
                  <a:cubicBezTo>
                    <a:pt x="912726" y="5148"/>
                    <a:pt x="1174820" y="163409"/>
                    <a:pt x="1436914" y="321671"/>
                  </a:cubicBezTo>
                </a:path>
              </a:pathLst>
            </a:custGeom>
            <a:noFill/>
            <a:ln w="38100" cap="flat" cmpd="sng" algn="ctr">
              <a:solidFill>
                <a:srgbClr val="FF99CC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 wrap="none" lIns="90000" tIns="82800" rIns="90000" bIns="82800">
              <a:spAutoFit/>
            </a:bodyPr>
            <a:lstStyle/>
            <a:p>
              <a:endParaRPr lang="es-ES"/>
            </a:p>
          </p:txBody>
        </p:sp>
        <p:sp>
          <p:nvSpPr>
            <p:cNvPr id="31797" name="Text Box 23"/>
            <p:cNvSpPr txBox="1">
              <a:spLocks noChangeArrowheads="1"/>
            </p:cNvSpPr>
            <p:nvPr/>
          </p:nvSpPr>
          <p:spPr bwMode="auto">
            <a:xfrm>
              <a:off x="7122718" y="2529283"/>
              <a:ext cx="847844" cy="366030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</p:spPr>
          <p:txBody>
            <a:bodyPr wrap="square" lIns="90000" tIns="82800" rIns="90000" bIns="82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s-ES" sz="2400">
                  <a:latin typeface="Arial" panose="020B0604020202020204" pitchFamily="34" charset="0"/>
                </a:rPr>
                <a:t>Ohm</a:t>
              </a:r>
            </a:p>
          </p:txBody>
        </p:sp>
      </p:grpSp>
      <p:grpSp>
        <p:nvGrpSpPr>
          <p:cNvPr id="13" name="Grupo 12"/>
          <p:cNvGrpSpPr/>
          <p:nvPr/>
        </p:nvGrpSpPr>
        <p:grpSpPr>
          <a:xfrm>
            <a:off x="2441620" y="6341886"/>
            <a:ext cx="1929938" cy="536549"/>
            <a:chOff x="2559818" y="6288156"/>
            <a:chExt cx="1929938" cy="536549"/>
          </a:xfrm>
        </p:grpSpPr>
        <p:sp>
          <p:nvSpPr>
            <p:cNvPr id="28" name="Rectángulo 27"/>
            <p:cNvSpPr/>
            <p:nvPr/>
          </p:nvSpPr>
          <p:spPr bwMode="auto">
            <a:xfrm>
              <a:off x="2559818" y="6304758"/>
              <a:ext cx="1927429" cy="47306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wrap="square" lIns="90000" tIns="82800" rIns="90000" bIns="82800">
              <a:no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31772" name="Text Box 26"/>
            <p:cNvSpPr txBox="1">
              <a:spLocks noChangeArrowheads="1"/>
            </p:cNvSpPr>
            <p:nvPr/>
          </p:nvSpPr>
          <p:spPr bwMode="auto">
            <a:xfrm>
              <a:off x="2562327" y="6288156"/>
              <a:ext cx="1927429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Sección Cte.</a:t>
              </a:r>
              <a:endParaRPr lang="es-ES" sz="24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2437867" y="5616828"/>
            <a:ext cx="3214639" cy="536553"/>
            <a:chOff x="2556065" y="5668198"/>
            <a:chExt cx="3214639" cy="536553"/>
          </a:xfrm>
        </p:grpSpPr>
        <p:sp>
          <p:nvSpPr>
            <p:cNvPr id="27" name="Rectángulo 26"/>
            <p:cNvSpPr/>
            <p:nvPr/>
          </p:nvSpPr>
          <p:spPr bwMode="auto">
            <a:xfrm>
              <a:off x="2556995" y="5668198"/>
              <a:ext cx="3165277" cy="536549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wrap="square" lIns="90000" tIns="82800" rIns="90000" bIns="8280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endParaRPr lang="es-ES" sz="2400">
                <a:latin typeface="Arial" charset="0"/>
              </a:endParaRPr>
            </a:p>
          </p:txBody>
        </p:sp>
        <p:sp>
          <p:nvSpPr>
            <p:cNvPr id="31770" name="Text Box 16"/>
            <p:cNvSpPr txBox="1">
              <a:spLocks noChangeArrowheads="1"/>
            </p:cNvSpPr>
            <p:nvPr/>
          </p:nvSpPr>
          <p:spPr bwMode="auto">
            <a:xfrm>
              <a:off x="2556065" y="5668202"/>
              <a:ext cx="3214639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Corriente Homogénea</a:t>
              </a:r>
              <a:endPara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11" name="Grupo 10"/>
          <p:cNvGrpSpPr/>
          <p:nvPr/>
        </p:nvGrpSpPr>
        <p:grpSpPr>
          <a:xfrm>
            <a:off x="2434353" y="4891298"/>
            <a:ext cx="2357033" cy="540051"/>
            <a:chOff x="2552551" y="5037258"/>
            <a:chExt cx="2357033" cy="540051"/>
          </a:xfrm>
        </p:grpSpPr>
        <p:sp>
          <p:nvSpPr>
            <p:cNvPr id="3" name="Rectángulo 2"/>
            <p:cNvSpPr/>
            <p:nvPr/>
          </p:nvSpPr>
          <p:spPr bwMode="auto">
            <a:xfrm>
              <a:off x="2553041" y="5037258"/>
              <a:ext cx="2320809" cy="536549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wrap="square" lIns="90000" tIns="82800" rIns="90000" bIns="8280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endParaRPr lang="es-ES" sz="2400">
                <a:latin typeface="Arial" charset="0"/>
              </a:endParaRPr>
            </a:p>
          </p:txBody>
        </p:sp>
        <p:sp>
          <p:nvSpPr>
            <p:cNvPr id="31768" name="Text Box 15"/>
            <p:cNvSpPr txBox="1">
              <a:spLocks noChangeArrowheads="1"/>
            </p:cNvSpPr>
            <p:nvPr/>
          </p:nvSpPr>
          <p:spPr bwMode="auto">
            <a:xfrm>
              <a:off x="2552551" y="5040760"/>
              <a:ext cx="2357033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Conductor Ideal</a:t>
              </a:r>
              <a:endParaRPr lang="es-ES" sz="24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31765" name="Text Box 21"/>
          <p:cNvSpPr txBox="1">
            <a:spLocks noChangeArrowheads="1"/>
          </p:cNvSpPr>
          <p:nvPr/>
        </p:nvSpPr>
        <p:spPr bwMode="auto">
          <a:xfrm>
            <a:off x="1292952" y="3181264"/>
            <a:ext cx="3214640" cy="164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Si se elige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un camino en un conductor en la dirección y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sentido de 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E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 (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de la corriente)</a:t>
            </a:r>
          </a:p>
        </p:txBody>
      </p:sp>
      <p:graphicFrame>
        <p:nvGraphicFramePr>
          <p:cNvPr id="5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076141"/>
              </p:ext>
            </p:extLst>
          </p:nvPr>
        </p:nvGraphicFramePr>
        <p:xfrm>
          <a:off x="8330942" y="2270832"/>
          <a:ext cx="171291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749300" imgH="330200" progId="Equation.3">
                  <p:embed/>
                </p:oleObj>
              </mc:Choice>
              <mc:Fallback>
                <p:oleObj name="Ecuación" r:id="rId7" imgW="749300" imgH="330200" progId="Equation.3">
                  <p:embed/>
                  <p:pic>
                    <p:nvPicPr>
                      <p:cNvPr id="5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0942" y="2270832"/>
                        <a:ext cx="171291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116009"/>
              </p:ext>
            </p:extLst>
          </p:nvPr>
        </p:nvGraphicFramePr>
        <p:xfrm>
          <a:off x="8364206" y="3987608"/>
          <a:ext cx="1919288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837836" imgH="431613" progId="Equation.3">
                  <p:embed/>
                </p:oleObj>
              </mc:Choice>
              <mc:Fallback>
                <p:oleObj name="Ecuación" r:id="rId9" imgW="837836" imgH="431613" progId="Equation.3">
                  <p:embed/>
                  <p:pic>
                    <p:nvPicPr>
                      <p:cNvPr id="6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4206" y="3987608"/>
                        <a:ext cx="1919288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296931"/>
              </p:ext>
            </p:extLst>
          </p:nvPr>
        </p:nvGraphicFramePr>
        <p:xfrm>
          <a:off x="8369069" y="4990226"/>
          <a:ext cx="1512888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1" imgW="660113" imgH="431613" progId="Equation.3">
                  <p:embed/>
                </p:oleObj>
              </mc:Choice>
              <mc:Fallback>
                <p:oleObj name="Ecuación" r:id="rId11" imgW="660113" imgH="431613" progId="Equation.3">
                  <p:embed/>
                  <p:pic>
                    <p:nvPicPr>
                      <p:cNvPr id="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9069" y="4990226"/>
                        <a:ext cx="1512888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21"/>
          <p:cNvSpPr txBox="1">
            <a:spLocks noChangeArrowheads="1"/>
          </p:cNvSpPr>
          <p:nvPr/>
        </p:nvSpPr>
        <p:spPr bwMode="auto">
          <a:xfrm>
            <a:off x="8330473" y="5982929"/>
            <a:ext cx="2035059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L: Longitud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del cable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2" name="Text Box 13"/>
          <p:cNvSpPr txBox="1">
            <a:spLocks noChangeArrowheads="1"/>
          </p:cNvSpPr>
          <p:nvPr/>
        </p:nvSpPr>
        <p:spPr bwMode="auto">
          <a:xfrm>
            <a:off x="3068380" y="418894"/>
            <a:ext cx="5416316" cy="609252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LEY DE OHM a nivel macroscópico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015BE7CF-6CD9-4682-B605-2C502A145FB0}"/>
              </a:ext>
            </a:extLst>
          </p:cNvPr>
          <p:cNvGrpSpPr/>
          <p:nvPr/>
        </p:nvGrpSpPr>
        <p:grpSpPr>
          <a:xfrm>
            <a:off x="3309583" y="1937432"/>
            <a:ext cx="1403038" cy="1222289"/>
            <a:chOff x="3352615" y="1974048"/>
            <a:chExt cx="1403038" cy="1222289"/>
          </a:xfrm>
        </p:grpSpPr>
        <p:cxnSp>
          <p:nvCxnSpPr>
            <p:cNvPr id="31766" name="Conector recto de flecha 7"/>
            <p:cNvCxnSpPr>
              <a:cxnSpLocks noChangeShapeType="1"/>
            </p:cNvCxnSpPr>
            <p:nvPr/>
          </p:nvCxnSpPr>
          <p:spPr bwMode="auto">
            <a:xfrm flipV="1">
              <a:off x="3352615" y="3017512"/>
              <a:ext cx="178825" cy="178825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0" name="Grupo 9"/>
            <p:cNvGrpSpPr/>
            <p:nvPr/>
          </p:nvGrpSpPr>
          <p:grpSpPr>
            <a:xfrm>
              <a:off x="4012278" y="1974048"/>
              <a:ext cx="743375" cy="509425"/>
              <a:chOff x="4012278" y="2143159"/>
              <a:chExt cx="743375" cy="509425"/>
            </a:xfrm>
          </p:grpSpPr>
          <p:sp>
            <p:nvSpPr>
              <p:cNvPr id="9" name="CuadroTexto 8"/>
              <p:cNvSpPr txBox="1"/>
              <p:nvPr/>
            </p:nvSpPr>
            <p:spPr>
              <a:xfrm>
                <a:off x="4205502" y="2143159"/>
                <a:ext cx="55015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24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|</a:t>
                </a:r>
                <a:r>
                  <a:rPr lang="es-ES" sz="2400" b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E</a:t>
                </a:r>
                <a:r>
                  <a:rPr lang="es-ES" sz="24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|</a:t>
                </a:r>
                <a:endParaRPr lang="en-GB" sz="2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33" name="Conector recto de flecha 7"/>
              <p:cNvCxnSpPr>
                <a:cxnSpLocks noChangeShapeType="1"/>
              </p:cNvCxnSpPr>
              <p:nvPr/>
            </p:nvCxnSpPr>
            <p:spPr bwMode="auto">
              <a:xfrm flipV="1">
                <a:off x="4012278" y="2453647"/>
                <a:ext cx="217235" cy="198937"/>
              </a:xfrm>
              <a:prstGeom prst="straightConnector1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35" name="Text Box 16"/>
          <p:cNvSpPr txBox="1">
            <a:spLocks noChangeArrowheads="1"/>
          </p:cNvSpPr>
          <p:nvPr/>
        </p:nvSpPr>
        <p:spPr bwMode="auto">
          <a:xfrm>
            <a:off x="8330318" y="3058267"/>
            <a:ext cx="1944256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I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 cte. en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cable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16" name="Grupo 15"/>
          <p:cNvGrpSpPr/>
          <p:nvPr/>
        </p:nvGrpSpPr>
        <p:grpSpPr>
          <a:xfrm>
            <a:off x="4980249" y="3026440"/>
            <a:ext cx="2276099" cy="1625093"/>
            <a:chOff x="4939695" y="3221139"/>
            <a:chExt cx="2276099" cy="1625093"/>
          </a:xfrm>
        </p:grpSpPr>
        <p:grpSp>
          <p:nvGrpSpPr>
            <p:cNvPr id="31758" name="Grupo 15"/>
            <p:cNvGrpSpPr>
              <a:grpSpLocks/>
            </p:cNvGrpSpPr>
            <p:nvPr/>
          </p:nvGrpSpPr>
          <p:grpSpPr bwMode="auto">
            <a:xfrm>
              <a:off x="4939695" y="3228877"/>
              <a:ext cx="2276099" cy="1617355"/>
              <a:chOff x="4444524" y="3205986"/>
              <a:chExt cx="2275179" cy="1615055"/>
            </a:xfrm>
          </p:grpSpPr>
          <p:sp>
            <p:nvSpPr>
              <p:cNvPr id="2" name="Text Box 21"/>
              <p:cNvSpPr txBox="1">
                <a:spLocks noChangeArrowheads="1"/>
              </p:cNvSpPr>
              <p:nvPr/>
            </p:nvSpPr>
            <p:spPr bwMode="auto">
              <a:xfrm>
                <a:off x="4444524" y="3547641"/>
                <a:ext cx="2275179" cy="1273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- y + porque V disminuye en el sentido de </a:t>
                </a:r>
                <a:r>
                  <a:rPr lang="es-ES" sz="2400" b="1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E</a:t>
                </a:r>
              </a:p>
            </p:txBody>
          </p:sp>
          <p:cxnSp>
            <p:nvCxnSpPr>
              <p:cNvPr id="31764" name="Conector recto de flecha 59"/>
              <p:cNvCxnSpPr>
                <a:cxnSpLocks noChangeShapeType="1"/>
              </p:cNvCxnSpPr>
              <p:nvPr/>
            </p:nvCxnSpPr>
            <p:spPr bwMode="auto">
              <a:xfrm flipV="1">
                <a:off x="5577567" y="3205986"/>
                <a:ext cx="1" cy="414676"/>
              </a:xfrm>
              <a:prstGeom prst="straightConnector1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37" name="Conector recto de flecha 59"/>
            <p:cNvCxnSpPr>
              <a:cxnSpLocks noChangeShapeType="1"/>
            </p:cNvCxnSpPr>
            <p:nvPr/>
          </p:nvCxnSpPr>
          <p:spPr bwMode="auto">
            <a:xfrm flipH="1">
              <a:off x="5498975" y="3221139"/>
              <a:ext cx="1080000" cy="0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" name="CuadroTexto 19"/>
          <p:cNvSpPr txBox="1"/>
          <p:nvPr/>
        </p:nvSpPr>
        <p:spPr>
          <a:xfrm>
            <a:off x="1299155" y="4888315"/>
            <a:ext cx="1046421" cy="195209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vert="horz" wrap="none" tIns="36000" bIns="72000" rtlCol="0" anchor="ctr" anchorCtr="0">
            <a:noAutofit/>
          </a:bodyPr>
          <a:lstStyle/>
          <a:p>
            <a:pPr algn="ctr"/>
            <a:r>
              <a:rPr lang="es-ES" sz="2400" dirty="0"/>
              <a:t>Caso</a:t>
            </a:r>
          </a:p>
          <a:p>
            <a:pPr algn="ctr"/>
            <a:r>
              <a:rPr lang="es-ES" sz="2400" dirty="0"/>
              <a:t>más</a:t>
            </a:r>
          </a:p>
          <a:p>
            <a:pPr algn="ctr"/>
            <a:r>
              <a:rPr lang="es-ES" sz="2400"/>
              <a:t> simple</a:t>
            </a:r>
          </a:p>
          <a:p>
            <a:pPr algn="ctr"/>
            <a:r>
              <a:rPr lang="es-ES" sz="2400">
                <a:solidFill>
                  <a:srgbClr val="3333FF"/>
                </a:solidFill>
              </a:rPr>
              <a:t>(en un</a:t>
            </a:r>
          </a:p>
          <a:p>
            <a:pPr algn="ctr"/>
            <a:r>
              <a:rPr lang="es-ES" sz="2400">
                <a:solidFill>
                  <a:srgbClr val="3333FF"/>
                </a:solidFill>
              </a:rPr>
              <a:t>cable)</a:t>
            </a:r>
            <a:endParaRPr lang="es-ES" sz="2400" dirty="0">
              <a:solidFill>
                <a:srgbClr val="3333FF"/>
              </a:solidFill>
            </a:endParaRPr>
          </a:p>
        </p:txBody>
      </p:sp>
      <p:sp>
        <p:nvSpPr>
          <p:cNvPr id="41" name="Text Box 15"/>
          <p:cNvSpPr txBox="1">
            <a:spLocks noChangeArrowheads="1"/>
          </p:cNvSpPr>
          <p:nvPr/>
        </p:nvSpPr>
        <p:spPr bwMode="auto">
          <a:xfrm>
            <a:off x="4723856" y="4894800"/>
            <a:ext cx="289403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 cte. en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el cable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3" name="Text Box 16"/>
          <p:cNvSpPr txBox="1">
            <a:spLocks noChangeArrowheads="1"/>
          </p:cNvSpPr>
          <p:nvPr/>
        </p:nvSpPr>
        <p:spPr bwMode="auto">
          <a:xfrm>
            <a:off x="5576707" y="5608806"/>
            <a:ext cx="163888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 = 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I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/S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 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4" name="Text Box 26"/>
          <p:cNvSpPr txBox="1">
            <a:spLocks noChangeArrowheads="1"/>
          </p:cNvSpPr>
          <p:nvPr/>
        </p:nvSpPr>
        <p:spPr bwMode="auto">
          <a:xfrm>
            <a:off x="4358824" y="6331970"/>
            <a:ext cx="312326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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cte. en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el cable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D90C00F5-8A36-46FF-8217-614CA4BC72E1}"/>
              </a:ext>
            </a:extLst>
          </p:cNvPr>
          <p:cNvGrpSpPr/>
          <p:nvPr/>
        </p:nvGrpSpPr>
        <p:grpSpPr>
          <a:xfrm>
            <a:off x="7143630" y="2986053"/>
            <a:ext cx="1246718" cy="3657078"/>
            <a:chOff x="7240449" y="3133635"/>
            <a:chExt cx="1369471" cy="3456000"/>
          </a:xfrm>
        </p:grpSpPr>
        <p:sp>
          <p:nvSpPr>
            <p:cNvPr id="5" name="Forma libre: forma 4">
              <a:extLst>
                <a:ext uri="{FF2B5EF4-FFF2-40B4-BE49-F238E27FC236}">
                  <a16:creationId xmlns:a16="http://schemas.microsoft.com/office/drawing/2014/main" id="{9FE63475-02B3-433A-B650-44B5B59B609E}"/>
                </a:ext>
              </a:extLst>
            </p:cNvPr>
            <p:cNvSpPr/>
            <p:nvPr/>
          </p:nvSpPr>
          <p:spPr bwMode="auto">
            <a:xfrm>
              <a:off x="8041404" y="3133635"/>
              <a:ext cx="568516" cy="3456000"/>
            </a:xfrm>
            <a:custGeom>
              <a:avLst/>
              <a:gdLst>
                <a:gd name="connsiteX0" fmla="*/ 0 w 277402"/>
                <a:gd name="connsiteY0" fmla="*/ 3750068 h 3750068"/>
                <a:gd name="connsiteX1" fmla="*/ 10274 w 277402"/>
                <a:gd name="connsiteY1" fmla="*/ 503434 h 3750068"/>
                <a:gd name="connsiteX2" fmla="*/ 277402 w 277402"/>
                <a:gd name="connsiteY2" fmla="*/ 0 h 3750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7402" h="3750068">
                  <a:moveTo>
                    <a:pt x="0" y="3750068"/>
                  </a:moveTo>
                  <a:cubicBezTo>
                    <a:pt x="3425" y="2667857"/>
                    <a:pt x="6849" y="1585645"/>
                    <a:pt x="10274" y="503434"/>
                  </a:cubicBezTo>
                  <a:lnTo>
                    <a:pt x="277402" y="0"/>
                  </a:lnTo>
                </a:path>
              </a:pathLst>
            </a:custGeom>
            <a:noFill/>
            <a:ln w="381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squar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cxnSp>
          <p:nvCxnSpPr>
            <p:cNvPr id="46" name="Conector recto de flecha 59">
              <a:extLst>
                <a:ext uri="{FF2B5EF4-FFF2-40B4-BE49-F238E27FC236}">
                  <a16:creationId xmlns:a16="http://schemas.microsoft.com/office/drawing/2014/main" id="{E274AFCF-16E0-4FE1-9EFC-592DD6DC45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7645067" y="5459741"/>
              <a:ext cx="1" cy="809237"/>
            </a:xfrm>
            <a:prstGeom prst="straightConnector1">
              <a:avLst/>
            </a:prstGeom>
            <a:noFill/>
            <a:ln w="38100" algn="ctr">
              <a:solidFill>
                <a:srgbClr val="3333FF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" name="Conector recto de flecha 59">
              <a:extLst>
                <a:ext uri="{FF2B5EF4-FFF2-40B4-BE49-F238E27FC236}">
                  <a16:creationId xmlns:a16="http://schemas.microsoft.com/office/drawing/2014/main" id="{B15E8C72-AA9A-43E9-9BCF-E7CBEBAEA6E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7831517" y="6361788"/>
              <a:ext cx="1" cy="423837"/>
            </a:xfrm>
            <a:prstGeom prst="straightConnector1">
              <a:avLst/>
            </a:prstGeom>
            <a:noFill/>
            <a:ln w="38100" algn="ctr">
              <a:solidFill>
                <a:srgbClr val="3333FF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Conector recto de flecha 59">
              <a:extLst>
                <a:ext uri="{FF2B5EF4-FFF2-40B4-BE49-F238E27FC236}">
                  <a16:creationId xmlns:a16="http://schemas.microsoft.com/office/drawing/2014/main" id="{F5CD9932-9C82-444C-9DE2-9A20B3AC84A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7911142" y="5107350"/>
              <a:ext cx="1" cy="248221"/>
            </a:xfrm>
            <a:prstGeom prst="straightConnector1">
              <a:avLst/>
            </a:prstGeom>
            <a:noFill/>
            <a:ln w="38100" algn="ctr">
              <a:solidFill>
                <a:srgbClr val="3333FF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B2C5D469-C1E4-AE6E-3446-3B670E309532}"/>
              </a:ext>
            </a:extLst>
          </p:cNvPr>
          <p:cNvGrpSpPr/>
          <p:nvPr/>
        </p:nvGrpSpPr>
        <p:grpSpPr>
          <a:xfrm>
            <a:off x="1433169" y="1198536"/>
            <a:ext cx="8685986" cy="589076"/>
            <a:chOff x="1433169" y="1246661"/>
            <a:chExt cx="8685986" cy="589076"/>
          </a:xfrm>
        </p:grpSpPr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D6C4F277-885B-9A62-2B97-F349EA9AB4A7}"/>
                </a:ext>
              </a:extLst>
            </p:cNvPr>
            <p:cNvSpPr/>
            <p:nvPr/>
          </p:nvSpPr>
          <p:spPr bwMode="auto">
            <a:xfrm>
              <a:off x="1433169" y="1257991"/>
              <a:ext cx="8685986" cy="57774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EA93C7FC-89C5-F99F-3589-C36C9968F0EC}"/>
                </a:ext>
              </a:extLst>
            </p:cNvPr>
            <p:cNvGrpSpPr/>
            <p:nvPr/>
          </p:nvGrpSpPr>
          <p:grpSpPr>
            <a:xfrm>
              <a:off x="1437524" y="1246661"/>
              <a:ext cx="8670873" cy="563284"/>
              <a:chOff x="1502072" y="1246661"/>
              <a:chExt cx="8670873" cy="563284"/>
            </a:xfrm>
          </p:grpSpPr>
          <p:sp>
            <p:nvSpPr>
              <p:cNvPr id="23" name="Text Box 5">
                <a:extLst>
                  <a:ext uri="{FF2B5EF4-FFF2-40B4-BE49-F238E27FC236}">
                    <a16:creationId xmlns:a16="http://schemas.microsoft.com/office/drawing/2014/main" id="{A59E0DAE-78EC-56FA-8CEE-F548124CAA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0362" y="1262941"/>
                <a:ext cx="1532583" cy="536549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W</a:t>
                </a:r>
                <a:r>
                  <a:rPr lang="es-ES" sz="2400" b="1" baseline="-25000">
                    <a:latin typeface="Arial" panose="020B0604020202020204" pitchFamily="34" charset="0"/>
                    <a:sym typeface="Symbol" panose="05050102010706020507" pitchFamily="18" charset="2"/>
                  </a:rPr>
                  <a:t>E</a:t>
                </a:r>
                <a:r>
                  <a:rPr lang="es-ES" sz="2400">
                    <a:latin typeface="Arial" panose="020B0604020202020204" pitchFamily="34" charset="0"/>
                  </a:rPr>
                  <a:t> = -</a:t>
                </a: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</a:t>
                </a:r>
                <a:r>
                  <a:rPr lang="es-ES" sz="2400">
                    <a:latin typeface="Arial" panose="020B0604020202020204" pitchFamily="34" charset="0"/>
                  </a:rPr>
                  <a:t>V</a:t>
                </a:r>
                <a:endParaRPr lang="es-ES" sz="2400" b="1" baseline="-25000">
                  <a:latin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24" name="Text Box 5">
                <a:extLst>
                  <a:ext uri="{FF2B5EF4-FFF2-40B4-BE49-F238E27FC236}">
                    <a16:creationId xmlns:a16="http://schemas.microsoft.com/office/drawing/2014/main" id="{4BA57442-281B-354F-A72D-A4931E8913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30604" y="1246661"/>
                <a:ext cx="2849554" cy="5365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   </a:t>
                </a:r>
                <a:r>
                  <a:rPr lang="es-ES" sz="2400" b="1">
                    <a:latin typeface="Arial" panose="020B0604020202020204" pitchFamily="34" charset="0"/>
                    <a:sym typeface="Symbol" panose="05050102010706020507" pitchFamily="18" charset="2"/>
                  </a:rPr>
                  <a:t>E</a:t>
                </a:r>
                <a:r>
                  <a:rPr lang="es-ES" sz="2400" baseline="-25000">
                    <a:latin typeface="Arial" panose="020B0604020202020204" pitchFamily="34" charset="0"/>
                    <a:sym typeface="Symbol" panose="05050102010706020507" pitchFamily="18" charset="2"/>
                  </a:rPr>
                  <a:t>conservativo    </a:t>
                </a: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</a:t>
                </a:r>
              </a:p>
            </p:txBody>
          </p:sp>
          <p:sp>
            <p:nvSpPr>
              <p:cNvPr id="21" name="Text Box 5">
                <a:extLst>
                  <a:ext uri="{FF2B5EF4-FFF2-40B4-BE49-F238E27FC236}">
                    <a16:creationId xmlns:a16="http://schemas.microsoft.com/office/drawing/2014/main" id="{A4B30954-6EF6-1A43-A7F4-A6067E8F76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728" y="1273396"/>
                <a:ext cx="2929366" cy="5365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Q que crean </a:t>
                </a:r>
                <a:r>
                  <a:rPr lang="es-ES" sz="2400" b="1">
                    <a:latin typeface="Arial" panose="020B0604020202020204" pitchFamily="34" charset="0"/>
                    <a:sym typeface="Symbol" panose="05050102010706020507" pitchFamily="18" charset="2"/>
                  </a:rPr>
                  <a:t>E</a:t>
                </a: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 fijas</a:t>
                </a:r>
              </a:p>
            </p:txBody>
          </p:sp>
          <p:sp>
            <p:nvSpPr>
              <p:cNvPr id="22" name="Text Box 5">
                <a:extLst>
                  <a:ext uri="{FF2B5EF4-FFF2-40B4-BE49-F238E27FC236}">
                    <a16:creationId xmlns:a16="http://schemas.microsoft.com/office/drawing/2014/main" id="{B811CFE1-25D7-1E6E-964B-C3EFEC05BF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67769" y="1265559"/>
                <a:ext cx="511330" cy="5365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</a:t>
                </a:r>
              </a:p>
            </p:txBody>
          </p:sp>
          <p:sp>
            <p:nvSpPr>
              <p:cNvPr id="14" name="Text Box 5">
                <a:extLst>
                  <a:ext uri="{FF2B5EF4-FFF2-40B4-BE49-F238E27FC236}">
                    <a16:creationId xmlns:a16="http://schemas.microsoft.com/office/drawing/2014/main" id="{C1C8A276-BECB-D3AD-EF74-0C3C3EE6A2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02072" y="1273395"/>
                <a:ext cx="1190173" cy="5365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En CC</a:t>
                </a:r>
                <a:endParaRPr lang="es-ES" sz="2400" b="1" baseline="-25000">
                  <a:latin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57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19" grpId="0" animBg="1"/>
      <p:bldP spid="31765" grpId="0"/>
      <p:bldP spid="7" grpId="0"/>
      <p:bldP spid="32" grpId="0" animBg="1"/>
      <p:bldP spid="35" grpId="0"/>
      <p:bldP spid="20" grpId="0" animBg="1"/>
      <p:bldP spid="41" grpId="0"/>
      <p:bldP spid="43" grpId="0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9D5B1FEE-F711-422E-828D-2F9D30823516}"/>
              </a:ext>
            </a:extLst>
          </p:cNvPr>
          <p:cNvGrpSpPr/>
          <p:nvPr/>
        </p:nvGrpSpPr>
        <p:grpSpPr>
          <a:xfrm>
            <a:off x="3038559" y="375959"/>
            <a:ext cx="2991606" cy="674035"/>
            <a:chOff x="3038559" y="375959"/>
            <a:chExt cx="2991606" cy="674035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D0CDF0B9-DA7E-4414-9252-0A3DB972205C}"/>
                </a:ext>
              </a:extLst>
            </p:cNvPr>
            <p:cNvSpPr/>
            <p:nvPr/>
          </p:nvSpPr>
          <p:spPr bwMode="auto">
            <a:xfrm>
              <a:off x="3038559" y="375959"/>
              <a:ext cx="2991606" cy="674035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aphicFrame>
          <p:nvGraphicFramePr>
            <p:cNvPr id="33794" name="Object 27"/>
            <p:cNvGraphicFramePr>
              <a:graphicFrameLocks noChangeAspect="1"/>
            </p:cNvGraphicFramePr>
            <p:nvPr/>
          </p:nvGraphicFramePr>
          <p:xfrm>
            <a:off x="3085144" y="446672"/>
            <a:ext cx="2892425" cy="534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167893" imgH="215806" progId="Equation.3">
                    <p:embed/>
                  </p:oleObj>
                </mc:Choice>
                <mc:Fallback>
                  <p:oleObj name="Ecuación" r:id="rId3" imgW="1167893" imgH="215806" progId="Equation.3">
                    <p:embed/>
                    <p:pic>
                      <p:nvPicPr>
                        <p:cNvPr id="33794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5144" y="446672"/>
                          <a:ext cx="2892425" cy="5349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710" name="Group 62"/>
          <p:cNvGrpSpPr>
            <a:grpSpLocks/>
          </p:cNvGrpSpPr>
          <p:nvPr/>
        </p:nvGrpSpPr>
        <p:grpSpPr bwMode="auto">
          <a:xfrm>
            <a:off x="1845350" y="2600414"/>
            <a:ext cx="1987550" cy="906463"/>
            <a:chOff x="3707" y="3252"/>
            <a:chExt cx="1252" cy="571"/>
          </a:xfrm>
        </p:grpSpPr>
        <p:sp>
          <p:nvSpPr>
            <p:cNvPr id="33819" name="Line 37"/>
            <p:cNvSpPr>
              <a:spLocks noChangeShapeType="1"/>
            </p:cNvSpPr>
            <p:nvPr/>
          </p:nvSpPr>
          <p:spPr bwMode="auto">
            <a:xfrm flipH="1" flipV="1">
              <a:off x="4679" y="3538"/>
              <a:ext cx="28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s-ES"/>
            </a:p>
          </p:txBody>
        </p:sp>
        <p:sp>
          <p:nvSpPr>
            <p:cNvPr id="33820" name="Text Box 38"/>
            <p:cNvSpPr txBox="1">
              <a:spLocks noChangeArrowheads="1"/>
            </p:cNvSpPr>
            <p:nvPr/>
          </p:nvSpPr>
          <p:spPr bwMode="auto">
            <a:xfrm>
              <a:off x="3707" y="3252"/>
              <a:ext cx="938" cy="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Caída de potencial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CFB3C3D4-BDB6-4C62-9DAF-20DA73035D57}"/>
              </a:ext>
            </a:extLst>
          </p:cNvPr>
          <p:cNvGrpSpPr/>
          <p:nvPr/>
        </p:nvGrpSpPr>
        <p:grpSpPr>
          <a:xfrm>
            <a:off x="7928322" y="1676704"/>
            <a:ext cx="2072739" cy="1784381"/>
            <a:chOff x="7928322" y="816086"/>
            <a:chExt cx="2072739" cy="1784381"/>
          </a:xfrm>
        </p:grpSpPr>
        <p:grpSp>
          <p:nvGrpSpPr>
            <p:cNvPr id="11" name="Grupo 10"/>
            <p:cNvGrpSpPr>
              <a:grpSpLocks/>
            </p:cNvGrpSpPr>
            <p:nvPr/>
          </p:nvGrpSpPr>
          <p:grpSpPr bwMode="auto">
            <a:xfrm>
              <a:off x="7928322" y="1875774"/>
              <a:ext cx="1319213" cy="724693"/>
              <a:chOff x="8874137" y="3147777"/>
              <a:chExt cx="1319212" cy="724746"/>
            </a:xfrm>
          </p:grpSpPr>
          <p:sp>
            <p:nvSpPr>
              <p:cNvPr id="33808" name="Rectangle 16"/>
              <p:cNvSpPr>
                <a:spLocks noChangeArrowheads="1"/>
              </p:cNvSpPr>
              <p:nvPr/>
            </p:nvSpPr>
            <p:spPr bwMode="auto">
              <a:xfrm>
                <a:off x="8874137" y="3147777"/>
                <a:ext cx="1319212" cy="724746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33809" name="Object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34642578"/>
                  </p:ext>
                </p:extLst>
              </p:nvPr>
            </p:nvGraphicFramePr>
            <p:xfrm>
              <a:off x="8982087" y="3285942"/>
              <a:ext cx="1143000" cy="4286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5" imgW="508000" imgH="190500" progId="Equation.3">
                      <p:embed/>
                    </p:oleObj>
                  </mc:Choice>
                  <mc:Fallback>
                    <p:oleObj name="Ecuación" r:id="rId5" imgW="508000" imgH="190500" progId="Equation.3">
                      <p:embed/>
                      <p:pic>
                        <p:nvPicPr>
                          <p:cNvPr id="33809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982087" y="3285942"/>
                            <a:ext cx="1143000" cy="4286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6" name="Text Box 42"/>
            <p:cNvSpPr txBox="1">
              <a:spLocks noChangeArrowheads="1"/>
            </p:cNvSpPr>
            <p:nvPr/>
          </p:nvSpPr>
          <p:spPr bwMode="auto">
            <a:xfrm>
              <a:off x="7932713" y="816086"/>
              <a:ext cx="2068348" cy="905884"/>
            </a:xfrm>
            <a:prstGeom prst="rect">
              <a:avLst/>
            </a:prstGeom>
            <a:solidFill>
              <a:srgbClr val="66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s-ES" sz="2400" dirty="0">
                  <a:solidFill>
                    <a:srgbClr val="FFFFFF"/>
                  </a:solidFill>
                  <a:latin typeface="Arial" panose="020B0604020202020204" pitchFamily="34" charset="0"/>
                </a:rPr>
                <a:t>Conductancia eléctrica</a:t>
              </a:r>
            </a:p>
          </p:txBody>
        </p:sp>
      </p:grpSp>
      <p:sp>
        <p:nvSpPr>
          <p:cNvPr id="68" name="Text Box 4"/>
          <p:cNvSpPr txBox="1">
            <a:spLocks noChangeArrowheads="1"/>
          </p:cNvSpPr>
          <p:nvPr/>
        </p:nvSpPr>
        <p:spPr bwMode="auto">
          <a:xfrm>
            <a:off x="1395293" y="4360571"/>
            <a:ext cx="8768986" cy="14206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154800" rIns="90000" bIns="154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La caída de potencial en un conductor es igual a su resistencia multiplicada por la corriente [de carga positiva] que se establece en él </a:t>
            </a:r>
            <a:r>
              <a:rPr lang="es-ES" sz="2400" u="sng">
                <a:latin typeface="Arial" panose="020B0604020202020204" pitchFamily="34" charset="0"/>
              </a:rPr>
              <a:t>en el sentido de la caída</a:t>
            </a:r>
            <a:r>
              <a:rPr lang="es-ES" sz="2400">
                <a:latin typeface="Arial" panose="020B0604020202020204" pitchFamily="34" charset="0"/>
              </a:rPr>
              <a:t> (en el del campo)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776ADE0E-2475-4410-B34B-96BC10686DC0}"/>
              </a:ext>
            </a:extLst>
          </p:cNvPr>
          <p:cNvGrpSpPr/>
          <p:nvPr/>
        </p:nvGrpSpPr>
        <p:grpSpPr>
          <a:xfrm>
            <a:off x="5422649" y="2709223"/>
            <a:ext cx="2056769" cy="744535"/>
            <a:chOff x="5452466" y="2168540"/>
            <a:chExt cx="2056769" cy="744535"/>
          </a:xfrm>
        </p:grpSpPr>
        <p:grpSp>
          <p:nvGrpSpPr>
            <p:cNvPr id="58" name="Group 40"/>
            <p:cNvGrpSpPr>
              <a:grpSpLocks/>
            </p:cNvGrpSpPr>
            <p:nvPr/>
          </p:nvGrpSpPr>
          <p:grpSpPr bwMode="auto">
            <a:xfrm>
              <a:off x="6164622" y="2168540"/>
              <a:ext cx="1344613" cy="744535"/>
              <a:chOff x="3824" y="1308"/>
              <a:chExt cx="847" cy="469"/>
            </a:xfrm>
          </p:grpSpPr>
          <p:sp>
            <p:nvSpPr>
              <p:cNvPr id="33810" name="Rectangle 17"/>
              <p:cNvSpPr>
                <a:spLocks noChangeArrowheads="1"/>
              </p:cNvSpPr>
              <p:nvPr/>
            </p:nvSpPr>
            <p:spPr bwMode="auto">
              <a:xfrm>
                <a:off x="3824" y="1308"/>
                <a:ext cx="847" cy="469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108000" tIns="288000" rIns="1224000" bIns="1440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33811" name="Object 18"/>
              <p:cNvGraphicFramePr>
                <a:graphicFrameLocks noChangeAspect="1"/>
              </p:cNvGraphicFramePr>
              <p:nvPr/>
            </p:nvGraphicFramePr>
            <p:xfrm>
              <a:off x="3911" y="1416"/>
              <a:ext cx="73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7" imgW="520474" imgH="203112" progId="Equation.3">
                      <p:embed/>
                    </p:oleObj>
                  </mc:Choice>
                  <mc:Fallback>
                    <p:oleObj name="Ecuación" r:id="rId7" imgW="520474" imgH="203112" progId="Equation.3">
                      <p:embed/>
                      <p:pic>
                        <p:nvPicPr>
                          <p:cNvPr id="33811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11" y="1416"/>
                            <a:ext cx="738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5" name="Text Box 34">
              <a:extLst>
                <a:ext uri="{FF2B5EF4-FFF2-40B4-BE49-F238E27FC236}">
                  <a16:creationId xmlns:a16="http://schemas.microsoft.com/office/drawing/2014/main" id="{29944D45-C141-4B0E-B7DF-279DD85713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2466" y="2250787"/>
              <a:ext cx="607520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latin typeface="Arial" panose="020B0604020202020204" pitchFamily="34" charset="0"/>
                  <a:sym typeface="Symbol" panose="05050102010706020507" pitchFamily="18" charset="2"/>
                </a:rPr>
                <a:t></a:t>
              </a:r>
              <a:endParaRPr lang="es-ES" sz="2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36" name="CuadroTexto 35">
            <a:extLst>
              <a:ext uri="{FF2B5EF4-FFF2-40B4-BE49-F238E27FC236}">
                <a16:creationId xmlns:a16="http://schemas.microsoft.com/office/drawing/2014/main" id="{A2F47F9F-C358-4C01-B700-C10504C94E72}"/>
              </a:ext>
            </a:extLst>
          </p:cNvPr>
          <p:cNvSpPr txBox="1"/>
          <p:nvPr/>
        </p:nvSpPr>
        <p:spPr>
          <a:xfrm>
            <a:off x="1453043" y="5967503"/>
            <a:ext cx="8659047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tx1"/>
                </a:solidFill>
              </a:rPr>
              <a:t>Es </a:t>
            </a:r>
            <a:r>
              <a:rPr lang="es-ES" sz="2400">
                <a:solidFill>
                  <a:schemeClr val="tx1"/>
                </a:solidFill>
              </a:rPr>
              <a:t>válida en </a:t>
            </a:r>
            <a:r>
              <a:rPr lang="es-ES" sz="2400" dirty="0">
                <a:solidFill>
                  <a:schemeClr val="tx1"/>
                </a:solidFill>
              </a:rPr>
              <a:t>todos </a:t>
            </a:r>
            <a:r>
              <a:rPr lang="es-ES" sz="2400">
                <a:solidFill>
                  <a:schemeClr val="tx1"/>
                </a:solidFill>
              </a:rPr>
              <a:t>los casos, y también, para una resistencia ideal por la que circule cualquier </a:t>
            </a:r>
            <a:r>
              <a:rPr lang="es-ES" sz="2400" dirty="0">
                <a:solidFill>
                  <a:schemeClr val="tx1"/>
                </a:solidFill>
              </a:rPr>
              <a:t>tipo </a:t>
            </a:r>
            <a:r>
              <a:rPr lang="es-ES" sz="2400">
                <a:solidFill>
                  <a:schemeClr val="tx1"/>
                </a:solidFill>
              </a:rPr>
              <a:t>de corriente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34" name="Text Box 38">
            <a:extLst>
              <a:ext uri="{FF2B5EF4-FFF2-40B4-BE49-F238E27FC236}">
                <a16:creationId xmlns:a16="http://schemas.microsoft.com/office/drawing/2014/main" id="{9AAF0672-206A-452F-A015-501239962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427" y="434125"/>
            <a:ext cx="2367107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(con S = S</a:t>
            </a:r>
            <a:r>
              <a:rPr lang="es-ES" sz="2400" baseline="-25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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ADFF7278-2285-4272-96C9-7D1DABE2682F}"/>
              </a:ext>
            </a:extLst>
          </p:cNvPr>
          <p:cNvGrpSpPr/>
          <p:nvPr/>
        </p:nvGrpSpPr>
        <p:grpSpPr>
          <a:xfrm>
            <a:off x="4681330" y="286508"/>
            <a:ext cx="1034787" cy="1384247"/>
            <a:chOff x="4681330" y="286508"/>
            <a:chExt cx="1034787" cy="1384247"/>
          </a:xfrm>
        </p:grpSpPr>
        <p:sp>
          <p:nvSpPr>
            <p:cNvPr id="33813" name="Line 41"/>
            <p:cNvSpPr>
              <a:spLocks noChangeShapeType="1"/>
            </p:cNvSpPr>
            <p:nvPr/>
          </p:nvSpPr>
          <p:spPr bwMode="auto">
            <a:xfrm>
              <a:off x="4864207" y="1130755"/>
              <a:ext cx="0" cy="54000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noAutofit/>
            </a:bodyPr>
            <a:lstStyle/>
            <a:p>
              <a:endParaRPr lang="es-ES" dirty="0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93963119-864B-4FE1-8FCA-54C2B905AE22}"/>
                </a:ext>
              </a:extLst>
            </p:cNvPr>
            <p:cNvSpPr/>
            <p:nvPr/>
          </p:nvSpPr>
          <p:spPr bwMode="auto">
            <a:xfrm>
              <a:off x="4681330" y="286508"/>
              <a:ext cx="1034787" cy="840449"/>
            </a:xfrm>
            <a:prstGeom prst="rect">
              <a:avLst/>
            </a:prstGeom>
            <a:noFill/>
            <a:ln w="381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8" name="Grupo 7"/>
          <p:cNvGrpSpPr>
            <a:grpSpLocks/>
          </p:cNvGrpSpPr>
          <p:nvPr/>
        </p:nvGrpSpPr>
        <p:grpSpPr bwMode="auto">
          <a:xfrm>
            <a:off x="3981389" y="2742189"/>
            <a:ext cx="1398587" cy="701675"/>
            <a:chOff x="5049651" y="3091617"/>
            <a:chExt cx="1398746" cy="701120"/>
          </a:xfrm>
        </p:grpSpPr>
        <p:sp>
          <p:nvSpPr>
            <p:cNvPr id="33817" name="Rectangle 29"/>
            <p:cNvSpPr>
              <a:spLocks noChangeArrowheads="1"/>
            </p:cNvSpPr>
            <p:nvPr/>
          </p:nvSpPr>
          <p:spPr bwMode="auto">
            <a:xfrm>
              <a:off x="5049651" y="3091617"/>
              <a:ext cx="1398746" cy="701120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3818" name="Object 30"/>
            <p:cNvGraphicFramePr>
              <a:graphicFrameLocks noChangeAspect="1"/>
            </p:cNvGraphicFramePr>
            <p:nvPr/>
          </p:nvGraphicFramePr>
          <p:xfrm>
            <a:off x="5078312" y="3224705"/>
            <a:ext cx="1289052" cy="471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520474" imgH="190417" progId="Equation.3">
                    <p:embed/>
                  </p:oleObj>
                </mc:Choice>
                <mc:Fallback>
                  <p:oleObj name="Ecuación" r:id="rId9" imgW="520474" imgH="190417" progId="Equation.3">
                    <p:embed/>
                    <p:pic>
                      <p:nvPicPr>
                        <p:cNvPr id="33818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8312" y="3224705"/>
                          <a:ext cx="1289052" cy="4714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709" name="Group 61"/>
          <p:cNvGrpSpPr>
            <a:grpSpLocks/>
          </p:cNvGrpSpPr>
          <p:nvPr/>
        </p:nvGrpSpPr>
        <p:grpSpPr bwMode="auto">
          <a:xfrm>
            <a:off x="2274804" y="3311000"/>
            <a:ext cx="5081591" cy="873126"/>
            <a:chOff x="3739" y="2091"/>
            <a:chExt cx="3201" cy="550"/>
          </a:xfrm>
        </p:grpSpPr>
        <p:sp>
          <p:nvSpPr>
            <p:cNvPr id="33821" name="Text Box 32"/>
            <p:cNvSpPr txBox="1">
              <a:spLocks noChangeArrowheads="1"/>
            </p:cNvSpPr>
            <p:nvPr/>
          </p:nvSpPr>
          <p:spPr bwMode="auto">
            <a:xfrm>
              <a:off x="3739" y="2301"/>
              <a:ext cx="802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CAUSA</a:t>
              </a:r>
            </a:p>
          </p:txBody>
        </p:sp>
        <p:sp>
          <p:nvSpPr>
            <p:cNvPr id="33822" name="Line 33"/>
            <p:cNvSpPr>
              <a:spLocks noChangeShapeType="1"/>
            </p:cNvSpPr>
            <p:nvPr/>
          </p:nvSpPr>
          <p:spPr bwMode="auto">
            <a:xfrm rot="16200000">
              <a:off x="4607" y="2022"/>
              <a:ext cx="216" cy="35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s-ES" sz="2400">
                <a:solidFill>
                  <a:srgbClr val="008000"/>
                </a:solidFill>
              </a:endParaRPr>
            </a:p>
          </p:txBody>
        </p:sp>
        <p:sp>
          <p:nvSpPr>
            <p:cNvPr id="33823" name="Text Box 34"/>
            <p:cNvSpPr txBox="1">
              <a:spLocks noChangeArrowheads="1"/>
            </p:cNvSpPr>
            <p:nvPr/>
          </p:nvSpPr>
          <p:spPr bwMode="auto">
            <a:xfrm>
              <a:off x="6007" y="2303"/>
              <a:ext cx="933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EFECTO</a:t>
              </a:r>
            </a:p>
          </p:txBody>
        </p:sp>
        <p:sp>
          <p:nvSpPr>
            <p:cNvPr id="33824" name="Line 35"/>
            <p:cNvSpPr>
              <a:spLocks noChangeShapeType="1"/>
            </p:cNvSpPr>
            <p:nvPr/>
          </p:nvSpPr>
          <p:spPr bwMode="auto">
            <a:xfrm rot="5400000" flipV="1">
              <a:off x="5708" y="2035"/>
              <a:ext cx="257" cy="39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s-ES" sz="2400">
                <a:solidFill>
                  <a:srgbClr val="008000"/>
                </a:solidFill>
              </a:endParaRPr>
            </a:p>
          </p:txBody>
        </p:sp>
      </p:grpSp>
      <p:sp>
        <p:nvSpPr>
          <p:cNvPr id="33825" name="Text Box 42"/>
          <p:cNvSpPr txBox="1">
            <a:spLocks noChangeArrowheads="1"/>
          </p:cNvSpPr>
          <p:nvPr/>
        </p:nvSpPr>
        <p:spPr bwMode="auto">
          <a:xfrm>
            <a:off x="3990131" y="1680458"/>
            <a:ext cx="1758921" cy="905881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Resistencia eléctrica</a:t>
            </a:r>
          </a:p>
        </p:txBody>
      </p:sp>
      <p:sp>
        <p:nvSpPr>
          <p:cNvPr id="37" name="Text Box 38">
            <a:extLst>
              <a:ext uri="{FF2B5EF4-FFF2-40B4-BE49-F238E27FC236}">
                <a16:creationId xmlns:a16="http://schemas.microsoft.com/office/drawing/2014/main" id="{AB1F5BBC-522E-4C7D-A314-00269EE58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7426" y="1087767"/>
            <a:ext cx="2790504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(caso más simple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BAE1D36E-FA12-4FE4-8232-6B8031833E40}"/>
              </a:ext>
            </a:extLst>
          </p:cNvPr>
          <p:cNvGrpSpPr/>
          <p:nvPr/>
        </p:nvGrpSpPr>
        <p:grpSpPr>
          <a:xfrm>
            <a:off x="4078440" y="3334244"/>
            <a:ext cx="1524019" cy="932302"/>
            <a:chOff x="5381889" y="4185811"/>
            <a:chExt cx="1524019" cy="932302"/>
          </a:xfrm>
        </p:grpSpPr>
        <p:sp>
          <p:nvSpPr>
            <p:cNvPr id="39" name="Text Box 15">
              <a:extLst>
                <a:ext uri="{FF2B5EF4-FFF2-40B4-BE49-F238E27FC236}">
                  <a16:creationId xmlns:a16="http://schemas.microsoft.com/office/drawing/2014/main" id="{7459EDFF-8B9D-41E9-B4D5-1BA8564C0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1889" y="4581566"/>
              <a:ext cx="1524019" cy="5365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MEDIO</a:t>
              </a:r>
              <a:endParaRPr lang="es-ES" sz="2400" b="1" dirty="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" name="Line 22">
              <a:extLst>
                <a:ext uri="{FF2B5EF4-FFF2-40B4-BE49-F238E27FC236}">
                  <a16:creationId xmlns:a16="http://schemas.microsoft.com/office/drawing/2014/main" id="{96CF96AF-F046-4BC0-8932-04E31276B8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42046" y="4185811"/>
              <a:ext cx="1" cy="40292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s-ES" sz="2400"/>
            </a:p>
          </p:txBody>
        </p:sp>
      </p:grpSp>
    </p:spTree>
    <p:extLst>
      <p:ext uri="{BB962C8B-B14F-4D97-AF65-F5344CB8AC3E}">
        <p14:creationId xmlns:p14="http://schemas.microsoft.com/office/powerpoint/2010/main" val="2267193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7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36" grpId="0" animBg="1"/>
      <p:bldP spid="34" grpId="0"/>
      <p:bldP spid="33825" grpId="0" animBg="1"/>
      <p:bldP spid="3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Box 35"/>
          <p:cNvSpPr txBox="1">
            <a:spLocks noChangeArrowheads="1"/>
          </p:cNvSpPr>
          <p:nvPr/>
        </p:nvSpPr>
        <p:spPr bwMode="auto">
          <a:xfrm>
            <a:off x="1469947" y="1675669"/>
            <a:ext cx="8607704" cy="53654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None/>
            </a:pPr>
            <a:r>
              <a:rPr lang="es-ES" sz="2400">
                <a:latin typeface="Arial" panose="020B0604020202020204" pitchFamily="34" charset="0"/>
              </a:rPr>
              <a:t>A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mayor V y G, y a menor R, mayor es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y mayor la corriente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6254641" y="2562582"/>
            <a:ext cx="1597210" cy="536549"/>
          </a:xfrm>
          <a:prstGeom prst="rect">
            <a:avLst/>
          </a:prstGeom>
          <a:noFill/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: </a:t>
            </a: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mega</a:t>
            </a:r>
          </a:p>
        </p:txBody>
      </p:sp>
      <p:grpSp>
        <p:nvGrpSpPr>
          <p:cNvPr id="35846" name="Grupo 9"/>
          <p:cNvGrpSpPr>
            <a:grpSpLocks/>
          </p:cNvGrpSpPr>
          <p:nvPr/>
        </p:nvGrpSpPr>
        <p:grpSpPr bwMode="auto">
          <a:xfrm>
            <a:off x="4005556" y="552609"/>
            <a:ext cx="3534245" cy="579331"/>
            <a:chOff x="11146078" y="-1664357"/>
            <a:chExt cx="3534648" cy="579438"/>
          </a:xfrm>
        </p:grpSpPr>
        <p:grpSp>
          <p:nvGrpSpPr>
            <p:cNvPr id="35866" name="Grupo 36"/>
            <p:cNvGrpSpPr>
              <a:grpSpLocks/>
            </p:cNvGrpSpPr>
            <p:nvPr/>
          </p:nvGrpSpPr>
          <p:grpSpPr bwMode="auto">
            <a:xfrm>
              <a:off x="11146078" y="-1664357"/>
              <a:ext cx="1398746" cy="579438"/>
              <a:chOff x="7398065" y="-78035"/>
              <a:chExt cx="1398746" cy="579438"/>
            </a:xfrm>
          </p:grpSpPr>
          <p:sp>
            <p:nvSpPr>
              <p:cNvPr id="35869" name="Rectangle 29"/>
              <p:cNvSpPr>
                <a:spLocks noChangeArrowheads="1"/>
              </p:cNvSpPr>
              <p:nvPr/>
            </p:nvSpPr>
            <p:spPr bwMode="auto">
              <a:xfrm>
                <a:off x="7398065" y="-78035"/>
                <a:ext cx="1398746" cy="579438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35870" name="Object 3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90524065"/>
                  </p:ext>
                </p:extLst>
              </p:nvPr>
            </p:nvGraphicFramePr>
            <p:xfrm>
              <a:off x="7485320" y="45785"/>
              <a:ext cx="1171865" cy="4286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3" imgW="520474" imgH="190417" progId="Equation.3">
                      <p:embed/>
                    </p:oleObj>
                  </mc:Choice>
                  <mc:Fallback>
                    <p:oleObj name="Ecuación" r:id="rId3" imgW="520474" imgH="190417" progId="Equation.3">
                      <p:embed/>
                      <p:pic>
                        <p:nvPicPr>
                          <p:cNvPr id="3587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85320" y="45785"/>
                            <a:ext cx="1171865" cy="4286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5867" name="Rectangle 17"/>
            <p:cNvSpPr>
              <a:spLocks noChangeArrowheads="1"/>
            </p:cNvSpPr>
            <p:nvPr/>
          </p:nvSpPr>
          <p:spPr bwMode="auto">
            <a:xfrm>
              <a:off x="13281980" y="-1654193"/>
              <a:ext cx="1398746" cy="544474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5868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1173653"/>
                </p:ext>
              </p:extLst>
            </p:nvPr>
          </p:nvGraphicFramePr>
          <p:xfrm>
            <a:off x="13396051" y="-1578012"/>
            <a:ext cx="117157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520474" imgH="203112" progId="Equation.3">
                    <p:embed/>
                  </p:oleObj>
                </mc:Choice>
                <mc:Fallback>
                  <p:oleObj name="Ecuación" r:id="rId5" imgW="520474" imgH="203112" progId="Equation.3">
                    <p:embed/>
                    <p:pic>
                      <p:nvPicPr>
                        <p:cNvPr id="35868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96051" y="-1578012"/>
                          <a:ext cx="1171575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" name="Text Box 28"/>
          <p:cNvSpPr txBox="1">
            <a:spLocks noChangeArrowheads="1"/>
          </p:cNvSpPr>
          <p:nvPr/>
        </p:nvSpPr>
        <p:spPr bwMode="auto">
          <a:xfrm>
            <a:off x="1469946" y="4396654"/>
            <a:ext cx="1773540" cy="536549"/>
          </a:xfrm>
          <a:prstGeom prst="rect">
            <a:avLst/>
          </a:prstGeom>
          <a:solidFill>
            <a:srgbClr val="99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olidFill>
                  <a:srgbClr val="FFFFFF"/>
                </a:solidFill>
              </a:rPr>
              <a:t>UNIDADES</a:t>
            </a:r>
          </a:p>
        </p:txBody>
      </p:sp>
      <p:sp>
        <p:nvSpPr>
          <p:cNvPr id="35864" name="AutoShape 30"/>
          <p:cNvSpPr>
            <a:spLocks/>
          </p:cNvSpPr>
          <p:nvPr/>
        </p:nvSpPr>
        <p:spPr bwMode="auto">
          <a:xfrm>
            <a:off x="3490372" y="2589113"/>
            <a:ext cx="242969" cy="4146025"/>
          </a:xfrm>
          <a:prstGeom prst="leftBrace">
            <a:avLst>
              <a:gd name="adj1" fmla="val 60290"/>
              <a:gd name="adj2" fmla="val 50000"/>
            </a:avLst>
          </a:prstGeom>
          <a:noFill/>
          <a:ln w="38100">
            <a:solidFill>
              <a:srgbClr val="008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endParaRPr lang="es-ES"/>
          </a:p>
        </p:txBody>
      </p:sp>
      <p:sp>
        <p:nvSpPr>
          <p:cNvPr id="35863" name="Text Box 7"/>
          <p:cNvSpPr txBox="1">
            <a:spLocks noChangeArrowheads="1"/>
          </p:cNvSpPr>
          <p:nvPr/>
        </p:nvSpPr>
        <p:spPr bwMode="auto">
          <a:xfrm>
            <a:off x="3959211" y="5209293"/>
            <a:ext cx="554925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rgbClr val="0099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En honor a Siemens. </a:t>
            </a:r>
            <a:r>
              <a:rPr lang="es-ES" sz="2400">
                <a:solidFill>
                  <a:srgbClr val="0099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En inglés </a:t>
            </a:r>
            <a:r>
              <a:rPr lang="es-ES" sz="2400" dirty="0">
                <a:solidFill>
                  <a:srgbClr val="0099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igual</a:t>
            </a:r>
          </a:p>
        </p:txBody>
      </p:sp>
      <p:grpSp>
        <p:nvGrpSpPr>
          <p:cNvPr id="52" name="Group 28"/>
          <p:cNvGrpSpPr>
            <a:grpSpLocks/>
          </p:cNvGrpSpPr>
          <p:nvPr/>
        </p:nvGrpSpPr>
        <p:grpSpPr bwMode="auto">
          <a:xfrm>
            <a:off x="4042609" y="5752219"/>
            <a:ext cx="1319213" cy="1017588"/>
            <a:chOff x="5536" y="3280"/>
            <a:chExt cx="831" cy="641"/>
          </a:xfrm>
        </p:grpSpPr>
        <p:sp>
          <p:nvSpPr>
            <p:cNvPr id="35861" name="Rectangle 27"/>
            <p:cNvSpPr>
              <a:spLocks noChangeArrowheads="1"/>
            </p:cNvSpPr>
            <p:nvPr/>
          </p:nvSpPr>
          <p:spPr bwMode="auto">
            <a:xfrm>
              <a:off x="5536" y="3280"/>
              <a:ext cx="831" cy="641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5862" name="Object 26"/>
            <p:cNvGraphicFramePr>
              <a:graphicFrameLocks noChangeAspect="1"/>
            </p:cNvGraphicFramePr>
            <p:nvPr/>
          </p:nvGraphicFramePr>
          <p:xfrm>
            <a:off x="5577" y="3312"/>
            <a:ext cx="774" cy="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545863" imgH="393529" progId="Equation.3">
                    <p:embed/>
                  </p:oleObj>
                </mc:Choice>
                <mc:Fallback>
                  <p:oleObj name="Ecuación" r:id="rId7" imgW="545863" imgH="393529" progId="Equation.3">
                    <p:embed/>
                    <p:pic>
                      <p:nvPicPr>
                        <p:cNvPr id="35862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7" y="3312"/>
                          <a:ext cx="774" cy="5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Grupo 54"/>
          <p:cNvGrpSpPr>
            <a:grpSpLocks/>
          </p:cNvGrpSpPr>
          <p:nvPr/>
        </p:nvGrpSpPr>
        <p:grpSpPr bwMode="auto">
          <a:xfrm>
            <a:off x="5641614" y="6058989"/>
            <a:ext cx="1553759" cy="422275"/>
            <a:chOff x="8476117" y="3892459"/>
            <a:chExt cx="1553830" cy="422384"/>
          </a:xfrm>
        </p:grpSpPr>
        <p:sp>
          <p:nvSpPr>
            <p:cNvPr id="35859" name="Text Box 7"/>
            <p:cNvSpPr txBox="1">
              <a:spLocks noChangeArrowheads="1"/>
            </p:cNvSpPr>
            <p:nvPr/>
          </p:nvSpPr>
          <p:spPr bwMode="auto">
            <a:xfrm>
              <a:off x="8874998" y="3915190"/>
              <a:ext cx="1154949" cy="3996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Font typeface="Symbol" panose="05050102010706020507" pitchFamily="18" charset="2"/>
                <a:buNone/>
              </a:pPr>
              <a:r>
                <a:rPr lang="es-ES" sz="2400" b="1">
                  <a:latin typeface="Arial" panose="020B0604020202020204" pitchFamily="34" charset="0"/>
                  <a:sym typeface="Symbol" panose="05050102010706020507" pitchFamily="18" charset="2"/>
                </a:rPr>
                <a:t>: S/m</a:t>
              </a:r>
            </a:p>
          </p:txBody>
        </p:sp>
        <p:sp>
          <p:nvSpPr>
            <p:cNvPr id="35860" name="Flecha derecha 32"/>
            <p:cNvSpPr>
              <a:spLocks noChangeArrowheads="1"/>
            </p:cNvSpPr>
            <p:nvPr/>
          </p:nvSpPr>
          <p:spPr bwMode="auto">
            <a:xfrm>
              <a:off x="8476117" y="3892459"/>
              <a:ext cx="321547" cy="39965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s-ES"/>
            </a:p>
          </p:txBody>
        </p:sp>
      </p:grpSp>
      <p:grpSp>
        <p:nvGrpSpPr>
          <p:cNvPr id="59" name="Grupo 58"/>
          <p:cNvGrpSpPr>
            <a:grpSpLocks/>
          </p:cNvGrpSpPr>
          <p:nvPr/>
        </p:nvGrpSpPr>
        <p:grpSpPr bwMode="auto">
          <a:xfrm>
            <a:off x="5637424" y="3854319"/>
            <a:ext cx="1619248" cy="402731"/>
            <a:chOff x="4149969" y="3922927"/>
            <a:chExt cx="1619479" cy="402331"/>
          </a:xfrm>
        </p:grpSpPr>
        <p:sp>
          <p:nvSpPr>
            <p:cNvPr id="35857" name="Text Box 7"/>
            <p:cNvSpPr txBox="1">
              <a:spLocks noChangeArrowheads="1"/>
            </p:cNvSpPr>
            <p:nvPr/>
          </p:nvSpPr>
          <p:spPr bwMode="auto">
            <a:xfrm>
              <a:off x="4580983" y="3922927"/>
              <a:ext cx="1188465" cy="402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Font typeface="Symbol" panose="05050102010706020507" pitchFamily="18" charset="2"/>
                <a:buNone/>
              </a:pPr>
              <a:r>
                <a:rPr lang="es-ES" sz="2400" b="1">
                  <a:latin typeface="Arial" panose="020B0604020202020204" pitchFamily="34" charset="0"/>
                  <a:sym typeface="Symbol" panose="05050102010706020507" pitchFamily="18" charset="2"/>
                </a:rPr>
                <a:t>:  m </a:t>
              </a:r>
            </a:p>
          </p:txBody>
        </p:sp>
        <p:sp>
          <p:nvSpPr>
            <p:cNvPr id="35858" name="Flecha derecha 2"/>
            <p:cNvSpPr>
              <a:spLocks noChangeArrowheads="1"/>
            </p:cNvSpPr>
            <p:nvPr/>
          </p:nvSpPr>
          <p:spPr bwMode="auto">
            <a:xfrm>
              <a:off x="4149969" y="3922929"/>
              <a:ext cx="321547" cy="39965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s-ES"/>
            </a:p>
          </p:txBody>
        </p:sp>
      </p:grpSp>
      <p:grpSp>
        <p:nvGrpSpPr>
          <p:cNvPr id="62" name="Group 28"/>
          <p:cNvGrpSpPr>
            <a:grpSpLocks/>
          </p:cNvGrpSpPr>
          <p:nvPr/>
        </p:nvGrpSpPr>
        <p:grpSpPr bwMode="auto">
          <a:xfrm>
            <a:off x="4054388" y="3549135"/>
            <a:ext cx="1319212" cy="1017588"/>
            <a:chOff x="5536" y="3280"/>
            <a:chExt cx="831" cy="641"/>
          </a:xfrm>
        </p:grpSpPr>
        <p:sp>
          <p:nvSpPr>
            <p:cNvPr id="35855" name="Rectangle 27"/>
            <p:cNvSpPr>
              <a:spLocks noChangeArrowheads="1"/>
            </p:cNvSpPr>
            <p:nvPr/>
          </p:nvSpPr>
          <p:spPr bwMode="auto">
            <a:xfrm>
              <a:off x="5536" y="3280"/>
              <a:ext cx="831" cy="641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5856" name="Object 26"/>
            <p:cNvGraphicFramePr>
              <a:graphicFrameLocks noChangeAspect="1"/>
            </p:cNvGraphicFramePr>
            <p:nvPr/>
          </p:nvGraphicFramePr>
          <p:xfrm>
            <a:off x="5586" y="3312"/>
            <a:ext cx="756" cy="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533169" imgH="393529" progId="Equation.3">
                    <p:embed/>
                  </p:oleObj>
                </mc:Choice>
                <mc:Fallback>
                  <p:oleObj name="Ecuación" r:id="rId9" imgW="533169" imgH="393529" progId="Equation.3">
                    <p:embed/>
                    <p:pic>
                      <p:nvPicPr>
                        <p:cNvPr id="35856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86" y="3312"/>
                          <a:ext cx="756" cy="5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Text Box 7"/>
          <p:cNvSpPr txBox="1">
            <a:spLocks noChangeArrowheads="1"/>
          </p:cNvSpPr>
          <p:nvPr/>
        </p:nvSpPr>
        <p:spPr bwMode="auto">
          <a:xfrm>
            <a:off x="3982753" y="2579197"/>
            <a:ext cx="554925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:</a:t>
            </a:r>
            <a:r>
              <a:rPr lang="es-ES" sz="2400" dirty="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Ohmio: </a:t>
            </a:r>
          </a:p>
        </p:txBody>
      </p:sp>
      <p:sp>
        <p:nvSpPr>
          <p:cNvPr id="29" name="Text Box 7">
            <a:extLst>
              <a:ext uri="{FF2B5EF4-FFF2-40B4-BE49-F238E27FC236}">
                <a16:creationId xmlns:a16="http://schemas.microsoft.com/office/drawing/2014/main" id="{31683B1F-C715-423B-91A3-C244D8D3F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3079" y="2997868"/>
            <a:ext cx="554925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rgbClr val="0099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En honor a Ohm. En inglés: “ohm”</a:t>
            </a:r>
          </a:p>
        </p:txBody>
      </p:sp>
      <p:sp>
        <p:nvSpPr>
          <p:cNvPr id="30" name="Text Box 7">
            <a:extLst>
              <a:ext uri="{FF2B5EF4-FFF2-40B4-BE49-F238E27FC236}">
                <a16:creationId xmlns:a16="http://schemas.microsoft.com/office/drawing/2014/main" id="{0CAF209E-AD6D-4CFB-8B2C-A948E83DA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0765" y="4770117"/>
            <a:ext cx="316796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:</a:t>
            </a:r>
            <a:r>
              <a:rPr lang="es-ES" sz="2400" dirty="0">
                <a:solidFill>
                  <a:schemeClr val="accent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Siemens: S = </a:t>
            </a:r>
            <a:r>
              <a:rPr lang="es-ES" sz="2400" b="1" baseline="30000" dirty="0">
                <a:latin typeface="Arial" panose="020B0604020202020204" pitchFamily="34" charset="0"/>
                <a:sym typeface="Symbol" panose="05050102010706020507" pitchFamily="18" charset="2"/>
              </a:rPr>
              <a:t>-1</a:t>
            </a:r>
            <a:endParaRPr lang="es-ES" sz="2400" dirty="0">
              <a:solidFill>
                <a:srgbClr val="0099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15D3C7A6-9915-46E0-9166-6C9131BDA9F4}"/>
              </a:ext>
            </a:extLst>
          </p:cNvPr>
          <p:cNvGrpSpPr/>
          <p:nvPr/>
        </p:nvGrpSpPr>
        <p:grpSpPr>
          <a:xfrm>
            <a:off x="6993508" y="4750606"/>
            <a:ext cx="2350917" cy="580367"/>
            <a:chOff x="6781755" y="1503488"/>
            <a:chExt cx="2350917" cy="580367"/>
          </a:xfrm>
        </p:grpSpPr>
        <p:sp>
          <p:nvSpPr>
            <p:cNvPr id="35865" name="Text Box 31"/>
            <p:cNvSpPr txBox="1">
              <a:spLocks noChangeArrowheads="1"/>
            </p:cNvSpPr>
            <p:nvPr/>
          </p:nvSpPr>
          <p:spPr bwMode="auto">
            <a:xfrm flipV="1">
              <a:off x="8445624" y="1547305"/>
              <a:ext cx="417400" cy="5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>
                  <a:solidFill>
                    <a:srgbClr val="FF0000"/>
                  </a:solidFill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2" name="Text Box 7">
              <a:extLst>
                <a:ext uri="{FF2B5EF4-FFF2-40B4-BE49-F238E27FC236}">
                  <a16:creationId xmlns:a16="http://schemas.microsoft.com/office/drawing/2014/main" id="{AF7BE73F-748B-4D40-9F72-A19F6673E0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755" y="1503488"/>
              <a:ext cx="2350917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Symbol" panose="05050102010706020507" pitchFamily="18" charset="2"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(antes </a:t>
              </a:r>
              <a:r>
                <a:rPr lang="es-ES" sz="2400" dirty="0" err="1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mho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:    )</a:t>
              </a:r>
              <a:endParaRPr lang="es-ES" sz="2400" dirty="0">
                <a:solidFill>
                  <a:srgbClr val="0099FF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5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/>
      <p:bldP spid="42" grpId="0" animBg="1"/>
      <p:bldP spid="35864" grpId="0" animBg="1"/>
      <p:bldP spid="35863" grpId="0"/>
      <p:bldP spid="28" grpId="0"/>
      <p:bldP spid="29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/>
          <p:cNvSpPr/>
          <p:nvPr/>
        </p:nvSpPr>
        <p:spPr bwMode="auto">
          <a:xfrm>
            <a:off x="1798348" y="2004743"/>
            <a:ext cx="8579540" cy="2228606"/>
          </a:xfrm>
          <a:prstGeom prst="rect">
            <a:avLst/>
          </a:prstGeom>
          <a:solidFill>
            <a:srgbClr val="C0C0C0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0" name="Text Box 9"/>
          <p:cNvSpPr txBox="1">
            <a:spLocks noChangeArrowheads="1"/>
          </p:cNvSpPr>
          <p:nvPr/>
        </p:nvSpPr>
        <p:spPr bwMode="auto">
          <a:xfrm>
            <a:off x="1941298" y="2456550"/>
            <a:ext cx="754466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La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temperatura del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conductor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(directamente)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8105930" y="1417553"/>
            <a:ext cx="2282975" cy="499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y por ello, de:</a:t>
            </a:r>
            <a:endParaRPr lang="es-ES" sz="2400" b="1" dirty="0">
              <a:solidFill>
                <a:srgbClr val="3333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2" name="Text Box 9"/>
          <p:cNvSpPr txBox="1">
            <a:spLocks noChangeArrowheads="1"/>
          </p:cNvSpPr>
          <p:nvPr/>
        </p:nvSpPr>
        <p:spPr bwMode="auto">
          <a:xfrm>
            <a:off x="1303997" y="1423111"/>
            <a:ext cx="7000163" cy="499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</a:t>
            </a: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 las propiedades eléctricas del conductor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53" name="Grupo 36">
            <a:extLst>
              <a:ext uri="{FF2B5EF4-FFF2-40B4-BE49-F238E27FC236}">
                <a16:creationId xmlns:a16="http://schemas.microsoft.com/office/drawing/2014/main" id="{28510CA9-B0EB-4E08-8CE4-3A6447BDBF89}"/>
              </a:ext>
            </a:extLst>
          </p:cNvPr>
          <p:cNvGrpSpPr>
            <a:grpSpLocks/>
          </p:cNvGrpSpPr>
          <p:nvPr/>
        </p:nvGrpSpPr>
        <p:grpSpPr bwMode="auto">
          <a:xfrm>
            <a:off x="8305128" y="535491"/>
            <a:ext cx="1398588" cy="579331"/>
            <a:chOff x="5049651" y="3162506"/>
            <a:chExt cx="1398746" cy="579438"/>
          </a:xfrm>
        </p:grpSpPr>
        <p:sp>
          <p:nvSpPr>
            <p:cNvPr id="57" name="Rectangle 29">
              <a:extLst>
                <a:ext uri="{FF2B5EF4-FFF2-40B4-BE49-F238E27FC236}">
                  <a16:creationId xmlns:a16="http://schemas.microsoft.com/office/drawing/2014/main" id="{DE484FE8-D5AB-4E1F-8D1A-66E65EED8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9651" y="3162506"/>
              <a:ext cx="1398746" cy="579438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58" name="Object 30">
              <a:extLst>
                <a:ext uri="{FF2B5EF4-FFF2-40B4-BE49-F238E27FC236}">
                  <a16:creationId xmlns:a16="http://schemas.microsoft.com/office/drawing/2014/main" id="{ACFB6FA0-8973-46C5-A0B9-D6E8FAEE82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36906" y="3286328"/>
            <a:ext cx="1171865" cy="4286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520474" imgH="190417" progId="Equation.3">
                    <p:embed/>
                  </p:oleObj>
                </mc:Choice>
                <mc:Fallback>
                  <p:oleObj name="Ecuación" r:id="rId3" imgW="520474" imgH="190417" progId="Equation.3">
                    <p:embed/>
                    <p:pic>
                      <p:nvPicPr>
                        <p:cNvPr id="58" name="Object 30">
                          <a:extLst>
                            <a:ext uri="{FF2B5EF4-FFF2-40B4-BE49-F238E27FC236}">
                              <a16:creationId xmlns:a16="http://schemas.microsoft.com/office/drawing/2014/main" id="{ACFB6FA0-8973-46C5-A0B9-D6E8FAEE82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906" y="3286328"/>
                          <a:ext cx="1171865" cy="4286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0" name="Group 28">
            <a:extLst>
              <a:ext uri="{FF2B5EF4-FFF2-40B4-BE49-F238E27FC236}">
                <a16:creationId xmlns:a16="http://schemas.microsoft.com/office/drawing/2014/main" id="{224EFF5F-A318-492E-B752-1D3301941ECF}"/>
              </a:ext>
            </a:extLst>
          </p:cNvPr>
          <p:cNvGrpSpPr>
            <a:grpSpLocks/>
          </p:cNvGrpSpPr>
          <p:nvPr/>
        </p:nvGrpSpPr>
        <p:grpSpPr bwMode="auto">
          <a:xfrm>
            <a:off x="6259703" y="325406"/>
            <a:ext cx="1319212" cy="1017588"/>
            <a:chOff x="5536" y="3280"/>
            <a:chExt cx="831" cy="641"/>
          </a:xfrm>
        </p:grpSpPr>
        <p:sp>
          <p:nvSpPr>
            <p:cNvPr id="71" name="Rectangle 27">
              <a:extLst>
                <a:ext uri="{FF2B5EF4-FFF2-40B4-BE49-F238E27FC236}">
                  <a16:creationId xmlns:a16="http://schemas.microsoft.com/office/drawing/2014/main" id="{92D26C13-F914-4C64-B032-17FF27FC5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" y="3280"/>
              <a:ext cx="831" cy="641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72" name="Object 26">
              <a:extLst>
                <a:ext uri="{FF2B5EF4-FFF2-40B4-BE49-F238E27FC236}">
                  <a16:creationId xmlns:a16="http://schemas.microsoft.com/office/drawing/2014/main" id="{4AF19D31-5F4A-4FB5-BC1E-ED718D0A616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86" y="3312"/>
            <a:ext cx="756" cy="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533169" imgH="393529" progId="Equation.3">
                    <p:embed/>
                  </p:oleObj>
                </mc:Choice>
                <mc:Fallback>
                  <p:oleObj name="Ecuación" r:id="rId5" imgW="533169" imgH="393529" progId="Equation.3">
                    <p:embed/>
                    <p:pic>
                      <p:nvPicPr>
                        <p:cNvPr id="72" name="Object 26">
                          <a:extLst>
                            <a:ext uri="{FF2B5EF4-FFF2-40B4-BE49-F238E27FC236}">
                              <a16:creationId xmlns:a16="http://schemas.microsoft.com/office/drawing/2014/main" id="{4AF19D31-5F4A-4FB5-BC1E-ED718D0A616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86" y="3312"/>
                          <a:ext cx="756" cy="5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CAB93EFC-DD05-7E89-8FE6-71A67CF65523}"/>
              </a:ext>
            </a:extLst>
          </p:cNvPr>
          <p:cNvSpPr/>
          <p:nvPr/>
        </p:nvSpPr>
        <p:spPr bwMode="auto">
          <a:xfrm>
            <a:off x="1798349" y="4929199"/>
            <a:ext cx="8579540" cy="1884022"/>
          </a:xfrm>
          <a:prstGeom prst="rect">
            <a:avLst/>
          </a:prstGeom>
          <a:solidFill>
            <a:srgbClr val="C0C0C0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" name="Text Box 9">
            <a:extLst>
              <a:ext uri="{FF2B5EF4-FFF2-40B4-BE49-F238E27FC236}">
                <a16:creationId xmlns:a16="http://schemas.microsoft.com/office/drawing/2014/main" id="{2F9CF7E2-1CA4-F08C-C08F-7CF0DFB7B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7309" y="5905204"/>
            <a:ext cx="8566685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 Con S inversamente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: 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más S hay más puntos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con </a:t>
            </a:r>
          </a:p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 portadores  Hay más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 misma V,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más 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I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y menos R</a:t>
            </a:r>
          </a:p>
        </p:txBody>
      </p:sp>
      <p:sp>
        <p:nvSpPr>
          <p:cNvPr id="4" name="Text Box 9">
            <a:extLst>
              <a:ext uri="{FF2B5EF4-FFF2-40B4-BE49-F238E27FC236}">
                <a16:creationId xmlns:a16="http://schemas.microsoft.com/office/drawing/2014/main" id="{85B47CFE-FAA2-7873-597B-30774F3AD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2219" y="4994572"/>
            <a:ext cx="8566685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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Con L directamente: 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misma V,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 más L, hay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menos E</a:t>
            </a:r>
          </a:p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 ("E = V/L")  Menos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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enos 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y más R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94203B02-6260-83CF-65AD-E2750C0E2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207" y="4331466"/>
            <a:ext cx="8055747" cy="499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 y S (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 la geometría del conductor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s-ES" sz="2400" b="1" dirty="0">
              <a:solidFill>
                <a:srgbClr val="3333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791FDAB9-FD83-8786-C2D8-26DF07AB3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1298" y="2017877"/>
            <a:ext cx="754466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La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interacción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portadores-conductor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(directamente)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BCBB5EB8-5B33-92CA-C26D-BB8794E6A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4088" y="2901525"/>
            <a:ext cx="754466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densidad de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portadores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(inversamente)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84D7F92-AB3A-1080-F393-4131AA75799E}"/>
              </a:ext>
            </a:extLst>
          </p:cNvPr>
          <p:cNvSpPr txBox="1"/>
          <p:nvPr/>
        </p:nvSpPr>
        <p:spPr>
          <a:xfrm>
            <a:off x="1423772" y="566702"/>
            <a:ext cx="3248811" cy="58744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lIns="108000" tIns="108000" rIns="108000" bIns="108000" anchor="ctr" anchorCtr="1">
            <a:spAutoFit/>
          </a:bodyPr>
          <a:lstStyle/>
          <a:p>
            <a:pPr algn="ctr">
              <a:defRPr/>
            </a:pPr>
            <a:r>
              <a:rPr lang="es-ES" sz="2400"/>
              <a:t>¿De qué depende R?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032F016E-E79B-418A-70DC-8D9174227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5287" y="3340839"/>
            <a:ext cx="6992049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más densidad de portadores, se arrastran más</a:t>
            </a:r>
          </a:p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para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 misma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la 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aumenta y la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R decrece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52016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40" grpId="0"/>
      <p:bldP spid="41" grpId="0"/>
      <p:bldP spid="42" grpId="0"/>
      <p:bldP spid="2" grpId="0" animBg="1"/>
      <p:bldP spid="3" grpId="0"/>
      <p:bldP spid="4" grpId="0"/>
      <p:bldP spid="5" grpId="0"/>
      <p:bldP spid="6" grpId="0"/>
      <p:bldP spid="7" grpId="0"/>
      <p:bldP spid="8" grpId="0" animBg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81" name="Text Box 24"/>
          <p:cNvSpPr txBox="1">
            <a:spLocks noChangeArrowheads="1"/>
          </p:cNvSpPr>
          <p:nvPr/>
        </p:nvSpPr>
        <p:spPr bwMode="auto">
          <a:xfrm>
            <a:off x="1819174" y="5765600"/>
            <a:ext cx="7894167" cy="13479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El motivo de este comportamiento es que la interacción de los portadores de carga con el conductor, y por ello,</a:t>
            </a:r>
          </a:p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, , , G y R, no dependen de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(de V) </a:t>
            </a:r>
          </a:p>
        </p:txBody>
      </p:sp>
      <p:sp>
        <p:nvSpPr>
          <p:cNvPr id="37930" name="Text Box 36"/>
          <p:cNvSpPr txBox="1">
            <a:spLocks noChangeArrowheads="1"/>
          </p:cNvSpPr>
          <p:nvPr/>
        </p:nvSpPr>
        <p:spPr bwMode="auto">
          <a:xfrm>
            <a:off x="1612638" y="4821184"/>
            <a:ext cx="8360857" cy="869794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Si es así a la ecuación (V = RI) 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se le da nombre, se 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conoce como </a:t>
            </a:r>
            <a:r>
              <a:rPr lang="es-ES" sz="2400" b="1">
                <a:solidFill>
                  <a:srgbClr val="FFFFFF"/>
                </a:solidFill>
                <a:latin typeface="Arial" panose="020B0604020202020204" pitchFamily="34" charset="0"/>
              </a:rPr>
              <a:t>Ley </a:t>
            </a:r>
            <a:r>
              <a:rPr lang="es-ES" sz="2400" b="1" dirty="0">
                <a:solidFill>
                  <a:srgbClr val="FFFFFF"/>
                </a:solidFill>
                <a:latin typeface="Arial" panose="020B0604020202020204" pitchFamily="34" charset="0"/>
              </a:rPr>
              <a:t>de Ohm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, y el conductor se dice que es </a:t>
            </a:r>
            <a:r>
              <a:rPr lang="es-ES" sz="2400" b="1" dirty="0">
                <a:solidFill>
                  <a:srgbClr val="FFFFFF"/>
                </a:solidFill>
                <a:latin typeface="Arial" panose="020B0604020202020204" pitchFamily="34" charset="0"/>
              </a:rPr>
              <a:t>óhmico</a:t>
            </a:r>
          </a:p>
        </p:txBody>
      </p:sp>
      <p:sp>
        <p:nvSpPr>
          <p:cNvPr id="37926" name="Text Box 40"/>
          <p:cNvSpPr txBox="1">
            <a:spLocks noChangeArrowheads="1"/>
          </p:cNvSpPr>
          <p:nvPr/>
        </p:nvSpPr>
        <p:spPr bwMode="auto">
          <a:xfrm>
            <a:off x="8732466" y="3102349"/>
            <a:ext cx="1635799" cy="956773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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relación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lineal</a:t>
            </a:r>
          </a:p>
        </p:txBody>
      </p:sp>
      <p:sp>
        <p:nvSpPr>
          <p:cNvPr id="39963" name="Text Box 93"/>
          <p:cNvSpPr txBox="1">
            <a:spLocks noChangeArrowheads="1"/>
          </p:cNvSpPr>
          <p:nvPr/>
        </p:nvSpPr>
        <p:spPr bwMode="auto">
          <a:xfrm>
            <a:off x="1420138" y="540441"/>
            <a:ext cx="4684594" cy="53654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non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¿Depende </a:t>
            </a:r>
            <a:r>
              <a:rPr lang="es-ES" sz="2400" dirty="0">
                <a:latin typeface="Arial" panose="020B0604020202020204" pitchFamily="34" charset="0"/>
              </a:rPr>
              <a:t>R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u="sng" dirty="0">
                <a:latin typeface="Arial" panose="020B0604020202020204" pitchFamily="34" charset="0"/>
              </a:rPr>
              <a:t>directamente</a:t>
            </a:r>
            <a:r>
              <a:rPr lang="es-ES" sz="2400" dirty="0">
                <a:latin typeface="Arial" panose="020B0604020202020204" pitchFamily="34" charset="0"/>
              </a:rPr>
              <a:t> de V?</a:t>
            </a:r>
          </a:p>
        </p:txBody>
      </p:sp>
      <p:sp>
        <p:nvSpPr>
          <p:cNvPr id="8223" name="Text Box 41"/>
          <p:cNvSpPr txBox="1">
            <a:spLocks noChangeArrowheads="1"/>
          </p:cNvSpPr>
          <p:nvPr/>
        </p:nvSpPr>
        <p:spPr bwMode="auto">
          <a:xfrm>
            <a:off x="1461178" y="1162380"/>
            <a:ext cx="862609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La temperatura del conductor debe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ser "cte."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para chequearlo </a:t>
            </a:r>
          </a:p>
        </p:txBody>
      </p:sp>
      <p:sp>
        <p:nvSpPr>
          <p:cNvPr id="8224" name="Text Box 96"/>
          <p:cNvSpPr txBox="1">
            <a:spLocks noChangeArrowheads="1"/>
          </p:cNvSpPr>
          <p:nvPr/>
        </p:nvSpPr>
        <p:spPr bwMode="auto">
          <a:xfrm>
            <a:off x="1976502" y="1688839"/>
            <a:ext cx="7581381" cy="12752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Porque R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depende de V </a:t>
            </a:r>
            <a:r>
              <a:rPr lang="es-ES" sz="2400" u="sng" dirty="0">
                <a:latin typeface="Arial" panose="020B0604020202020204" pitchFamily="34" charset="0"/>
                <a:cs typeface="Arial" panose="020B0604020202020204" pitchFamily="34" charset="0"/>
              </a:rPr>
              <a:t>indirectamente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a través de 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T: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Si V crece,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Comic Sans MS" panose="030F0702030302020204" pitchFamily="66" charset="0"/>
                <a:cs typeface="Arial" panose="020B0604020202020204" pitchFamily="34" charset="0"/>
              </a:rPr>
              <a:t>I 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crece, crece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 el rozamiento (la cesión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de energía en las colisiones), crece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T y 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R crece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 Box 41"/>
          <p:cNvSpPr txBox="1">
            <a:spLocks noChangeArrowheads="1"/>
          </p:cNvSpPr>
          <p:nvPr/>
        </p:nvSpPr>
        <p:spPr bwMode="auto">
          <a:xfrm>
            <a:off x="3561238" y="3941946"/>
            <a:ext cx="2893477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R no depende de V, es cte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. al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variar V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3" name="Text Box 41">
            <a:extLst>
              <a:ext uri="{FF2B5EF4-FFF2-40B4-BE49-F238E27FC236}">
                <a16:creationId xmlns:a16="http://schemas.microsoft.com/office/drawing/2014/main" id="{15D6697C-C185-43D4-9B1E-B831278F0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8615" y="3127795"/>
            <a:ext cx="2197968" cy="90588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Si la respuesta es NO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6563B15E-AA9A-12A6-2FA2-6F7D6BBE3A28}"/>
              </a:ext>
            </a:extLst>
          </p:cNvPr>
          <p:cNvGrpSpPr/>
          <p:nvPr/>
        </p:nvGrpSpPr>
        <p:grpSpPr>
          <a:xfrm>
            <a:off x="5941856" y="3229898"/>
            <a:ext cx="1881098" cy="701675"/>
            <a:chOff x="5941856" y="2873761"/>
            <a:chExt cx="1881098" cy="701675"/>
          </a:xfrm>
        </p:grpSpPr>
        <p:sp>
          <p:nvSpPr>
            <p:cNvPr id="64" name="AutoShape 47">
              <a:extLst>
                <a:ext uri="{FF2B5EF4-FFF2-40B4-BE49-F238E27FC236}">
                  <a16:creationId xmlns:a16="http://schemas.microsoft.com/office/drawing/2014/main" id="{C5393DEC-229C-421B-97FB-4779300009A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766501" y="3049116"/>
              <a:ext cx="701675" cy="350965"/>
            </a:xfrm>
            <a:prstGeom prst="downArrow">
              <a:avLst>
                <a:gd name="adj1" fmla="val 59278"/>
                <a:gd name="adj2" fmla="val 46315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1" name="Grupo 10"/>
            <p:cNvGrpSpPr/>
            <p:nvPr/>
          </p:nvGrpSpPr>
          <p:grpSpPr>
            <a:xfrm>
              <a:off x="6603769" y="2904236"/>
              <a:ext cx="1219185" cy="640724"/>
              <a:chOff x="3350415" y="4323068"/>
              <a:chExt cx="1219185" cy="640724"/>
            </a:xfrm>
          </p:grpSpPr>
          <p:sp>
            <p:nvSpPr>
              <p:cNvPr id="43" name="Rectángulo 42"/>
              <p:cNvSpPr/>
              <p:nvPr/>
            </p:nvSpPr>
            <p:spPr bwMode="auto">
              <a:xfrm>
                <a:off x="3350415" y="4323068"/>
                <a:ext cx="1193733" cy="640724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lg" len="lg"/>
              </a:ln>
              <a:effectLst/>
            </p:spPr>
            <p:txBody>
              <a:bodyPr vert="horz" wrap="square" lIns="90000" tIns="82800" rIns="90000" bIns="8280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graphicFrame>
            <p:nvGraphicFramePr>
              <p:cNvPr id="37913" name="Object 9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33518935"/>
                  </p:ext>
                </p:extLst>
              </p:nvPr>
            </p:nvGraphicFramePr>
            <p:xfrm>
              <a:off x="3390087" y="4448418"/>
              <a:ext cx="1179513" cy="4826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3" imgW="393529" imgH="190417" progId="Equation.3">
                      <p:embed/>
                    </p:oleObj>
                  </mc:Choice>
                  <mc:Fallback>
                    <p:oleObj name="Ecuación" r:id="rId3" imgW="393529" imgH="190417" progId="Equation.3">
                      <p:embed/>
                      <p:pic>
                        <p:nvPicPr>
                          <p:cNvPr id="37913" name="Object 9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90087" y="4448418"/>
                            <a:ext cx="1179513" cy="4826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7" name="AutoShape 47">
            <a:extLst>
              <a:ext uri="{FF2B5EF4-FFF2-40B4-BE49-F238E27FC236}">
                <a16:creationId xmlns:a16="http://schemas.microsoft.com/office/drawing/2014/main" id="{82CA4C78-84AD-4533-A8CC-E61D340FF8F2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939482" y="3405254"/>
            <a:ext cx="701675" cy="350963"/>
          </a:xfrm>
          <a:prstGeom prst="downArrow">
            <a:avLst>
              <a:gd name="adj1" fmla="val 59278"/>
              <a:gd name="adj2" fmla="val 46315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9A899A18-6645-EA38-6A14-890EC5DD4D8A}"/>
              </a:ext>
            </a:extLst>
          </p:cNvPr>
          <p:cNvGrpSpPr/>
          <p:nvPr/>
        </p:nvGrpSpPr>
        <p:grpSpPr>
          <a:xfrm>
            <a:off x="3765084" y="3221201"/>
            <a:ext cx="2002319" cy="719068"/>
            <a:chOff x="3247285" y="2766839"/>
            <a:chExt cx="2002319" cy="719068"/>
          </a:xfrm>
        </p:grpSpPr>
        <p:grpSp>
          <p:nvGrpSpPr>
            <p:cNvPr id="3" name="Grupo 2"/>
            <p:cNvGrpSpPr/>
            <p:nvPr/>
          </p:nvGrpSpPr>
          <p:grpSpPr>
            <a:xfrm>
              <a:off x="3613805" y="2766839"/>
              <a:ext cx="1635799" cy="687244"/>
              <a:chOff x="2704061" y="863569"/>
              <a:chExt cx="1635799" cy="687244"/>
            </a:xfrm>
          </p:grpSpPr>
          <p:sp>
            <p:nvSpPr>
              <p:cNvPr id="4" name="Rectángulo 3"/>
              <p:cNvSpPr/>
              <p:nvPr/>
            </p:nvSpPr>
            <p:spPr bwMode="auto">
              <a:xfrm>
                <a:off x="2852691" y="938813"/>
                <a:ext cx="1370177" cy="612000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lg" len="lg"/>
              </a:ln>
              <a:effectLst/>
            </p:spPr>
            <p:txBody>
              <a:bodyPr vert="horz" wrap="square" lIns="90000" tIns="82800" rIns="90000" bIns="8280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37922" name="Text Box 56"/>
              <p:cNvSpPr txBox="1">
                <a:spLocks noChangeArrowheads="1"/>
              </p:cNvSpPr>
              <p:nvPr/>
            </p:nvSpPr>
            <p:spPr bwMode="auto">
              <a:xfrm>
                <a:off x="2704061" y="863569"/>
                <a:ext cx="1635799" cy="6520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15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R </a:t>
                </a: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 R(V) </a:t>
                </a:r>
              </a:p>
            </p:txBody>
          </p:sp>
        </p:grpSp>
        <p:sp>
          <p:nvSpPr>
            <p:cNvPr id="5" name="AutoShape 47">
              <a:extLst>
                <a:ext uri="{FF2B5EF4-FFF2-40B4-BE49-F238E27FC236}">
                  <a16:creationId xmlns:a16="http://schemas.microsoft.com/office/drawing/2014/main" id="{9814309C-561B-E9FC-5B03-B84CFC097FF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071929" y="2959588"/>
              <a:ext cx="701675" cy="350963"/>
            </a:xfrm>
            <a:prstGeom prst="downArrow">
              <a:avLst>
                <a:gd name="adj1" fmla="val 59278"/>
                <a:gd name="adj2" fmla="val 46315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9" name="Grupo 36">
            <a:extLst>
              <a:ext uri="{FF2B5EF4-FFF2-40B4-BE49-F238E27FC236}">
                <a16:creationId xmlns:a16="http://schemas.microsoft.com/office/drawing/2014/main" id="{D206553F-0B25-9FE0-5EC6-D66BDBE466EC}"/>
              </a:ext>
            </a:extLst>
          </p:cNvPr>
          <p:cNvGrpSpPr>
            <a:grpSpLocks/>
          </p:cNvGrpSpPr>
          <p:nvPr/>
        </p:nvGrpSpPr>
        <p:grpSpPr bwMode="auto">
          <a:xfrm>
            <a:off x="8305128" y="535491"/>
            <a:ext cx="1398588" cy="579331"/>
            <a:chOff x="5049651" y="3162506"/>
            <a:chExt cx="1398746" cy="579438"/>
          </a:xfrm>
        </p:grpSpPr>
        <p:sp>
          <p:nvSpPr>
            <p:cNvPr id="10" name="Rectangle 29">
              <a:extLst>
                <a:ext uri="{FF2B5EF4-FFF2-40B4-BE49-F238E27FC236}">
                  <a16:creationId xmlns:a16="http://schemas.microsoft.com/office/drawing/2014/main" id="{58D9DBE4-0CCA-0FD4-0DB4-BD54D291F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9651" y="3162506"/>
              <a:ext cx="1398746" cy="579438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2" name="Object 30">
              <a:extLst>
                <a:ext uri="{FF2B5EF4-FFF2-40B4-BE49-F238E27FC236}">
                  <a16:creationId xmlns:a16="http://schemas.microsoft.com/office/drawing/2014/main" id="{12ADCFB8-0729-478D-32C3-0C9BE8E070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36906" y="3286328"/>
            <a:ext cx="1171865" cy="4286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520474" imgH="190417" progId="Equation.3">
                    <p:embed/>
                  </p:oleObj>
                </mc:Choice>
                <mc:Fallback>
                  <p:oleObj name="Ecuación" r:id="rId5" imgW="520474" imgH="190417" progId="Equation.3">
                    <p:embed/>
                    <p:pic>
                      <p:nvPicPr>
                        <p:cNvPr id="58" name="Object 30">
                          <a:extLst>
                            <a:ext uri="{FF2B5EF4-FFF2-40B4-BE49-F238E27FC236}">
                              <a16:creationId xmlns:a16="http://schemas.microsoft.com/office/drawing/2014/main" id="{ACFB6FA0-8973-46C5-A0B9-D6E8FAEE82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906" y="3286328"/>
                          <a:ext cx="1171865" cy="4286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Text Box 41">
            <a:extLst>
              <a:ext uri="{FF2B5EF4-FFF2-40B4-BE49-F238E27FC236}">
                <a16:creationId xmlns:a16="http://schemas.microsoft.com/office/drawing/2014/main" id="{D65562FF-B1B0-16FC-B8C8-BF4707C74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2406" y="3964264"/>
            <a:ext cx="2765284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Si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V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 2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s-ES" sz="2400" dirty="0">
                <a:solidFill>
                  <a:srgbClr val="FF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 2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 Box 41">
            <a:extLst>
              <a:ext uri="{FF2B5EF4-FFF2-40B4-BE49-F238E27FC236}">
                <a16:creationId xmlns:a16="http://schemas.microsoft.com/office/drawing/2014/main" id="{C3A2D6B2-8A4C-9A5F-49CC-8258E85B0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733" y="3918162"/>
            <a:ext cx="265923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(Práctica 1)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59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9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2" dur="500"/>
                                        <p:tgtEl>
                                          <p:spTgt spid="3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7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9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81" grpId="0" animBg="1"/>
      <p:bldP spid="37930" grpId="0" animBg="1"/>
      <p:bldP spid="37926" grpId="0" animBg="1"/>
      <p:bldP spid="39963" grpId="0" animBg="1"/>
      <p:bldP spid="8223" grpId="0"/>
      <p:bldP spid="8224" grpId="0" animBg="1"/>
      <p:bldP spid="59" grpId="0"/>
      <p:bldP spid="63" grpId="0" animBg="1"/>
      <p:bldP spid="27" grpId="0" animBg="1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 bwMode="auto">
          <a:xfrm>
            <a:off x="4404793" y="2657319"/>
            <a:ext cx="3064674" cy="1656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81282" name="Text Box 2"/>
          <p:cNvSpPr txBox="1">
            <a:spLocks noChangeArrowheads="1"/>
          </p:cNvSpPr>
          <p:nvPr/>
        </p:nvSpPr>
        <p:spPr bwMode="auto">
          <a:xfrm>
            <a:off x="1504364" y="2655768"/>
            <a:ext cx="2592158" cy="634698"/>
          </a:xfrm>
          <a:prstGeom prst="rect">
            <a:avLst/>
          </a:prstGeom>
          <a:solidFill>
            <a:srgbClr val="FF99CC"/>
          </a:solidFill>
          <a:ln>
            <a:noFill/>
          </a:ln>
        </p:spPr>
        <p:txBody>
          <a:bodyPr wrap="square" lIns="108000" tIns="108000" rIns="108000" bIns="144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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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(1 +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 T)</a:t>
            </a:r>
          </a:p>
        </p:txBody>
      </p:sp>
      <p:sp>
        <p:nvSpPr>
          <p:cNvPr id="481283" name="Text Box 3"/>
          <p:cNvSpPr txBox="1">
            <a:spLocks noChangeArrowheads="1"/>
          </p:cNvSpPr>
          <p:nvPr/>
        </p:nvSpPr>
        <p:spPr bwMode="auto">
          <a:xfrm>
            <a:off x="7971935" y="2686447"/>
            <a:ext cx="2111364" cy="956773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b="1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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: Coeficiente Térmico</a:t>
            </a:r>
            <a:endParaRPr lang="en-US" sz="24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9950" name="Text Box 5"/>
          <p:cNvSpPr txBox="1">
            <a:spLocks noChangeArrowheads="1"/>
          </p:cNvSpPr>
          <p:nvPr/>
        </p:nvSpPr>
        <p:spPr bwMode="auto">
          <a:xfrm>
            <a:off x="4618392" y="2657319"/>
            <a:ext cx="2757492" cy="609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</a:t>
            </a:r>
            <a:r>
              <a:rPr lang="es-ES" sz="2400">
                <a:latin typeface="Arial" panose="020B0604020202020204" pitchFamily="34" charset="0"/>
              </a:rPr>
              <a:t> =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</a:t>
            </a:r>
            <a:r>
              <a:rPr lang="es-ES" sz="2400" baseline="-25000">
                <a:latin typeface="Arial" panose="020B0604020202020204" pitchFamily="34" charset="0"/>
              </a:rPr>
              <a:t>o</a:t>
            </a:r>
            <a:r>
              <a:rPr lang="es-ES" sz="2400">
                <a:latin typeface="Arial" panose="020B0604020202020204" pitchFamily="34" charset="0"/>
              </a:rPr>
              <a:t>  +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</a:t>
            </a:r>
            <a:r>
              <a:rPr lang="es-ES" sz="2400" baseline="-25000">
                <a:latin typeface="Arial" panose="020B0604020202020204" pitchFamily="34" charset="0"/>
              </a:rPr>
              <a:t>o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(T-T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481291" name="Text Box 11"/>
          <p:cNvSpPr txBox="1">
            <a:spLocks noChangeArrowheads="1"/>
          </p:cNvSpPr>
          <p:nvPr/>
        </p:nvSpPr>
        <p:spPr bwMode="auto">
          <a:xfrm>
            <a:off x="3231823" y="4519983"/>
            <a:ext cx="6470443" cy="164454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Si la variación de L y S con T no es relevante (</a:t>
            </a:r>
            <a:r>
              <a:rPr lang="es-ES" sz="2400">
                <a:latin typeface="Arial" panose="020B0604020202020204" pitchFamily="34" charset="0"/>
              </a:rPr>
              <a:t>L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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L</a:t>
            </a:r>
            <a:r>
              <a:rPr lang="es-ES" sz="2400" baseline="-25000" dirty="0">
                <a:latin typeface="Arial" panose="020B0604020202020204" pitchFamily="34" charset="0"/>
              </a:rPr>
              <a:t>0</a:t>
            </a:r>
            <a:r>
              <a:rPr lang="es-ES" sz="2400" dirty="0">
                <a:latin typeface="Arial" panose="020B0604020202020204" pitchFamily="34" charset="0"/>
              </a:rPr>
              <a:t> y </a:t>
            </a:r>
            <a:r>
              <a:rPr lang="es-ES" sz="2400">
                <a:latin typeface="Arial" panose="020B0604020202020204" pitchFamily="34" charset="0"/>
              </a:rPr>
              <a:t>S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 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S</a:t>
            </a:r>
            <a:r>
              <a:rPr lang="es-ES" sz="2400" baseline="-25000" dirty="0">
                <a:latin typeface="Arial" panose="020B0604020202020204" pitchFamily="34" charset="0"/>
              </a:rPr>
              <a:t>0</a:t>
            </a:r>
            <a:r>
              <a:rPr lang="es-ES" sz="2400" dirty="0">
                <a:latin typeface="Arial" panose="020B0604020202020204" pitchFamily="34" charset="0"/>
              </a:rPr>
              <a:t>), el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 para  </a:t>
            </a:r>
            <a:r>
              <a:rPr lang="es-ES" sz="2400" dirty="0">
                <a:latin typeface="Arial" panose="020B0604020202020204" pitchFamily="34" charset="0"/>
              </a:rPr>
              <a:t>coincide con el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 para R, porque la aproximación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lineal para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 queda dada para R multiplicando por L/S</a:t>
            </a:r>
          </a:p>
        </p:txBody>
      </p:sp>
      <p:sp>
        <p:nvSpPr>
          <p:cNvPr id="481292" name="Text Box 12"/>
          <p:cNvSpPr txBox="1">
            <a:spLocks noChangeArrowheads="1"/>
          </p:cNvSpPr>
          <p:nvPr/>
        </p:nvSpPr>
        <p:spPr bwMode="auto">
          <a:xfrm>
            <a:off x="1388864" y="3365661"/>
            <a:ext cx="2788557" cy="956773"/>
          </a:xfrm>
          <a:prstGeom prst="rect">
            <a:avLst/>
          </a:prstGeom>
          <a:noFill/>
          <a:ln>
            <a:noFill/>
          </a:ln>
        </p:spPr>
        <p:txBody>
          <a:bodyPr wrap="none" lIns="108000" tIns="72000" rIns="108000" bIns="144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: valor a cierta T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</a:t>
            </a:r>
            <a:r>
              <a:rPr lang="es-ES" sz="2400" baseline="-25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: a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s-ES" sz="2400" baseline="-250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 (0 ó 20 ºC)</a:t>
            </a:r>
          </a:p>
        </p:txBody>
      </p:sp>
      <p:sp>
        <p:nvSpPr>
          <p:cNvPr id="481296" name="Text Box 16"/>
          <p:cNvSpPr txBox="1">
            <a:spLocks noChangeArrowheads="1"/>
          </p:cNvSpPr>
          <p:nvPr/>
        </p:nvSpPr>
        <p:spPr bwMode="auto">
          <a:xfrm>
            <a:off x="1291010" y="1030146"/>
            <a:ext cx="3970897" cy="125340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44000" tIns="72000" rIns="72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Como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 varía suavemente con la temperatura, </a:t>
            </a:r>
            <a:r>
              <a:rPr lang="es-ES" sz="2400" dirty="0">
                <a:latin typeface="Arial" panose="020B0604020202020204" pitchFamily="34" charset="0"/>
              </a:rPr>
              <a:t>ocurre lo mismo con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, , G y R</a:t>
            </a:r>
          </a:p>
        </p:txBody>
      </p:sp>
      <p:sp>
        <p:nvSpPr>
          <p:cNvPr id="481298" name="Text Box 18"/>
          <p:cNvSpPr txBox="1">
            <a:spLocks noChangeArrowheads="1"/>
          </p:cNvSpPr>
          <p:nvPr/>
        </p:nvSpPr>
        <p:spPr bwMode="auto">
          <a:xfrm>
            <a:off x="5989735" y="1029458"/>
            <a:ext cx="4299670" cy="12752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Para </a:t>
            </a:r>
            <a:r>
              <a:rPr lang="es-ES" sz="2400" dirty="0">
                <a:solidFill>
                  <a:srgbClr val="3333FF"/>
                </a:solidFill>
                <a:sym typeface="Symbol" panose="05050102010706020507" pitchFamily="18" charset="2"/>
              </a:rPr>
              <a:t>T</a:t>
            </a:r>
            <a:r>
              <a:rPr lang="es-ES" sz="2400" dirty="0">
                <a:solidFill>
                  <a:srgbClr val="3333FF"/>
                </a:solidFill>
              </a:rPr>
              <a:t> &lt; 100 </a:t>
            </a:r>
            <a:r>
              <a:rPr lang="es-ES" sz="2400" dirty="0" err="1">
                <a:solidFill>
                  <a:srgbClr val="3333FF"/>
                </a:solidFill>
              </a:rPr>
              <a:t>ºC</a:t>
            </a:r>
            <a:r>
              <a:rPr lang="es-ES" sz="2400" dirty="0">
                <a:solidFill>
                  <a:srgbClr val="3333FF"/>
                </a:solidFill>
              </a:rPr>
              <a:t> </a:t>
            </a:r>
            <a:r>
              <a:rPr lang="es-ES" sz="2400" dirty="0">
                <a:solidFill>
                  <a:schemeClr val="tx1"/>
                </a:solidFill>
              </a:rPr>
              <a:t>se puede hacer una </a:t>
            </a:r>
            <a:r>
              <a:rPr lang="es-ES" sz="2400" dirty="0">
                <a:solidFill>
                  <a:srgbClr val="3333FF"/>
                </a:solidFill>
              </a:rPr>
              <a:t>aproximación lineal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que </a:t>
            </a:r>
            <a:r>
              <a:rPr lang="es-ES" sz="2400">
                <a:solidFill>
                  <a:schemeClr val="tx1"/>
                </a:solidFill>
              </a:rPr>
              <a:t>se establece </a:t>
            </a:r>
            <a:r>
              <a:rPr lang="es-ES" sz="2400" dirty="0">
                <a:solidFill>
                  <a:schemeClr val="tx1"/>
                </a:solidFill>
              </a:rPr>
              <a:t>para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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3087443" y="301826"/>
            <a:ext cx="5400339" cy="58744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lIns="108000" tIns="108000" rIns="108000" bIns="108000" anchor="ctr" anchorCtr="1">
            <a:spAutoFit/>
          </a:bodyPr>
          <a:lstStyle/>
          <a:p>
            <a:pPr algn="ctr">
              <a:defRPr/>
            </a:pPr>
            <a:r>
              <a:rPr lang="es-ES" sz="2400"/>
              <a:t>Dependencia de R con la temperatura</a:t>
            </a:r>
          </a:p>
        </p:txBody>
      </p:sp>
      <p:sp>
        <p:nvSpPr>
          <p:cNvPr id="21" name="Text Box 3"/>
          <p:cNvSpPr txBox="1">
            <a:spLocks noChangeArrowheads="1"/>
          </p:cNvSpPr>
          <p:nvPr/>
        </p:nvSpPr>
        <p:spPr bwMode="auto">
          <a:xfrm>
            <a:off x="7493807" y="3780981"/>
            <a:ext cx="3021794" cy="514738"/>
          </a:xfrm>
          <a:prstGeom prst="rect">
            <a:avLst/>
          </a:prstGeom>
          <a:noFill/>
          <a:ln>
            <a:noFill/>
          </a:ln>
        </p:spPr>
        <p:txBody>
          <a:bodyPr wrap="square" lIns="90000" tIns="72000" rIns="90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(10</a:t>
            </a:r>
            <a:r>
              <a:rPr lang="es-ES" sz="2400" baseline="30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-3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ºC</a:t>
            </a:r>
            <a:r>
              <a:rPr lang="es-ES" sz="2400" baseline="30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o menor)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81299" name="Text Box 19"/>
          <p:cNvSpPr txBox="1">
            <a:spLocks noChangeArrowheads="1"/>
          </p:cNvSpPr>
          <p:nvPr/>
        </p:nvSpPr>
        <p:spPr bwMode="auto">
          <a:xfrm>
            <a:off x="5145941" y="6265658"/>
            <a:ext cx="2592157" cy="587441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08000" tIns="72000" rIns="108000" bIns="144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(1 +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 T)</a:t>
            </a:r>
          </a:p>
        </p:txBody>
      </p:sp>
      <p:grpSp>
        <p:nvGrpSpPr>
          <p:cNvPr id="22" name="Group 28"/>
          <p:cNvGrpSpPr>
            <a:grpSpLocks/>
          </p:cNvGrpSpPr>
          <p:nvPr/>
        </p:nvGrpSpPr>
        <p:grpSpPr bwMode="auto">
          <a:xfrm>
            <a:off x="1510813" y="4553841"/>
            <a:ext cx="1319212" cy="1017588"/>
            <a:chOff x="5536" y="3280"/>
            <a:chExt cx="831" cy="641"/>
          </a:xfrm>
        </p:grpSpPr>
        <p:sp>
          <p:nvSpPr>
            <p:cNvPr id="23" name="Rectangle 27"/>
            <p:cNvSpPr>
              <a:spLocks noChangeArrowheads="1"/>
            </p:cNvSpPr>
            <p:nvPr/>
          </p:nvSpPr>
          <p:spPr bwMode="auto">
            <a:xfrm>
              <a:off x="5536" y="3280"/>
              <a:ext cx="831" cy="641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4" name="Object 26"/>
            <p:cNvGraphicFramePr>
              <a:graphicFrameLocks noChangeAspect="1"/>
            </p:cNvGraphicFramePr>
            <p:nvPr/>
          </p:nvGraphicFramePr>
          <p:xfrm>
            <a:off x="5586" y="3312"/>
            <a:ext cx="756" cy="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533169" imgH="393529" progId="Equation.3">
                    <p:embed/>
                  </p:oleObj>
                </mc:Choice>
                <mc:Fallback>
                  <p:oleObj name="Ecuación" r:id="rId3" imgW="533169" imgH="393529" progId="Equation.3">
                    <p:embed/>
                    <p:pic>
                      <p:nvPicPr>
                        <p:cNvPr id="24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86" y="3312"/>
                          <a:ext cx="756" cy="5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Flecha derecha 2">
            <a:extLst>
              <a:ext uri="{FF2B5EF4-FFF2-40B4-BE49-F238E27FC236}">
                <a16:creationId xmlns:a16="http://schemas.microsoft.com/office/drawing/2014/main" id="{4B17AFBC-657E-418E-8370-35BA7C399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2803" y="1487643"/>
            <a:ext cx="321501" cy="40005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/>
          </a:p>
        </p:txBody>
      </p:sp>
      <p:sp>
        <p:nvSpPr>
          <p:cNvPr id="25" name="Text Box 38">
            <a:extLst>
              <a:ext uri="{FF2B5EF4-FFF2-40B4-BE49-F238E27FC236}">
                <a16:creationId xmlns:a16="http://schemas.microsoft.com/office/drawing/2014/main" id="{4940979D-0200-46B7-BC27-417AC87FF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0332" y="5558947"/>
            <a:ext cx="1740924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(caso más simple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437BFD5D-A676-F541-EA52-1DA60CA33891}"/>
              </a:ext>
            </a:extLst>
          </p:cNvPr>
          <p:cNvGrpSpPr/>
          <p:nvPr/>
        </p:nvGrpSpPr>
        <p:grpSpPr>
          <a:xfrm>
            <a:off x="4627155" y="3321850"/>
            <a:ext cx="2552725" cy="928691"/>
            <a:chOff x="4627155" y="3321850"/>
            <a:chExt cx="2552725" cy="928691"/>
          </a:xfrm>
        </p:grpSpPr>
        <p:grpSp>
          <p:nvGrpSpPr>
            <p:cNvPr id="39951" name="Group 22"/>
            <p:cNvGrpSpPr>
              <a:grpSpLocks/>
            </p:cNvGrpSpPr>
            <p:nvPr/>
          </p:nvGrpSpPr>
          <p:grpSpPr bwMode="auto">
            <a:xfrm>
              <a:off x="4627155" y="3321850"/>
              <a:ext cx="2478092" cy="928691"/>
              <a:chOff x="2783" y="2482"/>
              <a:chExt cx="1561" cy="585"/>
            </a:xfrm>
          </p:grpSpPr>
          <p:sp>
            <p:nvSpPr>
              <p:cNvPr id="39952" name="Text Box 6"/>
              <p:cNvSpPr txBox="1">
                <a:spLocks noChangeArrowheads="1"/>
              </p:cNvSpPr>
              <p:nvPr/>
            </p:nvSpPr>
            <p:spPr bwMode="auto">
              <a:xfrm>
                <a:off x="2783" y="2729"/>
                <a:ext cx="1561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3333FF"/>
                    </a:solidFill>
                    <a:latin typeface="Arial" panose="020B0604020202020204" pitchFamily="34" charset="0"/>
                  </a:rPr>
                  <a:t>Y =  a  +   b      X</a:t>
                </a:r>
              </a:p>
            </p:txBody>
          </p:sp>
          <p:sp>
            <p:nvSpPr>
              <p:cNvPr id="39953" name="Line 7"/>
              <p:cNvSpPr>
                <a:spLocks noChangeShapeType="1"/>
              </p:cNvSpPr>
              <p:nvPr/>
            </p:nvSpPr>
            <p:spPr bwMode="auto">
              <a:xfrm>
                <a:off x="4193" y="2483"/>
                <a:ext cx="0" cy="1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lg" len="med"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s-ES" sz="2400"/>
              </a:p>
            </p:txBody>
          </p:sp>
          <p:sp>
            <p:nvSpPr>
              <p:cNvPr id="39954" name="Line 8"/>
              <p:cNvSpPr>
                <a:spLocks noChangeShapeType="1"/>
              </p:cNvSpPr>
              <p:nvPr/>
            </p:nvSpPr>
            <p:spPr bwMode="auto">
              <a:xfrm>
                <a:off x="3754" y="2483"/>
                <a:ext cx="0" cy="1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lg" len="med"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s-ES" sz="2400"/>
              </a:p>
            </p:txBody>
          </p:sp>
          <p:sp>
            <p:nvSpPr>
              <p:cNvPr id="39955" name="Line 9"/>
              <p:cNvSpPr>
                <a:spLocks noChangeShapeType="1"/>
              </p:cNvSpPr>
              <p:nvPr/>
            </p:nvSpPr>
            <p:spPr bwMode="auto">
              <a:xfrm>
                <a:off x="3274" y="2482"/>
                <a:ext cx="0" cy="1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lg" len="med"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s-ES" sz="2400"/>
              </a:p>
            </p:txBody>
          </p:sp>
          <p:sp>
            <p:nvSpPr>
              <p:cNvPr id="39956" name="Line 10"/>
              <p:cNvSpPr>
                <a:spLocks noChangeShapeType="1"/>
              </p:cNvSpPr>
              <p:nvPr/>
            </p:nvSpPr>
            <p:spPr bwMode="auto">
              <a:xfrm>
                <a:off x="2913" y="2482"/>
                <a:ext cx="0" cy="1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lg" len="med"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s-ES" sz="2400"/>
              </a:p>
            </p:txBody>
          </p:sp>
        </p:grpSp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B4B18834-2CCF-A45A-DBFC-EF395D460CF6}"/>
                </a:ext>
              </a:extLst>
            </p:cNvPr>
            <p:cNvCxnSpPr/>
            <p:nvPr/>
          </p:nvCxnSpPr>
          <p:spPr bwMode="auto">
            <a:xfrm>
              <a:off x="5952402" y="3321850"/>
              <a:ext cx="451685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147D84B8-D76D-D2FF-5F9E-BAE1F6ED1F62}"/>
                </a:ext>
              </a:extLst>
            </p:cNvPr>
            <p:cNvCxnSpPr/>
            <p:nvPr/>
          </p:nvCxnSpPr>
          <p:spPr bwMode="auto">
            <a:xfrm>
              <a:off x="6578687" y="3329873"/>
              <a:ext cx="601193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8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48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81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81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8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7" dur="500"/>
                                        <p:tgtEl>
                                          <p:spTgt spid="48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81282" grpId="0" animBg="1"/>
      <p:bldP spid="481283" grpId="0" animBg="1"/>
      <p:bldP spid="39950" grpId="0"/>
      <p:bldP spid="481291" grpId="0" animBg="1"/>
      <p:bldP spid="481292" grpId="0"/>
      <p:bldP spid="481296" grpId="0" animBg="1"/>
      <p:bldP spid="481298" grpId="0" animBg="1"/>
      <p:bldP spid="20" grpId="0" animBg="1"/>
      <p:bldP spid="21" grpId="0"/>
      <p:bldP spid="481299" grpId="0" animBg="1"/>
      <p:bldP spid="27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3" name="Text Box 13"/>
          <p:cNvSpPr txBox="1">
            <a:spLocks noChangeArrowheads="1"/>
          </p:cNvSpPr>
          <p:nvPr/>
        </p:nvSpPr>
        <p:spPr bwMode="auto">
          <a:xfrm>
            <a:off x="1177767" y="3089088"/>
            <a:ext cx="9124429" cy="201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 dirty="0">
                <a:latin typeface="Arial" panose="020B0604020202020204" pitchFamily="34" charset="0"/>
              </a:rPr>
              <a:t> Si 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liberación de portadores</a:t>
            </a:r>
            <a:r>
              <a:rPr lang="es-ES" sz="2400" dirty="0">
                <a:latin typeface="Arial" panose="020B0604020202020204" pitchFamily="34" charset="0"/>
              </a:rPr>
              <a:t>, su incremento, a costa de la agitación térmica, es más relevante,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crece con T</a:t>
            </a:r>
            <a:r>
              <a:rPr lang="es-ES" sz="2400">
                <a:latin typeface="Arial" panose="020B0604020202020204" pitchFamily="34" charset="0"/>
              </a:rPr>
              <a:t>, como sucede </a:t>
            </a:r>
            <a:r>
              <a:rPr lang="es-ES" sz="2400" dirty="0">
                <a:latin typeface="Arial" panose="020B0604020202020204" pitchFamily="34" charset="0"/>
              </a:rPr>
              <a:t>en el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carbono</a:t>
            </a:r>
            <a:r>
              <a:rPr lang="es-ES" sz="2400" dirty="0">
                <a:latin typeface="Arial" panose="020B0604020202020204" pitchFamily="34" charset="0"/>
              </a:rPr>
              <a:t>, se tiene que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 &lt; 0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y R decrece con T para una V dada (ocurre en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aislantes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y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semiconductores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-Tema 9-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). Se habla de: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81310" name="Text Box 30"/>
          <p:cNvSpPr txBox="1">
            <a:spLocks noChangeArrowheads="1"/>
          </p:cNvSpPr>
          <p:nvPr/>
        </p:nvSpPr>
        <p:spPr bwMode="auto">
          <a:xfrm>
            <a:off x="1199034" y="1137534"/>
            <a:ext cx="9344556" cy="12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En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conductores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en general,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 &gt; 0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crece R con T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al dificultarse más el desplazamiento e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disminuye con T </a:t>
            </a:r>
            <a:r>
              <a:rPr lang="es-ES" sz="2400">
                <a:latin typeface="Arial" panose="020B0604020202020204" pitchFamily="34" charset="0"/>
              </a:rPr>
              <a:t>para </a:t>
            </a:r>
            <a:r>
              <a:rPr lang="es-ES" sz="2400" dirty="0">
                <a:latin typeface="Arial" panose="020B0604020202020204" pitchFamily="34" charset="0"/>
              </a:rPr>
              <a:t>una V dada. Se habla de: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4472896" y="435399"/>
            <a:ext cx="2592157" cy="587441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08000" tIns="72000" rIns="108000" bIns="144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(1 +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 T)</a:t>
            </a:r>
          </a:p>
        </p:txBody>
      </p:sp>
      <p:sp>
        <p:nvSpPr>
          <p:cNvPr id="22" name="Text Box 30"/>
          <p:cNvSpPr txBox="1">
            <a:spLocks noChangeArrowheads="1"/>
          </p:cNvSpPr>
          <p:nvPr/>
        </p:nvSpPr>
        <p:spPr bwMode="auto">
          <a:xfrm>
            <a:off x="2889454" y="2081432"/>
            <a:ext cx="5780691" cy="53654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 b="1">
                <a:latin typeface="Arial" panose="020B0604020202020204" pitchFamily="34" charset="0"/>
              </a:rPr>
              <a:t>PTC</a:t>
            </a:r>
            <a:r>
              <a:rPr lang="es-ES" sz="2400">
                <a:latin typeface="Arial" panose="020B0604020202020204" pitchFamily="34" charset="0"/>
              </a:rPr>
              <a:t>: “Positive Thermal Coefficient”</a:t>
            </a:r>
            <a:endParaRPr lang="es-ES" sz="24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3" name="Text Box 13"/>
          <p:cNvSpPr txBox="1">
            <a:spLocks noChangeArrowheads="1"/>
          </p:cNvSpPr>
          <p:nvPr/>
        </p:nvSpPr>
        <p:spPr bwMode="auto">
          <a:xfrm>
            <a:off x="2890339" y="4814007"/>
            <a:ext cx="5780692" cy="53654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NTC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: “Negative Thermal Coefficient”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2890340" y="6001535"/>
            <a:ext cx="5770180" cy="8309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tx1"/>
                </a:solidFill>
              </a:rPr>
              <a:t>Los PTC y NTC se usan en sensores y medidores de temperatura </a:t>
            </a:r>
            <a:r>
              <a:rPr lang="es-ES" sz="2400" b="1" dirty="0">
                <a:solidFill>
                  <a:schemeClr val="tx1"/>
                </a:solidFill>
              </a:rPr>
              <a:t>(termistores)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2684764" y="2614411"/>
            <a:ext cx="61766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dirty="0">
                <a:solidFill>
                  <a:srgbClr val="FF0000"/>
                </a:solidFill>
              </a:rPr>
              <a:t>(materiales con coeficiente térmico positivo)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3EEAD9A-2603-432B-BEE8-C3217044D8E0}"/>
              </a:ext>
            </a:extLst>
          </p:cNvPr>
          <p:cNvSpPr txBox="1"/>
          <p:nvPr/>
        </p:nvSpPr>
        <p:spPr>
          <a:xfrm>
            <a:off x="2612580" y="5356848"/>
            <a:ext cx="6296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dirty="0">
                <a:solidFill>
                  <a:srgbClr val="FF0000"/>
                </a:solidFill>
              </a:rPr>
              <a:t>(materiales con coeficiente térmico negativo)</a:t>
            </a:r>
          </a:p>
        </p:txBody>
      </p:sp>
      <p:grpSp>
        <p:nvGrpSpPr>
          <p:cNvPr id="6" name="Grupo 36">
            <a:extLst>
              <a:ext uri="{FF2B5EF4-FFF2-40B4-BE49-F238E27FC236}">
                <a16:creationId xmlns:a16="http://schemas.microsoft.com/office/drawing/2014/main" id="{06FFF0B5-DA11-D96E-B162-B5E5E80CEEA3}"/>
              </a:ext>
            </a:extLst>
          </p:cNvPr>
          <p:cNvGrpSpPr>
            <a:grpSpLocks/>
          </p:cNvGrpSpPr>
          <p:nvPr/>
        </p:nvGrpSpPr>
        <p:grpSpPr bwMode="auto">
          <a:xfrm>
            <a:off x="8305128" y="428434"/>
            <a:ext cx="1398588" cy="579331"/>
            <a:chOff x="5049651" y="3162506"/>
            <a:chExt cx="1398746" cy="579438"/>
          </a:xfrm>
        </p:grpSpPr>
        <p:sp>
          <p:nvSpPr>
            <p:cNvPr id="7" name="Rectangle 29">
              <a:extLst>
                <a:ext uri="{FF2B5EF4-FFF2-40B4-BE49-F238E27FC236}">
                  <a16:creationId xmlns:a16="http://schemas.microsoft.com/office/drawing/2014/main" id="{F0728EBE-C549-EB56-E269-15167F922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9651" y="3162506"/>
              <a:ext cx="1398746" cy="579438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0" name="Object 30">
              <a:extLst>
                <a:ext uri="{FF2B5EF4-FFF2-40B4-BE49-F238E27FC236}">
                  <a16:creationId xmlns:a16="http://schemas.microsoft.com/office/drawing/2014/main" id="{29150169-19E6-9413-F170-EC69FB67A4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36906" y="3286328"/>
            <a:ext cx="1171865" cy="4286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520474" imgH="190417" progId="Equation.3">
                    <p:embed/>
                  </p:oleObj>
                </mc:Choice>
                <mc:Fallback>
                  <p:oleObj name="Ecuación" r:id="rId3" imgW="520474" imgH="190417" progId="Equation.3">
                    <p:embed/>
                    <p:pic>
                      <p:nvPicPr>
                        <p:cNvPr id="58" name="Object 30">
                          <a:extLst>
                            <a:ext uri="{FF2B5EF4-FFF2-40B4-BE49-F238E27FC236}">
                              <a16:creationId xmlns:a16="http://schemas.microsoft.com/office/drawing/2014/main" id="{ACFB6FA0-8973-46C5-A0B9-D6E8FAEE82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906" y="3286328"/>
                          <a:ext cx="1171865" cy="4286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05342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8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93" grpId="0"/>
      <p:bldP spid="481310" grpId="0"/>
      <p:bldP spid="22" grpId="0" animBg="1"/>
      <p:bldP spid="23" grpId="0" animBg="1"/>
      <p:bldP spid="2" grpId="0" animBg="1"/>
      <p:bldP spid="8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D2955EA2-0193-2ADA-3315-B21B2B003E93}"/>
              </a:ext>
            </a:extLst>
          </p:cNvPr>
          <p:cNvSpPr/>
          <p:nvPr/>
        </p:nvSpPr>
        <p:spPr bwMode="auto">
          <a:xfrm>
            <a:off x="2013735" y="370982"/>
            <a:ext cx="1970944" cy="425625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1289794" y="318280"/>
            <a:ext cx="8520112" cy="962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 dirty="0">
                <a:solidFill>
                  <a:srgbClr val="CC0000"/>
                </a:solidFill>
                <a:latin typeface="Arial" panose="020B0604020202020204" pitchFamily="34" charset="0"/>
              </a:rPr>
              <a:t>4.3. POTENCIA EN CORRIENTE CONTINUA: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 dirty="0">
                <a:solidFill>
                  <a:srgbClr val="CC0000"/>
                </a:solidFill>
                <a:latin typeface="Arial" panose="020B0604020202020204" pitchFamily="34" charset="0"/>
              </a:rPr>
              <a:t>       FEM, FCEM Y LEY DE JOULE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457511" y="2640620"/>
            <a:ext cx="2552700" cy="1184275"/>
            <a:chOff x="1576" y="2422"/>
            <a:chExt cx="1608" cy="746"/>
          </a:xfrm>
        </p:grpSpPr>
        <p:sp>
          <p:nvSpPr>
            <p:cNvPr id="9227" name="Rectangle 7"/>
            <p:cNvSpPr>
              <a:spLocks noChangeArrowheads="1"/>
            </p:cNvSpPr>
            <p:nvPr/>
          </p:nvSpPr>
          <p:spPr bwMode="auto">
            <a:xfrm>
              <a:off x="1576" y="2422"/>
              <a:ext cx="1608" cy="746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9228" name="Object 4"/>
            <p:cNvGraphicFramePr>
              <a:graphicFrameLocks noChangeAspect="1"/>
            </p:cNvGraphicFramePr>
            <p:nvPr/>
          </p:nvGraphicFramePr>
          <p:xfrm>
            <a:off x="1658" y="2482"/>
            <a:ext cx="1476" cy="6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888614" imgH="393529" progId="Equation.3">
                    <p:embed/>
                  </p:oleObj>
                </mc:Choice>
                <mc:Fallback>
                  <p:oleObj name="Ecuación" r:id="rId3" imgW="888614" imgH="393529" progId="Equation.3">
                    <p:embed/>
                    <p:pic>
                      <p:nvPicPr>
                        <p:cNvPr id="9228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8" y="2482"/>
                          <a:ext cx="1476" cy="6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870" name="Text Box 6"/>
          <p:cNvSpPr txBox="1">
            <a:spLocks noChangeArrowheads="1"/>
          </p:cNvSpPr>
          <p:nvPr/>
        </p:nvSpPr>
        <p:spPr bwMode="auto">
          <a:xfrm>
            <a:off x="1463728" y="1285705"/>
            <a:ext cx="8641079" cy="1253402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80000" tIns="72000" rIns="180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Cuando existe una corriente, una situación de no equilibrio, interesa el trabajo o energía puesta en juego,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pero por unidad de tiempo: La potencia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7021865" y="2023407"/>
            <a:ext cx="3172485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("</a:t>
            </a:r>
            <a:r>
              <a:rPr lang="es-ES" sz="2400" b="1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ES" sz="2400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ower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" en inglés) </a:t>
            </a:r>
          </a:p>
        </p:txBody>
      </p:sp>
      <p:sp>
        <p:nvSpPr>
          <p:cNvPr id="4" name="Text Box 8">
            <a:extLst>
              <a:ext uri="{FF2B5EF4-FFF2-40B4-BE49-F238E27FC236}">
                <a16:creationId xmlns:a16="http://schemas.microsoft.com/office/drawing/2014/main" id="{A4EB6BF1-6495-F141-E48A-C2EB0F323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9484" y="2813297"/>
            <a:ext cx="4935109" cy="88407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En corriente continua todo es constante en el tiempo: También P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31A3FBF5-69D3-6BDB-5CE6-B517272A8E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02394" y="3685143"/>
          <a:ext cx="2611437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990170" imgH="393529" progId="Equation.3">
                  <p:embed/>
                </p:oleObj>
              </mc:Choice>
              <mc:Fallback>
                <p:oleObj name="Ecuación" r:id="rId5" imgW="990170" imgH="393529" progId="Equation.3">
                  <p:embed/>
                  <p:pic>
                    <p:nvPicPr>
                      <p:cNvPr id="5" name="Object 9">
                        <a:extLst>
                          <a:ext uri="{FF2B5EF4-FFF2-40B4-BE49-F238E27FC236}">
                            <a16:creationId xmlns:a16="http://schemas.microsoft.com/office/drawing/2014/main" id="{31A3FBF5-69D3-6BDB-5CE6-B517272A8E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2394" y="3685143"/>
                        <a:ext cx="2611437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upo 5">
            <a:extLst>
              <a:ext uri="{FF2B5EF4-FFF2-40B4-BE49-F238E27FC236}">
                <a16:creationId xmlns:a16="http://schemas.microsoft.com/office/drawing/2014/main" id="{2C8BA335-A6CB-B57E-39AA-446DCBFD7A33}"/>
              </a:ext>
            </a:extLst>
          </p:cNvPr>
          <p:cNvGrpSpPr/>
          <p:nvPr/>
        </p:nvGrpSpPr>
        <p:grpSpPr>
          <a:xfrm>
            <a:off x="7424448" y="3816994"/>
            <a:ext cx="2100146" cy="788034"/>
            <a:chOff x="7790088" y="4594526"/>
            <a:chExt cx="2100146" cy="788034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9272B501-97AD-AC7E-308D-7A491571FCE2}"/>
                </a:ext>
              </a:extLst>
            </p:cNvPr>
            <p:cNvSpPr/>
            <p:nvPr/>
          </p:nvSpPr>
          <p:spPr bwMode="auto">
            <a:xfrm>
              <a:off x="8418786" y="4594526"/>
              <a:ext cx="1471448" cy="788034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aphicFrame>
          <p:nvGraphicFramePr>
            <p:cNvPr id="8" name="Object 14">
              <a:extLst>
                <a:ext uri="{FF2B5EF4-FFF2-40B4-BE49-F238E27FC236}">
                  <a16:creationId xmlns:a16="http://schemas.microsoft.com/office/drawing/2014/main" id="{A9710502-14CE-D5BE-E7BA-D12941B106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90088" y="4747807"/>
            <a:ext cx="1906587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736560" imgH="203040" progId="Equation.3">
                    <p:embed/>
                  </p:oleObj>
                </mc:Choice>
                <mc:Fallback>
                  <p:oleObj name="Ecuación" r:id="rId7" imgW="736560" imgH="203040" progId="Equation.3">
                    <p:embed/>
                    <p:pic>
                      <p:nvPicPr>
                        <p:cNvPr id="8" name="Object 14">
                          <a:extLst>
                            <a:ext uri="{FF2B5EF4-FFF2-40B4-BE49-F238E27FC236}">
                              <a16:creationId xmlns:a16="http://schemas.microsoft.com/office/drawing/2014/main" id="{A9710502-14CE-D5BE-E7BA-D12941B106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90088" y="4747807"/>
                          <a:ext cx="1906587" cy="523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Text Box 10">
            <a:extLst>
              <a:ext uri="{FF2B5EF4-FFF2-40B4-BE49-F238E27FC236}">
                <a16:creationId xmlns:a16="http://schemas.microsoft.com/office/drawing/2014/main" id="{F290FACE-5698-C79E-D126-775265EF3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2964" y="4683037"/>
            <a:ext cx="2172812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Vatio: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W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J/s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D61F2782-1C9B-2F33-17F8-01E9C2160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9862" y="5546996"/>
            <a:ext cx="9162306" cy="514738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60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contrata P: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kW (kilovatios)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y se “paga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” E: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kWh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(kilovatios-hora)</a:t>
            </a:r>
          </a:p>
        </p:txBody>
      </p:sp>
      <p:sp>
        <p:nvSpPr>
          <p:cNvPr id="11" name="Text Box 15">
            <a:extLst>
              <a:ext uri="{FF2B5EF4-FFF2-40B4-BE49-F238E27FC236}">
                <a16:creationId xmlns:a16="http://schemas.microsoft.com/office/drawing/2014/main" id="{FE587D4B-D3A5-4A77-B1F2-384A4D278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1101" y="4677138"/>
            <a:ext cx="1780226" cy="514738"/>
          </a:xfrm>
          <a:prstGeom prst="rect">
            <a:avLst/>
          </a:prstGeom>
          <a:solidFill>
            <a:srgbClr val="99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rgbClr val="FFFFFF"/>
                </a:solidFill>
              </a:rPr>
              <a:t>UNIDAD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D4D0A0D7-6BC0-7EBC-6DEB-8E053EA54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9932" y="5030283"/>
            <a:ext cx="6022391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99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(en honor a James Watt; en ingles: “watt”) </a:t>
            </a:r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3C738523-AC65-FBBB-C662-C5C601746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1455" y="6072400"/>
            <a:ext cx="7433138" cy="884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(Ahora E se da también en kJ, pero en kWh,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al dividir por las horas de consumo, se tiene la P</a:t>
            </a:r>
            <a:r>
              <a:rPr lang="es-ES" sz="2400" baseline="-25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media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 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0427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2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20870" grpId="0" animBg="1"/>
      <p:bldP spid="13" grpId="0"/>
      <p:bldP spid="4" grpId="0" animBg="1"/>
      <p:bldP spid="9" grpId="0"/>
      <p:bldP spid="10" grpId="0" animBg="1"/>
      <p:bldP spid="11" grpId="0" animBg="1"/>
      <p:bldP spid="12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9338B657-BD11-43A5-A935-A58623D83163}"/>
              </a:ext>
            </a:extLst>
          </p:cNvPr>
          <p:cNvSpPr/>
          <p:nvPr/>
        </p:nvSpPr>
        <p:spPr bwMode="auto">
          <a:xfrm>
            <a:off x="1343949" y="1500196"/>
            <a:ext cx="5328000" cy="123133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1267" name="Text Box 4"/>
          <p:cNvSpPr txBox="1">
            <a:spLocks noChangeArrowheads="1"/>
          </p:cNvSpPr>
          <p:nvPr/>
        </p:nvSpPr>
        <p:spPr bwMode="auto">
          <a:xfrm>
            <a:off x="1444853" y="456315"/>
            <a:ext cx="3331782" cy="514738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non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POTENCIA Generador</a:t>
            </a:r>
          </a:p>
        </p:txBody>
      </p:sp>
      <p:grpSp>
        <p:nvGrpSpPr>
          <p:cNvPr id="2" name="Group 62"/>
          <p:cNvGrpSpPr>
            <a:grpSpLocks/>
          </p:cNvGrpSpPr>
          <p:nvPr/>
        </p:nvGrpSpPr>
        <p:grpSpPr bwMode="auto">
          <a:xfrm>
            <a:off x="1443552" y="1576803"/>
            <a:ext cx="5154613" cy="1079500"/>
            <a:chOff x="1005" y="1851"/>
            <a:chExt cx="3247" cy="680"/>
          </a:xfrm>
        </p:grpSpPr>
        <p:sp>
          <p:nvSpPr>
            <p:cNvPr id="11321" name="Rectangle 12"/>
            <p:cNvSpPr>
              <a:spLocks noChangeArrowheads="1"/>
            </p:cNvSpPr>
            <p:nvPr/>
          </p:nvSpPr>
          <p:spPr bwMode="auto">
            <a:xfrm>
              <a:off x="3634" y="1853"/>
              <a:ext cx="618" cy="678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322" name="Rectangle 8"/>
            <p:cNvSpPr>
              <a:spLocks noChangeArrowheads="1"/>
            </p:cNvSpPr>
            <p:nvPr/>
          </p:nvSpPr>
          <p:spPr bwMode="auto">
            <a:xfrm>
              <a:off x="1005" y="1851"/>
              <a:ext cx="446" cy="678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451593" name="Object 9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057294666"/>
              </p:ext>
            </p:extLst>
          </p:nvPr>
        </p:nvGraphicFramePr>
        <p:xfrm>
          <a:off x="1632465" y="1663689"/>
          <a:ext cx="4926012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2019300" imgH="393700" progId="Equation.3">
                  <p:embed/>
                </p:oleObj>
              </mc:Choice>
              <mc:Fallback>
                <p:oleObj name="Ecuación" r:id="rId3" imgW="2019300" imgH="393700" progId="Equation.3">
                  <p:embed/>
                  <p:pic>
                    <p:nvPicPr>
                      <p:cNvPr id="451593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2465" y="1663689"/>
                        <a:ext cx="4926012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17" name="Text Box 11"/>
          <p:cNvSpPr txBox="1">
            <a:spLocks noChangeArrowheads="1"/>
          </p:cNvSpPr>
          <p:nvPr/>
        </p:nvSpPr>
        <p:spPr bwMode="auto">
          <a:xfrm>
            <a:off x="6856679" y="546775"/>
            <a:ext cx="3565702" cy="884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Trabajo realizado por la pila por unidad de carga</a:t>
            </a:r>
          </a:p>
        </p:txBody>
      </p:sp>
      <p:sp>
        <p:nvSpPr>
          <p:cNvPr id="11314" name="Text Box 13"/>
          <p:cNvSpPr txBox="1">
            <a:spLocks noChangeArrowheads="1"/>
          </p:cNvSpPr>
          <p:nvPr/>
        </p:nvSpPr>
        <p:spPr bwMode="auto">
          <a:xfrm>
            <a:off x="1475936" y="5428942"/>
            <a:ext cx="8072399" cy="94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En esta situación a</a:t>
            </a:r>
            <a:r>
              <a:rPr lang="es-ES" sz="28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800" dirty="0"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se le llama </a:t>
            </a:r>
            <a:r>
              <a:rPr lang="es-ES" sz="2400">
                <a:highlight>
                  <a:srgbClr val="FFFF00"/>
                </a:highlight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b="1">
                <a:highlight>
                  <a:srgbClr val="FFFF00"/>
                </a:highlight>
                <a:latin typeface="Arial" panose="020B0604020202020204" pitchFamily="34" charset="0"/>
              </a:rPr>
              <a:t>fuerza electromotriz </a:t>
            </a:r>
            <a:r>
              <a:rPr lang="es-ES" sz="2400" b="1">
                <a:solidFill>
                  <a:srgbClr val="EDE7E3"/>
                </a:solidFill>
                <a:latin typeface="Arial" panose="020B0604020202020204" pitchFamily="34" charset="0"/>
              </a:rPr>
              <a:t>.</a:t>
            </a:r>
            <a:r>
              <a:rPr lang="es-ES" sz="2400" b="1"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 porque apoya la existencia de corriente</a:t>
            </a: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5" name="Grupo 4"/>
          <p:cNvGrpSpPr/>
          <p:nvPr/>
        </p:nvGrpSpPr>
        <p:grpSpPr>
          <a:xfrm>
            <a:off x="1442270" y="3339439"/>
            <a:ext cx="409575" cy="525463"/>
            <a:chOff x="1491430" y="2748036"/>
            <a:chExt cx="409575" cy="525463"/>
          </a:xfrm>
        </p:grpSpPr>
        <p:sp>
          <p:nvSpPr>
            <p:cNvPr id="11309" name="Rectangle 59"/>
            <p:cNvSpPr>
              <a:spLocks noChangeArrowheads="1"/>
            </p:cNvSpPr>
            <p:nvPr/>
          </p:nvSpPr>
          <p:spPr bwMode="auto">
            <a:xfrm>
              <a:off x="1491430" y="2748036"/>
              <a:ext cx="409575" cy="52546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108000" tIns="72000" rIns="108000" bIns="720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ts val="0"/>
                </a:spcBef>
              </a:pPr>
              <a:endParaRPr lang="es-ES" sz="2400"/>
            </a:p>
          </p:txBody>
        </p:sp>
        <p:sp>
          <p:nvSpPr>
            <p:cNvPr id="11310" name="Text Box 24"/>
            <p:cNvSpPr txBox="1">
              <a:spLocks noChangeArrowheads="1"/>
            </p:cNvSpPr>
            <p:nvPr/>
          </p:nvSpPr>
          <p:spPr bwMode="auto">
            <a:xfrm>
              <a:off x="1503872" y="2757313"/>
              <a:ext cx="347974" cy="514738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108000" tIns="72000" rIns="108000" bIns="720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 dirty="0">
                  <a:latin typeface="Arial" panose="020B0604020202020204" pitchFamily="34" charset="0"/>
                </a:rPr>
                <a:t>+</a:t>
              </a:r>
              <a:endParaRPr lang="es-ES" sz="24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FB5A1E5E-DFF7-4CF5-9E8B-512CE3CCA7A4}"/>
              </a:ext>
            </a:extLst>
          </p:cNvPr>
          <p:cNvGrpSpPr/>
          <p:nvPr/>
        </p:nvGrpSpPr>
        <p:grpSpPr>
          <a:xfrm>
            <a:off x="7229856" y="3328919"/>
            <a:ext cx="2742909" cy="1643612"/>
            <a:chOff x="6875895" y="2466272"/>
            <a:chExt cx="2742909" cy="1643612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59934833-00F3-4D40-AB9B-305DF8DD5B2D}"/>
                </a:ext>
              </a:extLst>
            </p:cNvPr>
            <p:cNvSpPr/>
            <p:nvPr/>
          </p:nvSpPr>
          <p:spPr bwMode="auto">
            <a:xfrm>
              <a:off x="6875895" y="2470454"/>
              <a:ext cx="2742909" cy="163943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4" name="Grupo 3"/>
            <p:cNvGrpSpPr>
              <a:grpSpLocks/>
            </p:cNvGrpSpPr>
            <p:nvPr/>
          </p:nvGrpSpPr>
          <p:grpSpPr bwMode="auto">
            <a:xfrm>
              <a:off x="7073473" y="2466272"/>
              <a:ext cx="2312988" cy="1428753"/>
              <a:chOff x="2047875" y="4770438"/>
              <a:chExt cx="2312988" cy="1428823"/>
            </a:xfrm>
            <a:noFill/>
          </p:grpSpPr>
          <p:grpSp>
            <p:nvGrpSpPr>
              <p:cNvPr id="11294" name="Group 70"/>
              <p:cNvGrpSpPr>
                <a:grpSpLocks/>
              </p:cNvGrpSpPr>
              <p:nvPr/>
            </p:nvGrpSpPr>
            <p:grpSpPr bwMode="auto">
              <a:xfrm>
                <a:off x="2047875" y="4770438"/>
                <a:ext cx="2312988" cy="1401762"/>
                <a:chOff x="1290" y="3103"/>
                <a:chExt cx="1457" cy="883"/>
              </a:xfrm>
              <a:grpFill/>
            </p:grpSpPr>
            <p:grpSp>
              <p:nvGrpSpPr>
                <p:cNvPr id="11296" name="Group 64"/>
                <p:cNvGrpSpPr>
                  <a:grpSpLocks/>
                </p:cNvGrpSpPr>
                <p:nvPr/>
              </p:nvGrpSpPr>
              <p:grpSpPr bwMode="auto">
                <a:xfrm>
                  <a:off x="1290" y="3204"/>
                  <a:ext cx="1457" cy="782"/>
                  <a:chOff x="1302" y="3096"/>
                  <a:chExt cx="1457" cy="782"/>
                </a:xfrm>
                <a:grpFill/>
              </p:grpSpPr>
              <p:sp>
                <p:nvSpPr>
                  <p:cNvPr id="11298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1992" y="3199"/>
                    <a:ext cx="0" cy="679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FF"/>
                    </a:solidFill>
                    <a:round/>
                    <a:headEnd/>
                    <a:tailEnd type="none" w="lg" len="lg"/>
                  </a:ln>
                </p:spPr>
                <p:txBody>
                  <a:bodyPr wrap="none" lIns="90000" tIns="82800" rIns="90000" bIns="82800"/>
                  <a:lstStyle/>
                  <a:p>
                    <a:endParaRPr lang="es-ES"/>
                  </a:p>
                </p:txBody>
              </p:sp>
              <p:sp>
                <p:nvSpPr>
                  <p:cNvPr id="11299" name="Line 28"/>
                  <p:cNvSpPr>
                    <a:spLocks noChangeShapeType="1"/>
                  </p:cNvSpPr>
                  <p:nvPr/>
                </p:nvSpPr>
                <p:spPr bwMode="auto">
                  <a:xfrm rot="16200000">
                    <a:off x="1642" y="3170"/>
                    <a:ext cx="0" cy="679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FF"/>
                    </a:solidFill>
                    <a:round/>
                    <a:headEnd/>
                    <a:tailEnd type="none" w="lg" len="lg"/>
                  </a:ln>
                </p:spPr>
                <p:txBody>
                  <a:bodyPr wrap="none" lIns="90000" tIns="82800" rIns="90000" bIns="82800"/>
                  <a:lstStyle/>
                  <a:p>
                    <a:endParaRPr lang="es-ES"/>
                  </a:p>
                </p:txBody>
              </p:sp>
              <p:sp>
                <p:nvSpPr>
                  <p:cNvPr id="11300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2068" y="3345"/>
                    <a:ext cx="0" cy="340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FF"/>
                    </a:solidFill>
                    <a:round/>
                    <a:headEnd/>
                    <a:tailEnd type="none" w="lg" len="lg"/>
                  </a:ln>
                </p:spPr>
                <p:txBody>
                  <a:bodyPr wrap="none" lIns="90000" tIns="82800" rIns="90000" bIns="82800"/>
                  <a:lstStyle/>
                  <a:p>
                    <a:endParaRPr lang="es-ES"/>
                  </a:p>
                </p:txBody>
              </p:sp>
              <p:sp>
                <p:nvSpPr>
                  <p:cNvPr id="11301" name="Line 30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420" y="3172"/>
                    <a:ext cx="0" cy="679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FF"/>
                    </a:solidFill>
                    <a:round/>
                    <a:headEnd/>
                    <a:tailEnd type="none" w="lg" len="lg"/>
                  </a:ln>
                </p:spPr>
                <p:txBody>
                  <a:bodyPr wrap="none" lIns="90000" tIns="82800" rIns="90000" bIns="82800"/>
                  <a:lstStyle/>
                  <a:p>
                    <a:endParaRPr lang="es-ES"/>
                  </a:p>
                </p:txBody>
              </p:sp>
              <p:sp>
                <p:nvSpPr>
                  <p:cNvPr id="11302" name="Text 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69" y="3096"/>
                    <a:ext cx="201" cy="373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400" b="1">
                        <a:solidFill>
                          <a:srgbClr val="3333FF"/>
                        </a:solidFill>
                        <a:latin typeface="Comic Sans MS" panose="030F0702030302020204" pitchFamily="66" charset="0"/>
                      </a:rPr>
                      <a:t>I</a:t>
                    </a:r>
                  </a:p>
                </p:txBody>
              </p:sp>
              <p:sp>
                <p:nvSpPr>
                  <p:cNvPr id="11303" name="Line 32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439" y="3497"/>
                    <a:ext cx="91" cy="0"/>
                  </a:xfrm>
                  <a:prstGeom prst="line">
                    <a:avLst/>
                  </a:prstGeom>
                  <a:grpFill/>
                  <a:ln w="50800">
                    <a:solidFill>
                      <a:srgbClr val="0000FF"/>
                    </a:solidFill>
                    <a:round/>
                    <a:headEnd/>
                    <a:tailEnd type="triangle" w="lg" len="lg"/>
                  </a:ln>
                </p:spPr>
                <p:txBody>
                  <a:bodyPr wrap="none" lIns="90000" tIns="82800" rIns="90000" bIns="82800"/>
                  <a:lstStyle/>
                  <a:p>
                    <a:endParaRPr lang="es-ES"/>
                  </a:p>
                </p:txBody>
              </p:sp>
              <p:sp>
                <p:nvSpPr>
                  <p:cNvPr id="11304" name="Text Box 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37" y="3109"/>
                    <a:ext cx="201" cy="373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400" b="1">
                        <a:solidFill>
                          <a:srgbClr val="3333FF"/>
                        </a:solidFill>
                        <a:latin typeface="Comic Sans MS" panose="030F0702030302020204" pitchFamily="66" charset="0"/>
                      </a:rPr>
                      <a:t>I</a:t>
                    </a:r>
                  </a:p>
                </p:txBody>
              </p:sp>
              <p:sp>
                <p:nvSpPr>
                  <p:cNvPr id="11305" name="Line 34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287" y="3510"/>
                    <a:ext cx="91" cy="0"/>
                  </a:xfrm>
                  <a:prstGeom prst="line">
                    <a:avLst/>
                  </a:prstGeom>
                  <a:grpFill/>
                  <a:ln w="50800">
                    <a:solidFill>
                      <a:srgbClr val="0000FF"/>
                    </a:solidFill>
                    <a:round/>
                    <a:headEnd/>
                    <a:tailEnd type="triangle" w="lg" len="lg"/>
                  </a:ln>
                </p:spPr>
                <p:txBody>
                  <a:bodyPr wrap="none" lIns="90000" tIns="82800" rIns="90000" bIns="82800"/>
                  <a:lstStyle/>
                  <a:p>
                    <a:endParaRPr lang="es-ES"/>
                  </a:p>
                </p:txBody>
              </p:sp>
              <p:sp>
                <p:nvSpPr>
                  <p:cNvPr id="11306" name="Line 5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88" y="3792"/>
                    <a:ext cx="227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FF0000"/>
                    </a:solidFill>
                    <a:round/>
                    <a:headEnd/>
                    <a:tailEnd type="stealth" w="lg" len="med"/>
                  </a:ln>
                </p:spPr>
                <p:txBody>
                  <a:bodyPr wrap="none" lIns="90000" tIns="82800" rIns="90000" bIns="82800"/>
                  <a:lstStyle/>
                  <a:p>
                    <a:endParaRPr lang="es-ES"/>
                  </a:p>
                </p:txBody>
              </p:sp>
            </p:grpSp>
            <p:sp>
              <p:nvSpPr>
                <p:cNvPr id="11297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2012" y="3103"/>
                  <a:ext cx="212" cy="373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chemeClr val="tx1"/>
                      </a:solidFill>
                      <a:miter lim="800000"/>
                      <a:headEnd/>
                      <a:tailEnd type="none" w="lg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wrap="none" lIns="90000" tIns="82800" rIns="90000" bIns="82800">
                  <a:spAutoFit/>
                </a:bodyPr>
                <a:lstStyle>
                  <a:lvl1pPr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s-ES" sz="2800" b="1">
                      <a:solidFill>
                        <a:srgbClr val="008000"/>
                      </a:solidFill>
                      <a:sym typeface="Symbol" panose="05050102010706020507" pitchFamily="18" charset="2"/>
                    </a:rPr>
                    <a:t></a:t>
                  </a:r>
                </a:p>
              </p:txBody>
            </p:sp>
          </p:grpSp>
          <p:pic>
            <p:nvPicPr>
              <p:cNvPr id="11295" name="Picture 127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11150" y="5898720"/>
                <a:ext cx="300347" cy="30054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3246627" y="3352064"/>
            <a:ext cx="3351537" cy="88407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Suministra E</a:t>
            </a:r>
            <a:r>
              <a:rPr lang="es-ES" sz="2400" baseline="-25000">
                <a:latin typeface="Arial" panose="020B0604020202020204" pitchFamily="34" charset="0"/>
              </a:rPr>
              <a:t>Peléctrica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(Tema 2)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8" name="Text Box 11">
            <a:extLst>
              <a:ext uri="{FF2B5EF4-FFF2-40B4-BE49-F238E27FC236}">
                <a16:creationId xmlns:a16="http://schemas.microsoft.com/office/drawing/2014/main" id="{BC5A0907-B176-4BD3-B33E-05F34046B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6679" y="1425249"/>
            <a:ext cx="2827470" cy="884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Carga que cruza la pila durante </a:t>
            </a:r>
            <a:r>
              <a:rPr lang="es-ES" sz="2400" dirty="0" err="1">
                <a:solidFill>
                  <a:srgbClr val="FF0000"/>
                </a:solidFill>
                <a:latin typeface="Arial" panose="020B0604020202020204" pitchFamily="34" charset="0"/>
              </a:rPr>
              <a:t>dt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 Box 24">
            <a:extLst>
              <a:ext uri="{FF2B5EF4-FFF2-40B4-BE49-F238E27FC236}">
                <a16:creationId xmlns:a16="http://schemas.microsoft.com/office/drawing/2014/main" id="{D3B6A1FC-A5F7-4A0B-9907-08BC09390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267" y="3340593"/>
            <a:ext cx="1055262" cy="5147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W &gt; 0</a:t>
            </a:r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3439FF7B-8A93-4794-8E82-7030C88997C1}"/>
              </a:ext>
            </a:extLst>
          </p:cNvPr>
          <p:cNvSpPr/>
          <p:nvPr/>
        </p:nvSpPr>
        <p:spPr bwMode="auto">
          <a:xfrm>
            <a:off x="5378246" y="1377276"/>
            <a:ext cx="1478434" cy="240908"/>
          </a:xfrm>
          <a:custGeom>
            <a:avLst/>
            <a:gdLst>
              <a:gd name="connsiteX0" fmla="*/ 0 w 1578623"/>
              <a:gd name="connsiteY0" fmla="*/ 240908 h 240908"/>
              <a:gd name="connsiteX1" fmla="*/ 373626 w 1578623"/>
              <a:gd name="connsiteY1" fmla="*/ 24599 h 240908"/>
              <a:gd name="connsiteX2" fmla="*/ 1179871 w 1578623"/>
              <a:gd name="connsiteY2" fmla="*/ 14767 h 240908"/>
              <a:gd name="connsiteX3" fmla="*/ 1524000 w 1578623"/>
              <a:gd name="connsiteY3" fmla="*/ 113089 h 240908"/>
              <a:gd name="connsiteX4" fmla="*/ 1573161 w 1578623"/>
              <a:gd name="connsiteY4" fmla="*/ 162250 h 240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623" h="240908">
                <a:moveTo>
                  <a:pt x="0" y="240908"/>
                </a:moveTo>
                <a:cubicBezTo>
                  <a:pt x="88490" y="151598"/>
                  <a:pt x="176981" y="62289"/>
                  <a:pt x="373626" y="24599"/>
                </a:cubicBezTo>
                <a:cubicBezTo>
                  <a:pt x="570271" y="-13091"/>
                  <a:pt x="988142" y="19"/>
                  <a:pt x="1179871" y="14767"/>
                </a:cubicBezTo>
                <a:cubicBezTo>
                  <a:pt x="1371600" y="29515"/>
                  <a:pt x="1458452" y="88508"/>
                  <a:pt x="1524000" y="113089"/>
                </a:cubicBezTo>
                <a:cubicBezTo>
                  <a:pt x="1589548" y="137669"/>
                  <a:pt x="1581354" y="149959"/>
                  <a:pt x="1573161" y="162250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648A088C-51A2-495C-AAC2-68B19BD7643E}"/>
              </a:ext>
            </a:extLst>
          </p:cNvPr>
          <p:cNvSpPr/>
          <p:nvPr/>
        </p:nvSpPr>
        <p:spPr bwMode="auto">
          <a:xfrm>
            <a:off x="4866968" y="885193"/>
            <a:ext cx="1954132" cy="773723"/>
          </a:xfrm>
          <a:custGeom>
            <a:avLst/>
            <a:gdLst>
              <a:gd name="connsiteX0" fmla="*/ 0 w 1879042"/>
              <a:gd name="connsiteY0" fmla="*/ 773723 h 773723"/>
              <a:gd name="connsiteX1" fmla="*/ 311499 w 1879042"/>
              <a:gd name="connsiteY1" fmla="*/ 522514 h 773723"/>
              <a:gd name="connsiteX2" fmla="*/ 1004835 w 1879042"/>
              <a:gd name="connsiteY2" fmla="*/ 140677 h 773723"/>
              <a:gd name="connsiteX3" fmla="*/ 1879042 w 1879042"/>
              <a:gd name="connsiteY3" fmla="*/ 0 h 77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9042" h="773723">
                <a:moveTo>
                  <a:pt x="0" y="773723"/>
                </a:moveTo>
                <a:cubicBezTo>
                  <a:pt x="72013" y="700872"/>
                  <a:pt x="144027" y="628022"/>
                  <a:pt x="311499" y="522514"/>
                </a:cubicBezTo>
                <a:cubicBezTo>
                  <a:pt x="478971" y="417006"/>
                  <a:pt x="743578" y="227763"/>
                  <a:pt x="1004835" y="140677"/>
                </a:cubicBezTo>
                <a:cubicBezTo>
                  <a:pt x="1266092" y="53591"/>
                  <a:pt x="1572567" y="26795"/>
                  <a:pt x="1879042" y="0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6B7F640-789E-478F-92F3-7956EF589E77}"/>
              </a:ext>
            </a:extLst>
          </p:cNvPr>
          <p:cNvGrpSpPr/>
          <p:nvPr/>
        </p:nvGrpSpPr>
        <p:grpSpPr>
          <a:xfrm>
            <a:off x="3252783" y="4329437"/>
            <a:ext cx="3344864" cy="644525"/>
            <a:chOff x="3252783" y="3608375"/>
            <a:chExt cx="3344864" cy="644525"/>
          </a:xfrm>
        </p:grpSpPr>
        <p:grpSp>
          <p:nvGrpSpPr>
            <p:cNvPr id="6" name="Group 74"/>
            <p:cNvGrpSpPr>
              <a:grpSpLocks/>
            </p:cNvGrpSpPr>
            <p:nvPr/>
          </p:nvGrpSpPr>
          <p:grpSpPr bwMode="auto">
            <a:xfrm>
              <a:off x="3252783" y="3608375"/>
              <a:ext cx="3344864" cy="644525"/>
              <a:chOff x="-933" y="3791"/>
              <a:chExt cx="2107" cy="406"/>
            </a:xfrm>
          </p:grpSpPr>
          <p:sp>
            <p:nvSpPr>
              <p:cNvPr id="11312" name="Text Box 47"/>
              <p:cNvSpPr txBox="1">
                <a:spLocks noChangeArrowheads="1"/>
              </p:cNvSpPr>
              <p:nvPr/>
            </p:nvSpPr>
            <p:spPr bwMode="auto">
              <a:xfrm>
                <a:off x="-933" y="3791"/>
                <a:ext cx="990" cy="392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108000" tIns="72000" rIns="108000" bIns="7200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Reactivos</a:t>
                </a:r>
              </a:p>
            </p:txBody>
          </p:sp>
          <p:sp>
            <p:nvSpPr>
              <p:cNvPr id="11313" name="Text Box 48"/>
              <p:cNvSpPr txBox="1">
                <a:spLocks noChangeArrowheads="1"/>
              </p:cNvSpPr>
              <p:nvPr/>
            </p:nvSpPr>
            <p:spPr bwMode="auto">
              <a:xfrm>
                <a:off x="163" y="3805"/>
                <a:ext cx="1011" cy="392"/>
              </a:xfrm>
              <a:prstGeom prst="rect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108000" tIns="72000" rIns="108000" bIns="7200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Productos</a:t>
                </a:r>
              </a:p>
            </p:txBody>
          </p:sp>
        </p:grpSp>
        <p:sp>
          <p:nvSpPr>
            <p:cNvPr id="15" name="Flecha: a la derecha 14">
              <a:extLst>
                <a:ext uri="{FF2B5EF4-FFF2-40B4-BE49-F238E27FC236}">
                  <a16:creationId xmlns:a16="http://schemas.microsoft.com/office/drawing/2014/main" id="{3610DDF5-713C-4755-9975-3201AEADA39C}"/>
                </a:ext>
              </a:extLst>
            </p:cNvPr>
            <p:cNvSpPr/>
            <p:nvPr/>
          </p:nvSpPr>
          <p:spPr bwMode="auto">
            <a:xfrm>
              <a:off x="4775847" y="3687021"/>
              <a:ext cx="288273" cy="509458"/>
            </a:xfrm>
            <a:prstGeom prst="rightArrow">
              <a:avLst>
                <a:gd name="adj1" fmla="val 50000"/>
                <a:gd name="adj2" fmla="val 60232"/>
              </a:avLst>
            </a:prstGeom>
            <a:solidFill>
              <a:srgbClr val="FF00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569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51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1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267" grpId="0" animBg="1"/>
      <p:bldP spid="11317" grpId="0"/>
      <p:bldP spid="11314" grpId="0"/>
      <p:bldP spid="34" grpId="0" animBg="1"/>
      <p:bldP spid="38" grpId="0"/>
      <p:bldP spid="39" grpId="0" animBg="1"/>
      <p:bldP spid="10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/>
          <p:cNvGrpSpPr/>
          <p:nvPr/>
        </p:nvGrpSpPr>
        <p:grpSpPr>
          <a:xfrm>
            <a:off x="1442270" y="3310565"/>
            <a:ext cx="409575" cy="525463"/>
            <a:chOff x="1491430" y="2748036"/>
            <a:chExt cx="409575" cy="525463"/>
          </a:xfrm>
        </p:grpSpPr>
        <p:sp>
          <p:nvSpPr>
            <p:cNvPr id="11309" name="Rectangle 59"/>
            <p:cNvSpPr>
              <a:spLocks noChangeArrowheads="1"/>
            </p:cNvSpPr>
            <p:nvPr/>
          </p:nvSpPr>
          <p:spPr bwMode="auto">
            <a:xfrm>
              <a:off x="1491430" y="2748036"/>
              <a:ext cx="409575" cy="52546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108000" tIns="72000" rIns="108000" bIns="720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ts val="0"/>
                </a:spcBef>
              </a:pPr>
              <a:endParaRPr lang="es-ES" sz="2400"/>
            </a:p>
          </p:txBody>
        </p:sp>
        <p:sp>
          <p:nvSpPr>
            <p:cNvPr id="11310" name="Text Box 24"/>
            <p:cNvSpPr txBox="1">
              <a:spLocks noChangeArrowheads="1"/>
            </p:cNvSpPr>
            <p:nvPr/>
          </p:nvSpPr>
          <p:spPr bwMode="auto">
            <a:xfrm>
              <a:off x="1503872" y="2757313"/>
              <a:ext cx="347974" cy="514738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108000" tIns="72000" rIns="108000" bIns="720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b="1" dirty="0">
                  <a:latin typeface="Arial" panose="020B0604020202020204" pitchFamily="34" charset="0"/>
                </a:rPr>
                <a:t>-</a:t>
              </a:r>
              <a:endParaRPr lang="es-ES" sz="24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AB9A7723-DDFE-4E74-98E0-9A270F51D4FE}"/>
              </a:ext>
            </a:extLst>
          </p:cNvPr>
          <p:cNvGrpSpPr/>
          <p:nvPr/>
        </p:nvGrpSpPr>
        <p:grpSpPr>
          <a:xfrm>
            <a:off x="7229856" y="3348171"/>
            <a:ext cx="2742909" cy="1643612"/>
            <a:chOff x="7229856" y="2751405"/>
            <a:chExt cx="2742909" cy="1643612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59934833-00F3-4D40-AB9B-305DF8DD5B2D}"/>
                </a:ext>
              </a:extLst>
            </p:cNvPr>
            <p:cNvSpPr/>
            <p:nvPr/>
          </p:nvSpPr>
          <p:spPr bwMode="auto">
            <a:xfrm>
              <a:off x="7229856" y="2755587"/>
              <a:ext cx="2742909" cy="163943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11298" name="Line 27"/>
            <p:cNvSpPr>
              <a:spLocks noChangeShapeType="1"/>
            </p:cNvSpPr>
            <p:nvPr/>
          </p:nvSpPr>
          <p:spPr bwMode="auto">
            <a:xfrm>
              <a:off x="8522809" y="3075239"/>
              <a:ext cx="0" cy="1077859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11299" name="Line 28"/>
            <p:cNvSpPr>
              <a:spLocks noChangeShapeType="1"/>
            </p:cNvSpPr>
            <p:nvPr/>
          </p:nvSpPr>
          <p:spPr bwMode="auto">
            <a:xfrm rot="16200000">
              <a:off x="7976409" y="3029177"/>
              <a:ext cx="0" cy="107791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11300" name="Line 29"/>
            <p:cNvSpPr>
              <a:spLocks noChangeShapeType="1"/>
            </p:cNvSpPr>
            <p:nvPr/>
          </p:nvSpPr>
          <p:spPr bwMode="auto">
            <a:xfrm>
              <a:off x="8643459" y="3307003"/>
              <a:ext cx="0" cy="53972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11301" name="Line 30"/>
            <p:cNvSpPr>
              <a:spLocks noChangeShapeType="1"/>
            </p:cNvSpPr>
            <p:nvPr/>
          </p:nvSpPr>
          <p:spPr bwMode="auto">
            <a:xfrm rot="16200000">
              <a:off x="9202259" y="3032352"/>
              <a:ext cx="0" cy="107791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11302" name="Text Box 31"/>
            <p:cNvSpPr txBox="1">
              <a:spLocks noChangeArrowheads="1"/>
            </p:cNvSpPr>
            <p:nvPr/>
          </p:nvSpPr>
          <p:spPr bwMode="auto">
            <a:xfrm>
              <a:off x="7585825" y="2911735"/>
              <a:ext cx="319088" cy="592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11303" name="Line 32"/>
            <p:cNvSpPr>
              <a:spLocks noChangeShapeType="1"/>
            </p:cNvSpPr>
            <p:nvPr/>
          </p:nvSpPr>
          <p:spPr bwMode="auto">
            <a:xfrm flipV="1">
              <a:off x="7678212" y="3567267"/>
              <a:ext cx="412171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11304" name="Text Box 33"/>
            <p:cNvSpPr txBox="1">
              <a:spLocks noChangeArrowheads="1"/>
            </p:cNvSpPr>
            <p:nvPr/>
          </p:nvSpPr>
          <p:spPr bwMode="auto">
            <a:xfrm>
              <a:off x="8963775" y="2932371"/>
              <a:ext cx="319088" cy="592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11305" name="Line 34"/>
            <p:cNvSpPr>
              <a:spLocks noChangeShapeType="1"/>
            </p:cNvSpPr>
            <p:nvPr/>
          </p:nvSpPr>
          <p:spPr bwMode="auto">
            <a:xfrm flipV="1">
              <a:off x="9024412" y="3568446"/>
              <a:ext cx="412171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11306" name="Line 56"/>
            <p:cNvSpPr>
              <a:spLocks noChangeShapeType="1"/>
            </p:cNvSpPr>
            <p:nvPr/>
          </p:nvSpPr>
          <p:spPr bwMode="auto">
            <a:xfrm>
              <a:off x="8426533" y="4016580"/>
              <a:ext cx="36036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11297" name="Text Box 68"/>
            <p:cNvSpPr txBox="1">
              <a:spLocks noChangeArrowheads="1"/>
            </p:cNvSpPr>
            <p:nvPr/>
          </p:nvSpPr>
          <p:spPr bwMode="auto">
            <a:xfrm>
              <a:off x="8573609" y="2751405"/>
              <a:ext cx="336550" cy="5921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800" b="1">
                  <a:solidFill>
                    <a:srgbClr val="008000"/>
                  </a:solidFill>
                  <a:sym typeface="Symbol" panose="05050102010706020507" pitchFamily="18" charset="2"/>
                </a:rPr>
                <a:t></a:t>
              </a:r>
            </a:p>
          </p:txBody>
        </p:sp>
        <p:pic>
          <p:nvPicPr>
            <p:cNvPr id="11295" name="Picture 12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82783" y="3879632"/>
              <a:ext cx="300347" cy="3005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3246627" y="3349908"/>
            <a:ext cx="3351537" cy="75362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Consume </a:t>
            </a:r>
            <a:r>
              <a:rPr lang="es-ES" sz="2400" dirty="0" err="1">
                <a:latin typeface="Arial" panose="020B0604020202020204" pitchFamily="34" charset="0"/>
              </a:rPr>
              <a:t>E</a:t>
            </a:r>
            <a:r>
              <a:rPr lang="es-ES" sz="2400" baseline="-25000" dirty="0" err="1">
                <a:latin typeface="Arial" panose="020B0604020202020204" pitchFamily="34" charset="0"/>
              </a:rPr>
              <a:t>Peléctrica</a:t>
            </a:r>
            <a:endParaRPr lang="es-ES" sz="2400" baseline="-25000" dirty="0">
              <a:latin typeface="Arial" panose="020B0604020202020204" pitchFamily="34" charset="0"/>
            </a:endParaRPr>
          </a:p>
        </p:txBody>
      </p:sp>
      <p:sp>
        <p:nvSpPr>
          <p:cNvPr id="39" name="Text Box 24">
            <a:extLst>
              <a:ext uri="{FF2B5EF4-FFF2-40B4-BE49-F238E27FC236}">
                <a16:creationId xmlns:a16="http://schemas.microsoft.com/office/drawing/2014/main" id="{D3B6A1FC-A5F7-4A0B-9907-08BC09390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267" y="3340594"/>
            <a:ext cx="1055262" cy="5147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W &lt; 0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6B7F640-789E-478F-92F3-7956EF589E77}"/>
              </a:ext>
            </a:extLst>
          </p:cNvPr>
          <p:cNvGrpSpPr/>
          <p:nvPr/>
        </p:nvGrpSpPr>
        <p:grpSpPr>
          <a:xfrm>
            <a:off x="3252783" y="4185063"/>
            <a:ext cx="3344864" cy="644525"/>
            <a:chOff x="3252783" y="3608375"/>
            <a:chExt cx="3344864" cy="644525"/>
          </a:xfrm>
        </p:grpSpPr>
        <p:grpSp>
          <p:nvGrpSpPr>
            <p:cNvPr id="6" name="Group 74"/>
            <p:cNvGrpSpPr>
              <a:grpSpLocks/>
            </p:cNvGrpSpPr>
            <p:nvPr/>
          </p:nvGrpSpPr>
          <p:grpSpPr bwMode="auto">
            <a:xfrm>
              <a:off x="3252783" y="3608375"/>
              <a:ext cx="3344864" cy="644525"/>
              <a:chOff x="-933" y="3791"/>
              <a:chExt cx="2107" cy="406"/>
            </a:xfrm>
          </p:grpSpPr>
          <p:sp>
            <p:nvSpPr>
              <p:cNvPr id="11312" name="Text Box 47"/>
              <p:cNvSpPr txBox="1">
                <a:spLocks noChangeArrowheads="1"/>
              </p:cNvSpPr>
              <p:nvPr/>
            </p:nvSpPr>
            <p:spPr bwMode="auto">
              <a:xfrm>
                <a:off x="-933" y="3791"/>
                <a:ext cx="990" cy="392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108000" tIns="72000" rIns="108000" bIns="7200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Reactivos</a:t>
                </a:r>
              </a:p>
            </p:txBody>
          </p:sp>
          <p:sp>
            <p:nvSpPr>
              <p:cNvPr id="11313" name="Text Box 48"/>
              <p:cNvSpPr txBox="1">
                <a:spLocks noChangeArrowheads="1"/>
              </p:cNvSpPr>
              <p:nvPr/>
            </p:nvSpPr>
            <p:spPr bwMode="auto">
              <a:xfrm>
                <a:off x="163" y="3805"/>
                <a:ext cx="1011" cy="392"/>
              </a:xfrm>
              <a:prstGeom prst="rect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108000" tIns="72000" rIns="108000" bIns="7200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Productos</a:t>
                </a:r>
              </a:p>
            </p:txBody>
          </p:sp>
        </p:grpSp>
        <p:sp>
          <p:nvSpPr>
            <p:cNvPr id="15" name="Flecha: a la derecha 14">
              <a:extLst>
                <a:ext uri="{FF2B5EF4-FFF2-40B4-BE49-F238E27FC236}">
                  <a16:creationId xmlns:a16="http://schemas.microsoft.com/office/drawing/2014/main" id="{3610DDF5-713C-4755-9975-3201AEADA39C}"/>
                </a:ext>
              </a:extLst>
            </p:cNvPr>
            <p:cNvSpPr/>
            <p:nvPr/>
          </p:nvSpPr>
          <p:spPr bwMode="auto">
            <a:xfrm flipH="1">
              <a:off x="4775847" y="3687021"/>
              <a:ext cx="288273" cy="509458"/>
            </a:xfrm>
            <a:prstGeom prst="rightArrow">
              <a:avLst>
                <a:gd name="adj1" fmla="val 50000"/>
                <a:gd name="adj2" fmla="val 60232"/>
              </a:avLst>
            </a:prstGeom>
            <a:solidFill>
              <a:srgbClr val="FF00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41" name="Text Box 11">
            <a:extLst>
              <a:ext uri="{FF2B5EF4-FFF2-40B4-BE49-F238E27FC236}">
                <a16:creationId xmlns:a16="http://schemas.microsoft.com/office/drawing/2014/main" id="{3BC2F987-00B9-482F-8105-DC1F75D40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8495" y="4871902"/>
            <a:ext cx="3486904" cy="884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Se habla de 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recarga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(todo sucede al revés)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98CE24C-5D13-2C7D-C2D9-DF1A4CE65222}"/>
              </a:ext>
            </a:extLst>
          </p:cNvPr>
          <p:cNvSpPr/>
          <p:nvPr/>
        </p:nvSpPr>
        <p:spPr bwMode="auto">
          <a:xfrm>
            <a:off x="1343949" y="1500196"/>
            <a:ext cx="5328000" cy="123133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7C2DB1ED-C002-89F9-BF00-775DE6F8F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853" y="456315"/>
            <a:ext cx="3331782" cy="514738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non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POTENCIA Generador</a:t>
            </a:r>
          </a:p>
        </p:txBody>
      </p:sp>
      <p:grpSp>
        <p:nvGrpSpPr>
          <p:cNvPr id="9" name="Group 62">
            <a:extLst>
              <a:ext uri="{FF2B5EF4-FFF2-40B4-BE49-F238E27FC236}">
                <a16:creationId xmlns:a16="http://schemas.microsoft.com/office/drawing/2014/main" id="{2D03C01E-49C1-187F-88D2-E4EBDB10A4D7}"/>
              </a:ext>
            </a:extLst>
          </p:cNvPr>
          <p:cNvGrpSpPr>
            <a:grpSpLocks/>
          </p:cNvGrpSpPr>
          <p:nvPr/>
        </p:nvGrpSpPr>
        <p:grpSpPr bwMode="auto">
          <a:xfrm>
            <a:off x="1443552" y="1576803"/>
            <a:ext cx="5154613" cy="1079500"/>
            <a:chOff x="1005" y="1851"/>
            <a:chExt cx="3247" cy="680"/>
          </a:xfrm>
        </p:grpSpPr>
        <p:sp>
          <p:nvSpPr>
            <p:cNvPr id="11" name="Rectangle 12">
              <a:extLst>
                <a:ext uri="{FF2B5EF4-FFF2-40B4-BE49-F238E27FC236}">
                  <a16:creationId xmlns:a16="http://schemas.microsoft.com/office/drawing/2014/main" id="{46CB6C30-62A0-1648-F3E4-F0FA25B03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4" y="1853"/>
              <a:ext cx="618" cy="678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A41201B5-A1E9-8C05-DA97-ABB78E42C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5" y="1851"/>
              <a:ext cx="446" cy="678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14" name="Object 9">
            <a:extLst>
              <a:ext uri="{FF2B5EF4-FFF2-40B4-BE49-F238E27FC236}">
                <a16:creationId xmlns:a16="http://schemas.microsoft.com/office/drawing/2014/main" id="{12A32591-D7ED-6FBA-8194-40727F6E8F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15615"/>
              </p:ext>
            </p:extLst>
          </p:nvPr>
        </p:nvGraphicFramePr>
        <p:xfrm>
          <a:off x="1632465" y="1663689"/>
          <a:ext cx="4926012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2019300" imgH="393700" progId="Equation.3">
                  <p:embed/>
                </p:oleObj>
              </mc:Choice>
              <mc:Fallback>
                <p:oleObj name="Ecuación" r:id="rId4" imgW="2019300" imgH="393700" progId="Equation.3">
                  <p:embed/>
                  <p:pic>
                    <p:nvPicPr>
                      <p:cNvPr id="451593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2465" y="1663689"/>
                        <a:ext cx="4926012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1">
            <a:extLst>
              <a:ext uri="{FF2B5EF4-FFF2-40B4-BE49-F238E27FC236}">
                <a16:creationId xmlns:a16="http://schemas.microsoft.com/office/drawing/2014/main" id="{917F9B3C-26B8-4ED6-45E8-9F950C4BF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6679" y="546775"/>
            <a:ext cx="3565702" cy="884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Trabajo realizado por la pila por unidad de carga</a:t>
            </a:r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1FA583F6-2A7A-4922-686A-5E2CA22B5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6679" y="1425249"/>
            <a:ext cx="2827470" cy="884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Carga que cruza la pila durante </a:t>
            </a:r>
            <a:r>
              <a:rPr lang="es-ES" sz="2400" dirty="0" err="1">
                <a:solidFill>
                  <a:srgbClr val="FF0000"/>
                </a:solidFill>
                <a:latin typeface="Arial" panose="020B0604020202020204" pitchFamily="34" charset="0"/>
              </a:rPr>
              <a:t>dt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1EA4BCDE-19CA-314B-5BDF-116EBEA5A37B}"/>
              </a:ext>
            </a:extLst>
          </p:cNvPr>
          <p:cNvSpPr/>
          <p:nvPr/>
        </p:nvSpPr>
        <p:spPr bwMode="auto">
          <a:xfrm>
            <a:off x="5378246" y="1377276"/>
            <a:ext cx="1478434" cy="240908"/>
          </a:xfrm>
          <a:custGeom>
            <a:avLst/>
            <a:gdLst>
              <a:gd name="connsiteX0" fmla="*/ 0 w 1578623"/>
              <a:gd name="connsiteY0" fmla="*/ 240908 h 240908"/>
              <a:gd name="connsiteX1" fmla="*/ 373626 w 1578623"/>
              <a:gd name="connsiteY1" fmla="*/ 24599 h 240908"/>
              <a:gd name="connsiteX2" fmla="*/ 1179871 w 1578623"/>
              <a:gd name="connsiteY2" fmla="*/ 14767 h 240908"/>
              <a:gd name="connsiteX3" fmla="*/ 1524000 w 1578623"/>
              <a:gd name="connsiteY3" fmla="*/ 113089 h 240908"/>
              <a:gd name="connsiteX4" fmla="*/ 1573161 w 1578623"/>
              <a:gd name="connsiteY4" fmla="*/ 162250 h 240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623" h="240908">
                <a:moveTo>
                  <a:pt x="0" y="240908"/>
                </a:moveTo>
                <a:cubicBezTo>
                  <a:pt x="88490" y="151598"/>
                  <a:pt x="176981" y="62289"/>
                  <a:pt x="373626" y="24599"/>
                </a:cubicBezTo>
                <a:cubicBezTo>
                  <a:pt x="570271" y="-13091"/>
                  <a:pt x="988142" y="19"/>
                  <a:pt x="1179871" y="14767"/>
                </a:cubicBezTo>
                <a:cubicBezTo>
                  <a:pt x="1371600" y="29515"/>
                  <a:pt x="1458452" y="88508"/>
                  <a:pt x="1524000" y="113089"/>
                </a:cubicBezTo>
                <a:cubicBezTo>
                  <a:pt x="1589548" y="137669"/>
                  <a:pt x="1581354" y="149959"/>
                  <a:pt x="1573161" y="162250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D9AF5A58-719B-7BB5-5F6A-91ECDDA915CD}"/>
              </a:ext>
            </a:extLst>
          </p:cNvPr>
          <p:cNvSpPr/>
          <p:nvPr/>
        </p:nvSpPr>
        <p:spPr bwMode="auto">
          <a:xfrm>
            <a:off x="4866968" y="885193"/>
            <a:ext cx="1954132" cy="773723"/>
          </a:xfrm>
          <a:custGeom>
            <a:avLst/>
            <a:gdLst>
              <a:gd name="connsiteX0" fmla="*/ 0 w 1879042"/>
              <a:gd name="connsiteY0" fmla="*/ 773723 h 773723"/>
              <a:gd name="connsiteX1" fmla="*/ 311499 w 1879042"/>
              <a:gd name="connsiteY1" fmla="*/ 522514 h 773723"/>
              <a:gd name="connsiteX2" fmla="*/ 1004835 w 1879042"/>
              <a:gd name="connsiteY2" fmla="*/ 140677 h 773723"/>
              <a:gd name="connsiteX3" fmla="*/ 1879042 w 1879042"/>
              <a:gd name="connsiteY3" fmla="*/ 0 h 77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9042" h="773723">
                <a:moveTo>
                  <a:pt x="0" y="773723"/>
                </a:moveTo>
                <a:cubicBezTo>
                  <a:pt x="72013" y="700872"/>
                  <a:pt x="144027" y="628022"/>
                  <a:pt x="311499" y="522514"/>
                </a:cubicBezTo>
                <a:cubicBezTo>
                  <a:pt x="478971" y="417006"/>
                  <a:pt x="743578" y="227763"/>
                  <a:pt x="1004835" y="140677"/>
                </a:cubicBezTo>
                <a:cubicBezTo>
                  <a:pt x="1266092" y="53591"/>
                  <a:pt x="1572567" y="26795"/>
                  <a:pt x="1879042" y="0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1" name="Text Box 13">
            <a:extLst>
              <a:ext uri="{FF2B5EF4-FFF2-40B4-BE49-F238E27FC236}">
                <a16:creationId xmlns:a16="http://schemas.microsoft.com/office/drawing/2014/main" id="{81A3FA37-419B-A198-602F-00A76AD1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6311" y="5842827"/>
            <a:ext cx="8946445" cy="94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En esta situación a</a:t>
            </a:r>
            <a:r>
              <a:rPr lang="es-ES" sz="28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800" dirty="0"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se le llama </a:t>
            </a:r>
            <a:r>
              <a:rPr lang="es-ES" sz="2400">
                <a:highlight>
                  <a:srgbClr val="FFFF00"/>
                </a:highlight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b="1">
                <a:highlight>
                  <a:srgbClr val="FFFF00"/>
                </a:highlight>
                <a:latin typeface="Arial" panose="020B0604020202020204" pitchFamily="34" charset="0"/>
              </a:rPr>
              <a:t>fuerza contraelectromotriz </a:t>
            </a:r>
            <a:r>
              <a:rPr lang="es-ES" sz="2400" b="1">
                <a:solidFill>
                  <a:srgbClr val="FFFFFF"/>
                </a:solidFill>
                <a:latin typeface="Arial" panose="020B0604020202020204" pitchFamily="34" charset="0"/>
              </a:rPr>
              <a:t>.</a:t>
            </a:r>
            <a:r>
              <a:rPr lang="es-ES" sz="2400">
                <a:latin typeface="Arial" panose="020B0604020202020204" pitchFamily="34" charset="0"/>
              </a:rPr>
              <a:t>  porque se opone a la existencia de corriente</a:t>
            </a:r>
            <a:endParaRPr lang="es-E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53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9" grpId="0" animBg="1"/>
      <p:bldP spid="41" grpId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Box 75">
            <a:extLst>
              <a:ext uri="{FF2B5EF4-FFF2-40B4-BE49-F238E27FC236}">
                <a16:creationId xmlns:a16="http://schemas.microsoft.com/office/drawing/2014/main" id="{28080690-8667-4C7A-A875-154B6EAC3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669" y="3327284"/>
            <a:ext cx="8794334" cy="884070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La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recarga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es posible si las reacciones se pueden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invertir.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Y siendo o no posible,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puede no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ser segura</a:t>
            </a:r>
            <a:endParaRPr lang="es-ES" sz="2400" b="1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42" name="Text Box 75">
            <a:extLst>
              <a:ext uri="{FF2B5EF4-FFF2-40B4-BE49-F238E27FC236}">
                <a16:creationId xmlns:a16="http://schemas.microsoft.com/office/drawing/2014/main" id="{5D980F3C-F6AC-41AF-9041-2E12513E7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824" y="4414302"/>
            <a:ext cx="8152694" cy="945625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La </a:t>
            </a:r>
            <a:r>
              <a:rPr lang="es-ES" sz="2800"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como vimos en el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Tema 2</a:t>
            </a:r>
            <a:r>
              <a:rPr lang="es-ES" sz="2400">
                <a:latin typeface="Arial" panose="020B0604020202020204" pitchFamily="34" charset="0"/>
              </a:rPr>
              <a:t>,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tiene el mismo valor que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la ddp que contribuye a mantener y no es una fuerza</a:t>
            </a:r>
            <a:endParaRPr lang="es-ES" sz="2400" b="1" dirty="0">
              <a:solidFill>
                <a:srgbClr val="008000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5795212-2540-708C-F41D-03BFE43DD925}"/>
              </a:ext>
            </a:extLst>
          </p:cNvPr>
          <p:cNvSpPr/>
          <p:nvPr/>
        </p:nvSpPr>
        <p:spPr bwMode="auto">
          <a:xfrm>
            <a:off x="1343949" y="1500196"/>
            <a:ext cx="5328000" cy="123133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D0E7DC36-A1BE-B225-86EB-4C77484AA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853" y="456315"/>
            <a:ext cx="3331782" cy="514738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non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POTENCIA Generador</a:t>
            </a:r>
          </a:p>
        </p:txBody>
      </p:sp>
      <p:grpSp>
        <p:nvGrpSpPr>
          <p:cNvPr id="9" name="Group 62">
            <a:extLst>
              <a:ext uri="{FF2B5EF4-FFF2-40B4-BE49-F238E27FC236}">
                <a16:creationId xmlns:a16="http://schemas.microsoft.com/office/drawing/2014/main" id="{850D4043-7DD5-957F-138D-899680FC3DA8}"/>
              </a:ext>
            </a:extLst>
          </p:cNvPr>
          <p:cNvGrpSpPr>
            <a:grpSpLocks/>
          </p:cNvGrpSpPr>
          <p:nvPr/>
        </p:nvGrpSpPr>
        <p:grpSpPr bwMode="auto">
          <a:xfrm>
            <a:off x="1443552" y="1576803"/>
            <a:ext cx="5154613" cy="1079500"/>
            <a:chOff x="1005" y="1851"/>
            <a:chExt cx="3247" cy="680"/>
          </a:xfrm>
        </p:grpSpPr>
        <p:sp>
          <p:nvSpPr>
            <p:cNvPr id="11" name="Rectangle 12">
              <a:extLst>
                <a:ext uri="{FF2B5EF4-FFF2-40B4-BE49-F238E27FC236}">
                  <a16:creationId xmlns:a16="http://schemas.microsoft.com/office/drawing/2014/main" id="{23561F36-DF4E-9EF4-B2D9-4948D52C6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4" y="1853"/>
              <a:ext cx="618" cy="678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8EAABB52-563F-7462-0202-418B129807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5" y="1851"/>
              <a:ext cx="446" cy="678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14" name="Object 9">
            <a:extLst>
              <a:ext uri="{FF2B5EF4-FFF2-40B4-BE49-F238E27FC236}">
                <a16:creationId xmlns:a16="http://schemas.microsoft.com/office/drawing/2014/main" id="{30DFC9DA-801A-5EB5-2A2B-9C8B41CA57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4538597"/>
              </p:ext>
            </p:extLst>
          </p:nvPr>
        </p:nvGraphicFramePr>
        <p:xfrm>
          <a:off x="1632465" y="1663689"/>
          <a:ext cx="4926012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2019300" imgH="393700" progId="Equation.3">
                  <p:embed/>
                </p:oleObj>
              </mc:Choice>
              <mc:Fallback>
                <p:oleObj name="Ecuación" r:id="rId3" imgW="2019300" imgH="393700" progId="Equation.3">
                  <p:embed/>
                  <p:pic>
                    <p:nvPicPr>
                      <p:cNvPr id="14" name="Object 9">
                        <a:extLst>
                          <a:ext uri="{FF2B5EF4-FFF2-40B4-BE49-F238E27FC236}">
                            <a16:creationId xmlns:a16="http://schemas.microsoft.com/office/drawing/2014/main" id="{12A32591-D7ED-6FBA-8194-40727F6E8F56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2465" y="1663689"/>
                        <a:ext cx="4926012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1">
            <a:extLst>
              <a:ext uri="{FF2B5EF4-FFF2-40B4-BE49-F238E27FC236}">
                <a16:creationId xmlns:a16="http://schemas.microsoft.com/office/drawing/2014/main" id="{462D2D21-DAE7-C446-EF8C-86701273B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6679" y="546775"/>
            <a:ext cx="3565702" cy="884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Trabajo realizado por la pila por unidad de carga</a:t>
            </a:r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99E0153D-4AB8-7A00-8725-DAED40708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6679" y="1425249"/>
            <a:ext cx="2827470" cy="884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Carga que cruza la pila durante </a:t>
            </a:r>
            <a:r>
              <a:rPr lang="es-ES" sz="2400" dirty="0" err="1">
                <a:solidFill>
                  <a:srgbClr val="FF0000"/>
                </a:solidFill>
                <a:latin typeface="Arial" panose="020B0604020202020204" pitchFamily="34" charset="0"/>
              </a:rPr>
              <a:t>dt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6E7A7753-F243-A6EC-27E4-5CA23763621C}"/>
              </a:ext>
            </a:extLst>
          </p:cNvPr>
          <p:cNvSpPr/>
          <p:nvPr/>
        </p:nvSpPr>
        <p:spPr bwMode="auto">
          <a:xfrm>
            <a:off x="5378246" y="1377276"/>
            <a:ext cx="1478434" cy="240908"/>
          </a:xfrm>
          <a:custGeom>
            <a:avLst/>
            <a:gdLst>
              <a:gd name="connsiteX0" fmla="*/ 0 w 1578623"/>
              <a:gd name="connsiteY0" fmla="*/ 240908 h 240908"/>
              <a:gd name="connsiteX1" fmla="*/ 373626 w 1578623"/>
              <a:gd name="connsiteY1" fmla="*/ 24599 h 240908"/>
              <a:gd name="connsiteX2" fmla="*/ 1179871 w 1578623"/>
              <a:gd name="connsiteY2" fmla="*/ 14767 h 240908"/>
              <a:gd name="connsiteX3" fmla="*/ 1524000 w 1578623"/>
              <a:gd name="connsiteY3" fmla="*/ 113089 h 240908"/>
              <a:gd name="connsiteX4" fmla="*/ 1573161 w 1578623"/>
              <a:gd name="connsiteY4" fmla="*/ 162250 h 240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623" h="240908">
                <a:moveTo>
                  <a:pt x="0" y="240908"/>
                </a:moveTo>
                <a:cubicBezTo>
                  <a:pt x="88490" y="151598"/>
                  <a:pt x="176981" y="62289"/>
                  <a:pt x="373626" y="24599"/>
                </a:cubicBezTo>
                <a:cubicBezTo>
                  <a:pt x="570271" y="-13091"/>
                  <a:pt x="988142" y="19"/>
                  <a:pt x="1179871" y="14767"/>
                </a:cubicBezTo>
                <a:cubicBezTo>
                  <a:pt x="1371600" y="29515"/>
                  <a:pt x="1458452" y="88508"/>
                  <a:pt x="1524000" y="113089"/>
                </a:cubicBezTo>
                <a:cubicBezTo>
                  <a:pt x="1589548" y="137669"/>
                  <a:pt x="1581354" y="149959"/>
                  <a:pt x="1573161" y="162250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58D8B18B-3157-0016-1FE3-7DB22647AB5A}"/>
              </a:ext>
            </a:extLst>
          </p:cNvPr>
          <p:cNvSpPr/>
          <p:nvPr/>
        </p:nvSpPr>
        <p:spPr bwMode="auto">
          <a:xfrm>
            <a:off x="4866968" y="885193"/>
            <a:ext cx="1954132" cy="773723"/>
          </a:xfrm>
          <a:custGeom>
            <a:avLst/>
            <a:gdLst>
              <a:gd name="connsiteX0" fmla="*/ 0 w 1879042"/>
              <a:gd name="connsiteY0" fmla="*/ 773723 h 773723"/>
              <a:gd name="connsiteX1" fmla="*/ 311499 w 1879042"/>
              <a:gd name="connsiteY1" fmla="*/ 522514 h 773723"/>
              <a:gd name="connsiteX2" fmla="*/ 1004835 w 1879042"/>
              <a:gd name="connsiteY2" fmla="*/ 140677 h 773723"/>
              <a:gd name="connsiteX3" fmla="*/ 1879042 w 1879042"/>
              <a:gd name="connsiteY3" fmla="*/ 0 h 77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9042" h="773723">
                <a:moveTo>
                  <a:pt x="0" y="773723"/>
                </a:moveTo>
                <a:cubicBezTo>
                  <a:pt x="72013" y="700872"/>
                  <a:pt x="144027" y="628022"/>
                  <a:pt x="311499" y="522514"/>
                </a:cubicBezTo>
                <a:cubicBezTo>
                  <a:pt x="478971" y="417006"/>
                  <a:pt x="743578" y="227763"/>
                  <a:pt x="1004835" y="140677"/>
                </a:cubicBezTo>
                <a:cubicBezTo>
                  <a:pt x="1266092" y="53591"/>
                  <a:pt x="1572567" y="26795"/>
                  <a:pt x="1879042" y="0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1" name="Text Box 75">
            <a:extLst>
              <a:ext uri="{FF2B5EF4-FFF2-40B4-BE49-F238E27FC236}">
                <a16:creationId xmlns:a16="http://schemas.microsoft.com/office/drawing/2014/main" id="{4192160D-696A-686B-77D9-5DDDC2B4A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4279" y="5591660"/>
            <a:ext cx="6039945" cy="8840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Por estos motivos, se le suele llamar igual que a esa ddp: </a:t>
            </a:r>
            <a:r>
              <a:rPr lang="es-ES" sz="2400"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lang="es-ES" sz="2400" b="1">
                <a:highlight>
                  <a:srgbClr val="FFFF00"/>
                </a:highlight>
                <a:latin typeface="Arial" panose="020B0604020202020204" pitchFamily="34" charset="0"/>
              </a:rPr>
              <a:t>VOLTAJE </a:t>
            </a:r>
            <a:r>
              <a:rPr lang="es-ES" sz="2400" b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.</a:t>
            </a:r>
            <a:r>
              <a:rPr lang="es-ES" sz="2400" b="1"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endParaRPr lang="es-ES" sz="2400" b="1" dirty="0"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81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2" grpId="0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ángulo 55">
            <a:extLst>
              <a:ext uri="{FF2B5EF4-FFF2-40B4-BE49-F238E27FC236}">
                <a16:creationId xmlns:a16="http://schemas.microsoft.com/office/drawing/2014/main" id="{8E3AEBE8-5B2C-4F7B-8907-EA511218DE6D}"/>
              </a:ext>
            </a:extLst>
          </p:cNvPr>
          <p:cNvSpPr/>
          <p:nvPr/>
        </p:nvSpPr>
        <p:spPr bwMode="auto">
          <a:xfrm>
            <a:off x="1343948" y="2369574"/>
            <a:ext cx="7873637" cy="123133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" name="Rectángulo 3"/>
          <p:cNvSpPr/>
          <p:nvPr/>
        </p:nvSpPr>
        <p:spPr bwMode="auto">
          <a:xfrm>
            <a:off x="4691723" y="4247026"/>
            <a:ext cx="5539932" cy="156345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488514" y="2422113"/>
            <a:ext cx="7631112" cy="1088159"/>
            <a:chOff x="1005" y="1797"/>
            <a:chExt cx="4807" cy="754"/>
          </a:xfrm>
        </p:grpSpPr>
        <p:sp>
          <p:nvSpPr>
            <p:cNvPr id="3" name="Rectangle 5"/>
            <p:cNvSpPr>
              <a:spLocks noChangeArrowheads="1"/>
            </p:cNvSpPr>
            <p:nvPr/>
          </p:nvSpPr>
          <p:spPr bwMode="auto">
            <a:xfrm>
              <a:off x="5070" y="1797"/>
              <a:ext cx="742" cy="746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005" y="1805"/>
              <a:ext cx="446" cy="746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483335" name="Object 7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617068200"/>
              </p:ext>
            </p:extLst>
          </p:nvPr>
        </p:nvGraphicFramePr>
        <p:xfrm>
          <a:off x="1583764" y="2500087"/>
          <a:ext cx="7389812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3213100" imgH="444500" progId="Equation.3">
                  <p:embed/>
                </p:oleObj>
              </mc:Choice>
              <mc:Fallback>
                <p:oleObj name="Ecuación" r:id="rId3" imgW="3213100" imgH="444500" progId="Equation.3">
                  <p:embed/>
                  <p:pic>
                    <p:nvPicPr>
                      <p:cNvPr id="483335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3764" y="2500087"/>
                        <a:ext cx="7389812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upo 14">
            <a:extLst>
              <a:ext uri="{FF2B5EF4-FFF2-40B4-BE49-F238E27FC236}">
                <a16:creationId xmlns:a16="http://schemas.microsoft.com/office/drawing/2014/main" id="{F78298D0-22F5-4D50-8DD4-8C47BAA3965D}"/>
              </a:ext>
            </a:extLst>
          </p:cNvPr>
          <p:cNvGrpSpPr/>
          <p:nvPr/>
        </p:nvGrpSpPr>
        <p:grpSpPr>
          <a:xfrm>
            <a:off x="7111426" y="174984"/>
            <a:ext cx="3332770" cy="2305051"/>
            <a:chOff x="7111426" y="174984"/>
            <a:chExt cx="3332770" cy="2305051"/>
          </a:xfrm>
        </p:grpSpPr>
        <p:grpSp>
          <p:nvGrpSpPr>
            <p:cNvPr id="13361" name="Group 49"/>
            <p:cNvGrpSpPr>
              <a:grpSpLocks/>
            </p:cNvGrpSpPr>
            <p:nvPr/>
          </p:nvGrpSpPr>
          <p:grpSpPr bwMode="auto">
            <a:xfrm>
              <a:off x="7111426" y="174984"/>
              <a:ext cx="3332770" cy="2305051"/>
              <a:chOff x="3304" y="1672"/>
              <a:chExt cx="1779" cy="1452"/>
            </a:xfrm>
          </p:grpSpPr>
          <p:sp>
            <p:nvSpPr>
              <p:cNvPr id="13352" name="Line 9"/>
              <p:cNvSpPr>
                <a:spLocks noChangeShapeType="1"/>
              </p:cNvSpPr>
              <p:nvPr/>
            </p:nvSpPr>
            <p:spPr bwMode="auto">
              <a:xfrm flipV="1">
                <a:off x="3304" y="2331"/>
                <a:ext cx="132" cy="793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lIns="90000" tIns="82800" rIns="90000" bIns="82800">
                <a:spAutoFit/>
              </a:bodyPr>
              <a:lstStyle/>
              <a:p>
                <a:endParaRPr lang="es-ES" sz="2400"/>
              </a:p>
            </p:txBody>
          </p:sp>
          <p:sp>
            <p:nvSpPr>
              <p:cNvPr id="13353" name="Text Box 10"/>
              <p:cNvSpPr txBox="1">
                <a:spLocks noChangeArrowheads="1"/>
              </p:cNvSpPr>
              <p:nvPr/>
            </p:nvSpPr>
            <p:spPr bwMode="auto">
              <a:xfrm>
                <a:off x="3386" y="1672"/>
                <a:ext cx="1697" cy="5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Trabajo </a:t>
                </a: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del campo </a:t>
                </a:r>
                <a:r>
                  <a:rPr lang="es-ES" sz="240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o</a:t>
                </a:r>
              </a:p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por unidad de carga</a:t>
                </a:r>
              </a:p>
            </p:txBody>
          </p:sp>
        </p:grpSp>
        <p:sp>
          <p:nvSpPr>
            <p:cNvPr id="26" name="Text Box 10"/>
            <p:cNvSpPr txBox="1">
              <a:spLocks noChangeArrowheads="1"/>
            </p:cNvSpPr>
            <p:nvPr/>
          </p:nvSpPr>
          <p:spPr bwMode="auto">
            <a:xfrm>
              <a:off x="7482610" y="886448"/>
              <a:ext cx="2956556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(caída de potencial)</a:t>
              </a:r>
            </a:p>
          </p:txBody>
        </p:sp>
      </p:grpSp>
      <p:grpSp>
        <p:nvGrpSpPr>
          <p:cNvPr id="13" name="Grupo 12"/>
          <p:cNvGrpSpPr/>
          <p:nvPr/>
        </p:nvGrpSpPr>
        <p:grpSpPr>
          <a:xfrm>
            <a:off x="2629642" y="4998569"/>
            <a:ext cx="1224054" cy="536549"/>
            <a:chOff x="2666218" y="4242087"/>
            <a:chExt cx="1224054" cy="536549"/>
          </a:xfrm>
        </p:grpSpPr>
        <p:grpSp>
          <p:nvGrpSpPr>
            <p:cNvPr id="12" name="Grupo 11"/>
            <p:cNvGrpSpPr/>
            <p:nvPr/>
          </p:nvGrpSpPr>
          <p:grpSpPr>
            <a:xfrm>
              <a:off x="2666218" y="4242087"/>
              <a:ext cx="1224054" cy="536549"/>
              <a:chOff x="2666218" y="4242087"/>
              <a:chExt cx="1224054" cy="536549"/>
            </a:xfrm>
          </p:grpSpPr>
          <p:sp>
            <p:nvSpPr>
              <p:cNvPr id="13346" name="Line 56"/>
              <p:cNvSpPr>
                <a:spLocks noChangeShapeType="1"/>
              </p:cNvSpPr>
              <p:nvPr/>
            </p:nvSpPr>
            <p:spPr bwMode="auto">
              <a:xfrm flipH="1">
                <a:off x="2666218" y="4576911"/>
                <a:ext cx="360363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s-ES"/>
              </a:p>
            </p:txBody>
          </p:sp>
          <p:sp>
            <p:nvSpPr>
              <p:cNvPr id="13347" name="Text Box 46"/>
              <p:cNvSpPr txBox="1">
                <a:spLocks noChangeArrowheads="1"/>
              </p:cNvSpPr>
              <p:nvPr/>
            </p:nvSpPr>
            <p:spPr bwMode="auto">
              <a:xfrm>
                <a:off x="3088152" y="4242087"/>
                <a:ext cx="802120" cy="5365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s-ES" sz="2400" dirty="0">
                    <a:solidFill>
                      <a:srgbClr val="FF0000"/>
                    </a:solidFill>
                  </a:rPr>
                  <a:t>F</a:t>
                </a:r>
                <a:r>
                  <a:rPr lang="es-ES" sz="2400" baseline="-25000" dirty="0">
                    <a:solidFill>
                      <a:srgbClr val="FF0000"/>
                    </a:solidFill>
                  </a:rPr>
                  <a:t>ROZ</a:t>
                </a:r>
                <a:endParaRPr lang="es-ES" sz="24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0" name="Line 56"/>
            <p:cNvSpPr>
              <a:spLocks noChangeShapeType="1"/>
            </p:cNvSpPr>
            <p:nvPr/>
          </p:nvSpPr>
          <p:spPr bwMode="auto">
            <a:xfrm>
              <a:off x="3192927" y="4329466"/>
              <a:ext cx="179388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</p:grpSp>
      <p:grpSp>
        <p:nvGrpSpPr>
          <p:cNvPr id="14" name="Grupo 13"/>
          <p:cNvGrpSpPr/>
          <p:nvPr/>
        </p:nvGrpSpPr>
        <p:grpSpPr>
          <a:xfrm>
            <a:off x="1981455" y="4973222"/>
            <a:ext cx="904262" cy="643220"/>
            <a:chOff x="2018031" y="4197281"/>
            <a:chExt cx="904262" cy="643220"/>
          </a:xfrm>
        </p:grpSpPr>
        <p:sp>
          <p:nvSpPr>
            <p:cNvPr id="13341" name="Text Box 42"/>
            <p:cNvSpPr txBox="1">
              <a:spLocks noChangeArrowheads="1"/>
            </p:cNvSpPr>
            <p:nvPr/>
          </p:nvSpPr>
          <p:spPr bwMode="auto">
            <a:xfrm>
              <a:off x="2183627" y="4427062"/>
              <a:ext cx="318014" cy="413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1600">
                  <a:solidFill>
                    <a:srgbClr val="FF0000"/>
                  </a:solidFill>
                </a:rPr>
                <a:t>E</a:t>
              </a:r>
            </a:p>
          </p:txBody>
        </p:sp>
        <p:sp>
          <p:nvSpPr>
            <p:cNvPr id="13342" name="Line 56"/>
            <p:cNvSpPr>
              <a:spLocks noChangeShapeType="1"/>
            </p:cNvSpPr>
            <p:nvPr/>
          </p:nvSpPr>
          <p:spPr bwMode="auto">
            <a:xfrm>
              <a:off x="2561930" y="4367741"/>
              <a:ext cx="36036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13343" name="Line 56"/>
            <p:cNvSpPr>
              <a:spLocks noChangeShapeType="1"/>
            </p:cNvSpPr>
            <p:nvPr/>
          </p:nvSpPr>
          <p:spPr bwMode="auto">
            <a:xfrm>
              <a:off x="2142762" y="4292027"/>
              <a:ext cx="179388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13344" name="Text Box 52"/>
            <p:cNvSpPr txBox="1">
              <a:spLocks noChangeArrowheads="1"/>
            </p:cNvSpPr>
            <p:nvPr/>
          </p:nvSpPr>
          <p:spPr bwMode="auto">
            <a:xfrm>
              <a:off x="2018031" y="4197281"/>
              <a:ext cx="369310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>
                  <a:solidFill>
                    <a:srgbClr val="FF0000"/>
                  </a:solidFill>
                </a:rPr>
                <a:t>F</a:t>
              </a:r>
            </a:p>
          </p:txBody>
        </p:sp>
        <p:sp>
          <p:nvSpPr>
            <p:cNvPr id="13345" name="Line 56"/>
            <p:cNvSpPr>
              <a:spLocks noChangeShapeType="1"/>
            </p:cNvSpPr>
            <p:nvPr/>
          </p:nvSpPr>
          <p:spPr bwMode="auto">
            <a:xfrm>
              <a:off x="2322150" y="4496520"/>
              <a:ext cx="107950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</p:grpSp>
      <p:grpSp>
        <p:nvGrpSpPr>
          <p:cNvPr id="11" name="Grupo 10"/>
          <p:cNvGrpSpPr/>
          <p:nvPr/>
        </p:nvGrpSpPr>
        <p:grpSpPr>
          <a:xfrm>
            <a:off x="1528699" y="4066180"/>
            <a:ext cx="2462212" cy="954982"/>
            <a:chOff x="1565275" y="3192962"/>
            <a:chExt cx="2462212" cy="954982"/>
          </a:xfrm>
        </p:grpSpPr>
        <p:sp>
          <p:nvSpPr>
            <p:cNvPr id="8" name="Line 30"/>
            <p:cNvSpPr>
              <a:spLocks noChangeShapeType="1"/>
            </p:cNvSpPr>
            <p:nvPr/>
          </p:nvSpPr>
          <p:spPr bwMode="auto">
            <a:xfrm rot="5400000" flipV="1">
              <a:off x="2811459" y="2725381"/>
              <a:ext cx="9532" cy="242252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13331" name="Text Box 31"/>
            <p:cNvSpPr txBox="1">
              <a:spLocks noChangeArrowheads="1"/>
            </p:cNvSpPr>
            <p:nvPr/>
          </p:nvSpPr>
          <p:spPr bwMode="auto">
            <a:xfrm>
              <a:off x="1565275" y="3356759"/>
              <a:ext cx="319088" cy="592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13332" name="Line 32"/>
            <p:cNvSpPr>
              <a:spLocks noChangeShapeType="1"/>
            </p:cNvSpPr>
            <p:nvPr/>
          </p:nvSpPr>
          <p:spPr bwMode="auto">
            <a:xfrm flipV="1">
              <a:off x="1954213" y="3917579"/>
              <a:ext cx="144463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13333" name="Text Box 33"/>
            <p:cNvSpPr txBox="1">
              <a:spLocks noChangeArrowheads="1"/>
            </p:cNvSpPr>
            <p:nvPr/>
          </p:nvSpPr>
          <p:spPr bwMode="auto">
            <a:xfrm>
              <a:off x="2716697" y="3192962"/>
              <a:ext cx="319088" cy="592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sp>
          <p:nvSpPr>
            <p:cNvPr id="13334" name="Line 34"/>
            <p:cNvSpPr>
              <a:spLocks noChangeShapeType="1"/>
            </p:cNvSpPr>
            <p:nvPr/>
          </p:nvSpPr>
          <p:spPr bwMode="auto">
            <a:xfrm flipV="1">
              <a:off x="3709988" y="3938233"/>
              <a:ext cx="144463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13335" name="Rectangle 40"/>
            <p:cNvSpPr>
              <a:spLocks noChangeArrowheads="1"/>
            </p:cNvSpPr>
            <p:nvPr/>
          </p:nvSpPr>
          <p:spPr bwMode="auto">
            <a:xfrm>
              <a:off x="2255838" y="3725343"/>
              <a:ext cx="1233488" cy="422601"/>
            </a:xfrm>
            <a:prstGeom prst="rect">
              <a:avLst/>
            </a:prstGeom>
            <a:solidFill>
              <a:srgbClr val="EDE7E3"/>
            </a:solidFill>
            <a:ln w="38100" algn="ctr">
              <a:solidFill>
                <a:srgbClr val="3333FF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endParaRPr lang="es-ES"/>
            </a:p>
          </p:txBody>
        </p:sp>
        <p:sp>
          <p:nvSpPr>
            <p:cNvPr id="13336" name="Line 56"/>
            <p:cNvSpPr>
              <a:spLocks noChangeShapeType="1"/>
            </p:cNvSpPr>
            <p:nvPr/>
          </p:nvSpPr>
          <p:spPr bwMode="auto">
            <a:xfrm>
              <a:off x="2830999" y="3934532"/>
              <a:ext cx="360363" cy="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13337" name="Text Box 31"/>
            <p:cNvSpPr txBox="1">
              <a:spLocks noChangeArrowheads="1"/>
            </p:cNvSpPr>
            <p:nvPr/>
          </p:nvSpPr>
          <p:spPr bwMode="auto">
            <a:xfrm>
              <a:off x="3657600" y="3372646"/>
              <a:ext cx="319088" cy="592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pic>
          <p:nvPicPr>
            <p:cNvPr id="13340" name="Picture 12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6202" y="3786811"/>
              <a:ext cx="300347" cy="3007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Grupo 8"/>
          <p:cNvGrpSpPr>
            <a:grpSpLocks/>
          </p:cNvGrpSpPr>
          <p:nvPr/>
        </p:nvGrpSpPr>
        <p:grpSpPr bwMode="auto">
          <a:xfrm>
            <a:off x="2465066" y="1763897"/>
            <a:ext cx="1655453" cy="753216"/>
            <a:chOff x="3064653" y="3280240"/>
            <a:chExt cx="1655295" cy="753331"/>
          </a:xfrm>
        </p:grpSpPr>
        <p:sp>
          <p:nvSpPr>
            <p:cNvPr id="13328" name="CuadroTexto 7"/>
            <p:cNvSpPr txBox="1">
              <a:spLocks noChangeArrowheads="1"/>
            </p:cNvSpPr>
            <p:nvPr/>
          </p:nvSpPr>
          <p:spPr bwMode="auto">
            <a:xfrm>
              <a:off x="3064653" y="3280240"/>
              <a:ext cx="1655295" cy="461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 err="1">
                  <a:solidFill>
                    <a:srgbClr val="FF0000"/>
                  </a:solidFill>
                </a:rPr>
                <a:t>dW</a:t>
              </a:r>
              <a:r>
                <a:rPr lang="es-ES" sz="2400" baseline="-25000" dirty="0" err="1">
                  <a:solidFill>
                    <a:srgbClr val="FF0000"/>
                  </a:solidFill>
                </a:rPr>
                <a:t>rozamiento</a:t>
              </a:r>
              <a:endParaRPr lang="es-ES" sz="2400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3329" name="Line 9"/>
            <p:cNvSpPr>
              <a:spLocks noChangeShapeType="1"/>
            </p:cNvSpPr>
            <p:nvPr/>
          </p:nvSpPr>
          <p:spPr bwMode="auto">
            <a:xfrm flipV="1">
              <a:off x="3461991" y="3745527"/>
              <a:ext cx="0" cy="2880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s-ES" sz="2400"/>
            </a:p>
          </p:txBody>
        </p:sp>
      </p:grpSp>
      <p:sp>
        <p:nvSpPr>
          <p:cNvPr id="43" name="Text Box 4"/>
          <p:cNvSpPr txBox="1">
            <a:spLocks noChangeArrowheads="1"/>
          </p:cNvSpPr>
          <p:nvPr/>
        </p:nvSpPr>
        <p:spPr bwMode="auto">
          <a:xfrm>
            <a:off x="1444853" y="456315"/>
            <a:ext cx="3452008" cy="514738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non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POTENCIA Resistencia</a:t>
            </a:r>
          </a:p>
        </p:txBody>
      </p:sp>
      <p:grpSp>
        <p:nvGrpSpPr>
          <p:cNvPr id="48" name="Grupo 47"/>
          <p:cNvGrpSpPr>
            <a:grpSpLocks/>
          </p:cNvGrpSpPr>
          <p:nvPr/>
        </p:nvGrpSpPr>
        <p:grpSpPr bwMode="auto">
          <a:xfrm>
            <a:off x="5061980" y="1058511"/>
            <a:ext cx="2083674" cy="1492109"/>
            <a:chOff x="3985688" y="814192"/>
            <a:chExt cx="2083477" cy="1492346"/>
          </a:xfrm>
        </p:grpSpPr>
        <p:sp>
          <p:nvSpPr>
            <p:cNvPr id="49" name="CuadroTexto 7"/>
            <p:cNvSpPr txBox="1">
              <a:spLocks noChangeArrowheads="1"/>
            </p:cNvSpPr>
            <p:nvPr/>
          </p:nvSpPr>
          <p:spPr bwMode="auto">
            <a:xfrm>
              <a:off x="3985688" y="814192"/>
              <a:ext cx="2083477" cy="1200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>
                  <a:solidFill>
                    <a:srgbClr val="FF0000"/>
                  </a:solidFill>
                </a:rPr>
                <a:t>Para vencer rozamiento y producir </a:t>
              </a:r>
              <a:r>
                <a:rPr lang="es-ES" sz="24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I</a:t>
              </a:r>
              <a:endParaRPr lang="es-ES" sz="2400" baseline="-25000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0" name="Line 9"/>
            <p:cNvSpPr>
              <a:spLocks noChangeShapeType="1"/>
            </p:cNvSpPr>
            <p:nvPr/>
          </p:nvSpPr>
          <p:spPr bwMode="auto">
            <a:xfrm flipV="1">
              <a:off x="4110627" y="2018492"/>
              <a:ext cx="0" cy="28804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s-ES" sz="2400" dirty="0"/>
            </a:p>
          </p:txBody>
        </p:sp>
      </p:grpSp>
      <p:grpSp>
        <p:nvGrpSpPr>
          <p:cNvPr id="16" name="Grupo 15"/>
          <p:cNvGrpSpPr/>
          <p:nvPr/>
        </p:nvGrpSpPr>
        <p:grpSpPr>
          <a:xfrm>
            <a:off x="4760419" y="4219367"/>
            <a:ext cx="5368562" cy="1347916"/>
            <a:chOff x="4760419" y="3176585"/>
            <a:chExt cx="5368562" cy="1347916"/>
          </a:xfrm>
        </p:grpSpPr>
        <p:sp>
          <p:nvSpPr>
            <p:cNvPr id="13325" name="Text Box 20"/>
            <p:cNvSpPr txBox="1">
              <a:spLocks noChangeArrowheads="1"/>
            </p:cNvSpPr>
            <p:nvPr/>
          </p:nvSpPr>
          <p:spPr bwMode="auto">
            <a:xfrm>
              <a:off x="4760419" y="3176585"/>
              <a:ext cx="5368562" cy="1347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118800" rIns="90000" bIns="118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En cada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tramo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de </a:t>
              </a:r>
              <a:r>
                <a:rPr lang="es-ES" sz="2400" dirty="0">
                  <a:latin typeface="Arial" panose="020B0604020202020204" pitchFamily="34" charset="0"/>
                </a:rPr>
                <a:t>R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:   E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P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   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      E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C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           </a:t>
              </a:r>
              <a:r>
                <a:rPr lang="es-ES" sz="2400" dirty="0" err="1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E</a:t>
              </a:r>
              <a:r>
                <a:rPr lang="es-ES" sz="2400" baseline="-25000" dirty="0" err="1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Térmica</a:t>
              </a:r>
              <a:endPara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1" name="Text Box 20"/>
            <p:cNvSpPr txBox="1">
              <a:spLocks noChangeArrowheads="1"/>
            </p:cNvSpPr>
            <p:nvPr/>
          </p:nvSpPr>
          <p:spPr bwMode="auto">
            <a:xfrm>
              <a:off x="6049524" y="3520297"/>
              <a:ext cx="3235479" cy="609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118800" rIns="90000" bIns="118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W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Eléctrico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      W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Rozamiento</a:t>
              </a: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1538710" y="4781511"/>
            <a:ext cx="2435323" cy="1263061"/>
            <a:chOff x="1538710" y="3571409"/>
            <a:chExt cx="2435323" cy="1263061"/>
          </a:xfrm>
        </p:grpSpPr>
        <p:sp>
          <p:nvSpPr>
            <p:cNvPr id="54" name="Line 30"/>
            <p:cNvSpPr>
              <a:spLocks noChangeShapeType="1"/>
            </p:cNvSpPr>
            <p:nvPr/>
          </p:nvSpPr>
          <p:spPr bwMode="auto">
            <a:xfrm rot="5400000" flipV="1">
              <a:off x="2745207" y="3378783"/>
              <a:ext cx="9532" cy="242252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52" name="Text Box 31"/>
            <p:cNvSpPr txBox="1">
              <a:spLocks noChangeArrowheads="1"/>
            </p:cNvSpPr>
            <p:nvPr/>
          </p:nvSpPr>
          <p:spPr bwMode="auto">
            <a:xfrm>
              <a:off x="2635713" y="4336811"/>
              <a:ext cx="350997" cy="497659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V</a:t>
              </a:r>
            </a:p>
          </p:txBody>
        </p:sp>
        <p:sp>
          <p:nvSpPr>
            <p:cNvPr id="58" name="Line 30"/>
            <p:cNvSpPr>
              <a:spLocks noChangeShapeType="1"/>
            </p:cNvSpPr>
            <p:nvPr/>
          </p:nvSpPr>
          <p:spPr bwMode="auto">
            <a:xfrm rot="10800000" flipV="1">
              <a:off x="1550161" y="3571409"/>
              <a:ext cx="9532" cy="102738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sp>
          <p:nvSpPr>
            <p:cNvPr id="59" name="Line 30"/>
            <p:cNvSpPr>
              <a:spLocks noChangeShapeType="1"/>
            </p:cNvSpPr>
            <p:nvPr/>
          </p:nvSpPr>
          <p:spPr bwMode="auto">
            <a:xfrm rot="10800000" flipV="1">
              <a:off x="3964501" y="3589059"/>
              <a:ext cx="9532" cy="102738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FB6352EE-4E5A-4CEB-BE13-DA38B47CA6FC}"/>
              </a:ext>
            </a:extLst>
          </p:cNvPr>
          <p:cNvGrpSpPr/>
          <p:nvPr/>
        </p:nvGrpSpPr>
        <p:grpSpPr>
          <a:xfrm>
            <a:off x="7573858" y="1394576"/>
            <a:ext cx="2721582" cy="1085392"/>
            <a:chOff x="7573858" y="1394576"/>
            <a:chExt cx="2721582" cy="1085392"/>
          </a:xfrm>
        </p:grpSpPr>
        <p:sp>
          <p:nvSpPr>
            <p:cNvPr id="53" name="Text Box 11">
              <a:extLst>
                <a:ext uri="{FF2B5EF4-FFF2-40B4-BE49-F238E27FC236}">
                  <a16:creationId xmlns:a16="http://schemas.microsoft.com/office/drawing/2014/main" id="{F6F84C03-7B00-4CDF-82C3-BDB3CC1409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7866" y="1394576"/>
              <a:ext cx="2477574" cy="884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108000" tIns="72000" rIns="108000" bIns="720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Carga que cruza R durante </a:t>
              </a:r>
              <a:r>
                <a:rPr lang="es-ES" sz="24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dt</a:t>
              </a:r>
              <a:endParaRPr lang="es-ES" sz="24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91341993-81C4-43B7-AE7F-6327DB7BA3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3858" y="2155178"/>
              <a:ext cx="244006" cy="32479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s-ES" sz="2400" dirty="0"/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EA7173D6-916B-4210-B82A-27F02FC0CB99}"/>
              </a:ext>
            </a:extLst>
          </p:cNvPr>
          <p:cNvGrpSpPr/>
          <p:nvPr/>
        </p:nvGrpSpPr>
        <p:grpSpPr>
          <a:xfrm>
            <a:off x="4745919" y="5563501"/>
            <a:ext cx="5485735" cy="1264256"/>
            <a:chOff x="4745919" y="5563501"/>
            <a:chExt cx="5485735" cy="1264256"/>
          </a:xfrm>
        </p:grpSpPr>
        <p:sp>
          <p:nvSpPr>
            <p:cNvPr id="7" name="CuadroTexto 6"/>
            <p:cNvSpPr txBox="1"/>
            <p:nvPr/>
          </p:nvSpPr>
          <p:spPr>
            <a:xfrm>
              <a:off x="4745919" y="5996760"/>
              <a:ext cx="54857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>
                  <a:solidFill>
                    <a:srgbClr val="FF0000"/>
                  </a:solidFill>
                </a:rPr>
                <a:t>Se transforma toda: Es lo que  pasa al caer de un edificio con un paracaídas</a:t>
              </a:r>
              <a:endParaRPr lang="es-ES" sz="2400" dirty="0">
                <a:solidFill>
                  <a:srgbClr val="FF0000"/>
                </a:solidFill>
              </a:endParaRPr>
            </a:p>
          </p:txBody>
        </p:sp>
        <p:sp>
          <p:nvSpPr>
            <p:cNvPr id="57" name="Line 9">
              <a:extLst>
                <a:ext uri="{FF2B5EF4-FFF2-40B4-BE49-F238E27FC236}">
                  <a16:creationId xmlns:a16="http://schemas.microsoft.com/office/drawing/2014/main" id="{0663399F-A8A9-4E68-867B-C03DAD76E1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63283" y="5563501"/>
              <a:ext cx="0" cy="43344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s-ES" sz="2400"/>
            </a:p>
          </p:txBody>
        </p:sp>
      </p:grpSp>
      <p:sp>
        <p:nvSpPr>
          <p:cNvPr id="60" name="CuadroTexto 7">
            <a:extLst>
              <a:ext uri="{FF2B5EF4-FFF2-40B4-BE49-F238E27FC236}">
                <a16:creationId xmlns:a16="http://schemas.microsoft.com/office/drawing/2014/main" id="{B63A8830-F8CA-49F8-8115-3803866B9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4077" y="958555"/>
            <a:ext cx="304256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dirty="0">
                <a:solidFill>
                  <a:srgbClr val="FF0000"/>
                </a:solidFill>
              </a:rPr>
              <a:t>(de un conductor caracterizado por su R)</a:t>
            </a:r>
            <a:endParaRPr lang="es-ES" baseline="-250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1" name="Text Box 31">
            <a:extLst>
              <a:ext uri="{FF2B5EF4-FFF2-40B4-BE49-F238E27FC236}">
                <a16:creationId xmlns:a16="http://schemas.microsoft.com/office/drawing/2014/main" id="{E4F40024-3116-4188-8C7C-C5913B302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0765" y="5732074"/>
            <a:ext cx="319088" cy="497659"/>
          </a:xfrm>
          <a:prstGeom prst="rect">
            <a:avLst/>
          </a:prstGeom>
          <a:noFill/>
          <a:ln>
            <a:noFill/>
          </a:ln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3333FF"/>
                </a:solidFill>
                <a:latin typeface="Comic Sans MS" panose="030F0702030302020204" pitchFamily="66" charset="0"/>
              </a:rPr>
              <a:t>+   -</a:t>
            </a:r>
          </a:p>
        </p:txBody>
      </p:sp>
      <p:sp>
        <p:nvSpPr>
          <p:cNvPr id="62" name="Text Box 46">
            <a:extLst>
              <a:ext uri="{FF2B5EF4-FFF2-40B4-BE49-F238E27FC236}">
                <a16:creationId xmlns:a16="http://schemas.microsoft.com/office/drawing/2014/main" id="{8AD8795C-849A-47F5-B557-6F7644F07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856" y="6192104"/>
            <a:ext cx="3127116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rgbClr val="FF0000"/>
                </a:solidFill>
              </a:rPr>
              <a:t>W</a:t>
            </a:r>
            <a:r>
              <a:rPr lang="es-ES" sz="2400" b="1" baseline="-25000" dirty="0">
                <a:solidFill>
                  <a:srgbClr val="FF0000"/>
                </a:solidFill>
              </a:rPr>
              <a:t>E</a:t>
            </a:r>
            <a:r>
              <a:rPr lang="es-ES" sz="2400" dirty="0">
                <a:solidFill>
                  <a:srgbClr val="FF0000"/>
                </a:solidFill>
              </a:rPr>
              <a:t> = -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V = V</a:t>
            </a:r>
            <a:r>
              <a:rPr lang="es-ES" sz="2400" baseline="30000" dirty="0">
                <a:solidFill>
                  <a:srgbClr val="FF0000"/>
                </a:solidFill>
                <a:sym typeface="Symbol" panose="05050102010706020507" pitchFamily="18" charset="2"/>
              </a:rPr>
              <a:t>+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-V</a:t>
            </a:r>
            <a:r>
              <a:rPr lang="es-ES" sz="2400" baseline="30000" dirty="0">
                <a:solidFill>
                  <a:srgbClr val="FF0000"/>
                </a:solidFill>
                <a:sym typeface="Symbol" panose="05050102010706020507" pitchFamily="18" charset="2"/>
              </a:rPr>
              <a:t>-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 = V</a:t>
            </a:r>
            <a:endParaRPr lang="es-E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624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8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4" grpId="0" animBg="1"/>
      <p:bldP spid="43" grpId="0" animBg="1"/>
      <p:bldP spid="60" grpId="0"/>
      <p:bldP spid="61" grpId="0"/>
      <p:bldP spid="6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Box 14">
            <a:extLst>
              <a:ext uri="{FF2B5EF4-FFF2-40B4-BE49-F238E27FC236}">
                <a16:creationId xmlns:a16="http://schemas.microsoft.com/office/drawing/2014/main" id="{3A7875B5-0830-46C9-9E68-2785E2AED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1735" y="6267931"/>
            <a:ext cx="2670718" cy="514738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y siendo </a:t>
            </a:r>
            <a:r>
              <a:rPr lang="es-ES" sz="2400" dirty="0">
                <a:latin typeface="Comic Sans MS" panose="030F0702030302020204" pitchFamily="66" charset="0"/>
              </a:rPr>
              <a:t>V = RI</a:t>
            </a:r>
            <a:endParaRPr lang="es-ES" sz="2400" dirty="0">
              <a:solidFill>
                <a:srgbClr val="000000"/>
              </a:solidFill>
            </a:endParaRPr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8EBB5EB7-9322-47A0-AFFF-0CD8632E18E1}"/>
              </a:ext>
            </a:extLst>
          </p:cNvPr>
          <p:cNvGrpSpPr/>
          <p:nvPr/>
        </p:nvGrpSpPr>
        <p:grpSpPr>
          <a:xfrm>
            <a:off x="4782177" y="5520044"/>
            <a:ext cx="3854450" cy="1241425"/>
            <a:chOff x="6188075" y="5624936"/>
            <a:chExt cx="3854450" cy="1241425"/>
          </a:xfrm>
        </p:grpSpPr>
        <p:sp>
          <p:nvSpPr>
            <p:cNvPr id="63" name="Rectangle 16">
              <a:extLst>
                <a:ext uri="{FF2B5EF4-FFF2-40B4-BE49-F238E27FC236}">
                  <a16:creationId xmlns:a16="http://schemas.microsoft.com/office/drawing/2014/main" id="{71BC19CA-1933-4231-8A8F-9AA83E698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8075" y="5624936"/>
              <a:ext cx="3854450" cy="1241425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64" name="Object 17">
              <a:extLst>
                <a:ext uri="{FF2B5EF4-FFF2-40B4-BE49-F238E27FC236}">
                  <a16:creationId xmlns:a16="http://schemas.microsoft.com/office/drawing/2014/main" id="{BAAE53C9-9E8E-43C2-A6BA-15D7EF902F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80163" y="5688436"/>
            <a:ext cx="3465513" cy="1100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358310" imgH="431613" progId="Equation.3">
                    <p:embed/>
                  </p:oleObj>
                </mc:Choice>
                <mc:Fallback>
                  <p:oleObj name="Ecuación" r:id="rId3" imgW="1358310" imgH="431613" progId="Equation.3">
                    <p:embed/>
                    <p:pic>
                      <p:nvPicPr>
                        <p:cNvPr id="62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80163" y="5688436"/>
                          <a:ext cx="3465513" cy="1100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" name="Flecha derecha 63">
            <a:extLst>
              <a:ext uri="{FF2B5EF4-FFF2-40B4-BE49-F238E27FC236}">
                <a16:creationId xmlns:a16="http://schemas.microsoft.com/office/drawing/2014/main" id="{B6C43410-1FA1-4A07-A4CC-2CD9499FB2F9}"/>
              </a:ext>
            </a:extLst>
          </p:cNvPr>
          <p:cNvSpPr/>
          <p:nvPr/>
        </p:nvSpPr>
        <p:spPr bwMode="auto">
          <a:xfrm>
            <a:off x="4199780" y="5948705"/>
            <a:ext cx="421481" cy="421103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6" name="Text Box 18">
            <a:extLst>
              <a:ext uri="{FF2B5EF4-FFF2-40B4-BE49-F238E27FC236}">
                <a16:creationId xmlns:a16="http://schemas.microsoft.com/office/drawing/2014/main" id="{DF1E26DD-9B70-49C3-B632-AFBBB3729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7024" y="5723432"/>
            <a:ext cx="1394260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Ley de Joule</a:t>
            </a:r>
          </a:p>
        </p:txBody>
      </p:sp>
      <p:sp>
        <p:nvSpPr>
          <p:cNvPr id="67" name="Text Box 12">
            <a:extLst>
              <a:ext uri="{FF2B5EF4-FFF2-40B4-BE49-F238E27FC236}">
                <a16:creationId xmlns:a16="http://schemas.microsoft.com/office/drawing/2014/main" id="{8F36F0E5-BE19-4549-930C-8957D584E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4711" y="4769744"/>
            <a:ext cx="846962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latin typeface="Arial" panose="020B0604020202020204" pitchFamily="34" charset="0"/>
              </a:rPr>
              <a:t>Se dice que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disipa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energía </a:t>
            </a:r>
            <a:r>
              <a:rPr lang="es-ES" sz="2400">
                <a:latin typeface="Arial" panose="020B0604020202020204" pitchFamily="34" charset="0"/>
              </a:rPr>
              <a:t>(se reparte </a:t>
            </a:r>
            <a:r>
              <a:rPr lang="es-ES" sz="2400" dirty="0">
                <a:latin typeface="Arial" panose="020B0604020202020204" pitchFamily="34" charset="0"/>
              </a:rPr>
              <a:t>entre moléculas)</a:t>
            </a:r>
          </a:p>
        </p:txBody>
      </p:sp>
      <p:grpSp>
        <p:nvGrpSpPr>
          <p:cNvPr id="69" name="Grupo 68">
            <a:extLst>
              <a:ext uri="{FF2B5EF4-FFF2-40B4-BE49-F238E27FC236}">
                <a16:creationId xmlns:a16="http://schemas.microsoft.com/office/drawing/2014/main" id="{D4D89E5D-C468-4F69-AE4A-46B5DD56694D}"/>
              </a:ext>
            </a:extLst>
          </p:cNvPr>
          <p:cNvGrpSpPr/>
          <p:nvPr/>
        </p:nvGrpSpPr>
        <p:grpSpPr>
          <a:xfrm>
            <a:off x="1442270" y="4051561"/>
            <a:ext cx="409575" cy="517138"/>
            <a:chOff x="1491430" y="2674034"/>
            <a:chExt cx="409575" cy="625739"/>
          </a:xfrm>
        </p:grpSpPr>
        <p:sp>
          <p:nvSpPr>
            <p:cNvPr id="70" name="Rectangle 59">
              <a:extLst>
                <a:ext uri="{FF2B5EF4-FFF2-40B4-BE49-F238E27FC236}">
                  <a16:creationId xmlns:a16="http://schemas.microsoft.com/office/drawing/2014/main" id="{EBD5BDA9-D200-42CF-8F1B-A587BC88A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1430" y="2721763"/>
              <a:ext cx="409575" cy="57801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108000" tIns="72000" rIns="108000" bIns="720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ts val="0"/>
                </a:spcBef>
              </a:pPr>
              <a:endParaRPr lang="es-ES" sz="2400"/>
            </a:p>
          </p:txBody>
        </p:sp>
        <p:sp>
          <p:nvSpPr>
            <p:cNvPr id="71" name="Text Box 24">
              <a:extLst>
                <a:ext uri="{FF2B5EF4-FFF2-40B4-BE49-F238E27FC236}">
                  <a16:creationId xmlns:a16="http://schemas.microsoft.com/office/drawing/2014/main" id="{65AA9A5C-3B43-4BCD-975B-B3B134AF33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3872" y="2674034"/>
              <a:ext cx="347974" cy="51473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108000" tIns="72000" rIns="108000" bIns="720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b="1" dirty="0">
                  <a:latin typeface="Arial" panose="020B0604020202020204" pitchFamily="34" charset="0"/>
                </a:rPr>
                <a:t>-</a:t>
              </a:r>
              <a:endParaRPr lang="es-ES" sz="2400" dirty="0">
                <a:latin typeface="Arial" panose="020B0604020202020204" pitchFamily="34" charset="0"/>
              </a:endParaRPr>
            </a:p>
          </p:txBody>
        </p:sp>
      </p:grpSp>
      <p:sp>
        <p:nvSpPr>
          <p:cNvPr id="72" name="Text Box 11">
            <a:extLst>
              <a:ext uri="{FF2B5EF4-FFF2-40B4-BE49-F238E27FC236}">
                <a16:creationId xmlns:a16="http://schemas.microsoft.com/office/drawing/2014/main" id="{12AF4FC5-F0A3-44B5-85AC-5377AB834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4593" y="4008240"/>
            <a:ext cx="3046852" cy="62283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R consume </a:t>
            </a:r>
            <a:r>
              <a:rPr lang="es-ES" sz="2400" dirty="0" err="1">
                <a:latin typeface="Arial" panose="020B0604020202020204" pitchFamily="34" charset="0"/>
              </a:rPr>
              <a:t>E</a:t>
            </a:r>
            <a:r>
              <a:rPr lang="es-ES" sz="2400" baseline="-25000" dirty="0" err="1">
                <a:latin typeface="Arial" panose="020B0604020202020204" pitchFamily="34" charset="0"/>
              </a:rPr>
              <a:t>Peléctrica</a:t>
            </a:r>
            <a:endParaRPr lang="es-ES" sz="2400" baseline="-25000" dirty="0">
              <a:latin typeface="Arial" panose="020B0604020202020204" pitchFamily="34" charset="0"/>
            </a:endParaRPr>
          </a:p>
        </p:txBody>
      </p:sp>
      <p:sp>
        <p:nvSpPr>
          <p:cNvPr id="73" name="Text Box 24">
            <a:extLst>
              <a:ext uri="{FF2B5EF4-FFF2-40B4-BE49-F238E27FC236}">
                <a16:creationId xmlns:a16="http://schemas.microsoft.com/office/drawing/2014/main" id="{95A354BA-1415-4014-87C4-0F85803A7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267" y="4068282"/>
            <a:ext cx="1055262" cy="5147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W &lt; 0</a:t>
            </a:r>
          </a:p>
        </p:txBody>
      </p:sp>
      <p:sp>
        <p:nvSpPr>
          <p:cNvPr id="74" name="Text Box 14">
            <a:extLst>
              <a:ext uri="{FF2B5EF4-FFF2-40B4-BE49-F238E27FC236}">
                <a16:creationId xmlns:a16="http://schemas.microsoft.com/office/drawing/2014/main" id="{180E0ADD-3DA0-43B7-B6D6-E33ECCDAE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522" y="5487159"/>
            <a:ext cx="2926384" cy="884070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P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se suele tomar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positiva</a:t>
            </a:r>
            <a:endParaRPr lang="es-ES" sz="2400" dirty="0">
              <a:solidFill>
                <a:srgbClr val="00000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A1311DB-7956-D77E-92B5-0DA9C1DA2100}"/>
              </a:ext>
            </a:extLst>
          </p:cNvPr>
          <p:cNvSpPr/>
          <p:nvPr/>
        </p:nvSpPr>
        <p:spPr bwMode="auto">
          <a:xfrm>
            <a:off x="1343948" y="2369574"/>
            <a:ext cx="7873637" cy="123133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9027A600-5141-A5E5-306A-79F38D9BC957}"/>
              </a:ext>
            </a:extLst>
          </p:cNvPr>
          <p:cNvGrpSpPr>
            <a:grpSpLocks/>
          </p:cNvGrpSpPr>
          <p:nvPr/>
        </p:nvGrpSpPr>
        <p:grpSpPr bwMode="auto">
          <a:xfrm>
            <a:off x="1488514" y="2422113"/>
            <a:ext cx="7631112" cy="1088159"/>
            <a:chOff x="1005" y="1797"/>
            <a:chExt cx="4807" cy="754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EC761348-CF2D-26A6-AE34-346AC13B9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0" y="1797"/>
              <a:ext cx="742" cy="746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69032A3A-22BC-29FD-BBD4-7DFF7DA57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5" y="1805"/>
              <a:ext cx="446" cy="746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B7BB15E3-D21E-5B32-FE16-46DBA21446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518863"/>
              </p:ext>
            </p:extLst>
          </p:nvPr>
        </p:nvGraphicFramePr>
        <p:xfrm>
          <a:off x="1583764" y="2500087"/>
          <a:ext cx="7389812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3213100" imgH="444500" progId="Equation.3">
                  <p:embed/>
                </p:oleObj>
              </mc:Choice>
              <mc:Fallback>
                <p:oleObj name="Ecuación" r:id="rId5" imgW="3213100" imgH="444500" progId="Equation.3">
                  <p:embed/>
                  <p:pic>
                    <p:nvPicPr>
                      <p:cNvPr id="483335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3764" y="2500087"/>
                        <a:ext cx="7389812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upo 10">
            <a:extLst>
              <a:ext uri="{FF2B5EF4-FFF2-40B4-BE49-F238E27FC236}">
                <a16:creationId xmlns:a16="http://schemas.microsoft.com/office/drawing/2014/main" id="{4C6542A1-30C7-D6B7-885D-2274DF09342E}"/>
              </a:ext>
            </a:extLst>
          </p:cNvPr>
          <p:cNvGrpSpPr/>
          <p:nvPr/>
        </p:nvGrpSpPr>
        <p:grpSpPr>
          <a:xfrm>
            <a:off x="7111426" y="174984"/>
            <a:ext cx="3332770" cy="2305051"/>
            <a:chOff x="7111426" y="174984"/>
            <a:chExt cx="3332770" cy="2305051"/>
          </a:xfrm>
        </p:grpSpPr>
        <p:grpSp>
          <p:nvGrpSpPr>
            <p:cNvPr id="12" name="Group 49">
              <a:extLst>
                <a:ext uri="{FF2B5EF4-FFF2-40B4-BE49-F238E27FC236}">
                  <a16:creationId xmlns:a16="http://schemas.microsoft.com/office/drawing/2014/main" id="{68271D0E-5E64-77EB-B2ED-8FD67C6223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11426" y="174984"/>
              <a:ext cx="3332770" cy="2305051"/>
              <a:chOff x="3304" y="1672"/>
              <a:chExt cx="1779" cy="1452"/>
            </a:xfrm>
          </p:grpSpPr>
          <p:sp>
            <p:nvSpPr>
              <p:cNvPr id="14" name="Line 9">
                <a:extLst>
                  <a:ext uri="{FF2B5EF4-FFF2-40B4-BE49-F238E27FC236}">
                    <a16:creationId xmlns:a16="http://schemas.microsoft.com/office/drawing/2014/main" id="{90FF8FAA-B384-6789-6450-F29199D34B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04" y="2331"/>
                <a:ext cx="132" cy="793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lIns="90000" tIns="82800" rIns="90000" bIns="82800">
                <a:spAutoFit/>
              </a:bodyPr>
              <a:lstStyle/>
              <a:p>
                <a:endParaRPr lang="es-ES" sz="2400"/>
              </a:p>
            </p:txBody>
          </p:sp>
          <p:sp>
            <p:nvSpPr>
              <p:cNvPr id="15" name="Text Box 10">
                <a:extLst>
                  <a:ext uri="{FF2B5EF4-FFF2-40B4-BE49-F238E27FC236}">
                    <a16:creationId xmlns:a16="http://schemas.microsoft.com/office/drawing/2014/main" id="{B5BB8602-7981-4D35-E6AE-B55AFE9417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6" y="1672"/>
                <a:ext cx="1697" cy="5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Trabajo </a:t>
                </a: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del campo </a:t>
                </a:r>
                <a:r>
                  <a:rPr lang="es-ES" sz="240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o</a:t>
                </a:r>
              </a:p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por unidad de carga</a:t>
                </a:r>
              </a:p>
            </p:txBody>
          </p:sp>
        </p:grp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7972D8C4-4241-BD7D-7E5A-124EDFB775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2610" y="886448"/>
              <a:ext cx="2956556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(caída de potencial)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A761BFD8-4CDB-4C72-EEEB-C39901AAB42F}"/>
              </a:ext>
            </a:extLst>
          </p:cNvPr>
          <p:cNvGrpSpPr>
            <a:grpSpLocks/>
          </p:cNvGrpSpPr>
          <p:nvPr/>
        </p:nvGrpSpPr>
        <p:grpSpPr bwMode="auto">
          <a:xfrm>
            <a:off x="2465066" y="1763897"/>
            <a:ext cx="1655453" cy="753216"/>
            <a:chOff x="3064653" y="3280240"/>
            <a:chExt cx="1655295" cy="753331"/>
          </a:xfrm>
        </p:grpSpPr>
        <p:sp>
          <p:nvSpPr>
            <p:cNvPr id="17" name="CuadroTexto 7">
              <a:extLst>
                <a:ext uri="{FF2B5EF4-FFF2-40B4-BE49-F238E27FC236}">
                  <a16:creationId xmlns:a16="http://schemas.microsoft.com/office/drawing/2014/main" id="{51F630A0-AE9C-C158-39A5-9D359270C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4653" y="3280240"/>
              <a:ext cx="1655295" cy="461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 err="1">
                  <a:solidFill>
                    <a:srgbClr val="FF0000"/>
                  </a:solidFill>
                </a:rPr>
                <a:t>dW</a:t>
              </a:r>
              <a:r>
                <a:rPr lang="es-ES" sz="2400" baseline="-25000" dirty="0" err="1">
                  <a:solidFill>
                    <a:srgbClr val="FF0000"/>
                  </a:solidFill>
                </a:rPr>
                <a:t>rozamiento</a:t>
              </a:r>
              <a:endParaRPr lang="es-ES" sz="2400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8" name="Line 9">
              <a:extLst>
                <a:ext uri="{FF2B5EF4-FFF2-40B4-BE49-F238E27FC236}">
                  <a16:creationId xmlns:a16="http://schemas.microsoft.com/office/drawing/2014/main" id="{2CC02797-10CF-9403-F56E-A7B17BCDFF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1991" y="3745527"/>
              <a:ext cx="0" cy="2880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s-ES" sz="2400"/>
            </a:p>
          </p:txBody>
        </p:sp>
      </p:grpSp>
      <p:sp>
        <p:nvSpPr>
          <p:cNvPr id="19" name="Text Box 4">
            <a:extLst>
              <a:ext uri="{FF2B5EF4-FFF2-40B4-BE49-F238E27FC236}">
                <a16:creationId xmlns:a16="http://schemas.microsoft.com/office/drawing/2014/main" id="{85736E86-5A9E-075F-ACCC-136FFA655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853" y="456315"/>
            <a:ext cx="3452008" cy="514738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non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POTENCIA Resistencia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1A92E869-C5FC-CD06-55D4-9E0A5E78E343}"/>
              </a:ext>
            </a:extLst>
          </p:cNvPr>
          <p:cNvGrpSpPr>
            <a:grpSpLocks/>
          </p:cNvGrpSpPr>
          <p:nvPr/>
        </p:nvGrpSpPr>
        <p:grpSpPr bwMode="auto">
          <a:xfrm>
            <a:off x="5061980" y="1058511"/>
            <a:ext cx="2083674" cy="1492109"/>
            <a:chOff x="3985688" y="814192"/>
            <a:chExt cx="2083477" cy="1492346"/>
          </a:xfrm>
        </p:grpSpPr>
        <p:sp>
          <p:nvSpPr>
            <p:cNvPr id="21" name="CuadroTexto 7">
              <a:extLst>
                <a:ext uri="{FF2B5EF4-FFF2-40B4-BE49-F238E27FC236}">
                  <a16:creationId xmlns:a16="http://schemas.microsoft.com/office/drawing/2014/main" id="{9E4ED059-499E-31DF-C652-F8DC1BB157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5688" y="814192"/>
              <a:ext cx="2083477" cy="1200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>
                  <a:solidFill>
                    <a:srgbClr val="FF0000"/>
                  </a:solidFill>
                </a:rPr>
                <a:t>Para vencer rozamiento y producir </a:t>
              </a:r>
              <a:r>
                <a:rPr lang="es-ES" sz="24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I</a:t>
              </a:r>
              <a:endParaRPr lang="es-ES" sz="2400" baseline="-25000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2" name="Line 9">
              <a:extLst>
                <a:ext uri="{FF2B5EF4-FFF2-40B4-BE49-F238E27FC236}">
                  <a16:creationId xmlns:a16="http://schemas.microsoft.com/office/drawing/2014/main" id="{789AB577-2F21-D275-BA9F-81CE3E353A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10627" y="2018492"/>
              <a:ext cx="0" cy="28804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s-ES" sz="2400" dirty="0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FD40F71E-D084-FA09-B6B4-A30482739A4A}"/>
              </a:ext>
            </a:extLst>
          </p:cNvPr>
          <p:cNvGrpSpPr/>
          <p:nvPr/>
        </p:nvGrpSpPr>
        <p:grpSpPr>
          <a:xfrm>
            <a:off x="7573858" y="1394576"/>
            <a:ext cx="2721582" cy="1085392"/>
            <a:chOff x="7573858" y="1394576"/>
            <a:chExt cx="2721582" cy="1085392"/>
          </a:xfrm>
        </p:grpSpPr>
        <p:sp>
          <p:nvSpPr>
            <p:cNvPr id="24" name="Text Box 11">
              <a:extLst>
                <a:ext uri="{FF2B5EF4-FFF2-40B4-BE49-F238E27FC236}">
                  <a16:creationId xmlns:a16="http://schemas.microsoft.com/office/drawing/2014/main" id="{B599EAD4-5605-89B8-576E-500E443C6C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7866" y="1394576"/>
              <a:ext cx="2477574" cy="884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108000" tIns="72000" rIns="108000" bIns="720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Carga que cruza R durante </a:t>
              </a:r>
              <a:r>
                <a:rPr lang="es-ES" sz="24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dt</a:t>
              </a:r>
              <a:endParaRPr lang="es-ES" sz="24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74D11296-3D7E-5812-065F-A3313D3357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3858" y="2155178"/>
              <a:ext cx="244006" cy="32479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s-ES" sz="2400" dirty="0"/>
            </a:p>
          </p:txBody>
        </p:sp>
      </p:grpSp>
      <p:sp>
        <p:nvSpPr>
          <p:cNvPr id="26" name="CuadroTexto 7">
            <a:extLst>
              <a:ext uri="{FF2B5EF4-FFF2-40B4-BE49-F238E27FC236}">
                <a16:creationId xmlns:a16="http://schemas.microsoft.com/office/drawing/2014/main" id="{DDEF73AC-E21E-6CC1-2247-7DC9412D9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4077" y="958555"/>
            <a:ext cx="304256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dirty="0">
                <a:solidFill>
                  <a:srgbClr val="FF0000"/>
                </a:solidFill>
              </a:rPr>
              <a:t>(de un conductor caracterizado por su R)</a:t>
            </a:r>
            <a:endParaRPr lang="es-ES" baseline="-250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955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5" grpId="0" animBg="1"/>
      <p:bldP spid="66" grpId="0" animBg="1"/>
      <p:bldP spid="67" grpId="0"/>
      <p:bldP spid="72" grpId="0" animBg="1"/>
      <p:bldP spid="73" grpId="0" animBg="1"/>
      <p:bldP spid="7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4186267" y="2732138"/>
            <a:ext cx="3921125" cy="1112838"/>
            <a:chOff x="3747" y="1921"/>
            <a:chExt cx="2470" cy="701"/>
          </a:xfrm>
        </p:grpSpPr>
        <p:sp>
          <p:nvSpPr>
            <p:cNvPr id="15374" name="Rectangle 13"/>
            <p:cNvSpPr>
              <a:spLocks noChangeArrowheads="1"/>
            </p:cNvSpPr>
            <p:nvPr/>
          </p:nvSpPr>
          <p:spPr bwMode="auto">
            <a:xfrm>
              <a:off x="3747" y="1921"/>
              <a:ext cx="2470" cy="701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5375" name="Object 14"/>
            <p:cNvGraphicFramePr>
              <a:graphicFrameLocks noChangeAspect="1"/>
            </p:cNvGraphicFramePr>
            <p:nvPr/>
          </p:nvGraphicFramePr>
          <p:xfrm>
            <a:off x="3862" y="1996"/>
            <a:ext cx="2321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358310" imgH="342751" progId="Equation.3">
                    <p:embed/>
                  </p:oleObj>
                </mc:Choice>
                <mc:Fallback>
                  <p:oleObj name="Ecuación" r:id="rId3" imgW="1358310" imgH="342751" progId="Equation.3">
                    <p:embed/>
                    <p:pic>
                      <p:nvPicPr>
                        <p:cNvPr id="15375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2" y="1996"/>
                          <a:ext cx="2321" cy="5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7027" name="Text Box 19"/>
          <p:cNvSpPr txBox="1">
            <a:spLocks noChangeArrowheads="1"/>
          </p:cNvSpPr>
          <p:nvPr/>
        </p:nvSpPr>
        <p:spPr bwMode="auto">
          <a:xfrm>
            <a:off x="1147750" y="2572003"/>
            <a:ext cx="2883893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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Para un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conjunto de resistencias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427030" name="Text Box 22"/>
          <p:cNvSpPr txBox="1">
            <a:spLocks noChangeArrowheads="1"/>
          </p:cNvSpPr>
          <p:nvPr/>
        </p:nvSpPr>
        <p:spPr bwMode="auto">
          <a:xfrm>
            <a:off x="1285127" y="466883"/>
            <a:ext cx="782321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Como 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potencia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se suele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tomar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positiva</a:t>
            </a:r>
            <a:r>
              <a:rPr lang="es-ES" sz="2400">
                <a:latin typeface="Arial" panose="020B0604020202020204" pitchFamily="34" charset="0"/>
              </a:rPr>
              <a:t>, se tiene que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4193011" y="1216257"/>
            <a:ext cx="6469063" cy="1289050"/>
            <a:chOff x="2504" y="1021"/>
            <a:chExt cx="4075" cy="812"/>
          </a:xfrm>
        </p:grpSpPr>
        <p:sp>
          <p:nvSpPr>
            <p:cNvPr id="15372" name="Rectangle 24"/>
            <p:cNvSpPr>
              <a:spLocks noChangeArrowheads="1"/>
            </p:cNvSpPr>
            <p:nvPr/>
          </p:nvSpPr>
          <p:spPr bwMode="auto">
            <a:xfrm>
              <a:off x="2504" y="1021"/>
              <a:ext cx="4075" cy="812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5373" name="Object 25"/>
            <p:cNvGraphicFramePr>
              <a:graphicFrameLocks noChangeAspect="1"/>
            </p:cNvGraphicFramePr>
            <p:nvPr/>
          </p:nvGraphicFramePr>
          <p:xfrm>
            <a:off x="2561" y="1128"/>
            <a:ext cx="3959" cy="6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2133600" imgH="342900" progId="Equation.3">
                    <p:embed/>
                  </p:oleObj>
                </mc:Choice>
                <mc:Fallback>
                  <p:oleObj name="Ecuación" r:id="rId5" imgW="2133600" imgH="342900" progId="Equation.3">
                    <p:embed/>
                    <p:pic>
                      <p:nvPicPr>
                        <p:cNvPr id="15373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1" y="1128"/>
                          <a:ext cx="3959" cy="6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2254283" y="4866294"/>
            <a:ext cx="1498600" cy="1047750"/>
            <a:chOff x="4635" y="1834"/>
            <a:chExt cx="944" cy="660"/>
          </a:xfrm>
          <a:solidFill>
            <a:srgbClr val="99CCFF"/>
          </a:solidFill>
        </p:grpSpPr>
        <p:sp>
          <p:nvSpPr>
            <p:cNvPr id="15370" name="Rectangle 29"/>
            <p:cNvSpPr>
              <a:spLocks noChangeArrowheads="1"/>
            </p:cNvSpPr>
            <p:nvPr/>
          </p:nvSpPr>
          <p:spPr bwMode="auto">
            <a:xfrm>
              <a:off x="4635" y="1834"/>
              <a:ext cx="944" cy="6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5371" name="Object 30"/>
            <p:cNvGraphicFramePr>
              <a:graphicFrameLocks noChangeAspect="1"/>
            </p:cNvGraphicFramePr>
            <p:nvPr/>
          </p:nvGraphicFramePr>
          <p:xfrm>
            <a:off x="4719" y="1983"/>
            <a:ext cx="803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469900" imgH="228600" progId="Equation.3">
                    <p:embed/>
                  </p:oleObj>
                </mc:Choice>
                <mc:Fallback>
                  <p:oleObj name="Ecuación" r:id="rId7" imgW="469900" imgH="228600" progId="Equation.3">
                    <p:embed/>
                    <p:pic>
                      <p:nvPicPr>
                        <p:cNvPr id="15371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9" y="1983"/>
                          <a:ext cx="803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7039" name="Text Box 31"/>
          <p:cNvSpPr txBox="1">
            <a:spLocks noChangeArrowheads="1"/>
          </p:cNvSpPr>
          <p:nvPr/>
        </p:nvSpPr>
        <p:spPr bwMode="auto">
          <a:xfrm>
            <a:off x="1293151" y="3914527"/>
            <a:ext cx="7311834" cy="609252"/>
          </a:xfrm>
          <a:prstGeom prst="rect">
            <a:avLst/>
          </a:prstGeom>
          <a:noFill/>
          <a:ln>
            <a:noFill/>
          </a:ln>
        </p:spPr>
        <p:txBody>
          <a:bodyPr wrap="square" lIns="126000" tIns="118800" rIns="126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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Para un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circuito con resistencias y generadores</a:t>
            </a:r>
            <a:r>
              <a:rPr lang="es-ES" sz="2400"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5" name="CuadroTexto 4"/>
          <p:cNvSpPr txBox="1">
            <a:spLocks noChangeArrowheads="1"/>
          </p:cNvSpPr>
          <p:nvPr/>
        </p:nvSpPr>
        <p:spPr bwMode="auto">
          <a:xfrm>
            <a:off x="4185070" y="4789701"/>
            <a:ext cx="6046585" cy="12534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chemeClr val="tx1"/>
                </a:solidFill>
              </a:rPr>
              <a:t>En cada instante, la E</a:t>
            </a:r>
            <a:r>
              <a:rPr lang="es-ES" sz="2400" baseline="-25000">
                <a:solidFill>
                  <a:schemeClr val="tx1"/>
                </a:solidFill>
              </a:rPr>
              <a:t>Peléctrica</a:t>
            </a:r>
            <a:r>
              <a:rPr lang="es-ES" sz="2400">
                <a:solidFill>
                  <a:schemeClr val="tx1"/>
                </a:solidFill>
              </a:rPr>
              <a:t> que aportan</a:t>
            </a:r>
          </a:p>
          <a:p>
            <a:pPr algn="ctr"/>
            <a:r>
              <a:rPr lang="es-ES" sz="2400">
                <a:solidFill>
                  <a:schemeClr val="tx1"/>
                </a:solidFill>
              </a:rPr>
              <a:t>los generadores, netamente, es la misma</a:t>
            </a:r>
          </a:p>
          <a:p>
            <a:pPr algn="ctr"/>
            <a:r>
              <a:rPr lang="es-ES" sz="2400">
                <a:solidFill>
                  <a:schemeClr val="tx1"/>
                </a:solidFill>
              </a:rPr>
              <a:t>que se consume en las resistencias</a:t>
            </a:r>
          </a:p>
        </p:txBody>
      </p:sp>
      <p:sp>
        <p:nvSpPr>
          <p:cNvPr id="15" name="Text Box 22">
            <a:extLst>
              <a:ext uri="{FF2B5EF4-FFF2-40B4-BE49-F238E27FC236}">
                <a16:creationId xmlns:a16="http://schemas.microsoft.com/office/drawing/2014/main" id="{D381B38C-D787-4ED8-8392-37D2E4238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8676" y="1125236"/>
            <a:ext cx="2896201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 </a:t>
            </a:r>
            <a:r>
              <a:rPr lang="es-ES" sz="2400">
                <a:latin typeface="Arial" panose="020B0604020202020204" pitchFamily="34" charset="0"/>
              </a:rPr>
              <a:t>Para </a:t>
            </a:r>
            <a:r>
              <a:rPr lang="es-ES" sz="2400" dirty="0">
                <a:latin typeface="Arial" panose="020B0604020202020204" pitchFamily="34" charset="0"/>
              </a:rPr>
              <a:t>un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conjunto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de generadores</a:t>
            </a:r>
            <a:r>
              <a:rPr lang="es-ES" sz="2400">
                <a:latin typeface="Arial" panose="020B0604020202020204" pitchFamily="34" charset="0"/>
              </a:rPr>
              <a:t>: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81B043C-ECC4-47A5-86A3-1D05C5F96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549" y="6210419"/>
            <a:ext cx="8422106" cy="514738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chemeClr val="tx1"/>
                </a:solidFill>
              </a:rPr>
              <a:t>Se </a:t>
            </a:r>
            <a:r>
              <a:rPr lang="es-ES" sz="2400">
                <a:solidFill>
                  <a:schemeClr val="tx1"/>
                </a:solidFill>
              </a:rPr>
              <a:t>verifica con otros componentes consumidores de energía</a:t>
            </a:r>
            <a:endParaRPr lang="es-E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5288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27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27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27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27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27" grpId="0"/>
      <p:bldP spid="427030" grpId="0"/>
      <p:bldP spid="427039" grpId="0"/>
      <p:bldP spid="5" grpId="0" animBg="1"/>
      <p:bldP spid="15" grpId="0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113" name="Text Box 25"/>
          <p:cNvSpPr txBox="1">
            <a:spLocks noChangeArrowheads="1"/>
          </p:cNvSpPr>
          <p:nvPr/>
        </p:nvSpPr>
        <p:spPr bwMode="auto">
          <a:xfrm>
            <a:off x="1017984" y="377971"/>
            <a:ext cx="7436109" cy="609252"/>
          </a:xfrm>
          <a:prstGeom prst="rect">
            <a:avLst/>
          </a:prstGeom>
          <a:noFill/>
          <a:ln>
            <a:noFill/>
          </a:ln>
        </p:spPr>
        <p:txBody>
          <a:bodyPr wrap="square" lIns="126000" tIns="118800" rIns="126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Para una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porción de circuito con dos terminales</a:t>
            </a:r>
            <a:r>
              <a:rPr lang="es-ES" sz="2400">
                <a:latin typeface="Arial" panose="020B0604020202020204" pitchFamily="34" charset="0"/>
              </a:rPr>
              <a:t>:</a:t>
            </a:r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2714090" y="1430112"/>
            <a:ext cx="2538413" cy="1404937"/>
            <a:chOff x="2040" y="3168"/>
            <a:chExt cx="1599" cy="885"/>
          </a:xfrm>
        </p:grpSpPr>
        <p:sp>
          <p:nvSpPr>
            <p:cNvPr id="17441" name="Rectangle 26"/>
            <p:cNvSpPr>
              <a:spLocks noChangeArrowheads="1"/>
            </p:cNvSpPr>
            <p:nvPr/>
          </p:nvSpPr>
          <p:spPr bwMode="auto">
            <a:xfrm>
              <a:off x="2369" y="3168"/>
              <a:ext cx="915" cy="885"/>
            </a:xfrm>
            <a:prstGeom prst="rect">
              <a:avLst/>
            </a:prstGeom>
            <a:solidFill>
              <a:srgbClr val="FFFF99"/>
            </a:solidFill>
            <a:ln w="25400" algn="ctr">
              <a:solidFill>
                <a:srgbClr val="0000FF"/>
              </a:solidFill>
              <a:prstDash val="dash"/>
              <a:miter lim="800000"/>
              <a:headEnd/>
              <a:tailEnd type="none" w="lg" len="lg"/>
            </a:ln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42" name="Line 27"/>
            <p:cNvSpPr>
              <a:spLocks noChangeShapeType="1"/>
            </p:cNvSpPr>
            <p:nvPr/>
          </p:nvSpPr>
          <p:spPr bwMode="auto">
            <a:xfrm flipH="1">
              <a:off x="2159" y="3610"/>
              <a:ext cx="216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s-ES"/>
            </a:p>
          </p:txBody>
        </p:sp>
        <p:sp>
          <p:nvSpPr>
            <p:cNvPr id="17443" name="Line 28"/>
            <p:cNvSpPr>
              <a:spLocks noChangeShapeType="1"/>
            </p:cNvSpPr>
            <p:nvPr/>
          </p:nvSpPr>
          <p:spPr bwMode="auto">
            <a:xfrm flipH="1">
              <a:off x="3304" y="3623"/>
              <a:ext cx="216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s-ES"/>
            </a:p>
          </p:txBody>
        </p:sp>
        <p:sp>
          <p:nvSpPr>
            <p:cNvPr id="17444" name="Text Box 29"/>
            <p:cNvSpPr txBox="1">
              <a:spLocks noChangeArrowheads="1"/>
            </p:cNvSpPr>
            <p:nvPr/>
          </p:nvSpPr>
          <p:spPr bwMode="auto">
            <a:xfrm>
              <a:off x="2040" y="3243"/>
              <a:ext cx="255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7445" name="Oval 30"/>
            <p:cNvSpPr>
              <a:spLocks noChangeArrowheads="1"/>
            </p:cNvSpPr>
            <p:nvPr/>
          </p:nvSpPr>
          <p:spPr bwMode="auto">
            <a:xfrm>
              <a:off x="2091" y="3546"/>
              <a:ext cx="136" cy="13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46" name="Text Box 31"/>
            <p:cNvSpPr txBox="1">
              <a:spLocks noChangeArrowheads="1"/>
            </p:cNvSpPr>
            <p:nvPr/>
          </p:nvSpPr>
          <p:spPr bwMode="auto">
            <a:xfrm>
              <a:off x="3384" y="3238"/>
              <a:ext cx="255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17447" name="Oval 32"/>
            <p:cNvSpPr>
              <a:spLocks noChangeArrowheads="1"/>
            </p:cNvSpPr>
            <p:nvPr/>
          </p:nvSpPr>
          <p:spPr bwMode="auto">
            <a:xfrm>
              <a:off x="3435" y="3559"/>
              <a:ext cx="136" cy="13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3264951" y="1773012"/>
            <a:ext cx="1395413" cy="719137"/>
            <a:chOff x="2705" y="3384"/>
            <a:chExt cx="879" cy="453"/>
          </a:xfrm>
        </p:grpSpPr>
        <p:sp>
          <p:nvSpPr>
            <p:cNvPr id="17437" name="Line 33"/>
            <p:cNvSpPr>
              <a:spLocks noChangeShapeType="1"/>
            </p:cNvSpPr>
            <p:nvPr/>
          </p:nvSpPr>
          <p:spPr bwMode="auto">
            <a:xfrm>
              <a:off x="3115" y="3384"/>
              <a:ext cx="0" cy="453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s-ES"/>
            </a:p>
          </p:txBody>
        </p:sp>
        <p:sp>
          <p:nvSpPr>
            <p:cNvPr id="17438" name="Line 34"/>
            <p:cNvSpPr>
              <a:spLocks noChangeShapeType="1"/>
            </p:cNvSpPr>
            <p:nvPr/>
          </p:nvSpPr>
          <p:spPr bwMode="auto">
            <a:xfrm>
              <a:off x="3179" y="3480"/>
              <a:ext cx="0" cy="27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s-ES"/>
            </a:p>
          </p:txBody>
        </p:sp>
        <p:sp>
          <p:nvSpPr>
            <p:cNvPr id="17439" name="Line 35"/>
            <p:cNvSpPr>
              <a:spLocks noChangeShapeType="1"/>
            </p:cNvSpPr>
            <p:nvPr/>
          </p:nvSpPr>
          <p:spPr bwMode="auto">
            <a:xfrm>
              <a:off x="2705" y="3610"/>
              <a:ext cx="391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s-ES"/>
            </a:p>
          </p:txBody>
        </p:sp>
        <p:sp>
          <p:nvSpPr>
            <p:cNvPr id="17440" name="Line 36"/>
            <p:cNvSpPr>
              <a:spLocks noChangeShapeType="1"/>
            </p:cNvSpPr>
            <p:nvPr/>
          </p:nvSpPr>
          <p:spPr bwMode="auto">
            <a:xfrm>
              <a:off x="3193" y="3619"/>
              <a:ext cx="391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s-ES"/>
            </a:p>
          </p:txBody>
        </p:sp>
      </p:grpSp>
      <p:grpSp>
        <p:nvGrpSpPr>
          <p:cNvPr id="4" name="Group 67"/>
          <p:cNvGrpSpPr>
            <a:grpSpLocks/>
          </p:cNvGrpSpPr>
          <p:nvPr/>
        </p:nvGrpSpPr>
        <p:grpSpPr bwMode="auto">
          <a:xfrm>
            <a:off x="1474989" y="5011120"/>
            <a:ext cx="5456243" cy="549276"/>
            <a:chOff x="924" y="3152"/>
            <a:chExt cx="3437" cy="346"/>
          </a:xfrm>
        </p:grpSpPr>
        <p:sp>
          <p:nvSpPr>
            <p:cNvPr id="17434" name="Text Box 40"/>
            <p:cNvSpPr txBox="1">
              <a:spLocks noChangeArrowheads="1"/>
            </p:cNvSpPr>
            <p:nvPr/>
          </p:nvSpPr>
          <p:spPr bwMode="auto">
            <a:xfrm>
              <a:off x="924" y="3152"/>
              <a:ext cx="3437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cs typeface="Arial" panose="020B0604020202020204" pitchFamily="34" charset="0"/>
                </a:rPr>
                <a:t>Si</a:t>
              </a:r>
              <a:r>
                <a:rPr lang="es-E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I</a:t>
              </a:r>
              <a:r>
                <a:rPr lang="es-ES" sz="2400">
                  <a:latin typeface="Arial" panose="020B0604020202020204" pitchFamily="34" charset="0"/>
                  <a:cs typeface="Arial" panose="020B0604020202020204" pitchFamily="34" charset="0"/>
                </a:rPr>
                <a:t> en </a:t>
              </a:r>
              <a:r>
                <a:rPr lang="es-ES" sz="2400" dirty="0">
                  <a:latin typeface="Arial" panose="020B0604020202020204" pitchFamily="34" charset="0"/>
                  <a:cs typeface="Arial" panose="020B0604020202020204" pitchFamily="34" charset="0"/>
                </a:rPr>
                <a:t>sentido </a:t>
              </a:r>
              <a:r>
                <a:rPr lang="es-ES" sz="2400">
                  <a:latin typeface="Arial" panose="020B0604020202020204" pitchFamily="34" charset="0"/>
                  <a:cs typeface="Arial" panose="020B0604020202020204" pitchFamily="34" charset="0"/>
                </a:rPr>
                <a:t>de caída (                 ):</a:t>
              </a:r>
              <a:endParaRPr lang="es-E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33" name="Line 39"/>
            <p:cNvSpPr>
              <a:spLocks noChangeShapeType="1"/>
            </p:cNvSpPr>
            <p:nvPr/>
          </p:nvSpPr>
          <p:spPr bwMode="auto">
            <a:xfrm>
              <a:off x="3385" y="3326"/>
              <a:ext cx="435" cy="0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s-ES" sz="2400"/>
            </a:p>
          </p:txBody>
        </p:sp>
        <p:sp>
          <p:nvSpPr>
            <p:cNvPr id="17435" name="Text Box 42"/>
            <p:cNvSpPr txBox="1">
              <a:spLocks noChangeArrowheads="1"/>
            </p:cNvSpPr>
            <p:nvPr/>
          </p:nvSpPr>
          <p:spPr bwMode="auto">
            <a:xfrm>
              <a:off x="3119" y="3160"/>
              <a:ext cx="255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7436" name="Text Box 43"/>
            <p:cNvSpPr txBox="1">
              <a:spLocks noChangeArrowheads="1"/>
            </p:cNvSpPr>
            <p:nvPr/>
          </p:nvSpPr>
          <p:spPr bwMode="auto">
            <a:xfrm>
              <a:off x="3841" y="3160"/>
              <a:ext cx="255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</p:grpSp>
      <p:sp>
        <p:nvSpPr>
          <p:cNvPr id="473132" name="Text Box 44"/>
          <p:cNvSpPr txBox="1">
            <a:spLocks noChangeArrowheads="1"/>
          </p:cNvSpPr>
          <p:nvPr/>
        </p:nvSpPr>
        <p:spPr bwMode="auto">
          <a:xfrm>
            <a:off x="6856359" y="4837000"/>
            <a:ext cx="3477532" cy="90588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La porción del circuito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consume energía</a:t>
            </a:r>
          </a:p>
        </p:txBody>
      </p:sp>
      <p:sp>
        <p:nvSpPr>
          <p:cNvPr id="473134" name="Text Box 46"/>
          <p:cNvSpPr txBox="1">
            <a:spLocks noChangeArrowheads="1"/>
          </p:cNvSpPr>
          <p:nvPr/>
        </p:nvSpPr>
        <p:spPr bwMode="auto">
          <a:xfrm>
            <a:off x="7145934" y="2094367"/>
            <a:ext cx="1577671" cy="737889"/>
          </a:xfrm>
          <a:prstGeom prst="rect">
            <a:avLst/>
          </a:prstGeom>
          <a:solidFill>
            <a:srgbClr val="FF99CC"/>
          </a:solidFill>
          <a:ln>
            <a:noFill/>
          </a:ln>
        </p:spPr>
        <p:txBody>
          <a:bodyPr wrap="non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800">
                <a:solidFill>
                  <a:srgbClr val="000000"/>
                </a:solidFill>
                <a:latin typeface="Comic Sans MS" panose="030F0702030302020204" pitchFamily="66" charset="0"/>
              </a:rPr>
              <a:t>P = V I</a:t>
            </a:r>
          </a:p>
        </p:txBody>
      </p:sp>
      <p:sp>
        <p:nvSpPr>
          <p:cNvPr id="506906" name="Text Box 45"/>
          <p:cNvSpPr txBox="1">
            <a:spLocks noChangeArrowheads="1"/>
          </p:cNvSpPr>
          <p:nvPr/>
        </p:nvSpPr>
        <p:spPr bwMode="auto">
          <a:xfrm>
            <a:off x="6853184" y="5886419"/>
            <a:ext cx="3477532" cy="90588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La porción del circuito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suministra energía</a:t>
            </a:r>
          </a:p>
        </p:txBody>
      </p:sp>
      <p:grpSp>
        <p:nvGrpSpPr>
          <p:cNvPr id="5" name="Group 68"/>
          <p:cNvGrpSpPr>
            <a:grpSpLocks/>
          </p:cNvGrpSpPr>
          <p:nvPr/>
        </p:nvGrpSpPr>
        <p:grpSpPr bwMode="auto">
          <a:xfrm>
            <a:off x="1474989" y="6059558"/>
            <a:ext cx="5489578" cy="558801"/>
            <a:chOff x="924" y="3669"/>
            <a:chExt cx="3458" cy="352"/>
          </a:xfrm>
        </p:grpSpPr>
        <p:sp>
          <p:nvSpPr>
            <p:cNvPr id="17432" name="Text Box 66"/>
            <p:cNvSpPr txBox="1">
              <a:spLocks noChangeArrowheads="1"/>
            </p:cNvSpPr>
            <p:nvPr/>
          </p:nvSpPr>
          <p:spPr bwMode="auto">
            <a:xfrm>
              <a:off x="924" y="3669"/>
              <a:ext cx="3458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cs typeface="Arial" panose="020B0604020202020204" pitchFamily="34" charset="0"/>
                </a:rPr>
                <a:t>Si </a:t>
              </a: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>
                  <a:latin typeface="Arial" panose="020B0604020202020204" pitchFamily="34" charset="0"/>
                  <a:cs typeface="Arial" panose="020B0604020202020204" pitchFamily="34" charset="0"/>
                </a:rPr>
                <a:t> en sentido contrario (                 ):</a:t>
              </a:r>
              <a:endParaRPr lang="es-E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29" name="Line 41"/>
            <p:cNvSpPr>
              <a:spLocks noChangeShapeType="1"/>
            </p:cNvSpPr>
            <p:nvPr/>
          </p:nvSpPr>
          <p:spPr bwMode="auto">
            <a:xfrm flipH="1">
              <a:off x="3383" y="3850"/>
              <a:ext cx="435" cy="0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s-ES" sz="2400"/>
            </a:p>
          </p:txBody>
        </p:sp>
        <p:sp>
          <p:nvSpPr>
            <p:cNvPr id="17430" name="Text Box 58"/>
            <p:cNvSpPr txBox="1">
              <a:spLocks noChangeArrowheads="1"/>
            </p:cNvSpPr>
            <p:nvPr/>
          </p:nvSpPr>
          <p:spPr bwMode="auto">
            <a:xfrm>
              <a:off x="3133" y="3670"/>
              <a:ext cx="255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7431" name="Text Box 59"/>
            <p:cNvSpPr txBox="1">
              <a:spLocks noChangeArrowheads="1"/>
            </p:cNvSpPr>
            <p:nvPr/>
          </p:nvSpPr>
          <p:spPr bwMode="auto">
            <a:xfrm>
              <a:off x="3841" y="3683"/>
              <a:ext cx="255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</p:grpSp>
      <p:grpSp>
        <p:nvGrpSpPr>
          <p:cNvPr id="8" name="45 Grupo"/>
          <p:cNvGrpSpPr>
            <a:grpSpLocks/>
          </p:cNvGrpSpPr>
          <p:nvPr/>
        </p:nvGrpSpPr>
        <p:grpSpPr bwMode="auto">
          <a:xfrm>
            <a:off x="6668971" y="1025527"/>
            <a:ext cx="2883817" cy="1133139"/>
            <a:chOff x="7311258" y="1483066"/>
            <a:chExt cx="2883350" cy="1132369"/>
          </a:xfrm>
        </p:grpSpPr>
        <p:sp>
          <p:nvSpPr>
            <p:cNvPr id="17427" name="Text Box 45"/>
            <p:cNvSpPr txBox="1">
              <a:spLocks noChangeArrowheads="1"/>
            </p:cNvSpPr>
            <p:nvPr/>
          </p:nvSpPr>
          <p:spPr bwMode="auto">
            <a:xfrm>
              <a:off x="7311258" y="1483066"/>
              <a:ext cx="2883350" cy="905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Caída de potencial entre los terminales</a:t>
              </a:r>
            </a:p>
          </p:txBody>
        </p:sp>
        <p:cxnSp>
          <p:nvCxnSpPr>
            <p:cNvPr id="17428" name="42 Conector recto de flecha"/>
            <p:cNvCxnSpPr>
              <a:cxnSpLocks noChangeShapeType="1"/>
            </p:cNvCxnSpPr>
            <p:nvPr/>
          </p:nvCxnSpPr>
          <p:spPr bwMode="auto">
            <a:xfrm rot="5400000" flipH="1" flipV="1">
              <a:off x="8580473" y="2466579"/>
              <a:ext cx="297712" cy="0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9" name="46 Grupo"/>
          <p:cNvGrpSpPr>
            <a:grpSpLocks/>
          </p:cNvGrpSpPr>
          <p:nvPr/>
        </p:nvGrpSpPr>
        <p:grpSpPr bwMode="auto">
          <a:xfrm>
            <a:off x="6848949" y="2748528"/>
            <a:ext cx="2678275" cy="1071405"/>
            <a:chOff x="7480790" y="3149703"/>
            <a:chExt cx="2677841" cy="1071464"/>
          </a:xfrm>
        </p:grpSpPr>
        <p:cxnSp>
          <p:nvCxnSpPr>
            <p:cNvPr id="17425" name="43 Conector recto de flecha"/>
            <p:cNvCxnSpPr>
              <a:cxnSpLocks noChangeShapeType="1"/>
            </p:cNvCxnSpPr>
            <p:nvPr/>
          </p:nvCxnSpPr>
          <p:spPr bwMode="auto">
            <a:xfrm rot="16200000" flipH="1">
              <a:off x="8871096" y="3298559"/>
              <a:ext cx="297712" cy="0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26" name="Text Box 45"/>
            <p:cNvSpPr txBox="1">
              <a:spLocks noChangeArrowheads="1"/>
            </p:cNvSpPr>
            <p:nvPr/>
          </p:nvSpPr>
          <p:spPr bwMode="auto">
            <a:xfrm>
              <a:off x="7480790" y="3315233"/>
              <a:ext cx="2677841" cy="905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Corriente a través de los terminales</a:t>
              </a:r>
            </a:p>
          </p:txBody>
        </p:sp>
      </p:grpSp>
      <p:sp>
        <p:nvSpPr>
          <p:cNvPr id="6" name="CuadroTexto 5"/>
          <p:cNvSpPr txBox="1">
            <a:spLocks noChangeArrowheads="1"/>
          </p:cNvSpPr>
          <p:nvPr/>
        </p:nvSpPr>
        <p:spPr bwMode="auto">
          <a:xfrm>
            <a:off x="2658617" y="3024385"/>
            <a:ext cx="25927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olidFill>
                  <a:srgbClr val="FF0000"/>
                </a:solidFill>
              </a:rPr>
              <a:t>P.ej. con una pila</a:t>
            </a:r>
          </a:p>
        </p:txBody>
      </p:sp>
      <p:grpSp>
        <p:nvGrpSpPr>
          <p:cNvPr id="7" name="Grupo 6"/>
          <p:cNvGrpSpPr>
            <a:grpSpLocks/>
          </p:cNvGrpSpPr>
          <p:nvPr/>
        </p:nvGrpSpPr>
        <p:grpSpPr bwMode="auto">
          <a:xfrm>
            <a:off x="1485684" y="4014067"/>
            <a:ext cx="6045543" cy="536549"/>
            <a:chOff x="1536020" y="4084260"/>
            <a:chExt cx="6045517" cy="536523"/>
          </a:xfrm>
        </p:grpSpPr>
        <p:sp>
          <p:nvSpPr>
            <p:cNvPr id="17423" name="Text Box 38"/>
            <p:cNvSpPr txBox="1">
              <a:spLocks noChangeArrowheads="1"/>
            </p:cNvSpPr>
            <p:nvPr/>
          </p:nvSpPr>
          <p:spPr bwMode="auto">
            <a:xfrm>
              <a:off x="1536020" y="4084260"/>
              <a:ext cx="6045517" cy="536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Si la caída ocurre en el  sentido </a:t>
              </a:r>
              <a:r>
                <a:rPr lang="es-ES" sz="24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A</a:t>
              </a:r>
              <a:r>
                <a:rPr lang="es-ES" sz="2400" dirty="0">
                  <a:latin typeface="Arial" panose="020B0604020202020204" pitchFamily="34" charset="0"/>
                </a:rPr>
                <a:t>          </a:t>
              </a:r>
              <a:r>
                <a:rPr lang="es-ES" sz="24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B</a:t>
              </a:r>
              <a:r>
                <a:rPr lang="es-ES" sz="2400" dirty="0">
                  <a:latin typeface="Arial" panose="020B0604020202020204" pitchFamily="34" charset="0"/>
                </a:rPr>
                <a:t>:</a:t>
              </a:r>
              <a:endParaRPr lang="es-ES" sz="2800" dirty="0">
                <a:solidFill>
                  <a:srgbClr val="3333FF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7424" name="Line 39"/>
            <p:cNvSpPr>
              <a:spLocks noChangeShapeType="1"/>
            </p:cNvSpPr>
            <p:nvPr/>
          </p:nvSpPr>
          <p:spPr bwMode="auto">
            <a:xfrm>
              <a:off x="6313749" y="4360091"/>
              <a:ext cx="627900" cy="0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s-ES" sz="2400"/>
            </a:p>
          </p:txBody>
        </p:sp>
      </p:grpSp>
      <p:sp>
        <p:nvSpPr>
          <p:cNvPr id="40" name="Text Box 38">
            <a:extLst>
              <a:ext uri="{FF2B5EF4-FFF2-40B4-BE49-F238E27FC236}">
                <a16:creationId xmlns:a16="http://schemas.microsoft.com/office/drawing/2014/main" id="{371A2DDA-F8DF-44F1-9EA4-642A2AEA8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0175" y="3988825"/>
            <a:ext cx="1980326" cy="59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 dirty="0">
                <a:latin typeface="Comic Sans MS" panose="030F0702030302020204" pitchFamily="66" charset="0"/>
              </a:rPr>
              <a:t>V = V</a:t>
            </a:r>
            <a:r>
              <a:rPr lang="es-ES" sz="2800" baseline="-25000" dirty="0">
                <a:latin typeface="Comic Sans MS" panose="030F0702030302020204" pitchFamily="66" charset="0"/>
              </a:rPr>
              <a:t>A</a:t>
            </a:r>
            <a:r>
              <a:rPr lang="es-ES" sz="2800" dirty="0">
                <a:latin typeface="Comic Sans MS" panose="030F0702030302020204" pitchFamily="66" charset="0"/>
              </a:rPr>
              <a:t> – V</a:t>
            </a:r>
            <a:r>
              <a:rPr lang="es-ES" sz="2800" baseline="-25000" dirty="0">
                <a:latin typeface="Comic Sans MS" panose="030F0702030302020204" pitchFamily="66" charset="0"/>
              </a:rPr>
              <a:t>B</a:t>
            </a:r>
            <a:endParaRPr lang="es-ES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953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73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73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73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8" dur="500"/>
                                        <p:tgtEl>
                                          <p:spTgt spid="473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8" dur="500"/>
                                        <p:tgtEl>
                                          <p:spTgt spid="506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113" grpId="0"/>
      <p:bldP spid="473132" grpId="0" animBg="1"/>
      <p:bldP spid="473134" grpId="0" animBg="1"/>
      <p:bldP spid="506906" grpId="0" animBg="1"/>
      <p:bldP spid="6" grpId="0"/>
      <p:bldP spid="4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70" name="Text Box 6"/>
          <p:cNvSpPr txBox="1">
            <a:spLocks noChangeArrowheads="1"/>
          </p:cNvSpPr>
          <p:nvPr/>
        </p:nvSpPr>
        <p:spPr bwMode="auto">
          <a:xfrm>
            <a:off x="4326194" y="437008"/>
            <a:ext cx="2890684" cy="514738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 lIns="180000" tIns="72000" rIns="180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Corriente Alterna</a:t>
            </a:r>
          </a:p>
        </p:txBody>
      </p:sp>
      <p:sp>
        <p:nvSpPr>
          <p:cNvPr id="18" name="Text Box 6">
            <a:extLst>
              <a:ext uri="{FF2B5EF4-FFF2-40B4-BE49-F238E27FC236}">
                <a16:creationId xmlns:a16="http://schemas.microsoft.com/office/drawing/2014/main" id="{91D9D03B-4BBD-4AD7-9F3E-1A8B92A15A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990" y="1105469"/>
            <a:ext cx="9329846" cy="884070"/>
          </a:xfrm>
          <a:prstGeom prst="rect">
            <a:avLst/>
          </a:prstGeom>
          <a:noFill/>
          <a:ln>
            <a:noFill/>
          </a:ln>
        </p:spPr>
        <p:txBody>
          <a:bodyPr wrap="square" lIns="180000" tIns="72000" rIns="18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La </a:t>
            </a:r>
            <a:r>
              <a:rPr lang="es-ES" sz="2400" dirty="0">
                <a:latin typeface="Arial" panose="020B0604020202020204" pitchFamily="34" charset="0"/>
              </a:rPr>
              <a:t>potencia de un circuito y de </a:t>
            </a:r>
            <a:r>
              <a:rPr lang="es-ES" sz="2400">
                <a:latin typeface="Arial" panose="020B0604020202020204" pitchFamily="34" charset="0"/>
              </a:rPr>
              <a:t>cada elemento </a:t>
            </a:r>
            <a:r>
              <a:rPr lang="es-ES" sz="2400" dirty="0">
                <a:latin typeface="Arial" panose="020B0604020202020204" pitchFamily="34" charset="0"/>
              </a:rPr>
              <a:t>varía en el tiempo y repite valores, como pasa con su V e </a:t>
            </a:r>
            <a:r>
              <a:rPr lang="es-ES" sz="2400" dirty="0">
                <a:latin typeface="Comic Sans MS" panose="030F0702030302020204" pitchFamily="66" charset="0"/>
              </a:rPr>
              <a:t>I </a:t>
            </a:r>
            <a:r>
              <a:rPr lang="es-ES" sz="2400" dirty="0">
                <a:latin typeface="Arial" panose="020B0604020202020204" pitchFamily="34" charset="0"/>
              </a:rPr>
              <a:t>(es </a:t>
            </a:r>
            <a:r>
              <a:rPr lang="es-ES" sz="2400">
                <a:latin typeface="Arial" panose="020B0604020202020204" pitchFamily="34" charset="0"/>
              </a:rPr>
              <a:t>su producto: P = V</a:t>
            </a:r>
            <a:r>
              <a:rPr lang="es-ES" sz="2400">
                <a:latin typeface="Comic Sans MS" panose="030F0702030302020204" pitchFamily="66" charset="0"/>
              </a:rPr>
              <a:t>I</a:t>
            </a:r>
            <a:r>
              <a:rPr lang="es-ES" sz="2400">
                <a:latin typeface="Arial" panose="020B0604020202020204" pitchFamily="34" charset="0"/>
              </a:rPr>
              <a:t>)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19" name="Text Box 6">
            <a:extLst>
              <a:ext uri="{FF2B5EF4-FFF2-40B4-BE49-F238E27FC236}">
                <a16:creationId xmlns:a16="http://schemas.microsoft.com/office/drawing/2014/main" id="{5DD178B6-B84B-49F6-A522-9913B7466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6988" y="2026046"/>
            <a:ext cx="9180741" cy="514738"/>
          </a:xfrm>
          <a:prstGeom prst="rect">
            <a:avLst/>
          </a:prstGeom>
          <a:noFill/>
          <a:ln>
            <a:noFill/>
          </a:ln>
        </p:spPr>
        <p:txBody>
          <a:bodyPr wrap="square" lIns="180000" tIns="72000" rIns="18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 </a:t>
            </a:r>
            <a:r>
              <a:rPr lang="es-ES" sz="2400" dirty="0">
                <a:latin typeface="Arial" panose="020B0604020202020204" pitchFamily="34" charset="0"/>
              </a:rPr>
              <a:t>Las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resistencias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consumen energía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 Box 6">
            <a:extLst>
              <a:ext uri="{FF2B5EF4-FFF2-40B4-BE49-F238E27FC236}">
                <a16:creationId xmlns:a16="http://schemas.microsoft.com/office/drawing/2014/main" id="{BF6A7D14-99AB-4080-BC3C-A05899916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8921" y="4304782"/>
            <a:ext cx="9180742" cy="1253402"/>
          </a:xfrm>
          <a:prstGeom prst="rect">
            <a:avLst/>
          </a:prstGeom>
          <a:noFill/>
          <a:ln>
            <a:noFill/>
          </a:ln>
        </p:spPr>
        <p:txBody>
          <a:bodyPr wrap="square" lIns="180000" tIns="72000" rIns="18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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Condensadores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y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bobinas</a:t>
            </a:r>
            <a:r>
              <a:rPr lang="es-ES" sz="2400" dirty="0">
                <a:latin typeface="Arial" panose="020B0604020202020204" pitchFamily="34" charset="0"/>
              </a:rPr>
              <a:t> almacenan la mitad del </a:t>
            </a:r>
            <a:r>
              <a:rPr lang="es-ES" sz="2400">
                <a:latin typeface="Arial" panose="020B0604020202020204" pitchFamily="34" charset="0"/>
              </a:rPr>
              <a:t>tiempo, 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en </a:t>
            </a:r>
            <a:r>
              <a:rPr lang="es-ES" sz="2400" dirty="0">
                <a:latin typeface="Arial" panose="020B0604020202020204" pitchFamily="34" charset="0"/>
              </a:rPr>
              <a:t>la otra devuelven. En promedio no consumen. </a:t>
            </a:r>
            <a:r>
              <a:rPr lang="es-ES" sz="2400">
                <a:latin typeface="Arial" panose="020B0604020202020204" pitchFamily="34" charset="0"/>
              </a:rPr>
              <a:t>Y cuando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</a:t>
            </a:r>
            <a:r>
              <a:rPr lang="es-ES" sz="2400" dirty="0">
                <a:latin typeface="Arial" panose="020B0604020202020204" pitchFamily="34" charset="0"/>
              </a:rPr>
              <a:t>unos almacenan otras devuelven, y </a:t>
            </a:r>
            <a:r>
              <a:rPr lang="es-ES" sz="2400">
                <a:latin typeface="Arial" panose="020B0604020202020204" pitchFamily="34" charset="0"/>
              </a:rPr>
              <a:t>viceversa.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4CC1862C-BC83-4569-9A94-83BA3D6D8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5461" y="3273934"/>
            <a:ext cx="7900291" cy="884070"/>
          </a:xfrm>
          <a:prstGeom prst="rect">
            <a:avLst/>
          </a:prstGeom>
          <a:noFill/>
          <a:ln>
            <a:noFill/>
          </a:ln>
        </p:spPr>
        <p:txBody>
          <a:bodyPr wrap="square" lIns="180000" tIns="72000" rIns="18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- </a:t>
            </a:r>
            <a:r>
              <a:rPr lang="es-ES" sz="2400">
                <a:latin typeface="Arial" panose="020B0604020202020204" pitchFamily="34" charset="0"/>
              </a:rPr>
              <a:t>Su valor medio es</a:t>
            </a:r>
            <a:r>
              <a:rPr lang="es-ES" sz="2400" dirty="0">
                <a:latin typeface="Arial" panose="020B0604020202020204" pitchFamily="34" charset="0"/>
              </a:rPr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 V</a:t>
            </a:r>
            <a:r>
              <a:rPr lang="es-ES" sz="2400" baseline="-25000">
                <a:latin typeface="Arial" panose="020B0604020202020204" pitchFamily="34" charset="0"/>
              </a:rPr>
              <a:t>EF (= EFICAZ DEL CIRCUITO)</a:t>
            </a:r>
            <a:r>
              <a:rPr lang="es-ES" sz="2400">
                <a:latin typeface="Comic Sans MS" panose="030F0702030302020204" pitchFamily="66" charset="0"/>
              </a:rPr>
              <a:t> I</a:t>
            </a:r>
            <a:r>
              <a:rPr lang="es-ES" sz="2400" baseline="-25000">
                <a:latin typeface="Arial" panose="020B0604020202020204" pitchFamily="34" charset="0"/>
              </a:rPr>
              <a:t>EF</a:t>
            </a:r>
            <a:r>
              <a:rPr lang="es-ES" sz="2400">
                <a:latin typeface="Comic Sans MS" panose="030F0702030302020204" pitchFamily="66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cos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 </a:t>
            </a:r>
            <a:r>
              <a:rPr lang="es-ES" sz="2400" dirty="0">
                <a:latin typeface="Arial" panose="020B0604020202020204" pitchFamily="34" charset="0"/>
              </a:rPr>
              <a:t>(factor de </a:t>
            </a:r>
            <a:r>
              <a:rPr lang="es-ES" sz="2400">
                <a:latin typeface="Arial" panose="020B0604020202020204" pitchFamily="34" charset="0"/>
              </a:rPr>
              <a:t>potencia)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E7203087-A437-448D-B3CA-DB0C4EB74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5854" y="2469207"/>
            <a:ext cx="7191880" cy="884070"/>
          </a:xfrm>
          <a:prstGeom prst="rect">
            <a:avLst/>
          </a:prstGeom>
          <a:noFill/>
          <a:ln>
            <a:noFill/>
          </a:ln>
        </p:spPr>
        <p:txBody>
          <a:bodyPr wrap="square" lIns="180000" tIns="72000" rIns="18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- </a:t>
            </a:r>
            <a:r>
              <a:rPr lang="es-ES" sz="2400">
                <a:latin typeface="Arial" panose="020B0604020202020204" pitchFamily="34" charset="0"/>
              </a:rPr>
              <a:t>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potencia</a:t>
            </a:r>
            <a:r>
              <a:rPr lang="es-ES" sz="2400" dirty="0">
                <a:latin typeface="Arial" panose="020B0604020202020204" pitchFamily="34" charset="0"/>
              </a:rPr>
              <a:t> asociada a ellas se </a:t>
            </a:r>
            <a:r>
              <a:rPr lang="es-ES" sz="2400">
                <a:latin typeface="Arial" panose="020B0604020202020204" pitchFamily="34" charset="0"/>
              </a:rPr>
              <a:t>denomina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activa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 </a:t>
            </a:r>
            <a:r>
              <a:rPr lang="es-ES" sz="2400" dirty="0">
                <a:latin typeface="Arial" panose="020B0604020202020204" pitchFamily="34" charset="0"/>
              </a:rPr>
              <a:t>y se da en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vatios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(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W)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B5EBCBD7-DE2C-4D7D-978B-A82699C35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127" y="5475990"/>
            <a:ext cx="6924635" cy="884070"/>
          </a:xfrm>
          <a:prstGeom prst="rect">
            <a:avLst/>
          </a:prstGeom>
          <a:noFill/>
          <a:ln>
            <a:noFill/>
          </a:ln>
        </p:spPr>
        <p:txBody>
          <a:bodyPr wrap="square" lIns="180000" tIns="72000" rIns="18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- </a:t>
            </a:r>
            <a:r>
              <a:rPr lang="es-ES" sz="2400">
                <a:latin typeface="Arial" panose="020B0604020202020204" pitchFamily="34" charset="0"/>
              </a:rPr>
              <a:t>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potencia</a:t>
            </a:r>
            <a:r>
              <a:rPr lang="es-ES" sz="2400" dirty="0">
                <a:latin typeface="Arial" panose="020B0604020202020204" pitchFamily="34" charset="0"/>
              </a:rPr>
              <a:t> asociada se </a:t>
            </a:r>
            <a:r>
              <a:rPr lang="es-ES" sz="2400">
                <a:latin typeface="Arial" panose="020B0604020202020204" pitchFamily="34" charset="0"/>
              </a:rPr>
              <a:t>llama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reactiva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</a:t>
            </a:r>
            <a:r>
              <a:rPr lang="es-ES" sz="2400" dirty="0">
                <a:latin typeface="Arial" panose="020B0604020202020204" pitchFamily="34" charset="0"/>
              </a:rPr>
              <a:t>y se da en </a:t>
            </a:r>
            <a:r>
              <a:rPr lang="es-ES" sz="2400" dirty="0" err="1">
                <a:solidFill>
                  <a:srgbClr val="3333FF"/>
                </a:solidFill>
                <a:latin typeface="Arial" panose="020B0604020202020204" pitchFamily="34" charset="0"/>
              </a:rPr>
              <a:t>voltioamperios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-reactivos (</a:t>
            </a:r>
            <a:r>
              <a:rPr lang="es-ES" sz="2400" err="1">
                <a:solidFill>
                  <a:srgbClr val="3333FF"/>
                </a:solidFill>
                <a:latin typeface="Arial" panose="020B0604020202020204" pitchFamily="34" charset="0"/>
              </a:rPr>
              <a:t>VAr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)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08C1FFF1-6D98-443A-8AE2-6A9F472F1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4877" y="6315447"/>
            <a:ext cx="6949099" cy="514738"/>
          </a:xfrm>
          <a:prstGeom prst="rect">
            <a:avLst/>
          </a:prstGeom>
          <a:noFill/>
          <a:ln>
            <a:noFill/>
          </a:ln>
        </p:spPr>
        <p:txBody>
          <a:bodyPr wrap="square" lIns="180000" tIns="72000" rIns="18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- </a:t>
            </a:r>
            <a:r>
              <a:rPr lang="es-ES" sz="2400">
                <a:latin typeface="Arial" panose="020B0604020202020204" pitchFamily="34" charset="0"/>
              </a:rPr>
              <a:t>Su </a:t>
            </a:r>
            <a:r>
              <a:rPr lang="es-ES" sz="2400" dirty="0">
                <a:latin typeface="Arial" panose="020B0604020202020204" pitchFamily="34" charset="0"/>
              </a:rPr>
              <a:t>valor máximo es</a:t>
            </a:r>
            <a:r>
              <a:rPr lang="es-ES" sz="2400">
                <a:latin typeface="Arial" panose="020B0604020202020204" pitchFamily="34" charset="0"/>
              </a:rPr>
              <a:t>: V</a:t>
            </a:r>
            <a:r>
              <a:rPr lang="es-ES" sz="2400" baseline="-25000">
                <a:latin typeface="Arial" panose="020B0604020202020204" pitchFamily="34" charset="0"/>
              </a:rPr>
              <a:t>EF</a:t>
            </a:r>
            <a:r>
              <a:rPr lang="es-ES" sz="2400">
                <a:latin typeface="Comic Sans MS" panose="030F0702030302020204" pitchFamily="66" charset="0"/>
              </a:rPr>
              <a:t> I</a:t>
            </a:r>
            <a:r>
              <a:rPr lang="es-ES" sz="2400" baseline="-25000">
                <a:latin typeface="Arial" panose="020B0604020202020204" pitchFamily="34" charset="0"/>
              </a:rPr>
              <a:t>EF</a:t>
            </a:r>
            <a:r>
              <a:rPr lang="es-ES" sz="2400">
                <a:latin typeface="Comic Sans MS" panose="030F0702030302020204" pitchFamily="66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sen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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731B03C8-1091-C4FA-A4D6-C4E887AE4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4148" y="415247"/>
            <a:ext cx="1982359" cy="514738"/>
          </a:xfrm>
          <a:prstGeom prst="rect">
            <a:avLst/>
          </a:prstGeom>
          <a:noFill/>
          <a:ln>
            <a:noFill/>
          </a:ln>
        </p:spPr>
        <p:txBody>
          <a:bodyPr wrap="square" lIns="180000" tIns="72000" rIns="18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(Práctica 4)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50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20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2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70" grpId="0" animBg="1"/>
      <p:bldP spid="18" grpId="0"/>
      <p:bldP spid="19" grpId="0"/>
      <p:bldP spid="20" grpId="0"/>
      <p:bldP spid="7" grpId="0"/>
      <p:bldP spid="8" grpId="0"/>
      <p:bldP spid="9" grpId="0"/>
      <p:bldP spid="10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Box 6">
            <a:extLst>
              <a:ext uri="{FF2B5EF4-FFF2-40B4-BE49-F238E27FC236}">
                <a16:creationId xmlns:a16="http://schemas.microsoft.com/office/drawing/2014/main" id="{ACBFB2B8-D283-4236-ACD8-6F6B44D3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7947" y="4081696"/>
            <a:ext cx="8765129" cy="884070"/>
          </a:xfrm>
          <a:prstGeom prst="rect">
            <a:avLst/>
          </a:prstGeom>
          <a:noFill/>
          <a:ln>
            <a:noFill/>
          </a:ln>
        </p:spPr>
        <p:txBody>
          <a:bodyPr wrap="square" lIns="180000" tIns="72000" rIns="18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 </a:t>
            </a:r>
            <a:r>
              <a:rPr lang="es-ES" sz="2400">
                <a:latin typeface="Arial" panose="020B0604020202020204" pitchFamily="34" charset="0"/>
              </a:rPr>
              <a:t>La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hipotenusa del triángulo </a:t>
            </a:r>
            <a:r>
              <a:rPr lang="es-ES" sz="2400">
                <a:latin typeface="Arial" panose="020B0604020202020204" pitchFamily="34" charset="0"/>
              </a:rPr>
              <a:t>que se puede construir (V</a:t>
            </a:r>
            <a:r>
              <a:rPr lang="es-ES" sz="2400" baseline="-25000">
                <a:latin typeface="Arial" panose="020B0604020202020204" pitchFamily="34" charset="0"/>
              </a:rPr>
              <a:t>EF</a:t>
            </a:r>
            <a:r>
              <a:rPr lang="es-ES" sz="2400">
                <a:latin typeface="Comic Sans MS" panose="030F0702030302020204" pitchFamily="66" charset="0"/>
              </a:rPr>
              <a:t> I</a:t>
            </a:r>
            <a:r>
              <a:rPr lang="es-ES" sz="2400" baseline="-25000">
                <a:latin typeface="Arial" panose="020B0604020202020204" pitchFamily="34" charset="0"/>
              </a:rPr>
              <a:t>EF</a:t>
            </a:r>
            <a:r>
              <a:rPr lang="es-ES" sz="2400"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  </a:t>
            </a:r>
            <a:r>
              <a:rPr lang="es-ES" sz="2400">
                <a:latin typeface="Arial" panose="020B0604020202020204" pitchFamily="34" charset="0"/>
              </a:rPr>
              <a:t>se llama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potencia aparente</a:t>
            </a:r>
            <a:r>
              <a:rPr lang="es-ES" sz="2400">
                <a:latin typeface="Arial" panose="020B0604020202020204" pitchFamily="34" charset="0"/>
              </a:rPr>
              <a:t> y se da en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voltioamperios (VA)</a:t>
            </a:r>
            <a:endParaRPr lang="es-ES" sz="2400">
              <a:latin typeface="Arial" panose="020B0604020202020204" pitchFamily="34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238F3FEF-C64E-4272-B73F-94CD966DB7A4}"/>
              </a:ext>
            </a:extLst>
          </p:cNvPr>
          <p:cNvGrpSpPr/>
          <p:nvPr/>
        </p:nvGrpSpPr>
        <p:grpSpPr>
          <a:xfrm>
            <a:off x="2425487" y="452070"/>
            <a:ext cx="6709536" cy="3369924"/>
            <a:chOff x="2425487" y="2157573"/>
            <a:chExt cx="6709536" cy="3369924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D7C80C52-B6BE-4545-B066-E933FBC74D62}"/>
                </a:ext>
              </a:extLst>
            </p:cNvPr>
            <p:cNvSpPr/>
            <p:nvPr/>
          </p:nvSpPr>
          <p:spPr bwMode="auto">
            <a:xfrm>
              <a:off x="2425487" y="2157573"/>
              <a:ext cx="6709536" cy="3369924"/>
            </a:xfrm>
            <a:prstGeom prst="rect">
              <a:avLst/>
            </a:prstGeom>
            <a:solidFill>
              <a:srgbClr val="FFFF99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24F79EDC-1874-4EDE-965B-6F6DAEF4F9EA}"/>
                </a:ext>
              </a:extLst>
            </p:cNvPr>
            <p:cNvGrpSpPr/>
            <p:nvPr/>
          </p:nvGrpSpPr>
          <p:grpSpPr>
            <a:xfrm>
              <a:off x="2425487" y="2404155"/>
              <a:ext cx="6709536" cy="3002823"/>
              <a:chOff x="3185772" y="2332237"/>
              <a:chExt cx="6709536" cy="3002823"/>
            </a:xfrm>
          </p:grpSpPr>
          <p:sp>
            <p:nvSpPr>
              <p:cNvPr id="2" name="Triángulo isósceles 1">
                <a:extLst>
                  <a:ext uri="{FF2B5EF4-FFF2-40B4-BE49-F238E27FC236}">
                    <a16:creationId xmlns:a16="http://schemas.microsoft.com/office/drawing/2014/main" id="{9197A403-8A93-4D28-9BF3-A613B3E74FC6}"/>
                  </a:ext>
                </a:extLst>
              </p:cNvPr>
              <p:cNvSpPr/>
              <p:nvPr/>
            </p:nvSpPr>
            <p:spPr bwMode="auto">
              <a:xfrm>
                <a:off x="3904180" y="2332237"/>
                <a:ext cx="3708970" cy="2198670"/>
              </a:xfrm>
              <a:prstGeom prst="triangle">
                <a:avLst>
                  <a:gd name="adj" fmla="val 100000"/>
                </a:avLst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lg" len="lg"/>
              </a:ln>
              <a:effectLst/>
            </p:spPr>
            <p:txBody>
              <a:bodyPr vert="horz" wrap="square" lIns="90000" tIns="82800" rIns="90000" bIns="82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3" name="Arco 2">
                <a:extLst>
                  <a:ext uri="{FF2B5EF4-FFF2-40B4-BE49-F238E27FC236}">
                    <a16:creationId xmlns:a16="http://schemas.microsoft.com/office/drawing/2014/main" id="{B544C68E-F984-431A-80B3-19D27BABA9A7}"/>
                  </a:ext>
                </a:extLst>
              </p:cNvPr>
              <p:cNvSpPr/>
              <p:nvPr/>
            </p:nvSpPr>
            <p:spPr bwMode="auto">
              <a:xfrm>
                <a:off x="3185772" y="3824280"/>
                <a:ext cx="1440000" cy="1440000"/>
              </a:xfrm>
              <a:prstGeom prst="arc">
                <a:avLst>
                  <a:gd name="adj1" fmla="val 19710940"/>
                  <a:gd name="adj2" fmla="val 21479408"/>
                </a:avLst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lg" len="lg"/>
              </a:ln>
              <a:effectLst/>
            </p:spPr>
            <p:txBody>
              <a:bodyPr vert="horz" wrap="square" lIns="90000" tIns="82800" rIns="90000" bIns="82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DA2A4B2-5663-46B7-A068-802981C5F478}"/>
                  </a:ext>
                </a:extLst>
              </p:cNvPr>
              <p:cNvSpPr txBox="1"/>
              <p:nvPr/>
            </p:nvSpPr>
            <p:spPr>
              <a:xfrm>
                <a:off x="4756935" y="3964796"/>
                <a:ext cx="3449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2400">
                    <a:sym typeface="Symbol" panose="05050102010706020507" pitchFamily="18" charset="2"/>
                  </a:rPr>
                  <a:t></a:t>
                </a:r>
                <a:endParaRPr lang="es-ES" sz="2400"/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98C42F6-3D4D-4EF8-93FE-F974E39CF3FD}"/>
                  </a:ext>
                </a:extLst>
              </p:cNvPr>
              <p:cNvSpPr txBox="1"/>
              <p:nvPr/>
            </p:nvSpPr>
            <p:spPr>
              <a:xfrm>
                <a:off x="4756935" y="2374158"/>
                <a:ext cx="1319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400">
                    <a:sym typeface="Symbol" panose="05050102010706020507" pitchFamily="18" charset="2"/>
                  </a:rPr>
                  <a:t>P</a:t>
                </a:r>
                <a:r>
                  <a:rPr lang="es-ES" sz="2400" baseline="-25000">
                    <a:sym typeface="Symbol" panose="05050102010706020507" pitchFamily="18" charset="2"/>
                  </a:rPr>
                  <a:t>aparente</a:t>
                </a:r>
                <a:endParaRPr lang="es-ES" sz="2400" baseline="-25000"/>
              </a:p>
            </p:txBody>
          </p:sp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9A0CC210-877D-45E2-9708-4F21FD059E17}"/>
                  </a:ext>
                </a:extLst>
              </p:cNvPr>
              <p:cNvSpPr txBox="1"/>
              <p:nvPr/>
            </p:nvSpPr>
            <p:spPr>
              <a:xfrm>
                <a:off x="7858019" y="2731462"/>
                <a:ext cx="131948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400">
                    <a:sym typeface="Symbol" panose="05050102010706020507" pitchFamily="18" charset="2"/>
                  </a:rPr>
                  <a:t>P</a:t>
                </a:r>
                <a:r>
                  <a:rPr lang="es-ES" sz="2400" baseline="-25000">
                    <a:sym typeface="Symbol" panose="05050102010706020507" pitchFamily="18" charset="2"/>
                  </a:rPr>
                  <a:t>reactiva</a:t>
                </a:r>
              </a:p>
              <a:p>
                <a:r>
                  <a:rPr lang="es-ES" sz="2400" baseline="-25000">
                    <a:sym typeface="Symbol" panose="05050102010706020507" pitchFamily="18" charset="2"/>
                  </a:rPr>
                  <a:t>   (máxima)</a:t>
                </a:r>
                <a:endParaRPr lang="es-ES" sz="2400" baseline="-25000"/>
              </a:p>
            </p:txBody>
          </p:sp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E83D56D0-303E-4464-8C7A-DEFC8EA07C19}"/>
                  </a:ext>
                </a:extLst>
              </p:cNvPr>
              <p:cNvSpPr txBox="1"/>
              <p:nvPr/>
            </p:nvSpPr>
            <p:spPr>
              <a:xfrm>
                <a:off x="4274053" y="4627174"/>
                <a:ext cx="143999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400">
                    <a:sym typeface="Symbol" panose="05050102010706020507" pitchFamily="18" charset="2"/>
                  </a:rPr>
                  <a:t>P</a:t>
                </a:r>
                <a:r>
                  <a:rPr lang="es-ES" sz="2400" baseline="-25000">
                    <a:sym typeface="Symbol" panose="05050102010706020507" pitchFamily="18" charset="2"/>
                  </a:rPr>
                  <a:t>activa</a:t>
                </a:r>
              </a:p>
              <a:p>
                <a:r>
                  <a:rPr lang="es-ES" sz="2400" baseline="-25000">
                    <a:sym typeface="Symbol" panose="05050102010706020507" pitchFamily="18" charset="2"/>
                  </a:rPr>
                  <a:t>   (media)</a:t>
                </a:r>
                <a:endParaRPr lang="es-ES" sz="2400" baseline="-25000"/>
              </a:p>
            </p:txBody>
          </p:sp>
          <p:sp>
            <p:nvSpPr>
              <p:cNvPr id="15" name="Text Box 6">
                <a:extLst>
                  <a:ext uri="{FF2B5EF4-FFF2-40B4-BE49-F238E27FC236}">
                    <a16:creationId xmlns:a16="http://schemas.microsoft.com/office/drawing/2014/main" id="{FEC56551-851E-4A2E-96D3-38BC230524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76127" y="2824368"/>
                <a:ext cx="1440000" cy="5147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0000" tIns="72000" rIns="180000" bIns="72000" anchor="ctr" anchorCtr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V</a:t>
                </a:r>
                <a:r>
                  <a:rPr lang="es-ES" sz="2400" baseline="-25000">
                    <a:latin typeface="Arial" panose="020B0604020202020204" pitchFamily="34" charset="0"/>
                  </a:rPr>
                  <a:t>EF</a:t>
                </a:r>
                <a:r>
                  <a:rPr lang="es-ES" sz="2400">
                    <a:latin typeface="Comic Sans MS" panose="030F0702030302020204" pitchFamily="66" charset="0"/>
                  </a:rPr>
                  <a:t> I</a:t>
                </a:r>
                <a:r>
                  <a:rPr lang="es-ES" sz="2400" baseline="-25000">
                    <a:latin typeface="Arial" panose="020B0604020202020204" pitchFamily="34" charset="0"/>
                  </a:rPr>
                  <a:t>EF</a:t>
                </a:r>
                <a:endParaRPr lang="es-E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6" name="Text Box 6">
                <a:extLst>
                  <a:ext uri="{FF2B5EF4-FFF2-40B4-BE49-F238E27FC236}">
                    <a16:creationId xmlns:a16="http://schemas.microsoft.com/office/drawing/2014/main" id="{73E1F808-91C4-40F2-9765-B96AF5C768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88776" y="3615212"/>
                <a:ext cx="2106532" cy="5147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0000" tIns="72000" rIns="180000" bIns="72000" anchor="ctr" anchorCtr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V</a:t>
                </a:r>
                <a:r>
                  <a:rPr lang="es-ES" sz="2400" baseline="-25000">
                    <a:latin typeface="Arial" panose="020B0604020202020204" pitchFamily="34" charset="0"/>
                  </a:rPr>
                  <a:t>EF</a:t>
                </a:r>
                <a:r>
                  <a:rPr lang="es-ES" sz="2400">
                    <a:latin typeface="Comic Sans MS" panose="030F0702030302020204" pitchFamily="66" charset="0"/>
                  </a:rPr>
                  <a:t> I</a:t>
                </a:r>
                <a:r>
                  <a:rPr lang="es-ES" sz="2400" baseline="-25000">
                    <a:latin typeface="Arial" panose="020B0604020202020204" pitchFamily="34" charset="0"/>
                  </a:rPr>
                  <a:t>EF  </a:t>
                </a:r>
                <a:r>
                  <a:rPr lang="es-ES" sz="2400">
                    <a:latin typeface="Arial" panose="020B0604020202020204" pitchFamily="34" charset="0"/>
                  </a:rPr>
                  <a:t>sen</a:t>
                </a:r>
                <a:r>
                  <a:rPr lang="es-ES" sz="2400">
                    <a:sym typeface="Symbol" panose="05050102010706020507" pitchFamily="18" charset="2"/>
                  </a:rPr>
                  <a:t></a:t>
                </a:r>
                <a:endParaRPr lang="es-ES" sz="2400"/>
              </a:p>
            </p:txBody>
          </p:sp>
          <p:sp>
            <p:nvSpPr>
              <p:cNvPr id="17" name="Text Box 6">
                <a:extLst>
                  <a:ext uri="{FF2B5EF4-FFF2-40B4-BE49-F238E27FC236}">
                    <a16:creationId xmlns:a16="http://schemas.microsoft.com/office/drawing/2014/main" id="{FE406950-A75A-4EE5-A6E4-BCFAB981D2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3533" y="4660803"/>
                <a:ext cx="2106532" cy="5147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0000" tIns="72000" rIns="180000" bIns="72000" anchor="ctr" anchorCtr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V</a:t>
                </a:r>
                <a:r>
                  <a:rPr lang="es-ES" sz="2400" baseline="-25000">
                    <a:latin typeface="Arial" panose="020B0604020202020204" pitchFamily="34" charset="0"/>
                  </a:rPr>
                  <a:t>EF</a:t>
                </a:r>
                <a:r>
                  <a:rPr lang="es-ES" sz="2400">
                    <a:latin typeface="Comic Sans MS" panose="030F0702030302020204" pitchFamily="66" charset="0"/>
                  </a:rPr>
                  <a:t> I</a:t>
                </a:r>
                <a:r>
                  <a:rPr lang="es-ES" sz="2400" baseline="-25000">
                    <a:latin typeface="Arial" panose="020B0604020202020204" pitchFamily="34" charset="0"/>
                  </a:rPr>
                  <a:t>EF  </a:t>
                </a:r>
                <a:r>
                  <a:rPr lang="es-ES" sz="2400">
                    <a:latin typeface="Arial" panose="020B0604020202020204" pitchFamily="34" charset="0"/>
                  </a:rPr>
                  <a:t>cos</a:t>
                </a:r>
                <a:r>
                  <a:rPr lang="es-ES" sz="2400">
                    <a:sym typeface="Symbol" panose="05050102010706020507" pitchFamily="18" charset="2"/>
                  </a:rPr>
                  <a:t></a:t>
                </a:r>
                <a:endParaRPr lang="es-ES" sz="2400"/>
              </a:p>
            </p:txBody>
          </p:sp>
        </p:grpSp>
      </p:grpSp>
      <p:sp>
        <p:nvSpPr>
          <p:cNvPr id="5" name="Text Box 6">
            <a:extLst>
              <a:ext uri="{FF2B5EF4-FFF2-40B4-BE49-F238E27FC236}">
                <a16:creationId xmlns:a16="http://schemas.microsoft.com/office/drawing/2014/main" id="{B5183852-1A11-0700-1B8E-649558435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3229" y="5052667"/>
            <a:ext cx="7988285" cy="17850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80000" tIns="72000" rIns="18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s-ES" sz="2400">
                <a:latin typeface="Arial" panose="020B0604020202020204" pitchFamily="34" charset="0"/>
              </a:rPr>
              <a:t>Si en un circuito los condensadores y las bobinas </a:t>
            </a:r>
            <a:r>
              <a:rPr lang="es-ES" sz="2400" dirty="0">
                <a:latin typeface="Arial" panose="020B0604020202020204" pitchFamily="34" charset="0"/>
              </a:rPr>
              <a:t>están </a:t>
            </a:r>
            <a:r>
              <a:rPr lang="es-ES" sz="2400">
                <a:latin typeface="Arial" panose="020B0604020202020204" pitchFamily="34" charset="0"/>
              </a:rPr>
              <a:t>compensados: P</a:t>
            </a:r>
            <a:r>
              <a:rPr lang="es-ES" sz="2400" baseline="-25000">
                <a:latin typeface="Arial" panose="020B0604020202020204" pitchFamily="34" charset="0"/>
              </a:rPr>
              <a:t>r</a:t>
            </a:r>
            <a:r>
              <a:rPr lang="es-ES" sz="2400">
                <a:latin typeface="Arial" panose="020B0604020202020204" pitchFamily="34" charset="0"/>
              </a:rPr>
              <a:t> = 0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sen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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= </a:t>
            </a:r>
            <a:r>
              <a:rPr lang="es-ES" sz="2400">
                <a:latin typeface="Arial" panose="020B0604020202020204" pitchFamily="34" charset="0"/>
              </a:rPr>
              <a:t>0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 </a:t>
            </a:r>
            <a:r>
              <a:rPr lang="es-ES" sz="2400">
                <a:latin typeface="Arial" panose="020B0604020202020204" pitchFamily="34" charset="0"/>
              </a:rPr>
              <a:t>= 0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cos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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=1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</a:p>
          <a:p>
            <a:pPr algn="ctr" eaLnBrk="1" hangingPunct="1">
              <a:spcBef>
                <a:spcPct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                      </a:t>
            </a:r>
            <a:r>
              <a:rPr lang="es-ES" sz="2400">
                <a:latin typeface="Arial" panose="020B0604020202020204" pitchFamily="34" charset="0"/>
              </a:rPr>
              <a:t>P</a:t>
            </a:r>
            <a:r>
              <a:rPr lang="es-ES" sz="2400" baseline="-25000">
                <a:latin typeface="Arial" panose="020B0604020202020204" pitchFamily="34" charset="0"/>
              </a:rPr>
              <a:t>ap</a:t>
            </a:r>
            <a:r>
              <a:rPr lang="es-ES" sz="2400">
                <a:latin typeface="Arial" panose="020B0604020202020204" pitchFamily="34" charset="0"/>
              </a:rPr>
              <a:t> = P</a:t>
            </a:r>
            <a:r>
              <a:rPr lang="es-ES" sz="2400" baseline="-25000">
                <a:latin typeface="Arial" panose="020B0604020202020204" pitchFamily="34" charset="0"/>
              </a:rPr>
              <a:t>ac (media)  </a:t>
            </a:r>
            <a:r>
              <a:rPr lang="es-ES" sz="2400">
                <a:latin typeface="Arial" panose="020B0604020202020204" pitchFamily="34" charset="0"/>
              </a:rPr>
              <a:t>y P</a:t>
            </a:r>
            <a:r>
              <a:rPr lang="es-ES" sz="2400" baseline="-25000">
                <a:latin typeface="Arial" panose="020B0604020202020204" pitchFamily="34" charset="0"/>
              </a:rPr>
              <a:t>ac (media) </a:t>
            </a:r>
            <a:r>
              <a:rPr lang="es-ES" sz="2400">
                <a:latin typeface="Arial" panose="020B0604020202020204" pitchFamily="34" charset="0"/>
              </a:rPr>
              <a:t>es máxima.</a:t>
            </a:r>
          </a:p>
          <a:p>
            <a:pPr algn="ctr" eaLnBrk="1" hangingPunct="1">
              <a:spcBef>
                <a:spcPct val="0"/>
              </a:spcBef>
              <a:buNone/>
            </a:pPr>
            <a:r>
              <a:rPr lang="es-ES" sz="2400">
                <a:latin typeface="Arial" panose="020B0604020202020204" pitchFamily="34" charset="0"/>
              </a:rPr>
              <a:t>Es la situación deseada </a:t>
            </a:r>
            <a:r>
              <a:rPr lang="es-ES" sz="2400" dirty="0">
                <a:latin typeface="Arial" panose="020B0604020202020204" pitchFamily="34" charset="0"/>
              </a:rPr>
              <a:t>eléctricamente: </a:t>
            </a:r>
            <a:r>
              <a:rPr lang="es-ES" sz="2400">
                <a:latin typeface="Arial" panose="020B0604020202020204" pitchFamily="34" charset="0"/>
              </a:rPr>
              <a:t>Dar sólo </a:t>
            </a:r>
            <a:r>
              <a:rPr lang="es-ES" sz="2400" dirty="0">
                <a:latin typeface="Arial" panose="020B0604020202020204" pitchFamily="34" charset="0"/>
              </a:rPr>
              <a:t>P a R</a:t>
            </a:r>
          </a:p>
        </p:txBody>
      </p:sp>
    </p:spTree>
    <p:extLst>
      <p:ext uri="{BB962C8B-B14F-4D97-AF65-F5344CB8AC3E}">
        <p14:creationId xmlns:p14="http://schemas.microsoft.com/office/powerpoint/2010/main" val="285258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0000" tIns="82800" rIns="90000" bIns="82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0000" tIns="82800" rIns="90000" bIns="82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10980</TotalTime>
  <Words>2638</Words>
  <Application>Microsoft Office PowerPoint</Application>
  <PresentationFormat>Personalizado</PresentationFormat>
  <Paragraphs>403</Paragraphs>
  <Slides>24</Slides>
  <Notes>23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2" baseType="lpstr">
      <vt:lpstr>Arial</vt:lpstr>
      <vt:lpstr>Cambria Math</vt:lpstr>
      <vt:lpstr>Comic Sans MS</vt:lpstr>
      <vt:lpstr>Symbol</vt:lpstr>
      <vt:lpstr>Times New Roman</vt:lpstr>
      <vt:lpstr>Trebuchet MS</vt:lpstr>
      <vt:lpstr>FNT_2012_TEMA1_1</vt:lpstr>
      <vt:lpstr>Ecuación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Jose Enrique Martin Dominguez</cp:lastModifiedBy>
  <cp:revision>1558</cp:revision>
  <dcterms:created xsi:type="dcterms:W3CDTF">2012-02-20T13:06:36Z</dcterms:created>
  <dcterms:modified xsi:type="dcterms:W3CDTF">2024-11-06T15:07:36Z</dcterms:modified>
</cp:coreProperties>
</file>