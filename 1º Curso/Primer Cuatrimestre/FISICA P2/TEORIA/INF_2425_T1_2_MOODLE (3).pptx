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79" r:id="rId2"/>
    <p:sldId id="380" r:id="rId3"/>
    <p:sldId id="409" r:id="rId4"/>
    <p:sldId id="410" r:id="rId5"/>
    <p:sldId id="396" r:id="rId6"/>
    <p:sldId id="411" r:id="rId7"/>
    <p:sldId id="400" r:id="rId8"/>
    <p:sldId id="257" r:id="rId9"/>
    <p:sldId id="405" r:id="rId10"/>
    <p:sldId id="381" r:id="rId11"/>
    <p:sldId id="348" r:id="rId12"/>
    <p:sldId id="406" r:id="rId13"/>
    <p:sldId id="392" r:id="rId14"/>
    <p:sldId id="384" r:id="rId15"/>
    <p:sldId id="349" r:id="rId16"/>
    <p:sldId id="385" r:id="rId17"/>
    <p:sldId id="382" r:id="rId18"/>
    <p:sldId id="389" r:id="rId19"/>
    <p:sldId id="390" r:id="rId20"/>
    <p:sldId id="407" r:id="rId21"/>
    <p:sldId id="408" r:id="rId22"/>
    <p:sldId id="402" r:id="rId23"/>
    <p:sldId id="387" r:id="rId24"/>
    <p:sldId id="394" r:id="rId25"/>
    <p:sldId id="403" r:id="rId26"/>
    <p:sldId id="414" r:id="rId27"/>
    <p:sldId id="417" r:id="rId28"/>
    <p:sldId id="327" r:id="rId29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0000FF"/>
    <a:srgbClr val="996633"/>
    <a:srgbClr val="008000"/>
    <a:srgbClr val="CCFFCC"/>
    <a:srgbClr val="CC0000"/>
    <a:srgbClr val="FFFF99"/>
    <a:srgbClr val="66669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58" autoAdjust="0"/>
    <p:restoredTop sz="87530" autoAdjust="0"/>
  </p:normalViewPr>
  <p:slideViewPr>
    <p:cSldViewPr snapToGrid="0" showGuides="1">
      <p:cViewPr varScale="1">
        <p:scale>
          <a:sx n="103" d="100"/>
          <a:sy n="103" d="100"/>
        </p:scale>
        <p:origin x="1524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AF50D4E-F01E-466C-8C3C-2E2C68F60E8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211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F94D716-0C4A-465A-90F5-0CEE9BD3D6E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831379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614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614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6F65C24-9183-4A0A-AF40-9D9FDAE337E3}" type="slidenum">
              <a:rPr lang="es-ES"/>
              <a:pPr algn="r" eaLnBrk="1" hangingPunct="1">
                <a:spcBef>
                  <a:spcPct val="0"/>
                </a:spcBef>
              </a:pPr>
              <a:t>1</a:t>
            </a:fld>
            <a:endParaRPr lang="es-ES"/>
          </a:p>
        </p:txBody>
      </p:sp>
      <p:sp>
        <p:nvSpPr>
          <p:cNvPr id="61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baseline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970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8195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8196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BCCC8B0-779E-4479-8E3B-771ED6855745}" type="slidenum">
              <a:rPr lang="es-ES"/>
              <a:pPr algn="r" eaLnBrk="1" hangingPunct="1">
                <a:spcBef>
                  <a:spcPct val="0"/>
                </a:spcBef>
              </a:pPr>
              <a:t>2</a:t>
            </a:fld>
            <a:endParaRPr lang="es-ES"/>
          </a:p>
        </p:txBody>
      </p:sp>
      <p:sp>
        <p:nvSpPr>
          <p:cNvPr id="81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eaLnBrk="1" hangingPunct="1">
              <a:spcBef>
                <a:spcPct val="50000"/>
              </a:spcBef>
            </a:pPr>
            <a:endParaRPr lang="es-ES" b="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058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B1AA30-FF37-43BD-89BE-A318C0062924}" type="slidenum">
              <a:rPr lang="es-ES" smtClean="0"/>
              <a:pPr>
                <a:spcBef>
                  <a:spcPct val="0"/>
                </a:spcBef>
              </a:pPr>
              <a:t>3</a:t>
            </a:fld>
            <a:endParaRPr lang="es-ES"/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86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686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686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86434DE-7905-429D-AB6F-F7E3C70396B3}" type="slidenum">
              <a:rPr lang="es-ES"/>
              <a:pPr algn="r" eaLnBrk="1" hangingPunct="1">
                <a:spcBef>
                  <a:spcPct val="0"/>
                </a:spcBef>
              </a:pPr>
              <a:t>4</a:t>
            </a:fld>
            <a:endParaRPr lang="es-E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232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345022-540F-477E-A8B9-61CC2DD0E358}" type="slidenum">
              <a:rPr lang="es-ES" smtClean="0"/>
              <a:pPr>
                <a:spcBef>
                  <a:spcPct val="0"/>
                </a:spcBef>
              </a:pPr>
              <a:t>5</a:t>
            </a:fld>
            <a:endParaRPr lang="es-E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644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CCF5AA-42BD-45C6-A836-3FC96F8EC8AD}" type="slidenum">
              <a:rPr lang="es-ES" smtClean="0"/>
              <a:pPr>
                <a:spcBef>
                  <a:spcPct val="0"/>
                </a:spcBef>
              </a:pPr>
              <a:t>6</a:t>
            </a:fld>
            <a:endParaRPr lang="es-E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="1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008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A3B7E0-BB8D-4B89-BF7A-B6B16BE4EFF5}" type="slidenum">
              <a:rPr lang="es-ES" smtClean="0"/>
              <a:pPr>
                <a:spcBef>
                  <a:spcPct val="0"/>
                </a:spcBef>
              </a:pPr>
              <a:t>7</a:t>
            </a:fld>
            <a:endParaRPr lang="es-E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4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21F667-C7C4-4053-9A80-0A0E4F751D73}" type="slidenum">
              <a:rPr lang="es-ES" smtClean="0"/>
              <a:pPr>
                <a:spcBef>
                  <a:spcPct val="0"/>
                </a:spcBef>
              </a:pPr>
              <a:t>8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1300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21F667-C7C4-4053-9A80-0A0E4F751D73}" type="slidenum">
              <a:rPr lang="es-ES" smtClean="0"/>
              <a:pPr>
                <a:spcBef>
                  <a:spcPct val="0"/>
                </a:spcBef>
              </a:pPr>
              <a:t>9</a:t>
            </a:fld>
            <a:endParaRPr lang="es-ES"/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97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9326EB9-66B2-42EC-AFD3-B559531BFAFD}" type="slidenum">
              <a:rPr lang="es-ES"/>
              <a:pPr algn="r" eaLnBrk="1" hangingPunct="1">
                <a:spcBef>
                  <a:spcPct val="0"/>
                </a:spcBef>
              </a:pPr>
              <a:t>10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378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DAA680-E587-4D98-80A1-78C55BD24DFC}" type="slidenum">
              <a:rPr lang="es-ES" smtClean="0"/>
              <a:pPr>
                <a:spcBef>
                  <a:spcPct val="0"/>
                </a:spcBef>
              </a:pPr>
              <a:t>11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6500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43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43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DAA680-E587-4D98-80A1-78C55BD24DFC}" type="slidenum">
              <a:rPr lang="es-ES" smtClean="0"/>
              <a:pPr>
                <a:spcBef>
                  <a:spcPct val="0"/>
                </a:spcBef>
              </a:pPr>
              <a:t>12</a:t>
            </a:fld>
            <a:endParaRPr lang="es-ES"/>
          </a:p>
        </p:txBody>
      </p:sp>
      <p:sp>
        <p:nvSpPr>
          <p:cNvPr id="143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i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244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229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229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9326EB9-66B2-42EC-AFD3-B559531BFAFD}" type="slidenum">
              <a:rPr lang="es-ES"/>
              <a:pPr algn="r" eaLnBrk="1" hangingPunct="1">
                <a:spcBef>
                  <a:spcPct val="0"/>
                </a:spcBef>
              </a:pPr>
              <a:t>13</a:t>
            </a:fld>
            <a:endParaRPr lang="es-ES"/>
          </a:p>
        </p:txBody>
      </p:sp>
      <p:sp>
        <p:nvSpPr>
          <p:cNvPr id="122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46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6387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6388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FF42727-CE32-48DE-89A0-6A8D7A466E4A}" type="slidenum">
              <a:rPr lang="es-ES"/>
              <a:pPr algn="r" eaLnBrk="1" hangingPunct="1">
                <a:spcBef>
                  <a:spcPct val="0"/>
                </a:spcBef>
              </a:pPr>
              <a:t>14</a:t>
            </a:fld>
            <a:endParaRPr lang="es-ES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87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184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184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904353-6BD9-4A80-AF4E-141053298615}" type="slidenum">
              <a:rPr lang="es-ES" smtClean="0"/>
              <a:pPr>
                <a:spcBef>
                  <a:spcPct val="0"/>
                </a:spcBef>
              </a:pPr>
              <a:t>15</a:t>
            </a:fld>
            <a:endParaRPr lang="es-ES"/>
          </a:p>
        </p:txBody>
      </p:sp>
      <p:sp>
        <p:nvSpPr>
          <p:cNvPr id="184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90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E82D9E-252E-4541-A73A-40ABD302A418}" type="slidenum">
              <a:rPr lang="es-ES" smtClean="0"/>
              <a:pPr>
                <a:spcBef>
                  <a:spcPct val="0"/>
                </a:spcBef>
              </a:pPr>
              <a:t>16</a:t>
            </a:fld>
            <a:endParaRPr lang="es-ES"/>
          </a:p>
        </p:txBody>
      </p:sp>
      <p:sp>
        <p:nvSpPr>
          <p:cNvPr id="204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717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DCAC4-A3FA-4ECB-8050-E446A7DAB242}" type="slidenum">
              <a:rPr lang="es-ES"/>
              <a:pPr algn="r" eaLnBrk="1" hangingPunct="1">
                <a:spcBef>
                  <a:spcPct val="0"/>
                </a:spcBef>
              </a:pPr>
              <a:t>17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387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DCAC4-A3FA-4ECB-8050-E446A7DAB242}" type="slidenum">
              <a:rPr lang="es-ES"/>
              <a:pPr algn="r" eaLnBrk="1" hangingPunct="1">
                <a:spcBef>
                  <a:spcPct val="0"/>
                </a:spcBef>
              </a:pPr>
              <a:t>18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572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2531" name="Rectangle 6"/>
          <p:cNvSpPr txBox="1">
            <a:spLocks noGrp="1" noChangeArrowheads="1"/>
          </p:cNvSpPr>
          <p:nvPr/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2532" name="Rectangle 7"/>
          <p:cNvSpPr txBox="1">
            <a:spLocks noGrp="1" noChangeArrowheads="1"/>
          </p:cNvSpPr>
          <p:nvPr/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12" tIns="45805" rIns="91612" bIns="45805" anchor="b"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56DCAC4-A3FA-4ECB-8050-E446A7DAB242}" type="slidenum">
              <a:rPr lang="es-ES"/>
              <a:pPr algn="r" eaLnBrk="1" hangingPunct="1">
                <a:spcBef>
                  <a:spcPct val="0"/>
                </a:spcBef>
              </a:pPr>
              <a:t>19</a:t>
            </a:fld>
            <a:endParaRPr lang="es-ES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99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D392EA-2F21-4D49-8E59-446041E2DB2C}" type="slidenum">
              <a:rPr lang="es-ES" smtClean="0"/>
              <a:pPr>
                <a:spcBef>
                  <a:spcPct val="0"/>
                </a:spcBef>
              </a:pPr>
              <a:t>20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662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D392EA-2F21-4D49-8E59-446041E2DB2C}" type="slidenum">
              <a:rPr lang="es-ES" smtClean="0"/>
              <a:pPr>
                <a:spcBef>
                  <a:spcPct val="0"/>
                </a:spcBef>
              </a:pPr>
              <a:t>21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7463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D392EA-2F21-4D49-8E59-446041E2DB2C}" type="slidenum">
              <a:rPr lang="es-ES" smtClean="0"/>
              <a:pPr>
                <a:spcBef>
                  <a:spcPct val="0"/>
                </a:spcBef>
              </a:pPr>
              <a:t>22</a:t>
            </a:fld>
            <a:endParaRPr lang="es-ES"/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00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4515B8-C411-407D-88A3-A3B7A6E4C58E}" type="slidenum">
              <a:rPr lang="es-ES" smtClean="0"/>
              <a:pPr>
                <a:spcBef>
                  <a:spcPct val="0"/>
                </a:spcBef>
              </a:pPr>
              <a:t>23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66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4515B8-C411-407D-88A3-A3B7A6E4C58E}" type="slidenum">
              <a:rPr lang="es-ES" smtClean="0"/>
              <a:pPr>
                <a:spcBef>
                  <a:spcPct val="0"/>
                </a:spcBef>
              </a:pPr>
              <a:t>24</a:t>
            </a:fld>
            <a:endParaRPr lang="es-ES"/>
          </a:p>
        </p:txBody>
      </p:sp>
      <p:sp>
        <p:nvSpPr>
          <p:cNvPr id="266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787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7CDBF-D557-4250-84C2-FBCFA3176301}" type="slidenum">
              <a:rPr lang="es-ES" smtClean="0"/>
              <a:pPr>
                <a:spcBef>
                  <a:spcPct val="0"/>
                </a:spcBef>
              </a:pPr>
              <a:t>25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3320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7CDBF-D557-4250-84C2-FBCFA3176301}" type="slidenum">
              <a:rPr lang="es-ES" smtClean="0"/>
              <a:pPr>
                <a:spcBef>
                  <a:spcPct val="0"/>
                </a:spcBef>
              </a:pPr>
              <a:t>26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6858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TEMA 1: ECUACIONES DE MAXWELL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s-ES"/>
              <a:t>FNT - CURSO 2005/2006</a:t>
            </a:r>
          </a:p>
        </p:txBody>
      </p:sp>
      <p:sp>
        <p:nvSpPr>
          <p:cNvPr id="28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637CDBF-D557-4250-84C2-FBCFA3176301}" type="slidenum">
              <a:rPr lang="es-ES" smtClean="0"/>
              <a:pPr>
                <a:spcBef>
                  <a:spcPct val="0"/>
                </a:spcBef>
              </a:pPr>
              <a:t>27</a:t>
            </a:fld>
            <a:endParaRPr lang="es-ES"/>
          </a:p>
        </p:txBody>
      </p:sp>
      <p:sp>
        <p:nvSpPr>
          <p:cNvPr id="286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13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BEA7E-77D8-47A7-99CE-53AA0F625F6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283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14788-B561-49A0-9C37-7F788B45CC9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23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CF7F6-217E-4BA0-95F3-1655A468461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53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561ED-E98A-425F-A4AF-6C3576B7C39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754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995B1-72BA-4F72-973E-B7352AC7C3F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33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ED172-AF7C-405F-AAA0-C296B6E2EB6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741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3CA0A-94E7-494A-A440-DA2BCF1D085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7787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E8B25C-5106-4604-830E-CE9C2DCCEA5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618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A8601-8532-40F0-A9C2-365DDBCC188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2789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54FD9-732C-45AC-A2B0-0CBF4B965CC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1639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D5524-C0D1-4BBD-B31C-D3864D9BD28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999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0572F-F430-477D-A22B-60DE9CF510A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4047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s-ES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4C30BBE-6D8C-4EC8-B0C9-008C0D03D605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6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4.png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5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2.wmf"/><Relationship Id="rId5" Type="http://schemas.openxmlformats.org/officeDocument/2006/relationships/image" Target="../media/image4.png"/><Relationship Id="rId10" Type="http://schemas.openxmlformats.org/officeDocument/2006/relationships/oleObject" Target="../embeddings/oleObject36.bin"/><Relationship Id="rId4" Type="http://schemas.openxmlformats.org/officeDocument/2006/relationships/image" Target="../media/image29.wmf"/><Relationship Id="rId9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2.wmf"/><Relationship Id="rId3" Type="http://schemas.openxmlformats.org/officeDocument/2006/relationships/oleObject" Target="../embeddings/oleObject33.bin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36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1.wmf"/><Relationship Id="rId5" Type="http://schemas.openxmlformats.org/officeDocument/2006/relationships/image" Target="../media/image4.png"/><Relationship Id="rId10" Type="http://schemas.openxmlformats.org/officeDocument/2006/relationships/oleObject" Target="../embeddings/oleObject35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7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30"/>
          <p:cNvSpPr txBox="1">
            <a:spLocks noChangeArrowheads="1"/>
          </p:cNvSpPr>
          <p:nvPr/>
        </p:nvSpPr>
        <p:spPr bwMode="auto">
          <a:xfrm>
            <a:off x="1624013" y="3221038"/>
            <a:ext cx="8239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CARGA ELÉCTRICA Y MATERIA. CAMPO ELÉCTRICO</a:t>
            </a:r>
          </a:p>
        </p:txBody>
      </p:sp>
      <p:sp>
        <p:nvSpPr>
          <p:cNvPr id="5123" name="Text Box 1031"/>
          <p:cNvSpPr txBox="1">
            <a:spLocks noChangeArrowheads="1"/>
          </p:cNvSpPr>
          <p:nvPr/>
        </p:nvSpPr>
        <p:spPr bwMode="auto">
          <a:xfrm>
            <a:off x="5278438" y="4105275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(2/5)</a:t>
            </a:r>
          </a:p>
        </p:txBody>
      </p:sp>
      <p:sp>
        <p:nvSpPr>
          <p:cNvPr id="5124" name="Text Box 1032"/>
          <p:cNvSpPr txBox="1">
            <a:spLocks noChangeArrowheads="1"/>
          </p:cNvSpPr>
          <p:nvPr/>
        </p:nvSpPr>
        <p:spPr bwMode="auto">
          <a:xfrm>
            <a:off x="5065713" y="234315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1</a:t>
            </a:r>
          </a:p>
        </p:txBody>
      </p:sp>
      <p:grpSp>
        <p:nvGrpSpPr>
          <p:cNvPr id="15" name="Group 23"/>
          <p:cNvGrpSpPr>
            <a:grpSpLocks/>
          </p:cNvGrpSpPr>
          <p:nvPr/>
        </p:nvGrpSpPr>
        <p:grpSpPr bwMode="auto">
          <a:xfrm>
            <a:off x="7772400" y="398463"/>
            <a:ext cx="2571750" cy="2395538"/>
            <a:chOff x="4896" y="276"/>
            <a:chExt cx="1620" cy="1509"/>
          </a:xfrm>
        </p:grpSpPr>
        <p:sp>
          <p:nvSpPr>
            <p:cNvPr id="16" name="AutoShape 1067"/>
            <p:cNvSpPr>
              <a:spLocks noChangeArrowheads="1"/>
            </p:cNvSpPr>
            <p:nvPr/>
          </p:nvSpPr>
          <p:spPr bwMode="auto">
            <a:xfrm>
              <a:off x="4896" y="276"/>
              <a:ext cx="1620" cy="1509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Text Box 1068"/>
            <p:cNvSpPr txBox="1">
              <a:spLocks noChangeArrowheads="1"/>
            </p:cNvSpPr>
            <p:nvPr/>
          </p:nvSpPr>
          <p:spPr bwMode="auto">
            <a:xfrm>
              <a:off x="5037" y="415"/>
              <a:ext cx="133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GRUPOS DE PRÁCTICAS</a:t>
              </a:r>
            </a:p>
          </p:txBody>
        </p:sp>
        <p:sp>
          <p:nvSpPr>
            <p:cNvPr id="18" name="Text Box 1069"/>
            <p:cNvSpPr txBox="1">
              <a:spLocks noChangeArrowheads="1"/>
            </p:cNvSpPr>
            <p:nvPr/>
          </p:nvSpPr>
          <p:spPr bwMode="auto">
            <a:xfrm>
              <a:off x="5037" y="994"/>
              <a:ext cx="1336" cy="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FFFFFF"/>
                  </a:solidFill>
                  <a:latin typeface="Trebuchet MS" panose="020B0603020202020204" pitchFamily="34" charset="0"/>
                </a:rPr>
                <a:t>HAY QUE APUNTARSE</a:t>
              </a:r>
              <a:endParaRPr lang="es-ES" sz="2400" b="1" dirty="0">
                <a:solidFill>
                  <a:srgbClr val="FFFFFF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9" name="Text Box 1062"/>
            <p:cNvSpPr txBox="1">
              <a:spLocks noChangeArrowheads="1"/>
            </p:cNvSpPr>
            <p:nvPr/>
          </p:nvSpPr>
          <p:spPr bwMode="auto">
            <a:xfrm>
              <a:off x="5265" y="1457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En Moodle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9999AA74-DFDD-B02D-9654-0412B4C40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061" y="3901546"/>
            <a:ext cx="6593301" cy="38148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08DE06BD-8BAD-8987-099F-104A649B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9526" y="3478980"/>
            <a:ext cx="6593301" cy="38148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9394" name="Rectangle 15"/>
          <p:cNvSpPr>
            <a:spLocks noChangeArrowheads="1"/>
          </p:cNvSpPr>
          <p:nvPr/>
        </p:nvSpPr>
        <p:spPr bwMode="auto">
          <a:xfrm>
            <a:off x="2540760" y="2774627"/>
            <a:ext cx="6593301" cy="44103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825625" y="60420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3" name="Rectangle 2"/>
          <p:cNvSpPr>
            <a:spLocks noChangeArrowheads="1"/>
          </p:cNvSpPr>
          <p:nvPr/>
        </p:nvSpPr>
        <p:spPr bwMode="auto">
          <a:xfrm>
            <a:off x="1825625" y="347980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1825625" y="4581525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5" name="Rectangle 4"/>
          <p:cNvSpPr>
            <a:spLocks noChangeArrowheads="1"/>
          </p:cNvSpPr>
          <p:nvPr/>
        </p:nvSpPr>
        <p:spPr bwMode="auto">
          <a:xfrm>
            <a:off x="1825625" y="2000250"/>
            <a:ext cx="627063" cy="417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Rectangle 5"/>
          <p:cNvSpPr>
            <a:spLocks noChangeArrowheads="1"/>
          </p:cNvSpPr>
          <p:nvPr/>
        </p:nvSpPr>
        <p:spPr bwMode="auto">
          <a:xfrm>
            <a:off x="1443038" y="566738"/>
            <a:ext cx="74469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1: CARGA ELÉCTRICA Y MATERIA.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CAMPO ELÉCTRICO</a:t>
            </a:r>
          </a:p>
        </p:txBody>
      </p:sp>
      <p:sp>
        <p:nvSpPr>
          <p:cNvPr id="7177" name="Rectangle 6"/>
          <p:cNvSpPr>
            <a:spLocks noChangeArrowheads="1"/>
          </p:cNvSpPr>
          <p:nvPr/>
        </p:nvSpPr>
        <p:spPr bwMode="auto">
          <a:xfrm>
            <a:off x="1781175" y="1974850"/>
            <a:ext cx="708025" cy="447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1.1.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1.2.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1.3.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1.4.</a:t>
            </a:r>
          </a:p>
        </p:txBody>
      </p: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2586038" y="1982788"/>
            <a:ext cx="7850187" cy="484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Eléctrica.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Cuantización y Conservación.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 Puntual y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Ley de Coulomb.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Principio de Superposición.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Campos debidos a Distribuciones de Carga.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Campo Eléctrico: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latin typeface="Arial" panose="020B0604020202020204" pitchFamily="34" charset="0"/>
              </a:rPr>
              <a:t>Líneas de Campo.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ES" sz="24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Conductores y Aislantes.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Cargas Inducidas.</a:t>
            </a:r>
            <a:endParaRPr lang="es-ES" sz="2000" b="1">
              <a:latin typeface="Arial" panose="020B0604020202020204" pitchFamily="34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8802340" y="330345"/>
            <a:ext cx="1574250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</a:t>
            </a: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: 25/09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T2: 24/09</a:t>
            </a:r>
          </a:p>
          <a:p>
            <a:pPr eaLnBrk="1" hangingPunct="1">
              <a:spcBef>
                <a:spcPts val="0"/>
              </a:spcBef>
            </a:pPr>
            <a:r>
              <a:rPr lang="es-ES" sz="2400">
                <a:solidFill>
                  <a:srgbClr val="FFFFFF"/>
                </a:solidFill>
                <a:latin typeface="Trebuchet MS" panose="020B0603020202020204" pitchFamily="34" charset="0"/>
              </a:rPr>
              <a:t>T3: 23/09</a:t>
            </a:r>
            <a:endParaRPr lang="es-ES" sz="2400" dirty="0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FEDDAA3-70CA-401E-8397-F9592B93A29F}"/>
              </a:ext>
            </a:extLst>
          </p:cNvPr>
          <p:cNvGrpSpPr/>
          <p:nvPr/>
        </p:nvGrpSpPr>
        <p:grpSpPr>
          <a:xfrm>
            <a:off x="6559743" y="3916968"/>
            <a:ext cx="3921760" cy="2764899"/>
            <a:chOff x="8419023" y="2535208"/>
            <a:chExt cx="3921760" cy="2764899"/>
          </a:xfrm>
        </p:grpSpPr>
        <p:sp>
          <p:nvSpPr>
            <p:cNvPr id="13" name="Text Box 1062">
              <a:extLst>
                <a:ext uri="{FF2B5EF4-FFF2-40B4-BE49-F238E27FC236}">
                  <a16:creationId xmlns:a16="http://schemas.microsoft.com/office/drawing/2014/main" id="{F0A5DEFE-730C-4987-9F08-AC4CB682E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19023" y="4466929"/>
              <a:ext cx="3921760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Veremos una clasificación de los medios materiales</a:t>
              </a:r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9CD294ED-C431-494A-98A1-2A2F7AE5D1D2}"/>
                </a:ext>
              </a:extLst>
            </p:cNvPr>
            <p:cNvSpPr/>
            <p:nvPr/>
          </p:nvSpPr>
          <p:spPr bwMode="auto">
            <a:xfrm rot="20615010">
              <a:off x="10519891" y="2535208"/>
              <a:ext cx="1008000" cy="1836000"/>
            </a:xfrm>
            <a:custGeom>
              <a:avLst/>
              <a:gdLst>
                <a:gd name="connsiteX0" fmla="*/ 19878 w 377731"/>
                <a:gd name="connsiteY0" fmla="*/ 0 h 626165"/>
                <a:gd name="connsiteX1" fmla="*/ 377687 w 377731"/>
                <a:gd name="connsiteY1" fmla="*/ 198782 h 626165"/>
                <a:gd name="connsiteX2" fmla="*/ 0 w 377731"/>
                <a:gd name="connsiteY2" fmla="*/ 626165 h 62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731" h="626165">
                  <a:moveTo>
                    <a:pt x="19878" y="0"/>
                  </a:moveTo>
                  <a:cubicBezTo>
                    <a:pt x="200439" y="47210"/>
                    <a:pt x="381000" y="94421"/>
                    <a:pt x="377687" y="198782"/>
                  </a:cubicBezTo>
                  <a:cubicBezTo>
                    <a:pt x="374374" y="303143"/>
                    <a:pt x="187187" y="464654"/>
                    <a:pt x="0" y="626165"/>
                  </a:cubicBezTo>
                </a:path>
              </a:pathLst>
            </a:cu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9394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quina doblada 7"/>
          <p:cNvSpPr/>
          <p:nvPr/>
        </p:nvSpPr>
        <p:spPr bwMode="auto">
          <a:xfrm>
            <a:off x="1288777" y="3337333"/>
            <a:ext cx="3544721" cy="1675404"/>
          </a:xfrm>
          <a:prstGeom prst="foldedCorner">
            <a:avLst>
              <a:gd name="adj" fmla="val 13028"/>
            </a:avLst>
          </a:prstGeom>
          <a:solidFill>
            <a:srgbClr val="FFFF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33797" name="Rectangle 2"/>
          <p:cNvSpPr>
            <a:spLocks noChangeArrowheads="1"/>
          </p:cNvSpPr>
          <p:nvPr/>
        </p:nvSpPr>
        <p:spPr bwMode="auto">
          <a:xfrm>
            <a:off x="1324551" y="496901"/>
            <a:ext cx="8751888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1.1.3. CARGA PUNTUAL Y DISTRIBUCIONES DE CARGA</a:t>
            </a: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4499264" y="1072603"/>
            <a:ext cx="6182591" cy="51473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carga contenida en un punto del espacio</a:t>
            </a: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1429905" y="1067563"/>
            <a:ext cx="2856977" cy="514738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none" lIns="90000" tIns="72000" rIns="90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CARGA PUNTUAL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78953" y="1798221"/>
            <a:ext cx="2657476" cy="1523997"/>
            <a:chOff x="854" y="2204"/>
            <a:chExt cx="1674" cy="960"/>
          </a:xfrm>
        </p:grpSpPr>
        <p:sp>
          <p:nvSpPr>
            <p:cNvPr id="35862" name="AutoShape 6"/>
            <p:cNvSpPr>
              <a:spLocks noChangeArrowheads="1"/>
            </p:cNvSpPr>
            <p:nvPr/>
          </p:nvSpPr>
          <p:spPr bwMode="auto">
            <a:xfrm>
              <a:off x="1450" y="2204"/>
              <a:ext cx="1078" cy="671"/>
            </a:xfrm>
            <a:prstGeom prst="cloudCallout">
              <a:avLst>
                <a:gd name="adj1" fmla="val -72272"/>
                <a:gd name="adj2" fmla="val 36085"/>
              </a:avLst>
            </a:prstGeom>
            <a:solidFill>
              <a:srgbClr val="FFCC9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817" name="Text Box 7"/>
            <p:cNvSpPr txBox="1">
              <a:spLocks noChangeArrowheads="1"/>
            </p:cNvSpPr>
            <p:nvPr/>
          </p:nvSpPr>
          <p:spPr bwMode="auto">
            <a:xfrm>
              <a:off x="1502" y="2362"/>
              <a:ext cx="102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¿PUNTO?</a:t>
              </a:r>
            </a:p>
          </p:txBody>
        </p:sp>
        <p:sp>
          <p:nvSpPr>
            <p:cNvPr id="3" name="Text Box 8"/>
            <p:cNvSpPr txBox="1">
              <a:spLocks noChangeArrowheads="1"/>
            </p:cNvSpPr>
            <p:nvPr/>
          </p:nvSpPr>
          <p:spPr bwMode="auto">
            <a:xfrm>
              <a:off x="854" y="2639"/>
              <a:ext cx="502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4800">
                  <a:solidFill>
                    <a:srgbClr val="000000"/>
                  </a:solidFill>
                  <a:latin typeface="Arial" panose="020B0604020202020204" pitchFamily="34" charset="0"/>
                  <a:sym typeface="Webdings" panose="05030102010509060703" pitchFamily="18" charset="2"/>
                </a:rPr>
                <a:t></a:t>
              </a:r>
            </a:p>
          </p:txBody>
        </p:sp>
      </p:grpSp>
      <p:sp>
        <p:nvSpPr>
          <p:cNvPr id="18455" name="Text Box 11"/>
          <p:cNvSpPr txBox="1">
            <a:spLocks noChangeArrowheads="1"/>
          </p:cNvSpPr>
          <p:nvPr/>
        </p:nvSpPr>
        <p:spPr bwMode="auto">
          <a:xfrm>
            <a:off x="5120643" y="3897087"/>
            <a:ext cx="5079711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El volumen de un punto es mucho menor que el volumen del sistema</a:t>
            </a:r>
          </a:p>
        </p:txBody>
      </p:sp>
      <p:sp>
        <p:nvSpPr>
          <p:cNvPr id="35860" name="Text Box 16"/>
          <p:cNvSpPr txBox="1">
            <a:spLocks noChangeArrowheads="1"/>
          </p:cNvSpPr>
          <p:nvPr/>
        </p:nvSpPr>
        <p:spPr bwMode="auto">
          <a:xfrm>
            <a:off x="4489104" y="1790418"/>
            <a:ext cx="6182591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Una porción del </a:t>
            </a:r>
            <a:r>
              <a:rPr lang="es-ES" sz="2400">
                <a:latin typeface="Arial" panose="020B0604020202020204" pitchFamily="34" charset="0"/>
              </a:rPr>
              <a:t>espacio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con dimensiones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infinitesimales (muy pequeñas)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respecto a las del </a:t>
            </a:r>
            <a:r>
              <a:rPr lang="es-ES" sz="2400">
                <a:latin typeface="Arial" panose="020B0604020202020204" pitchFamily="34" charset="0"/>
              </a:rPr>
              <a:t>sistema considerado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1273304" y="5608151"/>
            <a:ext cx="9273468" cy="536549"/>
            <a:chOff x="1335650" y="5789612"/>
            <a:chExt cx="9273468" cy="536549"/>
          </a:xfrm>
        </p:grpSpPr>
        <p:sp>
          <p:nvSpPr>
            <p:cNvPr id="33820" name="Rectangle 28"/>
            <p:cNvSpPr>
              <a:spLocks noChangeArrowheads="1"/>
            </p:cNvSpPr>
            <p:nvPr/>
          </p:nvSpPr>
          <p:spPr bwMode="auto">
            <a:xfrm>
              <a:off x="1335650" y="5837526"/>
              <a:ext cx="3194785" cy="44291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1379826" y="5789612"/>
              <a:ext cx="922929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dV</a:t>
              </a:r>
              <a:r>
                <a:rPr lang="es-ES" sz="2400" dirty="0">
                  <a:latin typeface="Arial" panose="020B0604020202020204" pitchFamily="34" charset="0"/>
                </a:rPr>
                <a:t> (diferencial de V)</a:t>
              </a:r>
              <a:r>
                <a:rPr lang="es-ES" sz="2000" dirty="0">
                  <a:latin typeface="Arial" panose="020B0604020202020204" pitchFamily="34" charset="0"/>
                </a:rPr>
                <a:t>  </a:t>
              </a:r>
              <a:r>
                <a:rPr lang="es-ES" sz="2400" dirty="0">
                  <a:latin typeface="Arial" panose="020B0604020202020204" pitchFamily="34" charset="0"/>
                </a:rPr>
                <a:t>:</a:t>
              </a:r>
              <a:endParaRPr lang="es-ES" sz="2400" dirty="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98669" name="Text Box 13"/>
          <p:cNvSpPr txBox="1">
            <a:spLocks noChangeArrowheads="1"/>
          </p:cNvSpPr>
          <p:nvPr/>
        </p:nvSpPr>
        <p:spPr bwMode="auto">
          <a:xfrm>
            <a:off x="1339578" y="3477990"/>
            <a:ext cx="3438938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¿La Tierra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 un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punto?</a:t>
            </a: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1249095" y="6502218"/>
            <a:ext cx="1353553" cy="536549"/>
          </a:xfrm>
          <a:prstGeom prst="rect">
            <a:avLst/>
          </a:prstGeom>
          <a:noFill/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 =</a:t>
            </a:r>
            <a:r>
              <a:rPr lang="es-ES" sz="2400" b="1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s-ES" sz="2400">
                <a:solidFill>
                  <a:srgbClr val="FF0000"/>
                </a:solidFill>
                <a:sym typeface="Symbol" panose="05050102010706020507" pitchFamily="18" charset="2"/>
              </a:rPr>
              <a:t>elta</a:t>
            </a:r>
            <a:endParaRPr lang="es-ES" sz="2400">
              <a:solidFill>
                <a:srgbClr val="FF0000"/>
              </a:solidFill>
            </a:endParaRPr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1531087" y="4009324"/>
            <a:ext cx="30834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chemeClr val="tx1"/>
                </a:solidFill>
                <a:latin typeface="Trebuchet MS" panose="020B0603020202020204" pitchFamily="34" charset="0"/>
              </a:rPr>
              <a:t>Depende del </a:t>
            </a:r>
            <a:r>
              <a:rPr lang="es-ES" sz="2400">
                <a:solidFill>
                  <a:schemeClr val="tx1"/>
                </a:solidFill>
                <a:latin typeface="Trebuchet MS" panose="020B0603020202020204" pitchFamily="34" charset="0"/>
              </a:rPr>
              <a:t>sistema que </a:t>
            </a:r>
            <a:r>
              <a:rPr lang="es-ES" sz="2400" dirty="0">
                <a:solidFill>
                  <a:schemeClr val="tx1"/>
                </a:solidFill>
                <a:latin typeface="Trebuchet MS" panose="020B0603020202020204" pitchFamily="34" charset="0"/>
              </a:rPr>
              <a:t>se considere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1283696" y="6113554"/>
            <a:ext cx="9263077" cy="536549"/>
            <a:chOff x="1346042" y="6345815"/>
            <a:chExt cx="9263077" cy="536549"/>
          </a:xfrm>
        </p:grpSpPr>
        <p:sp>
          <p:nvSpPr>
            <p:cNvPr id="33821" name="Rectangle 29"/>
            <p:cNvSpPr>
              <a:spLocks noChangeArrowheads="1"/>
            </p:cNvSpPr>
            <p:nvPr/>
          </p:nvSpPr>
          <p:spPr bwMode="auto">
            <a:xfrm>
              <a:off x="1346042" y="6371215"/>
              <a:ext cx="3184394" cy="442912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</p:spPr>
          <p:txBody>
            <a:bodyPr wrap="none" anchor="ctr"/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en-US" sz="2400">
                <a:latin typeface="Trebuchet MS" panose="020B0603020202020204" pitchFamily="34" charset="0"/>
              </a:endParaRPr>
            </a:p>
          </p:txBody>
        </p:sp>
        <p:sp>
          <p:nvSpPr>
            <p:cNvPr id="5" name="Text Box 29"/>
            <p:cNvSpPr txBox="1">
              <a:spLocks noChangeArrowheads="1"/>
            </p:cNvSpPr>
            <p:nvPr/>
          </p:nvSpPr>
          <p:spPr bwMode="auto">
            <a:xfrm>
              <a:off x="1386177" y="6345815"/>
              <a:ext cx="922294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V (incremento de V):</a:t>
              </a:r>
            </a:p>
          </p:txBody>
        </p:sp>
      </p:grpSp>
      <p:sp>
        <p:nvSpPr>
          <p:cNvPr id="33811" name="Text Box 11"/>
          <p:cNvSpPr txBox="1">
            <a:spLocks noChangeArrowheads="1"/>
          </p:cNvSpPr>
          <p:nvPr/>
        </p:nvSpPr>
        <p:spPr bwMode="auto">
          <a:xfrm>
            <a:off x="7069803" y="4996072"/>
            <a:ext cx="1308669" cy="536549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dV &lt;&lt; V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5801030" y="5021337"/>
            <a:ext cx="4109235" cy="488355"/>
            <a:chOff x="5210822" y="5041910"/>
            <a:chExt cx="4109235" cy="488355"/>
          </a:xfrm>
        </p:grpSpPr>
        <p:sp>
          <p:nvSpPr>
            <p:cNvPr id="33812" name="CuadroTexto 8"/>
            <p:cNvSpPr txBox="1">
              <a:spLocks noChangeArrowheads="1"/>
            </p:cNvSpPr>
            <p:nvPr/>
          </p:nvSpPr>
          <p:spPr bwMode="auto">
            <a:xfrm>
              <a:off x="5210822" y="5041910"/>
              <a:ext cx="97975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punto</a:t>
              </a:r>
            </a:p>
          </p:txBody>
        </p:sp>
        <p:cxnSp>
          <p:nvCxnSpPr>
            <p:cNvPr id="33813" name="Conector recto de flecha 10"/>
            <p:cNvCxnSpPr>
              <a:cxnSpLocks noChangeShapeType="1"/>
            </p:cNvCxnSpPr>
            <p:nvPr/>
          </p:nvCxnSpPr>
          <p:spPr bwMode="auto">
            <a:xfrm>
              <a:off x="6155465" y="5303550"/>
              <a:ext cx="218347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14" name="Conector recto de flecha 30"/>
            <p:cNvCxnSpPr>
              <a:cxnSpLocks noChangeShapeType="1"/>
            </p:cNvCxnSpPr>
            <p:nvPr/>
          </p:nvCxnSpPr>
          <p:spPr bwMode="auto">
            <a:xfrm flipH="1">
              <a:off x="7860500" y="5303550"/>
              <a:ext cx="218347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15" name="CuadroTexto 31"/>
            <p:cNvSpPr txBox="1">
              <a:spLocks noChangeArrowheads="1"/>
            </p:cNvSpPr>
            <p:nvPr/>
          </p:nvSpPr>
          <p:spPr bwMode="auto">
            <a:xfrm>
              <a:off x="8090233" y="5068600"/>
              <a:ext cx="12298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sistema</a:t>
              </a:r>
            </a:p>
          </p:txBody>
        </p:sp>
      </p:grpSp>
      <p:sp>
        <p:nvSpPr>
          <p:cNvPr id="13" name="CuadroTexto 12"/>
          <p:cNvSpPr txBox="1"/>
          <p:nvPr/>
        </p:nvSpPr>
        <p:spPr>
          <a:xfrm>
            <a:off x="5119846" y="3353026"/>
            <a:ext cx="2254143" cy="461665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cs typeface="Arial" panose="020B0604020202020204" pitchFamily="34" charset="0"/>
              </a:rPr>
              <a:t>PROPIEDAD 1</a:t>
            </a:r>
          </a:p>
        </p:txBody>
      </p:sp>
      <p:sp>
        <p:nvSpPr>
          <p:cNvPr id="9" name="Text Box 29">
            <a:extLst>
              <a:ext uri="{FF2B5EF4-FFF2-40B4-BE49-F238E27FC236}">
                <a16:creationId xmlns:a16="http://schemas.microsoft.com/office/drawing/2014/main" id="{3802AC10-116D-44C8-BE25-31DBC8450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442" y="5610785"/>
            <a:ext cx="527579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Variación o porción infinitesimal de V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29">
            <a:extLst>
              <a:ext uri="{FF2B5EF4-FFF2-40B4-BE49-F238E27FC236}">
                <a16:creationId xmlns:a16="http://schemas.microsoft.com/office/drawing/2014/main" id="{028827BC-52C1-425A-B799-0DA369C3F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45" y="6114258"/>
            <a:ext cx="6157946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Variación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o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porción finita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(no tiene por que ser muy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pequeña)</a:t>
            </a:r>
          </a:p>
        </p:txBody>
      </p:sp>
      <p:sp>
        <p:nvSpPr>
          <p:cNvPr id="11" name="CuadroTexto 31">
            <a:extLst>
              <a:ext uri="{FF2B5EF4-FFF2-40B4-BE49-F238E27FC236}">
                <a16:creationId xmlns:a16="http://schemas.microsoft.com/office/drawing/2014/main" id="{376A0E9B-F00A-4303-F2A6-2D10E9EF0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231" y="3367192"/>
            <a:ext cx="20697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</a:rPr>
              <a:t>(de un punto)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8659" grpId="0" animBg="1"/>
      <p:bldP spid="198660" grpId="0" animBg="1"/>
      <p:bldP spid="18455" grpId="0" animBg="1"/>
      <p:bldP spid="35860" grpId="0" animBg="1"/>
      <p:bldP spid="198669" grpId="0"/>
      <p:bldP spid="18463" grpId="0"/>
      <p:bldP spid="33818" grpId="0"/>
      <p:bldP spid="33811" grpId="0" animBg="1"/>
      <p:bldP spid="13" grpId="0" animBg="1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8" name="Text Box 12"/>
          <p:cNvSpPr txBox="1">
            <a:spLocks noChangeArrowheads="1"/>
          </p:cNvSpPr>
          <p:nvPr/>
        </p:nvSpPr>
        <p:spPr bwMode="auto">
          <a:xfrm>
            <a:off x="3992878" y="4073717"/>
            <a:ext cx="6309362" cy="8331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Consideraremos puntos “macroscópicos”, puntos a nuestro nivel de observación</a:t>
            </a:r>
          </a:p>
        </p:txBody>
      </p:sp>
      <p:sp>
        <p:nvSpPr>
          <p:cNvPr id="37911" name="Text Box 16"/>
          <p:cNvSpPr txBox="1">
            <a:spLocks noChangeArrowheads="1"/>
          </p:cNvSpPr>
          <p:nvPr/>
        </p:nvSpPr>
        <p:spPr bwMode="auto">
          <a:xfrm>
            <a:off x="3992878" y="487996"/>
            <a:ext cx="6309362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Las magnitudes definidas en el punto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tienen el mismo valor en todo el punto</a:t>
            </a:r>
          </a:p>
        </p:txBody>
      </p:sp>
      <p:sp>
        <p:nvSpPr>
          <p:cNvPr id="51232" name="Text Box 32"/>
          <p:cNvSpPr txBox="1">
            <a:spLocks noChangeArrowheads="1"/>
          </p:cNvSpPr>
          <p:nvPr/>
        </p:nvSpPr>
        <p:spPr bwMode="auto">
          <a:xfrm>
            <a:off x="1818640" y="1549708"/>
            <a:ext cx="7914640" cy="206476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u="sng" dirty="0"/>
              <a:t>Ejemplo</a:t>
            </a:r>
            <a:r>
              <a:rPr lang="es-ES" sz="2400" dirty="0"/>
              <a:t>: En un río, si se considera como magnitud la velocidad del agua, u</a:t>
            </a:r>
            <a:r>
              <a:rPr lang="es-ES" sz="2400" dirty="0">
                <a:solidFill>
                  <a:schemeClr val="tx1"/>
                </a:solidFill>
              </a:rPr>
              <a:t>na porción infinitesimal de agua valdrá como punto, si todas las moléculas de agua que haya en la porción se mueven a la misma velocidad. Si no es así, habrá que cogerla más pequeña hasta que sí</a:t>
            </a:r>
          </a:p>
        </p:txBody>
      </p:sp>
      <p:sp>
        <p:nvSpPr>
          <p:cNvPr id="35860" name="Text Box 12"/>
          <p:cNvSpPr txBox="1">
            <a:spLocks noChangeArrowheads="1"/>
          </p:cNvSpPr>
          <p:nvPr/>
        </p:nvSpPr>
        <p:spPr bwMode="auto">
          <a:xfrm>
            <a:off x="4922519" y="5091561"/>
            <a:ext cx="44500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D60093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se apreciará cuantización</a:t>
            </a:r>
          </a:p>
        </p:txBody>
      </p:sp>
      <p:sp>
        <p:nvSpPr>
          <p:cNvPr id="35858" name="Text Box 27"/>
          <p:cNvSpPr txBox="1">
            <a:spLocks noChangeArrowheads="1"/>
          </p:cNvSpPr>
          <p:nvPr/>
        </p:nvSpPr>
        <p:spPr bwMode="auto">
          <a:xfrm>
            <a:off x="3992878" y="5740073"/>
            <a:ext cx="6309362" cy="905881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carga del punto, positiva, negativa o nula, podrá tomar cualquier valor en </a:t>
            </a:r>
            <a:r>
              <a:rPr lang="es-ES" sz="2400" dirty="0" err="1">
                <a:latin typeface="Arial" panose="020B0604020202020204" pitchFamily="34" charset="0"/>
              </a:rPr>
              <a:t>nC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1397688" y="487996"/>
            <a:ext cx="2254143" cy="461665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cs typeface="Arial" panose="020B0604020202020204" pitchFamily="34" charset="0"/>
              </a:rPr>
              <a:t>PROPIEDAD 2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1397688" y="4077149"/>
            <a:ext cx="2254143" cy="461665"/>
          </a:xfrm>
          <a:prstGeom prst="rect">
            <a:avLst/>
          </a:prstGeom>
          <a:solidFill>
            <a:srgbClr val="FFCC99"/>
          </a:solidFill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s-ES" sz="2400">
                <a:cs typeface="Arial" panose="020B0604020202020204" pitchFamily="34" charset="0"/>
              </a:rPr>
              <a:t>PROPIEDAD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5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8" grpId="0" animBg="1"/>
      <p:bldP spid="37911" grpId="0" animBg="1"/>
      <p:bldP spid="51232" grpId="0" animBg="1"/>
      <p:bldP spid="35860" grpId="0"/>
      <p:bldP spid="35858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16110" y="3848055"/>
            <a:ext cx="2973387" cy="1747838"/>
            <a:chOff x="4171" y="2698"/>
            <a:chExt cx="1873" cy="1101"/>
          </a:xfrm>
        </p:grpSpPr>
        <p:sp>
          <p:nvSpPr>
            <p:cNvPr id="39962" name="Rectangle 5"/>
            <p:cNvSpPr>
              <a:spLocks noChangeArrowheads="1"/>
            </p:cNvSpPr>
            <p:nvPr/>
          </p:nvSpPr>
          <p:spPr bwMode="auto">
            <a:xfrm>
              <a:off x="4171" y="2698"/>
              <a:ext cx="1873" cy="110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7915" name="Object 6"/>
            <p:cNvGraphicFramePr>
              <a:graphicFrameLocks noChangeAspect="1"/>
            </p:cNvGraphicFramePr>
            <p:nvPr/>
          </p:nvGraphicFramePr>
          <p:xfrm>
            <a:off x="4314" y="2802"/>
            <a:ext cx="1578" cy="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69696" imgH="266584" progId="Equation.3">
                    <p:embed/>
                  </p:oleObj>
                </mc:Choice>
                <mc:Fallback>
                  <p:oleObj name="Ecuación" r:id="rId3" imgW="469696" imgH="266584" progId="Equation.3">
                    <p:embed/>
                    <p:pic>
                      <p:nvPicPr>
                        <p:cNvPr id="37915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4" y="2802"/>
                          <a:ext cx="1578" cy="8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12" name="Text Box 18"/>
          <p:cNvSpPr txBox="1">
            <a:spLocks noChangeArrowheads="1"/>
          </p:cNvSpPr>
          <p:nvPr/>
        </p:nvSpPr>
        <p:spPr bwMode="auto">
          <a:xfrm>
            <a:off x="2869261" y="426634"/>
            <a:ext cx="5794379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DISTRIBUCIÓN DISCRETA DE CARGA</a:t>
            </a:r>
          </a:p>
        </p:txBody>
      </p:sp>
      <p:sp>
        <p:nvSpPr>
          <p:cNvPr id="37913" name="Text Box 19"/>
          <p:cNvSpPr txBox="1">
            <a:spLocks noChangeArrowheads="1"/>
          </p:cNvSpPr>
          <p:nvPr/>
        </p:nvSpPr>
        <p:spPr bwMode="auto">
          <a:xfrm>
            <a:off x="3846369" y="920637"/>
            <a:ext cx="3848100" cy="46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(discontinua en el espacio)</a:t>
            </a:r>
          </a:p>
        </p:txBody>
      </p:sp>
      <p:sp>
        <p:nvSpPr>
          <p:cNvPr id="200724" name="Text Box 20"/>
          <p:cNvSpPr txBox="1">
            <a:spLocks noChangeArrowheads="1"/>
          </p:cNvSpPr>
          <p:nvPr/>
        </p:nvSpPr>
        <p:spPr bwMode="auto">
          <a:xfrm>
            <a:off x="1649629" y="1511886"/>
            <a:ext cx="8436119" cy="64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Las cargas puntuales están separadas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0725" name="Text Box 21"/>
          <p:cNvSpPr txBox="1">
            <a:spLocks noChangeArrowheads="1"/>
          </p:cNvSpPr>
          <p:nvPr/>
        </p:nvSpPr>
        <p:spPr bwMode="auto">
          <a:xfrm>
            <a:off x="5417268" y="2985694"/>
            <a:ext cx="3702644" cy="6237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none" lIns="144000" tIns="108000" rIns="144000" bIns="144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TOTAL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=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+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37919" name="Group 31"/>
          <p:cNvGrpSpPr>
            <a:grpSpLocks/>
          </p:cNvGrpSpPr>
          <p:nvPr/>
        </p:nvGrpSpPr>
        <p:grpSpPr bwMode="auto">
          <a:xfrm>
            <a:off x="5380344" y="5433968"/>
            <a:ext cx="4505325" cy="1222375"/>
            <a:chOff x="3363" y="3471"/>
            <a:chExt cx="2838" cy="770"/>
          </a:xfrm>
        </p:grpSpPr>
        <p:sp>
          <p:nvSpPr>
            <p:cNvPr id="37910" name="Line 22"/>
            <p:cNvSpPr>
              <a:spLocks noChangeShapeType="1"/>
            </p:cNvSpPr>
            <p:nvPr/>
          </p:nvSpPr>
          <p:spPr bwMode="auto">
            <a:xfrm>
              <a:off x="4502" y="3471"/>
              <a:ext cx="0" cy="34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37911" name="Text Box 23"/>
            <p:cNvSpPr txBox="1">
              <a:spLocks noChangeArrowheads="1"/>
            </p:cNvSpPr>
            <p:nvPr/>
          </p:nvSpPr>
          <p:spPr bwMode="auto">
            <a:xfrm>
              <a:off x="3363" y="3813"/>
              <a:ext cx="2838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0000FF"/>
                  </a:solidFill>
                  <a:latin typeface="Arial" panose="020B0604020202020204" pitchFamily="34" charset="0"/>
                </a:rPr>
                <a:t>Sumatorio de </a:t>
              </a:r>
              <a:r>
                <a:rPr lang="es-ES" sz="2400" dirty="0" err="1">
                  <a:solidFill>
                    <a:srgbClr val="0000FF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 err="1">
                  <a:solidFill>
                    <a:srgbClr val="0000FF"/>
                  </a:solidFill>
                  <a:latin typeface="Arial" panose="020B0604020202020204" pitchFamily="34" charset="0"/>
                </a:rPr>
                <a:t>i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 con i de 1 a N</a:t>
              </a:r>
            </a:p>
            <a:p>
              <a:pPr algn="ctr" eaLnBrk="1" hangingPunct="1">
                <a:spcBef>
                  <a:spcPts val="0"/>
                </a:spcBef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(suma discreta)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endParaRPr lang="es-ES" sz="2400" dirty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00728" name="Text Box 24"/>
          <p:cNvSpPr txBox="1">
            <a:spLocks noChangeArrowheads="1"/>
          </p:cNvSpPr>
          <p:nvPr/>
        </p:nvSpPr>
        <p:spPr bwMode="auto">
          <a:xfrm>
            <a:off x="8686800" y="4286793"/>
            <a:ext cx="1287463" cy="396875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 = </a:t>
            </a:r>
            <a:r>
              <a:rPr lang="es-ES" sz="2400" b="1" dirty="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S</a:t>
            </a:r>
            <a:r>
              <a:rPr lang="es-ES" sz="2400" dirty="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igma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8750300" y="4769239"/>
            <a:ext cx="1125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8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i: índice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879831" y="2974715"/>
            <a:ext cx="2693757" cy="1955549"/>
            <a:chOff x="1995442" y="3287964"/>
            <a:chExt cx="2693757" cy="1955549"/>
          </a:xfrm>
        </p:grpSpPr>
        <p:pic>
          <p:nvPicPr>
            <p:cNvPr id="37900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442" y="3455258"/>
              <a:ext cx="439737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1" name="Picture 9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4050" y="4297363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2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363" y="4813300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03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813" y="3287964"/>
              <a:ext cx="416910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04" name="Text Box 12"/>
            <p:cNvSpPr txBox="1">
              <a:spLocks noChangeArrowheads="1"/>
            </p:cNvSpPr>
            <p:nvPr/>
          </p:nvSpPr>
          <p:spPr bwMode="auto">
            <a:xfrm>
              <a:off x="2346659" y="3609734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05" name="Text Box 13"/>
            <p:cNvSpPr txBox="1">
              <a:spLocks noChangeArrowheads="1"/>
            </p:cNvSpPr>
            <p:nvPr/>
          </p:nvSpPr>
          <p:spPr bwMode="auto">
            <a:xfrm>
              <a:off x="3643312" y="4441287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06" name="Text Box 14"/>
            <p:cNvSpPr txBox="1">
              <a:spLocks noChangeArrowheads="1"/>
            </p:cNvSpPr>
            <p:nvPr/>
          </p:nvSpPr>
          <p:spPr bwMode="auto">
            <a:xfrm>
              <a:off x="2511304" y="4779963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07" name="Text Box 15"/>
            <p:cNvSpPr txBox="1">
              <a:spLocks noChangeArrowheads="1"/>
            </p:cNvSpPr>
            <p:nvPr/>
          </p:nvSpPr>
          <p:spPr bwMode="auto">
            <a:xfrm>
              <a:off x="4222474" y="3661948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1945835" y="5333702"/>
            <a:ext cx="2622550" cy="1497489"/>
            <a:chOff x="3653549" y="5231766"/>
            <a:chExt cx="2622550" cy="1497489"/>
          </a:xfrm>
        </p:grpSpPr>
        <p:sp>
          <p:nvSpPr>
            <p:cNvPr id="37908" name="Text Box 16"/>
            <p:cNvSpPr txBox="1">
              <a:spLocks noChangeArrowheads="1"/>
            </p:cNvSpPr>
            <p:nvPr/>
          </p:nvSpPr>
          <p:spPr bwMode="auto">
            <a:xfrm>
              <a:off x="4519613" y="5231766"/>
              <a:ext cx="925512" cy="463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N = 4</a:t>
              </a:r>
            </a:p>
          </p:txBody>
        </p:sp>
        <p:sp>
          <p:nvSpPr>
            <p:cNvPr id="37909" name="Text Box 16"/>
            <p:cNvSpPr txBox="1">
              <a:spLocks noChangeArrowheads="1"/>
            </p:cNvSpPr>
            <p:nvPr/>
          </p:nvSpPr>
          <p:spPr bwMode="auto">
            <a:xfrm>
              <a:off x="3653549" y="5896077"/>
              <a:ext cx="2622550" cy="833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(número de cargas puntuales)</a:t>
              </a:r>
            </a:p>
          </p:txBody>
        </p:sp>
      </p:grp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1647821" y="2071734"/>
            <a:ext cx="8436119" cy="579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se puede ir de una a otra pasando solo por las cargas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7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0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2" grpId="0" animBg="1"/>
      <p:bldP spid="37913" grpId="0"/>
      <p:bldP spid="200724" grpId="0"/>
      <p:bldP spid="200725" grpId="0" animBg="1"/>
      <p:bldP spid="200728" grpId="0"/>
      <p:bldP spid="28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6285C6B-9C82-4529-8A1A-BE5765A1FAAD}"/>
              </a:ext>
            </a:extLst>
          </p:cNvPr>
          <p:cNvSpPr/>
          <p:nvPr/>
        </p:nvSpPr>
        <p:spPr bwMode="auto">
          <a:xfrm>
            <a:off x="6093685" y="5010020"/>
            <a:ext cx="4140000" cy="1832727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4" name="43 CuadroTexto"/>
          <p:cNvSpPr txBox="1">
            <a:spLocks noChangeArrowheads="1"/>
          </p:cNvSpPr>
          <p:nvPr/>
        </p:nvSpPr>
        <p:spPr bwMode="auto">
          <a:xfrm>
            <a:off x="6112585" y="5530533"/>
            <a:ext cx="4123068" cy="956773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Q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distribuida uniformemente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(es decir, por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igual en V)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839945" y="330444"/>
            <a:ext cx="5868502" cy="514738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DISTRIBUCIÓN CONTINUA DE CARGA</a:t>
            </a:r>
          </a:p>
        </p:txBody>
      </p:sp>
      <p:grpSp>
        <p:nvGrpSpPr>
          <p:cNvPr id="2103" name="Group 55"/>
          <p:cNvGrpSpPr>
            <a:grpSpLocks/>
          </p:cNvGrpSpPr>
          <p:nvPr/>
        </p:nvGrpSpPr>
        <p:grpSpPr bwMode="auto">
          <a:xfrm>
            <a:off x="1301850" y="5489215"/>
            <a:ext cx="1609725" cy="1354138"/>
            <a:chOff x="980" y="3181"/>
            <a:chExt cx="1014" cy="853"/>
          </a:xfrm>
        </p:grpSpPr>
        <p:sp>
          <p:nvSpPr>
            <p:cNvPr id="2" name="Rectangle 11"/>
            <p:cNvSpPr>
              <a:spLocks noChangeArrowheads="1"/>
            </p:cNvSpPr>
            <p:nvPr/>
          </p:nvSpPr>
          <p:spPr bwMode="auto">
            <a:xfrm>
              <a:off x="980" y="3181"/>
              <a:ext cx="1014" cy="8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39989" name="Object 12"/>
            <p:cNvGraphicFramePr>
              <a:graphicFrameLocks noChangeAspect="1"/>
            </p:cNvGraphicFramePr>
            <p:nvPr/>
          </p:nvGraphicFramePr>
          <p:xfrm>
            <a:off x="1081" y="3288"/>
            <a:ext cx="784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444307" imgH="330057" progId="Equation.3">
                    <p:embed/>
                  </p:oleObj>
                </mc:Choice>
                <mc:Fallback>
                  <p:oleObj name="Ecuación" r:id="rId3" imgW="444307" imgH="330057" progId="Equation.3">
                    <p:embed/>
                    <p:pic>
                      <p:nvPicPr>
                        <p:cNvPr id="3998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1" y="3288"/>
                          <a:ext cx="784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904501" y="1437964"/>
            <a:ext cx="3989387" cy="1400175"/>
            <a:chOff x="3843" y="3186"/>
            <a:chExt cx="2513" cy="882"/>
          </a:xfrm>
        </p:grpSpPr>
        <p:sp>
          <p:nvSpPr>
            <p:cNvPr id="42032" name="Rectangle 16"/>
            <p:cNvSpPr>
              <a:spLocks noChangeArrowheads="1"/>
            </p:cNvSpPr>
            <p:nvPr/>
          </p:nvSpPr>
          <p:spPr bwMode="auto">
            <a:xfrm>
              <a:off x="3843" y="3186"/>
              <a:ext cx="2513" cy="88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39987" name="Object 17"/>
            <p:cNvGraphicFramePr>
              <a:graphicFrameLocks noChangeAspect="1"/>
            </p:cNvGraphicFramePr>
            <p:nvPr/>
          </p:nvGraphicFramePr>
          <p:xfrm>
            <a:off x="3968" y="3385"/>
            <a:ext cx="851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58800" imgH="381000" progId="Equation.3">
                    <p:embed/>
                  </p:oleObj>
                </mc:Choice>
                <mc:Fallback>
                  <p:oleObj name="Ecuación" r:id="rId5" imgW="558800" imgH="381000" progId="Equation.3">
                    <p:embed/>
                    <p:pic>
                      <p:nvPicPr>
                        <p:cNvPr id="3998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8" y="3385"/>
                          <a:ext cx="851" cy="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277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787945"/>
              </p:ext>
            </p:extLst>
          </p:nvPr>
        </p:nvGraphicFramePr>
        <p:xfrm>
          <a:off x="7511051" y="1780696"/>
          <a:ext cx="13922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583947" imgH="380835" progId="Equation.3">
                  <p:embed/>
                </p:oleObj>
              </mc:Choice>
              <mc:Fallback>
                <p:oleObj name="Ecuación" r:id="rId7" imgW="583947" imgH="380835" progId="Equation.3">
                  <p:embed/>
                  <p:pic>
                    <p:nvPicPr>
                      <p:cNvPr id="20277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1051" y="1780696"/>
                        <a:ext cx="13922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upo 6"/>
          <p:cNvGrpSpPr/>
          <p:nvPr/>
        </p:nvGrpSpPr>
        <p:grpSpPr>
          <a:xfrm>
            <a:off x="1511636" y="2102046"/>
            <a:ext cx="3414713" cy="1598608"/>
            <a:chOff x="1711326" y="2102046"/>
            <a:chExt cx="3414713" cy="1598608"/>
          </a:xfrm>
        </p:grpSpPr>
        <p:sp>
          <p:nvSpPr>
            <p:cNvPr id="39982" name="Oval 4"/>
            <p:cNvSpPr>
              <a:spLocks noChangeArrowheads="1"/>
            </p:cNvSpPr>
            <p:nvPr/>
          </p:nvSpPr>
          <p:spPr bwMode="auto">
            <a:xfrm>
              <a:off x="1711326" y="2576707"/>
              <a:ext cx="3414713" cy="1123947"/>
            </a:xfrm>
            <a:prstGeom prst="ellipse">
              <a:avLst/>
            </a:prstGeom>
            <a:gradFill rotWithShape="1">
              <a:gsLst>
                <a:gs pos="0">
                  <a:srgbClr val="FF5050"/>
                </a:gs>
                <a:gs pos="100000">
                  <a:srgbClr val="B33838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84" name="Text Box 6"/>
            <p:cNvSpPr txBox="1">
              <a:spLocks noChangeArrowheads="1"/>
            </p:cNvSpPr>
            <p:nvPr/>
          </p:nvSpPr>
          <p:spPr bwMode="auto">
            <a:xfrm>
              <a:off x="1711326" y="2102046"/>
              <a:ext cx="392113" cy="396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 </a:t>
              </a: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</p:grpSp>
      <p:sp>
        <p:nvSpPr>
          <p:cNvPr id="39978" name="Text Box 8"/>
          <p:cNvSpPr txBox="1">
            <a:spLocks noChangeArrowheads="1"/>
          </p:cNvSpPr>
          <p:nvPr/>
        </p:nvSpPr>
        <p:spPr bwMode="auto">
          <a:xfrm>
            <a:off x="2870885" y="3778261"/>
            <a:ext cx="506504" cy="39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dV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dq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1709459" y="3104339"/>
            <a:ext cx="1616550" cy="1070832"/>
            <a:chOff x="1909149" y="3104339"/>
            <a:chExt cx="1616550" cy="1070832"/>
          </a:xfrm>
        </p:grpSpPr>
        <p:sp>
          <p:nvSpPr>
            <p:cNvPr id="39977" name="AutoShape 7"/>
            <p:cNvSpPr>
              <a:spLocks noChangeArrowheads="1"/>
            </p:cNvSpPr>
            <p:nvPr/>
          </p:nvSpPr>
          <p:spPr bwMode="auto">
            <a:xfrm>
              <a:off x="3247837" y="3104339"/>
              <a:ext cx="277862" cy="277837"/>
            </a:xfrm>
            <a:prstGeom prst="cube">
              <a:avLst>
                <a:gd name="adj" fmla="val 25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80" name="Line 27"/>
            <p:cNvSpPr>
              <a:spLocks noChangeShapeType="1"/>
            </p:cNvSpPr>
            <p:nvPr/>
          </p:nvSpPr>
          <p:spPr bwMode="auto">
            <a:xfrm flipV="1">
              <a:off x="2745463" y="3448701"/>
              <a:ext cx="425460" cy="32956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cs typeface="Arial" panose="020B0604020202020204" pitchFamily="34" charset="0"/>
              </a:endParaRPr>
            </a:p>
          </p:txBody>
        </p:sp>
        <p:sp>
          <p:nvSpPr>
            <p:cNvPr id="39981" name="Text Box 28"/>
            <p:cNvSpPr txBox="1">
              <a:spLocks noChangeArrowheads="1"/>
            </p:cNvSpPr>
            <p:nvPr/>
          </p:nvSpPr>
          <p:spPr bwMode="auto">
            <a:xfrm>
              <a:off x="1909149" y="3778261"/>
              <a:ext cx="844702" cy="39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Punto</a:t>
              </a:r>
            </a:p>
          </p:txBody>
        </p:sp>
      </p:grpSp>
      <p:grpSp>
        <p:nvGrpSpPr>
          <p:cNvPr id="39988" name="Group 52"/>
          <p:cNvGrpSpPr>
            <a:grpSpLocks/>
          </p:cNvGrpSpPr>
          <p:nvPr/>
        </p:nvGrpSpPr>
        <p:grpSpPr bwMode="auto">
          <a:xfrm>
            <a:off x="5611522" y="2742192"/>
            <a:ext cx="2390777" cy="1246207"/>
            <a:chOff x="3608" y="3031"/>
            <a:chExt cx="1506" cy="785"/>
          </a:xfrm>
        </p:grpSpPr>
        <p:sp>
          <p:nvSpPr>
            <p:cNvPr id="39975" name="Line 29"/>
            <p:cNvSpPr>
              <a:spLocks noChangeShapeType="1"/>
            </p:cNvSpPr>
            <p:nvPr/>
          </p:nvSpPr>
          <p:spPr bwMode="auto">
            <a:xfrm>
              <a:off x="4393" y="3031"/>
              <a:ext cx="0" cy="254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cs typeface="Arial" panose="020B0604020202020204" pitchFamily="34" charset="0"/>
              </a:endParaRPr>
            </a:p>
          </p:txBody>
        </p:sp>
        <p:sp>
          <p:nvSpPr>
            <p:cNvPr id="39976" name="Text Box 30"/>
            <p:cNvSpPr txBox="1">
              <a:spLocks noChangeArrowheads="1"/>
            </p:cNvSpPr>
            <p:nvPr/>
          </p:nvSpPr>
          <p:spPr bwMode="auto">
            <a:xfrm>
              <a:off x="3608" y="3291"/>
              <a:ext cx="1506" cy="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Integral </a:t>
              </a:r>
              <a:r>
                <a:rPr lang="es-ES" sz="2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dq</a:t>
              </a:r>
              <a:endParaRPr lang="es-E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(suma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continua)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67" name="Text Box 32"/>
          <p:cNvSpPr txBox="1">
            <a:spLocks noChangeArrowheads="1"/>
          </p:cNvSpPr>
          <p:nvPr/>
        </p:nvSpPr>
        <p:spPr bwMode="auto">
          <a:xfrm>
            <a:off x="3492883" y="5076360"/>
            <a:ext cx="1532792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Char char="r"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o ;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ho</a:t>
            </a:r>
          </a:p>
        </p:txBody>
      </p:sp>
      <p:grpSp>
        <p:nvGrpSpPr>
          <p:cNvPr id="39997" name="Group 61"/>
          <p:cNvGrpSpPr>
            <a:grpSpLocks/>
          </p:cNvGrpSpPr>
          <p:nvPr/>
        </p:nvGrpSpPr>
        <p:grpSpPr bwMode="auto">
          <a:xfrm>
            <a:off x="8854076" y="1864834"/>
            <a:ext cx="917575" cy="484187"/>
            <a:chOff x="5701" y="3331"/>
            <a:chExt cx="578" cy="305"/>
          </a:xfrm>
        </p:grpSpPr>
        <p:graphicFrame>
          <p:nvGraphicFramePr>
            <p:cNvPr id="39973" name="Object 24"/>
            <p:cNvGraphicFramePr>
              <a:graphicFrameLocks noChangeAspect="1"/>
            </p:cNvGraphicFramePr>
            <p:nvPr/>
          </p:nvGraphicFramePr>
          <p:xfrm>
            <a:off x="5701" y="3431"/>
            <a:ext cx="19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26780" imgH="101424" progId="Equation.3">
                    <p:embed/>
                  </p:oleObj>
                </mc:Choice>
                <mc:Fallback>
                  <p:oleObj name="Ecuación" r:id="rId9" imgW="126780" imgH="101424" progId="Equation.3">
                    <p:embed/>
                    <p:pic>
                      <p:nvPicPr>
                        <p:cNvPr id="39973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1" y="3431"/>
                          <a:ext cx="19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4" name="Object 25"/>
            <p:cNvGraphicFramePr>
              <a:graphicFrameLocks noChangeAspect="1"/>
            </p:cNvGraphicFramePr>
            <p:nvPr/>
          </p:nvGraphicFramePr>
          <p:xfrm>
            <a:off x="5898" y="3331"/>
            <a:ext cx="381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253780" imgH="203024" progId="Equation.3">
                    <p:embed/>
                  </p:oleObj>
                </mc:Choice>
                <mc:Fallback>
                  <p:oleObj name="Ecuación" r:id="rId11" imgW="253780" imgH="203024" progId="Equation.3">
                    <p:embed/>
                    <p:pic>
                      <p:nvPicPr>
                        <p:cNvPr id="39974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8" y="3331"/>
                          <a:ext cx="381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68" name="Text Box 13"/>
          <p:cNvSpPr txBox="1">
            <a:spLocks noChangeArrowheads="1"/>
          </p:cNvSpPr>
          <p:nvPr/>
        </p:nvSpPr>
        <p:spPr bwMode="auto">
          <a:xfrm>
            <a:off x="3048146" y="5587823"/>
            <a:ext cx="2419350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3366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DENSIDAD VOLUMÉTRICA DE CARGA</a:t>
            </a:r>
          </a:p>
        </p:txBody>
      </p:sp>
      <p:sp>
        <p:nvSpPr>
          <p:cNvPr id="2099" name="Text Box 51"/>
          <p:cNvSpPr txBox="1">
            <a:spLocks noChangeArrowheads="1"/>
          </p:cNvSpPr>
          <p:nvPr/>
        </p:nvSpPr>
        <p:spPr bwMode="auto">
          <a:xfrm>
            <a:off x="1227473" y="4422543"/>
            <a:ext cx="4095749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>
                <a:solidFill>
                  <a:schemeClr val="tx1"/>
                </a:solidFill>
                <a:cs typeface="Arial" panose="020B0604020202020204" pitchFamily="34" charset="0"/>
              </a:rPr>
              <a:t>La magnitud que caracteriza cada punto es:</a:t>
            </a:r>
          </a:p>
        </p:txBody>
      </p:sp>
      <p:sp>
        <p:nvSpPr>
          <p:cNvPr id="39958" name="Text Box 64"/>
          <p:cNvSpPr txBox="1">
            <a:spLocks noChangeArrowheads="1"/>
          </p:cNvSpPr>
          <p:nvPr/>
        </p:nvSpPr>
        <p:spPr bwMode="auto">
          <a:xfrm>
            <a:off x="6552710" y="5097536"/>
            <a:ext cx="3233954" cy="461665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sz="2400">
                <a:cs typeface="Arial" panose="020B0604020202020204" pitchFamily="34" charset="0"/>
              </a:rPr>
              <a:t>Situación más simple</a:t>
            </a:r>
          </a:p>
        </p:txBody>
      </p:sp>
      <p:sp>
        <p:nvSpPr>
          <p:cNvPr id="39998" name="Text Box 62"/>
          <p:cNvSpPr txBox="1">
            <a:spLocks noChangeArrowheads="1"/>
          </p:cNvSpPr>
          <p:nvPr/>
        </p:nvSpPr>
        <p:spPr bwMode="auto">
          <a:xfrm>
            <a:off x="1395117" y="833648"/>
            <a:ext cx="87783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sz="2400" dirty="0">
                <a:solidFill>
                  <a:srgbClr val="FF0000"/>
                </a:solidFill>
                <a:cs typeface="Arial" panose="020B0604020202020204" pitchFamily="34" charset="0"/>
              </a:rPr>
              <a:t>(no separadas, se puede ir de una a otra a través del conjunto)</a:t>
            </a:r>
          </a:p>
        </p:txBody>
      </p:sp>
      <p:sp>
        <p:nvSpPr>
          <p:cNvPr id="39985" name="Text Box 26"/>
          <p:cNvSpPr txBox="1">
            <a:spLocks noChangeArrowheads="1"/>
          </p:cNvSpPr>
          <p:nvPr/>
        </p:nvSpPr>
        <p:spPr bwMode="auto">
          <a:xfrm>
            <a:off x="1262063" y="1438622"/>
            <a:ext cx="2217738" cy="5143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2000" tIns="72000" rIns="72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EN VOLUMEN</a:t>
            </a:r>
          </a:p>
        </p:txBody>
      </p:sp>
      <p:sp>
        <p:nvSpPr>
          <p:cNvPr id="53" name="Text Box 62"/>
          <p:cNvSpPr txBox="1">
            <a:spLocks noChangeArrowheads="1"/>
          </p:cNvSpPr>
          <p:nvPr/>
        </p:nvSpPr>
        <p:spPr bwMode="auto">
          <a:xfrm>
            <a:off x="3548034" y="1452621"/>
            <a:ext cx="192635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008000"/>
                </a:solidFill>
                <a:cs typeface="Arial" panose="020B0604020202020204" pitchFamily="34" charset="0"/>
              </a:rPr>
              <a:t>Q ocupa un</a:t>
            </a:r>
          </a:p>
          <a:p>
            <a:pPr algn="ctr" eaLnBrk="1" hangingPunct="1">
              <a:spcBef>
                <a:spcPts val="0"/>
              </a:spcBef>
            </a:pPr>
            <a:r>
              <a:rPr lang="es-ES" sz="2400" dirty="0">
                <a:solidFill>
                  <a:srgbClr val="008000"/>
                </a:solidFill>
                <a:cs typeface="Arial" panose="020B0604020202020204" pitchFamily="34" charset="0"/>
              </a:rPr>
              <a:t>volumen V</a:t>
            </a:r>
          </a:p>
        </p:txBody>
      </p:sp>
      <p:sp>
        <p:nvSpPr>
          <p:cNvPr id="39971" name="Text Box 42"/>
          <p:cNvSpPr txBox="1">
            <a:spLocks noChangeArrowheads="1"/>
          </p:cNvSpPr>
          <p:nvPr/>
        </p:nvSpPr>
        <p:spPr bwMode="auto">
          <a:xfrm>
            <a:off x="8291201" y="2523797"/>
            <a:ext cx="2240884" cy="120251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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sale factor común y suma de los dV es V</a:t>
            </a:r>
          </a:p>
        </p:txBody>
      </p:sp>
      <p:sp>
        <p:nvSpPr>
          <p:cNvPr id="54" name="43 CuadroTexto"/>
          <p:cNvSpPr txBox="1">
            <a:spLocks noChangeArrowheads="1"/>
          </p:cNvSpPr>
          <p:nvPr/>
        </p:nvSpPr>
        <p:spPr bwMode="auto">
          <a:xfrm>
            <a:off x="6015488" y="6288901"/>
            <a:ext cx="4376514" cy="587441"/>
          </a:xfrm>
          <a:prstGeom prst="rect">
            <a:avLst/>
          </a:prstGeom>
          <a:noFill/>
          <a:ln>
            <a:noFill/>
          </a:ln>
        </p:spPr>
        <p:txBody>
          <a:bodyPr wrap="square" lIns="108000" tIns="108000" rIns="108000" bIns="108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Así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 es cte.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V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(uniforme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02783" name="Text Box 31"/>
          <p:cNvSpPr txBox="1">
            <a:spLocks noChangeArrowheads="1"/>
          </p:cNvSpPr>
          <p:nvPr/>
        </p:nvSpPr>
        <p:spPr bwMode="auto">
          <a:xfrm>
            <a:off x="5677694" y="3914340"/>
            <a:ext cx="2362663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extendida a todo punto de V</a:t>
            </a:r>
          </a:p>
        </p:txBody>
      </p:sp>
      <p:grpSp>
        <p:nvGrpSpPr>
          <p:cNvPr id="39959" name="Group 62"/>
          <p:cNvGrpSpPr>
            <a:grpSpLocks/>
          </p:cNvGrpSpPr>
          <p:nvPr/>
        </p:nvGrpSpPr>
        <p:grpSpPr bwMode="auto">
          <a:xfrm>
            <a:off x="8413732" y="3743735"/>
            <a:ext cx="1930401" cy="1276988"/>
            <a:chOff x="5463" y="3935"/>
            <a:chExt cx="1216" cy="804"/>
          </a:xfrm>
        </p:grpSpPr>
        <p:sp>
          <p:nvSpPr>
            <p:cNvPr id="39961" name="Text Box 36"/>
            <p:cNvSpPr txBox="1">
              <a:spLocks noChangeArrowheads="1"/>
            </p:cNvSpPr>
            <p:nvPr/>
          </p:nvSpPr>
          <p:spPr bwMode="auto">
            <a:xfrm>
              <a:off x="5552" y="3935"/>
              <a:ext cx="9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9966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 = Q/V = </a:t>
              </a:r>
            </a:p>
          </p:txBody>
        </p:sp>
        <p:sp>
          <p:nvSpPr>
            <p:cNvPr id="39962" name="Line 39"/>
            <p:cNvSpPr>
              <a:spLocks noChangeShapeType="1"/>
            </p:cNvSpPr>
            <p:nvPr/>
          </p:nvSpPr>
          <p:spPr bwMode="auto">
            <a:xfrm>
              <a:off x="6478" y="4036"/>
              <a:ext cx="95" cy="0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cs typeface="Arial" panose="020B0604020202020204" pitchFamily="34" charset="0"/>
              </a:endParaRPr>
            </a:p>
          </p:txBody>
        </p:sp>
        <p:sp>
          <p:nvSpPr>
            <p:cNvPr id="39963" name="48 CuadroTexto"/>
            <p:cNvSpPr txBox="1">
              <a:spLocks noChangeArrowheads="1"/>
            </p:cNvSpPr>
            <p:nvPr/>
          </p:nvSpPr>
          <p:spPr bwMode="auto">
            <a:xfrm>
              <a:off x="5463" y="4216"/>
              <a:ext cx="121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99663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Es </a:t>
              </a:r>
              <a:r>
                <a:rPr lang="es-ES" sz="2400" dirty="0">
                  <a:solidFill>
                    <a:srgbClr val="9966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igual a su  valor medio</a:t>
              </a:r>
            </a:p>
          </p:txBody>
        </p:sp>
      </p:grpSp>
      <p:sp>
        <p:nvSpPr>
          <p:cNvPr id="46" name="Line 21"/>
          <p:cNvSpPr>
            <a:spLocks noChangeShapeType="1"/>
          </p:cNvSpPr>
          <p:nvPr/>
        </p:nvSpPr>
        <p:spPr bwMode="auto">
          <a:xfrm flipH="1" flipV="1">
            <a:off x="8164212" y="2510601"/>
            <a:ext cx="0" cy="2667764"/>
          </a:xfrm>
          <a:prstGeom prst="line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>
              <a:cs typeface="Arial" panose="020B0604020202020204" pitchFamily="34" charset="0"/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DA4ED459-2CA9-448F-AE02-36EDD43D2380}"/>
              </a:ext>
            </a:extLst>
          </p:cNvPr>
          <p:cNvSpPr/>
          <p:nvPr/>
        </p:nvSpPr>
        <p:spPr bwMode="auto">
          <a:xfrm>
            <a:off x="7772400" y="1460040"/>
            <a:ext cx="391812" cy="447725"/>
          </a:xfrm>
          <a:custGeom>
            <a:avLst/>
            <a:gdLst>
              <a:gd name="connsiteX0" fmla="*/ 426720 w 426720"/>
              <a:gd name="connsiteY0" fmla="*/ 447725 h 447725"/>
              <a:gd name="connsiteX1" fmla="*/ 203200 w 426720"/>
              <a:gd name="connsiteY1" fmla="*/ 685 h 447725"/>
              <a:gd name="connsiteX2" fmla="*/ 0 w 426720"/>
              <a:gd name="connsiteY2" fmla="*/ 366445 h 4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6720" h="447725">
                <a:moveTo>
                  <a:pt x="426720" y="447725"/>
                </a:moveTo>
                <a:cubicBezTo>
                  <a:pt x="350520" y="230978"/>
                  <a:pt x="274320" y="14232"/>
                  <a:pt x="203200" y="685"/>
                </a:cubicBezTo>
                <a:cubicBezTo>
                  <a:pt x="132080" y="-12862"/>
                  <a:pt x="66040" y="176791"/>
                  <a:pt x="0" y="366445"/>
                </a:cubicBezTo>
              </a:path>
            </a:pathLst>
          </a:custGeom>
          <a:noFill/>
          <a:ln w="3810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4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9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9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9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0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  <p:bldP spid="39940" grpId="0" animBg="1"/>
      <p:bldP spid="39978" grpId="0"/>
      <p:bldP spid="2067" grpId="0"/>
      <p:bldP spid="39968" grpId="0"/>
      <p:bldP spid="2099" grpId="0"/>
      <p:bldP spid="39958" grpId="0" animBg="1"/>
      <p:bldP spid="39998" grpId="0"/>
      <p:bldP spid="39985" grpId="0" animBg="1"/>
      <p:bldP spid="53" grpId="0"/>
      <p:bldP spid="39971" grpId="0" animBg="1"/>
      <p:bldP spid="54" grpId="0"/>
      <p:bldP spid="202783" grpId="0"/>
      <p:bldP spid="46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roup 34"/>
          <p:cNvGrpSpPr>
            <a:grpSpLocks/>
          </p:cNvGrpSpPr>
          <p:nvPr/>
        </p:nvGrpSpPr>
        <p:grpSpPr bwMode="auto">
          <a:xfrm>
            <a:off x="1264425" y="5735638"/>
            <a:ext cx="3633788" cy="1089025"/>
            <a:chOff x="4005" y="3623"/>
            <a:chExt cx="2289" cy="686"/>
          </a:xfrm>
        </p:grpSpPr>
        <p:sp>
          <p:nvSpPr>
            <p:cNvPr id="185" name="Rectangle 35"/>
            <p:cNvSpPr>
              <a:spLocks noChangeArrowheads="1"/>
            </p:cNvSpPr>
            <p:nvPr/>
          </p:nvSpPr>
          <p:spPr bwMode="auto">
            <a:xfrm>
              <a:off x="4005" y="3623"/>
              <a:ext cx="2289" cy="68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44" name="Object 36"/>
            <p:cNvGraphicFramePr>
              <a:graphicFrameLocks noChangeAspect="1"/>
            </p:cNvGraphicFramePr>
            <p:nvPr/>
          </p:nvGraphicFramePr>
          <p:xfrm>
            <a:off x="4070" y="3724"/>
            <a:ext cx="835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558800" imgH="381000" progId="Equation.3">
                    <p:embed/>
                  </p:oleObj>
                </mc:Choice>
                <mc:Fallback>
                  <p:oleObj name="Ecuación" r:id="rId3" imgW="558800" imgH="381000" progId="Equation.3">
                    <p:embed/>
                    <p:pic>
                      <p:nvPicPr>
                        <p:cNvPr id="4204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" y="3724"/>
                          <a:ext cx="835" cy="5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" name="Text Box 46"/>
          <p:cNvSpPr txBox="1">
            <a:spLocks noChangeArrowheads="1"/>
          </p:cNvSpPr>
          <p:nvPr/>
        </p:nvSpPr>
        <p:spPr bwMode="auto">
          <a:xfrm>
            <a:off x="7120132" y="878486"/>
            <a:ext cx="3340530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Q en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un volumen con solo el largo apreciable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0F6B57A-F39E-11A8-CFD2-D3BDE899BC79}"/>
              </a:ext>
            </a:extLst>
          </p:cNvPr>
          <p:cNvGrpSpPr/>
          <p:nvPr/>
        </p:nvGrpSpPr>
        <p:grpSpPr>
          <a:xfrm>
            <a:off x="6034486" y="1706274"/>
            <a:ext cx="4010034" cy="1481143"/>
            <a:chOff x="6034486" y="1706274"/>
            <a:chExt cx="4010034" cy="1481143"/>
          </a:xfrm>
        </p:grpSpPr>
        <p:sp>
          <p:nvSpPr>
            <p:cNvPr id="42038" name="Text Box 22"/>
            <p:cNvSpPr txBox="1">
              <a:spLocks noChangeArrowheads="1"/>
            </p:cNvSpPr>
            <p:nvPr/>
          </p:nvSpPr>
          <p:spPr bwMode="auto">
            <a:xfrm>
              <a:off x="6034486" y="1706274"/>
              <a:ext cx="957265" cy="4841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Q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en 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42039" name="Oval 24"/>
            <p:cNvSpPr>
              <a:spLocks noChangeArrowheads="1"/>
            </p:cNvSpPr>
            <p:nvPr/>
          </p:nvSpPr>
          <p:spPr bwMode="auto">
            <a:xfrm>
              <a:off x="6629800" y="2063463"/>
              <a:ext cx="3414720" cy="1123954"/>
            </a:xfrm>
            <a:prstGeom prst="ellipse">
              <a:avLst/>
            </a:prstGeom>
            <a:noFill/>
            <a:ln w="76200" algn="ctr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041" name="Text Box 44"/>
          <p:cNvSpPr txBox="1">
            <a:spLocks noChangeArrowheads="1"/>
          </p:cNvSpPr>
          <p:nvPr/>
        </p:nvSpPr>
        <p:spPr bwMode="auto">
          <a:xfrm>
            <a:off x="6124974" y="396581"/>
            <a:ext cx="2487618" cy="46355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46800" rIns="54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UN CAMINO</a:t>
            </a:r>
          </a:p>
        </p:txBody>
      </p:sp>
      <p:sp>
        <p:nvSpPr>
          <p:cNvPr id="42042" name="50 Rectángulo"/>
          <p:cNvSpPr>
            <a:spLocks noChangeArrowheads="1"/>
          </p:cNvSpPr>
          <p:nvPr/>
        </p:nvSpPr>
        <p:spPr bwMode="auto">
          <a:xfrm>
            <a:off x="9419044" y="2277776"/>
            <a:ext cx="893764" cy="55245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82800" rIns="90000" bIns="82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B2D70AE-99C4-D2CA-DA97-3BACBF7513F8}"/>
              </a:ext>
            </a:extLst>
          </p:cNvPr>
          <p:cNvGrpSpPr/>
          <p:nvPr/>
        </p:nvGrpSpPr>
        <p:grpSpPr>
          <a:xfrm>
            <a:off x="1284286" y="1662114"/>
            <a:ext cx="3557586" cy="1517652"/>
            <a:chOff x="1284286" y="1662114"/>
            <a:chExt cx="3557586" cy="1517652"/>
          </a:xfrm>
        </p:grpSpPr>
        <p:sp>
          <p:nvSpPr>
            <p:cNvPr id="42034" name="Oval 6"/>
            <p:cNvSpPr>
              <a:spLocks noChangeArrowheads="1"/>
            </p:cNvSpPr>
            <p:nvPr/>
          </p:nvSpPr>
          <p:spPr bwMode="auto">
            <a:xfrm>
              <a:off x="1427161" y="2055814"/>
              <a:ext cx="3414711" cy="1123952"/>
            </a:xfrm>
            <a:prstGeom prst="ellipse">
              <a:avLst/>
            </a:prstGeom>
            <a:gradFill rotWithShape="1">
              <a:gsLst>
                <a:gs pos="0">
                  <a:srgbClr val="FF5050"/>
                </a:gs>
                <a:gs pos="100000">
                  <a:srgbClr val="B33838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035" name="Text Box 7"/>
            <p:cNvSpPr txBox="1">
              <a:spLocks noChangeArrowheads="1"/>
            </p:cNvSpPr>
            <p:nvPr/>
          </p:nvSpPr>
          <p:spPr bwMode="auto">
            <a:xfrm>
              <a:off x="1284286" y="1662114"/>
              <a:ext cx="377825" cy="396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Q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en</a:t>
              </a: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 S</a:t>
              </a:r>
            </a:p>
          </p:txBody>
        </p:sp>
      </p:grpSp>
      <p:sp>
        <p:nvSpPr>
          <p:cNvPr id="42037" name="Text Box 41"/>
          <p:cNvSpPr txBox="1">
            <a:spLocks noChangeArrowheads="1"/>
          </p:cNvSpPr>
          <p:nvPr/>
        </p:nvSpPr>
        <p:spPr bwMode="auto">
          <a:xfrm>
            <a:off x="1235074" y="395287"/>
            <a:ext cx="2457449" cy="46355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46800" rIns="54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EN SUPERFICIE</a:t>
            </a:r>
          </a:p>
        </p:txBody>
      </p:sp>
      <p:sp>
        <p:nvSpPr>
          <p:cNvPr id="65" name="Text Box 45"/>
          <p:cNvSpPr txBox="1">
            <a:spLocks noChangeArrowheads="1"/>
          </p:cNvSpPr>
          <p:nvPr/>
        </p:nvSpPr>
        <p:spPr bwMode="auto">
          <a:xfrm>
            <a:off x="2573700" y="885188"/>
            <a:ext cx="3169119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46800" rIns="54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Q en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un volumen de espesor despreciable</a:t>
            </a:r>
          </a:p>
        </p:txBody>
      </p:sp>
      <p:sp>
        <p:nvSpPr>
          <p:cNvPr id="42031" name="Text Box 23"/>
          <p:cNvSpPr txBox="1">
            <a:spLocks noChangeArrowheads="1"/>
          </p:cNvSpPr>
          <p:nvPr/>
        </p:nvSpPr>
        <p:spPr bwMode="auto">
          <a:xfrm>
            <a:off x="7551738" y="2609410"/>
            <a:ext cx="14970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dl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 dq</a:t>
            </a:r>
          </a:p>
        </p:txBody>
      </p:sp>
      <p:sp>
        <p:nvSpPr>
          <p:cNvPr id="42033" name="Line 26"/>
          <p:cNvSpPr>
            <a:spLocks noChangeShapeType="1"/>
          </p:cNvSpPr>
          <p:nvPr/>
        </p:nvSpPr>
        <p:spPr bwMode="auto">
          <a:xfrm>
            <a:off x="7737476" y="3161860"/>
            <a:ext cx="1143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n-GB" sz="2400"/>
          </a:p>
        </p:txBody>
      </p:sp>
      <p:sp>
        <p:nvSpPr>
          <p:cNvPr id="42029" name="Text Box 10"/>
          <p:cNvSpPr txBox="1">
            <a:spLocks noChangeArrowheads="1"/>
          </p:cNvSpPr>
          <p:nvPr/>
        </p:nvSpPr>
        <p:spPr bwMode="auto">
          <a:xfrm>
            <a:off x="4055275" y="2993591"/>
            <a:ext cx="506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dS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con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 dirty="0" err="1">
                <a:solidFill>
                  <a:srgbClr val="000000"/>
                </a:solidFill>
                <a:latin typeface="Arial" panose="020B0604020202020204" pitchFamily="34" charset="0"/>
              </a:rPr>
              <a:t>dq</a:t>
            </a:r>
            <a:endParaRPr lang="es-E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2030" name="AutoShape 11"/>
          <p:cNvSpPr>
            <a:spLocks noChangeArrowheads="1"/>
          </p:cNvSpPr>
          <p:nvPr/>
        </p:nvSpPr>
        <p:spPr bwMode="auto">
          <a:xfrm rot="13399645" flipH="1" flipV="1">
            <a:off x="3969550" y="2652278"/>
            <a:ext cx="369888" cy="196850"/>
          </a:xfrm>
          <a:prstGeom prst="parallelogram">
            <a:avLst>
              <a:gd name="adj" fmla="val 46976"/>
            </a:avLst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8" name="Group 34"/>
          <p:cNvGrpSpPr>
            <a:grpSpLocks/>
          </p:cNvGrpSpPr>
          <p:nvPr/>
        </p:nvGrpSpPr>
        <p:grpSpPr bwMode="auto">
          <a:xfrm>
            <a:off x="6095188" y="5751513"/>
            <a:ext cx="3633787" cy="1089025"/>
            <a:chOff x="4005" y="3623"/>
            <a:chExt cx="2289" cy="686"/>
          </a:xfrm>
        </p:grpSpPr>
        <p:sp>
          <p:nvSpPr>
            <p:cNvPr id="119" name="Rectangle 35"/>
            <p:cNvSpPr>
              <a:spLocks noChangeArrowheads="1"/>
            </p:cNvSpPr>
            <p:nvPr/>
          </p:nvSpPr>
          <p:spPr bwMode="auto">
            <a:xfrm>
              <a:off x="4005" y="3623"/>
              <a:ext cx="2289" cy="686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27" name="Object 36"/>
            <p:cNvGraphicFramePr>
              <a:graphicFrameLocks noChangeAspect="1"/>
            </p:cNvGraphicFramePr>
            <p:nvPr/>
          </p:nvGraphicFramePr>
          <p:xfrm>
            <a:off x="4070" y="3733"/>
            <a:ext cx="835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58800" imgH="368300" progId="Equation.3">
                    <p:embed/>
                  </p:oleObj>
                </mc:Choice>
                <mc:Fallback>
                  <p:oleObj name="Ecuación" r:id="rId5" imgW="558800" imgH="368300" progId="Equation.3">
                    <p:embed/>
                    <p:pic>
                      <p:nvPicPr>
                        <p:cNvPr id="42027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0" y="3733"/>
                          <a:ext cx="835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1" name="Object 40"/>
          <p:cNvGraphicFramePr>
            <a:graphicFrameLocks noChangeAspect="1"/>
          </p:cNvGraphicFramePr>
          <p:nvPr/>
        </p:nvGraphicFramePr>
        <p:xfrm>
          <a:off x="7489013" y="5948363"/>
          <a:ext cx="1206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508000" imgH="368300" progId="Equation.3">
                  <p:embed/>
                </p:oleObj>
              </mc:Choice>
              <mc:Fallback>
                <p:oleObj name="Ecuación" r:id="rId7" imgW="508000" imgH="368300" progId="Equation.3">
                  <p:embed/>
                  <p:pic>
                    <p:nvPicPr>
                      <p:cNvPr id="121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013" y="5948363"/>
                        <a:ext cx="12065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F07AB072-7381-43B6-8EE6-34617C9DD9CC}"/>
              </a:ext>
            </a:extLst>
          </p:cNvPr>
          <p:cNvGrpSpPr/>
          <p:nvPr/>
        </p:nvGrpSpPr>
        <p:grpSpPr>
          <a:xfrm>
            <a:off x="8838393" y="5029199"/>
            <a:ext cx="1538288" cy="1117599"/>
            <a:chOff x="9101143" y="5029199"/>
            <a:chExt cx="1538288" cy="1117599"/>
          </a:xfrm>
        </p:grpSpPr>
        <p:sp>
          <p:nvSpPr>
            <p:cNvPr id="42023" name="Text Box 38"/>
            <p:cNvSpPr txBox="1">
              <a:spLocks noChangeArrowheads="1"/>
            </p:cNvSpPr>
            <p:nvPr/>
          </p:nvSpPr>
          <p:spPr bwMode="auto">
            <a:xfrm>
              <a:off x="9407530" y="5029199"/>
              <a:ext cx="1231901" cy="5508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108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 = cte.</a:t>
              </a:r>
            </a:p>
          </p:txBody>
        </p:sp>
        <p:sp>
          <p:nvSpPr>
            <p:cNvPr id="42024" name="Line 39"/>
            <p:cNvSpPr>
              <a:spLocks noChangeShapeType="1"/>
            </p:cNvSpPr>
            <p:nvPr/>
          </p:nvSpPr>
          <p:spPr bwMode="auto">
            <a:xfrm flipH="1">
              <a:off x="9101143" y="5665786"/>
              <a:ext cx="266700" cy="481012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</p:grpSp>
      <p:graphicFrame>
        <p:nvGraphicFramePr>
          <p:cNvPr id="42025" name="Object 65"/>
          <p:cNvGraphicFramePr>
            <a:graphicFrameLocks noChangeAspect="1"/>
          </p:cNvGraphicFramePr>
          <p:nvPr/>
        </p:nvGraphicFramePr>
        <p:xfrm>
          <a:off x="8671705" y="6043611"/>
          <a:ext cx="904876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380835" imgH="203112" progId="Equation.3">
                  <p:embed/>
                </p:oleObj>
              </mc:Choice>
              <mc:Fallback>
                <p:oleObj name="Ecuación" r:id="rId9" imgW="380835" imgH="203112" progId="Equation.3">
                  <p:embed/>
                  <p:pic>
                    <p:nvPicPr>
                      <p:cNvPr id="4202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1705" y="6043611"/>
                        <a:ext cx="904876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6" name="Group 60"/>
          <p:cNvGrpSpPr>
            <a:grpSpLocks/>
          </p:cNvGrpSpPr>
          <p:nvPr/>
        </p:nvGrpSpPr>
        <p:grpSpPr bwMode="auto">
          <a:xfrm>
            <a:off x="8694936" y="6357648"/>
            <a:ext cx="1712912" cy="536575"/>
            <a:chOff x="5455" y="4007"/>
            <a:chExt cx="1079" cy="338"/>
          </a:xfrm>
        </p:grpSpPr>
        <p:sp>
          <p:nvSpPr>
            <p:cNvPr id="42021" name="Text Box 108"/>
            <p:cNvSpPr txBox="1">
              <a:spLocks noChangeArrowheads="1"/>
            </p:cNvSpPr>
            <p:nvPr/>
          </p:nvSpPr>
          <p:spPr bwMode="auto">
            <a:xfrm>
              <a:off x="5455" y="4007"/>
              <a:ext cx="1079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99663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 =  = Q/L</a:t>
              </a:r>
            </a:p>
          </p:txBody>
        </p:sp>
        <p:sp>
          <p:nvSpPr>
            <p:cNvPr id="42022" name="Line 58"/>
            <p:cNvSpPr>
              <a:spLocks noChangeShapeType="1"/>
            </p:cNvSpPr>
            <p:nvPr/>
          </p:nvSpPr>
          <p:spPr bwMode="auto">
            <a:xfrm flipV="1">
              <a:off x="5822" y="4085"/>
              <a:ext cx="89" cy="0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pSp>
        <p:nvGrpSpPr>
          <p:cNvPr id="42016" name="Group 29"/>
          <p:cNvGrpSpPr>
            <a:grpSpLocks/>
          </p:cNvGrpSpPr>
          <p:nvPr/>
        </p:nvGrpSpPr>
        <p:grpSpPr bwMode="auto">
          <a:xfrm>
            <a:off x="6114243" y="3611565"/>
            <a:ext cx="1609726" cy="1354138"/>
            <a:chOff x="2829" y="2625"/>
            <a:chExt cx="1014" cy="853"/>
          </a:xfrm>
        </p:grpSpPr>
        <p:sp>
          <p:nvSpPr>
            <p:cNvPr id="42019" name="Rectangle 30"/>
            <p:cNvSpPr>
              <a:spLocks noChangeArrowheads="1"/>
            </p:cNvSpPr>
            <p:nvPr/>
          </p:nvSpPr>
          <p:spPr bwMode="auto">
            <a:xfrm>
              <a:off x="2829" y="2625"/>
              <a:ext cx="1014" cy="8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20" name="Object 31"/>
            <p:cNvGraphicFramePr>
              <a:graphicFrameLocks noChangeAspect="1"/>
            </p:cNvGraphicFramePr>
            <p:nvPr/>
          </p:nvGraphicFramePr>
          <p:xfrm>
            <a:off x="2961" y="2791"/>
            <a:ext cx="717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406224" imgH="330057" progId="Equation.3">
                    <p:embed/>
                  </p:oleObj>
                </mc:Choice>
                <mc:Fallback>
                  <p:oleObj name="Ecuación" r:id="rId11" imgW="406224" imgH="330057" progId="Equation.3">
                    <p:embed/>
                    <p:pic>
                      <p:nvPicPr>
                        <p:cNvPr id="4202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1" y="2791"/>
                          <a:ext cx="717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18" name="Text Box 33"/>
          <p:cNvSpPr txBox="1">
            <a:spLocks noChangeArrowheads="1"/>
          </p:cNvSpPr>
          <p:nvPr/>
        </p:nvSpPr>
        <p:spPr bwMode="auto">
          <a:xfrm>
            <a:off x="8084332" y="3722690"/>
            <a:ext cx="1855788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66FF"/>
                </a:solidFill>
                <a:latin typeface="Arial" panose="020B0604020202020204" pitchFamily="34" charset="0"/>
              </a:rPr>
              <a:t>DENSIDAD LINEAL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66FF"/>
                </a:solidFill>
                <a:latin typeface="Arial" panose="020B0604020202020204" pitchFamily="34" charset="0"/>
              </a:rPr>
              <a:t>DE CARGA</a:t>
            </a:r>
          </a:p>
        </p:txBody>
      </p:sp>
      <p:sp>
        <p:nvSpPr>
          <p:cNvPr id="146" name="Text Box 43"/>
          <p:cNvSpPr txBox="1">
            <a:spLocks noChangeArrowheads="1"/>
          </p:cNvSpPr>
          <p:nvPr/>
        </p:nvSpPr>
        <p:spPr bwMode="auto">
          <a:xfrm>
            <a:off x="6121897" y="5097162"/>
            <a:ext cx="2906565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 = </a:t>
            </a:r>
            <a:r>
              <a:rPr lang="es-ES" sz="2400" b="1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l</a:t>
            </a:r>
            <a:r>
              <a:rPr lang="es-ES" sz="2400" dirty="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ambda o </a:t>
            </a:r>
            <a:r>
              <a:rPr lang="es-ES" sz="2400" dirty="0" err="1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lamda</a:t>
            </a:r>
            <a:endParaRPr lang="es-ES" sz="2400" dirty="0">
              <a:solidFill>
                <a:srgbClr val="FF0000"/>
              </a:solidFill>
              <a:latin typeface="Trebuchet MS" panose="020B0603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42011" name="Group 13"/>
          <p:cNvGrpSpPr>
            <a:grpSpLocks/>
          </p:cNvGrpSpPr>
          <p:nvPr/>
        </p:nvGrpSpPr>
        <p:grpSpPr bwMode="auto">
          <a:xfrm>
            <a:off x="1259663" y="3602039"/>
            <a:ext cx="1609726" cy="1354138"/>
            <a:chOff x="1099" y="2501"/>
            <a:chExt cx="1014" cy="853"/>
          </a:xfrm>
        </p:grpSpPr>
        <p:sp>
          <p:nvSpPr>
            <p:cNvPr id="42014" name="Rectangle 14"/>
            <p:cNvSpPr>
              <a:spLocks noChangeArrowheads="1"/>
            </p:cNvSpPr>
            <p:nvPr/>
          </p:nvSpPr>
          <p:spPr bwMode="auto">
            <a:xfrm>
              <a:off x="1099" y="2501"/>
              <a:ext cx="1014" cy="85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40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42015" name="Object 15"/>
            <p:cNvGraphicFramePr>
              <a:graphicFrameLocks noChangeAspect="1"/>
            </p:cNvGraphicFramePr>
            <p:nvPr/>
          </p:nvGraphicFramePr>
          <p:xfrm>
            <a:off x="1225" y="2644"/>
            <a:ext cx="762" cy="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431613" imgH="330057" progId="Equation.3">
                    <p:embed/>
                  </p:oleObj>
                </mc:Choice>
                <mc:Fallback>
                  <p:oleObj name="Ecuación" r:id="rId13" imgW="431613" imgH="330057" progId="Equation.3">
                    <p:embed/>
                    <p:pic>
                      <p:nvPicPr>
                        <p:cNvPr id="4201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5" y="2644"/>
                          <a:ext cx="762" cy="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12" name="Text Box 16"/>
          <p:cNvSpPr txBox="1">
            <a:spLocks noChangeArrowheads="1"/>
          </p:cNvSpPr>
          <p:nvPr/>
        </p:nvSpPr>
        <p:spPr bwMode="auto">
          <a:xfrm>
            <a:off x="3140852" y="3768727"/>
            <a:ext cx="2208214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66FF"/>
                </a:solidFill>
                <a:latin typeface="Arial" panose="020B0604020202020204" pitchFamily="34" charset="0"/>
              </a:rPr>
              <a:t>DENSIDAD SUPERFICIAL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3366FF"/>
                </a:solidFill>
                <a:latin typeface="Arial" panose="020B0604020202020204" pitchFamily="34" charset="0"/>
              </a:rPr>
              <a:t>DE CARGA</a:t>
            </a:r>
          </a:p>
        </p:txBody>
      </p:sp>
      <p:sp>
        <p:nvSpPr>
          <p:cNvPr id="153" name="Text Box 42"/>
          <p:cNvSpPr txBox="1">
            <a:spLocks noChangeArrowheads="1"/>
          </p:cNvSpPr>
          <p:nvPr/>
        </p:nvSpPr>
        <p:spPr bwMode="auto">
          <a:xfrm>
            <a:off x="1432700" y="5043488"/>
            <a:ext cx="1270000" cy="396875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 = </a:t>
            </a:r>
            <a:r>
              <a:rPr lang="es-ES" sz="2400" b="1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s</a:t>
            </a:r>
            <a:r>
              <a:rPr lang="es-ES" sz="2400">
                <a:solidFill>
                  <a:srgbClr val="FF0000"/>
                </a:solidFill>
                <a:latin typeface="Trebuchet MS" panose="020B0603020202020204" pitchFamily="34" charset="0"/>
                <a:sym typeface="Symbol" panose="05050102010706020507" pitchFamily="18" charset="2"/>
              </a:rPr>
              <a:t>igma</a:t>
            </a:r>
          </a:p>
        </p:txBody>
      </p:sp>
      <p:graphicFrame>
        <p:nvGraphicFramePr>
          <p:cNvPr id="42008" name="Object 53"/>
          <p:cNvGraphicFramePr>
            <a:graphicFrameLocks noChangeAspect="1"/>
          </p:cNvGraphicFramePr>
          <p:nvPr/>
        </p:nvGraphicFramePr>
        <p:xfrm>
          <a:off x="3910792" y="6002336"/>
          <a:ext cx="908051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5" imgW="393529" imgH="203112" progId="Equation.3">
                  <p:embed/>
                </p:oleObj>
              </mc:Choice>
              <mc:Fallback>
                <p:oleObj name="Ecuación" r:id="rId15" imgW="393529" imgH="203112" progId="Equation.3">
                  <p:embed/>
                  <p:pic>
                    <p:nvPicPr>
                      <p:cNvPr id="4200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792" y="6002336"/>
                        <a:ext cx="908051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122492E5-9EB1-4FB3-9C08-219B58A3ECF9}"/>
              </a:ext>
            </a:extLst>
          </p:cNvPr>
          <p:cNvGrpSpPr/>
          <p:nvPr/>
        </p:nvGrpSpPr>
        <p:grpSpPr>
          <a:xfrm>
            <a:off x="4087005" y="5051424"/>
            <a:ext cx="1435101" cy="1028699"/>
            <a:chOff x="4349755" y="5051424"/>
            <a:chExt cx="1435101" cy="1028699"/>
          </a:xfrm>
        </p:grpSpPr>
        <p:sp>
          <p:nvSpPr>
            <p:cNvPr id="42009" name="Line 20"/>
            <p:cNvSpPr>
              <a:spLocks noChangeShapeType="1"/>
            </p:cNvSpPr>
            <p:nvPr/>
          </p:nvSpPr>
          <p:spPr bwMode="auto">
            <a:xfrm flipH="1">
              <a:off x="4349755" y="5643561"/>
              <a:ext cx="185738" cy="436562"/>
            </a:xfrm>
            <a:prstGeom prst="line">
              <a:avLst/>
            </a:prstGeom>
            <a:noFill/>
            <a:ln w="38100">
              <a:solidFill>
                <a:schemeClr val="tx2">
                  <a:lumMod val="75000"/>
                  <a:lumOff val="2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/>
            </a:p>
          </p:txBody>
        </p:sp>
        <p:sp>
          <p:nvSpPr>
            <p:cNvPr id="42010" name="Text Box 21"/>
            <p:cNvSpPr txBox="1">
              <a:spLocks noChangeArrowheads="1"/>
            </p:cNvSpPr>
            <p:nvPr/>
          </p:nvSpPr>
          <p:spPr bwMode="auto">
            <a:xfrm>
              <a:off x="4535492" y="5051424"/>
              <a:ext cx="1249364" cy="5508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 tIns="72000" rIns="108000" bIns="1080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  <a:sym typeface="Symbol" panose="05050102010706020507" pitchFamily="18" charset="2"/>
                </a:rPr>
                <a:t> = cte.</a:t>
              </a:r>
            </a:p>
          </p:txBody>
        </p:sp>
      </p:grpSp>
      <p:grpSp>
        <p:nvGrpSpPr>
          <p:cNvPr id="169" name="Group 59"/>
          <p:cNvGrpSpPr>
            <a:grpSpLocks/>
          </p:cNvGrpSpPr>
          <p:nvPr/>
        </p:nvGrpSpPr>
        <p:grpSpPr bwMode="auto">
          <a:xfrm>
            <a:off x="3883655" y="6346218"/>
            <a:ext cx="1781174" cy="536575"/>
            <a:chOff x="2856" y="3991"/>
            <a:chExt cx="1122" cy="338"/>
          </a:xfrm>
        </p:grpSpPr>
        <p:sp>
          <p:nvSpPr>
            <p:cNvPr id="42006" name="Text Box 107"/>
            <p:cNvSpPr txBox="1">
              <a:spLocks noChangeArrowheads="1"/>
            </p:cNvSpPr>
            <p:nvPr/>
          </p:nvSpPr>
          <p:spPr bwMode="auto">
            <a:xfrm>
              <a:off x="2856" y="3991"/>
              <a:ext cx="1122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82800" rIns="90000" bIns="82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996633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 =  = Q/S</a:t>
              </a:r>
            </a:p>
          </p:txBody>
        </p:sp>
        <p:sp>
          <p:nvSpPr>
            <p:cNvPr id="42007" name="Line 57"/>
            <p:cNvSpPr>
              <a:spLocks noChangeShapeType="1"/>
            </p:cNvSpPr>
            <p:nvPr/>
          </p:nvSpPr>
          <p:spPr bwMode="auto">
            <a:xfrm flipV="1">
              <a:off x="3259" y="4108"/>
              <a:ext cx="89" cy="0"/>
            </a:xfrm>
            <a:prstGeom prst="line">
              <a:avLst/>
            </a:prstGeom>
            <a:noFill/>
            <a:ln w="1905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82800" rIns="90000" bIns="82800">
              <a:spAutoFit/>
            </a:bodyPr>
            <a:lstStyle/>
            <a:p>
              <a:endParaRPr lang="en-GB" sz="2400"/>
            </a:p>
          </p:txBody>
        </p:sp>
      </p:grpSp>
      <p:graphicFrame>
        <p:nvGraphicFramePr>
          <p:cNvPr id="181" name="Object 19"/>
          <p:cNvGraphicFramePr>
            <a:graphicFrameLocks noChangeAspect="1"/>
          </p:cNvGraphicFramePr>
          <p:nvPr/>
        </p:nvGraphicFramePr>
        <p:xfrm>
          <a:off x="2669363" y="5902325"/>
          <a:ext cx="128905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7" imgW="558800" imgH="381000" progId="Equation.3">
                  <p:embed/>
                </p:oleObj>
              </mc:Choice>
              <mc:Fallback>
                <p:oleObj name="Ecuación" r:id="rId17" imgW="558800" imgH="381000" progId="Equation.3">
                  <p:embed/>
                  <p:pic>
                    <p:nvPicPr>
                      <p:cNvPr id="18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9363" y="5902325"/>
                        <a:ext cx="128905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46">
            <a:extLst>
              <a:ext uri="{FF2B5EF4-FFF2-40B4-BE49-F238E27FC236}">
                <a16:creationId xmlns:a16="http://schemas.microsoft.com/office/drawing/2014/main" id="{D454FBC7-16A7-4A00-9166-A6CE7AF00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1822" y="2157976"/>
            <a:ext cx="220574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L</a:t>
            </a:r>
            <a:r>
              <a:rPr lang="es-ES" sz="2400" dirty="0">
                <a:latin typeface="Arial" panose="020B0604020202020204" pitchFamily="34" charset="0"/>
              </a:rPr>
              <a:t>: Longitud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37B05083-CD66-4DE5-B30D-D7D5B272FFB1}"/>
              </a:ext>
            </a:extLst>
          </p:cNvPr>
          <p:cNvGrpSpPr/>
          <p:nvPr/>
        </p:nvGrpSpPr>
        <p:grpSpPr>
          <a:xfrm>
            <a:off x="4294573" y="1725714"/>
            <a:ext cx="1234073" cy="788294"/>
            <a:chOff x="1037793" y="3809154"/>
            <a:chExt cx="1234073" cy="788294"/>
          </a:xfrm>
        </p:grpSpPr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3ED3E584-8634-4ABD-ACF7-541DED3943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7793" y="4233701"/>
              <a:ext cx="418523" cy="36374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cs typeface="Arial" panose="020B0604020202020204" pitchFamily="34" charset="0"/>
              </a:endParaRPr>
            </a:p>
          </p:txBody>
        </p:sp>
        <p:sp>
          <p:nvSpPr>
            <p:cNvPr id="59" name="Text Box 28">
              <a:extLst>
                <a:ext uri="{FF2B5EF4-FFF2-40B4-BE49-F238E27FC236}">
                  <a16:creationId xmlns:a16="http://schemas.microsoft.com/office/drawing/2014/main" id="{A1C97E99-5CB4-45A3-B20D-BF49EBD0F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7164" y="3809154"/>
              <a:ext cx="844702" cy="39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Punto</a:t>
              </a: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32A8B267-855E-4700-A945-DB1770055C9C}"/>
              </a:ext>
            </a:extLst>
          </p:cNvPr>
          <p:cNvGrpSpPr/>
          <p:nvPr/>
        </p:nvGrpSpPr>
        <p:grpSpPr>
          <a:xfrm>
            <a:off x="6025864" y="2887225"/>
            <a:ext cx="1570326" cy="396910"/>
            <a:chOff x="1427164" y="3809154"/>
            <a:chExt cx="1570326" cy="396910"/>
          </a:xfrm>
        </p:grpSpPr>
        <p:sp>
          <p:nvSpPr>
            <p:cNvPr id="62" name="Line 27">
              <a:extLst>
                <a:ext uri="{FF2B5EF4-FFF2-40B4-BE49-F238E27FC236}">
                  <a16:creationId xmlns:a16="http://schemas.microsoft.com/office/drawing/2014/main" id="{F9DFF9C5-CCD9-4F73-BC88-663854DB9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3052" y="4065387"/>
              <a:ext cx="604438" cy="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n-GB" sz="2400">
                <a:cs typeface="Arial" panose="020B0604020202020204" pitchFamily="34" charset="0"/>
              </a:endParaRPr>
            </a:p>
          </p:txBody>
        </p:sp>
        <p:sp>
          <p:nvSpPr>
            <p:cNvPr id="63" name="Text Box 28">
              <a:extLst>
                <a:ext uri="{FF2B5EF4-FFF2-40B4-BE49-F238E27FC236}">
                  <a16:creationId xmlns:a16="http://schemas.microsoft.com/office/drawing/2014/main" id="{64534B63-3579-43A0-9E35-AC2311FA4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7164" y="3809154"/>
              <a:ext cx="844702" cy="396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Punto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4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2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9" dur="500"/>
                                        <p:tgtEl>
                                          <p:spTgt spid="4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2041" grpId="0" animBg="1"/>
      <p:bldP spid="42037" grpId="0" animBg="1"/>
      <p:bldP spid="65" grpId="0"/>
      <p:bldP spid="42031" grpId="0"/>
      <p:bldP spid="42033" grpId="0" animBg="1"/>
      <p:bldP spid="42029" grpId="0"/>
      <p:bldP spid="42030" grpId="0" animBg="1"/>
      <p:bldP spid="42018" grpId="0"/>
      <p:bldP spid="146" grpId="0"/>
      <p:bldP spid="42012" grpId="0"/>
      <p:bldP spid="153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9"/>
          <p:cNvGrpSpPr>
            <a:grpSpLocks/>
          </p:cNvGrpSpPr>
          <p:nvPr/>
        </p:nvGrpSpPr>
        <p:grpSpPr bwMode="auto">
          <a:xfrm>
            <a:off x="2022415" y="2602730"/>
            <a:ext cx="4319592" cy="1844675"/>
            <a:chOff x="1192" y="2039"/>
            <a:chExt cx="2721" cy="1162"/>
          </a:xfrm>
        </p:grpSpPr>
        <p:sp>
          <p:nvSpPr>
            <p:cNvPr id="9302" name="Line 167"/>
            <p:cNvSpPr>
              <a:spLocks noChangeShapeType="1"/>
            </p:cNvSpPr>
            <p:nvPr/>
          </p:nvSpPr>
          <p:spPr bwMode="auto">
            <a:xfrm>
              <a:off x="1192" y="3201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9303" name="Line 166"/>
            <p:cNvSpPr>
              <a:spLocks noChangeShapeType="1"/>
            </p:cNvSpPr>
            <p:nvPr/>
          </p:nvSpPr>
          <p:spPr bwMode="auto">
            <a:xfrm>
              <a:off x="1192" y="2596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9304" name="Line 165"/>
            <p:cNvSpPr>
              <a:spLocks noChangeShapeType="1"/>
            </p:cNvSpPr>
            <p:nvPr/>
          </p:nvSpPr>
          <p:spPr bwMode="auto">
            <a:xfrm>
              <a:off x="1192" y="2039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6" name="Line 175"/>
          <p:cNvSpPr>
            <a:spLocks noChangeShapeType="1"/>
          </p:cNvSpPr>
          <p:nvPr/>
        </p:nvSpPr>
        <p:spPr bwMode="auto">
          <a:xfrm>
            <a:off x="2253270" y="5258963"/>
            <a:ext cx="43200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/>
          </a:p>
        </p:txBody>
      </p:sp>
      <p:sp>
        <p:nvSpPr>
          <p:cNvPr id="9219" name="Rectangle 109"/>
          <p:cNvSpPr>
            <a:spLocks noChangeArrowheads="1"/>
          </p:cNvSpPr>
          <p:nvPr/>
        </p:nvSpPr>
        <p:spPr bwMode="auto">
          <a:xfrm>
            <a:off x="1258094" y="484996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1.2.1. LEY DE COULOMB</a:t>
            </a:r>
          </a:p>
        </p:txBody>
      </p:sp>
      <p:grpSp>
        <p:nvGrpSpPr>
          <p:cNvPr id="3" name="Group 206"/>
          <p:cNvGrpSpPr>
            <a:grpSpLocks/>
          </p:cNvGrpSpPr>
          <p:nvPr/>
        </p:nvGrpSpPr>
        <p:grpSpPr bwMode="auto">
          <a:xfrm>
            <a:off x="2835214" y="1201397"/>
            <a:ext cx="2574925" cy="4332289"/>
            <a:chOff x="1704" y="1124"/>
            <a:chExt cx="1622" cy="2729"/>
          </a:xfrm>
        </p:grpSpPr>
        <p:sp>
          <p:nvSpPr>
            <p:cNvPr id="9292" name="Line 204"/>
            <p:cNvSpPr>
              <a:spLocks noChangeShapeType="1"/>
            </p:cNvSpPr>
            <p:nvPr/>
          </p:nvSpPr>
          <p:spPr bwMode="auto">
            <a:xfrm>
              <a:off x="3182" y="1124"/>
              <a:ext cx="0" cy="272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9293" name="Line 203"/>
            <p:cNvSpPr>
              <a:spLocks noChangeShapeType="1"/>
            </p:cNvSpPr>
            <p:nvPr/>
          </p:nvSpPr>
          <p:spPr bwMode="auto">
            <a:xfrm>
              <a:off x="1831" y="1132"/>
              <a:ext cx="0" cy="272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 dirty="0"/>
            </a:p>
          </p:txBody>
        </p:sp>
        <p:pic>
          <p:nvPicPr>
            <p:cNvPr id="9294" name="Picture 1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1867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95" name="Picture 15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1869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96" name="Picture 15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241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97" name="Picture 15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3043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98" name="Picture 15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3041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99" name="Picture 1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2423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99"/>
          <p:cNvGrpSpPr>
            <a:grpSpLocks/>
          </p:cNvGrpSpPr>
          <p:nvPr/>
        </p:nvGrpSpPr>
        <p:grpSpPr bwMode="auto">
          <a:xfrm>
            <a:off x="3286065" y="2586787"/>
            <a:ext cx="1668463" cy="6350"/>
            <a:chOff x="1988" y="2048"/>
            <a:chExt cx="1051" cy="4"/>
          </a:xfrm>
        </p:grpSpPr>
        <p:sp>
          <p:nvSpPr>
            <p:cNvPr id="9290" name="Line 168"/>
            <p:cNvSpPr>
              <a:spLocks noChangeShapeType="1"/>
            </p:cNvSpPr>
            <p:nvPr/>
          </p:nvSpPr>
          <p:spPr bwMode="auto">
            <a:xfrm flipH="1">
              <a:off x="2586" y="2052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9291" name="Line 171"/>
            <p:cNvSpPr>
              <a:spLocks noChangeShapeType="1"/>
            </p:cNvSpPr>
            <p:nvPr/>
          </p:nvSpPr>
          <p:spPr bwMode="auto">
            <a:xfrm>
              <a:off x="1988" y="204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5" name="Group 207"/>
          <p:cNvGrpSpPr>
            <a:grpSpLocks/>
          </p:cNvGrpSpPr>
          <p:nvPr/>
        </p:nvGrpSpPr>
        <p:grpSpPr bwMode="auto">
          <a:xfrm>
            <a:off x="2090678" y="3485866"/>
            <a:ext cx="4110037" cy="962025"/>
            <a:chOff x="1235" y="2702"/>
            <a:chExt cx="2589" cy="606"/>
          </a:xfrm>
        </p:grpSpPr>
        <p:sp>
          <p:nvSpPr>
            <p:cNvPr id="9286" name="Line 169"/>
            <p:cNvSpPr>
              <a:spLocks noChangeShapeType="1"/>
            </p:cNvSpPr>
            <p:nvPr/>
          </p:nvSpPr>
          <p:spPr bwMode="auto">
            <a:xfrm flipH="1">
              <a:off x="1240" y="2702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9287" name="Line 170"/>
            <p:cNvSpPr>
              <a:spLocks noChangeShapeType="1"/>
            </p:cNvSpPr>
            <p:nvPr/>
          </p:nvSpPr>
          <p:spPr bwMode="auto">
            <a:xfrm flipH="1">
              <a:off x="1235" y="330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9288" name="Line 172"/>
            <p:cNvSpPr>
              <a:spLocks noChangeShapeType="1"/>
            </p:cNvSpPr>
            <p:nvPr/>
          </p:nvSpPr>
          <p:spPr bwMode="auto">
            <a:xfrm>
              <a:off x="3362" y="2704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9289" name="Line 173"/>
            <p:cNvSpPr>
              <a:spLocks noChangeShapeType="1"/>
            </p:cNvSpPr>
            <p:nvPr/>
          </p:nvSpPr>
          <p:spPr bwMode="auto">
            <a:xfrm>
              <a:off x="3371" y="3304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15" name="Grupo 14"/>
          <p:cNvGrpSpPr>
            <a:grpSpLocks/>
          </p:cNvGrpSpPr>
          <p:nvPr/>
        </p:nvGrpSpPr>
        <p:grpSpPr bwMode="auto">
          <a:xfrm>
            <a:off x="5197096" y="4599438"/>
            <a:ext cx="956353" cy="653937"/>
            <a:chOff x="4884215" y="5326176"/>
            <a:chExt cx="956354" cy="653937"/>
          </a:xfrm>
        </p:grpSpPr>
        <p:sp>
          <p:nvSpPr>
            <p:cNvPr id="9284" name="Line 181"/>
            <p:cNvSpPr>
              <a:spLocks noChangeShapeType="1"/>
            </p:cNvSpPr>
            <p:nvPr/>
          </p:nvSpPr>
          <p:spPr bwMode="auto">
            <a:xfrm>
              <a:off x="4884215" y="5980113"/>
              <a:ext cx="71913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9285" name="Object 1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2768842"/>
                </p:ext>
              </p:extLst>
            </p:nvPr>
          </p:nvGraphicFramePr>
          <p:xfrm>
            <a:off x="5315628" y="5326176"/>
            <a:ext cx="524941" cy="603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64957" imgH="190335" progId="Equation.3">
                    <p:embed/>
                  </p:oleObj>
                </mc:Choice>
                <mc:Fallback>
                  <p:oleObj name="Ecuación" r:id="rId5" imgW="164957" imgH="190335" progId="Equation.3">
                    <p:embed/>
                    <p:pic>
                      <p:nvPicPr>
                        <p:cNvPr id="0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5628" y="5326176"/>
                          <a:ext cx="524941" cy="6039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upo 15"/>
          <p:cNvGrpSpPr>
            <a:grpSpLocks/>
          </p:cNvGrpSpPr>
          <p:nvPr/>
        </p:nvGrpSpPr>
        <p:grpSpPr bwMode="auto">
          <a:xfrm>
            <a:off x="2032096" y="4605877"/>
            <a:ext cx="1020607" cy="645910"/>
            <a:chOff x="1689816" y="5332616"/>
            <a:chExt cx="1020607" cy="645910"/>
          </a:xfrm>
        </p:grpSpPr>
        <p:sp>
          <p:nvSpPr>
            <p:cNvPr id="9282" name="Line 182"/>
            <p:cNvSpPr>
              <a:spLocks noChangeShapeType="1"/>
            </p:cNvSpPr>
            <p:nvPr/>
          </p:nvSpPr>
          <p:spPr bwMode="auto">
            <a:xfrm flipH="1">
              <a:off x="1991285" y="5978526"/>
              <a:ext cx="71913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9283" name="Object 1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5551100"/>
                </p:ext>
              </p:extLst>
            </p:nvPr>
          </p:nvGraphicFramePr>
          <p:xfrm>
            <a:off x="1689816" y="5332616"/>
            <a:ext cx="539592" cy="621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64957" imgH="190335" progId="Equation.3">
                    <p:embed/>
                  </p:oleObj>
                </mc:Choice>
                <mc:Fallback>
                  <p:oleObj name="Ecuación" r:id="rId7" imgW="164957" imgH="190335" progId="Equation.3">
                    <p:embed/>
                    <p:pic>
                      <p:nvPicPr>
                        <p:cNvPr id="0" name="Object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816" y="5332616"/>
                          <a:ext cx="539592" cy="621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30" name="Text Box 186"/>
          <p:cNvSpPr txBox="1">
            <a:spLocks noChangeArrowheads="1"/>
          </p:cNvSpPr>
          <p:nvPr/>
        </p:nvSpPr>
        <p:spPr bwMode="auto">
          <a:xfrm>
            <a:off x="7061475" y="488950"/>
            <a:ext cx="3302095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FUERZA ELÉCTRICA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9776BE9-4F53-4344-8F9E-55F7570E8B0F}"/>
              </a:ext>
            </a:extLst>
          </p:cNvPr>
          <p:cNvGrpSpPr/>
          <p:nvPr/>
        </p:nvGrpSpPr>
        <p:grpSpPr>
          <a:xfrm>
            <a:off x="2779653" y="1161566"/>
            <a:ext cx="2697162" cy="544513"/>
            <a:chOff x="2809797" y="1246397"/>
            <a:chExt cx="2697162" cy="544513"/>
          </a:xfrm>
        </p:grpSpPr>
        <p:sp>
          <p:nvSpPr>
            <p:cNvPr id="9274" name="Oval 202"/>
            <p:cNvSpPr>
              <a:spLocks noChangeAspect="1" noChangeArrowheads="1"/>
            </p:cNvSpPr>
            <p:nvPr/>
          </p:nvSpPr>
          <p:spPr bwMode="auto">
            <a:xfrm>
              <a:off x="4967209" y="1251160"/>
              <a:ext cx="539750" cy="539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5" name="Oval 201"/>
            <p:cNvSpPr>
              <a:spLocks noChangeAspect="1" noChangeArrowheads="1"/>
            </p:cNvSpPr>
            <p:nvPr/>
          </p:nvSpPr>
          <p:spPr bwMode="auto">
            <a:xfrm>
              <a:off x="2809797" y="1246397"/>
              <a:ext cx="539750" cy="539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76" name="Text Box 161"/>
            <p:cNvSpPr txBox="1">
              <a:spLocks noChangeArrowheads="1"/>
            </p:cNvSpPr>
            <p:nvPr/>
          </p:nvSpPr>
          <p:spPr bwMode="auto">
            <a:xfrm>
              <a:off x="2841547" y="1273385"/>
              <a:ext cx="4699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77" name="Text Box 162"/>
            <p:cNvSpPr txBox="1">
              <a:spLocks noChangeArrowheads="1"/>
            </p:cNvSpPr>
            <p:nvPr/>
          </p:nvSpPr>
          <p:spPr bwMode="auto">
            <a:xfrm>
              <a:off x="4989434" y="1270210"/>
              <a:ext cx="4699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D84799E-D29A-4D47-A524-753B5CC28597}"/>
              </a:ext>
            </a:extLst>
          </p:cNvPr>
          <p:cNvGrpSpPr/>
          <p:nvPr/>
        </p:nvGrpSpPr>
        <p:grpSpPr>
          <a:xfrm>
            <a:off x="3059053" y="1642724"/>
            <a:ext cx="2159000" cy="519113"/>
            <a:chOff x="3089197" y="1592472"/>
            <a:chExt cx="2159000" cy="519113"/>
          </a:xfrm>
        </p:grpSpPr>
        <p:sp>
          <p:nvSpPr>
            <p:cNvPr id="9278" name="Text Box 193"/>
            <p:cNvSpPr txBox="1">
              <a:spLocks noChangeArrowheads="1"/>
            </p:cNvSpPr>
            <p:nvPr/>
          </p:nvSpPr>
          <p:spPr bwMode="auto">
            <a:xfrm>
              <a:off x="4017884" y="1592472"/>
              <a:ext cx="3000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9279" name="Line 195"/>
            <p:cNvSpPr>
              <a:spLocks noChangeShapeType="1"/>
            </p:cNvSpPr>
            <p:nvPr/>
          </p:nvSpPr>
          <p:spPr bwMode="auto">
            <a:xfrm>
              <a:off x="3089197" y="2052847"/>
              <a:ext cx="2159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6340" name="Text Box 196"/>
          <p:cNvSpPr txBox="1">
            <a:spLocks noChangeArrowheads="1"/>
          </p:cNvSpPr>
          <p:nvPr/>
        </p:nvSpPr>
        <p:spPr bwMode="auto">
          <a:xfrm>
            <a:off x="5309774" y="459479"/>
            <a:ext cx="90419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1784</a:t>
            </a:r>
          </a:p>
        </p:txBody>
      </p:sp>
      <p:sp>
        <p:nvSpPr>
          <p:cNvPr id="6409" name="Text Box 265"/>
          <p:cNvSpPr txBox="1">
            <a:spLocks noChangeArrowheads="1"/>
          </p:cNvSpPr>
          <p:nvPr/>
        </p:nvSpPr>
        <p:spPr bwMode="auto">
          <a:xfrm>
            <a:off x="7061475" y="1091282"/>
            <a:ext cx="3302095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ENTRE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2 CARGAS PUNTUALES</a:t>
            </a:r>
            <a:endParaRPr lang="es-ES" sz="2400" u="sng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410" name="Text Box 266"/>
          <p:cNvSpPr txBox="1">
            <a:spLocks noChangeArrowheads="1"/>
          </p:cNvSpPr>
          <p:nvPr/>
        </p:nvSpPr>
        <p:spPr bwMode="auto">
          <a:xfrm>
            <a:off x="7061476" y="2183406"/>
            <a:ext cx="3302094" cy="16445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Las fuerzas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entre las cargas se ejercen a lo largo de la recta que pasa por ellas</a:t>
            </a:r>
          </a:p>
        </p:txBody>
      </p:sp>
      <p:sp>
        <p:nvSpPr>
          <p:cNvPr id="9242" name="Text Box 269"/>
          <p:cNvSpPr txBox="1">
            <a:spLocks noChangeArrowheads="1"/>
          </p:cNvSpPr>
          <p:nvPr/>
        </p:nvSpPr>
        <p:spPr bwMode="auto">
          <a:xfrm>
            <a:off x="7021205" y="4323539"/>
            <a:ext cx="3342365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Para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cada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se caracteriza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dirección con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Flecha abajo 10"/>
          <p:cNvSpPr/>
          <p:nvPr/>
        </p:nvSpPr>
        <p:spPr bwMode="auto">
          <a:xfrm>
            <a:off x="8420188" y="3920034"/>
            <a:ext cx="584667" cy="311691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grpSp>
        <p:nvGrpSpPr>
          <p:cNvPr id="45" name="Group 234">
            <a:extLst>
              <a:ext uri="{FF2B5EF4-FFF2-40B4-BE49-F238E27FC236}">
                <a16:creationId xmlns:a16="http://schemas.microsoft.com/office/drawing/2014/main" id="{6355DE23-A992-408B-840D-AC879677BCF0}"/>
              </a:ext>
            </a:extLst>
          </p:cNvPr>
          <p:cNvGrpSpPr>
            <a:grpSpLocks/>
          </p:cNvGrpSpPr>
          <p:nvPr/>
        </p:nvGrpSpPr>
        <p:grpSpPr bwMode="auto">
          <a:xfrm>
            <a:off x="1814456" y="2755130"/>
            <a:ext cx="2065343" cy="1522413"/>
            <a:chOff x="1061" y="2129"/>
            <a:chExt cx="1301" cy="959"/>
          </a:xfrm>
        </p:grpSpPr>
        <p:grpSp>
          <p:nvGrpSpPr>
            <p:cNvPr id="46" name="Group 215">
              <a:extLst>
                <a:ext uri="{FF2B5EF4-FFF2-40B4-BE49-F238E27FC236}">
                  <a16:creationId xmlns:a16="http://schemas.microsoft.com/office/drawing/2014/main" id="{35765918-FF46-4CA4-BADE-0562AAF385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" y="2244"/>
              <a:ext cx="328" cy="250"/>
              <a:chOff x="2427" y="2129"/>
              <a:chExt cx="328" cy="250"/>
            </a:xfrm>
          </p:grpSpPr>
          <p:sp>
            <p:nvSpPr>
              <p:cNvPr id="53" name="Text Box 213">
                <a:extLst>
                  <a:ext uri="{FF2B5EF4-FFF2-40B4-BE49-F238E27FC236}">
                    <a16:creationId xmlns:a16="http://schemas.microsoft.com/office/drawing/2014/main" id="{05496022-66AE-417B-B74A-B82FCA696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7" y="212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4" name="Line 214">
                <a:extLst>
                  <a:ext uri="{FF2B5EF4-FFF2-40B4-BE49-F238E27FC236}">
                    <a16:creationId xmlns:a16="http://schemas.microsoft.com/office/drawing/2014/main" id="{972A4C21-7778-428B-AD2A-B8F74B2C6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2" y="214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47" name="Group 225">
              <a:extLst>
                <a:ext uri="{FF2B5EF4-FFF2-40B4-BE49-F238E27FC236}">
                  <a16:creationId xmlns:a16="http://schemas.microsoft.com/office/drawing/2014/main" id="{547CCA30-AC7D-4B64-A0A7-AE5EDB1AA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4" y="2129"/>
              <a:ext cx="328" cy="250"/>
              <a:chOff x="2650" y="2129"/>
              <a:chExt cx="328" cy="250"/>
            </a:xfrm>
          </p:grpSpPr>
          <p:sp>
            <p:nvSpPr>
              <p:cNvPr id="51" name="Text Box 226">
                <a:extLst>
                  <a:ext uri="{FF2B5EF4-FFF2-40B4-BE49-F238E27FC236}">
                    <a16:creationId xmlns:a16="http://schemas.microsoft.com/office/drawing/2014/main" id="{10BA51C0-66F2-41D7-96F2-3AD2BFACB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0" y="212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2" name="Line 227">
                <a:extLst>
                  <a:ext uri="{FF2B5EF4-FFF2-40B4-BE49-F238E27FC236}">
                    <a16:creationId xmlns:a16="http://schemas.microsoft.com/office/drawing/2014/main" id="{FEADD825-9E0B-4DD8-A808-EED235989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5" y="214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48" name="Group 228">
              <a:extLst>
                <a:ext uri="{FF2B5EF4-FFF2-40B4-BE49-F238E27FC236}">
                  <a16:creationId xmlns:a16="http://schemas.microsoft.com/office/drawing/2014/main" id="{5FD372AF-4EE0-4C8A-92E9-4EA0EBF804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1" y="2838"/>
              <a:ext cx="328" cy="250"/>
              <a:chOff x="2421" y="2005"/>
              <a:chExt cx="328" cy="250"/>
            </a:xfrm>
          </p:grpSpPr>
          <p:sp>
            <p:nvSpPr>
              <p:cNvPr id="49" name="Text Box 229">
                <a:extLst>
                  <a:ext uri="{FF2B5EF4-FFF2-40B4-BE49-F238E27FC236}">
                    <a16:creationId xmlns:a16="http://schemas.microsoft.com/office/drawing/2014/main" id="{A739F6A3-6112-4393-A315-CEE7E0A714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00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0" name="Line 230">
                <a:extLst>
                  <a:ext uri="{FF2B5EF4-FFF2-40B4-BE49-F238E27FC236}">
                    <a16:creationId xmlns:a16="http://schemas.microsoft.com/office/drawing/2014/main" id="{6E42B19B-E6C5-4D2D-9B5E-F98C20724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2" y="203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7FDCB0B7-4B33-4EBE-9A41-2B128070CD3A}"/>
              </a:ext>
            </a:extLst>
          </p:cNvPr>
          <p:cNvGrpSpPr/>
          <p:nvPr/>
        </p:nvGrpSpPr>
        <p:grpSpPr>
          <a:xfrm>
            <a:off x="2194982" y="5787642"/>
            <a:ext cx="654050" cy="495301"/>
            <a:chOff x="5805625" y="5860379"/>
            <a:chExt cx="654050" cy="495301"/>
          </a:xfrm>
        </p:grpSpPr>
        <p:sp>
          <p:nvSpPr>
            <p:cNvPr id="56" name="Rectangle 125">
              <a:extLst>
                <a:ext uri="{FF2B5EF4-FFF2-40B4-BE49-F238E27FC236}">
                  <a16:creationId xmlns:a16="http://schemas.microsoft.com/office/drawing/2014/main" id="{26265A65-3C2E-4EB7-8939-91DDBEE47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625" y="5860379"/>
              <a:ext cx="654050" cy="4953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57" name="Group 222">
              <a:extLst>
                <a:ext uri="{FF2B5EF4-FFF2-40B4-BE49-F238E27FC236}">
                  <a16:creationId xmlns:a16="http://schemas.microsoft.com/office/drawing/2014/main" id="{2620BA9A-3B2E-4DB3-94AF-B8F547326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0143" y="5901654"/>
              <a:ext cx="520700" cy="396876"/>
              <a:chOff x="2759" y="2117"/>
              <a:chExt cx="328" cy="250"/>
            </a:xfrm>
          </p:grpSpPr>
          <p:sp>
            <p:nvSpPr>
              <p:cNvPr id="58" name="Text Box 223">
                <a:extLst>
                  <a:ext uri="{FF2B5EF4-FFF2-40B4-BE49-F238E27FC236}">
                    <a16:creationId xmlns:a16="http://schemas.microsoft.com/office/drawing/2014/main" id="{BD89CC25-A75E-4F09-9EA2-E75F490795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9" y="211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9" name="Line 224">
                <a:extLst>
                  <a:ext uri="{FF2B5EF4-FFF2-40B4-BE49-F238E27FC236}">
                    <a16:creationId xmlns:a16="http://schemas.microsoft.com/office/drawing/2014/main" id="{1F2BF76C-CF91-4D02-B805-17D2BAC14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3" y="2133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sp>
        <p:nvSpPr>
          <p:cNvPr id="60" name="Text Box 267">
            <a:extLst>
              <a:ext uri="{FF2B5EF4-FFF2-40B4-BE49-F238E27FC236}">
                <a16:creationId xmlns:a16="http://schemas.microsoft.com/office/drawing/2014/main" id="{52D74716-046A-4954-9FF9-31618DC9E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728" y="5763636"/>
            <a:ext cx="3568700" cy="5147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Ejercida por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sobre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1" name="Text Box 268">
            <a:extLst>
              <a:ext uri="{FF2B5EF4-FFF2-40B4-BE49-F238E27FC236}">
                <a16:creationId xmlns:a16="http://schemas.microsoft.com/office/drawing/2014/main" id="{BF7362F5-3835-4C0F-BFC6-E042FE602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455" y="6364283"/>
            <a:ext cx="3575052" cy="5147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Ejercida por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sobre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6D582520-24E3-4928-9EFD-612C0CA15506}"/>
              </a:ext>
            </a:extLst>
          </p:cNvPr>
          <p:cNvGrpSpPr/>
          <p:nvPr/>
        </p:nvGrpSpPr>
        <p:grpSpPr>
          <a:xfrm>
            <a:off x="2197846" y="6353365"/>
            <a:ext cx="654050" cy="479425"/>
            <a:chOff x="1795291" y="6342974"/>
            <a:chExt cx="654050" cy="479425"/>
          </a:xfrm>
        </p:grpSpPr>
        <p:sp>
          <p:nvSpPr>
            <p:cNvPr id="63" name="Rectangle 124">
              <a:extLst>
                <a:ext uri="{FF2B5EF4-FFF2-40B4-BE49-F238E27FC236}">
                  <a16:creationId xmlns:a16="http://schemas.microsoft.com/office/drawing/2014/main" id="{31FE7D18-C87A-4B00-914F-5742201C4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291" y="6342974"/>
              <a:ext cx="654050" cy="479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4" name="Group 215">
              <a:extLst>
                <a:ext uri="{FF2B5EF4-FFF2-40B4-BE49-F238E27FC236}">
                  <a16:creationId xmlns:a16="http://schemas.microsoft.com/office/drawing/2014/main" id="{5BCA0684-2CDC-48FF-A1E9-11E5365271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441" y="6373136"/>
              <a:ext cx="520700" cy="396875"/>
              <a:chOff x="2669" y="2093"/>
              <a:chExt cx="328" cy="250"/>
            </a:xfrm>
          </p:grpSpPr>
          <p:sp>
            <p:nvSpPr>
              <p:cNvPr id="65" name="Text Box 213">
                <a:extLst>
                  <a:ext uri="{FF2B5EF4-FFF2-40B4-BE49-F238E27FC236}">
                    <a16:creationId xmlns:a16="http://schemas.microsoft.com/office/drawing/2014/main" id="{D1E95F82-27F8-4490-B7F2-9F89462330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9" y="2093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6" name="Line 214">
                <a:extLst>
                  <a:ext uri="{FF2B5EF4-FFF2-40B4-BE49-F238E27FC236}">
                    <a16:creationId xmlns:a16="http://schemas.microsoft.com/office/drawing/2014/main" id="{F36CFA0A-49B9-48D5-948F-8BD1ED5366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4" y="2109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grpSp>
        <p:nvGrpSpPr>
          <p:cNvPr id="67" name="Group 235">
            <a:extLst>
              <a:ext uri="{FF2B5EF4-FFF2-40B4-BE49-F238E27FC236}">
                <a16:creationId xmlns:a16="http://schemas.microsoft.com/office/drawing/2014/main" id="{F25DCDCD-FF91-4AA8-8E27-18982B4B019B}"/>
              </a:ext>
            </a:extLst>
          </p:cNvPr>
          <p:cNvGrpSpPr>
            <a:grpSpLocks/>
          </p:cNvGrpSpPr>
          <p:nvPr/>
        </p:nvGrpSpPr>
        <p:grpSpPr bwMode="auto">
          <a:xfrm>
            <a:off x="4354459" y="2761487"/>
            <a:ext cx="2081217" cy="1531940"/>
            <a:chOff x="2525" y="2157"/>
            <a:chExt cx="1311" cy="965"/>
          </a:xfrm>
        </p:grpSpPr>
        <p:grpSp>
          <p:nvGrpSpPr>
            <p:cNvPr id="68" name="Group 216">
              <a:extLst>
                <a:ext uri="{FF2B5EF4-FFF2-40B4-BE49-F238E27FC236}">
                  <a16:creationId xmlns:a16="http://schemas.microsoft.com/office/drawing/2014/main" id="{5D7A39A8-1C1E-4439-AEDF-27BC4DD76A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5" y="2872"/>
              <a:ext cx="328" cy="250"/>
              <a:chOff x="2710" y="2056"/>
              <a:chExt cx="328" cy="250"/>
            </a:xfrm>
          </p:grpSpPr>
          <p:sp>
            <p:nvSpPr>
              <p:cNvPr id="75" name="Text Box 217">
                <a:extLst>
                  <a:ext uri="{FF2B5EF4-FFF2-40B4-BE49-F238E27FC236}">
                    <a16:creationId xmlns:a16="http://schemas.microsoft.com/office/drawing/2014/main" id="{3078E779-9161-4B59-9B21-DC367BB0B9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0" y="2056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6" name="Line 218">
                <a:extLst>
                  <a:ext uri="{FF2B5EF4-FFF2-40B4-BE49-F238E27FC236}">
                    <a16:creationId xmlns:a16="http://schemas.microsoft.com/office/drawing/2014/main" id="{53DFF0DD-122F-43DB-9CA6-16A1A18607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5" y="2084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69" name="Group 219">
              <a:extLst>
                <a:ext uri="{FF2B5EF4-FFF2-40B4-BE49-F238E27FC236}">
                  <a16:creationId xmlns:a16="http://schemas.microsoft.com/office/drawing/2014/main" id="{5A1EBFE0-A877-4B6D-80F8-5758087B5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" y="2278"/>
              <a:ext cx="328" cy="250"/>
              <a:chOff x="2729" y="2167"/>
              <a:chExt cx="328" cy="250"/>
            </a:xfrm>
          </p:grpSpPr>
          <p:sp>
            <p:nvSpPr>
              <p:cNvPr id="73" name="Text Box 220">
                <a:extLst>
                  <a:ext uri="{FF2B5EF4-FFF2-40B4-BE49-F238E27FC236}">
                    <a16:creationId xmlns:a16="http://schemas.microsoft.com/office/drawing/2014/main" id="{FCB81388-0D36-4844-85D1-2990021334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9" y="216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4" name="Line 221">
                <a:extLst>
                  <a:ext uri="{FF2B5EF4-FFF2-40B4-BE49-F238E27FC236}">
                    <a16:creationId xmlns:a16="http://schemas.microsoft.com/office/drawing/2014/main" id="{CA1D413D-9201-4CDB-A4F6-1809E8C7A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4" y="219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70" name="Group 222">
              <a:extLst>
                <a:ext uri="{FF2B5EF4-FFF2-40B4-BE49-F238E27FC236}">
                  <a16:creationId xmlns:a16="http://schemas.microsoft.com/office/drawing/2014/main" id="{5FBE3996-D44D-4A86-98FA-9D84F4809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5" y="2157"/>
              <a:ext cx="328" cy="250"/>
              <a:chOff x="2554" y="2152"/>
              <a:chExt cx="328" cy="250"/>
            </a:xfrm>
          </p:grpSpPr>
          <p:sp>
            <p:nvSpPr>
              <p:cNvPr id="71" name="Text Box 223">
                <a:extLst>
                  <a:ext uri="{FF2B5EF4-FFF2-40B4-BE49-F238E27FC236}">
                    <a16:creationId xmlns:a16="http://schemas.microsoft.com/office/drawing/2014/main" id="{1B580D24-BF08-49BB-84BC-2130DD8AA2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4" y="2152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2" name="Line 224">
                <a:extLst>
                  <a:ext uri="{FF2B5EF4-FFF2-40B4-BE49-F238E27FC236}">
                    <a16:creationId xmlns:a16="http://schemas.microsoft.com/office/drawing/2014/main" id="{386DA9DA-7851-499A-93CC-6BF2E84E3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9" y="216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sp>
        <p:nvSpPr>
          <p:cNvPr id="7" name="Text Box 269">
            <a:extLst>
              <a:ext uri="{FF2B5EF4-FFF2-40B4-BE49-F238E27FC236}">
                <a16:creationId xmlns:a16="http://schemas.microsoft.com/office/drawing/2014/main" id="{9A8B11C4-93F8-A48E-9360-8CE9BC115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0995" y="5630185"/>
            <a:ext cx="3342365" cy="125340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Hacia fuera de la que ejerce fuerza, aplicado en la que la sufre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330" grpId="0" animBg="1"/>
      <p:bldP spid="6340" grpId="0" animBg="1"/>
      <p:bldP spid="6409" grpId="0" animBg="1"/>
      <p:bldP spid="6410" grpId="0" animBg="1"/>
      <p:bldP spid="9242" grpId="0" animBg="1"/>
      <p:bldP spid="11" grpId="0" animBg="1"/>
      <p:bldP spid="60" grpId="0"/>
      <p:bldP spid="61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09"/>
          <p:cNvSpPr>
            <a:spLocks noChangeArrowheads="1"/>
          </p:cNvSpPr>
          <p:nvPr/>
        </p:nvSpPr>
        <p:spPr bwMode="auto">
          <a:xfrm>
            <a:off x="1258094" y="484996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1.2.1. LEY DE COULOMB</a:t>
            </a:r>
          </a:p>
        </p:txBody>
      </p:sp>
      <p:sp>
        <p:nvSpPr>
          <p:cNvPr id="6330" name="Text Box 186"/>
          <p:cNvSpPr txBox="1">
            <a:spLocks noChangeArrowheads="1"/>
          </p:cNvSpPr>
          <p:nvPr/>
        </p:nvSpPr>
        <p:spPr bwMode="auto">
          <a:xfrm>
            <a:off x="7061475" y="488950"/>
            <a:ext cx="3302095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FUERZA ELÉCTRICA</a:t>
            </a:r>
          </a:p>
        </p:txBody>
      </p:sp>
      <p:sp>
        <p:nvSpPr>
          <p:cNvPr id="6340" name="Text Box 196"/>
          <p:cNvSpPr txBox="1">
            <a:spLocks noChangeArrowheads="1"/>
          </p:cNvSpPr>
          <p:nvPr/>
        </p:nvSpPr>
        <p:spPr bwMode="auto">
          <a:xfrm>
            <a:off x="5309774" y="459479"/>
            <a:ext cx="904195" cy="5147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1784</a:t>
            </a:r>
          </a:p>
        </p:txBody>
      </p:sp>
      <p:sp>
        <p:nvSpPr>
          <p:cNvPr id="6409" name="Text Box 265"/>
          <p:cNvSpPr txBox="1">
            <a:spLocks noChangeArrowheads="1"/>
          </p:cNvSpPr>
          <p:nvPr/>
        </p:nvSpPr>
        <p:spPr bwMode="auto">
          <a:xfrm>
            <a:off x="7061475" y="1091282"/>
            <a:ext cx="3302095" cy="884070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ENTRE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2 CARGAS PUNTUALES</a:t>
            </a:r>
            <a:endParaRPr lang="es-ES" sz="2400" u="sng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77" name="Group 211">
            <a:extLst>
              <a:ext uri="{FF2B5EF4-FFF2-40B4-BE49-F238E27FC236}">
                <a16:creationId xmlns:a16="http://schemas.microsoft.com/office/drawing/2014/main" id="{A4FAADA3-84AB-416F-8C9F-D93069BFFBD3}"/>
              </a:ext>
            </a:extLst>
          </p:cNvPr>
          <p:cNvGrpSpPr>
            <a:grpSpLocks/>
          </p:cNvGrpSpPr>
          <p:nvPr/>
        </p:nvGrpSpPr>
        <p:grpSpPr bwMode="auto">
          <a:xfrm>
            <a:off x="7247784" y="2163560"/>
            <a:ext cx="2949575" cy="1458913"/>
            <a:chOff x="4252" y="1800"/>
            <a:chExt cx="1858" cy="919"/>
          </a:xfrm>
        </p:grpSpPr>
        <p:sp>
          <p:nvSpPr>
            <p:cNvPr id="78" name="Rectangle 191">
              <a:extLst>
                <a:ext uri="{FF2B5EF4-FFF2-40B4-BE49-F238E27FC236}">
                  <a16:creationId xmlns:a16="http://schemas.microsoft.com/office/drawing/2014/main" id="{13BB110B-9117-4049-91E2-72C7470FB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" y="1800"/>
              <a:ext cx="1858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79" name="Object 187">
              <a:extLst>
                <a:ext uri="{FF2B5EF4-FFF2-40B4-BE49-F238E27FC236}">
                  <a16:creationId xmlns:a16="http://schemas.microsoft.com/office/drawing/2014/main" id="{D4B33FC8-262A-4DFB-94DB-AB9F9C397D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1" y="1974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38200" imgH="330200" progId="Equation.3">
                    <p:embed/>
                  </p:oleObj>
                </mc:Choice>
                <mc:Fallback>
                  <p:oleObj name="Ecuación" r:id="rId3" imgW="838200" imgH="330200" progId="Equation.3">
                    <p:embed/>
                    <p:pic>
                      <p:nvPicPr>
                        <p:cNvPr id="9281" name="Object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1974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Group 212">
            <a:extLst>
              <a:ext uri="{FF2B5EF4-FFF2-40B4-BE49-F238E27FC236}">
                <a16:creationId xmlns:a16="http://schemas.microsoft.com/office/drawing/2014/main" id="{23160E29-438A-43DB-8B18-AC902E097FE6}"/>
              </a:ext>
            </a:extLst>
          </p:cNvPr>
          <p:cNvGrpSpPr>
            <a:grpSpLocks/>
          </p:cNvGrpSpPr>
          <p:nvPr/>
        </p:nvGrpSpPr>
        <p:grpSpPr bwMode="auto">
          <a:xfrm>
            <a:off x="7242228" y="3791413"/>
            <a:ext cx="2960687" cy="1458912"/>
            <a:chOff x="4252" y="3167"/>
            <a:chExt cx="1865" cy="919"/>
          </a:xfrm>
        </p:grpSpPr>
        <p:sp>
          <p:nvSpPr>
            <p:cNvPr id="81" name="Rectangle 192">
              <a:extLst>
                <a:ext uri="{FF2B5EF4-FFF2-40B4-BE49-F238E27FC236}">
                  <a16:creationId xmlns:a16="http://schemas.microsoft.com/office/drawing/2014/main" id="{1380CF89-08D6-4441-8B7E-794D34F61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" y="3167"/>
              <a:ext cx="1865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82" name="Object 190">
              <a:extLst>
                <a:ext uri="{FF2B5EF4-FFF2-40B4-BE49-F238E27FC236}">
                  <a16:creationId xmlns:a16="http://schemas.microsoft.com/office/drawing/2014/main" id="{86433AAB-1BB4-48F8-9BC2-5168009DE7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8" y="3307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838200" imgH="330200" progId="Equation.3">
                    <p:embed/>
                  </p:oleObj>
                </mc:Choice>
                <mc:Fallback>
                  <p:oleObj name="Ecuación" r:id="rId5" imgW="838200" imgH="330200" progId="Equation.3">
                    <p:embed/>
                    <p:pic>
                      <p:nvPicPr>
                        <p:cNvPr id="9245" name="Object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3307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233">
            <a:extLst>
              <a:ext uri="{FF2B5EF4-FFF2-40B4-BE49-F238E27FC236}">
                <a16:creationId xmlns:a16="http://schemas.microsoft.com/office/drawing/2014/main" id="{031B692B-14DC-1719-85FE-DB91344C4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7565" y="5562239"/>
            <a:ext cx="3562350" cy="609252"/>
          </a:xfrm>
          <a:prstGeom prst="rect">
            <a:avLst/>
          </a:prstGeom>
          <a:solidFill>
            <a:srgbClr val="9933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6000" tIns="118800" rIns="126000" bIns="118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Unidad F: Newton = N</a:t>
            </a:r>
          </a:p>
        </p:txBody>
      </p:sp>
      <p:sp>
        <p:nvSpPr>
          <p:cNvPr id="11" name="Text Box 232">
            <a:extLst>
              <a:ext uri="{FF2B5EF4-FFF2-40B4-BE49-F238E27FC236}">
                <a16:creationId xmlns:a16="http://schemas.microsoft.com/office/drawing/2014/main" id="{EC0403FB-704A-9DDA-E5B6-9E1552D78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228" y="6189091"/>
            <a:ext cx="299021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99FF"/>
                </a:solidFill>
                <a:latin typeface="Arial" panose="020B0604020202020204" pitchFamily="34" charset="0"/>
              </a:rPr>
              <a:t>(en honor a Newton)</a:t>
            </a:r>
          </a:p>
        </p:txBody>
      </p:sp>
      <p:grpSp>
        <p:nvGrpSpPr>
          <p:cNvPr id="17" name="Group 209">
            <a:extLst>
              <a:ext uri="{FF2B5EF4-FFF2-40B4-BE49-F238E27FC236}">
                <a16:creationId xmlns:a16="http://schemas.microsoft.com/office/drawing/2014/main" id="{0C7B90E1-8A0B-4C22-3E7A-1A2782DBA764}"/>
              </a:ext>
            </a:extLst>
          </p:cNvPr>
          <p:cNvGrpSpPr>
            <a:grpSpLocks/>
          </p:cNvGrpSpPr>
          <p:nvPr/>
        </p:nvGrpSpPr>
        <p:grpSpPr bwMode="auto">
          <a:xfrm>
            <a:off x="2022415" y="2602730"/>
            <a:ext cx="4319592" cy="1844675"/>
            <a:chOff x="1192" y="2039"/>
            <a:chExt cx="2721" cy="1162"/>
          </a:xfrm>
        </p:grpSpPr>
        <p:sp>
          <p:nvSpPr>
            <p:cNvPr id="18" name="Line 167">
              <a:extLst>
                <a:ext uri="{FF2B5EF4-FFF2-40B4-BE49-F238E27FC236}">
                  <a16:creationId xmlns:a16="http://schemas.microsoft.com/office/drawing/2014/main" id="{55064E89-BCEB-8909-7C71-F558922D4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2" y="3201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19" name="Line 166">
              <a:extLst>
                <a:ext uri="{FF2B5EF4-FFF2-40B4-BE49-F238E27FC236}">
                  <a16:creationId xmlns:a16="http://schemas.microsoft.com/office/drawing/2014/main" id="{0741F468-BB96-AEAE-E0F1-A8F2DD670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2" y="2596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20" name="Line 165">
              <a:extLst>
                <a:ext uri="{FF2B5EF4-FFF2-40B4-BE49-F238E27FC236}">
                  <a16:creationId xmlns:a16="http://schemas.microsoft.com/office/drawing/2014/main" id="{0FB893BA-6BA8-AF8D-CC4B-E48B155F3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2" y="2039"/>
              <a:ext cx="2721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</p:grpSp>
      <p:sp>
        <p:nvSpPr>
          <p:cNvPr id="21" name="Line 175">
            <a:extLst>
              <a:ext uri="{FF2B5EF4-FFF2-40B4-BE49-F238E27FC236}">
                <a16:creationId xmlns:a16="http://schemas.microsoft.com/office/drawing/2014/main" id="{81FC8E8A-80D4-F4B1-EAB1-F56E6C98D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270" y="5258963"/>
            <a:ext cx="43200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/>
          </a:p>
        </p:txBody>
      </p:sp>
      <p:grpSp>
        <p:nvGrpSpPr>
          <p:cNvPr id="22" name="Group 206">
            <a:extLst>
              <a:ext uri="{FF2B5EF4-FFF2-40B4-BE49-F238E27FC236}">
                <a16:creationId xmlns:a16="http://schemas.microsoft.com/office/drawing/2014/main" id="{5464498E-92E1-2BB2-390A-991DE73864E9}"/>
              </a:ext>
            </a:extLst>
          </p:cNvPr>
          <p:cNvGrpSpPr>
            <a:grpSpLocks/>
          </p:cNvGrpSpPr>
          <p:nvPr/>
        </p:nvGrpSpPr>
        <p:grpSpPr bwMode="auto">
          <a:xfrm>
            <a:off x="2835214" y="1201397"/>
            <a:ext cx="2574925" cy="4332289"/>
            <a:chOff x="1704" y="1124"/>
            <a:chExt cx="1622" cy="2729"/>
          </a:xfrm>
        </p:grpSpPr>
        <p:sp>
          <p:nvSpPr>
            <p:cNvPr id="23" name="Line 204">
              <a:extLst>
                <a:ext uri="{FF2B5EF4-FFF2-40B4-BE49-F238E27FC236}">
                  <a16:creationId xmlns:a16="http://schemas.microsoft.com/office/drawing/2014/main" id="{725EC35F-9338-E802-A107-28178E9AD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1124"/>
              <a:ext cx="0" cy="272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24" name="Line 203">
              <a:extLst>
                <a:ext uri="{FF2B5EF4-FFF2-40B4-BE49-F238E27FC236}">
                  <a16:creationId xmlns:a16="http://schemas.microsoft.com/office/drawing/2014/main" id="{CBA36B30-915E-8C34-9C37-9D2DFC08A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" y="1132"/>
              <a:ext cx="0" cy="272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 dirty="0"/>
            </a:p>
          </p:txBody>
        </p:sp>
        <p:pic>
          <p:nvPicPr>
            <p:cNvPr id="25" name="Picture 155">
              <a:extLst>
                <a:ext uri="{FF2B5EF4-FFF2-40B4-BE49-F238E27FC236}">
                  <a16:creationId xmlns:a16="http://schemas.microsoft.com/office/drawing/2014/main" id="{688B0805-DBDC-7E27-F803-7AB4C1943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1867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156">
              <a:extLst>
                <a:ext uri="{FF2B5EF4-FFF2-40B4-BE49-F238E27FC236}">
                  <a16:creationId xmlns:a16="http://schemas.microsoft.com/office/drawing/2014/main" id="{CAC539DC-14BD-6658-E94C-E2D4D421FC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1869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157">
              <a:extLst>
                <a:ext uri="{FF2B5EF4-FFF2-40B4-BE49-F238E27FC236}">
                  <a16:creationId xmlns:a16="http://schemas.microsoft.com/office/drawing/2014/main" id="{5B6D3A42-F46E-CBD7-511C-E171DE51F3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2411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158">
              <a:extLst>
                <a:ext uri="{FF2B5EF4-FFF2-40B4-BE49-F238E27FC236}">
                  <a16:creationId xmlns:a16="http://schemas.microsoft.com/office/drawing/2014/main" id="{E0BB3CB6-D94D-17D5-6433-767E6A0F5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4" y="3043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159">
              <a:extLst>
                <a:ext uri="{FF2B5EF4-FFF2-40B4-BE49-F238E27FC236}">
                  <a16:creationId xmlns:a16="http://schemas.microsoft.com/office/drawing/2014/main" id="{AAFC58EB-9403-4250-D189-6B662890D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3041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160">
              <a:extLst>
                <a:ext uri="{FF2B5EF4-FFF2-40B4-BE49-F238E27FC236}">
                  <a16:creationId xmlns:a16="http://schemas.microsoft.com/office/drawing/2014/main" id="{62D91B51-BD52-159F-8D7D-1DC9D6C3C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3" y="2423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" name="Group 199">
            <a:extLst>
              <a:ext uri="{FF2B5EF4-FFF2-40B4-BE49-F238E27FC236}">
                <a16:creationId xmlns:a16="http://schemas.microsoft.com/office/drawing/2014/main" id="{D7C3C939-1FF5-7787-22D4-CA2C0AC5FF2E}"/>
              </a:ext>
            </a:extLst>
          </p:cNvPr>
          <p:cNvGrpSpPr>
            <a:grpSpLocks/>
          </p:cNvGrpSpPr>
          <p:nvPr/>
        </p:nvGrpSpPr>
        <p:grpSpPr bwMode="auto">
          <a:xfrm>
            <a:off x="3286065" y="2586787"/>
            <a:ext cx="1668463" cy="6350"/>
            <a:chOff x="1988" y="2048"/>
            <a:chExt cx="1051" cy="4"/>
          </a:xfrm>
        </p:grpSpPr>
        <p:sp>
          <p:nvSpPr>
            <p:cNvPr id="32" name="Line 168">
              <a:extLst>
                <a:ext uri="{FF2B5EF4-FFF2-40B4-BE49-F238E27FC236}">
                  <a16:creationId xmlns:a16="http://schemas.microsoft.com/office/drawing/2014/main" id="{10228F5D-2C74-FF5B-FA97-3347CAB68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86" y="2052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3" name="Line 171">
              <a:extLst>
                <a:ext uri="{FF2B5EF4-FFF2-40B4-BE49-F238E27FC236}">
                  <a16:creationId xmlns:a16="http://schemas.microsoft.com/office/drawing/2014/main" id="{B5AAAFC5-CC5D-8FBA-79F2-1813F7D24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204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34" name="Group 207">
            <a:extLst>
              <a:ext uri="{FF2B5EF4-FFF2-40B4-BE49-F238E27FC236}">
                <a16:creationId xmlns:a16="http://schemas.microsoft.com/office/drawing/2014/main" id="{EA74AEC7-3CF1-20D3-AC75-351CFD7967FA}"/>
              </a:ext>
            </a:extLst>
          </p:cNvPr>
          <p:cNvGrpSpPr>
            <a:grpSpLocks/>
          </p:cNvGrpSpPr>
          <p:nvPr/>
        </p:nvGrpSpPr>
        <p:grpSpPr bwMode="auto">
          <a:xfrm>
            <a:off x="2090678" y="3485866"/>
            <a:ext cx="4110037" cy="962025"/>
            <a:chOff x="1235" y="2702"/>
            <a:chExt cx="2589" cy="606"/>
          </a:xfrm>
        </p:grpSpPr>
        <p:sp>
          <p:nvSpPr>
            <p:cNvPr id="35" name="Line 169">
              <a:extLst>
                <a:ext uri="{FF2B5EF4-FFF2-40B4-BE49-F238E27FC236}">
                  <a16:creationId xmlns:a16="http://schemas.microsoft.com/office/drawing/2014/main" id="{9D06CF1A-EA0B-4111-DC6F-DD2BE13BD3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0" y="2702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6" name="Line 170">
              <a:extLst>
                <a:ext uri="{FF2B5EF4-FFF2-40B4-BE49-F238E27FC236}">
                  <a16:creationId xmlns:a16="http://schemas.microsoft.com/office/drawing/2014/main" id="{D1A0A1DE-AC60-98F2-5A1D-E421DB8AE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5" y="330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7" name="Line 172">
              <a:extLst>
                <a:ext uri="{FF2B5EF4-FFF2-40B4-BE49-F238E27FC236}">
                  <a16:creationId xmlns:a16="http://schemas.microsoft.com/office/drawing/2014/main" id="{35CF2448-2330-FFD8-A71C-DC0A3AB20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2" y="2704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38" name="Line 173">
              <a:extLst>
                <a:ext uri="{FF2B5EF4-FFF2-40B4-BE49-F238E27FC236}">
                  <a16:creationId xmlns:a16="http://schemas.microsoft.com/office/drawing/2014/main" id="{F187E18B-1EC7-00D7-06C8-243F1E18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1" y="3304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77DE39-2984-CD99-A12B-1492076EEBC3}"/>
              </a:ext>
            </a:extLst>
          </p:cNvPr>
          <p:cNvGrpSpPr>
            <a:grpSpLocks/>
          </p:cNvGrpSpPr>
          <p:nvPr/>
        </p:nvGrpSpPr>
        <p:grpSpPr bwMode="auto">
          <a:xfrm>
            <a:off x="5197096" y="4599438"/>
            <a:ext cx="956353" cy="653937"/>
            <a:chOff x="4884215" y="5326176"/>
            <a:chExt cx="956354" cy="653937"/>
          </a:xfrm>
        </p:grpSpPr>
        <p:sp>
          <p:nvSpPr>
            <p:cNvPr id="40" name="Line 181">
              <a:extLst>
                <a:ext uri="{FF2B5EF4-FFF2-40B4-BE49-F238E27FC236}">
                  <a16:creationId xmlns:a16="http://schemas.microsoft.com/office/drawing/2014/main" id="{6D220889-EC66-0837-1BB4-B8D81250B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215" y="5980113"/>
              <a:ext cx="71913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41" name="Object 183">
              <a:extLst>
                <a:ext uri="{FF2B5EF4-FFF2-40B4-BE49-F238E27FC236}">
                  <a16:creationId xmlns:a16="http://schemas.microsoft.com/office/drawing/2014/main" id="{DF96FD93-26C4-D156-9207-0683353B11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444871"/>
                </p:ext>
              </p:extLst>
            </p:nvPr>
          </p:nvGraphicFramePr>
          <p:xfrm>
            <a:off x="5315628" y="5326176"/>
            <a:ext cx="524941" cy="6039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64957" imgH="190335" progId="Equation.3">
                    <p:embed/>
                  </p:oleObj>
                </mc:Choice>
                <mc:Fallback>
                  <p:oleObj name="Ecuación" r:id="rId9" imgW="164957" imgH="190335" progId="Equation.3">
                    <p:embed/>
                    <p:pic>
                      <p:nvPicPr>
                        <p:cNvPr id="9285" name="Object 1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5628" y="5326176"/>
                          <a:ext cx="524941" cy="6039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0268B64-D59F-FF1E-1B0D-B3D54BB94D6F}"/>
              </a:ext>
            </a:extLst>
          </p:cNvPr>
          <p:cNvGrpSpPr>
            <a:grpSpLocks/>
          </p:cNvGrpSpPr>
          <p:nvPr/>
        </p:nvGrpSpPr>
        <p:grpSpPr bwMode="auto">
          <a:xfrm>
            <a:off x="2032096" y="4605877"/>
            <a:ext cx="1020607" cy="645910"/>
            <a:chOff x="1689816" y="5332616"/>
            <a:chExt cx="1020607" cy="645910"/>
          </a:xfrm>
        </p:grpSpPr>
        <p:sp>
          <p:nvSpPr>
            <p:cNvPr id="43" name="Line 182">
              <a:extLst>
                <a:ext uri="{FF2B5EF4-FFF2-40B4-BE49-F238E27FC236}">
                  <a16:creationId xmlns:a16="http://schemas.microsoft.com/office/drawing/2014/main" id="{EB6CBBF5-C70A-CC65-ECDB-1FCE48CF39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91285" y="5978526"/>
              <a:ext cx="719138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44" name="Object 185">
              <a:extLst>
                <a:ext uri="{FF2B5EF4-FFF2-40B4-BE49-F238E27FC236}">
                  <a16:creationId xmlns:a16="http://schemas.microsoft.com/office/drawing/2014/main" id="{5E235648-5127-0D69-B121-324036E7A4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860944"/>
                </p:ext>
              </p:extLst>
            </p:nvPr>
          </p:nvGraphicFramePr>
          <p:xfrm>
            <a:off x="1689816" y="5332616"/>
            <a:ext cx="539592" cy="621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1" imgW="164957" imgH="190335" progId="Equation.3">
                    <p:embed/>
                  </p:oleObj>
                </mc:Choice>
                <mc:Fallback>
                  <p:oleObj name="Ecuación" r:id="rId11" imgW="164957" imgH="190335" progId="Equation.3">
                    <p:embed/>
                    <p:pic>
                      <p:nvPicPr>
                        <p:cNvPr id="9283" name="Object 1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816" y="5332616"/>
                          <a:ext cx="539592" cy="621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10F40F0C-0C86-EB95-6F02-1E645999ACFE}"/>
              </a:ext>
            </a:extLst>
          </p:cNvPr>
          <p:cNvGrpSpPr/>
          <p:nvPr/>
        </p:nvGrpSpPr>
        <p:grpSpPr>
          <a:xfrm>
            <a:off x="2779653" y="1161566"/>
            <a:ext cx="2697162" cy="544513"/>
            <a:chOff x="2809797" y="1246397"/>
            <a:chExt cx="2697162" cy="544513"/>
          </a:xfrm>
        </p:grpSpPr>
        <p:sp>
          <p:nvSpPr>
            <p:cNvPr id="46" name="Oval 202">
              <a:extLst>
                <a:ext uri="{FF2B5EF4-FFF2-40B4-BE49-F238E27FC236}">
                  <a16:creationId xmlns:a16="http://schemas.microsoft.com/office/drawing/2014/main" id="{8DF220FB-190C-59E9-4B95-67C78BAAF9B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67209" y="1251160"/>
              <a:ext cx="539750" cy="539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Oval 201">
              <a:extLst>
                <a:ext uri="{FF2B5EF4-FFF2-40B4-BE49-F238E27FC236}">
                  <a16:creationId xmlns:a16="http://schemas.microsoft.com/office/drawing/2014/main" id="{4E08C617-1CA7-C26D-5A6C-BA3B6861FC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09797" y="1246397"/>
              <a:ext cx="539750" cy="53975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" name="Text Box 161">
              <a:extLst>
                <a:ext uri="{FF2B5EF4-FFF2-40B4-BE49-F238E27FC236}">
                  <a16:creationId xmlns:a16="http://schemas.microsoft.com/office/drawing/2014/main" id="{463B716A-DA38-1F0C-A413-01926D991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547" y="1273385"/>
              <a:ext cx="4699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9" name="Text Box 162">
              <a:extLst>
                <a:ext uri="{FF2B5EF4-FFF2-40B4-BE49-F238E27FC236}">
                  <a16:creationId xmlns:a16="http://schemas.microsoft.com/office/drawing/2014/main" id="{C9CF426F-8A0C-4437-5D8B-471467BC9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434" y="1270210"/>
              <a:ext cx="4699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994EA557-2B31-1F95-E796-D49999A3B426}"/>
              </a:ext>
            </a:extLst>
          </p:cNvPr>
          <p:cNvGrpSpPr/>
          <p:nvPr/>
        </p:nvGrpSpPr>
        <p:grpSpPr>
          <a:xfrm>
            <a:off x="3059053" y="1642724"/>
            <a:ext cx="2159000" cy="519113"/>
            <a:chOff x="3089197" y="1592472"/>
            <a:chExt cx="2159000" cy="519113"/>
          </a:xfrm>
        </p:grpSpPr>
        <p:sp>
          <p:nvSpPr>
            <p:cNvPr id="51" name="Text Box 193">
              <a:extLst>
                <a:ext uri="{FF2B5EF4-FFF2-40B4-BE49-F238E27FC236}">
                  <a16:creationId xmlns:a16="http://schemas.microsoft.com/office/drawing/2014/main" id="{464A16EF-07B0-4867-0965-AAD3AB06E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884" y="1592472"/>
              <a:ext cx="3000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r</a:t>
              </a:r>
            </a:p>
          </p:txBody>
        </p:sp>
        <p:sp>
          <p:nvSpPr>
            <p:cNvPr id="52" name="Line 195">
              <a:extLst>
                <a:ext uri="{FF2B5EF4-FFF2-40B4-BE49-F238E27FC236}">
                  <a16:creationId xmlns:a16="http://schemas.microsoft.com/office/drawing/2014/main" id="{930063DA-4F50-2C56-E92C-36C878CF3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9197" y="2052847"/>
              <a:ext cx="2159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53" name="Group 234">
            <a:extLst>
              <a:ext uri="{FF2B5EF4-FFF2-40B4-BE49-F238E27FC236}">
                <a16:creationId xmlns:a16="http://schemas.microsoft.com/office/drawing/2014/main" id="{DECD5E9E-B2D7-ABA7-BFBB-6440014682C4}"/>
              </a:ext>
            </a:extLst>
          </p:cNvPr>
          <p:cNvGrpSpPr>
            <a:grpSpLocks/>
          </p:cNvGrpSpPr>
          <p:nvPr/>
        </p:nvGrpSpPr>
        <p:grpSpPr bwMode="auto">
          <a:xfrm>
            <a:off x="1814456" y="2755130"/>
            <a:ext cx="2065343" cy="1522413"/>
            <a:chOff x="1061" y="2129"/>
            <a:chExt cx="1301" cy="959"/>
          </a:xfrm>
        </p:grpSpPr>
        <p:grpSp>
          <p:nvGrpSpPr>
            <p:cNvPr id="54" name="Group 215">
              <a:extLst>
                <a:ext uri="{FF2B5EF4-FFF2-40B4-BE49-F238E27FC236}">
                  <a16:creationId xmlns:a16="http://schemas.microsoft.com/office/drawing/2014/main" id="{59F873C2-41A1-FB2B-A6B7-B4A501219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8" y="2244"/>
              <a:ext cx="328" cy="250"/>
              <a:chOff x="2427" y="2129"/>
              <a:chExt cx="328" cy="250"/>
            </a:xfrm>
          </p:grpSpPr>
          <p:sp>
            <p:nvSpPr>
              <p:cNvPr id="61" name="Text Box 213">
                <a:extLst>
                  <a:ext uri="{FF2B5EF4-FFF2-40B4-BE49-F238E27FC236}">
                    <a16:creationId xmlns:a16="http://schemas.microsoft.com/office/drawing/2014/main" id="{CA377899-FEA6-0A59-2942-DDCD774849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7" y="212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" name="Line 214">
                <a:extLst>
                  <a:ext uri="{FF2B5EF4-FFF2-40B4-BE49-F238E27FC236}">
                    <a16:creationId xmlns:a16="http://schemas.microsoft.com/office/drawing/2014/main" id="{5CC80351-BD1A-4DB6-B8EE-E9000AB5B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2" y="214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55" name="Group 225">
              <a:extLst>
                <a:ext uri="{FF2B5EF4-FFF2-40B4-BE49-F238E27FC236}">
                  <a16:creationId xmlns:a16="http://schemas.microsoft.com/office/drawing/2014/main" id="{50F36EBB-9717-5BCD-2940-18FAB185A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4" y="2129"/>
              <a:ext cx="328" cy="250"/>
              <a:chOff x="2650" y="2129"/>
              <a:chExt cx="328" cy="250"/>
            </a:xfrm>
          </p:grpSpPr>
          <p:sp>
            <p:nvSpPr>
              <p:cNvPr id="59" name="Text Box 226">
                <a:extLst>
                  <a:ext uri="{FF2B5EF4-FFF2-40B4-BE49-F238E27FC236}">
                    <a16:creationId xmlns:a16="http://schemas.microsoft.com/office/drawing/2014/main" id="{74D55940-CB81-F022-4238-CE83DC291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0" y="2129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Line 227">
                <a:extLst>
                  <a:ext uri="{FF2B5EF4-FFF2-40B4-BE49-F238E27FC236}">
                    <a16:creationId xmlns:a16="http://schemas.microsoft.com/office/drawing/2014/main" id="{F8CA3826-950C-6BFF-AF8C-F2E1CDC9A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5" y="214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56" name="Group 228">
              <a:extLst>
                <a:ext uri="{FF2B5EF4-FFF2-40B4-BE49-F238E27FC236}">
                  <a16:creationId xmlns:a16="http://schemas.microsoft.com/office/drawing/2014/main" id="{B13CD4B5-57AF-2B80-BEAF-421F59778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1" y="2838"/>
              <a:ext cx="328" cy="250"/>
              <a:chOff x="2421" y="2005"/>
              <a:chExt cx="328" cy="250"/>
            </a:xfrm>
          </p:grpSpPr>
          <p:sp>
            <p:nvSpPr>
              <p:cNvPr id="57" name="Text Box 229">
                <a:extLst>
                  <a:ext uri="{FF2B5EF4-FFF2-40B4-BE49-F238E27FC236}">
                    <a16:creationId xmlns:a16="http://schemas.microsoft.com/office/drawing/2014/main" id="{5811CAF2-A9A2-4088-B56D-481F447467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21" y="200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8" name="Line 230">
                <a:extLst>
                  <a:ext uri="{FF2B5EF4-FFF2-40B4-BE49-F238E27FC236}">
                    <a16:creationId xmlns:a16="http://schemas.microsoft.com/office/drawing/2014/main" id="{D976E76C-C917-52E6-BFC1-148DB3FF6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2" y="203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F02E9232-79BA-8E26-EDD8-3733754CACC2}"/>
              </a:ext>
            </a:extLst>
          </p:cNvPr>
          <p:cNvGrpSpPr/>
          <p:nvPr/>
        </p:nvGrpSpPr>
        <p:grpSpPr>
          <a:xfrm>
            <a:off x="2194982" y="5787642"/>
            <a:ext cx="654050" cy="495301"/>
            <a:chOff x="5805625" y="5860379"/>
            <a:chExt cx="654050" cy="495301"/>
          </a:xfrm>
        </p:grpSpPr>
        <p:sp>
          <p:nvSpPr>
            <p:cNvPr id="6272" name="Rectangle 125">
              <a:extLst>
                <a:ext uri="{FF2B5EF4-FFF2-40B4-BE49-F238E27FC236}">
                  <a16:creationId xmlns:a16="http://schemas.microsoft.com/office/drawing/2014/main" id="{ED8E1786-9422-5106-2DB0-2429C238A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5625" y="5860379"/>
              <a:ext cx="654050" cy="49530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73" name="Group 222">
              <a:extLst>
                <a:ext uri="{FF2B5EF4-FFF2-40B4-BE49-F238E27FC236}">
                  <a16:creationId xmlns:a16="http://schemas.microsoft.com/office/drawing/2014/main" id="{6375110B-99A0-2B34-F3E3-969DF9C60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0143" y="5901654"/>
              <a:ext cx="520700" cy="396876"/>
              <a:chOff x="2759" y="2117"/>
              <a:chExt cx="328" cy="250"/>
            </a:xfrm>
          </p:grpSpPr>
          <p:sp>
            <p:nvSpPr>
              <p:cNvPr id="6274" name="Text Box 223">
                <a:extLst>
                  <a:ext uri="{FF2B5EF4-FFF2-40B4-BE49-F238E27FC236}">
                    <a16:creationId xmlns:a16="http://schemas.microsoft.com/office/drawing/2014/main" id="{25EB6127-D788-F6F9-1773-7E1E857946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59" y="211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75" name="Line 224">
                <a:extLst>
                  <a:ext uri="{FF2B5EF4-FFF2-40B4-BE49-F238E27FC236}">
                    <a16:creationId xmlns:a16="http://schemas.microsoft.com/office/drawing/2014/main" id="{8C22BB1C-1C42-6B4E-B0FF-5E844EAC53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3" y="2133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sp>
        <p:nvSpPr>
          <p:cNvPr id="6276" name="Text Box 267">
            <a:extLst>
              <a:ext uri="{FF2B5EF4-FFF2-40B4-BE49-F238E27FC236}">
                <a16:creationId xmlns:a16="http://schemas.microsoft.com/office/drawing/2014/main" id="{DB96BB2E-3771-09C0-6DB1-7072C1478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728" y="5763636"/>
            <a:ext cx="3568700" cy="5147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Ejercida por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sobre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277" name="Text Box 268">
            <a:extLst>
              <a:ext uri="{FF2B5EF4-FFF2-40B4-BE49-F238E27FC236}">
                <a16:creationId xmlns:a16="http://schemas.microsoft.com/office/drawing/2014/main" id="{E9B92717-3BCD-94BD-31BA-67E3787AB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455" y="6364283"/>
            <a:ext cx="3575052" cy="51473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Ejercida por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sobre Q</a:t>
            </a:r>
            <a:r>
              <a: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6278" name="Grupo 6277">
            <a:extLst>
              <a:ext uri="{FF2B5EF4-FFF2-40B4-BE49-F238E27FC236}">
                <a16:creationId xmlns:a16="http://schemas.microsoft.com/office/drawing/2014/main" id="{2A3DB69F-DF98-473C-2B20-40FED284CEF9}"/>
              </a:ext>
            </a:extLst>
          </p:cNvPr>
          <p:cNvGrpSpPr/>
          <p:nvPr/>
        </p:nvGrpSpPr>
        <p:grpSpPr>
          <a:xfrm>
            <a:off x="2197846" y="6353365"/>
            <a:ext cx="654050" cy="479425"/>
            <a:chOff x="1795291" y="6342974"/>
            <a:chExt cx="654050" cy="479425"/>
          </a:xfrm>
        </p:grpSpPr>
        <p:sp>
          <p:nvSpPr>
            <p:cNvPr id="6279" name="Rectangle 124">
              <a:extLst>
                <a:ext uri="{FF2B5EF4-FFF2-40B4-BE49-F238E27FC236}">
                  <a16:creationId xmlns:a16="http://schemas.microsoft.com/office/drawing/2014/main" id="{15416B9E-86DA-47FA-680C-626124F19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291" y="6342974"/>
              <a:ext cx="654050" cy="479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6280" name="Group 215">
              <a:extLst>
                <a:ext uri="{FF2B5EF4-FFF2-40B4-BE49-F238E27FC236}">
                  <a16:creationId xmlns:a16="http://schemas.microsoft.com/office/drawing/2014/main" id="{6F46EFE3-AC1D-E314-3BA8-B7A0E3823F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2441" y="6373136"/>
              <a:ext cx="520700" cy="396875"/>
              <a:chOff x="2669" y="2093"/>
              <a:chExt cx="328" cy="250"/>
            </a:xfrm>
          </p:grpSpPr>
          <p:sp>
            <p:nvSpPr>
              <p:cNvPr id="6281" name="Text Box 213">
                <a:extLst>
                  <a:ext uri="{FF2B5EF4-FFF2-40B4-BE49-F238E27FC236}">
                    <a16:creationId xmlns:a16="http://schemas.microsoft.com/office/drawing/2014/main" id="{B071E50C-31C2-0512-21DE-2ECF8184F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69" y="2093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21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82" name="Line 214">
                <a:extLst>
                  <a:ext uri="{FF2B5EF4-FFF2-40B4-BE49-F238E27FC236}">
                    <a16:creationId xmlns:a16="http://schemas.microsoft.com/office/drawing/2014/main" id="{DBE03DFE-92D3-95DA-3340-FE1EF3DA0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4" y="2109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grpSp>
        <p:nvGrpSpPr>
          <p:cNvPr id="6283" name="Group 235">
            <a:extLst>
              <a:ext uri="{FF2B5EF4-FFF2-40B4-BE49-F238E27FC236}">
                <a16:creationId xmlns:a16="http://schemas.microsoft.com/office/drawing/2014/main" id="{0166C837-DD8E-F65E-B26F-0555121833E2}"/>
              </a:ext>
            </a:extLst>
          </p:cNvPr>
          <p:cNvGrpSpPr>
            <a:grpSpLocks/>
          </p:cNvGrpSpPr>
          <p:nvPr/>
        </p:nvGrpSpPr>
        <p:grpSpPr bwMode="auto">
          <a:xfrm>
            <a:off x="4354459" y="2761487"/>
            <a:ext cx="2081217" cy="1531940"/>
            <a:chOff x="2525" y="2157"/>
            <a:chExt cx="1311" cy="965"/>
          </a:xfrm>
        </p:grpSpPr>
        <p:grpSp>
          <p:nvGrpSpPr>
            <p:cNvPr id="6284" name="Group 216">
              <a:extLst>
                <a:ext uri="{FF2B5EF4-FFF2-40B4-BE49-F238E27FC236}">
                  <a16:creationId xmlns:a16="http://schemas.microsoft.com/office/drawing/2014/main" id="{68187AFE-D011-6BFB-1C1C-1E0E575970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5" y="2872"/>
              <a:ext cx="328" cy="250"/>
              <a:chOff x="2710" y="2056"/>
              <a:chExt cx="328" cy="250"/>
            </a:xfrm>
          </p:grpSpPr>
          <p:sp>
            <p:nvSpPr>
              <p:cNvPr id="6291" name="Text Box 217">
                <a:extLst>
                  <a:ext uri="{FF2B5EF4-FFF2-40B4-BE49-F238E27FC236}">
                    <a16:creationId xmlns:a16="http://schemas.microsoft.com/office/drawing/2014/main" id="{6AE228C5-CFDA-CFCD-340F-982223881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0" y="2056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92" name="Line 218">
                <a:extLst>
                  <a:ext uri="{FF2B5EF4-FFF2-40B4-BE49-F238E27FC236}">
                    <a16:creationId xmlns:a16="http://schemas.microsoft.com/office/drawing/2014/main" id="{572C7EB4-9151-477B-05C8-1F6120129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5" y="2084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6285" name="Group 219">
              <a:extLst>
                <a:ext uri="{FF2B5EF4-FFF2-40B4-BE49-F238E27FC236}">
                  <a16:creationId xmlns:a16="http://schemas.microsoft.com/office/drawing/2014/main" id="{9751C210-A931-AB5E-7C54-4D52F7D5B9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8" y="2278"/>
              <a:ext cx="328" cy="250"/>
              <a:chOff x="2729" y="2167"/>
              <a:chExt cx="328" cy="250"/>
            </a:xfrm>
          </p:grpSpPr>
          <p:sp>
            <p:nvSpPr>
              <p:cNvPr id="6289" name="Text Box 220">
                <a:extLst>
                  <a:ext uri="{FF2B5EF4-FFF2-40B4-BE49-F238E27FC236}">
                    <a16:creationId xmlns:a16="http://schemas.microsoft.com/office/drawing/2014/main" id="{9AE17332-2CE6-9D7C-9886-91438A042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9" y="2167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90" name="Line 221">
                <a:extLst>
                  <a:ext uri="{FF2B5EF4-FFF2-40B4-BE49-F238E27FC236}">
                    <a16:creationId xmlns:a16="http://schemas.microsoft.com/office/drawing/2014/main" id="{D2642B13-E1C3-5ACA-2355-08D24FF348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4" y="2195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6286" name="Group 222">
              <a:extLst>
                <a:ext uri="{FF2B5EF4-FFF2-40B4-BE49-F238E27FC236}">
                  <a16:creationId xmlns:a16="http://schemas.microsoft.com/office/drawing/2014/main" id="{718E9DCF-0441-8FFE-3FCE-48B9E3DF5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5" y="2157"/>
              <a:ext cx="328" cy="250"/>
              <a:chOff x="2554" y="2152"/>
              <a:chExt cx="328" cy="250"/>
            </a:xfrm>
          </p:grpSpPr>
          <p:sp>
            <p:nvSpPr>
              <p:cNvPr id="6287" name="Text Box 223">
                <a:extLst>
                  <a:ext uri="{FF2B5EF4-FFF2-40B4-BE49-F238E27FC236}">
                    <a16:creationId xmlns:a16="http://schemas.microsoft.com/office/drawing/2014/main" id="{D4C579D9-CB26-B051-D5B9-345F9DF6F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4" y="2152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288" name="Line 224">
                <a:extLst>
                  <a:ext uri="{FF2B5EF4-FFF2-40B4-BE49-F238E27FC236}">
                    <a16:creationId xmlns:a16="http://schemas.microsoft.com/office/drawing/2014/main" id="{362887D0-BABE-90F0-0F5A-9B8DA68A3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9" y="2168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865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2" name="Group 211"/>
          <p:cNvGrpSpPr>
            <a:grpSpLocks/>
          </p:cNvGrpSpPr>
          <p:nvPr/>
        </p:nvGrpSpPr>
        <p:grpSpPr bwMode="auto">
          <a:xfrm>
            <a:off x="2181994" y="728218"/>
            <a:ext cx="2870200" cy="1458913"/>
            <a:chOff x="4309" y="1800"/>
            <a:chExt cx="1808" cy="919"/>
          </a:xfrm>
        </p:grpSpPr>
        <p:sp>
          <p:nvSpPr>
            <p:cNvPr id="11312" name="Rectangle 191"/>
            <p:cNvSpPr>
              <a:spLocks noChangeArrowheads="1"/>
            </p:cNvSpPr>
            <p:nvPr/>
          </p:nvSpPr>
          <p:spPr bwMode="auto">
            <a:xfrm>
              <a:off x="4309" y="1800"/>
              <a:ext cx="1808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313" name="Object 187"/>
            <p:cNvGraphicFramePr>
              <a:graphicFrameLocks noChangeAspect="1"/>
            </p:cNvGraphicFramePr>
            <p:nvPr/>
          </p:nvGraphicFramePr>
          <p:xfrm>
            <a:off x="4451" y="1974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38200" imgH="330200" progId="Equation.3">
                    <p:embed/>
                  </p:oleObj>
                </mc:Choice>
                <mc:Fallback>
                  <p:oleObj name="Ecuación" r:id="rId3" imgW="838200" imgH="330200" progId="Equation.3">
                    <p:embed/>
                    <p:pic>
                      <p:nvPicPr>
                        <p:cNvPr id="0" name="Object 1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1974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76" name="Text Box 232"/>
          <p:cNvSpPr txBox="1">
            <a:spLocks noChangeArrowheads="1"/>
          </p:cNvSpPr>
          <p:nvPr/>
        </p:nvSpPr>
        <p:spPr bwMode="auto">
          <a:xfrm>
            <a:off x="4036606" y="6236454"/>
            <a:ext cx="346631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K = K(medio) = f(medio)</a:t>
            </a:r>
          </a:p>
        </p:txBody>
      </p:sp>
      <p:sp>
        <p:nvSpPr>
          <p:cNvPr id="6380" name="Text Box 236"/>
          <p:cNvSpPr txBox="1">
            <a:spLocks noChangeArrowheads="1"/>
          </p:cNvSpPr>
          <p:nvPr/>
        </p:nvSpPr>
        <p:spPr bwMode="auto">
          <a:xfrm>
            <a:off x="3081529" y="3620691"/>
            <a:ext cx="5335105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K es la magnitud </a:t>
            </a:r>
            <a:r>
              <a:rPr lang="es-ES" sz="2400">
                <a:latin typeface="Arial" panose="020B0604020202020204" pitchFamily="34" charset="0"/>
              </a:rPr>
              <a:t>que caracteriza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al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medio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en que están </a:t>
            </a:r>
            <a:r>
              <a:rPr lang="es-ES" sz="2400">
                <a:latin typeface="Arial" panose="020B0604020202020204" pitchFamily="34" charset="0"/>
              </a:rPr>
              <a:t>las cargas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" name="Text Box 272"/>
          <p:cNvSpPr txBox="1">
            <a:spLocks noChangeArrowheads="1"/>
          </p:cNvSpPr>
          <p:nvPr/>
        </p:nvSpPr>
        <p:spPr bwMode="auto">
          <a:xfrm>
            <a:off x="7655753" y="6273936"/>
            <a:ext cx="531813" cy="3968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 0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1B69029-F3DA-4A32-83F4-C314682F7D58}"/>
              </a:ext>
            </a:extLst>
          </p:cNvPr>
          <p:cNvGrpSpPr/>
          <p:nvPr/>
        </p:nvGrpSpPr>
        <p:grpSpPr>
          <a:xfrm>
            <a:off x="5383333" y="2492268"/>
            <a:ext cx="792000" cy="792000"/>
            <a:chOff x="5383333" y="3520974"/>
            <a:chExt cx="792000" cy="792000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46CF821E-9F04-4A6A-87E6-7BEF3B2AE822}"/>
                </a:ext>
              </a:extLst>
            </p:cNvPr>
            <p:cNvSpPr/>
            <p:nvPr/>
          </p:nvSpPr>
          <p:spPr bwMode="auto">
            <a:xfrm>
              <a:off x="5383333" y="3520974"/>
              <a:ext cx="792000" cy="792000"/>
            </a:xfrm>
            <a:prstGeom prst="ellipse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" name="CuadroTexto 4"/>
            <p:cNvSpPr txBox="1"/>
            <p:nvPr/>
          </p:nvSpPr>
          <p:spPr>
            <a:xfrm>
              <a:off x="5409064" y="3650739"/>
              <a:ext cx="748923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s-ES" sz="2400" dirty="0"/>
                <a:t>¿K?</a:t>
              </a:r>
            </a:p>
          </p:txBody>
        </p:sp>
      </p:grpSp>
      <p:grpSp>
        <p:nvGrpSpPr>
          <p:cNvPr id="68" name="Group 212"/>
          <p:cNvGrpSpPr>
            <a:grpSpLocks/>
          </p:cNvGrpSpPr>
          <p:nvPr/>
        </p:nvGrpSpPr>
        <p:grpSpPr bwMode="auto">
          <a:xfrm>
            <a:off x="6471717" y="728219"/>
            <a:ext cx="2960687" cy="1458912"/>
            <a:chOff x="4252" y="3167"/>
            <a:chExt cx="1865" cy="919"/>
          </a:xfrm>
        </p:grpSpPr>
        <p:sp>
          <p:nvSpPr>
            <p:cNvPr id="69" name="Rectangle 192"/>
            <p:cNvSpPr>
              <a:spLocks noChangeArrowheads="1"/>
            </p:cNvSpPr>
            <p:nvPr/>
          </p:nvSpPr>
          <p:spPr bwMode="auto">
            <a:xfrm>
              <a:off x="4252" y="3167"/>
              <a:ext cx="1865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70" name="Object 190"/>
            <p:cNvGraphicFramePr>
              <a:graphicFrameLocks noChangeAspect="1"/>
            </p:cNvGraphicFramePr>
            <p:nvPr/>
          </p:nvGraphicFramePr>
          <p:xfrm>
            <a:off x="4448" y="3307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838200" imgH="330200" progId="Equation.3">
                    <p:embed/>
                  </p:oleObj>
                </mc:Choice>
                <mc:Fallback>
                  <p:oleObj name="Ecuación" r:id="rId5" imgW="8382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3307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CuadroTexto 2"/>
          <p:cNvSpPr txBox="1"/>
          <p:nvPr/>
        </p:nvSpPr>
        <p:spPr>
          <a:xfrm>
            <a:off x="8440434" y="6243269"/>
            <a:ext cx="1399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(Tema 3)</a:t>
            </a:r>
          </a:p>
        </p:txBody>
      </p:sp>
      <p:sp>
        <p:nvSpPr>
          <p:cNvPr id="7" name="Text Box 236">
            <a:extLst>
              <a:ext uri="{FF2B5EF4-FFF2-40B4-BE49-F238E27FC236}">
                <a16:creationId xmlns:a16="http://schemas.microsoft.com/office/drawing/2014/main" id="{0B02379A-CC7E-C50A-46F2-864FF84D8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529" y="4912720"/>
            <a:ext cx="5335106" cy="956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Su </a:t>
            </a:r>
            <a:r>
              <a:rPr lang="es-ES" sz="2400" dirty="0">
                <a:latin typeface="Arial" panose="020B0604020202020204" pitchFamily="34" charset="0"/>
              </a:rPr>
              <a:t>valor depende, es función</a:t>
            </a:r>
            <a:r>
              <a:rPr lang="es-ES" sz="2400">
                <a:latin typeface="Arial" panose="020B0604020202020204" pitchFamily="34" charset="0"/>
              </a:rPr>
              <a:t>, de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>
                <a:latin typeface="Arial" panose="020B0604020202020204" pitchFamily="34" charset="0"/>
              </a:rPr>
              <a:t>las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propiedades eléctricas </a:t>
            </a:r>
            <a:r>
              <a:rPr lang="es-ES" sz="2400" dirty="0">
                <a:latin typeface="Arial" panose="020B0604020202020204" pitchFamily="34" charset="0"/>
              </a:rPr>
              <a:t>del medio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0" grpId="0" animBg="1"/>
      <p:bldP spid="2" grpId="0" animBg="1"/>
      <p:bldP spid="3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0" name="Text Box 39"/>
          <p:cNvSpPr txBox="1">
            <a:spLocks noChangeArrowheads="1"/>
          </p:cNvSpPr>
          <p:nvPr/>
        </p:nvSpPr>
        <p:spPr bwMode="auto">
          <a:xfrm>
            <a:off x="8709886" y="1441053"/>
            <a:ext cx="14641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: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é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psilon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1360424" y="438794"/>
            <a:ext cx="2870200" cy="1458913"/>
            <a:chOff x="7241533" y="404192"/>
            <a:chExt cx="2870200" cy="1458913"/>
          </a:xfrm>
        </p:grpSpPr>
        <p:sp>
          <p:nvSpPr>
            <p:cNvPr id="13316" name="Rectangle 7"/>
            <p:cNvSpPr>
              <a:spLocks noChangeArrowheads="1"/>
            </p:cNvSpPr>
            <p:nvPr/>
          </p:nvSpPr>
          <p:spPr bwMode="auto">
            <a:xfrm>
              <a:off x="7241533" y="404192"/>
              <a:ext cx="2870200" cy="145891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331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1526610"/>
                </p:ext>
              </p:extLst>
            </p:nvPr>
          </p:nvGraphicFramePr>
          <p:xfrm>
            <a:off x="7466958" y="640730"/>
            <a:ext cx="2503487" cy="985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38200" imgH="330200" progId="Equation.3">
                    <p:embed/>
                  </p:oleObj>
                </mc:Choice>
                <mc:Fallback>
                  <p:oleObj name="Ecuación" r:id="rId3" imgW="838200" imgH="330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6958" y="640730"/>
                          <a:ext cx="2503487" cy="985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6" name="Text Box 13"/>
          <p:cNvSpPr txBox="1">
            <a:spLocks noChangeArrowheads="1"/>
          </p:cNvSpPr>
          <p:nvPr/>
        </p:nvSpPr>
        <p:spPr bwMode="auto">
          <a:xfrm>
            <a:off x="4883026" y="1404037"/>
            <a:ext cx="3603837" cy="55109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: Permitividad Eléctrica</a:t>
            </a:r>
          </a:p>
        </p:txBody>
      </p:sp>
      <p:sp>
        <p:nvSpPr>
          <p:cNvPr id="13333" name="Text Box 14"/>
          <p:cNvSpPr txBox="1">
            <a:spLocks noChangeArrowheads="1"/>
          </p:cNvSpPr>
          <p:nvPr/>
        </p:nvSpPr>
        <p:spPr bwMode="auto">
          <a:xfrm>
            <a:off x="1360424" y="4031364"/>
            <a:ext cx="5270500" cy="53657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8,854 187 817...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12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2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353" name="Text Box 33"/>
          <p:cNvSpPr txBox="1">
            <a:spLocks noChangeArrowheads="1"/>
          </p:cNvSpPr>
          <p:nvPr/>
        </p:nvSpPr>
        <p:spPr bwMode="auto">
          <a:xfrm>
            <a:off x="1373500" y="2173616"/>
            <a:ext cx="520768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Su valor, como el de K, depende de las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propiedades eléctricas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del medio.</a:t>
            </a:r>
          </a:p>
        </p:txBody>
      </p:sp>
      <p:sp>
        <p:nvSpPr>
          <p:cNvPr id="24" name="Text Box 33"/>
          <p:cNvSpPr txBox="1">
            <a:spLocks noChangeArrowheads="1"/>
          </p:cNvSpPr>
          <p:nvPr/>
        </p:nvSpPr>
        <p:spPr bwMode="auto">
          <a:xfrm>
            <a:off x="4731894" y="408849"/>
            <a:ext cx="512748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magnitud que se suele usar para caracterizar al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medio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no es K, es la: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1672663" y="4540634"/>
            <a:ext cx="1166692" cy="463550"/>
            <a:chOff x="1874158" y="4441186"/>
            <a:chExt cx="1166692" cy="463550"/>
          </a:xfrm>
        </p:grpSpPr>
        <p:sp>
          <p:nvSpPr>
            <p:cNvPr id="13334" name="Text Box 20"/>
            <p:cNvSpPr txBox="1">
              <a:spLocks noChangeArrowheads="1"/>
            </p:cNvSpPr>
            <p:nvPr/>
          </p:nvSpPr>
          <p:spPr bwMode="auto">
            <a:xfrm>
              <a:off x="2123275" y="4441186"/>
              <a:ext cx="91757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vacío</a:t>
              </a:r>
            </a:p>
          </p:txBody>
        </p:sp>
        <p:sp>
          <p:nvSpPr>
            <p:cNvPr id="3" name="Forma libre 2"/>
            <p:cNvSpPr/>
            <p:nvPr/>
          </p:nvSpPr>
          <p:spPr bwMode="auto">
            <a:xfrm rot="5400000" flipH="1">
              <a:off x="1912191" y="4460938"/>
              <a:ext cx="212228" cy="288294"/>
            </a:xfrm>
            <a:custGeom>
              <a:avLst/>
              <a:gdLst>
                <a:gd name="connsiteX0" fmla="*/ 139148 w 139148"/>
                <a:gd name="connsiteY0" fmla="*/ 168966 h 179007"/>
                <a:gd name="connsiteX1" fmla="*/ 139148 w 139148"/>
                <a:gd name="connsiteY1" fmla="*/ 168966 h 179007"/>
                <a:gd name="connsiteX2" fmla="*/ 0 w 139148"/>
                <a:gd name="connsiteY2" fmla="*/ 178905 h 179007"/>
                <a:gd name="connsiteX3" fmla="*/ 0 w 139148"/>
                <a:gd name="connsiteY3" fmla="*/ 0 h 179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148" h="179007">
                  <a:moveTo>
                    <a:pt x="139148" y="168966"/>
                  </a:moveTo>
                  <a:lnTo>
                    <a:pt x="139148" y="168966"/>
                  </a:lnTo>
                  <a:cubicBezTo>
                    <a:pt x="33232" y="180734"/>
                    <a:pt x="79697" y="178905"/>
                    <a:pt x="0" y="178905"/>
                  </a:cubicBezTo>
                  <a:lnTo>
                    <a:pt x="0" y="0"/>
                  </a:lnTo>
                </a:path>
              </a:pathLst>
            </a:cu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0000" tIns="46800" rIns="90000" bIns="4680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2" name="Text Box 33"/>
          <p:cNvSpPr txBox="1">
            <a:spLocks noChangeArrowheads="1"/>
          </p:cNvSpPr>
          <p:nvPr/>
        </p:nvSpPr>
        <p:spPr bwMode="auto">
          <a:xfrm>
            <a:off x="1338185" y="3290957"/>
            <a:ext cx="301029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el </a:t>
            </a:r>
            <a:r>
              <a:rPr lang="es-ES" sz="2400">
                <a:latin typeface="Arial" panose="020B0604020202020204" pitchFamily="34" charset="0"/>
              </a:rPr>
              <a:t>vacío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vale: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28" name="Group 53">
            <a:extLst>
              <a:ext uri="{FF2B5EF4-FFF2-40B4-BE49-F238E27FC236}">
                <a16:creationId xmlns:a16="http://schemas.microsoft.com/office/drawing/2014/main" id="{37CE2EF7-D90D-4597-960C-73240C71BF04}"/>
              </a:ext>
            </a:extLst>
          </p:cNvPr>
          <p:cNvGrpSpPr>
            <a:grpSpLocks/>
          </p:cNvGrpSpPr>
          <p:nvPr/>
        </p:nvGrpSpPr>
        <p:grpSpPr bwMode="auto">
          <a:xfrm>
            <a:off x="7475365" y="2253786"/>
            <a:ext cx="1782763" cy="1266825"/>
            <a:chOff x="4376" y="980"/>
            <a:chExt cx="1123" cy="798"/>
          </a:xfrm>
        </p:grpSpPr>
        <p:sp>
          <p:nvSpPr>
            <p:cNvPr id="29" name="Rectangle 52">
              <a:extLst>
                <a:ext uri="{FF2B5EF4-FFF2-40B4-BE49-F238E27FC236}">
                  <a16:creationId xmlns:a16="http://schemas.microsoft.com/office/drawing/2014/main" id="{9C906EFF-4109-41F0-A8CF-94992D457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980"/>
              <a:ext cx="1123" cy="798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0" name="Object 12">
              <a:extLst>
                <a:ext uri="{FF2B5EF4-FFF2-40B4-BE49-F238E27FC236}">
                  <a16:creationId xmlns:a16="http://schemas.microsoft.com/office/drawing/2014/main" id="{E93B6681-B8D2-460E-BA66-96A596F2D7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8" y="1029"/>
            <a:ext cx="941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71252" imgH="393529" progId="Equation.3">
                    <p:embed/>
                  </p:oleObj>
                </mc:Choice>
                <mc:Fallback>
                  <p:oleObj name="Ecuación" r:id="rId5" imgW="571252" imgH="393529" progId="Equation.3">
                    <p:embed/>
                    <p:pic>
                      <p:nvPicPr>
                        <p:cNvPr id="1333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1029"/>
                          <a:ext cx="941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21">
            <a:extLst>
              <a:ext uri="{FF2B5EF4-FFF2-40B4-BE49-F238E27FC236}">
                <a16:creationId xmlns:a16="http://schemas.microsoft.com/office/drawing/2014/main" id="{2E4E4FBE-4683-4E3F-88D1-E8B1E28AC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25" y="6152371"/>
            <a:ext cx="1289258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</a:rPr>
              <a:t>En </a:t>
            </a:r>
            <a:r>
              <a:rPr lang="es-ES" sz="2400" u="sng">
                <a:latin typeface="Arial" panose="020B0604020202020204" pitchFamily="34" charset="0"/>
              </a:rPr>
              <a:t>aire</a:t>
            </a:r>
            <a:r>
              <a:rPr lang="es-ES" sz="2400">
                <a:latin typeface="Arial" panose="020B0604020202020204" pitchFamily="34" charset="0"/>
              </a:rPr>
              <a:t>: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2" name="Group 55">
            <a:extLst>
              <a:ext uri="{FF2B5EF4-FFF2-40B4-BE49-F238E27FC236}">
                <a16:creationId xmlns:a16="http://schemas.microsoft.com/office/drawing/2014/main" id="{BD5AF2A0-F2AD-4F8C-8F8F-9B62D8B82111}"/>
              </a:ext>
            </a:extLst>
          </p:cNvPr>
          <p:cNvGrpSpPr>
            <a:grpSpLocks/>
          </p:cNvGrpSpPr>
          <p:nvPr/>
        </p:nvGrpSpPr>
        <p:grpSpPr bwMode="auto">
          <a:xfrm>
            <a:off x="6909146" y="3991190"/>
            <a:ext cx="3458891" cy="614363"/>
            <a:chOff x="4605" y="3022"/>
            <a:chExt cx="1780" cy="387"/>
          </a:xfrm>
        </p:grpSpPr>
        <p:sp>
          <p:nvSpPr>
            <p:cNvPr id="33" name="Text Box 16">
              <a:extLst>
                <a:ext uri="{FF2B5EF4-FFF2-40B4-BE49-F238E27FC236}">
                  <a16:creationId xmlns:a16="http://schemas.microsoft.com/office/drawing/2014/main" id="{7B848DD5-C05A-4416-8769-3B1AA6737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" y="3022"/>
              <a:ext cx="1492" cy="387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K 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9 10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9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N m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2</a:t>
              </a:r>
              <a:endParaRPr lang="es-ES" sz="2400" b="1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34" name="AutoShape 34">
              <a:extLst>
                <a:ext uri="{FF2B5EF4-FFF2-40B4-BE49-F238E27FC236}">
                  <a16:creationId xmlns:a16="http://schemas.microsoft.com/office/drawing/2014/main" id="{3DF5922B-0D50-4BA7-A624-A7FC7BB91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" y="3085"/>
              <a:ext cx="208" cy="288"/>
            </a:xfrm>
            <a:prstGeom prst="rightArrow">
              <a:avLst>
                <a:gd name="adj1" fmla="val 50000"/>
                <a:gd name="adj2" fmla="val 5576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5" name="Text Box 18">
            <a:extLst>
              <a:ext uri="{FF2B5EF4-FFF2-40B4-BE49-F238E27FC236}">
                <a16:creationId xmlns:a16="http://schemas.microsoft.com/office/drawing/2014/main" id="{CC163296-7AFA-48B6-A701-508AF0588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24" y="5471522"/>
            <a:ext cx="2130921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En la </a:t>
            </a:r>
            <a:r>
              <a:rPr lang="es-ES" sz="2400" u="sng">
                <a:latin typeface="Arial" panose="020B0604020202020204" pitchFamily="34" charset="0"/>
                <a:sym typeface="Symbol" panose="05050102010706020507" pitchFamily="18" charset="2"/>
              </a:rPr>
              <a:t>materia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" name="Text Box 20">
            <a:extLst>
              <a:ext uri="{FF2B5EF4-FFF2-40B4-BE49-F238E27FC236}">
                <a16:creationId xmlns:a16="http://schemas.microsoft.com/office/drawing/2014/main" id="{DF624B62-682B-4F58-9F4C-233E851A7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7753" y="4729278"/>
            <a:ext cx="216627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(error: 0,14 %)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6F5C759A-FC0D-0554-2486-75AF40C66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7508" y="5471522"/>
            <a:ext cx="4303585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K  y 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son más pequeñas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2A2758AE-5FB1-74F5-2187-C23299CDA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660" y="5482898"/>
            <a:ext cx="1630813" cy="536549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Tema 3)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BE04F51F-4972-8F56-6010-AFA93B519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201" y="6147416"/>
            <a:ext cx="3566665" cy="514738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error: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-0,05 y 0,19 %)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9" name="Text Box 21">
            <a:extLst>
              <a:ext uri="{FF2B5EF4-FFF2-40B4-BE49-F238E27FC236}">
                <a16:creationId xmlns:a16="http://schemas.microsoft.com/office/drawing/2014/main" id="{286795B3-C531-C77C-85A4-405109FDB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991" y="6159297"/>
            <a:ext cx="2378817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S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toma   =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5A4ECAC7-B2E7-89AF-9A5C-5FFC1A43A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6025" y="6159350"/>
            <a:ext cx="2040384" cy="514738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 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K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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9 10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18">
            <a:extLst>
              <a:ext uri="{FF2B5EF4-FFF2-40B4-BE49-F238E27FC236}">
                <a16:creationId xmlns:a16="http://schemas.microsoft.com/office/drawing/2014/main" id="{870645EC-B834-A896-E562-0C3B0B96C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263" y="5465312"/>
            <a:ext cx="1015777" cy="53654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 &gt; </a:t>
            </a:r>
            <a:r>
              <a:rPr lang="es-ES" sz="2400" baseline="-25000">
                <a:latin typeface="Arial" panose="020B0604020202020204" pitchFamily="34" charset="0"/>
                <a:sym typeface="Symbol" panose="05050102010706020507" pitchFamily="18" charset="2"/>
              </a:rPr>
              <a:t> o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0" grpId="0"/>
      <p:bldP spid="13336" grpId="0" animBg="1"/>
      <p:bldP spid="13333" grpId="0" animBg="1"/>
      <p:bldP spid="184353" grpId="0"/>
      <p:bldP spid="24" grpId="0"/>
      <p:bldP spid="22" grpId="0"/>
      <p:bldP spid="31" grpId="0" animBg="1"/>
      <p:bldP spid="35" grpId="0" animBg="1"/>
      <p:bldP spid="36" grpId="0"/>
      <p:bldP spid="4" grpId="0" animBg="1"/>
      <p:bldP spid="6" grpId="0" animBg="1"/>
      <p:bldP spid="7" grpId="0" animBg="1"/>
      <p:bldP spid="9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quina doblada 3">
            <a:extLst>
              <a:ext uri="{FF2B5EF4-FFF2-40B4-BE49-F238E27FC236}">
                <a16:creationId xmlns:a16="http://schemas.microsoft.com/office/drawing/2014/main" id="{C7722863-DEFB-48E1-8A40-98B937E90DD5}"/>
              </a:ext>
            </a:extLst>
          </p:cNvPr>
          <p:cNvSpPr/>
          <p:nvPr/>
        </p:nvSpPr>
        <p:spPr bwMode="auto">
          <a:xfrm>
            <a:off x="1289303" y="4675342"/>
            <a:ext cx="9432000" cy="2232000"/>
          </a:xfrm>
          <a:prstGeom prst="foldedCorner">
            <a:avLst/>
          </a:prstGeom>
          <a:solidFill>
            <a:srgbClr val="FFFF99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26" name="Text Box 18">
            <a:extLst>
              <a:ext uri="{FF2B5EF4-FFF2-40B4-BE49-F238E27FC236}">
                <a16:creationId xmlns:a16="http://schemas.microsoft.com/office/drawing/2014/main" id="{0D1FC4AF-3595-47B9-B239-271804D99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839" y="4701771"/>
            <a:ext cx="9409175" cy="905881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Como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separador decimal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se puede emplear: la coma, o el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punto,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según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ámbito cultural,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pero se ponen abajo</a:t>
            </a:r>
            <a:endParaRPr lang="es-ES" sz="2400" i="1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5805C79C-2038-4A2E-9FF5-1F81EC6EB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643" y="5550514"/>
            <a:ext cx="9506643" cy="1253402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A </a:t>
            </a:r>
            <a:r>
              <a:rPr lang="es-ES" sz="2400" dirty="0">
                <a:latin typeface="Arial" panose="020B0604020202020204" pitchFamily="34" charset="0"/>
              </a:rPr>
              <a:t>cada lado de la coma, o del punto, se pueden juntar </a:t>
            </a:r>
            <a:r>
              <a:rPr lang="es-ES" sz="2400">
                <a:latin typeface="Arial" panose="020B0604020202020204" pitchFamily="34" charset="0"/>
              </a:rPr>
              <a:t>los números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en grupos de 3</a:t>
            </a:r>
            <a:r>
              <a:rPr lang="es-ES" sz="2400" dirty="0">
                <a:latin typeface="Arial" panose="020B0604020202020204" pitchFamily="34" charset="0"/>
              </a:rPr>
              <a:t>, si hay más de 4, para facilitar la </a:t>
            </a:r>
            <a:r>
              <a:rPr lang="es-ES" sz="2400">
                <a:latin typeface="Arial" panose="020B0604020202020204" pitchFamily="34" charset="0"/>
              </a:rPr>
              <a:t>lectura. Ahora se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propone separarlos </a:t>
            </a:r>
            <a:r>
              <a:rPr lang="es-ES" sz="2400" dirty="0">
                <a:latin typeface="Arial" panose="020B0604020202020204" pitchFamily="34" charset="0"/>
              </a:rPr>
              <a:t>con espacios en blanco (antes </a:t>
            </a:r>
            <a:r>
              <a:rPr lang="es-ES" sz="2400">
                <a:latin typeface="Arial" panose="020B0604020202020204" pitchFamily="34" charset="0"/>
              </a:rPr>
              <a:t>con "." o ",")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6774D35-CAA8-482A-B7CD-F80A4170F794}"/>
              </a:ext>
            </a:extLst>
          </p:cNvPr>
          <p:cNvGrpSpPr/>
          <p:nvPr/>
        </p:nvGrpSpPr>
        <p:grpSpPr>
          <a:xfrm>
            <a:off x="1360424" y="438794"/>
            <a:ext cx="2870200" cy="1458913"/>
            <a:chOff x="7241533" y="404192"/>
            <a:chExt cx="2870200" cy="1458913"/>
          </a:xfrm>
        </p:grpSpPr>
        <p:sp>
          <p:nvSpPr>
            <p:cNvPr id="27" name="Rectangle 7">
              <a:extLst>
                <a:ext uri="{FF2B5EF4-FFF2-40B4-BE49-F238E27FC236}">
                  <a16:creationId xmlns:a16="http://schemas.microsoft.com/office/drawing/2014/main" id="{7A33218D-0B95-4EDA-BE20-2B08B898B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533" y="404192"/>
              <a:ext cx="2870200" cy="145891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8" name="Object 8">
              <a:extLst>
                <a:ext uri="{FF2B5EF4-FFF2-40B4-BE49-F238E27FC236}">
                  <a16:creationId xmlns:a16="http://schemas.microsoft.com/office/drawing/2014/main" id="{4DA63EB0-4DAA-4D34-AB60-A72510972C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067302"/>
                </p:ext>
              </p:extLst>
            </p:nvPr>
          </p:nvGraphicFramePr>
          <p:xfrm>
            <a:off x="7466958" y="640730"/>
            <a:ext cx="2503487" cy="985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838200" imgH="330200" progId="Equation.3">
                    <p:embed/>
                  </p:oleObj>
                </mc:Choice>
                <mc:Fallback>
                  <p:oleObj name="Ecuación" r:id="rId3" imgW="838200" imgH="330200" progId="Equation.3">
                    <p:embed/>
                    <p:pic>
                      <p:nvPicPr>
                        <p:cNvPr id="1331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6958" y="640730"/>
                          <a:ext cx="2503487" cy="985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14">
            <a:extLst>
              <a:ext uri="{FF2B5EF4-FFF2-40B4-BE49-F238E27FC236}">
                <a16:creationId xmlns:a16="http://schemas.microsoft.com/office/drawing/2014/main" id="{A5CA296F-0D43-4F76-9533-E3D2F820B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0424" y="4031364"/>
            <a:ext cx="5270500" cy="53657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b="1" baseline="-25000">
                <a:latin typeface="Arial" panose="020B0604020202020204" pitchFamily="34" charset="0"/>
                <a:sym typeface="Symbol" panose="05050102010706020507" pitchFamily="18" charset="2"/>
              </a:rPr>
              <a:t>o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= 8,854 187 817... 10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12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N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1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2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</a:t>
            </a:r>
            <a:r>
              <a:rPr lang="es-ES" sz="2400" baseline="300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1" name="Text Box 33">
            <a:extLst>
              <a:ext uri="{FF2B5EF4-FFF2-40B4-BE49-F238E27FC236}">
                <a16:creationId xmlns:a16="http://schemas.microsoft.com/office/drawing/2014/main" id="{0D4DCAD3-7033-4BEE-BEC5-A954E1BF5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500" y="2173616"/>
            <a:ext cx="5207683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Su valor, como el de K, depende de las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propiedades eléctricas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del medio.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0F1CE528-E62F-4D43-B51B-7FD3AA90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894" y="408849"/>
            <a:ext cx="5127488" cy="905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La magnitud que se suele usar para caracterizar al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medio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latin typeface="Arial" panose="020B0604020202020204" pitchFamily="34" charset="0"/>
              </a:rPr>
              <a:t>no es K, es la:</a:t>
            </a:r>
          </a:p>
        </p:txBody>
      </p:sp>
      <p:sp>
        <p:nvSpPr>
          <p:cNvPr id="36" name="Text Box 33">
            <a:extLst>
              <a:ext uri="{FF2B5EF4-FFF2-40B4-BE49-F238E27FC236}">
                <a16:creationId xmlns:a16="http://schemas.microsoft.com/office/drawing/2014/main" id="{870763AE-DE69-4B77-A6D0-4739B2F28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185" y="3290957"/>
            <a:ext cx="3010295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el </a:t>
            </a:r>
            <a:r>
              <a:rPr lang="es-ES" sz="2400">
                <a:latin typeface="Arial" panose="020B0604020202020204" pitchFamily="34" charset="0"/>
              </a:rPr>
              <a:t>vacío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s-ES" sz="2400">
                <a:latin typeface="Arial" panose="020B0604020202020204" pitchFamily="34" charset="0"/>
              </a:rPr>
              <a:t>vale: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37" name="Group 53">
            <a:extLst>
              <a:ext uri="{FF2B5EF4-FFF2-40B4-BE49-F238E27FC236}">
                <a16:creationId xmlns:a16="http://schemas.microsoft.com/office/drawing/2014/main" id="{B2FA0A8F-4929-4DAA-B3A1-7595A027B94B}"/>
              </a:ext>
            </a:extLst>
          </p:cNvPr>
          <p:cNvGrpSpPr>
            <a:grpSpLocks/>
          </p:cNvGrpSpPr>
          <p:nvPr/>
        </p:nvGrpSpPr>
        <p:grpSpPr bwMode="auto">
          <a:xfrm>
            <a:off x="7475365" y="2253786"/>
            <a:ext cx="1782763" cy="1266825"/>
            <a:chOff x="4376" y="980"/>
            <a:chExt cx="1123" cy="798"/>
          </a:xfrm>
        </p:grpSpPr>
        <p:sp>
          <p:nvSpPr>
            <p:cNvPr id="38" name="Rectangle 52">
              <a:extLst>
                <a:ext uri="{FF2B5EF4-FFF2-40B4-BE49-F238E27FC236}">
                  <a16:creationId xmlns:a16="http://schemas.microsoft.com/office/drawing/2014/main" id="{C1CD27FC-C30B-4DA1-9EBB-03220D35C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6" y="980"/>
              <a:ext cx="1123" cy="798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" name="Object 12">
              <a:extLst>
                <a:ext uri="{FF2B5EF4-FFF2-40B4-BE49-F238E27FC236}">
                  <a16:creationId xmlns:a16="http://schemas.microsoft.com/office/drawing/2014/main" id="{6D4AEFEC-0090-47EC-A319-892366F8A2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8" y="1029"/>
            <a:ext cx="941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571252" imgH="393529" progId="Equation.3">
                    <p:embed/>
                  </p:oleObj>
                </mc:Choice>
                <mc:Fallback>
                  <p:oleObj name="Ecuación" r:id="rId5" imgW="571252" imgH="393529" progId="Equation.3">
                    <p:embed/>
                    <p:pic>
                      <p:nvPicPr>
                        <p:cNvPr id="30" name="Object 12">
                          <a:extLst>
                            <a:ext uri="{FF2B5EF4-FFF2-40B4-BE49-F238E27FC236}">
                              <a16:creationId xmlns:a16="http://schemas.microsoft.com/office/drawing/2014/main" id="{E93B6681-B8D2-460E-BA66-96A596F2D7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1029"/>
                          <a:ext cx="941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Group 55">
            <a:extLst>
              <a:ext uri="{FF2B5EF4-FFF2-40B4-BE49-F238E27FC236}">
                <a16:creationId xmlns:a16="http://schemas.microsoft.com/office/drawing/2014/main" id="{21594BBD-FF6F-CBE1-F389-160B7D5D0998}"/>
              </a:ext>
            </a:extLst>
          </p:cNvPr>
          <p:cNvGrpSpPr>
            <a:grpSpLocks/>
          </p:cNvGrpSpPr>
          <p:nvPr/>
        </p:nvGrpSpPr>
        <p:grpSpPr bwMode="auto">
          <a:xfrm>
            <a:off x="6909146" y="3991190"/>
            <a:ext cx="3458891" cy="614363"/>
            <a:chOff x="4605" y="3022"/>
            <a:chExt cx="1780" cy="387"/>
          </a:xfrm>
        </p:grpSpPr>
        <p:sp>
          <p:nvSpPr>
            <p:cNvPr id="3" name="Text Box 16">
              <a:extLst>
                <a:ext uri="{FF2B5EF4-FFF2-40B4-BE49-F238E27FC236}">
                  <a16:creationId xmlns:a16="http://schemas.microsoft.com/office/drawing/2014/main" id="{50AA1282-4A46-A960-754C-1348744C6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" y="3022"/>
              <a:ext cx="1492" cy="387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118800" rIns="90000" bIns="118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</a:rPr>
                <a:t>K 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 9 10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9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N m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b="1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C</a:t>
              </a:r>
              <a:r>
                <a:rPr lang="es-ES" sz="2400" b="1" baseline="30000" dirty="0">
                  <a:solidFill>
                    <a:srgbClr val="FFFF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2</a:t>
              </a:r>
              <a:endParaRPr lang="es-ES" sz="2400" b="1" dirty="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" name="AutoShape 34">
              <a:extLst>
                <a:ext uri="{FF2B5EF4-FFF2-40B4-BE49-F238E27FC236}">
                  <a16:creationId xmlns:a16="http://schemas.microsoft.com/office/drawing/2014/main" id="{BCECF658-7261-CA92-4304-96A5F9F60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" y="3085"/>
              <a:ext cx="208" cy="288"/>
            </a:xfrm>
            <a:prstGeom prst="rightArrow">
              <a:avLst>
                <a:gd name="adj1" fmla="val 50000"/>
                <a:gd name="adj2" fmla="val 55769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" name="Text Box 39">
            <a:extLst>
              <a:ext uri="{FF2B5EF4-FFF2-40B4-BE49-F238E27FC236}">
                <a16:creationId xmlns:a16="http://schemas.microsoft.com/office/drawing/2014/main" id="{86A743DF-C3C2-FF78-6E65-19EC65504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9886" y="1441053"/>
            <a:ext cx="14641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: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é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psilon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2310601A-BC87-A04D-CD5A-28A0AE0FD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026" y="1404037"/>
            <a:ext cx="3603837" cy="551090"/>
          </a:xfrm>
          <a:prstGeom prst="rect">
            <a:avLst/>
          </a:prstGeom>
          <a:solidFill>
            <a:srgbClr val="666699"/>
          </a:solidFill>
          <a:ln>
            <a:noFill/>
          </a:ln>
        </p:spPr>
        <p:txBody>
          <a:bodyPr wrap="square" lIns="108000" tIns="72000" rIns="108000" bIns="1080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: Permitividad Eléctrica</a:t>
            </a:r>
          </a:p>
        </p:txBody>
      </p:sp>
    </p:spTree>
    <p:extLst>
      <p:ext uri="{BB962C8B-B14F-4D97-AF65-F5344CB8AC3E}">
        <p14:creationId xmlns:p14="http://schemas.microsoft.com/office/powerpoint/2010/main" val="363907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25" name="Group 61"/>
          <p:cNvGrpSpPr>
            <a:grpSpLocks/>
          </p:cNvGrpSpPr>
          <p:nvPr/>
        </p:nvGrpSpPr>
        <p:grpSpPr bwMode="auto">
          <a:xfrm>
            <a:off x="1545063" y="1659369"/>
            <a:ext cx="2001839" cy="5224470"/>
            <a:chOff x="1969" y="1130"/>
            <a:chExt cx="1261" cy="3291"/>
          </a:xfrm>
        </p:grpSpPr>
        <p:sp>
          <p:nvSpPr>
            <p:cNvPr id="11326" name="Line 204"/>
            <p:cNvSpPr>
              <a:spLocks noChangeShapeType="1"/>
            </p:cNvSpPr>
            <p:nvPr/>
          </p:nvSpPr>
          <p:spPr bwMode="auto">
            <a:xfrm>
              <a:off x="3026" y="1183"/>
              <a:ext cx="20" cy="323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11327" name="Line 203"/>
            <p:cNvSpPr>
              <a:spLocks noChangeShapeType="1"/>
            </p:cNvSpPr>
            <p:nvPr/>
          </p:nvSpPr>
          <p:spPr bwMode="auto">
            <a:xfrm>
              <a:off x="2122" y="1191"/>
              <a:ext cx="20" cy="323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pSp>
          <p:nvGrpSpPr>
            <p:cNvPr id="11328" name="Group 60"/>
            <p:cNvGrpSpPr>
              <a:grpSpLocks/>
            </p:cNvGrpSpPr>
            <p:nvPr/>
          </p:nvGrpSpPr>
          <p:grpSpPr bwMode="auto">
            <a:xfrm>
              <a:off x="1969" y="1130"/>
              <a:ext cx="1261" cy="945"/>
              <a:chOff x="1969" y="1130"/>
              <a:chExt cx="1261" cy="945"/>
            </a:xfrm>
          </p:grpSpPr>
          <p:sp>
            <p:nvSpPr>
              <p:cNvPr id="11329" name="Oval 202"/>
              <p:cNvSpPr>
                <a:spLocks noChangeAspect="1" noChangeArrowheads="1"/>
              </p:cNvSpPr>
              <p:nvPr/>
            </p:nvSpPr>
            <p:spPr bwMode="auto">
              <a:xfrm>
                <a:off x="2890" y="1152"/>
                <a:ext cx="340" cy="34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330" name="Oval 201"/>
              <p:cNvSpPr>
                <a:spLocks noChangeAspect="1" noChangeArrowheads="1"/>
              </p:cNvSpPr>
              <p:nvPr/>
            </p:nvSpPr>
            <p:spPr bwMode="auto">
              <a:xfrm>
                <a:off x="1969" y="1149"/>
                <a:ext cx="340" cy="34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331" name="Text Box 161"/>
              <p:cNvSpPr txBox="1">
                <a:spLocks noChangeArrowheads="1"/>
              </p:cNvSpPr>
              <p:nvPr/>
            </p:nvSpPr>
            <p:spPr bwMode="auto">
              <a:xfrm>
                <a:off x="1989" y="1132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1332" name="Text Box 162"/>
              <p:cNvSpPr txBox="1">
                <a:spLocks noChangeArrowheads="1"/>
              </p:cNvSpPr>
              <p:nvPr/>
            </p:nvSpPr>
            <p:spPr bwMode="auto">
              <a:xfrm>
                <a:off x="2904" y="1130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1333" name="Text Box 193"/>
              <p:cNvSpPr txBox="1">
                <a:spLocks noChangeArrowheads="1"/>
              </p:cNvSpPr>
              <p:nvPr/>
            </p:nvSpPr>
            <p:spPr bwMode="auto">
              <a:xfrm>
                <a:off x="2510" y="1748"/>
                <a:ext cx="18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r</a:t>
                </a:r>
              </a:p>
            </p:txBody>
          </p:sp>
          <p:sp>
            <p:nvSpPr>
              <p:cNvPr id="3" name="Line 195"/>
              <p:cNvSpPr>
                <a:spLocks noChangeShapeType="1"/>
              </p:cNvSpPr>
              <p:nvPr/>
            </p:nvSpPr>
            <p:spPr bwMode="auto">
              <a:xfrm>
                <a:off x="2168" y="1725"/>
                <a:ext cx="8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lg" len="lg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/>
              <a:lstStyle/>
              <a:p>
                <a:endParaRPr lang="es-ES" sz="2400"/>
              </a:p>
            </p:txBody>
          </p:sp>
        </p:grpSp>
      </p:grpSp>
      <p:sp>
        <p:nvSpPr>
          <p:cNvPr id="11324" name="Line 165"/>
          <p:cNvSpPr>
            <a:spLocks noChangeShapeType="1"/>
          </p:cNvSpPr>
          <p:nvPr/>
        </p:nvSpPr>
        <p:spPr bwMode="auto">
          <a:xfrm>
            <a:off x="1393410" y="3801796"/>
            <a:ext cx="2949575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43917BAC-96A4-4ACE-B471-CA793305C50C}"/>
              </a:ext>
            </a:extLst>
          </p:cNvPr>
          <p:cNvGrpSpPr/>
          <p:nvPr/>
        </p:nvGrpSpPr>
        <p:grpSpPr>
          <a:xfrm>
            <a:off x="1336260" y="4508235"/>
            <a:ext cx="3011488" cy="1971679"/>
            <a:chOff x="1336260" y="4508235"/>
            <a:chExt cx="3011488" cy="1971679"/>
          </a:xfrm>
        </p:grpSpPr>
        <p:sp>
          <p:nvSpPr>
            <p:cNvPr id="11322" name="Line 167"/>
            <p:cNvSpPr>
              <a:spLocks noChangeShapeType="1"/>
            </p:cNvSpPr>
            <p:nvPr/>
          </p:nvSpPr>
          <p:spPr bwMode="auto">
            <a:xfrm>
              <a:off x="1345785" y="5536937"/>
              <a:ext cx="29495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4" name="Line 166"/>
            <p:cNvSpPr>
              <a:spLocks noChangeShapeType="1"/>
            </p:cNvSpPr>
            <p:nvPr/>
          </p:nvSpPr>
          <p:spPr bwMode="auto">
            <a:xfrm>
              <a:off x="1398173" y="4508235"/>
              <a:ext cx="29495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6" name="Line 175"/>
            <p:cNvSpPr>
              <a:spLocks noChangeShapeType="1"/>
            </p:cNvSpPr>
            <p:nvPr/>
          </p:nvSpPr>
          <p:spPr bwMode="auto">
            <a:xfrm>
              <a:off x="1336260" y="6479914"/>
              <a:ext cx="29495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</p:grpSp>
      <p:grpSp>
        <p:nvGrpSpPr>
          <p:cNvPr id="61558" name="Group 118"/>
          <p:cNvGrpSpPr>
            <a:grpSpLocks/>
          </p:cNvGrpSpPr>
          <p:nvPr/>
        </p:nvGrpSpPr>
        <p:grpSpPr bwMode="auto">
          <a:xfrm>
            <a:off x="1602959" y="4282377"/>
            <a:ext cx="1860550" cy="439737"/>
            <a:chOff x="1999" y="1908"/>
            <a:chExt cx="1172" cy="277"/>
          </a:xfrm>
        </p:grpSpPr>
        <p:pic>
          <p:nvPicPr>
            <p:cNvPr id="11320" name="Picture 1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9" y="1908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21" name="Picture 15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8" y="191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1559" name="Group 119"/>
          <p:cNvGrpSpPr>
            <a:grpSpLocks/>
          </p:cNvGrpSpPr>
          <p:nvPr/>
        </p:nvGrpSpPr>
        <p:grpSpPr bwMode="auto">
          <a:xfrm>
            <a:off x="1598197" y="5314254"/>
            <a:ext cx="1862138" cy="1376363"/>
            <a:chOff x="1996" y="2558"/>
            <a:chExt cx="1173" cy="867"/>
          </a:xfrm>
        </p:grpSpPr>
        <p:pic>
          <p:nvPicPr>
            <p:cNvPr id="11316" name="Picture 15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6" y="2558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17" name="Picture 15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8" y="3154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18" name="Picture 15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6" y="3152"/>
              <a:ext cx="28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319" name="Picture 16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2" y="257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1555" name="Group 115"/>
          <p:cNvGrpSpPr>
            <a:grpSpLocks/>
          </p:cNvGrpSpPr>
          <p:nvPr/>
        </p:nvGrpSpPr>
        <p:grpSpPr bwMode="auto">
          <a:xfrm>
            <a:off x="3241805" y="3138226"/>
            <a:ext cx="936626" cy="666752"/>
            <a:chOff x="3109" y="1574"/>
            <a:chExt cx="590" cy="420"/>
          </a:xfrm>
        </p:grpSpPr>
        <p:sp>
          <p:nvSpPr>
            <p:cNvPr id="11314" name="Line 181"/>
            <p:cNvSpPr>
              <a:spLocks noChangeShapeType="1"/>
            </p:cNvSpPr>
            <p:nvPr/>
          </p:nvSpPr>
          <p:spPr bwMode="auto">
            <a:xfrm>
              <a:off x="3109" y="1994"/>
              <a:ext cx="453" cy="0"/>
            </a:xfrm>
            <a:prstGeom prst="line">
              <a:avLst/>
            </a:prstGeom>
            <a:noFill/>
            <a:ln w="76200">
              <a:solidFill>
                <a:srgbClr val="008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11315" name="Object 1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2838514"/>
                </p:ext>
              </p:extLst>
            </p:nvPr>
          </p:nvGraphicFramePr>
          <p:xfrm>
            <a:off x="3367" y="1574"/>
            <a:ext cx="33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64957" imgH="190335" progId="Equation.3">
                    <p:embed/>
                  </p:oleObj>
                </mc:Choice>
                <mc:Fallback>
                  <p:oleObj name="Ecuación" r:id="rId5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1574"/>
                          <a:ext cx="332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2" name="Group 211"/>
          <p:cNvGrpSpPr>
            <a:grpSpLocks/>
          </p:cNvGrpSpPr>
          <p:nvPr/>
        </p:nvGrpSpPr>
        <p:grpSpPr bwMode="auto">
          <a:xfrm>
            <a:off x="4389420" y="1124373"/>
            <a:ext cx="2870200" cy="1458913"/>
            <a:chOff x="4309" y="1800"/>
            <a:chExt cx="1808" cy="919"/>
          </a:xfrm>
        </p:grpSpPr>
        <p:sp>
          <p:nvSpPr>
            <p:cNvPr id="11312" name="Rectangle 191"/>
            <p:cNvSpPr>
              <a:spLocks noChangeArrowheads="1"/>
            </p:cNvSpPr>
            <p:nvPr/>
          </p:nvSpPr>
          <p:spPr bwMode="auto">
            <a:xfrm>
              <a:off x="4309" y="1800"/>
              <a:ext cx="1808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1313" name="Object 187"/>
            <p:cNvGraphicFramePr>
              <a:graphicFrameLocks noChangeAspect="1"/>
            </p:cNvGraphicFramePr>
            <p:nvPr/>
          </p:nvGraphicFramePr>
          <p:xfrm>
            <a:off x="4451" y="1974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838200" imgH="330200" progId="Equation.3">
                    <p:embed/>
                  </p:oleObj>
                </mc:Choice>
                <mc:Fallback>
                  <p:oleObj name="Ecuación" r:id="rId7" imgW="838200" imgH="330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1974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60" name="Group 120"/>
          <p:cNvGrpSpPr>
            <a:grpSpLocks/>
          </p:cNvGrpSpPr>
          <p:nvPr/>
        </p:nvGrpSpPr>
        <p:grpSpPr bwMode="auto">
          <a:xfrm>
            <a:off x="3432386" y="4903928"/>
            <a:ext cx="733425" cy="1574800"/>
            <a:chOff x="3242" y="2306"/>
            <a:chExt cx="462" cy="992"/>
          </a:xfrm>
        </p:grpSpPr>
        <p:sp>
          <p:nvSpPr>
            <p:cNvPr id="11304" name="Line 172"/>
            <p:cNvSpPr>
              <a:spLocks noChangeShapeType="1"/>
            </p:cNvSpPr>
            <p:nvPr/>
          </p:nvSpPr>
          <p:spPr bwMode="auto">
            <a:xfrm>
              <a:off x="3242" y="2704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sp>
          <p:nvSpPr>
            <p:cNvPr id="11305" name="Line 173"/>
            <p:cNvSpPr>
              <a:spLocks noChangeShapeType="1"/>
            </p:cNvSpPr>
            <p:nvPr/>
          </p:nvSpPr>
          <p:spPr bwMode="auto">
            <a:xfrm>
              <a:off x="3251" y="3298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pSp>
          <p:nvGrpSpPr>
            <p:cNvPr id="11306" name="Group 216"/>
            <p:cNvGrpSpPr>
              <a:grpSpLocks/>
            </p:cNvGrpSpPr>
            <p:nvPr/>
          </p:nvGrpSpPr>
          <p:grpSpPr bwMode="auto">
            <a:xfrm>
              <a:off x="3334" y="2861"/>
              <a:ext cx="328" cy="250"/>
              <a:chOff x="2669" y="2045"/>
              <a:chExt cx="328" cy="250"/>
            </a:xfrm>
          </p:grpSpPr>
          <p:sp>
            <p:nvSpPr>
              <p:cNvPr id="11310" name="Text Box 217"/>
              <p:cNvSpPr txBox="1">
                <a:spLocks noChangeArrowheads="1"/>
              </p:cNvSpPr>
              <p:nvPr/>
            </p:nvSpPr>
            <p:spPr bwMode="auto">
              <a:xfrm>
                <a:off x="2669" y="204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311" name="Line 218"/>
              <p:cNvSpPr>
                <a:spLocks noChangeShapeType="1"/>
              </p:cNvSpPr>
              <p:nvPr/>
            </p:nvSpPr>
            <p:spPr bwMode="auto">
              <a:xfrm>
                <a:off x="2734" y="206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  <p:grpSp>
          <p:nvGrpSpPr>
            <p:cNvPr id="11307" name="Group 219"/>
            <p:cNvGrpSpPr>
              <a:grpSpLocks/>
            </p:cNvGrpSpPr>
            <p:nvPr/>
          </p:nvGrpSpPr>
          <p:grpSpPr bwMode="auto">
            <a:xfrm>
              <a:off x="3328" y="2306"/>
              <a:ext cx="328" cy="250"/>
              <a:chOff x="2669" y="2195"/>
              <a:chExt cx="328" cy="250"/>
            </a:xfrm>
          </p:grpSpPr>
          <p:sp>
            <p:nvSpPr>
              <p:cNvPr id="11308" name="Text Box 220"/>
              <p:cNvSpPr txBox="1">
                <a:spLocks noChangeArrowheads="1"/>
              </p:cNvSpPr>
              <p:nvPr/>
            </p:nvSpPr>
            <p:spPr bwMode="auto">
              <a:xfrm>
                <a:off x="2669" y="219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309" name="Line 221"/>
              <p:cNvSpPr>
                <a:spLocks noChangeShapeType="1"/>
              </p:cNvSpPr>
              <p:nvPr/>
            </p:nvSpPr>
            <p:spPr bwMode="auto">
              <a:xfrm>
                <a:off x="2734" y="221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grpSp>
        <p:nvGrpSpPr>
          <p:cNvPr id="61556" name="Group 116"/>
          <p:cNvGrpSpPr>
            <a:grpSpLocks/>
          </p:cNvGrpSpPr>
          <p:nvPr/>
        </p:nvGrpSpPr>
        <p:grpSpPr bwMode="auto">
          <a:xfrm>
            <a:off x="2344322" y="4513403"/>
            <a:ext cx="719138" cy="603250"/>
            <a:chOff x="2466" y="2060"/>
            <a:chExt cx="453" cy="380"/>
          </a:xfrm>
        </p:grpSpPr>
        <p:sp>
          <p:nvSpPr>
            <p:cNvPr id="11300" name="Line 168"/>
            <p:cNvSpPr>
              <a:spLocks noChangeShapeType="1"/>
            </p:cNvSpPr>
            <p:nvPr/>
          </p:nvSpPr>
          <p:spPr bwMode="auto">
            <a:xfrm flipH="1">
              <a:off x="2466" y="2060"/>
              <a:ext cx="453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/>
            <a:lstStyle/>
            <a:p>
              <a:endParaRPr lang="es-ES" sz="2400"/>
            </a:p>
          </p:txBody>
        </p:sp>
        <p:grpSp>
          <p:nvGrpSpPr>
            <p:cNvPr id="11301" name="Group 222"/>
            <p:cNvGrpSpPr>
              <a:grpSpLocks/>
            </p:cNvGrpSpPr>
            <p:nvPr/>
          </p:nvGrpSpPr>
          <p:grpSpPr bwMode="auto">
            <a:xfrm>
              <a:off x="2520" y="2190"/>
              <a:ext cx="328" cy="250"/>
              <a:chOff x="2669" y="2195"/>
              <a:chExt cx="328" cy="250"/>
            </a:xfrm>
          </p:grpSpPr>
          <p:sp>
            <p:nvSpPr>
              <p:cNvPr id="11302" name="Text Box 223"/>
              <p:cNvSpPr txBox="1">
                <a:spLocks noChangeArrowheads="1"/>
              </p:cNvSpPr>
              <p:nvPr/>
            </p:nvSpPr>
            <p:spPr bwMode="auto">
              <a:xfrm>
                <a:off x="2669" y="2195"/>
                <a:ext cx="3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F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12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1303" name="Line 224"/>
              <p:cNvSpPr>
                <a:spLocks noChangeShapeType="1"/>
              </p:cNvSpPr>
              <p:nvPr/>
            </p:nvSpPr>
            <p:spPr bwMode="auto">
              <a:xfrm>
                <a:off x="2734" y="2211"/>
                <a:ext cx="1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/>
              <a:lstStyle/>
              <a:p>
                <a:endParaRPr lang="es-ES" sz="2400"/>
              </a:p>
            </p:txBody>
          </p:sp>
        </p:grpSp>
      </p:grpSp>
      <p:sp>
        <p:nvSpPr>
          <p:cNvPr id="11323" name="Text Box 59"/>
          <p:cNvSpPr txBox="1">
            <a:spLocks noChangeArrowheads="1"/>
          </p:cNvSpPr>
          <p:nvPr/>
        </p:nvSpPr>
        <p:spPr bwMode="auto">
          <a:xfrm>
            <a:off x="3501174" y="390555"/>
            <a:ext cx="4459079" cy="587441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¡Chequeemos la expresión!</a:t>
            </a:r>
          </a:p>
        </p:txBody>
      </p:sp>
      <p:sp>
        <p:nvSpPr>
          <p:cNvPr id="11297" name="Rectángulo 3"/>
          <p:cNvSpPr>
            <a:spLocks noChangeArrowheads="1"/>
          </p:cNvSpPr>
          <p:nvPr/>
        </p:nvSpPr>
        <p:spPr bwMode="auto">
          <a:xfrm>
            <a:off x="5420693" y="1284568"/>
            <a:ext cx="1242824" cy="1172256"/>
          </a:xfrm>
          <a:prstGeom prst="rect">
            <a:avLst/>
          </a:prstGeom>
          <a:noFill/>
          <a:ln w="25400" algn="ctr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95" name="Text Box 269"/>
          <p:cNvSpPr txBox="1">
            <a:spLocks noChangeArrowheads="1"/>
          </p:cNvSpPr>
          <p:nvPr/>
        </p:nvSpPr>
        <p:spPr bwMode="auto">
          <a:xfrm>
            <a:off x="6767952" y="2699194"/>
            <a:ext cx="3906809" cy="164454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es un vector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unitario en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dirección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definida por las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cargas, hacia fuera de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y situado donde está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11291" name="Text Box 268"/>
          <p:cNvSpPr txBox="1">
            <a:spLocks noChangeArrowheads="1"/>
          </p:cNvSpPr>
          <p:nvPr/>
        </p:nvSpPr>
        <p:spPr bwMode="auto">
          <a:xfrm>
            <a:off x="7570915" y="1395912"/>
            <a:ext cx="2386501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Fuerza ejercida por Q</a:t>
            </a:r>
            <a:r>
              <a:rPr lang="es-ES" sz="2400" baseline="-25000" dirty="0">
                <a:latin typeface="Arial" panose="020B0604020202020204" pitchFamily="34" charset="0"/>
              </a:rPr>
              <a:t>1</a:t>
            </a:r>
            <a:r>
              <a:rPr lang="es-ES" sz="2400" dirty="0">
                <a:latin typeface="Arial" panose="020B0604020202020204" pitchFamily="34" charset="0"/>
              </a:rPr>
              <a:t> sobre Q</a:t>
            </a:r>
            <a:r>
              <a:rPr lang="es-ES" sz="2400" baseline="-25000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342" name="Text Box 78"/>
          <p:cNvSpPr txBox="1">
            <a:spLocks noChangeArrowheads="1"/>
          </p:cNvSpPr>
          <p:nvPr/>
        </p:nvSpPr>
        <p:spPr bwMode="auto">
          <a:xfrm>
            <a:off x="4722151" y="4027923"/>
            <a:ext cx="1380804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Q</a:t>
            </a:r>
            <a:r>
              <a:rPr lang="es-ES" sz="2400" baseline="-25000">
                <a:latin typeface="Arial" panose="020B0604020202020204" pitchFamily="34" charset="0"/>
              </a:rPr>
              <a:t>1</a:t>
            </a:r>
            <a:r>
              <a:rPr lang="es-ES" sz="2400">
                <a:latin typeface="Arial" panose="020B0604020202020204" pitchFamily="34" charset="0"/>
              </a:rPr>
              <a:t>Q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&lt; 0</a:t>
            </a:r>
          </a:p>
        </p:txBody>
      </p:sp>
      <p:sp>
        <p:nvSpPr>
          <p:cNvPr id="11343" name="Text Box 79"/>
          <p:cNvSpPr txBox="1">
            <a:spLocks noChangeArrowheads="1"/>
          </p:cNvSpPr>
          <p:nvPr/>
        </p:nvSpPr>
        <p:spPr bwMode="auto">
          <a:xfrm>
            <a:off x="4722151" y="5463193"/>
            <a:ext cx="1380804" cy="4638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Q</a:t>
            </a:r>
            <a:r>
              <a:rPr lang="es-ES" sz="2400" baseline="-25000">
                <a:latin typeface="Arial" panose="020B0604020202020204" pitchFamily="34" charset="0"/>
              </a:rPr>
              <a:t>1</a:t>
            </a:r>
            <a:r>
              <a:rPr lang="es-ES" sz="2400">
                <a:latin typeface="Arial" panose="020B0604020202020204" pitchFamily="34" charset="0"/>
              </a:rPr>
              <a:t>Q</a:t>
            </a:r>
            <a:r>
              <a:rPr lang="es-ES" sz="2400" baseline="-25000">
                <a:latin typeface="Arial" panose="020B0604020202020204" pitchFamily="34" charset="0"/>
              </a:rPr>
              <a:t>2</a:t>
            </a:r>
            <a:r>
              <a:rPr lang="es-ES" sz="2400" baseline="-2500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&gt; 0</a:t>
            </a:r>
          </a:p>
        </p:txBody>
      </p:sp>
      <p:sp>
        <p:nvSpPr>
          <p:cNvPr id="66" name="Text Box 269"/>
          <p:cNvSpPr txBox="1">
            <a:spLocks noChangeArrowheads="1"/>
          </p:cNvSpPr>
          <p:nvPr/>
        </p:nvSpPr>
        <p:spPr bwMode="auto">
          <a:xfrm>
            <a:off x="6767952" y="4448127"/>
            <a:ext cx="3905673" cy="53654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es este número por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453FF248-7BBD-4A57-91D0-FF476051087F}"/>
              </a:ext>
            </a:extLst>
          </p:cNvPr>
          <p:cNvGrpSpPr/>
          <p:nvPr/>
        </p:nvGrpSpPr>
        <p:grpSpPr>
          <a:xfrm>
            <a:off x="5591572" y="2400652"/>
            <a:ext cx="531813" cy="1092513"/>
            <a:chOff x="2349013" y="2346951"/>
            <a:chExt cx="531813" cy="1092513"/>
          </a:xfrm>
        </p:grpSpPr>
        <p:sp>
          <p:nvSpPr>
            <p:cNvPr id="6416" name="Text Box 272"/>
            <p:cNvSpPr txBox="1">
              <a:spLocks noChangeArrowheads="1"/>
            </p:cNvSpPr>
            <p:nvPr/>
          </p:nvSpPr>
          <p:spPr bwMode="auto">
            <a:xfrm>
              <a:off x="2349013" y="3042589"/>
              <a:ext cx="531813" cy="396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&gt; 0</a:t>
              </a:r>
            </a:p>
          </p:txBody>
        </p:sp>
        <p:cxnSp>
          <p:nvCxnSpPr>
            <p:cNvPr id="9" name="Conector recto de flecha 8">
              <a:extLst>
                <a:ext uri="{FF2B5EF4-FFF2-40B4-BE49-F238E27FC236}">
                  <a16:creationId xmlns:a16="http://schemas.microsoft.com/office/drawing/2014/main" id="{6E24AB95-C663-4B6F-A07C-27AAC7B416B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36848" y="2346951"/>
              <a:ext cx="343978" cy="626449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65AA2CF-7AE3-4D7C-B75B-6CEDE23B9BE3}"/>
              </a:ext>
            </a:extLst>
          </p:cNvPr>
          <p:cNvGrpSpPr/>
          <p:nvPr/>
        </p:nvGrpSpPr>
        <p:grpSpPr>
          <a:xfrm>
            <a:off x="4688015" y="2218183"/>
            <a:ext cx="857193" cy="1288871"/>
            <a:chOff x="4688015" y="2390903"/>
            <a:chExt cx="857193" cy="1288871"/>
          </a:xfrm>
        </p:grpSpPr>
        <p:sp>
          <p:nvSpPr>
            <p:cNvPr id="2" name="Text Box 272"/>
            <p:cNvSpPr txBox="1">
              <a:spLocks noChangeArrowheads="1"/>
            </p:cNvSpPr>
            <p:nvPr/>
          </p:nvSpPr>
          <p:spPr bwMode="auto">
            <a:xfrm>
              <a:off x="4688015" y="3282899"/>
              <a:ext cx="531813" cy="396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 0</a:t>
              </a:r>
            </a:p>
          </p:txBody>
        </p:sp>
        <p:cxnSp>
          <p:nvCxnSpPr>
            <p:cNvPr id="61" name="Conector recto de flecha 60">
              <a:extLst>
                <a:ext uri="{FF2B5EF4-FFF2-40B4-BE49-F238E27FC236}">
                  <a16:creationId xmlns:a16="http://schemas.microsoft.com/office/drawing/2014/main" id="{5A51C249-06E8-4CEA-9155-3B4E02126B8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069840" y="2390903"/>
              <a:ext cx="475368" cy="755217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C2439F0-C970-4ACC-BB29-B251511610F4}"/>
              </a:ext>
            </a:extLst>
          </p:cNvPr>
          <p:cNvGrpSpPr/>
          <p:nvPr/>
        </p:nvGrpSpPr>
        <p:grpSpPr>
          <a:xfrm>
            <a:off x="4408262" y="4556684"/>
            <a:ext cx="2049257" cy="674327"/>
            <a:chOff x="4408262" y="4546524"/>
            <a:chExt cx="2049257" cy="674327"/>
          </a:xfrm>
        </p:grpSpPr>
        <p:sp>
          <p:nvSpPr>
            <p:cNvPr id="11344" name="Text Box 80"/>
            <p:cNvSpPr txBox="1">
              <a:spLocks noChangeArrowheads="1"/>
            </p:cNvSpPr>
            <p:nvPr/>
          </p:nvSpPr>
          <p:spPr bwMode="auto">
            <a:xfrm>
              <a:off x="4408262" y="4757005"/>
              <a:ext cx="2049257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 antiparalela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3" name="Conector recto de flecha 62">
              <a:extLst>
                <a:ext uri="{FF2B5EF4-FFF2-40B4-BE49-F238E27FC236}">
                  <a16:creationId xmlns:a16="http://schemas.microsoft.com/office/drawing/2014/main" id="{851C9624-A433-4451-AABA-EECDCB08F807}"/>
                </a:ext>
              </a:extLst>
            </p:cNvPr>
            <p:cNvCxnSpPr/>
            <p:nvPr/>
          </p:nvCxnSpPr>
          <p:spPr bwMode="auto">
            <a:xfrm>
              <a:off x="5646479" y="4546524"/>
              <a:ext cx="0" cy="278266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7BD9C16-C789-4FBE-83C5-EE8AE2D53CD6}"/>
              </a:ext>
            </a:extLst>
          </p:cNvPr>
          <p:cNvGrpSpPr/>
          <p:nvPr/>
        </p:nvGrpSpPr>
        <p:grpSpPr>
          <a:xfrm>
            <a:off x="4640104" y="5994238"/>
            <a:ext cx="1552326" cy="675436"/>
            <a:chOff x="4640104" y="5943438"/>
            <a:chExt cx="1552326" cy="675436"/>
          </a:xfrm>
        </p:grpSpPr>
        <p:sp>
          <p:nvSpPr>
            <p:cNvPr id="11345" name="Text Box 81"/>
            <p:cNvSpPr txBox="1">
              <a:spLocks noChangeArrowheads="1"/>
            </p:cNvSpPr>
            <p:nvPr/>
          </p:nvSpPr>
          <p:spPr bwMode="auto">
            <a:xfrm>
              <a:off x="4640104" y="6155028"/>
              <a:ext cx="1552326" cy="463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 paralela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4" name="Conector recto de flecha 63">
              <a:extLst>
                <a:ext uri="{FF2B5EF4-FFF2-40B4-BE49-F238E27FC236}">
                  <a16:creationId xmlns:a16="http://schemas.microsoft.com/office/drawing/2014/main" id="{FD864E8C-0394-4608-B5CE-D0EAA5D6F173}"/>
                </a:ext>
              </a:extLst>
            </p:cNvPr>
            <p:cNvCxnSpPr/>
            <p:nvPr/>
          </p:nvCxnSpPr>
          <p:spPr bwMode="auto">
            <a:xfrm>
              <a:off x="5635843" y="5943438"/>
              <a:ext cx="0" cy="278266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0487B48A-1BA7-442C-B2BE-C4EDEFFF90AC}"/>
              </a:ext>
            </a:extLst>
          </p:cNvPr>
          <p:cNvCxnSpPr>
            <a:cxnSpLocks/>
          </p:cNvCxnSpPr>
          <p:nvPr/>
        </p:nvCxnSpPr>
        <p:spPr bwMode="auto">
          <a:xfrm>
            <a:off x="6828024" y="2173221"/>
            <a:ext cx="182376" cy="621462"/>
          </a:xfrm>
          <a:prstGeom prst="straightConnector1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B8E98F1F-1E7C-4AAB-82B4-37103A12DFBE}"/>
              </a:ext>
            </a:extLst>
          </p:cNvPr>
          <p:cNvCxnSpPr>
            <a:cxnSpLocks/>
          </p:cNvCxnSpPr>
          <p:nvPr/>
        </p:nvCxnSpPr>
        <p:spPr bwMode="auto">
          <a:xfrm>
            <a:off x="6341300" y="2483952"/>
            <a:ext cx="669100" cy="2007817"/>
          </a:xfrm>
          <a:prstGeom prst="straightConnector1">
            <a:avLst/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 Box 269">
            <a:extLst>
              <a:ext uri="{FF2B5EF4-FFF2-40B4-BE49-F238E27FC236}">
                <a16:creationId xmlns:a16="http://schemas.microsoft.com/office/drawing/2014/main" id="{1BF300C3-7571-EB4E-9231-F71904DCA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952" y="5044950"/>
            <a:ext cx="3905673" cy="53654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="1" baseline="-25000">
                <a:solidFill>
                  <a:srgbClr val="000000"/>
                </a:solidFill>
                <a:latin typeface="Arial" panose="020B0604020202020204" pitchFamily="34" charset="0"/>
              </a:rPr>
              <a:t>12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misma dirección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b="1" baseline="-2500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Box 269">
            <a:extLst>
              <a:ext uri="{FF2B5EF4-FFF2-40B4-BE49-F238E27FC236}">
                <a16:creationId xmlns:a16="http://schemas.microsoft.com/office/drawing/2014/main" id="{0F8417A3-484D-6D72-121D-805781B00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7951" y="5627946"/>
            <a:ext cx="3905673" cy="905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Su sentido respecto a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u</a:t>
            </a:r>
            <a:r>
              <a:rPr lang="es-ES" sz="2400" b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según el signo del número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8372886" y="6569820"/>
            <a:ext cx="695804" cy="58744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108000" rIns="108000" bIns="108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Ok!</a:t>
            </a:r>
          </a:p>
        </p:txBody>
      </p:sp>
      <p:sp>
        <p:nvSpPr>
          <p:cNvPr id="8" name="Cerrar llave 7">
            <a:extLst>
              <a:ext uri="{FF2B5EF4-FFF2-40B4-BE49-F238E27FC236}">
                <a16:creationId xmlns:a16="http://schemas.microsoft.com/office/drawing/2014/main" id="{942DE4C4-591B-5D0D-40AB-D89D8B5FD297}"/>
              </a:ext>
            </a:extLst>
          </p:cNvPr>
          <p:cNvSpPr/>
          <p:nvPr/>
        </p:nvSpPr>
        <p:spPr bwMode="auto">
          <a:xfrm>
            <a:off x="6258172" y="3027101"/>
            <a:ext cx="343218" cy="3660339"/>
          </a:xfrm>
          <a:prstGeom prst="rightBrace">
            <a:avLst>
              <a:gd name="adj1" fmla="val 8333"/>
              <a:gd name="adj2" fmla="val 82646"/>
            </a:avLst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8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1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6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1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4" grpId="0" animBg="1"/>
      <p:bldP spid="11323" grpId="0" animBg="1"/>
      <p:bldP spid="11297" grpId="0" animBg="1"/>
      <p:bldP spid="11295" grpId="0" animBg="1"/>
      <p:bldP spid="11342" grpId="0" animBg="1"/>
      <p:bldP spid="11343" grpId="0" animBg="1"/>
      <p:bldP spid="66" grpId="0" animBg="1"/>
      <p:bldP spid="5" grpId="0" animBg="1"/>
      <p:bldP spid="7" grpId="0" animBg="1"/>
      <p:bldP spid="1134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7"/>
          <p:cNvSpPr>
            <a:spLocks noChangeArrowheads="1"/>
          </p:cNvSpPr>
          <p:nvPr/>
        </p:nvSpPr>
        <p:spPr bwMode="auto">
          <a:xfrm>
            <a:off x="2529647" y="1187925"/>
            <a:ext cx="2870200" cy="1458912"/>
          </a:xfrm>
          <a:prstGeom prst="rect">
            <a:avLst/>
          </a:prstGeom>
          <a:solidFill>
            <a:srgbClr val="99CC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3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192549"/>
              </p:ext>
            </p:extLst>
          </p:nvPr>
        </p:nvGraphicFramePr>
        <p:xfrm>
          <a:off x="2755072" y="1447040"/>
          <a:ext cx="2503488" cy="985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838200" imgH="330200" progId="Equation.3">
                  <p:embed/>
                </p:oleObj>
              </mc:Choice>
              <mc:Fallback>
                <p:oleObj name="Ecuación" r:id="rId3" imgW="8382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072" y="1447040"/>
                        <a:ext cx="2503488" cy="985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5" name="Group 40"/>
          <p:cNvGrpSpPr>
            <a:grpSpLocks/>
          </p:cNvGrpSpPr>
          <p:nvPr/>
        </p:nvGrpSpPr>
        <p:grpSpPr bwMode="auto">
          <a:xfrm>
            <a:off x="6134514" y="1186337"/>
            <a:ext cx="2870200" cy="1458913"/>
            <a:chOff x="832" y="1875"/>
            <a:chExt cx="1808" cy="919"/>
          </a:xfrm>
        </p:grpSpPr>
        <p:sp>
          <p:nvSpPr>
            <p:cNvPr id="15391" name="Rectangle 6"/>
            <p:cNvSpPr>
              <a:spLocks noChangeArrowheads="1"/>
            </p:cNvSpPr>
            <p:nvPr/>
          </p:nvSpPr>
          <p:spPr bwMode="auto">
            <a:xfrm>
              <a:off x="832" y="1875"/>
              <a:ext cx="1808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5392" name="Object 9"/>
            <p:cNvGraphicFramePr>
              <a:graphicFrameLocks noChangeAspect="1"/>
            </p:cNvGraphicFramePr>
            <p:nvPr/>
          </p:nvGraphicFramePr>
          <p:xfrm>
            <a:off x="976" y="2024"/>
            <a:ext cx="1577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838200" imgH="330200" progId="Equation.3">
                    <p:embed/>
                  </p:oleObj>
                </mc:Choice>
                <mc:Fallback>
                  <p:oleObj name="Ecuación" r:id="rId5" imgW="838200" imgH="330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2024"/>
                          <a:ext cx="1577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59">
            <a:extLst>
              <a:ext uri="{FF2B5EF4-FFF2-40B4-BE49-F238E27FC236}">
                <a16:creationId xmlns:a16="http://schemas.microsoft.com/office/drawing/2014/main" id="{97CEA3A2-5E36-418E-A1F5-E7B1DC556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529" y="453000"/>
            <a:ext cx="1931393" cy="5340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Comentario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B83608FF-9D88-4D50-AE29-7CAD26C8E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5644" y="4651783"/>
            <a:ext cx="7649146" cy="997929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44000" rIns="144000" bIns="144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FFFF"/>
                </a:solidFill>
                <a:latin typeface="Arial" panose="020B0604020202020204" pitchFamily="34" charset="0"/>
              </a:rPr>
              <a:t>Se verifica la 3ª Ley de Newton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sz="2400" b="1" cap="small">
                <a:solidFill>
                  <a:srgbClr val="FFFFFF"/>
                </a:solidFill>
                <a:latin typeface="Arial" panose="020B0604020202020204" pitchFamily="34" charset="0"/>
              </a:rPr>
              <a:t>Principio de Acción y Reacción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F1A9CBFF-596D-44F8-A712-5CEAA2201DEA}"/>
              </a:ext>
            </a:extLst>
          </p:cNvPr>
          <p:cNvGrpSpPr>
            <a:grpSpLocks/>
          </p:cNvGrpSpPr>
          <p:nvPr/>
        </p:nvGrpSpPr>
        <p:grpSpPr bwMode="auto">
          <a:xfrm>
            <a:off x="6679444" y="3157977"/>
            <a:ext cx="1816100" cy="679449"/>
            <a:chOff x="3046" y="3299"/>
            <a:chExt cx="1144" cy="428"/>
          </a:xfrm>
        </p:grpSpPr>
        <p:sp>
          <p:nvSpPr>
            <p:cNvPr id="24" name="Rectangle 42">
              <a:extLst>
                <a:ext uri="{FF2B5EF4-FFF2-40B4-BE49-F238E27FC236}">
                  <a16:creationId xmlns:a16="http://schemas.microsoft.com/office/drawing/2014/main" id="{D9ECA858-DAA6-497A-A09D-7E1C7F77A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3307"/>
              <a:ext cx="1144" cy="42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D38F9351-6FED-4B90-9226-0EBCF61918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3" y="3299"/>
            <a:ext cx="990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685502" imgH="266584" progId="Equation.3">
                    <p:embed/>
                  </p:oleObj>
                </mc:Choice>
                <mc:Fallback>
                  <p:oleObj name="Ecuación" r:id="rId7" imgW="685502" imgH="266584" progId="Equation.3">
                    <p:embed/>
                    <p:pic>
                      <p:nvPicPr>
                        <p:cNvPr id="1539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3" y="3299"/>
                          <a:ext cx="990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C04E368C-8D62-4587-B677-AF4291CAE002}"/>
              </a:ext>
            </a:extLst>
          </p:cNvPr>
          <p:cNvGrpSpPr>
            <a:grpSpLocks/>
          </p:cNvGrpSpPr>
          <p:nvPr/>
        </p:nvGrpSpPr>
        <p:grpSpPr bwMode="auto">
          <a:xfrm>
            <a:off x="1444283" y="3172625"/>
            <a:ext cx="3681413" cy="677864"/>
            <a:chOff x="1045" y="3311"/>
            <a:chExt cx="2319" cy="427"/>
          </a:xfrm>
        </p:grpSpPr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C59A5F69-45F4-479D-88DB-16052DAD6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3311"/>
              <a:ext cx="1264" cy="427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8" name="Group 45">
              <a:extLst>
                <a:ext uri="{FF2B5EF4-FFF2-40B4-BE49-F238E27FC236}">
                  <a16:creationId xmlns:a16="http://schemas.microsoft.com/office/drawing/2014/main" id="{F3E69049-46A7-495E-B850-EACB92985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5" y="3338"/>
              <a:ext cx="2319" cy="348"/>
              <a:chOff x="1045" y="3358"/>
              <a:chExt cx="2319" cy="348"/>
            </a:xfrm>
          </p:grpSpPr>
          <p:sp>
            <p:nvSpPr>
              <p:cNvPr id="29" name="Text Box 10">
                <a:extLst>
                  <a:ext uri="{FF2B5EF4-FFF2-40B4-BE49-F238E27FC236}">
                    <a16:creationId xmlns:a16="http://schemas.microsoft.com/office/drawing/2014/main" id="{4201F737-BB2A-40F5-9284-4A0384F8F3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5" y="3360"/>
                <a:ext cx="828" cy="2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 dirty="0">
                    <a:solidFill>
                      <a:srgbClr val="000000"/>
                    </a:solidFill>
                    <a:latin typeface="Arial" panose="020B0604020202020204" pitchFamily="34" charset="0"/>
                    <a:sym typeface="Symbol" panose="05050102010706020507" pitchFamily="18" charset="2"/>
                  </a:rPr>
                  <a:t> Como: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bject 29">
                    <a:extLst>
                      <a:ext uri="{FF2B5EF4-FFF2-40B4-BE49-F238E27FC236}">
                        <a16:creationId xmlns:a16="http://schemas.microsoft.com/office/drawing/2014/main" id="{E0403AA1-C8FC-4E2C-9E5D-91136FA0E5F5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087" y="3358"/>
                    <a:ext cx="1277" cy="34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  <m:r>
                            <a:rPr lang="es-E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=−</m:t>
                          </m:r>
                          <m:sSub>
                            <m:sSubPr>
                              <m:ctrlP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lang="es-ES" sz="2800"/>
                  </a:p>
                </p:txBody>
              </p:sp>
            </mc:Choice>
            <mc:Fallback xmlns="">
              <p:sp>
                <p:nvSpPr>
                  <p:cNvPr id="30" name="Object 29">
                    <a:extLst>
                      <a:ext uri="{FF2B5EF4-FFF2-40B4-BE49-F238E27FC236}">
                        <a16:creationId xmlns:a16="http://schemas.microsoft.com/office/drawing/2014/main" id="{E0403AA1-C8FC-4E2C-9E5D-91136FA0E5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087" y="3358"/>
                    <a:ext cx="1277" cy="348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B36A737-D215-4529-A77D-C3BA94B81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5643" y="5829096"/>
            <a:ext cx="7649147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tIns="82800" bIns="82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Si dos cuerpos interactúan, se ejercen fuerzas iguales, pero de sentido contrario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84CB7F2-9CE5-1260-1501-7FE4B3938D44}"/>
              </a:ext>
            </a:extLst>
          </p:cNvPr>
          <p:cNvSpPr txBox="1"/>
          <p:nvPr/>
        </p:nvSpPr>
        <p:spPr>
          <a:xfrm>
            <a:off x="3171581" y="3852266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FF0000"/>
                </a:solidFill>
              </a:rPr>
              <a:t>(opuestos)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C8280B-709A-BB39-9194-64044AA99FA6}"/>
              </a:ext>
            </a:extLst>
          </p:cNvPr>
          <p:cNvSpPr txBox="1"/>
          <p:nvPr/>
        </p:nvSpPr>
        <p:spPr>
          <a:xfrm>
            <a:off x="6763486" y="3827460"/>
            <a:ext cx="1640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>
                <a:solidFill>
                  <a:srgbClr val="FF0000"/>
                </a:solidFill>
              </a:rPr>
              <a:t>(opuestos)</a:t>
            </a:r>
            <a:endParaRPr lang="es-ES" sz="2400" dirty="0">
              <a:solidFill>
                <a:srgbClr val="FF0000"/>
              </a:solidFill>
            </a:endParaRPr>
          </a:p>
        </p:txBody>
      </p:sp>
      <p:sp>
        <p:nvSpPr>
          <p:cNvPr id="7" name="Text Box 269">
            <a:extLst>
              <a:ext uri="{FF2B5EF4-FFF2-40B4-BE49-F238E27FC236}">
                <a16:creationId xmlns:a16="http://schemas.microsoft.com/office/drawing/2014/main" id="{D8DAF81A-9BFE-65BB-62C8-BBB27096A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796" y="3177283"/>
            <a:ext cx="578421" cy="659660"/>
          </a:xfrm>
          <a:prstGeom prst="rect">
            <a:avLst/>
          </a:prstGeom>
          <a:noFill/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320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endParaRPr lang="es-ES" sz="32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1" grpId="0" animBg="1"/>
      <p:bldP spid="2" grpId="0"/>
      <p:bldP spid="3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246462" y="1550365"/>
            <a:ext cx="3084512" cy="1458913"/>
          </a:xfrm>
          <a:prstGeom prst="rect">
            <a:avLst/>
          </a:prstGeom>
          <a:solidFill>
            <a:srgbClr val="99CC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647396"/>
              </p:ext>
            </p:extLst>
          </p:nvPr>
        </p:nvGraphicFramePr>
        <p:xfrm>
          <a:off x="1405212" y="1737690"/>
          <a:ext cx="283686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28254" imgH="393529" progId="Equation.3">
                  <p:embed/>
                </p:oleObj>
              </mc:Choice>
              <mc:Fallback>
                <p:oleObj name="Ecuación" r:id="rId3" imgW="1028254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212" y="1737690"/>
                        <a:ext cx="2836862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1166367" y="4974862"/>
            <a:ext cx="2619374" cy="506413"/>
            <a:chOff x="3772" y="1646"/>
            <a:chExt cx="1650" cy="319"/>
          </a:xfrm>
        </p:grpSpPr>
        <p:sp>
          <p:nvSpPr>
            <p:cNvPr id="17438" name="Text Box 6"/>
            <p:cNvSpPr txBox="1">
              <a:spLocks noChangeArrowheads="1"/>
            </p:cNvSpPr>
            <p:nvPr/>
          </p:nvSpPr>
          <p:spPr bwMode="auto">
            <a:xfrm>
              <a:off x="3772" y="1673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17439" name="Text Box 8"/>
            <p:cNvSpPr txBox="1">
              <a:spLocks noChangeArrowheads="1"/>
            </p:cNvSpPr>
            <p:nvPr/>
          </p:nvSpPr>
          <p:spPr bwMode="auto">
            <a:xfrm>
              <a:off x="4011" y="1646"/>
              <a:ext cx="141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i="1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|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  1/r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= r</a:t>
              </a:r>
              <a:r>
                <a:rPr lang="es-ES" sz="2400" baseline="30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2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6" name="Group 58"/>
          <p:cNvGrpSpPr>
            <a:grpSpLocks/>
          </p:cNvGrpSpPr>
          <p:nvPr/>
        </p:nvGrpSpPr>
        <p:grpSpPr bwMode="auto">
          <a:xfrm>
            <a:off x="1166368" y="4417567"/>
            <a:ext cx="2503487" cy="519113"/>
            <a:chOff x="3531" y="1035"/>
            <a:chExt cx="1577" cy="327"/>
          </a:xfrm>
        </p:grpSpPr>
        <p:sp>
          <p:nvSpPr>
            <p:cNvPr id="17436" name="Text Box 5"/>
            <p:cNvSpPr txBox="1">
              <a:spLocks noChangeArrowheads="1"/>
            </p:cNvSpPr>
            <p:nvPr/>
          </p:nvSpPr>
          <p:spPr bwMode="auto">
            <a:xfrm>
              <a:off x="3531" y="1070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17437" name="Text Box 7"/>
            <p:cNvSpPr txBox="1">
              <a:spLocks noChangeArrowheads="1"/>
            </p:cNvSpPr>
            <p:nvPr/>
          </p:nvSpPr>
          <p:spPr bwMode="auto">
            <a:xfrm>
              <a:off x="3765" y="1035"/>
              <a:ext cx="134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|</a:t>
              </a:r>
              <a:r>
                <a:rPr lang="es-ES" sz="2400" b="1">
                  <a:solidFill>
                    <a:srgbClr val="000000"/>
                  </a:solidFill>
                  <a:latin typeface="Arial" panose="020B0604020202020204" pitchFamily="34" charset="0"/>
                </a:rPr>
                <a:t>F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|  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 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 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86388" name="Text Box 20"/>
          <p:cNvSpPr txBox="1">
            <a:spLocks noChangeArrowheads="1"/>
          </p:cNvSpPr>
          <p:nvPr/>
        </p:nvSpPr>
        <p:spPr bwMode="auto">
          <a:xfrm>
            <a:off x="6314880" y="4448532"/>
            <a:ext cx="4129955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Q</a:t>
            </a:r>
            <a:r>
              <a:rPr lang="es-ES" sz="2400" baseline="-250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2  y  Q</a:t>
            </a:r>
            <a:r>
              <a:rPr lang="es-ES" sz="2400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2  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  F  4</a:t>
            </a:r>
            <a:endParaRPr lang="es-ES" sz="2400" dirty="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86407" name="Text Box 39"/>
          <p:cNvSpPr txBox="1">
            <a:spLocks noChangeArrowheads="1"/>
          </p:cNvSpPr>
          <p:nvPr/>
        </p:nvSpPr>
        <p:spPr bwMode="auto">
          <a:xfrm>
            <a:off x="3753220" y="4469068"/>
            <a:ext cx="2401887" cy="463846"/>
          </a:xfrm>
          <a:prstGeom prst="rect">
            <a:avLst/>
          </a:prstGeom>
          <a:noFill/>
          <a:ln>
            <a:noFill/>
          </a:ln>
        </p:spPr>
        <p:txBody>
          <a:bodyPr wrap="square" lIns="90000" tIns="10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: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proporcional</a:t>
            </a:r>
          </a:p>
        </p:txBody>
      </p:sp>
      <p:sp>
        <p:nvSpPr>
          <p:cNvPr id="186408" name="Text Box 40"/>
          <p:cNvSpPr txBox="1">
            <a:spLocks noChangeArrowheads="1"/>
          </p:cNvSpPr>
          <p:nvPr/>
        </p:nvSpPr>
        <p:spPr bwMode="auto">
          <a:xfrm>
            <a:off x="6317669" y="4953613"/>
            <a:ext cx="249489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  r 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 2    F/4</a:t>
            </a:r>
          </a:p>
        </p:txBody>
      </p:sp>
      <p:grpSp>
        <p:nvGrpSpPr>
          <p:cNvPr id="10" name="Group 69"/>
          <p:cNvGrpSpPr>
            <a:grpSpLocks/>
          </p:cNvGrpSpPr>
          <p:nvPr/>
        </p:nvGrpSpPr>
        <p:grpSpPr bwMode="auto">
          <a:xfrm>
            <a:off x="1166368" y="5503270"/>
            <a:ext cx="3027362" cy="473076"/>
            <a:chOff x="3772" y="1667"/>
            <a:chExt cx="1907" cy="298"/>
          </a:xfrm>
        </p:grpSpPr>
        <p:sp>
          <p:nvSpPr>
            <p:cNvPr id="17434" name="Text Box 70"/>
            <p:cNvSpPr txBox="1">
              <a:spLocks noChangeArrowheads="1"/>
            </p:cNvSpPr>
            <p:nvPr/>
          </p:nvSpPr>
          <p:spPr bwMode="auto">
            <a:xfrm>
              <a:off x="3772" y="1673"/>
              <a:ext cx="203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17435" name="Text Box 71"/>
            <p:cNvSpPr txBox="1">
              <a:spLocks noChangeArrowheads="1"/>
            </p:cNvSpPr>
            <p:nvPr/>
          </p:nvSpPr>
          <p:spPr bwMode="auto">
            <a:xfrm>
              <a:off x="4011" y="1667"/>
              <a:ext cx="166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|</a:t>
              </a:r>
              <a:r>
                <a:rPr lang="es-ES" sz="2400" b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F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|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s-ES" sz="2400" i="1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 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si r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</a:t>
              </a:r>
            </a:p>
          </p:txBody>
        </p:sp>
      </p:grpSp>
      <p:sp>
        <p:nvSpPr>
          <p:cNvPr id="186440" name="Text Box 72"/>
          <p:cNvSpPr txBox="1">
            <a:spLocks noChangeArrowheads="1"/>
          </p:cNvSpPr>
          <p:nvPr/>
        </p:nvSpPr>
        <p:spPr bwMode="auto">
          <a:xfrm>
            <a:off x="6328878" y="5481238"/>
            <a:ext cx="239371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Tiene alcance </a:t>
            </a:r>
          </a:p>
        </p:txBody>
      </p:sp>
      <p:sp>
        <p:nvSpPr>
          <p:cNvPr id="15382" name="CuadroTexto 2"/>
          <p:cNvSpPr txBox="1">
            <a:spLocks noChangeArrowheads="1"/>
          </p:cNvSpPr>
          <p:nvPr/>
        </p:nvSpPr>
        <p:spPr bwMode="auto">
          <a:xfrm>
            <a:off x="2138226" y="374841"/>
            <a:ext cx="7265501" cy="905881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MÓDULO DE LA FUERZA ELÉCTRICA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ENTRE DOS CARGAS PUNTUALES</a:t>
            </a:r>
          </a:p>
        </p:txBody>
      </p:sp>
      <p:graphicFrame>
        <p:nvGraphicFramePr>
          <p:cNvPr id="174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830710"/>
              </p:ext>
            </p:extLst>
          </p:nvPr>
        </p:nvGraphicFramePr>
        <p:xfrm>
          <a:off x="4756424" y="1702765"/>
          <a:ext cx="26162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977900" imgH="431800" progId="Equation.3">
                  <p:embed/>
                </p:oleObj>
              </mc:Choice>
              <mc:Fallback>
                <p:oleObj name="Ecuación" r:id="rId5" imgW="977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424" y="1702765"/>
                        <a:ext cx="26162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Flecha derecha 6"/>
          <p:cNvSpPr>
            <a:spLocks noChangeArrowheads="1"/>
          </p:cNvSpPr>
          <p:nvPr/>
        </p:nvSpPr>
        <p:spPr bwMode="auto">
          <a:xfrm>
            <a:off x="4433175" y="2010740"/>
            <a:ext cx="322211" cy="53796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Grupo 8"/>
          <p:cNvGrpSpPr>
            <a:grpSpLocks/>
          </p:cNvGrpSpPr>
          <p:nvPr/>
        </p:nvGrpSpPr>
        <p:grpSpPr bwMode="auto">
          <a:xfrm>
            <a:off x="7844112" y="1551953"/>
            <a:ext cx="2859087" cy="1455737"/>
            <a:chOff x="7775537" y="1442620"/>
            <a:chExt cx="2859122" cy="1455738"/>
          </a:xfrm>
        </p:grpSpPr>
        <p:sp>
          <p:nvSpPr>
            <p:cNvPr id="17430" name="Rectangle 3"/>
            <p:cNvSpPr>
              <a:spLocks noChangeArrowheads="1"/>
            </p:cNvSpPr>
            <p:nvPr/>
          </p:nvSpPr>
          <p:spPr bwMode="auto">
            <a:xfrm>
              <a:off x="7781270" y="1442620"/>
              <a:ext cx="2853389" cy="1455738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7775537" y="1571140"/>
            <a:ext cx="2786063" cy="1119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7" imgW="1040948" imgH="418918" progId="Equation.3">
                    <p:embed/>
                  </p:oleObj>
                </mc:Choice>
                <mc:Fallback>
                  <p:oleObj name="Ecuación" r:id="rId7" imgW="1040948" imgH="418918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5537" y="1571140"/>
                          <a:ext cx="2786063" cy="1119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upo 7"/>
          <p:cNvGrpSpPr>
            <a:grpSpLocks/>
          </p:cNvGrpSpPr>
          <p:nvPr/>
        </p:nvGrpSpPr>
        <p:grpSpPr bwMode="auto">
          <a:xfrm>
            <a:off x="7113697" y="2010740"/>
            <a:ext cx="899605" cy="1846709"/>
            <a:chOff x="7045807" y="1901414"/>
            <a:chExt cx="899528" cy="1847722"/>
          </a:xfrm>
        </p:grpSpPr>
        <p:sp>
          <p:nvSpPr>
            <p:cNvPr id="17428" name="Flecha derecha 6"/>
            <p:cNvSpPr>
              <a:spLocks noChangeArrowheads="1"/>
            </p:cNvSpPr>
            <p:nvPr/>
          </p:nvSpPr>
          <p:spPr bwMode="auto">
            <a:xfrm>
              <a:off x="7370590" y="1901414"/>
              <a:ext cx="322185" cy="5381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29" name="CuadroTexto 2"/>
            <p:cNvSpPr txBox="1">
              <a:spLocks noChangeArrowheads="1"/>
            </p:cNvSpPr>
            <p:nvPr/>
          </p:nvSpPr>
          <p:spPr bwMode="auto">
            <a:xfrm>
              <a:off x="7045807" y="2917683"/>
              <a:ext cx="899528" cy="83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K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 0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r &gt;0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1" name="Text Box 72"/>
          <p:cNvSpPr txBox="1">
            <a:spLocks noChangeArrowheads="1"/>
          </p:cNvSpPr>
          <p:nvPr/>
        </p:nvSpPr>
        <p:spPr bwMode="auto">
          <a:xfrm>
            <a:off x="6386503" y="5846749"/>
            <a:ext cx="3537993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(se ejerce a cualquier distancia entre Q</a:t>
            </a:r>
            <a:r>
              <a:rPr lang="es-ES" sz="2400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Q</a:t>
            </a:r>
            <a:r>
              <a:rPr lang="es-ES" sz="2400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0" name="Text Box 39">
            <a:extLst>
              <a:ext uri="{FF2B5EF4-FFF2-40B4-BE49-F238E27FC236}">
                <a16:creationId xmlns:a16="http://schemas.microsoft.com/office/drawing/2014/main" id="{4CEC26D1-9F29-4102-9E55-F4395A65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464" y="3854333"/>
            <a:ext cx="4903720" cy="46384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10800" rIns="90000" bIns="82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Si K no depende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de r, </a:t>
            </a:r>
            <a:r>
              <a:rPr lang="es-ES" sz="2400" b="1">
                <a:latin typeface="Arial" panose="020B0604020202020204" pitchFamily="34" charset="0"/>
                <a:sym typeface="Symbol" panose="05050102010706020507" pitchFamily="18" charset="2"/>
              </a:rPr>
              <a:t>u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Q</a:t>
            </a:r>
            <a:r>
              <a:rPr lang="es-ES" sz="2400" baseline="-25000" dirty="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0C797B23-5EFD-00E5-8DB8-7374D1BD5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672" y="6017821"/>
            <a:ext cx="4455682" cy="833178"/>
          </a:xfrm>
          <a:prstGeom prst="rect">
            <a:avLst/>
          </a:prstGeom>
          <a:noFill/>
          <a:ln>
            <a:noFill/>
          </a:ln>
        </p:spPr>
        <p:txBody>
          <a:bodyPr wrap="square" lIns="90000" tIns="10800" rIns="90000" bIns="82800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“ 0”: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tiende a cero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          “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 ”: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tiende a infinito  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86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88" grpId="0"/>
      <p:bldP spid="186407" grpId="0"/>
      <p:bldP spid="186408" grpId="0"/>
      <p:bldP spid="186440" grpId="0"/>
      <p:bldP spid="15382" grpId="0" animBg="1"/>
      <p:bldP spid="17432" grpId="0" animBg="1"/>
      <p:bldP spid="31" grpId="0"/>
      <p:bldP spid="30" grpId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6" name="Text Box 41"/>
          <p:cNvSpPr txBox="1">
            <a:spLocks noChangeArrowheads="1"/>
          </p:cNvSpPr>
          <p:nvPr/>
        </p:nvSpPr>
        <p:spPr bwMode="auto">
          <a:xfrm>
            <a:off x="1378901" y="5985105"/>
            <a:ext cx="6580537" cy="83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El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</a:rPr>
              <a:t> signo “–”</a:t>
            </a:r>
            <a:r>
              <a:rPr lang="es-ES" sz="2400">
                <a:latin typeface="Arial" panose="020B0604020202020204" pitchFamily="34" charset="0"/>
              </a:rPr>
              <a:t> aparece porque las masas        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</a:rPr>
              <a:t>                      siempre son positivas y se atraen</a:t>
            </a:r>
          </a:p>
        </p:txBody>
      </p:sp>
      <p:grpSp>
        <p:nvGrpSpPr>
          <p:cNvPr id="19469" name="Group 40"/>
          <p:cNvGrpSpPr>
            <a:grpSpLocks/>
          </p:cNvGrpSpPr>
          <p:nvPr/>
        </p:nvGrpSpPr>
        <p:grpSpPr bwMode="auto">
          <a:xfrm>
            <a:off x="6632682" y="1152581"/>
            <a:ext cx="3077953" cy="1458842"/>
            <a:chOff x="1091" y="2260"/>
            <a:chExt cx="1939" cy="919"/>
          </a:xfrm>
        </p:grpSpPr>
        <p:sp>
          <p:nvSpPr>
            <p:cNvPr id="19472" name="Rectangle 10"/>
            <p:cNvSpPr>
              <a:spLocks noChangeArrowheads="1"/>
            </p:cNvSpPr>
            <p:nvPr/>
          </p:nvSpPr>
          <p:spPr bwMode="auto">
            <a:xfrm>
              <a:off x="1091" y="2260"/>
              <a:ext cx="1939" cy="919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9473" name="Object 11"/>
            <p:cNvGraphicFramePr>
              <a:graphicFrameLocks noChangeAspect="1"/>
            </p:cNvGraphicFramePr>
            <p:nvPr/>
          </p:nvGraphicFramePr>
          <p:xfrm>
            <a:off x="1158" y="2414"/>
            <a:ext cx="1840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193800" imgH="393700" progId="Equation.3">
                    <p:embed/>
                  </p:oleObj>
                </mc:Choice>
                <mc:Fallback>
                  <p:oleObj name="Ecuación" r:id="rId3" imgW="1193800" imgH="3937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2414"/>
                          <a:ext cx="1840" cy="6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70" name="Text Box 12"/>
          <p:cNvSpPr txBox="1">
            <a:spLocks noChangeArrowheads="1"/>
          </p:cNvSpPr>
          <p:nvPr/>
        </p:nvSpPr>
        <p:spPr bwMode="auto">
          <a:xfrm>
            <a:off x="5729433" y="2803274"/>
            <a:ext cx="4884451" cy="884069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Ley de Gravitación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(Ley de Newton de la Gravedad)</a:t>
            </a:r>
          </a:p>
        </p:txBody>
      </p:sp>
      <p:sp>
        <p:nvSpPr>
          <p:cNvPr id="19471" name="Text Box 73"/>
          <p:cNvSpPr txBox="1">
            <a:spLocks noChangeArrowheads="1"/>
          </p:cNvSpPr>
          <p:nvPr/>
        </p:nvSpPr>
        <p:spPr bwMode="auto">
          <a:xfrm>
            <a:off x="6139917" y="3815695"/>
            <a:ext cx="4063483" cy="127521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FUERZA GRAVITATORIA ENTRE 2 MASAS PUNTUALES</a:t>
            </a:r>
          </a:p>
        </p:txBody>
      </p:sp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390037" y="5404466"/>
            <a:ext cx="728276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Son similares</a:t>
            </a:r>
            <a:r>
              <a:rPr lang="es-ES" sz="2400" dirty="0">
                <a:latin typeface="Arial" panose="020B0604020202020204" pitchFamily="34" charset="0"/>
              </a:rPr>
              <a:t>: M hace el papel de Q, y G el de K</a:t>
            </a:r>
          </a:p>
        </p:txBody>
      </p:sp>
      <p:grpSp>
        <p:nvGrpSpPr>
          <p:cNvPr id="19464" name="Grupo 2"/>
          <p:cNvGrpSpPr>
            <a:grpSpLocks/>
          </p:cNvGrpSpPr>
          <p:nvPr/>
        </p:nvGrpSpPr>
        <p:grpSpPr bwMode="auto">
          <a:xfrm>
            <a:off x="1807605" y="1152581"/>
            <a:ext cx="3084040" cy="1458841"/>
            <a:chOff x="1815308" y="1242253"/>
            <a:chExt cx="3083857" cy="1458913"/>
          </a:xfrm>
        </p:grpSpPr>
        <p:sp>
          <p:nvSpPr>
            <p:cNvPr id="19467" name="Rectangle 3"/>
            <p:cNvSpPr>
              <a:spLocks noChangeArrowheads="1"/>
            </p:cNvSpPr>
            <p:nvPr/>
          </p:nvSpPr>
          <p:spPr bwMode="auto">
            <a:xfrm>
              <a:off x="1815308" y="1242253"/>
              <a:ext cx="3083857" cy="1458913"/>
            </a:xfrm>
            <a:prstGeom prst="rect">
              <a:avLst/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19468" name="Object 4"/>
            <p:cNvGraphicFramePr>
              <a:graphicFrameLocks noChangeAspect="1"/>
            </p:cNvGraphicFramePr>
            <p:nvPr/>
          </p:nvGraphicFramePr>
          <p:xfrm>
            <a:off x="1973403" y="1430372"/>
            <a:ext cx="2836862" cy="1082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5" imgW="1028254" imgH="393529" progId="Equation.3">
                    <p:embed/>
                  </p:oleObj>
                </mc:Choice>
                <mc:Fallback>
                  <p:oleObj name="Ecuación" r:id="rId5" imgW="1028254" imgH="39352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403" y="1430372"/>
                          <a:ext cx="2836862" cy="1082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5" name="Text Box 12"/>
          <p:cNvSpPr txBox="1">
            <a:spLocks noChangeArrowheads="1"/>
          </p:cNvSpPr>
          <p:nvPr/>
        </p:nvSpPr>
        <p:spPr bwMode="auto">
          <a:xfrm>
            <a:off x="1317625" y="2818735"/>
            <a:ext cx="4064000" cy="8591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8000" tIns="72000" rIns="108000" bIns="720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Ley de Coulomb</a:t>
            </a:r>
          </a:p>
        </p:txBody>
      </p:sp>
      <p:sp>
        <p:nvSpPr>
          <p:cNvPr id="19466" name="Text Box 73"/>
          <p:cNvSpPr txBox="1">
            <a:spLocks noChangeArrowheads="1"/>
          </p:cNvSpPr>
          <p:nvPr/>
        </p:nvSpPr>
        <p:spPr bwMode="auto">
          <a:xfrm>
            <a:off x="1317625" y="3825746"/>
            <a:ext cx="4064000" cy="1275211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FUERZA ELÉCTRICA ENTRE 2 CARGAS PUNTUALES</a:t>
            </a:r>
          </a:p>
        </p:txBody>
      </p:sp>
      <p:sp>
        <p:nvSpPr>
          <p:cNvPr id="18" name="Text Box 59"/>
          <p:cNvSpPr txBox="1">
            <a:spLocks noChangeArrowheads="1"/>
          </p:cNvSpPr>
          <p:nvPr/>
        </p:nvSpPr>
        <p:spPr bwMode="auto">
          <a:xfrm>
            <a:off x="2063646" y="384272"/>
            <a:ext cx="7414661" cy="587441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Comparación entre las Leyes de Coulomb y Newton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6" grpId="0"/>
      <p:bldP spid="19470" grpId="0" animBg="1"/>
      <p:bldP spid="19471" grpId="0" animBg="1"/>
      <p:bldP spid="40" grpId="0"/>
      <p:bldP spid="19465" grpId="0" animBg="1"/>
      <p:bldP spid="19466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32"/>
          <p:cNvSpPr>
            <a:spLocks noChangeArrowheads="1"/>
          </p:cNvSpPr>
          <p:nvPr/>
        </p:nvSpPr>
        <p:spPr bwMode="auto">
          <a:xfrm>
            <a:off x="2580357" y="3613658"/>
            <a:ext cx="5712031" cy="2361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33"/>
          <p:cNvSpPr>
            <a:spLocks noChangeArrowheads="1"/>
          </p:cNvSpPr>
          <p:nvPr/>
        </p:nvSpPr>
        <p:spPr bwMode="auto">
          <a:xfrm>
            <a:off x="2574285" y="4869424"/>
            <a:ext cx="5705009" cy="561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1" name="Rectangle 32"/>
          <p:cNvSpPr>
            <a:spLocks noChangeArrowheads="1"/>
          </p:cNvSpPr>
          <p:nvPr/>
        </p:nvSpPr>
        <p:spPr bwMode="auto">
          <a:xfrm>
            <a:off x="2567264" y="2983814"/>
            <a:ext cx="5712031" cy="6107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382" name="Text Box 14"/>
          <p:cNvSpPr txBox="1">
            <a:spLocks noChangeArrowheads="1"/>
          </p:cNvSpPr>
          <p:nvPr/>
        </p:nvSpPr>
        <p:spPr bwMode="auto">
          <a:xfrm>
            <a:off x="2640016" y="3663982"/>
            <a:ext cx="2562217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Nuclear Fuerte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Nuclear Débil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ElectroMagnética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Gravitatoria</a:t>
            </a:r>
          </a:p>
        </p:txBody>
      </p:sp>
      <p:sp>
        <p:nvSpPr>
          <p:cNvPr id="186383" name="Text Box 15"/>
          <p:cNvSpPr txBox="1">
            <a:spLocks noChangeArrowheads="1"/>
          </p:cNvSpPr>
          <p:nvPr/>
        </p:nvSpPr>
        <p:spPr bwMode="auto">
          <a:xfrm>
            <a:off x="5647031" y="3644223"/>
            <a:ext cx="609760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6386" name="Text Box 18"/>
          <p:cNvSpPr txBox="1">
            <a:spLocks noChangeArrowheads="1"/>
          </p:cNvSpPr>
          <p:nvPr/>
        </p:nvSpPr>
        <p:spPr bwMode="auto">
          <a:xfrm>
            <a:off x="3067190" y="3048655"/>
            <a:ext cx="168858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Interacción</a:t>
            </a:r>
          </a:p>
        </p:txBody>
      </p:sp>
      <p:sp>
        <p:nvSpPr>
          <p:cNvPr id="186384" name="Text Box 16"/>
          <p:cNvSpPr txBox="1">
            <a:spLocks noChangeArrowheads="1"/>
          </p:cNvSpPr>
          <p:nvPr/>
        </p:nvSpPr>
        <p:spPr bwMode="auto">
          <a:xfrm>
            <a:off x="6963243" y="3657190"/>
            <a:ext cx="952803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9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1/137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es-ES" sz="2400" baseline="30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38</a:t>
            </a:r>
          </a:p>
        </p:txBody>
      </p:sp>
      <p:sp>
        <p:nvSpPr>
          <p:cNvPr id="186402" name="Text Box 34"/>
          <p:cNvSpPr txBox="1">
            <a:spLocks noChangeArrowheads="1"/>
          </p:cNvSpPr>
          <p:nvPr/>
        </p:nvSpPr>
        <p:spPr bwMode="auto">
          <a:xfrm>
            <a:off x="6538913" y="3048655"/>
            <a:ext cx="1827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Intensidad</a:t>
            </a:r>
          </a:p>
        </p:txBody>
      </p:sp>
      <p:sp>
        <p:nvSpPr>
          <p:cNvPr id="186416" name="Text Box 48"/>
          <p:cNvSpPr txBox="1">
            <a:spLocks noChangeArrowheads="1"/>
          </p:cNvSpPr>
          <p:nvPr/>
        </p:nvSpPr>
        <p:spPr bwMode="auto">
          <a:xfrm>
            <a:off x="5306116" y="3048655"/>
            <a:ext cx="1278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Alcance</a:t>
            </a:r>
          </a:p>
        </p:txBody>
      </p:sp>
      <p:sp>
        <p:nvSpPr>
          <p:cNvPr id="21519" name="Rectangle 49"/>
          <p:cNvSpPr>
            <a:spLocks noChangeArrowheads="1"/>
          </p:cNvSpPr>
          <p:nvPr/>
        </p:nvSpPr>
        <p:spPr bwMode="auto">
          <a:xfrm>
            <a:off x="2545002" y="3008105"/>
            <a:ext cx="5760000" cy="2968822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20" name="Line 50"/>
          <p:cNvSpPr>
            <a:spLocks noChangeShapeType="1"/>
          </p:cNvSpPr>
          <p:nvPr/>
        </p:nvSpPr>
        <p:spPr bwMode="auto">
          <a:xfrm>
            <a:off x="2574373" y="3585781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21521" name="Line 51"/>
          <p:cNvSpPr>
            <a:spLocks noChangeShapeType="1"/>
          </p:cNvSpPr>
          <p:nvPr/>
        </p:nvSpPr>
        <p:spPr bwMode="auto">
          <a:xfrm flipV="1">
            <a:off x="2587073" y="4258978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21522" name="Line 52"/>
          <p:cNvSpPr>
            <a:spLocks noChangeShapeType="1"/>
          </p:cNvSpPr>
          <p:nvPr/>
        </p:nvSpPr>
        <p:spPr bwMode="auto">
          <a:xfrm>
            <a:off x="2574373" y="4840735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21523" name="Line 53"/>
          <p:cNvSpPr>
            <a:spLocks noChangeShapeType="1"/>
          </p:cNvSpPr>
          <p:nvPr/>
        </p:nvSpPr>
        <p:spPr bwMode="auto">
          <a:xfrm flipV="1">
            <a:off x="2547960" y="5431635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21524" name="Line 54"/>
          <p:cNvSpPr>
            <a:spLocks noChangeShapeType="1"/>
          </p:cNvSpPr>
          <p:nvPr/>
        </p:nvSpPr>
        <p:spPr bwMode="auto">
          <a:xfrm rot="5400000" flipH="1">
            <a:off x="3759211" y="4495960"/>
            <a:ext cx="29939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21525" name="Line 55"/>
          <p:cNvSpPr>
            <a:spLocks noChangeShapeType="1"/>
          </p:cNvSpPr>
          <p:nvPr/>
        </p:nvSpPr>
        <p:spPr bwMode="auto">
          <a:xfrm rot="5400000" flipH="1">
            <a:off x="5155103" y="4508797"/>
            <a:ext cx="2950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186450" name="Text Box 82"/>
          <p:cNvSpPr txBox="1">
            <a:spLocks noChangeArrowheads="1"/>
          </p:cNvSpPr>
          <p:nvPr/>
        </p:nvSpPr>
        <p:spPr bwMode="auto">
          <a:xfrm>
            <a:off x="4846823" y="6086424"/>
            <a:ext cx="2195129" cy="463846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f: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femto = 10</a:t>
            </a:r>
            <a:r>
              <a:rPr lang="es-ES" sz="2400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-15</a:t>
            </a:r>
          </a:p>
        </p:txBody>
      </p:sp>
      <p:sp>
        <p:nvSpPr>
          <p:cNvPr id="186451" name="Text Box 83"/>
          <p:cNvSpPr txBox="1">
            <a:spLocks noChangeArrowheads="1"/>
          </p:cNvSpPr>
          <p:nvPr/>
        </p:nvSpPr>
        <p:spPr bwMode="auto">
          <a:xfrm>
            <a:off x="5101699" y="6483035"/>
            <a:ext cx="1940253" cy="463846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a: at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= 10</a:t>
            </a:r>
            <a:r>
              <a:rPr lang="es-ES" sz="24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-18</a:t>
            </a:r>
          </a:p>
        </p:txBody>
      </p:sp>
      <p:sp>
        <p:nvSpPr>
          <p:cNvPr id="19482" name="Text Box 67"/>
          <p:cNvSpPr txBox="1">
            <a:spLocks noChangeArrowheads="1"/>
          </p:cNvSpPr>
          <p:nvPr/>
        </p:nvSpPr>
        <p:spPr bwMode="auto">
          <a:xfrm>
            <a:off x="2225709" y="335755"/>
            <a:ext cx="7110413" cy="514738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Comparación entre Interacciones Fundamentales</a:t>
            </a:r>
          </a:p>
        </p:txBody>
      </p:sp>
      <p:sp>
        <p:nvSpPr>
          <p:cNvPr id="19508" name="Text Box 69"/>
          <p:cNvSpPr txBox="1">
            <a:spLocks noChangeArrowheads="1"/>
          </p:cNvSpPr>
          <p:nvPr/>
        </p:nvSpPr>
        <p:spPr bwMode="auto">
          <a:xfrm>
            <a:off x="1310641" y="1081408"/>
            <a:ext cx="5652602" cy="12025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comparar su intensidad: Elegimos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situación en lo cotidiano en que están las 4 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 de partículas</a:t>
            </a:r>
          </a:p>
        </p:txBody>
      </p:sp>
      <p:sp>
        <p:nvSpPr>
          <p:cNvPr id="3" name="CuadroTexto 2"/>
          <p:cNvSpPr txBox="1"/>
          <p:nvPr/>
        </p:nvSpPr>
        <p:spPr bwMode="auto">
          <a:xfrm>
            <a:off x="158557" y="3268388"/>
            <a:ext cx="1865314" cy="2677656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2400">
                <a:cs typeface="Arial" panose="020B0604020202020204" pitchFamily="34" charset="0"/>
              </a:rPr>
              <a:t>P.ej., entre </a:t>
            </a:r>
            <a:r>
              <a:rPr lang="es-ES" sz="2400" dirty="0">
                <a:cs typeface="Arial" panose="020B0604020202020204" pitchFamily="34" charset="0"/>
              </a:rPr>
              <a:t>protones</a:t>
            </a:r>
          </a:p>
          <a:p>
            <a:pPr algn="ctr">
              <a:defRPr/>
            </a:pPr>
            <a:r>
              <a:rPr lang="es-ES" sz="2400" dirty="0">
                <a:cs typeface="Arial" panose="020B0604020202020204" pitchFamily="34" charset="0"/>
              </a:rPr>
              <a:t>o/y neutrones en los núcleos de </a:t>
            </a:r>
            <a:r>
              <a:rPr lang="es-ES" sz="2400">
                <a:cs typeface="Arial" panose="020B0604020202020204" pitchFamily="34" charset="0"/>
              </a:rPr>
              <a:t>los átomos</a:t>
            </a:r>
            <a:endParaRPr lang="es-ES" sz="2400" dirty="0">
              <a:cs typeface="Arial" panose="020B0604020202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6A46A64-1E3E-4C74-A561-2968FABF58FD}"/>
              </a:ext>
            </a:extLst>
          </p:cNvPr>
          <p:cNvGrpSpPr/>
          <p:nvPr/>
        </p:nvGrpSpPr>
        <p:grpSpPr>
          <a:xfrm>
            <a:off x="2064420" y="3655310"/>
            <a:ext cx="258382" cy="1164243"/>
            <a:chOff x="2064420" y="1796030"/>
            <a:chExt cx="258382" cy="1164243"/>
          </a:xfrm>
        </p:grpSpPr>
        <p:cxnSp>
          <p:nvCxnSpPr>
            <p:cNvPr id="21549" name="Conector recto 4"/>
            <p:cNvCxnSpPr>
              <a:cxnSpLocks noChangeShapeType="1"/>
            </p:cNvCxnSpPr>
            <p:nvPr/>
          </p:nvCxnSpPr>
          <p:spPr bwMode="auto">
            <a:xfrm>
              <a:off x="2322802" y="1796030"/>
              <a:ext cx="0" cy="1164243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50" name="Conector recto 6"/>
            <p:cNvCxnSpPr>
              <a:cxnSpLocks noChangeShapeType="1"/>
            </p:cNvCxnSpPr>
            <p:nvPr/>
          </p:nvCxnSpPr>
          <p:spPr bwMode="auto">
            <a:xfrm flipH="1">
              <a:off x="2064420" y="2362691"/>
              <a:ext cx="252000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upo 3"/>
          <p:cNvGrpSpPr>
            <a:grpSpLocks/>
          </p:cNvGrpSpPr>
          <p:nvPr/>
        </p:nvGrpSpPr>
        <p:grpSpPr bwMode="auto">
          <a:xfrm>
            <a:off x="7169273" y="1056993"/>
            <a:ext cx="3094441" cy="1253402"/>
            <a:chOff x="8771367" y="1601186"/>
            <a:chExt cx="3095175" cy="1252096"/>
          </a:xfrm>
        </p:grpSpPr>
        <p:sp>
          <p:nvSpPr>
            <p:cNvPr id="21546" name="Text Box 65"/>
            <p:cNvSpPr txBox="1">
              <a:spLocks noChangeArrowheads="1"/>
            </p:cNvSpPr>
            <p:nvPr/>
          </p:nvSpPr>
          <p:spPr bwMode="auto">
            <a:xfrm>
              <a:off x="9293375" y="1601186"/>
              <a:ext cx="2573167" cy="125209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Interacción protón – protón</a:t>
              </a:r>
            </a:p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(p – p)</a:t>
              </a:r>
            </a:p>
          </p:txBody>
        </p:sp>
        <p:sp>
          <p:nvSpPr>
            <p:cNvPr id="7" name="Flecha abajo 6"/>
            <p:cNvSpPr/>
            <p:nvPr/>
          </p:nvSpPr>
          <p:spPr bwMode="auto">
            <a:xfrm rot="16200000">
              <a:off x="8740025" y="2048226"/>
              <a:ext cx="426593" cy="363909"/>
            </a:xfrm>
            <a:prstGeom prst="down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>
              <a:no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>
                <a:cs typeface="Arial" panose="020B0604020202020204" pitchFamily="34" charset="0"/>
              </a:endParaRPr>
            </a:p>
          </p:txBody>
        </p:sp>
      </p:grpSp>
      <p:sp>
        <p:nvSpPr>
          <p:cNvPr id="6" name="CuadroTexto 5"/>
          <p:cNvSpPr txBox="1"/>
          <p:nvPr/>
        </p:nvSpPr>
        <p:spPr>
          <a:xfrm>
            <a:off x="1210135" y="2394793"/>
            <a:ext cx="925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  <a:cs typeface="Arial" panose="020B0604020202020204" pitchFamily="34" charset="0"/>
              </a:rPr>
              <a:t>(El protón tiene masa, carga eléctrica, carga débil y carga de color)</a:t>
            </a:r>
            <a:endParaRPr lang="en-GB" sz="24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8383596" y="3287173"/>
            <a:ext cx="2361305" cy="1188072"/>
            <a:chOff x="8383596" y="1638898"/>
            <a:chExt cx="2361305" cy="1188072"/>
          </a:xfrm>
        </p:grpSpPr>
        <p:sp>
          <p:nvSpPr>
            <p:cNvPr id="58" name="Text Box 65"/>
            <p:cNvSpPr txBox="1">
              <a:spLocks noChangeArrowheads="1"/>
            </p:cNvSpPr>
            <p:nvPr/>
          </p:nvSpPr>
          <p:spPr bwMode="auto">
            <a:xfrm>
              <a:off x="8383596" y="1993792"/>
              <a:ext cx="2361305" cy="83317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  <a:defRPr/>
              </a:pPr>
              <a:r>
                <a:rPr lang="es-ES" sz="2400" dirty="0">
                  <a:latin typeface="Arial" panose="020B0604020202020204" pitchFamily="34" charset="0"/>
                  <a:cs typeface="Arial" panose="020B0604020202020204" pitchFamily="34" charset="0"/>
                </a:rPr>
                <a:t>Respecto a la nuclear fuerte</a:t>
              </a:r>
            </a:p>
          </p:txBody>
        </p:sp>
        <p:sp>
          <p:nvSpPr>
            <p:cNvPr id="9" name="Forma libre 8"/>
            <p:cNvSpPr/>
            <p:nvPr/>
          </p:nvSpPr>
          <p:spPr bwMode="auto">
            <a:xfrm>
              <a:off x="8541121" y="1638898"/>
              <a:ext cx="1021452" cy="295063"/>
            </a:xfrm>
            <a:custGeom>
              <a:avLst/>
              <a:gdLst>
                <a:gd name="connsiteX0" fmla="*/ 0 w 924339"/>
                <a:gd name="connsiteY0" fmla="*/ 9939 h 646044"/>
                <a:gd name="connsiteX1" fmla="*/ 924339 w 924339"/>
                <a:gd name="connsiteY1" fmla="*/ 0 h 646044"/>
                <a:gd name="connsiteX2" fmla="*/ 914400 w 924339"/>
                <a:gd name="connsiteY2" fmla="*/ 646044 h 646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4339" h="646044">
                  <a:moveTo>
                    <a:pt x="0" y="9939"/>
                  </a:moveTo>
                  <a:lnTo>
                    <a:pt x="924339" y="0"/>
                  </a:lnTo>
                  <a:lnTo>
                    <a:pt x="914400" y="646044"/>
                  </a:lnTo>
                </a:path>
              </a:pathLst>
            </a:cu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endParaRPr>
            </a:p>
          </p:txBody>
        </p:sp>
      </p:grpSp>
      <p:sp>
        <p:nvSpPr>
          <p:cNvPr id="5" name="Text Box 65">
            <a:extLst>
              <a:ext uri="{FF2B5EF4-FFF2-40B4-BE49-F238E27FC236}">
                <a16:creationId xmlns:a16="http://schemas.microsoft.com/office/drawing/2014/main" id="{1BDD307E-148E-EEDA-9D2B-51446ABE8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949" y="4545449"/>
            <a:ext cx="2361305" cy="2310505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(hay que dividir cada fuerza entre los “p” debida a una por la debida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fuerte)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E50B78-FAA0-D6C6-9DC1-F0E878EA1760}"/>
              </a:ext>
            </a:extLst>
          </p:cNvPr>
          <p:cNvSpPr txBox="1"/>
          <p:nvPr/>
        </p:nvSpPr>
        <p:spPr bwMode="auto">
          <a:xfrm>
            <a:off x="158557" y="6012608"/>
            <a:ext cx="1865314" cy="830997"/>
          </a:xfrm>
          <a:prstGeom prst="rect">
            <a:avLst/>
          </a:prstGeom>
          <a:solidFill>
            <a:srgbClr val="FFFF99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s-ES" sz="2400">
                <a:cs typeface="Arial" panose="020B0604020202020204" pitchFamily="34" charset="0"/>
              </a:rPr>
              <a:t>Son atractivas</a:t>
            </a:r>
            <a:endParaRPr lang="es-ES" sz="24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86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186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8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8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8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8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8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21507" grpId="0" animBg="1"/>
      <p:bldP spid="19461" grpId="0" animBg="1"/>
      <p:bldP spid="186382" grpId="0"/>
      <p:bldP spid="186383" grpId="0"/>
      <p:bldP spid="186386" grpId="0"/>
      <p:bldP spid="186384" grpId="0"/>
      <p:bldP spid="186402" grpId="0"/>
      <p:bldP spid="186416" grpId="0"/>
      <p:bldP spid="21519" grpId="0" animBg="1"/>
      <p:bldP spid="21520" grpId="0" animBg="1"/>
      <p:bldP spid="21521" grpId="0" animBg="1"/>
      <p:bldP spid="21522" grpId="0" animBg="1"/>
      <p:bldP spid="21523" grpId="0" animBg="1"/>
      <p:bldP spid="21524" grpId="0" animBg="1"/>
      <p:bldP spid="21525" grpId="0" animBg="1"/>
      <p:bldP spid="186450" grpId="0"/>
      <p:bldP spid="186451" grpId="0"/>
      <p:bldP spid="19482" grpId="0" animBg="1"/>
      <p:bldP spid="19508" grpId="0" animBg="1"/>
      <p:bldP spid="3" grpId="0" animBg="1"/>
      <p:bldP spid="6" grpId="0"/>
      <p:bldP spid="5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46"/>
          <p:cNvSpPr txBox="1">
            <a:spLocks noChangeArrowheads="1"/>
          </p:cNvSpPr>
          <p:nvPr/>
        </p:nvSpPr>
        <p:spPr bwMode="auto">
          <a:xfrm>
            <a:off x="1368212" y="4418248"/>
            <a:ext cx="3887997" cy="51473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Dentro del núcleo</a:t>
            </a:r>
            <a:r>
              <a:rPr lang="es-ES" sz="2400" dirty="0">
                <a:latin typeface="Arial" panose="020B0604020202020204" pitchFamily="34" charset="0"/>
              </a:rPr>
              <a:t>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s-ES" sz="2400" dirty="0">
                <a:latin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</a:rPr>
              <a:t>fm</a:t>
            </a:r>
            <a:r>
              <a:rPr lang="es-ES" sz="2400" dirty="0">
                <a:latin typeface="Arial" panose="020B0604020202020204" pitchFamily="34" charset="0"/>
              </a:rPr>
              <a:t>):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 Box 47"/>
          <p:cNvSpPr txBox="1">
            <a:spLocks noChangeArrowheads="1"/>
          </p:cNvSpPr>
          <p:nvPr/>
        </p:nvSpPr>
        <p:spPr bwMode="auto">
          <a:xfrm>
            <a:off x="1402669" y="5003670"/>
            <a:ext cx="7579099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más fuerte entre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protones o/y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neutrones es la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NF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 Box 47"/>
          <p:cNvSpPr txBox="1">
            <a:spLocks noChangeArrowheads="1"/>
          </p:cNvSpPr>
          <p:nvPr/>
        </p:nvSpPr>
        <p:spPr bwMode="auto">
          <a:xfrm>
            <a:off x="1402669" y="5422612"/>
            <a:ext cx="7874693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</a:rPr>
              <a:t>Vence a la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EM </a:t>
            </a:r>
            <a:r>
              <a:rPr lang="es-ES" sz="2400" dirty="0">
                <a:latin typeface="Arial" panose="020B0604020202020204" pitchFamily="34" charset="0"/>
              </a:rPr>
              <a:t>(que hace que los protones se repelan)</a:t>
            </a:r>
          </a:p>
        </p:txBody>
      </p: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1402669" y="6260497"/>
            <a:ext cx="935202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Su </a:t>
            </a:r>
            <a:r>
              <a:rPr lang="es-ES" sz="2400" dirty="0">
                <a:latin typeface="Arial" panose="020B0604020202020204" pitchFamily="34" charset="0"/>
              </a:rPr>
              <a:t>alcance define el tamaño </a:t>
            </a:r>
            <a:r>
              <a:rPr lang="es-ES" sz="2400">
                <a:latin typeface="Arial" panose="020B0604020202020204" pitchFamily="34" charset="0"/>
              </a:rPr>
              <a:t>del núcleo (donde hay estabilidad)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3" name="Rectangle 32"/>
          <p:cNvSpPr>
            <a:spLocks noChangeArrowheads="1"/>
          </p:cNvSpPr>
          <p:nvPr/>
        </p:nvSpPr>
        <p:spPr bwMode="auto">
          <a:xfrm>
            <a:off x="2885157" y="1755504"/>
            <a:ext cx="5712031" cy="2361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33"/>
          <p:cNvSpPr>
            <a:spLocks noChangeArrowheads="1"/>
          </p:cNvSpPr>
          <p:nvPr/>
        </p:nvSpPr>
        <p:spPr bwMode="auto">
          <a:xfrm>
            <a:off x="2879085" y="3011270"/>
            <a:ext cx="5705009" cy="561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32"/>
          <p:cNvSpPr>
            <a:spLocks noChangeArrowheads="1"/>
          </p:cNvSpPr>
          <p:nvPr/>
        </p:nvSpPr>
        <p:spPr bwMode="auto">
          <a:xfrm>
            <a:off x="2872064" y="1125660"/>
            <a:ext cx="5712031" cy="6107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>
            <a:off x="2944816" y="1805828"/>
            <a:ext cx="2562217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Nuclear Fuerte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Nuclear Débil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ElectroMagnética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Gravitatoria</a:t>
            </a: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>
            <a:off x="5951831" y="1786069"/>
            <a:ext cx="609760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8" name="Text Box 18"/>
          <p:cNvSpPr txBox="1">
            <a:spLocks noChangeArrowheads="1"/>
          </p:cNvSpPr>
          <p:nvPr/>
        </p:nvSpPr>
        <p:spPr bwMode="auto">
          <a:xfrm>
            <a:off x="3371990" y="1190501"/>
            <a:ext cx="168858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Interacción</a:t>
            </a: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7268043" y="1819356"/>
            <a:ext cx="952803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9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1/137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38</a:t>
            </a:r>
          </a:p>
        </p:txBody>
      </p:sp>
      <p:sp>
        <p:nvSpPr>
          <p:cNvPr id="30" name="Text Box 34"/>
          <p:cNvSpPr txBox="1">
            <a:spLocks noChangeArrowheads="1"/>
          </p:cNvSpPr>
          <p:nvPr/>
        </p:nvSpPr>
        <p:spPr bwMode="auto">
          <a:xfrm>
            <a:off x="6843713" y="1190501"/>
            <a:ext cx="1827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Intensidad</a:t>
            </a:r>
          </a:p>
        </p:txBody>
      </p:sp>
      <p:sp>
        <p:nvSpPr>
          <p:cNvPr id="31" name="Text Box 48"/>
          <p:cNvSpPr txBox="1">
            <a:spLocks noChangeArrowheads="1"/>
          </p:cNvSpPr>
          <p:nvPr/>
        </p:nvSpPr>
        <p:spPr bwMode="auto">
          <a:xfrm>
            <a:off x="5610916" y="1190501"/>
            <a:ext cx="1278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Alcance</a:t>
            </a:r>
          </a:p>
        </p:txBody>
      </p:sp>
      <p:sp>
        <p:nvSpPr>
          <p:cNvPr id="32" name="Rectangle 49"/>
          <p:cNvSpPr>
            <a:spLocks noChangeArrowheads="1"/>
          </p:cNvSpPr>
          <p:nvPr/>
        </p:nvSpPr>
        <p:spPr bwMode="auto">
          <a:xfrm>
            <a:off x="2849802" y="1149951"/>
            <a:ext cx="5760000" cy="2968822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ine 50"/>
          <p:cNvSpPr>
            <a:spLocks noChangeShapeType="1"/>
          </p:cNvSpPr>
          <p:nvPr/>
        </p:nvSpPr>
        <p:spPr bwMode="auto">
          <a:xfrm>
            <a:off x="2879173" y="1727627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38" name="Line 51"/>
          <p:cNvSpPr>
            <a:spLocks noChangeShapeType="1"/>
          </p:cNvSpPr>
          <p:nvPr/>
        </p:nvSpPr>
        <p:spPr bwMode="auto">
          <a:xfrm flipV="1">
            <a:off x="2891873" y="2400824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39" name="Line 52"/>
          <p:cNvSpPr>
            <a:spLocks noChangeShapeType="1"/>
          </p:cNvSpPr>
          <p:nvPr/>
        </p:nvSpPr>
        <p:spPr bwMode="auto">
          <a:xfrm>
            <a:off x="2879173" y="2982581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0" name="Line 53"/>
          <p:cNvSpPr>
            <a:spLocks noChangeShapeType="1"/>
          </p:cNvSpPr>
          <p:nvPr/>
        </p:nvSpPr>
        <p:spPr bwMode="auto">
          <a:xfrm flipV="1">
            <a:off x="2852760" y="3573481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1" name="Line 54"/>
          <p:cNvSpPr>
            <a:spLocks noChangeShapeType="1"/>
          </p:cNvSpPr>
          <p:nvPr/>
        </p:nvSpPr>
        <p:spPr bwMode="auto">
          <a:xfrm rot="5400000" flipH="1">
            <a:off x="4064011" y="2637806"/>
            <a:ext cx="29939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2" name="Line 55"/>
          <p:cNvSpPr>
            <a:spLocks noChangeShapeType="1"/>
          </p:cNvSpPr>
          <p:nvPr/>
        </p:nvSpPr>
        <p:spPr bwMode="auto">
          <a:xfrm rot="5400000" flipH="1">
            <a:off x="5459903" y="2650643"/>
            <a:ext cx="2950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1402669" y="5841554"/>
            <a:ext cx="7175783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>
                <a:latin typeface="Arial" panose="020B0604020202020204" pitchFamily="34" charset="0"/>
              </a:rPr>
              <a:t>Al vencerla, el núcleo permanece unido (estable)</a:t>
            </a:r>
            <a:endParaRPr lang="es-E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2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35" grpId="0"/>
      <p:bldP spid="36" grpId="0"/>
      <p:bldP spid="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46"/>
          <p:cNvSpPr txBox="1">
            <a:spLocks noChangeArrowheads="1"/>
          </p:cNvSpPr>
          <p:nvPr/>
        </p:nvSpPr>
        <p:spPr bwMode="auto">
          <a:xfrm>
            <a:off x="1368212" y="416839"/>
            <a:ext cx="2819966" cy="514738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A distancias &gt; </a:t>
            </a:r>
            <a:r>
              <a:rPr lang="es-ES" sz="2400" b="1" dirty="0" err="1">
                <a:latin typeface="Arial" panose="020B0604020202020204" pitchFamily="34" charset="0"/>
              </a:rPr>
              <a:t>fm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s-ES" sz="2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 Box 44"/>
          <p:cNvSpPr txBox="1">
            <a:spLocks noChangeArrowheads="1"/>
          </p:cNvSpPr>
          <p:nvPr/>
        </p:nvSpPr>
        <p:spPr bwMode="auto">
          <a:xfrm>
            <a:off x="4314918" y="415983"/>
            <a:ext cx="3743326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más fuerte es la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EM</a:t>
            </a:r>
            <a:endParaRPr lang="es-ES" sz="2400" dirty="0">
              <a:latin typeface="Arial" panose="020B0604020202020204" pitchFamily="34" charset="0"/>
            </a:endParaRP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6492565" y="4628125"/>
            <a:ext cx="2941330" cy="5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Suele dominar la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G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1396922" y="4266660"/>
            <a:ext cx="5511878" cy="884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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latin typeface="Arial" panose="020B0604020202020204" pitchFamily="34" charset="0"/>
              </a:rPr>
              <a:t>No </a:t>
            </a:r>
            <a:r>
              <a:rPr lang="es-ES" sz="2400" dirty="0">
                <a:latin typeface="Arial" panose="020B0604020202020204" pitchFamily="34" charset="0"/>
              </a:rPr>
              <a:t>obstante, a nuestro </a:t>
            </a:r>
            <a:r>
              <a:rPr lang="es-ES" sz="2400">
                <a:latin typeface="Arial" panose="020B0604020202020204" pitchFamily="34" charset="0"/>
              </a:rPr>
              <a:t>nivel,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                        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</a:rPr>
              <a:t>nivel macroscópico</a:t>
            </a:r>
            <a:r>
              <a:rPr lang="es-ES" sz="2400" dirty="0">
                <a:latin typeface="Arial" panose="020B0604020202020204" pitchFamily="34" charset="0"/>
              </a:rPr>
              <a:t>:</a:t>
            </a:r>
            <a:endParaRPr lang="es-ES" sz="2400" b="1" dirty="0">
              <a:latin typeface="Arial" panose="020B0604020202020204" pitchFamily="34" charset="0"/>
            </a:endParaRPr>
          </a:p>
        </p:txBody>
      </p:sp>
      <p:sp>
        <p:nvSpPr>
          <p:cNvPr id="28" name="Rectangle 32"/>
          <p:cNvSpPr>
            <a:spLocks noChangeArrowheads="1"/>
          </p:cNvSpPr>
          <p:nvPr/>
        </p:nvSpPr>
        <p:spPr bwMode="auto">
          <a:xfrm>
            <a:off x="1432277" y="1759901"/>
            <a:ext cx="5712031" cy="2361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33"/>
          <p:cNvSpPr>
            <a:spLocks noChangeArrowheads="1"/>
          </p:cNvSpPr>
          <p:nvPr/>
        </p:nvSpPr>
        <p:spPr bwMode="auto">
          <a:xfrm>
            <a:off x="1426205" y="3015667"/>
            <a:ext cx="5705009" cy="5612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32"/>
          <p:cNvSpPr>
            <a:spLocks noChangeArrowheads="1"/>
          </p:cNvSpPr>
          <p:nvPr/>
        </p:nvSpPr>
        <p:spPr bwMode="auto">
          <a:xfrm>
            <a:off x="1419184" y="1130057"/>
            <a:ext cx="5712031" cy="6107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1491936" y="1810225"/>
            <a:ext cx="2562217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Nuclear Fuerte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Nuclear Débil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ElectroMagnética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Gravitatoria</a:t>
            </a:r>
          </a:p>
        </p:txBody>
      </p:sp>
      <p:sp>
        <p:nvSpPr>
          <p:cNvPr id="32" name="Text Box 15"/>
          <p:cNvSpPr txBox="1">
            <a:spLocks noChangeArrowheads="1"/>
          </p:cNvSpPr>
          <p:nvPr/>
        </p:nvSpPr>
        <p:spPr bwMode="auto">
          <a:xfrm>
            <a:off x="4498951" y="1790466"/>
            <a:ext cx="609760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919110" y="1194898"/>
            <a:ext cx="168858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Interacción</a:t>
            </a:r>
          </a:p>
        </p:txBody>
      </p:sp>
      <p:sp>
        <p:nvSpPr>
          <p:cNvPr id="38" name="Text Box 16"/>
          <p:cNvSpPr txBox="1">
            <a:spLocks noChangeArrowheads="1"/>
          </p:cNvSpPr>
          <p:nvPr/>
        </p:nvSpPr>
        <p:spPr bwMode="auto">
          <a:xfrm>
            <a:off x="5815163" y="1823753"/>
            <a:ext cx="952803" cy="231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9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1/137</a:t>
            </a: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es-ES" sz="2400" baseline="30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38</a:t>
            </a:r>
          </a:p>
        </p:txBody>
      </p:sp>
      <p:sp>
        <p:nvSpPr>
          <p:cNvPr id="39" name="Text Box 34"/>
          <p:cNvSpPr txBox="1">
            <a:spLocks noChangeArrowheads="1"/>
          </p:cNvSpPr>
          <p:nvPr/>
        </p:nvSpPr>
        <p:spPr bwMode="auto">
          <a:xfrm>
            <a:off x="5390833" y="1194898"/>
            <a:ext cx="1827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Intensidad</a:t>
            </a:r>
          </a:p>
        </p:txBody>
      </p:sp>
      <p:sp>
        <p:nvSpPr>
          <p:cNvPr id="40" name="Text Box 48"/>
          <p:cNvSpPr txBox="1">
            <a:spLocks noChangeArrowheads="1"/>
          </p:cNvSpPr>
          <p:nvPr/>
        </p:nvSpPr>
        <p:spPr bwMode="auto">
          <a:xfrm>
            <a:off x="4158036" y="1194898"/>
            <a:ext cx="1278212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</a:rPr>
              <a:t>Alcance</a:t>
            </a:r>
          </a:p>
        </p:txBody>
      </p:sp>
      <p:sp>
        <p:nvSpPr>
          <p:cNvPr id="41" name="Rectangle 49"/>
          <p:cNvSpPr>
            <a:spLocks noChangeArrowheads="1"/>
          </p:cNvSpPr>
          <p:nvPr/>
        </p:nvSpPr>
        <p:spPr bwMode="auto">
          <a:xfrm>
            <a:off x="1396922" y="1154348"/>
            <a:ext cx="5760000" cy="2968822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E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Line 50"/>
          <p:cNvSpPr>
            <a:spLocks noChangeShapeType="1"/>
          </p:cNvSpPr>
          <p:nvPr/>
        </p:nvSpPr>
        <p:spPr bwMode="auto">
          <a:xfrm>
            <a:off x="1426293" y="1732024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3" name="Line 51"/>
          <p:cNvSpPr>
            <a:spLocks noChangeShapeType="1"/>
          </p:cNvSpPr>
          <p:nvPr/>
        </p:nvSpPr>
        <p:spPr bwMode="auto">
          <a:xfrm flipV="1">
            <a:off x="1438993" y="2410871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4" name="Line 52"/>
          <p:cNvSpPr>
            <a:spLocks noChangeShapeType="1"/>
          </p:cNvSpPr>
          <p:nvPr/>
        </p:nvSpPr>
        <p:spPr bwMode="auto">
          <a:xfrm>
            <a:off x="1426293" y="2986978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5" name="Line 53"/>
          <p:cNvSpPr>
            <a:spLocks noChangeShapeType="1"/>
          </p:cNvSpPr>
          <p:nvPr/>
        </p:nvSpPr>
        <p:spPr bwMode="auto">
          <a:xfrm flipV="1">
            <a:off x="1409772" y="3595792"/>
            <a:ext cx="572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6" name="Line 54"/>
          <p:cNvSpPr>
            <a:spLocks noChangeShapeType="1"/>
          </p:cNvSpPr>
          <p:nvPr/>
        </p:nvSpPr>
        <p:spPr bwMode="auto">
          <a:xfrm rot="5400000" flipH="1">
            <a:off x="2611131" y="2632685"/>
            <a:ext cx="29939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7" name="Line 55"/>
          <p:cNvSpPr>
            <a:spLocks noChangeShapeType="1"/>
          </p:cNvSpPr>
          <p:nvPr/>
        </p:nvSpPr>
        <p:spPr bwMode="auto">
          <a:xfrm rot="5400000" flipH="1">
            <a:off x="4007023" y="2636004"/>
            <a:ext cx="29500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>
              <a:cs typeface="Arial" panose="020B0604020202020204" pitchFamily="34" charset="0"/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389785" y="5215980"/>
            <a:ext cx="3907269" cy="162273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Los </a:t>
            </a:r>
            <a:r>
              <a:rPr lang="es-ES" sz="2400" dirty="0">
                <a:latin typeface="Arial" panose="020B0604020202020204" pitchFamily="34" charset="0"/>
              </a:rPr>
              <a:t>cuerpos suelen ser básicamente neutros con posiciones promedio de</a:t>
            </a:r>
          </a:p>
          <a:p>
            <a:pPr algn="ctr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</a:rPr>
              <a:t>su Q</a:t>
            </a:r>
            <a:r>
              <a:rPr lang="es-ES" sz="2400" baseline="30000" dirty="0">
                <a:latin typeface="Arial" panose="020B0604020202020204" pitchFamily="34" charset="0"/>
              </a:rPr>
              <a:t>+</a:t>
            </a:r>
            <a:r>
              <a:rPr lang="es-ES" sz="2400" dirty="0">
                <a:latin typeface="Arial" panose="020B0604020202020204" pitchFamily="34" charset="0"/>
              </a:rPr>
              <a:t> y Q</a:t>
            </a:r>
            <a:r>
              <a:rPr lang="es-ES" sz="2400" baseline="30000" dirty="0">
                <a:latin typeface="Arial" panose="020B0604020202020204" pitchFamily="34" charset="0"/>
              </a:rPr>
              <a:t>-</a:t>
            </a:r>
            <a:r>
              <a:rPr lang="es-ES" sz="2400" dirty="0">
                <a:latin typeface="Arial" panose="020B0604020202020204" pitchFamily="34" charset="0"/>
              </a:rPr>
              <a:t> coincidentes</a:t>
            </a:r>
          </a:p>
        </p:txBody>
      </p:sp>
      <p:sp>
        <p:nvSpPr>
          <p:cNvPr id="51" name="Flecha abajo 50"/>
          <p:cNvSpPr/>
          <p:nvPr/>
        </p:nvSpPr>
        <p:spPr bwMode="auto">
          <a:xfrm rot="16200000">
            <a:off x="5189678" y="5886049"/>
            <a:ext cx="689113" cy="311570"/>
          </a:xfrm>
          <a:prstGeom prst="downArrow">
            <a:avLst/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108000" tIns="72000" rIns="108000" bIns="72000" anchor="ctr" anchorCtr="0">
            <a:no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s-ES" sz="2400">
              <a:latin typeface="Arial" charset="0"/>
            </a:endParaRPr>
          </a:p>
        </p:txBody>
      </p:sp>
      <p:sp>
        <p:nvSpPr>
          <p:cNvPr id="52" name="Text Box 45"/>
          <p:cNvSpPr txBox="1">
            <a:spLocks noChangeArrowheads="1"/>
          </p:cNvSpPr>
          <p:nvPr/>
        </p:nvSpPr>
        <p:spPr bwMode="auto">
          <a:xfrm>
            <a:off x="5739353" y="5403831"/>
            <a:ext cx="2678487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Suelen ser como cargas puntuales </a:t>
            </a:r>
            <a:r>
              <a:rPr lang="es-ES" sz="2400" dirty="0">
                <a:latin typeface="Arial" panose="020B0604020202020204" pitchFamily="34" charset="0"/>
              </a:rPr>
              <a:t>de valor cero</a:t>
            </a:r>
          </a:p>
        </p:txBody>
      </p:sp>
      <p:grpSp>
        <p:nvGrpSpPr>
          <p:cNvPr id="53" name="Grupo 52"/>
          <p:cNvGrpSpPr>
            <a:grpSpLocks/>
          </p:cNvGrpSpPr>
          <p:nvPr/>
        </p:nvGrpSpPr>
        <p:grpSpPr bwMode="auto">
          <a:xfrm>
            <a:off x="8505727" y="5404863"/>
            <a:ext cx="1847311" cy="1253402"/>
            <a:chOff x="7129105" y="5826137"/>
            <a:chExt cx="1848023" cy="1254041"/>
          </a:xfrm>
        </p:grpSpPr>
        <p:sp>
          <p:nvSpPr>
            <p:cNvPr id="54" name="Text Box 56"/>
            <p:cNvSpPr txBox="1">
              <a:spLocks noChangeArrowheads="1"/>
            </p:cNvSpPr>
            <p:nvPr/>
          </p:nvSpPr>
          <p:spPr bwMode="auto">
            <a:xfrm>
              <a:off x="7510200" y="5826137"/>
              <a:ext cx="1466928" cy="1254041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b="1">
                  <a:solidFill>
                    <a:srgbClr val="008000"/>
                  </a:solidFill>
                  <a:latin typeface="Arial" panose="020B0604020202020204" pitchFamily="34" charset="0"/>
                </a:rPr>
                <a:t>EM </a:t>
              </a:r>
              <a:r>
                <a:rPr lang="es-ES" sz="2400">
                  <a:solidFill>
                    <a:srgbClr val="0000FF"/>
                  </a:solidFill>
                  <a:latin typeface="Arial" panose="020B0604020202020204" pitchFamily="34" charset="0"/>
                </a:rPr>
                <a:t>suele ser</a:t>
              </a:r>
              <a:r>
                <a:rPr lang="es-ES" sz="2400">
                  <a:solidFill>
                    <a:srgbClr val="008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“nula”</a:t>
              </a:r>
            </a:p>
          </p:txBody>
        </p:sp>
        <p:sp>
          <p:nvSpPr>
            <p:cNvPr id="55" name="Flecha abajo 54"/>
            <p:cNvSpPr/>
            <p:nvPr/>
          </p:nvSpPr>
          <p:spPr bwMode="auto">
            <a:xfrm rot="16200000">
              <a:off x="6956252" y="6307958"/>
              <a:ext cx="654420" cy="308714"/>
            </a:xfrm>
            <a:prstGeom prst="downArrow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108000" tIns="72000" rIns="108000" bIns="72000" anchor="ctr" anchorCtr="0">
              <a:no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s-ES" sz="2400" dirty="0">
                <a:latin typeface="Arial" charset="0"/>
              </a:endParaRPr>
            </a:p>
          </p:txBody>
        </p:sp>
      </p:grpSp>
      <p:sp>
        <p:nvSpPr>
          <p:cNvPr id="34" name="Text Box 44">
            <a:extLst>
              <a:ext uri="{FF2B5EF4-FFF2-40B4-BE49-F238E27FC236}">
                <a16:creationId xmlns:a16="http://schemas.microsoft.com/office/drawing/2014/main" id="{6E012F90-0102-492E-B569-D5AA811CA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6011" y="1142851"/>
            <a:ext cx="2632458" cy="162273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Entre 2 protones es sobre 10</a:t>
            </a:r>
            <a:r>
              <a:rPr lang="es-ES" sz="2400" baseline="30000" dirty="0">
                <a:latin typeface="Arial" panose="020B0604020202020204" pitchFamily="34" charset="0"/>
              </a:rPr>
              <a:t>36</a:t>
            </a:r>
            <a:r>
              <a:rPr lang="es-ES" sz="2400" dirty="0">
                <a:latin typeface="Arial" panose="020B0604020202020204" pitchFamily="34" charset="0"/>
              </a:rPr>
              <a:t> veces más fuerte que la </a:t>
            </a:r>
            <a:r>
              <a:rPr lang="es-ES" sz="2400" b="1" dirty="0">
                <a:solidFill>
                  <a:srgbClr val="008000"/>
                </a:solidFill>
                <a:latin typeface="Arial" panose="020B0604020202020204" pitchFamily="34" charset="0"/>
              </a:rPr>
              <a:t>G</a:t>
            </a:r>
            <a:endParaRPr lang="es-ES" sz="2400" dirty="0"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2041264-23BF-4C03-BC5F-7AABD6682124}"/>
              </a:ext>
            </a:extLst>
          </p:cNvPr>
          <p:cNvGrpSpPr/>
          <p:nvPr/>
        </p:nvGrpSpPr>
        <p:grpSpPr>
          <a:xfrm>
            <a:off x="7158987" y="2975637"/>
            <a:ext cx="2212451" cy="1067562"/>
            <a:chOff x="8226129" y="2965477"/>
            <a:chExt cx="2212451" cy="1067562"/>
          </a:xfrm>
        </p:grpSpPr>
        <p:sp>
          <p:nvSpPr>
            <p:cNvPr id="35" name="Text Box 44">
              <a:extLst>
                <a:ext uri="{FF2B5EF4-FFF2-40B4-BE49-F238E27FC236}">
                  <a16:creationId xmlns:a16="http://schemas.microsoft.com/office/drawing/2014/main" id="{344F8FF9-3D11-47C7-A10A-A195764D3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5142" y="3231922"/>
              <a:ext cx="1053438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=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</a:rPr>
                <a:t>36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Text Box 44">
              <a:extLst>
                <a:ext uri="{FF2B5EF4-FFF2-40B4-BE49-F238E27FC236}">
                  <a16:creationId xmlns:a16="http://schemas.microsoft.com/office/drawing/2014/main" id="{43FD7D47-13FB-4AE8-A5EA-B57C2B4CC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6129" y="2965477"/>
              <a:ext cx="1306066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</a:t>
              </a:r>
              <a:r>
                <a:rPr lang="es-ES" sz="2400">
                  <a:solidFill>
                    <a:srgbClr val="FF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baseline="30000">
                  <a:solidFill>
                    <a:srgbClr val="FF0000"/>
                  </a:solidFill>
                  <a:latin typeface="Arial" panose="020B0604020202020204" pitchFamily="34" charset="0"/>
                </a:rPr>
                <a:t>-2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Text Box 44">
              <a:extLst>
                <a:ext uri="{FF2B5EF4-FFF2-40B4-BE49-F238E27FC236}">
                  <a16:creationId xmlns:a16="http://schemas.microsoft.com/office/drawing/2014/main" id="{7ABB5183-A73B-4C4D-82D0-B08AB65FF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5409" y="3518301"/>
              <a:ext cx="1254755" cy="514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FontTx/>
                <a:buNone/>
              </a:pP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 </a:t>
              </a:r>
              <a:r>
                <a:rPr lang="es-ES" sz="2400" dirty="0">
                  <a:solidFill>
                    <a:srgbClr val="FF0000"/>
                  </a:solidFill>
                  <a:latin typeface="Arial" panose="020B0604020202020204" pitchFamily="34" charset="0"/>
                </a:rPr>
                <a:t>10</a:t>
              </a:r>
              <a:r>
                <a:rPr lang="es-ES" sz="2400" baseline="30000" dirty="0">
                  <a:solidFill>
                    <a:srgbClr val="FF0000"/>
                  </a:solidFill>
                  <a:latin typeface="Arial" panose="020B0604020202020204" pitchFamily="34" charset="0"/>
                </a:rPr>
                <a:t>-38</a:t>
              </a:r>
              <a:endParaRPr lang="es-ES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B6412772-3FA1-4092-A272-E156B9E61D40}"/>
                </a:ext>
              </a:extLst>
            </p:cNvPr>
            <p:cNvCxnSpPr/>
            <p:nvPr/>
          </p:nvCxnSpPr>
          <p:spPr bwMode="auto">
            <a:xfrm>
              <a:off x="8856509" y="3497753"/>
              <a:ext cx="429007" cy="0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2029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3" grpId="0"/>
      <p:bldP spid="24" grpId="0"/>
      <p:bldP spid="26" grpId="0"/>
      <p:bldP spid="48" grpId="0" animBg="1"/>
      <p:bldP spid="51" grpId="0" animBg="1"/>
      <p:bldP spid="52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273969" y="485609"/>
            <a:ext cx="6783387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solidFill>
                  <a:srgbClr val="CC0000"/>
                </a:solidFill>
                <a:latin typeface="Arial" panose="020B0604020202020204" pitchFamily="34" charset="0"/>
              </a:rPr>
              <a:t>1.2.2. PRINCIPIO DE SUPERPOSICIÓN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2604061" y="1908703"/>
            <a:ext cx="3714750" cy="1952625"/>
            <a:chOff x="1824" y="1104"/>
            <a:chExt cx="2340" cy="1230"/>
          </a:xfrm>
        </p:grpSpPr>
        <p:sp>
          <p:nvSpPr>
            <p:cNvPr id="23590" name="Line 10"/>
            <p:cNvSpPr>
              <a:spLocks noChangeShapeType="1"/>
            </p:cNvSpPr>
            <p:nvPr/>
          </p:nvSpPr>
          <p:spPr bwMode="auto">
            <a:xfrm flipV="1">
              <a:off x="1824" y="1255"/>
              <a:ext cx="2340" cy="107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23591" name="Line 12"/>
            <p:cNvSpPr>
              <a:spLocks noChangeShapeType="1"/>
            </p:cNvSpPr>
            <p:nvPr/>
          </p:nvSpPr>
          <p:spPr bwMode="auto">
            <a:xfrm rot="-1560000">
              <a:off x="3052" y="1552"/>
              <a:ext cx="893" cy="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23592" name="Object 26"/>
            <p:cNvGraphicFramePr>
              <a:graphicFrameLocks noChangeAspect="1"/>
            </p:cNvGraphicFramePr>
            <p:nvPr/>
          </p:nvGraphicFramePr>
          <p:xfrm>
            <a:off x="3311" y="1104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7569" imgH="215619" progId="Equation.3">
                    <p:embed/>
                  </p:oleObj>
                </mc:Choice>
                <mc:Fallback>
                  <p:oleObj name="Ecuación" r:id="rId3" imgW="177569" imgH="215619" progId="Equation.3">
                    <p:embed/>
                    <p:pic>
                      <p:nvPicPr>
                        <p:cNvPr id="2359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104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2269098" y="3313641"/>
            <a:ext cx="885825" cy="615950"/>
            <a:chOff x="1613" y="1989"/>
            <a:chExt cx="558" cy="388"/>
          </a:xfrm>
        </p:grpSpPr>
        <p:pic>
          <p:nvPicPr>
            <p:cNvPr id="23586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" y="210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7" name="Text Box 22"/>
            <p:cNvSpPr txBox="1">
              <a:spLocks noChangeArrowheads="1"/>
            </p:cNvSpPr>
            <p:nvPr/>
          </p:nvSpPr>
          <p:spPr bwMode="auto">
            <a:xfrm>
              <a:off x="1613" y="1989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9753" name="Line 9"/>
          <p:cNvSpPr>
            <a:spLocks noChangeShapeType="1"/>
          </p:cNvSpPr>
          <p:nvPr/>
        </p:nvSpPr>
        <p:spPr bwMode="auto">
          <a:xfrm>
            <a:off x="1700773" y="2169053"/>
            <a:ext cx="4791075" cy="1527175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4586848" y="3289828"/>
            <a:ext cx="1417638" cy="606425"/>
            <a:chOff x="3297" y="1878"/>
            <a:chExt cx="893" cy="382"/>
          </a:xfrm>
        </p:grpSpPr>
        <p:sp>
          <p:nvSpPr>
            <p:cNvPr id="23584" name="Line 11"/>
            <p:cNvSpPr>
              <a:spLocks noChangeShapeType="1"/>
            </p:cNvSpPr>
            <p:nvPr/>
          </p:nvSpPr>
          <p:spPr bwMode="auto">
            <a:xfrm rot="1140000" flipV="1">
              <a:off x="3297" y="1878"/>
              <a:ext cx="893" cy="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23585" name="Object 25"/>
            <p:cNvGraphicFramePr>
              <a:graphicFrameLocks noChangeAspect="1"/>
            </p:cNvGraphicFramePr>
            <p:nvPr/>
          </p:nvGraphicFramePr>
          <p:xfrm>
            <a:off x="3367" y="1900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77569" imgH="215619" progId="Equation.3">
                    <p:embed/>
                  </p:oleObj>
                </mc:Choice>
                <mc:Fallback>
                  <p:oleObj name="Ecuación" r:id="rId6" imgW="177569" imgH="215619" progId="Equation.3">
                    <p:embed/>
                    <p:pic>
                      <p:nvPicPr>
                        <p:cNvPr id="23585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1900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DFF8561C-289A-4EAC-911B-57D3FD45F400}"/>
              </a:ext>
            </a:extLst>
          </p:cNvPr>
          <p:cNvGrpSpPr/>
          <p:nvPr/>
        </p:nvGrpSpPr>
        <p:grpSpPr>
          <a:xfrm>
            <a:off x="7547568" y="2535766"/>
            <a:ext cx="1844675" cy="584200"/>
            <a:chOff x="7340632" y="2088726"/>
            <a:chExt cx="1844675" cy="584200"/>
          </a:xfrm>
        </p:grpSpPr>
        <p:graphicFrame>
          <p:nvGraphicFramePr>
            <p:cNvPr id="2358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969030"/>
                </p:ext>
              </p:extLst>
            </p:nvPr>
          </p:nvGraphicFramePr>
          <p:xfrm>
            <a:off x="7340632" y="2088726"/>
            <a:ext cx="403225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52268" imgH="215713" progId="Equation.3">
                    <p:embed/>
                  </p:oleObj>
                </mc:Choice>
                <mc:Fallback>
                  <p:oleObj name="Ecuación" r:id="rId8" imgW="152268" imgH="215713" progId="Equation.3">
                    <p:embed/>
                    <p:pic>
                      <p:nvPicPr>
                        <p:cNvPr id="2358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0632" y="2088726"/>
                          <a:ext cx="403225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3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208931"/>
                </p:ext>
              </p:extLst>
            </p:nvPr>
          </p:nvGraphicFramePr>
          <p:xfrm>
            <a:off x="7807357" y="2101426"/>
            <a:ext cx="137795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520474" imgH="215806" progId="Equation.3">
                    <p:embed/>
                  </p:oleObj>
                </mc:Choice>
                <mc:Fallback>
                  <p:oleObj name="Ecuación" r:id="rId10" imgW="520474" imgH="215806" progId="Equation.3">
                    <p:embed/>
                    <p:pic>
                      <p:nvPicPr>
                        <p:cNvPr id="23583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07357" y="2101426"/>
                          <a:ext cx="1377950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0"/>
          <p:cNvGrpSpPr>
            <a:grpSpLocks/>
          </p:cNvGrpSpPr>
          <p:nvPr/>
        </p:nvGrpSpPr>
        <p:grpSpPr bwMode="auto">
          <a:xfrm>
            <a:off x="957823" y="2145241"/>
            <a:ext cx="3652838" cy="1751012"/>
            <a:chOff x="1011" y="1157"/>
            <a:chExt cx="2301" cy="1103"/>
          </a:xfrm>
        </p:grpSpPr>
        <p:grpSp>
          <p:nvGrpSpPr>
            <p:cNvPr id="23575" name="Group 59"/>
            <p:cNvGrpSpPr>
              <a:grpSpLocks/>
            </p:cNvGrpSpPr>
            <p:nvPr/>
          </p:nvGrpSpPr>
          <p:grpSpPr bwMode="auto">
            <a:xfrm>
              <a:off x="1380" y="1157"/>
              <a:ext cx="1932" cy="683"/>
              <a:chOff x="1380" y="1157"/>
              <a:chExt cx="1932" cy="683"/>
            </a:xfrm>
          </p:grpSpPr>
          <p:pic>
            <p:nvPicPr>
              <p:cNvPr id="23577" name="Picture 3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8" y="1157"/>
                <a:ext cx="277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578" name="Picture 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2" y="1563"/>
                <a:ext cx="277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79" name="Text Box 20"/>
              <p:cNvSpPr txBox="1">
                <a:spLocks noChangeArrowheads="1"/>
              </p:cNvSpPr>
              <p:nvPr/>
            </p:nvSpPr>
            <p:spPr bwMode="auto">
              <a:xfrm>
                <a:off x="3016" y="1212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3580" name="Text Box 21"/>
              <p:cNvSpPr txBox="1">
                <a:spLocks noChangeArrowheads="1"/>
              </p:cNvSpPr>
              <p:nvPr/>
            </p:nvSpPr>
            <p:spPr bwMode="auto">
              <a:xfrm>
                <a:off x="1380" y="1356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576" name="Text Box 38"/>
            <p:cNvSpPr txBox="1">
              <a:spLocks noChangeArrowheads="1"/>
            </p:cNvSpPr>
            <p:nvPr/>
          </p:nvSpPr>
          <p:spPr bwMode="auto">
            <a:xfrm>
              <a:off x="1011" y="2019"/>
              <a:ext cx="66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118800" rIns="90000" bIns="82800" anchor="b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62"/>
          <p:cNvGrpSpPr>
            <a:grpSpLocks/>
          </p:cNvGrpSpPr>
          <p:nvPr/>
        </p:nvGrpSpPr>
        <p:grpSpPr bwMode="auto">
          <a:xfrm>
            <a:off x="5904473" y="3192996"/>
            <a:ext cx="1417638" cy="571500"/>
            <a:chOff x="4127" y="1817"/>
            <a:chExt cx="893" cy="360"/>
          </a:xfrm>
        </p:grpSpPr>
        <p:sp>
          <p:nvSpPr>
            <p:cNvPr id="23573" name="Line 13"/>
            <p:cNvSpPr>
              <a:spLocks noChangeShapeType="1"/>
            </p:cNvSpPr>
            <p:nvPr/>
          </p:nvSpPr>
          <p:spPr bwMode="auto">
            <a:xfrm rot="-1560000">
              <a:off x="4127" y="1819"/>
              <a:ext cx="893" cy="24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2357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7254725"/>
                </p:ext>
              </p:extLst>
            </p:nvPr>
          </p:nvGraphicFramePr>
          <p:xfrm>
            <a:off x="4677" y="1817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177569" imgH="215619" progId="Equation.3">
                    <p:embed/>
                  </p:oleObj>
                </mc:Choice>
                <mc:Fallback>
                  <p:oleObj name="Ecuación" r:id="rId12" imgW="177569" imgH="215619" progId="Equation.3">
                    <p:embed/>
                    <p:pic>
                      <p:nvPicPr>
                        <p:cNvPr id="23574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7" y="1817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3"/>
          <p:cNvGrpSpPr>
            <a:grpSpLocks/>
          </p:cNvGrpSpPr>
          <p:nvPr/>
        </p:nvGrpSpPr>
        <p:grpSpPr bwMode="auto">
          <a:xfrm>
            <a:off x="5891773" y="1907116"/>
            <a:ext cx="1417638" cy="688975"/>
            <a:chOff x="4119" y="1007"/>
            <a:chExt cx="893" cy="434"/>
          </a:xfrm>
        </p:grpSpPr>
        <p:sp>
          <p:nvSpPr>
            <p:cNvPr id="23571" name="Line 14"/>
            <p:cNvSpPr>
              <a:spLocks noChangeShapeType="1"/>
            </p:cNvSpPr>
            <p:nvPr/>
          </p:nvSpPr>
          <p:spPr bwMode="auto">
            <a:xfrm rot="1140000" flipV="1">
              <a:off x="4119" y="1417"/>
              <a:ext cx="893" cy="24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23572" name="Object 53"/>
            <p:cNvGraphicFramePr>
              <a:graphicFrameLocks noChangeAspect="1"/>
            </p:cNvGraphicFramePr>
            <p:nvPr/>
          </p:nvGraphicFramePr>
          <p:xfrm>
            <a:off x="4615" y="1007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3" imgW="177569" imgH="215619" progId="Equation.3">
                    <p:embed/>
                  </p:oleObj>
                </mc:Choice>
                <mc:Fallback>
                  <p:oleObj name="Ecuación" r:id="rId13" imgW="177569" imgH="215619" progId="Equation.3">
                    <p:embed/>
                    <p:pic>
                      <p:nvPicPr>
                        <p:cNvPr id="23572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5" y="1007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1572003" y="4110109"/>
            <a:ext cx="1679198" cy="12600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¿Cómo se obtienen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10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y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20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?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9" name="Text Box 55"/>
          <p:cNvSpPr txBox="1">
            <a:spLocks noChangeArrowheads="1"/>
          </p:cNvSpPr>
          <p:nvPr/>
        </p:nvSpPr>
        <p:spPr bwMode="auto">
          <a:xfrm>
            <a:off x="3362960" y="4123799"/>
            <a:ext cx="6506669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u="sng">
                <a:solidFill>
                  <a:srgbClr val="000000"/>
                </a:solidFill>
                <a:latin typeface="Arial" panose="020B0604020202020204" pitchFamily="34" charset="0"/>
              </a:rPr>
              <a:t>expresión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de la fuerza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que ejerce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sobre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no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depende de la presencia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, y viceversa (el </a:t>
            </a:r>
            <a:r>
              <a:rPr lang="es-ES" sz="2400" u="sng">
                <a:solidFill>
                  <a:srgbClr val="000000"/>
                </a:solidFill>
                <a:latin typeface="Arial" panose="020B0604020202020204" pitchFamily="34" charset="0"/>
              </a:rPr>
              <a:t>valor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sí puede depender)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581" name="Line 16"/>
          <p:cNvSpPr>
            <a:spLocks noChangeShapeType="1"/>
          </p:cNvSpPr>
          <p:nvPr/>
        </p:nvSpPr>
        <p:spPr bwMode="auto">
          <a:xfrm rot="1140000" flipV="1">
            <a:off x="4734486" y="2419878"/>
            <a:ext cx="2435225" cy="1025525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/>
          </a:p>
        </p:txBody>
      </p:sp>
      <p:sp>
        <p:nvSpPr>
          <p:cNvPr id="34" name="Text Box 19">
            <a:extLst>
              <a:ext uri="{FF2B5EF4-FFF2-40B4-BE49-F238E27FC236}">
                <a16:creationId xmlns:a16="http://schemas.microsoft.com/office/drawing/2014/main" id="{2E4C6ECD-7F76-4787-A934-998D2EE3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888" y="310983"/>
            <a:ext cx="3051875" cy="1992066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Se usa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obtener las fuerzas entre más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 cuerpos y es válido para todo tipo de fuerzas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6" name="Text Box 19">
            <a:extLst>
              <a:ext uri="{FF2B5EF4-FFF2-40B4-BE49-F238E27FC236}">
                <a16:creationId xmlns:a16="http://schemas.microsoft.com/office/drawing/2014/main" id="{9FC460A7-FE9E-4593-85F7-F85887CD1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587" y="947151"/>
            <a:ext cx="4667944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Lo vamos a introducir evaluando la fuerza de 2 cargas sobre otra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55">
            <a:extLst>
              <a:ext uri="{FF2B5EF4-FFF2-40B4-BE49-F238E27FC236}">
                <a16:creationId xmlns:a16="http://schemas.microsoft.com/office/drawing/2014/main" id="{6E273A2D-64C4-E9F6-5F63-46B409E9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4792" y="5528963"/>
            <a:ext cx="7554655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la presencia de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no altera la expresión de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ni la de Q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la expresión de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ambas vienen dadas "</a:t>
            </a: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</a:rPr>
              <a:t>siempre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" por la 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Ley de Coulomb</a:t>
            </a:r>
          </a:p>
        </p:txBody>
      </p:sp>
    </p:spTree>
    <p:extLst>
      <p:ext uri="{BB962C8B-B14F-4D97-AF65-F5344CB8AC3E}">
        <p14:creationId xmlns:p14="http://schemas.microsoft.com/office/powerpoint/2010/main" val="68202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3" grpId="0" animBg="1"/>
      <p:bldP spid="37" grpId="0" animBg="1"/>
      <p:bldP spid="39" grpId="0" animBg="1"/>
      <p:bldP spid="23581" grpId="0" animBg="1"/>
      <p:bldP spid="34" grpId="0" animBg="1"/>
      <p:bldP spid="36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55">
            <a:extLst>
              <a:ext uri="{FF2B5EF4-FFF2-40B4-BE49-F238E27FC236}">
                <a16:creationId xmlns:a16="http://schemas.microsoft.com/office/drawing/2014/main" id="{E1D348D1-CFF1-4E06-87C5-854A8BCB9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415" y="5045521"/>
            <a:ext cx="7918064" cy="125340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Si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no fuera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así, la Ley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de Newton (o la de Coulomb) sería inútil: Habría una expresión para </a:t>
            </a: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</a:rPr>
              <a:t>f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para cada conjunto diferente de masas (o de cargas)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Box 19">
            <a:extLst>
              <a:ext uri="{FF2B5EF4-FFF2-40B4-BE49-F238E27FC236}">
                <a16:creationId xmlns:a16="http://schemas.microsoft.com/office/drawing/2014/main" id="{068E4D4E-7BA6-02A4-94FD-12556EAFD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9768" y="1896835"/>
            <a:ext cx="8282839" cy="1622734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la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Naturaleza se observa que las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interacciones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son "</a:t>
            </a:r>
            <a:r>
              <a:rPr lang="es-ES" sz="2400" u="sng">
                <a:latin typeface="Arial" panose="020B0604020202020204" pitchFamily="34" charset="0"/>
                <a:sym typeface="Symbol" panose="05050102010706020507" pitchFamily="18" charset="2"/>
              </a:rPr>
              <a:t>siempre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" entre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2 cuerpos, y por ello, la </a:t>
            </a: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expresión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de la fuerza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entre ellos, del tipo que sea,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no depende de la presencia de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otros cuerpos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Text Box 19">
            <a:extLst>
              <a:ext uri="{FF2B5EF4-FFF2-40B4-BE49-F238E27FC236}">
                <a16:creationId xmlns:a16="http://schemas.microsoft.com/office/drawing/2014/main" id="{6FD9B01C-FCAC-0D64-7E03-A2F338C16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4027" y="3864379"/>
            <a:ext cx="8282839" cy="884070"/>
          </a:xfrm>
          <a:prstGeom prst="rect">
            <a:avLst/>
          </a:prstGeom>
          <a:noFill/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P.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ej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.: Para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fuerza entre Tierra y Sol en el Sistema Solar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se usa "</a:t>
            </a:r>
            <a:r>
              <a:rPr lang="es-ES" sz="2400" u="sng">
                <a:solidFill>
                  <a:srgbClr val="FF0000"/>
                </a:solidFill>
                <a:latin typeface="Arial" panose="020B0604020202020204" pitchFamily="34" charset="0"/>
              </a:rPr>
              <a:t>siempre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"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la </a:t>
            </a:r>
            <a:r>
              <a:rPr lang="es-E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Ley </a:t>
            </a:r>
            <a:r>
              <a:rPr lang="es-ES" sz="2400" b="1">
                <a:solidFill>
                  <a:srgbClr val="FF0000"/>
                </a:solidFill>
                <a:latin typeface="Arial" panose="020B0604020202020204" pitchFamily="34" charset="0"/>
              </a:rPr>
              <a:t>de Newton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62D5183D-0097-52DA-D303-6A802840E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808" y="786033"/>
            <a:ext cx="8262058" cy="88407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"</a:t>
            </a:r>
            <a:r>
              <a:rPr lang="es-ES" sz="2400" u="sng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no dependencia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" proviene de la siguiente observación,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es lo esencial del Principio de Superposición: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9941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" grpId="0" animBg="1"/>
      <p:bldP spid="6" grpId="0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9" name="Text Box 17"/>
          <p:cNvSpPr txBox="1">
            <a:spLocks noChangeArrowheads="1"/>
          </p:cNvSpPr>
          <p:nvPr/>
        </p:nvSpPr>
        <p:spPr bwMode="auto">
          <a:xfrm>
            <a:off x="1804008" y="3601891"/>
            <a:ext cx="7922188" cy="1695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i="1" dirty="0">
                <a:solidFill>
                  <a:srgbClr val="0000FF"/>
                </a:solidFill>
                <a:latin typeface="Arial" panose="020B0604020202020204" pitchFamily="34" charset="0"/>
              </a:rPr>
              <a:t>fuerza eléctrica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ejercida sobre una </a:t>
            </a:r>
            <a:r>
              <a:rPr lang="es-ES" sz="2400" i="1">
                <a:solidFill>
                  <a:srgbClr val="000000"/>
                </a:solidFill>
                <a:latin typeface="Arial" panose="020B0604020202020204" pitchFamily="34" charset="0"/>
              </a:rPr>
              <a:t>carga puntual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por un conjunto de </a:t>
            </a:r>
            <a:r>
              <a:rPr lang="es-ES" sz="2400" i="1">
                <a:solidFill>
                  <a:srgbClr val="000000"/>
                </a:solidFill>
                <a:latin typeface="Arial" panose="020B0604020202020204" pitchFamily="34" charset="0"/>
              </a:rPr>
              <a:t>cargas puntuales,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viene dada por la </a:t>
            </a:r>
            <a:r>
              <a:rPr lang="es-ES" sz="2400" i="1" dirty="0">
                <a:latin typeface="Arial" panose="020B0604020202020204" pitchFamily="34" charset="0"/>
              </a:rPr>
              <a:t>suma vectorial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de las fuerzas ejercidas sobre la carga por cada carga del conjunto </a:t>
            </a:r>
            <a:r>
              <a:rPr lang="es-E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por separado</a:t>
            </a:r>
            <a:endParaRPr lang="es-ES" sz="24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1803777" y="5231051"/>
            <a:ext cx="7922188" cy="1606428"/>
            <a:chOff x="1833564" y="5767253"/>
            <a:chExt cx="7922188" cy="1606428"/>
          </a:xfrm>
        </p:grpSpPr>
        <p:sp>
          <p:nvSpPr>
            <p:cNvPr id="4138" name="Text Box 19"/>
            <p:cNvSpPr txBox="1">
              <a:spLocks noChangeArrowheads="1"/>
            </p:cNvSpPr>
            <p:nvPr/>
          </p:nvSpPr>
          <p:spPr bwMode="auto">
            <a:xfrm>
              <a:off x="1833564" y="6120279"/>
              <a:ext cx="7922188" cy="125340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square" lIns="108000" tIns="72000" rIns="108000" bIns="72000" anchor="ctr" anchorCtr="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ts val="0"/>
                </a:spcBef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Esto quiere decir que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f</a:t>
              </a:r>
              <a:r>
                <a:rPr lang="es-ES" sz="2400" b="1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10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y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f</a:t>
              </a:r>
              <a:r>
                <a:rPr lang="es-ES" sz="2400" b="1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20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se obtienen "</a:t>
              </a:r>
              <a:r>
                <a:rPr lang="es-ES" sz="2400" u="sng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siempre</a:t>
              </a: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" con</a:t>
              </a:r>
            </a:p>
            <a:p>
              <a:pPr algn="ctr" eaLnBrk="1" hangingPunct="1">
                <a:spcBef>
                  <a:spcPts val="0"/>
                </a:spcBef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la </a:t>
              </a:r>
              <a:r>
                <a:rPr lang="es-ES" sz="2400" b="1" dirty="0">
                  <a:latin typeface="Arial" panose="020B0604020202020204" pitchFamily="34" charset="0"/>
                  <a:sym typeface="Symbol" panose="05050102010706020507" pitchFamily="18" charset="2"/>
                </a:rPr>
                <a:t>Ley de Coulomb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(que es la que se usaría si sólo estuviesen Q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y Q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, o Q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 y Q</a:t>
              </a:r>
              <a:r>
                <a:rPr lang="es-ES" sz="2400" baseline="-25000" dirty="0"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s-ES" sz="2400" dirty="0">
                  <a:latin typeface="Arial" panose="020B0604020202020204" pitchFamily="34" charset="0"/>
                  <a:sym typeface="Symbol" panose="05050102010706020507" pitchFamily="18" charset="2"/>
                </a:rPr>
                <a:t>, respectivamente)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cxnSp>
          <p:nvCxnSpPr>
            <p:cNvPr id="23570" name="Conector recto 10"/>
            <p:cNvCxnSpPr>
              <a:cxnSpLocks noChangeShapeType="1"/>
            </p:cNvCxnSpPr>
            <p:nvPr/>
          </p:nvCxnSpPr>
          <p:spPr bwMode="auto">
            <a:xfrm>
              <a:off x="6804493" y="5767253"/>
              <a:ext cx="1704419" cy="0"/>
            </a:xfrm>
            <a:prstGeom prst="line">
              <a:avLst/>
            </a:prstGeom>
            <a:noFill/>
            <a:ln w="381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Conector recto de flecha 7"/>
            <p:cNvCxnSpPr>
              <a:cxnSpLocks/>
            </p:cNvCxnSpPr>
            <p:nvPr/>
          </p:nvCxnSpPr>
          <p:spPr bwMode="auto">
            <a:xfrm flipH="1">
              <a:off x="7407585" y="5787573"/>
              <a:ext cx="249117" cy="265509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38" name="Group 31">
            <a:extLst>
              <a:ext uri="{FF2B5EF4-FFF2-40B4-BE49-F238E27FC236}">
                <a16:creationId xmlns:a16="http://schemas.microsoft.com/office/drawing/2014/main" id="{EB4161B0-704D-47AC-BF21-EF1617910572}"/>
              </a:ext>
            </a:extLst>
          </p:cNvPr>
          <p:cNvGrpSpPr>
            <a:grpSpLocks/>
          </p:cNvGrpSpPr>
          <p:nvPr/>
        </p:nvGrpSpPr>
        <p:grpSpPr bwMode="auto">
          <a:xfrm>
            <a:off x="2573581" y="572891"/>
            <a:ext cx="3714750" cy="1952625"/>
            <a:chOff x="1824" y="1104"/>
            <a:chExt cx="2340" cy="1230"/>
          </a:xfrm>
        </p:grpSpPr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0D1B5DBB-9B2C-4366-9B21-EEA125498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255"/>
              <a:ext cx="2340" cy="107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07D061A7-98DA-4A57-A448-B476CFE619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560000">
              <a:off x="3052" y="1552"/>
              <a:ext cx="893" cy="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41" name="Object 26">
              <a:extLst>
                <a:ext uri="{FF2B5EF4-FFF2-40B4-BE49-F238E27FC236}">
                  <a16:creationId xmlns:a16="http://schemas.microsoft.com/office/drawing/2014/main" id="{1BB287F1-763A-4580-8C53-6D97FDDF9B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1" y="1104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3" imgW="177569" imgH="215619" progId="Equation.3">
                    <p:embed/>
                  </p:oleObj>
                </mc:Choice>
                <mc:Fallback>
                  <p:oleObj name="Ecuación" r:id="rId3" imgW="177569" imgH="215619" progId="Equation.3">
                    <p:embed/>
                    <p:pic>
                      <p:nvPicPr>
                        <p:cNvPr id="23592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104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Group 30">
            <a:extLst>
              <a:ext uri="{FF2B5EF4-FFF2-40B4-BE49-F238E27FC236}">
                <a16:creationId xmlns:a16="http://schemas.microsoft.com/office/drawing/2014/main" id="{0D44C8C7-4266-41B3-8BA1-05D08BC71488}"/>
              </a:ext>
            </a:extLst>
          </p:cNvPr>
          <p:cNvGrpSpPr>
            <a:grpSpLocks/>
          </p:cNvGrpSpPr>
          <p:nvPr/>
        </p:nvGrpSpPr>
        <p:grpSpPr bwMode="auto">
          <a:xfrm>
            <a:off x="2238618" y="1977829"/>
            <a:ext cx="885825" cy="615950"/>
            <a:chOff x="1613" y="1989"/>
            <a:chExt cx="558" cy="388"/>
          </a:xfrm>
        </p:grpSpPr>
        <p:pic>
          <p:nvPicPr>
            <p:cNvPr id="43" name="Picture 8">
              <a:extLst>
                <a:ext uri="{FF2B5EF4-FFF2-40B4-BE49-F238E27FC236}">
                  <a16:creationId xmlns:a16="http://schemas.microsoft.com/office/drawing/2014/main" id="{DAEFAB98-F71B-436D-8E95-5E73D479B5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" y="2100"/>
              <a:ext cx="277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Text Box 22">
              <a:extLst>
                <a:ext uri="{FF2B5EF4-FFF2-40B4-BE49-F238E27FC236}">
                  <a16:creationId xmlns:a16="http://schemas.microsoft.com/office/drawing/2014/main" id="{4831F72E-46DF-4522-AE97-D4EE0CD034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" y="1989"/>
              <a:ext cx="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5" name="Line 9">
            <a:extLst>
              <a:ext uri="{FF2B5EF4-FFF2-40B4-BE49-F238E27FC236}">
                <a16:creationId xmlns:a16="http://schemas.microsoft.com/office/drawing/2014/main" id="{B341AE1F-B0E5-4981-955D-A137CD6CC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0293" y="833241"/>
            <a:ext cx="4791075" cy="1527175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/>
          <a:lstStyle/>
          <a:p>
            <a:endParaRPr lang="es-ES" sz="2400"/>
          </a:p>
        </p:txBody>
      </p:sp>
      <p:grpSp>
        <p:nvGrpSpPr>
          <p:cNvPr id="46" name="Group 61">
            <a:extLst>
              <a:ext uri="{FF2B5EF4-FFF2-40B4-BE49-F238E27FC236}">
                <a16:creationId xmlns:a16="http://schemas.microsoft.com/office/drawing/2014/main" id="{F7289F82-1691-4785-AEB1-C7F49CC706CC}"/>
              </a:ext>
            </a:extLst>
          </p:cNvPr>
          <p:cNvGrpSpPr>
            <a:grpSpLocks/>
          </p:cNvGrpSpPr>
          <p:nvPr/>
        </p:nvGrpSpPr>
        <p:grpSpPr bwMode="auto">
          <a:xfrm>
            <a:off x="4556368" y="1954016"/>
            <a:ext cx="1417638" cy="606425"/>
            <a:chOff x="3297" y="1878"/>
            <a:chExt cx="893" cy="382"/>
          </a:xfrm>
        </p:grpSpPr>
        <p:sp>
          <p:nvSpPr>
            <p:cNvPr id="47" name="Line 11">
              <a:extLst>
                <a:ext uri="{FF2B5EF4-FFF2-40B4-BE49-F238E27FC236}">
                  <a16:creationId xmlns:a16="http://schemas.microsoft.com/office/drawing/2014/main" id="{E7C2AE69-16BC-4B85-BD74-774D93950A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140000" flipV="1">
              <a:off x="3297" y="1878"/>
              <a:ext cx="893" cy="24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48" name="Object 25">
              <a:extLst>
                <a:ext uri="{FF2B5EF4-FFF2-40B4-BE49-F238E27FC236}">
                  <a16:creationId xmlns:a16="http://schemas.microsoft.com/office/drawing/2014/main" id="{8BF3EAC7-FABB-471E-8D40-DCF9A1C0C7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7" y="1900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6" imgW="177569" imgH="215619" progId="Equation.3">
                    <p:embed/>
                  </p:oleObj>
                </mc:Choice>
                <mc:Fallback>
                  <p:oleObj name="Ecuación" r:id="rId6" imgW="177569" imgH="215619" progId="Equation.3">
                    <p:embed/>
                    <p:pic>
                      <p:nvPicPr>
                        <p:cNvPr id="23585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7" y="1900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" name="Group 60">
            <a:extLst>
              <a:ext uri="{FF2B5EF4-FFF2-40B4-BE49-F238E27FC236}">
                <a16:creationId xmlns:a16="http://schemas.microsoft.com/office/drawing/2014/main" id="{D625AC28-AD92-4701-9914-B94E47180D4E}"/>
              </a:ext>
            </a:extLst>
          </p:cNvPr>
          <p:cNvGrpSpPr>
            <a:grpSpLocks/>
          </p:cNvGrpSpPr>
          <p:nvPr/>
        </p:nvGrpSpPr>
        <p:grpSpPr bwMode="auto">
          <a:xfrm>
            <a:off x="927343" y="809429"/>
            <a:ext cx="3652838" cy="1751012"/>
            <a:chOff x="1011" y="1157"/>
            <a:chExt cx="2301" cy="1103"/>
          </a:xfrm>
        </p:grpSpPr>
        <p:grpSp>
          <p:nvGrpSpPr>
            <p:cNvPr id="54" name="Group 59">
              <a:extLst>
                <a:ext uri="{FF2B5EF4-FFF2-40B4-BE49-F238E27FC236}">
                  <a16:creationId xmlns:a16="http://schemas.microsoft.com/office/drawing/2014/main" id="{2BF7B3B9-56D7-45BA-B582-E92457F31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0" y="1157"/>
              <a:ext cx="1932" cy="683"/>
              <a:chOff x="1380" y="1157"/>
              <a:chExt cx="1932" cy="683"/>
            </a:xfrm>
          </p:grpSpPr>
          <p:pic>
            <p:nvPicPr>
              <p:cNvPr id="56" name="Picture 3">
                <a:extLst>
                  <a:ext uri="{FF2B5EF4-FFF2-40B4-BE49-F238E27FC236}">
                    <a16:creationId xmlns:a16="http://schemas.microsoft.com/office/drawing/2014/main" id="{45731A38-18BF-4B5C-9C61-7EB1CEFB5D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8" y="1157"/>
                <a:ext cx="277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7" name="Picture 7">
                <a:extLst>
                  <a:ext uri="{FF2B5EF4-FFF2-40B4-BE49-F238E27FC236}">
                    <a16:creationId xmlns:a16="http://schemas.microsoft.com/office/drawing/2014/main" id="{32405D6B-F5F8-43A8-8C04-0FAF6DABC7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2" y="1563"/>
                <a:ext cx="277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Text Box 20">
                <a:extLst>
                  <a:ext uri="{FF2B5EF4-FFF2-40B4-BE49-F238E27FC236}">
                    <a16:creationId xmlns:a16="http://schemas.microsoft.com/office/drawing/2014/main" id="{10622FBC-D798-40DF-B5B6-2653A4BD4A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6" y="1212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9" name="Text Box 21">
                <a:extLst>
                  <a:ext uri="{FF2B5EF4-FFF2-40B4-BE49-F238E27FC236}">
                    <a16:creationId xmlns:a16="http://schemas.microsoft.com/office/drawing/2014/main" id="{C3125B1D-1920-4D54-A25B-CBB6CEC04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0" y="1356"/>
                <a:ext cx="2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/>
              <a:lstStyle>
                <a:lvl1pPr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s-ES" sz="2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</a:t>
                </a:r>
                <a:r>
                  <a:rPr lang="es-ES" sz="24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</a:t>
                </a:r>
                <a:endParaRPr lang="es-E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5" name="Text Box 38">
              <a:extLst>
                <a:ext uri="{FF2B5EF4-FFF2-40B4-BE49-F238E27FC236}">
                  <a16:creationId xmlns:a16="http://schemas.microsoft.com/office/drawing/2014/main" id="{668DF68C-CB1B-429E-80DA-534EE8970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2019"/>
              <a:ext cx="66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CC99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118800" rIns="90000" bIns="82800" anchor="b" anchorCtr="1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60000"/>
                </a:lnSpc>
                <a:spcBef>
                  <a:spcPct val="50000"/>
                </a:spcBef>
                <a:buFontTx/>
                <a:buNone/>
              </a:pPr>
              <a:endParaRPr lang="es-E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60" name="Group 62">
            <a:extLst>
              <a:ext uri="{FF2B5EF4-FFF2-40B4-BE49-F238E27FC236}">
                <a16:creationId xmlns:a16="http://schemas.microsoft.com/office/drawing/2014/main" id="{8C9AAFAE-1373-4B01-9F31-7ACE8419B5B7}"/>
              </a:ext>
            </a:extLst>
          </p:cNvPr>
          <p:cNvGrpSpPr>
            <a:grpSpLocks/>
          </p:cNvGrpSpPr>
          <p:nvPr/>
        </p:nvGrpSpPr>
        <p:grpSpPr bwMode="auto">
          <a:xfrm>
            <a:off x="5873993" y="1734941"/>
            <a:ext cx="1417638" cy="571500"/>
            <a:chOff x="4127" y="1740"/>
            <a:chExt cx="893" cy="360"/>
          </a:xfrm>
        </p:grpSpPr>
        <p:sp>
          <p:nvSpPr>
            <p:cNvPr id="61" name="Line 13">
              <a:extLst>
                <a:ext uri="{FF2B5EF4-FFF2-40B4-BE49-F238E27FC236}">
                  <a16:creationId xmlns:a16="http://schemas.microsoft.com/office/drawing/2014/main" id="{F889712F-4D9E-4A48-8BE5-8D64C6D7E7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560000">
              <a:off x="4127" y="1819"/>
              <a:ext cx="893" cy="24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62" name="Object 43">
              <a:extLst>
                <a:ext uri="{FF2B5EF4-FFF2-40B4-BE49-F238E27FC236}">
                  <a16:creationId xmlns:a16="http://schemas.microsoft.com/office/drawing/2014/main" id="{4D1A2292-32CB-42C5-8DB8-81C94CA8C4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63" y="1740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8" imgW="177569" imgH="215619" progId="Equation.3">
                    <p:embed/>
                  </p:oleObj>
                </mc:Choice>
                <mc:Fallback>
                  <p:oleObj name="Ecuación" r:id="rId8" imgW="177569" imgH="215619" progId="Equation.3">
                    <p:embed/>
                    <p:pic>
                      <p:nvPicPr>
                        <p:cNvPr id="23574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3" y="1740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63">
            <a:extLst>
              <a:ext uri="{FF2B5EF4-FFF2-40B4-BE49-F238E27FC236}">
                <a16:creationId xmlns:a16="http://schemas.microsoft.com/office/drawing/2014/main" id="{4FE5DD4A-C77D-4971-9984-4838238E9289}"/>
              </a:ext>
            </a:extLst>
          </p:cNvPr>
          <p:cNvGrpSpPr>
            <a:grpSpLocks/>
          </p:cNvGrpSpPr>
          <p:nvPr/>
        </p:nvGrpSpPr>
        <p:grpSpPr bwMode="auto">
          <a:xfrm>
            <a:off x="5861293" y="571304"/>
            <a:ext cx="1417638" cy="688975"/>
            <a:chOff x="4119" y="1007"/>
            <a:chExt cx="893" cy="434"/>
          </a:xfrm>
        </p:grpSpPr>
        <p:sp>
          <p:nvSpPr>
            <p:cNvPr id="64" name="Line 14">
              <a:extLst>
                <a:ext uri="{FF2B5EF4-FFF2-40B4-BE49-F238E27FC236}">
                  <a16:creationId xmlns:a16="http://schemas.microsoft.com/office/drawing/2014/main" id="{F9B44B5A-77F4-4E35-8043-9DD2436F49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140000" flipV="1">
              <a:off x="4119" y="1417"/>
              <a:ext cx="893" cy="24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/>
            <a:lstStyle/>
            <a:p>
              <a:endParaRPr lang="es-ES" sz="2400"/>
            </a:p>
          </p:txBody>
        </p:sp>
        <p:graphicFrame>
          <p:nvGraphicFramePr>
            <p:cNvPr id="65" name="Object 53">
              <a:extLst>
                <a:ext uri="{FF2B5EF4-FFF2-40B4-BE49-F238E27FC236}">
                  <a16:creationId xmlns:a16="http://schemas.microsoft.com/office/drawing/2014/main" id="{914A6609-21BC-4704-82C7-451F65125A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15" y="1007"/>
            <a:ext cx="297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9" imgW="177569" imgH="215619" progId="Equation.3">
                    <p:embed/>
                  </p:oleObj>
                </mc:Choice>
                <mc:Fallback>
                  <p:oleObj name="Ecuación" r:id="rId9" imgW="177569" imgH="215619" progId="Equation.3">
                    <p:embed/>
                    <p:pic>
                      <p:nvPicPr>
                        <p:cNvPr id="23572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5" y="1007"/>
                          <a:ext cx="297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Text Box 19"/>
          <p:cNvSpPr txBox="1">
            <a:spLocks noChangeArrowheads="1"/>
          </p:cNvSpPr>
          <p:nvPr/>
        </p:nvSpPr>
        <p:spPr bwMode="auto">
          <a:xfrm>
            <a:off x="1793386" y="2891827"/>
            <a:ext cx="4688764" cy="514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este caso el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Ppo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. queda así:</a:t>
            </a:r>
            <a:endParaRPr lang="es-ES" sz="2400" dirty="0">
              <a:solidFill>
                <a:srgbClr val="3333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8863C36B-62EA-4A8D-86EC-4DF280FCDB5F}"/>
              </a:ext>
            </a:extLst>
          </p:cNvPr>
          <p:cNvGrpSpPr/>
          <p:nvPr/>
        </p:nvGrpSpPr>
        <p:grpSpPr>
          <a:xfrm>
            <a:off x="7513352" y="1199954"/>
            <a:ext cx="1844675" cy="584200"/>
            <a:chOff x="7340632" y="2088726"/>
            <a:chExt cx="1844675" cy="584200"/>
          </a:xfrm>
        </p:grpSpPr>
        <p:graphicFrame>
          <p:nvGraphicFramePr>
            <p:cNvPr id="67" name="Object 23">
              <a:extLst>
                <a:ext uri="{FF2B5EF4-FFF2-40B4-BE49-F238E27FC236}">
                  <a16:creationId xmlns:a16="http://schemas.microsoft.com/office/drawing/2014/main" id="{FC13198E-ABF0-470F-9517-633BF7C9AE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873317"/>
                </p:ext>
              </p:extLst>
            </p:nvPr>
          </p:nvGraphicFramePr>
          <p:xfrm>
            <a:off x="7340632" y="2088726"/>
            <a:ext cx="403225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0" imgW="152268" imgH="215713" progId="Equation.3">
                    <p:embed/>
                  </p:oleObj>
                </mc:Choice>
                <mc:Fallback>
                  <p:oleObj name="Ecuación" r:id="rId10" imgW="152268" imgH="215713" progId="Equation.3">
                    <p:embed/>
                    <p:pic>
                      <p:nvPicPr>
                        <p:cNvPr id="38" name="Object 23">
                          <a:extLst>
                            <a:ext uri="{FF2B5EF4-FFF2-40B4-BE49-F238E27FC236}">
                              <a16:creationId xmlns:a16="http://schemas.microsoft.com/office/drawing/2014/main" id="{0408C12D-5898-4182-A21D-4BC3BECD64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40632" y="2088726"/>
                          <a:ext cx="403225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27">
              <a:extLst>
                <a:ext uri="{FF2B5EF4-FFF2-40B4-BE49-F238E27FC236}">
                  <a16:creationId xmlns:a16="http://schemas.microsoft.com/office/drawing/2014/main" id="{D5741FEB-24F1-4C96-AAA6-B2EB985E27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2210340"/>
                </p:ext>
              </p:extLst>
            </p:nvPr>
          </p:nvGraphicFramePr>
          <p:xfrm>
            <a:off x="7807357" y="2101426"/>
            <a:ext cx="1377950" cy="571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cuación" r:id="rId12" imgW="520474" imgH="215806" progId="Equation.3">
                    <p:embed/>
                  </p:oleObj>
                </mc:Choice>
                <mc:Fallback>
                  <p:oleObj name="Ecuación" r:id="rId12" imgW="520474" imgH="215806" progId="Equation.3">
                    <p:embed/>
                    <p:pic>
                      <p:nvPicPr>
                        <p:cNvPr id="39" name="Object 27">
                          <a:extLst>
                            <a:ext uri="{FF2B5EF4-FFF2-40B4-BE49-F238E27FC236}">
                              <a16:creationId xmlns:a16="http://schemas.microsoft.com/office/drawing/2014/main" id="{8E9E6FD7-4784-4949-97A0-88E2A9C75E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07357" y="2101426"/>
                          <a:ext cx="1377950" cy="571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Line 16">
            <a:extLst>
              <a:ext uri="{FF2B5EF4-FFF2-40B4-BE49-F238E27FC236}">
                <a16:creationId xmlns:a16="http://schemas.microsoft.com/office/drawing/2014/main" id="{C59F9B65-D554-4E41-B0AA-07080B5E641F}"/>
              </a:ext>
            </a:extLst>
          </p:cNvPr>
          <p:cNvSpPr>
            <a:spLocks noChangeShapeType="1"/>
          </p:cNvSpPr>
          <p:nvPr/>
        </p:nvSpPr>
        <p:spPr bwMode="auto">
          <a:xfrm rot="1140000" flipV="1">
            <a:off x="4704006" y="1084066"/>
            <a:ext cx="2435225" cy="1025525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/>
          <a:lstStyle/>
          <a:p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193589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9" grpId="0" animBg="1"/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05" name="Object 5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70909495"/>
              </p:ext>
            </p:extLst>
          </p:nvPr>
        </p:nvGraphicFramePr>
        <p:xfrm>
          <a:off x="5847678" y="377786"/>
          <a:ext cx="222091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3" imgW="1041120" imgH="444240" progId="Equation.3">
                  <p:embed/>
                </p:oleObj>
              </mc:Choice>
              <mc:Fallback>
                <p:oleObj name="Ecuación" r:id="rId3" imgW="1041120" imgH="444240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7678" y="377786"/>
                        <a:ext cx="222091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260362"/>
              </p:ext>
            </p:extLst>
          </p:nvPr>
        </p:nvGraphicFramePr>
        <p:xfrm>
          <a:off x="5838874" y="2707847"/>
          <a:ext cx="21510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5" imgW="965160" imgH="431640" progId="Equation.3">
                  <p:embed/>
                </p:oleObj>
              </mc:Choice>
              <mc:Fallback>
                <p:oleObj name="Ecuación" r:id="rId5" imgW="965160" imgH="4316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874" y="2707847"/>
                        <a:ext cx="21510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Text Box 3"/>
          <p:cNvSpPr txBox="1">
            <a:spLocks noChangeArrowheads="1"/>
          </p:cNvSpPr>
          <p:nvPr/>
        </p:nvSpPr>
        <p:spPr bwMode="auto">
          <a:xfrm>
            <a:off x="1237956" y="341788"/>
            <a:ext cx="2887004" cy="95677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con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Distribución Discreta</a:t>
            </a:r>
          </a:p>
        </p:txBody>
      </p:sp>
      <p:sp>
        <p:nvSpPr>
          <p:cNvPr id="204831" name="Text Box 31"/>
          <p:cNvSpPr txBox="1">
            <a:spLocks noChangeArrowheads="1"/>
          </p:cNvSpPr>
          <p:nvPr/>
        </p:nvSpPr>
        <p:spPr bwMode="auto">
          <a:xfrm>
            <a:off x="2034767" y="4897546"/>
            <a:ext cx="3170909" cy="12534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</a:t>
            </a:r>
            <a:r>
              <a:rPr lang="es-ES" sz="2400">
                <a:latin typeface="Arial" panose="020B0604020202020204" pitchFamily="34" charset="0"/>
              </a:rPr>
              <a:t>K se puede sacar como factor común si 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medio </a:t>
            </a: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isótropo</a:t>
            </a: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080177"/>
              </p:ext>
            </p:extLst>
          </p:nvPr>
        </p:nvGraphicFramePr>
        <p:xfrm>
          <a:off x="4316313" y="350398"/>
          <a:ext cx="1494790" cy="951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7" imgW="736600" imgH="469900" progId="Equation.3">
                  <p:embed/>
                </p:oleObj>
              </mc:Choice>
              <mc:Fallback>
                <p:oleObj name="Ecuación" r:id="rId7" imgW="7366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313" y="350398"/>
                        <a:ext cx="1494790" cy="951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721910"/>
              </p:ext>
            </p:extLst>
          </p:nvPr>
        </p:nvGraphicFramePr>
        <p:xfrm>
          <a:off x="4331018" y="2842785"/>
          <a:ext cx="1398587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9" imgW="609480" imgH="279360" progId="Equation.3">
                  <p:embed/>
                </p:oleObj>
              </mc:Choice>
              <mc:Fallback>
                <p:oleObj name="Ecuación" r:id="rId9" imgW="609480" imgH="2793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018" y="2842785"/>
                        <a:ext cx="1398587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1"/>
          <p:cNvSpPr txBox="1">
            <a:spLocks noChangeArrowheads="1"/>
          </p:cNvSpPr>
          <p:nvPr/>
        </p:nvSpPr>
        <p:spPr bwMode="auto">
          <a:xfrm>
            <a:off x="6188290" y="4908049"/>
            <a:ext cx="3849561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K tiene el mismo valor en todas las direcciones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(ej.: el vacío)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" name="Flecha derecha 7"/>
          <p:cNvSpPr/>
          <p:nvPr/>
        </p:nvSpPr>
        <p:spPr bwMode="auto">
          <a:xfrm>
            <a:off x="5505247" y="5217142"/>
            <a:ext cx="501513" cy="675856"/>
          </a:xfrm>
          <a:prstGeom prst="rightArrow">
            <a:avLst>
              <a:gd name="adj1" fmla="val 50000"/>
              <a:gd name="adj2" fmla="val 59909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no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s-ES" sz="2400">
              <a:latin typeface="Arial" charset="0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421575"/>
              </p:ext>
            </p:extLst>
          </p:nvPr>
        </p:nvGraphicFramePr>
        <p:xfrm>
          <a:off x="8105166" y="376199"/>
          <a:ext cx="23304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1" imgW="1091880" imgH="444240" progId="Equation.3">
                  <p:embed/>
                </p:oleObj>
              </mc:Choice>
              <mc:Fallback>
                <p:oleObj name="Ecuación" r:id="rId11" imgW="1091880" imgH="4442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166" y="376199"/>
                        <a:ext cx="2330450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913735"/>
              </p:ext>
            </p:extLst>
          </p:nvPr>
        </p:nvGraphicFramePr>
        <p:xfrm>
          <a:off x="8125486" y="2678885"/>
          <a:ext cx="21494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13" imgW="965160" imgH="431640" progId="Equation.3">
                  <p:embed/>
                </p:oleObj>
              </mc:Choice>
              <mc:Fallback>
                <p:oleObj name="Ecuación" r:id="rId13" imgW="965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5486" y="2678885"/>
                        <a:ext cx="21494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uadroTexto 3"/>
          <p:cNvSpPr txBox="1"/>
          <p:nvPr/>
        </p:nvSpPr>
        <p:spPr>
          <a:xfrm>
            <a:off x="3787416" y="6140788"/>
            <a:ext cx="2205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(lo contrario de anisótropo)</a:t>
            </a:r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A1022FC-9BD8-4737-ACC7-830C6D933A82}"/>
              </a:ext>
            </a:extLst>
          </p:cNvPr>
          <p:cNvCxnSpPr>
            <a:cxnSpLocks/>
          </p:cNvCxnSpPr>
          <p:nvPr/>
        </p:nvCxnSpPr>
        <p:spPr bwMode="auto">
          <a:xfrm flipV="1">
            <a:off x="5985886" y="1031521"/>
            <a:ext cx="0" cy="458516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421E2DC-47C6-430D-893D-FC485C351462}"/>
              </a:ext>
            </a:extLst>
          </p:cNvPr>
          <p:cNvCxnSpPr>
            <a:cxnSpLocks/>
          </p:cNvCxnSpPr>
          <p:nvPr/>
        </p:nvCxnSpPr>
        <p:spPr bwMode="auto">
          <a:xfrm>
            <a:off x="5985886" y="2504969"/>
            <a:ext cx="0" cy="458516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237956" y="2678389"/>
            <a:ext cx="2876844" cy="95677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4000" tIns="108000" rIns="144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con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Distribución Continua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8280909-5787-476F-A16D-0DD85C19F4E1}"/>
              </a:ext>
            </a:extLst>
          </p:cNvPr>
          <p:cNvSpPr txBox="1"/>
          <p:nvPr/>
        </p:nvSpPr>
        <p:spPr>
          <a:xfrm>
            <a:off x="1615963" y="1588961"/>
            <a:ext cx="2223383" cy="830997"/>
          </a:xfrm>
          <a:prstGeom prst="rect">
            <a:avLst/>
          </a:prstGeom>
          <a:solidFill>
            <a:srgbClr val="6666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FFFF"/>
                </a:solidFill>
              </a:rPr>
              <a:t>Principio de Superposición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DAA0203-80DA-425F-936A-31888C72A8B1}"/>
              </a:ext>
            </a:extLst>
          </p:cNvPr>
          <p:cNvGrpSpPr/>
          <p:nvPr/>
        </p:nvGrpSpPr>
        <p:grpSpPr>
          <a:xfrm>
            <a:off x="4010320" y="1590748"/>
            <a:ext cx="3335360" cy="830997"/>
            <a:chOff x="2801280" y="2119068"/>
            <a:chExt cx="3335360" cy="830997"/>
          </a:xfrm>
        </p:grpSpPr>
        <p:sp>
          <p:nvSpPr>
            <p:cNvPr id="5" name="CuadroTexto 4"/>
            <p:cNvSpPr txBox="1"/>
            <p:nvPr/>
          </p:nvSpPr>
          <p:spPr>
            <a:xfrm>
              <a:off x="3366311" y="2119068"/>
              <a:ext cx="277032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dirty="0">
                  <a:solidFill>
                    <a:srgbClr val="FF0000"/>
                  </a:solidFill>
                </a:rPr>
                <a:t>Hay </a:t>
              </a:r>
              <a:r>
                <a:rPr lang="es-ES" sz="2400">
                  <a:solidFill>
                    <a:srgbClr val="FF0000"/>
                  </a:solidFill>
                </a:rPr>
                <a:t>que emplear </a:t>
              </a:r>
              <a:r>
                <a:rPr lang="es-ES" sz="2400" dirty="0">
                  <a:solidFill>
                    <a:srgbClr val="FF0000"/>
                  </a:solidFill>
                </a:rPr>
                <a:t>la Ley de Coulomb</a:t>
              </a:r>
            </a:p>
          </p:txBody>
        </p: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2D2AFE96-8775-45A0-8BB4-F439CB6650D5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3030538" y="2313912"/>
              <a:ext cx="0" cy="458516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F3309FF-DC03-45D6-8FD1-4F59F41D6736}"/>
              </a:ext>
            </a:extLst>
          </p:cNvPr>
          <p:cNvSpPr txBox="1"/>
          <p:nvPr/>
        </p:nvSpPr>
        <p:spPr>
          <a:xfrm>
            <a:off x="1237956" y="3873299"/>
            <a:ext cx="7093244" cy="83099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solidFill>
                  <a:schemeClr val="tx1"/>
                </a:solidFill>
              </a:rPr>
              <a:t>Al considerar cada carga de la distribución, varía la dirección de aplicación de la fuerza, por tanto: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4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0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6" grpId="0" animBg="1"/>
      <p:bldP spid="204831" grpId="0" animBg="1"/>
      <p:bldP spid="25" grpId="0" animBg="1"/>
      <p:bldP spid="8" grpId="0" animBg="1"/>
      <p:bldP spid="4" grpId="0"/>
      <p:bldP spid="3" grpId="0" animBg="1"/>
      <p:bldP spid="19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8" name="Text Box 17"/>
          <p:cNvSpPr txBox="1">
            <a:spLocks noChangeArrowheads="1"/>
          </p:cNvSpPr>
          <p:nvPr/>
        </p:nvSpPr>
        <p:spPr bwMode="auto">
          <a:xfrm>
            <a:off x="1755649" y="977796"/>
            <a:ext cx="7964423" cy="16227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ts val="0"/>
              </a:spcBef>
              <a:buFontTx/>
              <a:buNone/>
              <a:defRPr/>
            </a:pP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La </a:t>
            </a:r>
            <a:r>
              <a:rPr lang="es-ES" sz="2400" i="1" dirty="0">
                <a:solidFill>
                  <a:srgbClr val="0000FF"/>
                </a:solidFill>
                <a:latin typeface="Arial" panose="020B0604020202020204" pitchFamily="34" charset="0"/>
              </a:rPr>
              <a:t>fuerza eléctrica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ejercida por una distribución </a:t>
            </a:r>
            <a:r>
              <a:rPr lang="es-ES" sz="2400" i="1">
                <a:solidFill>
                  <a:srgbClr val="000000"/>
                </a:solidFill>
                <a:latin typeface="Arial" panose="020B0604020202020204" pitchFamily="34" charset="0"/>
              </a:rPr>
              <a:t>de cargas sobre </a:t>
            </a:r>
            <a:r>
              <a:rPr lang="es-ES" sz="2400" i="1" dirty="0">
                <a:latin typeface="Arial" panose="020B0604020202020204" pitchFamily="34" charset="0"/>
              </a:rPr>
              <a:t>otra, es la suma vectorial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 de las fuerzas ejercidas </a:t>
            </a:r>
            <a:r>
              <a:rPr lang="es-ES" sz="2400" i="1">
                <a:solidFill>
                  <a:srgbClr val="000000"/>
                </a:solidFill>
                <a:latin typeface="Arial" panose="020B0604020202020204" pitchFamily="34" charset="0"/>
              </a:rPr>
              <a:t>por una </a:t>
            </a:r>
            <a:r>
              <a:rPr lang="es-ES" sz="2400" i="1" dirty="0">
                <a:solidFill>
                  <a:srgbClr val="000000"/>
                </a:solidFill>
                <a:latin typeface="Arial" panose="020B0604020202020204" pitchFamily="34" charset="0"/>
              </a:rPr>
              <a:t>distribución sobre cada una de las cargas puntuales de la otra </a:t>
            </a:r>
            <a:r>
              <a:rPr lang="es-ES" sz="2400" i="1" dirty="0">
                <a:solidFill>
                  <a:srgbClr val="FF0000"/>
                </a:solidFill>
                <a:latin typeface="Arial" panose="020B0604020202020204" pitchFamily="34" charset="0"/>
              </a:rPr>
              <a:t>por separado</a:t>
            </a:r>
            <a:endParaRPr lang="es-ES" sz="24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4841" name="Text Box 41"/>
          <p:cNvSpPr txBox="1">
            <a:spLocks noChangeArrowheads="1"/>
          </p:cNvSpPr>
          <p:nvPr/>
        </p:nvSpPr>
        <p:spPr bwMode="auto">
          <a:xfrm>
            <a:off x="3115560" y="338525"/>
            <a:ext cx="5302642" cy="514738"/>
          </a:xfrm>
          <a:prstGeom prst="rect">
            <a:avLst/>
          </a:prstGeom>
          <a:solidFill>
            <a:srgbClr val="66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solidFill>
                  <a:srgbClr val="FFFFFF"/>
                </a:solidFill>
                <a:latin typeface="Arial" panose="020B0604020202020204" pitchFamily="34" charset="0"/>
              </a:rPr>
              <a:t>FUERZA ENTRE DISTRIBUCIONES</a:t>
            </a:r>
          </a:p>
        </p:txBody>
      </p:sp>
      <p:sp>
        <p:nvSpPr>
          <p:cNvPr id="204842" name="Text Box 42"/>
          <p:cNvSpPr txBox="1">
            <a:spLocks noChangeArrowheads="1"/>
          </p:cNvSpPr>
          <p:nvPr/>
        </p:nvSpPr>
        <p:spPr bwMode="auto">
          <a:xfrm>
            <a:off x="1807165" y="4929657"/>
            <a:ext cx="3170909" cy="120251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K se puede sacar factor común si el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medio </a:t>
            </a:r>
            <a:r>
              <a:rPr lang="es-ES" sz="2400">
                <a:latin typeface="Arial" panose="020B0604020202020204" pitchFamily="34" charset="0"/>
              </a:rPr>
              <a:t>es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</a:rPr>
              <a:t>homogéneo</a:t>
            </a:r>
            <a:endParaRPr lang="es-E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 Box 42"/>
          <p:cNvSpPr txBox="1">
            <a:spLocks noChangeArrowheads="1"/>
          </p:cNvSpPr>
          <p:nvPr/>
        </p:nvSpPr>
        <p:spPr bwMode="auto">
          <a:xfrm>
            <a:off x="6104395" y="4920960"/>
            <a:ext cx="3626693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Si K tiene el mismo valor en todos los puntos   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(ej.: el vacío)</a:t>
            </a:r>
          </a:p>
        </p:txBody>
      </p:sp>
      <p:sp>
        <p:nvSpPr>
          <p:cNvPr id="29" name="Flecha derecha 28"/>
          <p:cNvSpPr/>
          <p:nvPr/>
        </p:nvSpPr>
        <p:spPr bwMode="auto">
          <a:xfrm>
            <a:off x="5335671" y="5184020"/>
            <a:ext cx="492366" cy="686187"/>
          </a:xfrm>
          <a:prstGeom prst="rightArrow">
            <a:avLst>
              <a:gd name="adj1" fmla="val 50000"/>
              <a:gd name="adj2" fmla="val 66149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>
            <a:noAutofit/>
          </a:bodyPr>
          <a:lstStyle/>
          <a:p>
            <a:pPr eaLnBrk="1" hangingPunct="1">
              <a:spcBef>
                <a:spcPct val="50000"/>
              </a:spcBef>
              <a:defRPr/>
            </a:pPr>
            <a:endParaRPr lang="es-ES" sz="2400">
              <a:latin typeface="Arial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1755649" y="2709053"/>
            <a:ext cx="7964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Ahora aparece un nuevo sumatorio o integral en las expresiones anteriores, extendido a todas los cargas de la distribución que sufre </a:t>
            </a:r>
            <a:r>
              <a:rPr lang="es-ES" sz="2400"/>
              <a:t>la fuerza</a:t>
            </a:r>
            <a:endParaRPr lang="es-ES" sz="2400" dirty="0"/>
          </a:p>
        </p:txBody>
      </p:sp>
      <p:sp>
        <p:nvSpPr>
          <p:cNvPr id="8" name="CuadroTexto 7"/>
          <p:cNvSpPr txBox="1"/>
          <p:nvPr/>
        </p:nvSpPr>
        <p:spPr>
          <a:xfrm>
            <a:off x="3114187" y="6133152"/>
            <a:ext cx="2223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rgbClr val="FF0000"/>
                </a:solidFill>
              </a:rPr>
              <a:t>(lo contrario de heterogéneo)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25FE64-D612-475E-9ACB-BEB8A52E97DE}"/>
              </a:ext>
            </a:extLst>
          </p:cNvPr>
          <p:cNvSpPr txBox="1"/>
          <p:nvPr/>
        </p:nvSpPr>
        <p:spPr>
          <a:xfrm>
            <a:off x="1807165" y="3988913"/>
            <a:ext cx="7194595" cy="83099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ES" sz="2400" dirty="0">
                <a:solidFill>
                  <a:schemeClr val="tx1"/>
                </a:solidFill>
              </a:rPr>
              <a:t>Al considerar cada carga de esa distribución, varía el punto donde está, por tanto:</a:t>
            </a:r>
          </a:p>
        </p:txBody>
      </p:sp>
    </p:spTree>
    <p:extLst>
      <p:ext uri="{BB962C8B-B14F-4D97-AF65-F5344CB8AC3E}">
        <p14:creationId xmlns:p14="http://schemas.microsoft.com/office/powerpoint/2010/main" val="76480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4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0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8" grpId="0" animBg="1"/>
      <p:bldP spid="204841" grpId="0" animBg="1"/>
      <p:bldP spid="204842" grpId="0" animBg="1"/>
      <p:bldP spid="27" grpId="0" animBg="1"/>
      <p:bldP spid="29" grpId="0" animBg="1"/>
      <p:bldP spid="7" grpId="0"/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57" name="Text Box 21"/>
          <p:cNvSpPr txBox="1">
            <a:spLocks noChangeArrowheads="1"/>
          </p:cNvSpPr>
          <p:nvPr/>
        </p:nvSpPr>
        <p:spPr bwMode="auto">
          <a:xfrm>
            <a:off x="2097271" y="1132922"/>
            <a:ext cx="7325536" cy="1253402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Principio de Superposición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puede verificar siempre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teóricamente (es un principio),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pero no siempre experimentalmente</a:t>
            </a:r>
          </a:p>
        </p:txBody>
      </p:sp>
      <p:sp>
        <p:nvSpPr>
          <p:cNvPr id="9" name="Text Box 64"/>
          <p:cNvSpPr txBox="1">
            <a:spLocks noChangeArrowheads="1"/>
          </p:cNvSpPr>
          <p:nvPr/>
        </p:nvSpPr>
        <p:spPr bwMode="auto">
          <a:xfrm>
            <a:off x="5228768" y="4137334"/>
            <a:ext cx="4816973" cy="1992066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verificarlo basta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con </a:t>
            </a:r>
            <a:r>
              <a:rPr lang="es-ES" sz="2400" i="1" u="sng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calcular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 fuerza entre cada carga q</a:t>
            </a:r>
            <a:r>
              <a:rPr lang="es-ES" sz="2400" baseline="-250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Q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para el "medio"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en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están</a:t>
            </a:r>
          </a:p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empleando la Ley de Coulomb </a:t>
            </a:r>
            <a:endParaRPr lang="es-ES" sz="2400">
              <a:solidFill>
                <a:srgbClr val="0000FF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sumar las fuerzas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64">
            <a:extLst>
              <a:ext uri="{FF2B5EF4-FFF2-40B4-BE49-F238E27FC236}">
                <a16:creationId xmlns:a16="http://schemas.microsoft.com/office/drawing/2014/main" id="{4A7BE4B0-807D-4A8F-AED3-E4BE2233C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987" y="2655243"/>
            <a:ext cx="2241859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nivel teórico: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74515C0-3931-D33C-4733-C9A71429CC71}"/>
              </a:ext>
            </a:extLst>
          </p:cNvPr>
          <p:cNvGrpSpPr/>
          <p:nvPr/>
        </p:nvGrpSpPr>
        <p:grpSpPr>
          <a:xfrm>
            <a:off x="2067427" y="4119332"/>
            <a:ext cx="2694124" cy="1955549"/>
            <a:chOff x="1995442" y="3287964"/>
            <a:chExt cx="2694124" cy="1955549"/>
          </a:xfrm>
        </p:grpSpPr>
        <p:pic>
          <p:nvPicPr>
            <p:cNvPr id="3" name="Picture 8">
              <a:extLst>
                <a:ext uri="{FF2B5EF4-FFF2-40B4-BE49-F238E27FC236}">
                  <a16:creationId xmlns:a16="http://schemas.microsoft.com/office/drawing/2014/main" id="{2EAB7746-349F-6B92-0E78-4E060AA664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442" y="3455258"/>
              <a:ext cx="439737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9">
              <a:extLst>
                <a:ext uri="{FF2B5EF4-FFF2-40B4-BE49-F238E27FC236}">
                  <a16:creationId xmlns:a16="http://schemas.microsoft.com/office/drawing/2014/main" id="{A1F4A75A-D9EF-EE69-E085-C996237E3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4050" y="4297363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10">
              <a:extLst>
                <a:ext uri="{FF2B5EF4-FFF2-40B4-BE49-F238E27FC236}">
                  <a16:creationId xmlns:a16="http://schemas.microsoft.com/office/drawing/2014/main" id="{511A0623-A2F8-F4E0-6D9F-307A46B95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363" y="4813300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11">
              <a:extLst>
                <a:ext uri="{FF2B5EF4-FFF2-40B4-BE49-F238E27FC236}">
                  <a16:creationId xmlns:a16="http://schemas.microsoft.com/office/drawing/2014/main" id="{90E4C432-A1B1-4935-0EBF-526D169791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813" y="3287964"/>
              <a:ext cx="416910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EA80CBCC-40A8-727A-8FF0-67AFFA5D1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659" y="3609734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C8CBB2C8-F732-3B7A-2089-061B456ED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312" y="4441287"/>
              <a:ext cx="420606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57A5C762-63EF-47AD-DCC5-24BAD412B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304" y="4779963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0ADF4D46-A747-7CE8-8E89-EB6C85010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2474" y="3661948"/>
              <a:ext cx="46709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1" name="Text Box 64">
            <a:extLst>
              <a:ext uri="{FF2B5EF4-FFF2-40B4-BE49-F238E27FC236}">
                <a16:creationId xmlns:a16="http://schemas.microsoft.com/office/drawing/2014/main" id="{C4AADE19-B430-403B-BCCA-A689043B9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363214"/>
            <a:ext cx="7897091" cy="514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Si se tiene, p.ej.,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una distribución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discreta y una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 Q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4" name="Text Box 64">
            <a:extLst>
              <a:ext uri="{FF2B5EF4-FFF2-40B4-BE49-F238E27FC236}">
                <a16:creationId xmlns:a16="http://schemas.microsoft.com/office/drawing/2014/main" id="{285D22F1-2948-2555-FAE5-8E23D03D79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6305602"/>
            <a:ext cx="8216941" cy="51473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resultado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coincide "siempre" con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fuerza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total medida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" name="Text Box 59">
            <a:extLst>
              <a:ext uri="{FF2B5EF4-FFF2-40B4-BE49-F238E27FC236}">
                <a16:creationId xmlns:a16="http://schemas.microsoft.com/office/drawing/2014/main" id="{F6C23DD6-6CFA-F4A5-1851-249CE99FD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529" y="453000"/>
            <a:ext cx="1931393" cy="534037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108000" tIns="108000" rIns="108000" bIns="108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Comentario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5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57" grpId="0" animBg="1"/>
      <p:bldP spid="9" grpId="0" animBg="1"/>
      <p:bldP spid="10" grpId="0" animBg="1"/>
      <p:bldP spid="11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6" name="Text Box 64"/>
          <p:cNvSpPr txBox="1">
            <a:spLocks noChangeArrowheads="1"/>
          </p:cNvSpPr>
          <p:nvPr/>
        </p:nvSpPr>
        <p:spPr bwMode="auto">
          <a:xfrm>
            <a:off x="1427870" y="4692234"/>
            <a:ext cx="8827955" cy="12534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3)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Puede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varíe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el "medio"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sus propiedades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(el valor de </a:t>
            </a:r>
            <a:r>
              <a:rPr lang="es-ES" sz="240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K)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según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pareja de cargas que esté presente en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cada paso,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al cambiar la distribución de las cargas del medio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64" name="Text Box 59"/>
          <p:cNvSpPr txBox="1">
            <a:spLocks noChangeArrowheads="1"/>
          </p:cNvSpPr>
          <p:nvPr/>
        </p:nvSpPr>
        <p:spPr bwMode="auto">
          <a:xfrm>
            <a:off x="1437842" y="2769543"/>
            <a:ext cx="8817985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1) Puede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no sea viable eliminar el resto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cargas para,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en este caso, </a:t>
            </a:r>
            <a:r>
              <a:rPr lang="es-ES" sz="2400" i="1" u="sng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medir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la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fuerza entre cada carga y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 carga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7662" name="Text Box 63"/>
          <p:cNvSpPr txBox="1">
            <a:spLocks noChangeArrowheads="1"/>
          </p:cNvSpPr>
          <p:nvPr/>
        </p:nvSpPr>
        <p:spPr bwMode="auto">
          <a:xfrm>
            <a:off x="1427871" y="3728065"/>
            <a:ext cx="8827956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2) Puede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cambie la posición o el estado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movimiento de</a:t>
            </a:r>
          </a:p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una carga en ausencia del resto, y no se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pueda subsanar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64">
            <a:extLst>
              <a:ext uri="{FF2B5EF4-FFF2-40B4-BE49-F238E27FC236}">
                <a16:creationId xmlns:a16="http://schemas.microsoft.com/office/drawing/2014/main" id="{9D0C8513-DF96-46CC-33E2-C9A3E2C7E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65" y="458715"/>
            <a:ext cx="3068284" cy="514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nivel experimental: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FEF1420-BAE7-EAE2-7288-4BB47FC7A8FD}"/>
              </a:ext>
            </a:extLst>
          </p:cNvPr>
          <p:cNvGrpSpPr/>
          <p:nvPr/>
        </p:nvGrpSpPr>
        <p:grpSpPr>
          <a:xfrm>
            <a:off x="6826467" y="581352"/>
            <a:ext cx="2694124" cy="1955549"/>
            <a:chOff x="1995442" y="3287964"/>
            <a:chExt cx="2694124" cy="1955549"/>
          </a:xfrm>
        </p:grpSpPr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51AE6275-8201-C918-9FC3-6FEB883088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442" y="3455258"/>
              <a:ext cx="439737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9">
              <a:extLst>
                <a:ext uri="{FF2B5EF4-FFF2-40B4-BE49-F238E27FC236}">
                  <a16:creationId xmlns:a16="http://schemas.microsoft.com/office/drawing/2014/main" id="{E3EC5EBB-76D5-DFEF-C8CC-A25CB588F0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4050" y="4297363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10">
              <a:extLst>
                <a:ext uri="{FF2B5EF4-FFF2-40B4-BE49-F238E27FC236}">
                  <a16:creationId xmlns:a16="http://schemas.microsoft.com/office/drawing/2014/main" id="{2A837D4F-A126-C282-47DE-59E542134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26363" y="4813300"/>
              <a:ext cx="449262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1">
              <a:extLst>
                <a:ext uri="{FF2B5EF4-FFF2-40B4-BE49-F238E27FC236}">
                  <a16:creationId xmlns:a16="http://schemas.microsoft.com/office/drawing/2014/main" id="{7A14463E-7DB5-7CE0-2390-9DBDF2EE2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7813" y="3287964"/>
              <a:ext cx="416910" cy="43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A14442D1-9E45-9064-EA0E-F4FF84FDE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6659" y="3609734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Text Box 13">
              <a:extLst>
                <a:ext uri="{FF2B5EF4-FFF2-40B4-BE49-F238E27FC236}">
                  <a16:creationId xmlns:a16="http://schemas.microsoft.com/office/drawing/2014/main" id="{F3BEFA97-4F41-D629-1341-1B50C7FA9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3312" y="4441287"/>
              <a:ext cx="420606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57B07B96-173A-9EF3-C6E6-1E2CE8835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1304" y="4779963"/>
              <a:ext cx="466725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 dirty="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468F1164-BD89-3F5C-97D1-B8896BA22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2474" y="3661948"/>
              <a:ext cx="467092" cy="4638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q</a:t>
              </a:r>
              <a:r>
                <a:rPr lang="es-ES" sz="24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endParaRPr lang="es-ES" sz="24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" name="Text Box 64">
            <a:extLst>
              <a:ext uri="{FF2B5EF4-FFF2-40B4-BE49-F238E27FC236}">
                <a16:creationId xmlns:a16="http://schemas.microsoft.com/office/drawing/2014/main" id="{F7FC58FE-A754-011F-FB45-B8210CCD1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865" y="1419989"/>
            <a:ext cx="3952488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Puede haber hasta tres problemas para verificarlo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0" name="Text Box 64">
            <a:extLst>
              <a:ext uri="{FF2B5EF4-FFF2-40B4-BE49-F238E27FC236}">
                <a16:creationId xmlns:a16="http://schemas.microsoft.com/office/drawing/2014/main" id="{E01AB110-0CA6-5E0D-9758-9FD8DFBB7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6163" y="6007982"/>
            <a:ext cx="8525875" cy="8840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Esto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modifica el </a:t>
            </a:r>
            <a:r>
              <a:rPr lang="es-ES" sz="2400" u="sng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valor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esperado de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las fuerzas, por variar K,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 su suma no coincide con la fuerza total medida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7214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6" grpId="0" animBg="1"/>
      <p:bldP spid="27664" grpId="0" animBg="1"/>
      <p:bldP spid="27662" grpId="0" animBg="1"/>
      <p:bldP spid="2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/>
        </p:nvSpPr>
        <p:spPr bwMode="auto">
          <a:xfrm>
            <a:off x="1333720" y="1982665"/>
            <a:ext cx="5334994" cy="162273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el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medio es lineal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, es decir, si el medio cambia, se altera, de manera </a:t>
            </a:r>
            <a:r>
              <a:rPr lang="es-ES" sz="24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proporcional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en todas direcciones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al variar la carga presente</a:t>
            </a:r>
          </a:p>
        </p:txBody>
      </p:sp>
      <p:sp>
        <p:nvSpPr>
          <p:cNvPr id="22" name="Text Box 37"/>
          <p:cNvSpPr txBox="1">
            <a:spLocks noChangeArrowheads="1"/>
          </p:cNvSpPr>
          <p:nvPr/>
        </p:nvSpPr>
        <p:spPr bwMode="auto">
          <a:xfrm>
            <a:off x="1707500" y="4674409"/>
            <a:ext cx="8093977" cy="88407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s-ES" sz="2400" u="sng" dirty="0">
                <a:latin typeface="Arial" panose="020B0604020202020204" pitchFamily="34" charset="0"/>
                <a:sym typeface="Symbol" panose="05050102010706020507" pitchFamily="18" charset="2"/>
              </a:rPr>
              <a:t>A nivel eléctrico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se sabe que el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medio es lineal,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el valor de K, o , no depende de las cargas presentes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(Tema 3)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2034700" y="5677949"/>
            <a:ext cx="7448096" cy="884070"/>
          </a:xfrm>
          <a:prstGeom prst="rect">
            <a:avLst/>
          </a:prstGeom>
          <a:solidFill>
            <a:srgbClr val="FFFF00"/>
          </a:solidFill>
        </p:spPr>
        <p:txBody>
          <a:bodyPr wrap="square" lIns="108000" tIns="72000" rIns="108000" bIns="72000" anchor="ctr" anchorCtr="0">
            <a:spAutoFit/>
          </a:bodyPr>
          <a:lstStyle/>
          <a:p>
            <a:pPr algn="ctr">
              <a:defRPr/>
            </a:pPr>
            <a:r>
              <a:rPr lang="es-ES" sz="2400" dirty="0"/>
              <a:t>En la asignatura consideraremos </a:t>
            </a:r>
            <a:r>
              <a:rPr lang="es-ES" sz="2400" dirty="0">
                <a:solidFill>
                  <a:srgbClr val="0000FF"/>
                </a:solidFill>
              </a:rPr>
              <a:t>medios ideales</a:t>
            </a:r>
            <a:r>
              <a:rPr lang="es-ES" sz="2400" dirty="0"/>
              <a:t>: homogéneos, isótropos y lineales (los más simples)</a:t>
            </a:r>
          </a:p>
        </p:txBody>
      </p:sp>
      <p:sp>
        <p:nvSpPr>
          <p:cNvPr id="14" name="Text Box 64"/>
          <p:cNvSpPr txBox="1">
            <a:spLocks noChangeArrowheads="1"/>
          </p:cNvSpPr>
          <p:nvPr/>
        </p:nvSpPr>
        <p:spPr bwMode="auto">
          <a:xfrm>
            <a:off x="1320561" y="946686"/>
            <a:ext cx="6813079" cy="8840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Que cambie el medio, su distribución de cargas, según la 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carga presente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342845" y="326095"/>
            <a:ext cx="4418193" cy="5147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Si ocurre esto último, es decir: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484443" y="1986550"/>
            <a:ext cx="2906466" cy="1622734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Sí se verifica</a:t>
            </a:r>
          </a:p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el </a:t>
            </a:r>
            <a:r>
              <a:rPr lang="es-ES" sz="2400" b="1" dirty="0" err="1">
                <a:latin typeface="Arial" panose="020B0604020202020204" pitchFamily="34" charset="0"/>
                <a:sym typeface="Symbol" panose="05050102010706020507" pitchFamily="18" charset="2"/>
              </a:rPr>
              <a:t>Ppo</a:t>
            </a:r>
            <a:r>
              <a:rPr lang="es-ES" sz="2400" b="1" dirty="0">
                <a:latin typeface="Arial" panose="020B0604020202020204" pitchFamily="34" charset="0"/>
                <a:sym typeface="Symbol" panose="05050102010706020507" pitchFamily="18" charset="2"/>
              </a:rPr>
              <a:t>. de Superposición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 experimentalmente</a:t>
            </a:r>
          </a:p>
        </p:txBody>
      </p:sp>
      <p:sp>
        <p:nvSpPr>
          <p:cNvPr id="3" name="Flecha derecha 2"/>
          <p:cNvSpPr/>
          <p:nvPr/>
        </p:nvSpPr>
        <p:spPr bwMode="auto">
          <a:xfrm>
            <a:off x="6870587" y="2439886"/>
            <a:ext cx="411983" cy="736670"/>
          </a:xfrm>
          <a:prstGeom prst="rightArrow">
            <a:avLst>
              <a:gd name="adj1" fmla="val 50000"/>
              <a:gd name="adj2" fmla="val 40126"/>
            </a:avLst>
          </a:prstGeom>
          <a:solidFill>
            <a:schemeClr val="accent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6046DD4C-274E-0D8A-8634-B2F6221D2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561" y="3698891"/>
            <a:ext cx="9078077" cy="88407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108000" tIns="72000" rIns="108000" bIns="720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Porque no cambia el valor de las propiedades que caracterizan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al medio y las fuerzas medidas son las esperadas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31C638-9287-0E23-A592-28ED3FB7B128}"/>
              </a:ext>
            </a:extLst>
          </p:cNvPr>
          <p:cNvSpPr txBox="1"/>
          <p:nvPr/>
        </p:nvSpPr>
        <p:spPr>
          <a:xfrm>
            <a:off x="3123412" y="6519280"/>
            <a:ext cx="530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solidFill>
                  <a:srgbClr val="FF0000"/>
                </a:solidFill>
              </a:rPr>
              <a:t>(K no dependerá de nada, será cte.)</a:t>
            </a:r>
            <a:endParaRPr lang="es-E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8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" grpId="0" animBg="1"/>
      <p:bldP spid="14" grpId="0" animBg="1"/>
      <p:bldP spid="15" grpId="0" animBg="1"/>
      <p:bldP spid="7" grpId="0" animBg="1"/>
      <p:bldP spid="3" grpId="0" animBg="1"/>
      <p:bldP spid="4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9188</TotalTime>
  <Words>2748</Words>
  <Application>Microsoft Office PowerPoint</Application>
  <PresentationFormat>Personalizado</PresentationFormat>
  <Paragraphs>490</Paragraphs>
  <Slides>28</Slides>
  <Notes>27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Arial</vt:lpstr>
      <vt:lpstr>Cambria Math</vt:lpstr>
      <vt:lpstr>Comic Sans MS</vt:lpstr>
      <vt:lpstr>Symbol</vt:lpstr>
      <vt:lpstr>Times New Roman</vt:lpstr>
      <vt:lpstr>Trebuchet MS</vt:lpstr>
      <vt:lpstr>FNT_2012_TEMA1_1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1494</cp:revision>
  <dcterms:created xsi:type="dcterms:W3CDTF">2012-02-20T13:06:36Z</dcterms:created>
  <dcterms:modified xsi:type="dcterms:W3CDTF">2024-09-27T08:48:54Z</dcterms:modified>
</cp:coreProperties>
</file>