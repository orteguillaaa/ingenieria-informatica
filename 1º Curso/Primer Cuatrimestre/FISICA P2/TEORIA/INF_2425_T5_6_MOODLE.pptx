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6"/>
  </p:notesMasterIdLst>
  <p:handoutMasterIdLst>
    <p:handoutMasterId r:id="rId27"/>
  </p:handoutMasterIdLst>
  <p:sldIdLst>
    <p:sldId id="588" r:id="rId2"/>
    <p:sldId id="586" r:id="rId3"/>
    <p:sldId id="572" r:id="rId4"/>
    <p:sldId id="599" r:id="rId5"/>
    <p:sldId id="573" r:id="rId6"/>
    <p:sldId id="579" r:id="rId7"/>
    <p:sldId id="574" r:id="rId8"/>
    <p:sldId id="580" r:id="rId9"/>
    <p:sldId id="600" r:id="rId10"/>
    <p:sldId id="634" r:id="rId11"/>
    <p:sldId id="633" r:id="rId12"/>
    <p:sldId id="647" r:id="rId13"/>
    <p:sldId id="658" r:id="rId14"/>
    <p:sldId id="657" r:id="rId15"/>
    <p:sldId id="640" r:id="rId16"/>
    <p:sldId id="641" r:id="rId17"/>
    <p:sldId id="635" r:id="rId18"/>
    <p:sldId id="656" r:id="rId19"/>
    <p:sldId id="592" r:id="rId20"/>
    <p:sldId id="597" r:id="rId21"/>
    <p:sldId id="654" r:id="rId22"/>
    <p:sldId id="638" r:id="rId23"/>
    <p:sldId id="653" r:id="rId24"/>
    <p:sldId id="575" r:id="rId25"/>
  </p:sldIdLst>
  <p:sldSz cx="10801350" cy="7200900"/>
  <p:notesSz cx="6815138" cy="9942513"/>
  <p:defaultTextStyle>
    <a:defPPr>
      <a:defRPr lang="es-E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8" userDrawn="1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FFFFFF"/>
    <a:srgbClr val="3333FF"/>
    <a:srgbClr val="99CCFF"/>
    <a:srgbClr val="CCFFCC"/>
    <a:srgbClr val="FFFF99"/>
    <a:srgbClr val="C0C0C0"/>
    <a:srgbClr val="CCFFFF"/>
    <a:srgbClr val="FF0000"/>
    <a:srgbClr val="FF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353" autoAdjust="0"/>
    <p:restoredTop sz="96283" autoAdjust="0"/>
  </p:normalViewPr>
  <p:slideViewPr>
    <p:cSldViewPr snapToGrid="0" showGuides="1">
      <p:cViewPr varScale="1">
        <p:scale>
          <a:sx n="103" d="100"/>
          <a:sy n="103" d="100"/>
        </p:scale>
        <p:origin x="1200" y="108"/>
      </p:cViewPr>
      <p:guideLst>
        <p:guide orient="horz" pos="2268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s-ES"/>
              <a:t>TEMA 1: ECUACIONES DE MAXWELL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60800" y="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s-ES"/>
              <a:t>FNT - CURSO 2005/2006</a:t>
            </a: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C741A8E7-CD32-4CE8-BCC0-4EDDBF2EFA63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931603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s-ES"/>
              <a:t>TEMA 1: ECUACIONES DE MAXWELL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60800" y="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609600" y="746125"/>
            <a:ext cx="5594350" cy="37290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038" y="4724400"/>
            <a:ext cx="5453062" cy="4471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s-ES"/>
              <a:t>FNT - CURSO 2005/2006</a:t>
            </a: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928AC81D-71D2-46FB-8FEF-0C5A551529EF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83451944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819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B708514-881A-4B77-A275-09C0208D33FF}" type="slidenum">
              <a:rPr lang="es-ES" smtClean="0"/>
              <a:pPr>
                <a:spcBef>
                  <a:spcPct val="0"/>
                </a:spcBef>
              </a:pPr>
              <a:t>1</a:t>
            </a:fld>
            <a:endParaRPr lang="es-ES"/>
          </a:p>
        </p:txBody>
      </p:sp>
      <p:sp>
        <p:nvSpPr>
          <p:cNvPr id="819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s-ES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06937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8195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8196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ED54D28-C454-45EF-9776-12C9DE92A777}" type="slidenum">
              <a:rPr lang="es-ES"/>
              <a:pPr algn="r" eaLnBrk="1" hangingPunct="1">
                <a:spcBef>
                  <a:spcPct val="0"/>
                </a:spcBef>
              </a:pPr>
              <a:t>2</a:t>
            </a:fld>
            <a:endParaRPr lang="es-ES"/>
          </a:p>
        </p:txBody>
      </p:sp>
      <p:sp>
        <p:nvSpPr>
          <p:cNvPr id="819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55862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0243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0244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FA353E08-500C-4228-8B74-73BE461CBE12}" type="slidenum">
              <a:rPr lang="es-ES"/>
              <a:pPr algn="r" eaLnBrk="1" hangingPunct="1">
                <a:spcBef>
                  <a:spcPct val="0"/>
                </a:spcBef>
              </a:pPr>
              <a:t>3</a:t>
            </a:fld>
            <a:endParaRPr lang="es-ES"/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20524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0243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0244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FA353E08-500C-4228-8B74-73BE461CBE12}" type="slidenum">
              <a:rPr lang="es-ES"/>
              <a:pPr algn="r" eaLnBrk="1" hangingPunct="1">
                <a:spcBef>
                  <a:spcPct val="0"/>
                </a:spcBef>
              </a:pPr>
              <a:t>4</a:t>
            </a:fld>
            <a:endParaRPr lang="es-ES"/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28297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4339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4340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23E07D8-248D-4C8B-A734-972157FB230C}" type="slidenum">
              <a:rPr lang="es-ES"/>
              <a:pPr algn="r" eaLnBrk="1" hangingPunct="1">
                <a:spcBef>
                  <a:spcPct val="0"/>
                </a:spcBef>
              </a:pPr>
              <a:t>5</a:t>
            </a:fld>
            <a:endParaRPr lang="es-ES"/>
          </a:p>
        </p:txBody>
      </p:sp>
      <p:sp>
        <p:nvSpPr>
          <p:cNvPr id="1434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eaLnBrk="1" hangingPunct="1"/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91354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6387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6388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D7517D41-A7FA-4780-87A3-0072D0C99E59}" type="slidenum">
              <a:rPr lang="es-ES"/>
              <a:pPr algn="r" eaLnBrk="1" hangingPunct="1">
                <a:spcBef>
                  <a:spcPct val="0"/>
                </a:spcBef>
              </a:pPr>
              <a:t>6</a:t>
            </a:fld>
            <a:endParaRPr lang="es-ES"/>
          </a:p>
        </p:txBody>
      </p:sp>
      <p:sp>
        <p:nvSpPr>
          <p:cNvPr id="1638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9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eaLnBrk="1" hangingPunct="1"/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74962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8435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8436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9C010D1-16A0-4A95-9885-9C76C8C82D72}" type="slidenum">
              <a:rPr lang="es-ES"/>
              <a:pPr algn="r" eaLnBrk="1" hangingPunct="1">
                <a:spcBef>
                  <a:spcPct val="0"/>
                </a:spcBef>
              </a:pPr>
              <a:t>7</a:t>
            </a:fld>
            <a:endParaRPr lang="es-ES"/>
          </a:p>
        </p:txBody>
      </p:sp>
      <p:sp>
        <p:nvSpPr>
          <p:cNvPr id="184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65866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0483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0484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F9AC3F75-F933-43CC-A76B-6B90452BA01E}" type="slidenum">
              <a:rPr lang="es-ES"/>
              <a:pPr algn="r" eaLnBrk="1" hangingPunct="1">
                <a:spcBef>
                  <a:spcPct val="0"/>
                </a:spcBef>
              </a:pPr>
              <a:t>8</a:t>
            </a:fld>
            <a:endParaRPr lang="es-ES"/>
          </a:p>
        </p:txBody>
      </p:sp>
      <p:sp>
        <p:nvSpPr>
          <p:cNvPr id="204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30197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0483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0484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F9AC3F75-F933-43CC-A76B-6B90452BA01E}" type="slidenum">
              <a:rPr lang="es-ES"/>
              <a:pPr algn="r" eaLnBrk="1" hangingPunct="1">
                <a:spcBef>
                  <a:spcPct val="0"/>
                </a:spcBef>
              </a:pPr>
              <a:t>9</a:t>
            </a:fld>
            <a:endParaRPr lang="es-ES"/>
          </a:p>
        </p:txBody>
      </p:sp>
      <p:sp>
        <p:nvSpPr>
          <p:cNvPr id="204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74427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2531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2532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A7A7F927-DDFF-4446-ACCE-115407C80302}" type="slidenum">
              <a:rPr lang="es-ES"/>
              <a:pPr algn="r" eaLnBrk="1" hangingPunct="1">
                <a:spcBef>
                  <a:spcPct val="0"/>
                </a:spcBef>
              </a:pPr>
              <a:t>10</a:t>
            </a:fld>
            <a:endParaRPr lang="es-ES"/>
          </a:p>
        </p:txBody>
      </p:sp>
      <p:sp>
        <p:nvSpPr>
          <p:cNvPr id="2253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22715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0483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0484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F9AC3F75-F933-43CC-A76B-6B90452BA01E}" type="slidenum">
              <a:rPr lang="es-ES"/>
              <a:pPr algn="r" eaLnBrk="1" hangingPunct="1">
                <a:spcBef>
                  <a:spcPct val="0"/>
                </a:spcBef>
              </a:pPr>
              <a:t>11</a:t>
            </a:fld>
            <a:endParaRPr lang="es-ES"/>
          </a:p>
        </p:txBody>
      </p:sp>
      <p:sp>
        <p:nvSpPr>
          <p:cNvPr id="204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eaLnBrk="1" hangingPunct="1"/>
            <a:endParaRPr lang="es-E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27602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0483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0484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F9AC3F75-F933-43CC-A76B-6B90452BA01E}" type="slidenum">
              <a:rPr lang="es-ES"/>
              <a:pPr algn="r" eaLnBrk="1" hangingPunct="1">
                <a:spcBef>
                  <a:spcPct val="0"/>
                </a:spcBef>
              </a:pPr>
              <a:t>12</a:t>
            </a:fld>
            <a:endParaRPr lang="es-ES"/>
          </a:p>
        </p:txBody>
      </p:sp>
      <p:sp>
        <p:nvSpPr>
          <p:cNvPr id="204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eaLnBrk="1" hangingPunct="1"/>
            <a:endParaRPr lang="es-E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53711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0483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0484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F9AC3F75-F933-43CC-A76B-6B90452BA01E}" type="slidenum">
              <a:rPr lang="es-ES"/>
              <a:pPr algn="r" eaLnBrk="1" hangingPunct="1">
                <a:spcBef>
                  <a:spcPct val="0"/>
                </a:spcBef>
              </a:pPr>
              <a:t>13</a:t>
            </a:fld>
            <a:endParaRPr lang="es-ES"/>
          </a:p>
        </p:txBody>
      </p:sp>
      <p:sp>
        <p:nvSpPr>
          <p:cNvPr id="204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46632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4819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4820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AD6615C-6395-44E3-B6A0-559E2C8C1379}" type="slidenum">
              <a:rPr lang="es-ES"/>
              <a:pPr algn="r" eaLnBrk="1" hangingPunct="1">
                <a:spcBef>
                  <a:spcPct val="0"/>
                </a:spcBef>
              </a:pPr>
              <a:t>14</a:t>
            </a:fld>
            <a:endParaRPr lang="es-ES"/>
          </a:p>
        </p:txBody>
      </p:sp>
      <p:sp>
        <p:nvSpPr>
          <p:cNvPr id="34821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4822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4823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76322B7-A6A9-44EF-B25F-83CC5571FB6E}" type="slidenum">
              <a:rPr lang="es-ES"/>
              <a:pPr algn="r" eaLnBrk="1" hangingPunct="1">
                <a:spcBef>
                  <a:spcPct val="0"/>
                </a:spcBef>
              </a:pPr>
              <a:t>14</a:t>
            </a:fld>
            <a:endParaRPr lang="es-ES"/>
          </a:p>
        </p:txBody>
      </p:sp>
      <p:sp>
        <p:nvSpPr>
          <p:cNvPr id="3482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eaLnBrk="1" hangingPunct="1"/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52409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6867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6868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6AC3B40-8B22-46B2-A52E-2FB197B52A4E}" type="slidenum">
              <a:rPr lang="es-ES"/>
              <a:pPr algn="r" eaLnBrk="1" hangingPunct="1">
                <a:spcBef>
                  <a:spcPct val="0"/>
                </a:spcBef>
              </a:pPr>
              <a:t>15</a:t>
            </a:fld>
            <a:endParaRPr lang="es-ES"/>
          </a:p>
        </p:txBody>
      </p:sp>
      <p:sp>
        <p:nvSpPr>
          <p:cNvPr id="36869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6870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6871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F856BF33-4D56-44C5-B790-66868E642D16}" type="slidenum">
              <a:rPr lang="es-ES"/>
              <a:pPr algn="r" eaLnBrk="1" hangingPunct="1">
                <a:spcBef>
                  <a:spcPct val="0"/>
                </a:spcBef>
              </a:pPr>
              <a:t>15</a:t>
            </a:fld>
            <a:endParaRPr lang="es-ES"/>
          </a:p>
        </p:txBody>
      </p:sp>
      <p:sp>
        <p:nvSpPr>
          <p:cNvPr id="368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7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eaLnBrk="1" hangingPunct="1"/>
            <a:endParaRPr lang="es-E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39694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8915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8916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C264A86-AB47-49C8-A3E0-75CEC2E5CEA5}" type="slidenum">
              <a:rPr lang="es-ES"/>
              <a:pPr algn="r" eaLnBrk="1" hangingPunct="1">
                <a:spcBef>
                  <a:spcPct val="0"/>
                </a:spcBef>
              </a:pPr>
              <a:t>16</a:t>
            </a:fld>
            <a:endParaRPr lang="es-ES"/>
          </a:p>
        </p:txBody>
      </p:sp>
      <p:sp>
        <p:nvSpPr>
          <p:cNvPr id="38917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8918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8919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B436B32-1F27-405E-A26A-F941CF88D5CD}" type="slidenum">
              <a:rPr lang="es-ES"/>
              <a:pPr algn="r" eaLnBrk="1" hangingPunct="1">
                <a:spcBef>
                  <a:spcPct val="0"/>
                </a:spcBef>
              </a:pPr>
              <a:t>16</a:t>
            </a:fld>
            <a:endParaRPr lang="es-ES"/>
          </a:p>
        </p:txBody>
      </p:sp>
      <p:sp>
        <p:nvSpPr>
          <p:cNvPr id="3892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2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34942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4579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4580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595C8C1E-5DA4-454B-BEE4-5EB4241FDF98}" type="slidenum">
              <a:rPr lang="es-ES"/>
              <a:pPr algn="r" eaLnBrk="1" hangingPunct="1">
                <a:spcBef>
                  <a:spcPct val="0"/>
                </a:spcBef>
              </a:pPr>
              <a:t>17</a:t>
            </a:fld>
            <a:endParaRPr lang="es-ES"/>
          </a:p>
        </p:txBody>
      </p:sp>
      <p:sp>
        <p:nvSpPr>
          <p:cNvPr id="24581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4582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4583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56211E1D-24DE-4B02-A207-A23E10DDB7D5}" type="slidenum">
              <a:rPr lang="es-ES"/>
              <a:pPr algn="r" eaLnBrk="1" hangingPunct="1">
                <a:spcBef>
                  <a:spcPct val="0"/>
                </a:spcBef>
              </a:pPr>
              <a:t>17</a:t>
            </a:fld>
            <a:endParaRPr lang="es-ES"/>
          </a:p>
        </p:txBody>
      </p:sp>
      <p:sp>
        <p:nvSpPr>
          <p:cNvPr id="245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eaLnBrk="1" hangingPunct="1"/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72563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6627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6628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D6A16A1-0A0E-4BF7-AA95-1A8CE0F885BC}" type="slidenum">
              <a:rPr lang="es-ES"/>
              <a:pPr algn="r" eaLnBrk="1" hangingPunct="1">
                <a:spcBef>
                  <a:spcPct val="0"/>
                </a:spcBef>
              </a:pPr>
              <a:t>18</a:t>
            </a:fld>
            <a:endParaRPr lang="es-ES"/>
          </a:p>
        </p:txBody>
      </p:sp>
      <p:sp>
        <p:nvSpPr>
          <p:cNvPr id="26629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6630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6631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BCBE046B-BB9B-4C82-802F-90E4B600CBC0}" type="slidenum">
              <a:rPr lang="es-ES"/>
              <a:pPr algn="r" eaLnBrk="1" hangingPunct="1">
                <a:spcBef>
                  <a:spcPct val="0"/>
                </a:spcBef>
              </a:pPr>
              <a:t>18</a:t>
            </a:fld>
            <a:endParaRPr lang="es-ES"/>
          </a:p>
        </p:txBody>
      </p:sp>
      <p:sp>
        <p:nvSpPr>
          <p:cNvPr id="266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3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01140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8675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8676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E06189C-44AE-452B-B570-011EDEDD7E30}" type="slidenum">
              <a:rPr lang="es-ES"/>
              <a:pPr algn="r" eaLnBrk="1" hangingPunct="1">
                <a:spcBef>
                  <a:spcPct val="0"/>
                </a:spcBef>
              </a:pPr>
              <a:t>19</a:t>
            </a:fld>
            <a:endParaRPr lang="es-ES"/>
          </a:p>
        </p:txBody>
      </p:sp>
      <p:sp>
        <p:nvSpPr>
          <p:cNvPr id="28677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8678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8679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F74DC987-5510-4A12-BDE0-F6935C9DFC02}" type="slidenum">
              <a:rPr lang="es-ES"/>
              <a:pPr algn="r" eaLnBrk="1" hangingPunct="1">
                <a:spcBef>
                  <a:spcPct val="0"/>
                </a:spcBef>
              </a:pPr>
              <a:t>19</a:t>
            </a:fld>
            <a:endParaRPr lang="es-ES"/>
          </a:p>
        </p:txBody>
      </p:sp>
      <p:sp>
        <p:nvSpPr>
          <p:cNvPr id="2868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8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eaLnBrk="1" hangingPunct="1"/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19187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0723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0724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20DBB38-FCBA-4F29-A78F-694A95CED0C8}" type="slidenum">
              <a:rPr lang="es-ES"/>
              <a:pPr algn="r" eaLnBrk="1" hangingPunct="1">
                <a:spcBef>
                  <a:spcPct val="0"/>
                </a:spcBef>
              </a:pPr>
              <a:t>20</a:t>
            </a:fld>
            <a:endParaRPr lang="es-ES"/>
          </a:p>
        </p:txBody>
      </p:sp>
      <p:sp>
        <p:nvSpPr>
          <p:cNvPr id="30725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0726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0727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DA30DF0-8324-4938-8D56-736CCF5FEBED}" type="slidenum">
              <a:rPr lang="es-ES"/>
              <a:pPr algn="r" eaLnBrk="1" hangingPunct="1">
                <a:spcBef>
                  <a:spcPct val="0"/>
                </a:spcBef>
              </a:pPr>
              <a:t>20</a:t>
            </a:fld>
            <a:endParaRPr lang="es-ES"/>
          </a:p>
        </p:txBody>
      </p:sp>
      <p:sp>
        <p:nvSpPr>
          <p:cNvPr id="307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eaLnBrk="1" hangingPunct="1"/>
            <a:endParaRPr lang="es-E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779964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0723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0724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20DBB38-FCBA-4F29-A78F-694A95CED0C8}" type="slidenum">
              <a:rPr lang="es-ES"/>
              <a:pPr algn="r" eaLnBrk="1" hangingPunct="1">
                <a:spcBef>
                  <a:spcPct val="0"/>
                </a:spcBef>
              </a:pPr>
              <a:t>21</a:t>
            </a:fld>
            <a:endParaRPr lang="es-ES"/>
          </a:p>
        </p:txBody>
      </p:sp>
      <p:sp>
        <p:nvSpPr>
          <p:cNvPr id="30725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0726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0727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DA30DF0-8324-4938-8D56-736CCF5FEBED}" type="slidenum">
              <a:rPr lang="es-ES"/>
              <a:pPr algn="r" eaLnBrk="1" hangingPunct="1">
                <a:spcBef>
                  <a:spcPct val="0"/>
                </a:spcBef>
              </a:pPr>
              <a:t>21</a:t>
            </a:fld>
            <a:endParaRPr lang="es-ES"/>
          </a:p>
        </p:txBody>
      </p:sp>
      <p:sp>
        <p:nvSpPr>
          <p:cNvPr id="307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eaLnBrk="1" hangingPunct="1"/>
            <a:endParaRPr lang="es-E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096736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0723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0724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20DBB38-FCBA-4F29-A78F-694A95CED0C8}" type="slidenum">
              <a:rPr lang="es-ES"/>
              <a:pPr algn="r" eaLnBrk="1" hangingPunct="1">
                <a:spcBef>
                  <a:spcPct val="0"/>
                </a:spcBef>
              </a:pPr>
              <a:t>22</a:t>
            </a:fld>
            <a:endParaRPr lang="es-ES"/>
          </a:p>
        </p:txBody>
      </p:sp>
      <p:sp>
        <p:nvSpPr>
          <p:cNvPr id="30725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0726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0727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DA30DF0-8324-4938-8D56-736CCF5FEBED}" type="slidenum">
              <a:rPr lang="es-ES"/>
              <a:pPr algn="r" eaLnBrk="1" hangingPunct="1">
                <a:spcBef>
                  <a:spcPct val="0"/>
                </a:spcBef>
              </a:pPr>
              <a:t>22</a:t>
            </a:fld>
            <a:endParaRPr lang="es-ES"/>
          </a:p>
        </p:txBody>
      </p:sp>
      <p:sp>
        <p:nvSpPr>
          <p:cNvPr id="307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534097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2771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2772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AB8A700-BEE4-46F1-A6E8-AD8FEC768169}" type="slidenum">
              <a:rPr lang="es-ES"/>
              <a:pPr algn="r" eaLnBrk="1" hangingPunct="1">
                <a:spcBef>
                  <a:spcPct val="0"/>
                </a:spcBef>
              </a:pPr>
              <a:t>23</a:t>
            </a:fld>
            <a:endParaRPr lang="es-ES"/>
          </a:p>
        </p:txBody>
      </p:sp>
      <p:sp>
        <p:nvSpPr>
          <p:cNvPr id="32773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2774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2775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6152D036-F175-4A6E-B212-255001826B39}" type="slidenum">
              <a:rPr lang="es-ES"/>
              <a:pPr algn="r" eaLnBrk="1" hangingPunct="1">
                <a:spcBef>
                  <a:spcPct val="0"/>
                </a:spcBef>
              </a:pPr>
              <a:t>23</a:t>
            </a:fld>
            <a:endParaRPr lang="es-ES"/>
          </a:p>
        </p:txBody>
      </p:sp>
      <p:sp>
        <p:nvSpPr>
          <p:cNvPr id="3277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22678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26" descr="Canvas"/>
          <p:cNvSpPr>
            <a:spLocks noChangeArrowheads="1"/>
          </p:cNvSpPr>
          <p:nvPr/>
        </p:nvSpPr>
        <p:spPr bwMode="white">
          <a:xfrm>
            <a:off x="623888" y="211138"/>
            <a:ext cx="9920287" cy="6791325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2870" tIns="51435" rIns="102870" bIns="51435" anchor="ctr"/>
          <a:lstStyle>
            <a:lvl1pPr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defRPr/>
            </a:pPr>
            <a:endParaRPr kumimoji="1" lang="es-ES" sz="27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5" name="Picture 1027" descr="minispi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ltGray">
          <a:xfrm>
            <a:off x="0" y="53975"/>
            <a:ext cx="1395413" cy="450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028" descr="Canvas"/>
          <p:cNvSpPr>
            <a:spLocks noChangeArrowheads="1"/>
          </p:cNvSpPr>
          <p:nvPr/>
        </p:nvSpPr>
        <p:spPr bwMode="white">
          <a:xfrm>
            <a:off x="704850" y="4337050"/>
            <a:ext cx="1230313" cy="479425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2870" tIns="51435" rIns="102870" bIns="51435" anchor="ctr"/>
          <a:lstStyle>
            <a:lvl1pPr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defRPr/>
            </a:pPr>
            <a:endParaRPr kumimoji="1" lang="es-ES" sz="27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7" name="Picture 1029" descr="minispi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999"/>
          <a:stretch>
            <a:fillRect/>
          </a:stretch>
        </p:blipFill>
        <p:spPr bwMode="ltGray">
          <a:xfrm>
            <a:off x="0" y="4433888"/>
            <a:ext cx="1395413" cy="270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214" name="Rectangle 1030"/>
          <p:cNvSpPr>
            <a:spLocks noGrp="1" noChangeArrowheads="1"/>
          </p:cNvSpPr>
          <p:nvPr>
            <p:ph type="ctrTitle"/>
          </p:nvPr>
        </p:nvSpPr>
        <p:spPr>
          <a:xfrm>
            <a:off x="1079500" y="2160588"/>
            <a:ext cx="9121775" cy="120015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94215" name="Rectangle 1031"/>
          <p:cNvSpPr>
            <a:spLocks noGrp="1" noChangeArrowheads="1"/>
          </p:cNvSpPr>
          <p:nvPr>
            <p:ph type="subTitle" idx="1"/>
          </p:nvPr>
        </p:nvSpPr>
        <p:spPr>
          <a:xfrm>
            <a:off x="1920875" y="4079875"/>
            <a:ext cx="7559675" cy="186055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8" name="Rectangle 1032"/>
          <p:cNvSpPr>
            <a:spLocks noGrp="1" noChangeArrowheads="1"/>
          </p:cNvSpPr>
          <p:nvPr>
            <p:ph type="dt" sz="quarter" idx="10"/>
          </p:nvPr>
        </p:nvSpPr>
        <p:spPr>
          <a:xfrm>
            <a:off x="1281113" y="6400800"/>
            <a:ext cx="2249487" cy="4794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1033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0838" y="6400800"/>
            <a:ext cx="3421062" cy="4794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" name="Rectangle 103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12138" y="6400800"/>
            <a:ext cx="2249487" cy="4794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B66E4D-467C-4080-BAB9-6987E2780619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57008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9E0795-BB3D-4C87-B089-DCC5DDD190C1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09795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52488" y="4627563"/>
            <a:ext cx="9182100" cy="1430337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852488" y="3052763"/>
            <a:ext cx="9182100" cy="15748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9FD2B1-C462-4F15-8ABB-430E2B82BC0E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48755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1260475" y="1839913"/>
            <a:ext cx="4424363" cy="4321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837238" y="1839913"/>
            <a:ext cx="4424362" cy="4321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1D24C9-0DD7-4DEF-945C-52AF6146976B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50502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9750" y="288925"/>
            <a:ext cx="9721850" cy="120015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39750" y="1611313"/>
            <a:ext cx="4772025" cy="6731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39750" y="2284413"/>
            <a:ext cx="4772025" cy="41481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5486400" y="1611313"/>
            <a:ext cx="4775200" cy="6731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5486400" y="2284413"/>
            <a:ext cx="4775200" cy="41481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56FE49-5F52-4C47-8B21-6810BD1F4DE2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90048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FA862E-3469-4C92-A496-5DE813A6D281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62759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372859-E346-4574-A2D7-8A30B55D76AA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42731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9750" y="287338"/>
            <a:ext cx="3554413" cy="12192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222750" y="287338"/>
            <a:ext cx="6038850" cy="61452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539750" y="1506538"/>
            <a:ext cx="3554413" cy="49260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805CFB-ADBE-4EB6-98D8-B5C9ADD8E304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16967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117725" y="5040313"/>
            <a:ext cx="6480175" cy="59531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117725" y="642938"/>
            <a:ext cx="6480175" cy="43211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117725" y="5635625"/>
            <a:ext cx="6480175" cy="8445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3552E0-DCA9-4559-8D64-FC59F9CBD73E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59385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E8E6AF-D245-48DB-BBD4-85CC1FDA936B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37372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012113" y="400050"/>
            <a:ext cx="2249487" cy="57610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1260475" y="400050"/>
            <a:ext cx="6599238" cy="57610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C87191-D6BA-49C9-B7CC-79F2A154FC92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1889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/>
          </p:nvPr>
        </p:nvSpPr>
        <p:spPr>
          <a:xfrm>
            <a:off x="1260475" y="400050"/>
            <a:ext cx="9001125" cy="57610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2E6CE8-97FA-44D6-B372-7B74AAFF398D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99851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rgbClr val="906D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720725" y="239713"/>
            <a:ext cx="9731375" cy="6710362"/>
          </a:xfrm>
          <a:prstGeom prst="rect">
            <a:avLst/>
          </a:prstGeom>
          <a:solidFill>
            <a:srgbClr val="EDE7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2870" tIns="51435" rIns="102870" bIns="51435" anchor="ctr"/>
          <a:lstStyle>
            <a:lvl1pPr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defRPr/>
            </a:pPr>
            <a:endParaRPr kumimoji="1" lang="es-ES" sz="27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7" name="Line 3"/>
          <p:cNvSpPr>
            <a:spLocks noChangeShapeType="1"/>
          </p:cNvSpPr>
          <p:nvPr/>
        </p:nvSpPr>
        <p:spPr bwMode="ltGray">
          <a:xfrm>
            <a:off x="1200150" y="1679575"/>
            <a:ext cx="9061450" cy="0"/>
          </a:xfrm>
          <a:prstGeom prst="line">
            <a:avLst/>
          </a:prstGeom>
          <a:noFill/>
          <a:ln w="31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pic>
        <p:nvPicPr>
          <p:cNvPr id="1028" name="Picture 4" descr="minispir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33"/>
          <a:stretch>
            <a:fillRect/>
          </a:stretch>
        </p:blipFill>
        <p:spPr bwMode="ltGray">
          <a:xfrm>
            <a:off x="0" y="53975"/>
            <a:ext cx="1395413" cy="425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 descr="minispir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999"/>
          <a:stretch>
            <a:fillRect/>
          </a:stretch>
        </p:blipFill>
        <p:spPr bwMode="ltGray">
          <a:xfrm>
            <a:off x="0" y="4433888"/>
            <a:ext cx="1395413" cy="270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0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260475" y="400050"/>
            <a:ext cx="90011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2870" tIns="51435" rIns="102870" bIns="5143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60475" y="1839913"/>
            <a:ext cx="9001125" cy="432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93192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98563" y="6411913"/>
            <a:ext cx="2249487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3193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78288" y="6411913"/>
            <a:ext cx="3421062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3194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129588" y="6411913"/>
            <a:ext cx="2249487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51F63009-D131-49F5-B24F-DFE98357E26C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38" r:id="rId1"/>
    <p:sldLayoutId id="2147484027" r:id="rId2"/>
    <p:sldLayoutId id="2147484028" r:id="rId3"/>
    <p:sldLayoutId id="2147484029" r:id="rId4"/>
    <p:sldLayoutId id="2147484030" r:id="rId5"/>
    <p:sldLayoutId id="2147484031" r:id="rId6"/>
    <p:sldLayoutId id="2147484032" r:id="rId7"/>
    <p:sldLayoutId id="2147484033" r:id="rId8"/>
    <p:sldLayoutId id="2147484034" r:id="rId9"/>
    <p:sldLayoutId id="2147484035" r:id="rId10"/>
    <p:sldLayoutId id="2147484036" r:id="rId11"/>
    <p:sldLayoutId id="2147484037" r:id="rId12"/>
  </p:sldLayoutIdLst>
  <p:txStyles>
    <p:titleStyle>
      <a:lvl1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2pPr>
      <a:lvl3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3pPr>
      <a:lvl4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4pPr>
      <a:lvl5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5pPr>
      <a:lvl6pPr marL="4572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6pPr>
      <a:lvl7pPr marL="9144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7pPr>
      <a:lvl8pPr marL="13716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8pPr>
      <a:lvl9pPr marL="18288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9pPr>
    </p:titleStyle>
    <p:bodyStyle>
      <a:lvl1pPr marL="385763" indent="-385763" algn="l" defTabSz="1028700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36613" indent="-322263" algn="l" defTabSz="1028700" rtl="0" eaLnBrk="0" fontAlgn="base" hangingPunct="0">
        <a:spcBef>
          <a:spcPct val="20000"/>
        </a:spcBef>
        <a:spcAft>
          <a:spcPct val="0"/>
        </a:spcAft>
        <a:buChar char="–"/>
        <a:defRPr sz="3200">
          <a:solidFill>
            <a:schemeClr val="tx1"/>
          </a:solidFill>
          <a:latin typeface="+mn-lt"/>
        </a:defRPr>
      </a:lvl2pPr>
      <a:lvl3pPr marL="1285875" indent="-257175" algn="l" defTabSz="1028700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800225" indent="-257175" algn="l" defTabSz="1028700" rtl="0" eaLnBrk="0" fontAlgn="base" hangingPunct="0">
        <a:spcBef>
          <a:spcPct val="20000"/>
        </a:spcBef>
        <a:spcAft>
          <a:spcPct val="0"/>
        </a:spcAft>
        <a:buChar char="–"/>
        <a:defRPr sz="2300">
          <a:solidFill>
            <a:schemeClr val="tx1"/>
          </a:solidFill>
          <a:latin typeface="+mn-lt"/>
        </a:defRPr>
      </a:lvl4pPr>
      <a:lvl5pPr marL="2314575" indent="-257175" algn="l" defTabSz="1028700" rtl="0" eaLnBrk="0" fontAlgn="base" hangingPunct="0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5pPr>
      <a:lvl6pPr marL="2771775" indent="-257175" algn="l" defTabSz="1028700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6pPr>
      <a:lvl7pPr marL="3228975" indent="-257175" algn="l" defTabSz="1028700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7pPr>
      <a:lvl8pPr marL="3686175" indent="-257175" algn="l" defTabSz="1028700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8pPr>
      <a:lvl9pPr marL="4143375" indent="-257175" algn="l" defTabSz="1028700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w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8.w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3509963" y="3319463"/>
            <a:ext cx="4514850" cy="5302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s-ES" sz="2400" b="1">
                <a:latin typeface="Comic Sans MS" panose="030F0702030302020204" pitchFamily="66" charset="0"/>
              </a:rPr>
              <a:t>INTERACCIÓN MAGNÉTICA</a:t>
            </a:r>
          </a:p>
        </p:txBody>
      </p:sp>
      <p:sp>
        <p:nvSpPr>
          <p:cNvPr id="7171" name="Text Box 3"/>
          <p:cNvSpPr txBox="1">
            <a:spLocks noChangeArrowheads="1"/>
          </p:cNvSpPr>
          <p:nvPr/>
        </p:nvSpPr>
        <p:spPr bwMode="auto">
          <a:xfrm>
            <a:off x="5268913" y="4424363"/>
            <a:ext cx="93345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Comic Sans MS" panose="030F0702030302020204" pitchFamily="66" charset="0"/>
              </a:rPr>
              <a:t>(6/7)</a:t>
            </a:r>
          </a:p>
        </p:txBody>
      </p:sp>
      <p:sp>
        <p:nvSpPr>
          <p:cNvPr id="7172" name="Text Box 4"/>
          <p:cNvSpPr txBox="1">
            <a:spLocks noChangeArrowheads="1"/>
          </p:cNvSpPr>
          <p:nvPr/>
        </p:nvSpPr>
        <p:spPr bwMode="auto">
          <a:xfrm>
            <a:off x="5065713" y="2298700"/>
            <a:ext cx="13970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Comic Sans MS" panose="030F0702030302020204" pitchFamily="66" charset="0"/>
              </a:rPr>
              <a:t>TEMA 5</a:t>
            </a:r>
          </a:p>
        </p:txBody>
      </p:sp>
      <p:grpSp>
        <p:nvGrpSpPr>
          <p:cNvPr id="10" name="Group 23">
            <a:extLst>
              <a:ext uri="{FF2B5EF4-FFF2-40B4-BE49-F238E27FC236}">
                <a16:creationId xmlns:a16="http://schemas.microsoft.com/office/drawing/2014/main" id="{8EF04BC1-22D8-4109-A744-DF4A62412ACF}"/>
              </a:ext>
            </a:extLst>
          </p:cNvPr>
          <p:cNvGrpSpPr>
            <a:grpSpLocks/>
          </p:cNvGrpSpPr>
          <p:nvPr/>
        </p:nvGrpSpPr>
        <p:grpSpPr bwMode="auto">
          <a:xfrm>
            <a:off x="6853766" y="295654"/>
            <a:ext cx="3595689" cy="2828925"/>
            <a:chOff x="4653" y="276"/>
            <a:chExt cx="2265" cy="1782"/>
          </a:xfrm>
        </p:grpSpPr>
        <p:sp>
          <p:nvSpPr>
            <p:cNvPr id="11" name="AutoShape 1067">
              <a:extLst>
                <a:ext uri="{FF2B5EF4-FFF2-40B4-BE49-F238E27FC236}">
                  <a16:creationId xmlns:a16="http://schemas.microsoft.com/office/drawing/2014/main" id="{B08C33AA-4F51-4F86-85D2-ED2831E9DF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3" y="276"/>
              <a:ext cx="2265" cy="1782"/>
            </a:xfrm>
            <a:prstGeom prst="foldedCorner">
              <a:avLst>
                <a:gd name="adj" fmla="val 12500"/>
              </a:avLst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2" name="Text Box 1068">
              <a:extLst>
                <a:ext uri="{FF2B5EF4-FFF2-40B4-BE49-F238E27FC236}">
                  <a16:creationId xmlns:a16="http://schemas.microsoft.com/office/drawing/2014/main" id="{D58E185E-CF16-4592-ADE6-54E1802E00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01" y="378"/>
              <a:ext cx="1786" cy="523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 b="1">
                  <a:latin typeface="Trebuchet MS" panose="020B0603020202020204" pitchFamily="34" charset="0"/>
                </a:rPr>
                <a:t>2ª SESIÓN DE PROBLEMAS</a:t>
              </a:r>
            </a:p>
          </p:txBody>
        </p:sp>
        <p:sp>
          <p:nvSpPr>
            <p:cNvPr id="13" name="Text Box 1069">
              <a:extLst>
                <a:ext uri="{FF2B5EF4-FFF2-40B4-BE49-F238E27FC236}">
                  <a16:creationId xmlns:a16="http://schemas.microsoft.com/office/drawing/2014/main" id="{62CF9796-7FFA-4946-81A4-428A71DB86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46" y="1006"/>
              <a:ext cx="2101" cy="25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anchorCtr="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 b="1" dirty="0">
                  <a:solidFill>
                    <a:srgbClr val="FFFFFF"/>
                  </a:solidFill>
                  <a:latin typeface="Trebuchet MS" panose="020B0603020202020204" pitchFamily="34" charset="0"/>
                </a:rPr>
                <a:t>Entre el 10 y el 12/12</a:t>
              </a:r>
            </a:p>
          </p:txBody>
        </p:sp>
        <p:sp>
          <p:nvSpPr>
            <p:cNvPr id="14" name="Text Box 1062">
              <a:extLst>
                <a:ext uri="{FF2B5EF4-FFF2-40B4-BE49-F238E27FC236}">
                  <a16:creationId xmlns:a16="http://schemas.microsoft.com/office/drawing/2014/main" id="{849E2165-4FC6-4864-B353-55B4CD657B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54" y="1272"/>
              <a:ext cx="87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 dirty="0">
                  <a:solidFill>
                    <a:srgbClr val="FF0000"/>
                  </a:solidFill>
                  <a:latin typeface="Trebuchet MS" panose="020B0603020202020204" pitchFamily="34" charset="0"/>
                </a:rPr>
                <a:t>(La próxima semana</a:t>
              </a:r>
            </a:p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 dirty="0">
                  <a:solidFill>
                    <a:srgbClr val="FF0000"/>
                  </a:solidFill>
                  <a:latin typeface="Trebuchet MS" panose="020B0603020202020204" pitchFamily="34" charset="0"/>
                </a:rPr>
                <a:t>no hay ni práctica,</a:t>
              </a:r>
            </a:p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 dirty="0">
                  <a:solidFill>
                    <a:srgbClr val="FF0000"/>
                  </a:solidFill>
                  <a:latin typeface="Trebuchet MS" panose="020B0603020202020204" pitchFamily="34" charset="0"/>
                </a:rPr>
                <a:t>ni sesión de </a:t>
              </a:r>
              <a:r>
                <a:rPr lang="es-ES" sz="2400" dirty="0" err="1">
                  <a:solidFill>
                    <a:srgbClr val="FF0000"/>
                  </a:solidFill>
                  <a:latin typeface="Trebuchet MS" panose="020B0603020202020204" pitchFamily="34" charset="0"/>
                </a:rPr>
                <a:t>prob</a:t>
              </a:r>
              <a:r>
                <a:rPr lang="es-ES" sz="2400" dirty="0">
                  <a:solidFill>
                    <a:srgbClr val="FF0000"/>
                  </a:solidFill>
                  <a:latin typeface="Trebuchet MS" panose="020B0603020202020204" pitchFamily="34" charset="0"/>
                </a:rPr>
                <a:t>.)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6">
            <a:extLst>
              <a:ext uri="{FF2B5EF4-FFF2-40B4-BE49-F238E27FC236}">
                <a16:creationId xmlns:a16="http://schemas.microsoft.com/office/drawing/2014/main" id="{AFEE2511-0CDD-7791-67F6-5880CFFF4D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3415" y="5762557"/>
            <a:ext cx="4752000" cy="460375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 Box 11">
            <a:extLst>
              <a:ext uri="{FF2B5EF4-FFF2-40B4-BE49-F238E27FC236}">
                <a16:creationId xmlns:a16="http://schemas.microsoft.com/office/drawing/2014/main" id="{392A24CE-39A6-7668-2C68-FFF8C8D506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92550" y="82273"/>
            <a:ext cx="2059959" cy="1253402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108000" tIns="72000" rIns="108000" bIns="720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>
                <a:solidFill>
                  <a:srgbClr val="FFFFFF"/>
                </a:solidFill>
                <a:latin typeface="Trebuchet MS" panose="020B0603020202020204" pitchFamily="34" charset="0"/>
              </a:rPr>
              <a:t>T1: 04/12/24</a:t>
            </a:r>
          </a:p>
          <a:p>
            <a:pPr algn="ctr" eaLnBrk="1" hangingPunct="1">
              <a:spcBef>
                <a:spcPts val="0"/>
              </a:spcBef>
            </a:pPr>
            <a:r>
              <a:rPr lang="es-ES" sz="2400">
                <a:solidFill>
                  <a:srgbClr val="FFFFFF"/>
                </a:solidFill>
                <a:latin typeface="Trebuchet MS" panose="020B0603020202020204" pitchFamily="34" charset="0"/>
              </a:rPr>
              <a:t>T2: 27/11/24</a:t>
            </a:r>
          </a:p>
          <a:p>
            <a:pPr algn="ctr" eaLnBrk="1" hangingPunct="1">
              <a:spcBef>
                <a:spcPts val="0"/>
              </a:spcBef>
            </a:pPr>
            <a:r>
              <a:rPr lang="es-ES" sz="2400">
                <a:solidFill>
                  <a:srgbClr val="FFFFFF"/>
                </a:solidFill>
                <a:latin typeface="Trebuchet MS" panose="020B0603020202020204" pitchFamily="34" charset="0"/>
              </a:rPr>
              <a:t>T3: 27/11/24</a:t>
            </a:r>
            <a:endParaRPr lang="es-ES" sz="2400" dirty="0">
              <a:solidFill>
                <a:srgbClr val="FFFFFF"/>
              </a:solidFill>
              <a:latin typeface="Trebuchet MS" panose="020B0603020202020204" pitchFamily="34" charset="0"/>
            </a:endParaRPr>
          </a:p>
        </p:txBody>
      </p:sp>
      <p:sp>
        <p:nvSpPr>
          <p:cNvPr id="3" name="Rectangle 19">
            <a:extLst>
              <a:ext uri="{FF2B5EF4-FFF2-40B4-BE49-F238E27FC236}">
                <a16:creationId xmlns:a16="http://schemas.microsoft.com/office/drawing/2014/main" id="{B0841032-58A6-2D80-81B0-21184A0A2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5135" y="6467047"/>
            <a:ext cx="627063" cy="4175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2" name="Rectangle 19"/>
          <p:cNvSpPr>
            <a:spLocks noChangeArrowheads="1"/>
          </p:cNvSpPr>
          <p:nvPr/>
        </p:nvSpPr>
        <p:spPr bwMode="auto">
          <a:xfrm>
            <a:off x="1498600" y="5784709"/>
            <a:ext cx="627063" cy="4175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1" name="Rectangle 19"/>
          <p:cNvSpPr>
            <a:spLocks noChangeArrowheads="1"/>
          </p:cNvSpPr>
          <p:nvPr/>
        </p:nvSpPr>
        <p:spPr bwMode="auto">
          <a:xfrm>
            <a:off x="1493838" y="5124309"/>
            <a:ext cx="627062" cy="4175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4" name="Rectangle 19"/>
          <p:cNvSpPr>
            <a:spLocks noChangeArrowheads="1"/>
          </p:cNvSpPr>
          <p:nvPr/>
        </p:nvSpPr>
        <p:spPr bwMode="auto">
          <a:xfrm>
            <a:off x="1489075" y="4152759"/>
            <a:ext cx="627063" cy="4175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5" name="Rectangle 18"/>
          <p:cNvSpPr>
            <a:spLocks noChangeArrowheads="1"/>
          </p:cNvSpPr>
          <p:nvPr/>
        </p:nvSpPr>
        <p:spPr bwMode="auto">
          <a:xfrm>
            <a:off x="1487488" y="3481246"/>
            <a:ext cx="627062" cy="4175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6" name="Rectangle 2"/>
          <p:cNvSpPr>
            <a:spLocks noChangeArrowheads="1"/>
          </p:cNvSpPr>
          <p:nvPr/>
        </p:nvSpPr>
        <p:spPr bwMode="auto">
          <a:xfrm>
            <a:off x="1487488" y="2193784"/>
            <a:ext cx="627062" cy="4175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7" name="Rectangle 4"/>
          <p:cNvSpPr>
            <a:spLocks noChangeArrowheads="1"/>
          </p:cNvSpPr>
          <p:nvPr/>
        </p:nvSpPr>
        <p:spPr bwMode="auto">
          <a:xfrm>
            <a:off x="1487488" y="1560371"/>
            <a:ext cx="627062" cy="4175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8" name="Rectangle 5"/>
          <p:cNvSpPr>
            <a:spLocks noChangeArrowheads="1"/>
          </p:cNvSpPr>
          <p:nvPr/>
        </p:nvSpPr>
        <p:spPr bwMode="auto">
          <a:xfrm>
            <a:off x="1409700" y="590550"/>
            <a:ext cx="8520113" cy="52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800" b="1">
                <a:solidFill>
                  <a:srgbClr val="CC0000"/>
                </a:solidFill>
                <a:latin typeface="Arial" panose="020B0604020202020204" pitchFamily="34" charset="0"/>
              </a:rPr>
              <a:t>TEMA 5: INTERACCIÓN MAGNÉTICA</a:t>
            </a:r>
          </a:p>
        </p:txBody>
      </p:sp>
      <p:sp>
        <p:nvSpPr>
          <p:cNvPr id="7179" name="Rectangle 6"/>
          <p:cNvSpPr>
            <a:spLocks noChangeArrowheads="1"/>
          </p:cNvSpPr>
          <p:nvPr/>
        </p:nvSpPr>
        <p:spPr bwMode="auto">
          <a:xfrm>
            <a:off x="1470025" y="1525446"/>
            <a:ext cx="708025" cy="54189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5.1.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5.2.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5.3.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5.4.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5.5.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5.6.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5.7.</a:t>
            </a:r>
          </a:p>
        </p:txBody>
      </p:sp>
      <p:sp>
        <p:nvSpPr>
          <p:cNvPr id="7180" name="Rectangle 7"/>
          <p:cNvSpPr>
            <a:spLocks noChangeArrowheads="1"/>
          </p:cNvSpPr>
          <p:nvPr/>
        </p:nvSpPr>
        <p:spPr bwMode="auto">
          <a:xfrm>
            <a:off x="2197100" y="1536559"/>
            <a:ext cx="8237538" cy="54189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Concepto de Campo Magnético. Ley de Gauss para B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Efectos de B sobre: una Carga (Fuerza de Lorentz y Efecto Hall), un Conductor (Ley de Laplace) y una Espira (Dipolo Magnético)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Fuentes de B: Leyes de Biot-Savart y </a:t>
            </a:r>
            <a:r>
              <a:rPr lang="es-ES" sz="2400" b="1" dirty="0" err="1">
                <a:latin typeface="Arial" panose="020B0604020202020204" pitchFamily="34" charset="0"/>
              </a:rPr>
              <a:t>Ampère</a:t>
            </a:r>
            <a:r>
              <a:rPr lang="es-ES" sz="2400" b="1" dirty="0">
                <a:latin typeface="Arial" panose="020B0604020202020204" pitchFamily="34" charset="0"/>
              </a:rPr>
              <a:t>-Maxwell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Ley de Inducción de Henry-Faraday. Ley de Lenz.    FEM por inducción o por movimiento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s-ES" sz="2400" b="1">
                <a:latin typeface="Arial" panose="020B0604020202020204" pitchFamily="34" charset="0"/>
              </a:rPr>
              <a:t>Ecuaciones de Maxwell: Ondas Electromagnéticas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Campo Magnético en </a:t>
            </a:r>
            <a:r>
              <a:rPr lang="es-ES" sz="2400" b="1">
                <a:latin typeface="Arial" panose="020B0604020202020204" pitchFamily="34" charset="0"/>
              </a:rPr>
              <a:t>la Materia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Bobinas</a:t>
            </a:r>
            <a:endParaRPr lang="es-ES" sz="2400" b="1" dirty="0">
              <a:latin typeface="Arial" panose="020B0604020202020204" pitchFamily="34" charset="0"/>
            </a:endParaRPr>
          </a:p>
        </p:txBody>
      </p:sp>
      <p:sp>
        <p:nvSpPr>
          <p:cNvPr id="7181" name="Line 20"/>
          <p:cNvSpPr>
            <a:spLocks noChangeShapeType="1"/>
          </p:cNvSpPr>
          <p:nvPr/>
        </p:nvSpPr>
        <p:spPr bwMode="auto">
          <a:xfrm flipV="1">
            <a:off x="9848850" y="1579421"/>
            <a:ext cx="219075" cy="1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82800" rIns="90000" bIns="82800">
            <a:spAutoFit/>
          </a:bodyPr>
          <a:lstStyle/>
          <a:p>
            <a:endParaRPr lang="en-GB"/>
          </a:p>
        </p:txBody>
      </p:sp>
      <p:sp>
        <p:nvSpPr>
          <p:cNvPr id="7182" name="Line 21"/>
          <p:cNvSpPr>
            <a:spLocks noChangeShapeType="1"/>
          </p:cNvSpPr>
          <p:nvPr/>
        </p:nvSpPr>
        <p:spPr bwMode="auto">
          <a:xfrm flipV="1">
            <a:off x="3925888" y="2228709"/>
            <a:ext cx="219075" cy="15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82800" rIns="90000" bIns="82800">
            <a:spAutoFit/>
          </a:bodyPr>
          <a:lstStyle/>
          <a:p>
            <a:endParaRPr lang="en-GB"/>
          </a:p>
        </p:txBody>
      </p:sp>
      <p:sp>
        <p:nvSpPr>
          <p:cNvPr id="7183" name="Line 22"/>
          <p:cNvSpPr>
            <a:spLocks noChangeShapeType="1"/>
          </p:cNvSpPr>
          <p:nvPr/>
        </p:nvSpPr>
        <p:spPr bwMode="auto">
          <a:xfrm flipV="1">
            <a:off x="4006850" y="3546334"/>
            <a:ext cx="2159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82800" rIns="90000" bIns="82800">
            <a:spAutoFit/>
          </a:bodyPr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1274909" y="370335"/>
            <a:ext cx="6521450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solidFill>
                  <a:srgbClr val="CC0000"/>
                </a:solidFill>
                <a:latin typeface="Arial" panose="020B0604020202020204" pitchFamily="34" charset="0"/>
              </a:rPr>
              <a:t>5.6 CAMPO MAGNÉTICO EN LA MATERIA</a:t>
            </a:r>
          </a:p>
        </p:txBody>
      </p:sp>
      <p:sp>
        <p:nvSpPr>
          <p:cNvPr id="9259" name="Text Box 6"/>
          <p:cNvSpPr txBox="1">
            <a:spLocks noChangeArrowheads="1"/>
          </p:cNvSpPr>
          <p:nvPr/>
        </p:nvSpPr>
        <p:spPr bwMode="auto">
          <a:xfrm>
            <a:off x="1393400" y="1808329"/>
            <a:ext cx="4272109" cy="169543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108000" tIns="144000" rIns="108000" bIns="72000" anchor="t" anchorCtr="1">
            <a:no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 dirty="0">
                <a:latin typeface="Arial" panose="020B0604020202020204" pitchFamily="34" charset="0"/>
              </a:rPr>
              <a:t>En la materia cada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protón</a:t>
            </a:r>
            <a:r>
              <a:rPr lang="es-ES" sz="2400" dirty="0">
                <a:latin typeface="Arial" panose="020B0604020202020204" pitchFamily="34" charset="0"/>
              </a:rPr>
              <a:t> "gira" sobre sí mismo y se mueve dentro de un núcleo</a:t>
            </a:r>
          </a:p>
        </p:txBody>
      </p:sp>
      <p:sp>
        <p:nvSpPr>
          <p:cNvPr id="9257" name="Text Box 7"/>
          <p:cNvSpPr txBox="1">
            <a:spLocks noChangeArrowheads="1"/>
          </p:cNvSpPr>
          <p:nvPr/>
        </p:nvSpPr>
        <p:spPr bwMode="auto">
          <a:xfrm>
            <a:off x="5856116" y="1808329"/>
            <a:ext cx="4368111" cy="169543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108000" tIns="144000" rIns="108000" bIns="72000" anchor="t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 dirty="0">
                <a:latin typeface="Arial" panose="020B0604020202020204" pitchFamily="34" charset="0"/>
              </a:rPr>
              <a:t>Cada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electrón</a:t>
            </a:r>
            <a:r>
              <a:rPr lang="es-ES" sz="2400" dirty="0">
                <a:latin typeface="Arial" panose="020B0604020202020204" pitchFamily="34" charset="0"/>
              </a:rPr>
              <a:t> "gira" sobre sí</a:t>
            </a:r>
          </a:p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 dirty="0">
                <a:latin typeface="Arial" panose="020B0604020202020204" pitchFamily="34" charset="0"/>
              </a:rPr>
              <a:t>y </a:t>
            </a:r>
            <a:r>
              <a:rPr lang="es-ES" sz="2400">
                <a:latin typeface="Arial" panose="020B0604020202020204" pitchFamily="34" charset="0"/>
              </a:rPr>
              <a:t>se mueve: </a:t>
            </a:r>
            <a:r>
              <a:rPr lang="es-ES" sz="2400" dirty="0">
                <a:latin typeface="Arial" panose="020B0604020202020204" pitchFamily="34" charset="0"/>
              </a:rPr>
              <a:t>o en un átomo,</a:t>
            </a:r>
          </a:p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 dirty="0">
                <a:latin typeface="Arial" panose="020B0604020202020204" pitchFamily="34" charset="0"/>
              </a:rPr>
              <a:t>o en una molécula,</a:t>
            </a:r>
          </a:p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 dirty="0">
                <a:latin typeface="Arial" panose="020B0604020202020204" pitchFamily="34" charset="0"/>
              </a:rPr>
              <a:t>o por todo el material</a:t>
            </a:r>
          </a:p>
        </p:txBody>
      </p:sp>
      <p:sp>
        <p:nvSpPr>
          <p:cNvPr id="9230" name="CuadroTexto 4"/>
          <p:cNvSpPr txBox="1">
            <a:spLocks noChangeArrowheads="1"/>
          </p:cNvSpPr>
          <p:nvPr/>
        </p:nvSpPr>
        <p:spPr bwMode="auto">
          <a:xfrm>
            <a:off x="3601039" y="1072659"/>
            <a:ext cx="4326903" cy="514738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72000" rIns="108000" bIns="72000" anchor="ctr" anchorCtr="1">
            <a:spAutoFit/>
          </a:bodyPr>
          <a:lstStyle>
            <a:lvl1pPr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" sz="2400">
                <a:solidFill>
                  <a:schemeClr val="tx1"/>
                </a:solidFill>
              </a:rPr>
              <a:t>Buscar cargas en movimiento</a:t>
            </a:r>
          </a:p>
        </p:txBody>
      </p:sp>
      <p:sp>
        <p:nvSpPr>
          <p:cNvPr id="8" name="Text Box 16">
            <a:extLst>
              <a:ext uri="{FF2B5EF4-FFF2-40B4-BE49-F238E27FC236}">
                <a16:creationId xmlns:a16="http://schemas.microsoft.com/office/drawing/2014/main" id="{8D8E64E7-F445-4178-92A5-9856D05EFE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3399" y="4757191"/>
            <a:ext cx="8830828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82800" rIns="90000" bIns="82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 En los </a:t>
            </a: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átomos 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o moléculas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:  </a:t>
            </a:r>
            <a:r>
              <a:rPr lang="es-ES" sz="2400" b="1" dirty="0" err="1">
                <a:solidFill>
                  <a:srgbClr val="000000"/>
                </a:solidFill>
                <a:latin typeface="Arial" panose="020B0604020202020204" pitchFamily="34" charset="0"/>
              </a:rPr>
              <a:t>B</a:t>
            </a:r>
            <a:r>
              <a:rPr lang="es-ES" sz="2400" baseline="-25000" dirty="0" err="1">
                <a:solidFill>
                  <a:srgbClr val="000000"/>
                </a:solidFill>
                <a:latin typeface="Arial" panose="020B0604020202020204" pitchFamily="34" charset="0"/>
              </a:rPr>
              <a:t>protones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&lt;&lt; </a:t>
            </a:r>
            <a:r>
              <a:rPr lang="es-ES" sz="2400" b="1" dirty="0" err="1">
                <a:solidFill>
                  <a:srgbClr val="000000"/>
                </a:solidFill>
                <a:latin typeface="Arial" panose="020B0604020202020204" pitchFamily="34" charset="0"/>
              </a:rPr>
              <a:t>B</a:t>
            </a:r>
            <a:r>
              <a:rPr lang="es-ES" sz="2400" baseline="-25000" dirty="0" err="1">
                <a:solidFill>
                  <a:srgbClr val="000000"/>
                </a:solidFill>
                <a:latin typeface="Arial" panose="020B0604020202020204" pitchFamily="34" charset="0"/>
              </a:rPr>
              <a:t>electrones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 Box 57">
            <a:extLst>
              <a:ext uri="{FF2B5EF4-FFF2-40B4-BE49-F238E27FC236}">
                <a16:creationId xmlns:a16="http://schemas.microsoft.com/office/drawing/2014/main" id="{C39D3EFC-757A-4C23-9129-CCD2589B66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3399" y="3741233"/>
            <a:ext cx="8830828" cy="90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 dirty="0">
                <a:latin typeface="Arial" panose="020B0604020202020204" pitchFamily="34" charset="0"/>
              </a:rPr>
              <a:t>El </a:t>
            </a:r>
            <a:r>
              <a:rPr lang="es-ES" sz="2400" b="1" dirty="0">
                <a:latin typeface="Arial" panose="020B0604020202020204" pitchFamily="34" charset="0"/>
              </a:rPr>
              <a:t>B</a:t>
            </a:r>
            <a:r>
              <a:rPr lang="es-ES" sz="2400" dirty="0">
                <a:latin typeface="Arial" panose="020B0604020202020204" pitchFamily="34" charset="0"/>
              </a:rPr>
              <a:t> suma del generado por los e</a:t>
            </a:r>
            <a:r>
              <a:rPr lang="es-ES" sz="2400" baseline="30000" dirty="0">
                <a:latin typeface="Arial" panose="020B0604020202020204" pitchFamily="34" charset="0"/>
              </a:rPr>
              <a:t>-</a:t>
            </a:r>
            <a:r>
              <a:rPr lang="es-ES" sz="2400" dirty="0">
                <a:latin typeface="Arial" panose="020B0604020202020204" pitchFamily="34" charset="0"/>
              </a:rPr>
              <a:t> que se mueven </a:t>
            </a: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</a:rPr>
              <a:t>por todo el material</a:t>
            </a:r>
            <a:r>
              <a:rPr lang="es-ES" sz="2400" dirty="0">
                <a:latin typeface="Arial" panose="020B0604020202020204" pitchFamily="34" charset="0"/>
              </a:rPr>
              <a:t>, asociado a su “giro” y movimiento por él, es nulo</a:t>
            </a:r>
          </a:p>
        </p:txBody>
      </p:sp>
      <p:sp>
        <p:nvSpPr>
          <p:cNvPr id="11" name="Text Box 16">
            <a:extLst>
              <a:ext uri="{FF2B5EF4-FFF2-40B4-BE49-F238E27FC236}">
                <a16:creationId xmlns:a16="http://schemas.microsoft.com/office/drawing/2014/main" id="{4098C0E6-464D-4579-B0ED-20D976F0B2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0157" y="5460377"/>
            <a:ext cx="8986013" cy="1275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82800" rIns="90000" bIns="82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 La contribución del “giro” de los </a:t>
            </a: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electrones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es mucho mayor que la contribución “orbital”, la de moverse en átomos o moléculas en torno a núcleos atómicos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2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2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9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9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59" grpId="0" animBg="1"/>
      <p:bldP spid="9257" grpId="0" animBg="1"/>
      <p:bldP spid="9230" grpId="0" animBg="1"/>
      <p:bldP spid="8" grpId="0"/>
      <p:bldP spid="10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o 9"/>
          <p:cNvGrpSpPr>
            <a:grpSpLocks/>
          </p:cNvGrpSpPr>
          <p:nvPr/>
        </p:nvGrpSpPr>
        <p:grpSpPr bwMode="auto">
          <a:xfrm>
            <a:off x="4786461" y="3012571"/>
            <a:ext cx="3608709" cy="514738"/>
            <a:chOff x="3956272" y="4834165"/>
            <a:chExt cx="3607924" cy="514738"/>
          </a:xfrm>
        </p:grpSpPr>
        <p:sp>
          <p:nvSpPr>
            <p:cNvPr id="9242" name="Text Box 28"/>
            <p:cNvSpPr txBox="1">
              <a:spLocks noChangeArrowheads="1"/>
            </p:cNvSpPr>
            <p:nvPr/>
          </p:nvSpPr>
          <p:spPr bwMode="auto">
            <a:xfrm>
              <a:off x="3956272" y="4854802"/>
              <a:ext cx="452438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dirty="0">
                  <a:solidFill>
                    <a:srgbClr val="008000"/>
                  </a:solidFill>
                  <a:latin typeface="Arial" panose="020B0604020202020204" pitchFamily="34" charset="0"/>
                  <a:sym typeface="Wingdings" panose="05000000000000000000" pitchFamily="2" charset="2"/>
                </a:rPr>
                <a:t></a:t>
              </a:r>
            </a:p>
          </p:txBody>
        </p:sp>
        <p:sp>
          <p:nvSpPr>
            <p:cNvPr id="9243" name="Text Box 29"/>
            <p:cNvSpPr txBox="1">
              <a:spLocks noChangeArrowheads="1"/>
            </p:cNvSpPr>
            <p:nvPr/>
          </p:nvSpPr>
          <p:spPr bwMode="auto">
            <a:xfrm>
              <a:off x="4948156" y="4834165"/>
              <a:ext cx="2616040" cy="51473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108000" tIns="72000" rIns="108000" bIns="72000" anchor="ctr" anchorCtr="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Diamagnéticos</a:t>
              </a:r>
            </a:p>
          </p:txBody>
        </p:sp>
      </p:grpSp>
      <p:grpSp>
        <p:nvGrpSpPr>
          <p:cNvPr id="9" name="Grupo 8"/>
          <p:cNvGrpSpPr>
            <a:grpSpLocks/>
          </p:cNvGrpSpPr>
          <p:nvPr/>
        </p:nvGrpSpPr>
        <p:grpSpPr bwMode="auto">
          <a:xfrm>
            <a:off x="3818689" y="2936663"/>
            <a:ext cx="914344" cy="2079564"/>
            <a:chOff x="3096300" y="4798229"/>
            <a:chExt cx="913893" cy="2081291"/>
          </a:xfrm>
        </p:grpSpPr>
        <p:sp>
          <p:nvSpPr>
            <p:cNvPr id="9239" name="AutoShape 31"/>
            <p:cNvSpPr>
              <a:spLocks/>
            </p:cNvSpPr>
            <p:nvPr/>
          </p:nvSpPr>
          <p:spPr bwMode="auto">
            <a:xfrm flipH="1">
              <a:off x="3096300" y="4798229"/>
              <a:ext cx="244477" cy="2081291"/>
            </a:xfrm>
            <a:prstGeom prst="rightBrace">
              <a:avLst>
                <a:gd name="adj1" fmla="val 79185"/>
                <a:gd name="adj2" fmla="val 38153"/>
              </a:avLst>
            </a:prstGeom>
            <a:noFill/>
            <a:ln w="38100">
              <a:solidFill>
                <a:srgbClr val="008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240" name="Text Box 32"/>
            <p:cNvSpPr txBox="1">
              <a:spLocks noChangeArrowheads="1"/>
            </p:cNvSpPr>
            <p:nvPr/>
          </p:nvSpPr>
          <p:spPr bwMode="auto">
            <a:xfrm>
              <a:off x="3392721" y="4863286"/>
              <a:ext cx="617472" cy="5369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= </a:t>
              </a:r>
              <a:r>
                <a:rPr lang="es-ES" sz="2400" b="1" dirty="0">
                  <a:solidFill>
                    <a:srgbClr val="000000"/>
                  </a:solidFill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9241" name="Text Box 33"/>
            <p:cNvSpPr txBox="1">
              <a:spLocks noChangeArrowheads="1"/>
            </p:cNvSpPr>
            <p:nvPr/>
          </p:nvSpPr>
          <p:spPr bwMode="auto">
            <a:xfrm>
              <a:off x="3381712" y="5898685"/>
              <a:ext cx="606257" cy="5369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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 </a:t>
              </a:r>
              <a:r>
                <a:rPr lang="es-ES" sz="2400" b="1" dirty="0">
                  <a:solidFill>
                    <a:srgbClr val="000000"/>
                  </a:solidFill>
                  <a:latin typeface="Arial" panose="020B0604020202020204" pitchFamily="34" charset="0"/>
                </a:rPr>
                <a:t>0</a:t>
              </a:r>
            </a:p>
          </p:txBody>
        </p:sp>
      </p:grpSp>
      <p:grpSp>
        <p:nvGrpSpPr>
          <p:cNvPr id="4" name="Grupo 3"/>
          <p:cNvGrpSpPr>
            <a:grpSpLocks/>
          </p:cNvGrpSpPr>
          <p:nvPr/>
        </p:nvGrpSpPr>
        <p:grpSpPr bwMode="auto">
          <a:xfrm>
            <a:off x="4786463" y="3615865"/>
            <a:ext cx="3588850" cy="1388217"/>
            <a:chOff x="3951606" y="5436826"/>
            <a:chExt cx="3588850" cy="1388217"/>
          </a:xfrm>
        </p:grpSpPr>
        <p:sp>
          <p:nvSpPr>
            <p:cNvPr id="9234" name="Text Box 37"/>
            <p:cNvSpPr txBox="1">
              <a:spLocks noChangeArrowheads="1"/>
            </p:cNvSpPr>
            <p:nvPr/>
          </p:nvSpPr>
          <p:spPr bwMode="auto">
            <a:xfrm>
              <a:off x="3951606" y="5903129"/>
              <a:ext cx="452438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dirty="0">
                  <a:solidFill>
                    <a:srgbClr val="008000"/>
                  </a:solidFill>
                  <a:latin typeface="Arial" panose="020B0604020202020204" pitchFamily="34" charset="0"/>
                  <a:sym typeface="Wingdings" panose="05000000000000000000" pitchFamily="2" charset="2"/>
                </a:rPr>
                <a:t></a:t>
              </a:r>
            </a:p>
          </p:txBody>
        </p:sp>
        <p:grpSp>
          <p:nvGrpSpPr>
            <p:cNvPr id="9235" name="Grupo 10"/>
            <p:cNvGrpSpPr>
              <a:grpSpLocks/>
            </p:cNvGrpSpPr>
            <p:nvPr/>
          </p:nvGrpSpPr>
          <p:grpSpPr bwMode="auto">
            <a:xfrm>
              <a:off x="4473652" y="5436826"/>
              <a:ext cx="3066804" cy="1388217"/>
              <a:chOff x="4473296" y="5436271"/>
              <a:chExt cx="3066308" cy="1388217"/>
            </a:xfrm>
          </p:grpSpPr>
          <p:sp>
            <p:nvSpPr>
              <p:cNvPr id="9236" name="AutoShape 38"/>
              <p:cNvSpPr>
                <a:spLocks/>
              </p:cNvSpPr>
              <p:nvPr/>
            </p:nvSpPr>
            <p:spPr bwMode="auto">
              <a:xfrm flipH="1">
                <a:off x="4473296" y="5436271"/>
                <a:ext cx="206375" cy="1388217"/>
              </a:xfrm>
              <a:prstGeom prst="rightBrace">
                <a:avLst>
                  <a:gd name="adj1" fmla="val 42115"/>
                  <a:gd name="adj2" fmla="val 50000"/>
                </a:avLst>
              </a:prstGeom>
              <a:noFill/>
              <a:ln w="38100">
                <a:solidFill>
                  <a:srgbClr val="008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9237" name="Text Box 39"/>
              <p:cNvSpPr txBox="1">
                <a:spLocks noChangeArrowheads="1"/>
              </p:cNvSpPr>
              <p:nvPr/>
            </p:nvSpPr>
            <p:spPr bwMode="auto">
              <a:xfrm>
                <a:off x="4928294" y="5528708"/>
                <a:ext cx="2611310" cy="514738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square" lIns="108000" tIns="72000" rIns="108000" bIns="72000" anchor="ctr" anchorCtr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Paramagnéticos</a:t>
                </a:r>
              </a:p>
            </p:txBody>
          </p:sp>
          <p:sp>
            <p:nvSpPr>
              <p:cNvPr id="9238" name="Text Box 40"/>
              <p:cNvSpPr txBox="1">
                <a:spLocks noChangeArrowheads="1"/>
              </p:cNvSpPr>
              <p:nvPr/>
            </p:nvSpPr>
            <p:spPr bwMode="auto">
              <a:xfrm>
                <a:off x="4928292" y="6268499"/>
                <a:ext cx="2611310" cy="514738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square" lIns="108000" tIns="72000" rIns="108000" bIns="72000" anchor="ctr" anchorCtr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Ferromagnéticos</a:t>
                </a:r>
              </a:p>
            </p:txBody>
          </p:sp>
        </p:grpSp>
      </p:grpSp>
      <p:sp>
        <p:nvSpPr>
          <p:cNvPr id="32" name="CuadroTexto 4"/>
          <p:cNvSpPr txBox="1">
            <a:spLocks noChangeArrowheads="1"/>
          </p:cNvSpPr>
          <p:nvPr/>
        </p:nvSpPr>
        <p:spPr bwMode="auto">
          <a:xfrm>
            <a:off x="4713401" y="444281"/>
            <a:ext cx="2143109" cy="514738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72000" rIns="108000" bIns="72000" anchor="ctr" anchorCtr="1">
            <a:spAutoFit/>
          </a:bodyPr>
          <a:lstStyle>
            <a:lvl1pPr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" sz="2400">
                <a:solidFill>
                  <a:schemeClr val="tx1"/>
                </a:solidFill>
              </a:rPr>
              <a:t>Conclusión</a:t>
            </a:r>
          </a:p>
        </p:txBody>
      </p:sp>
      <p:sp>
        <p:nvSpPr>
          <p:cNvPr id="33" name="Text Box 57"/>
          <p:cNvSpPr txBox="1">
            <a:spLocks noChangeArrowheads="1"/>
          </p:cNvSpPr>
          <p:nvPr/>
        </p:nvSpPr>
        <p:spPr bwMode="auto">
          <a:xfrm>
            <a:off x="1382229" y="1164015"/>
            <a:ext cx="8803758" cy="132610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El </a:t>
            </a:r>
            <a:r>
              <a:rPr lang="es-ES" sz="2400" b="1" dirty="0">
                <a:latin typeface="Arial" panose="020B0604020202020204" pitchFamily="34" charset="0"/>
              </a:rPr>
              <a:t>B</a:t>
            </a:r>
            <a:r>
              <a:rPr lang="es-ES" sz="2400" dirty="0">
                <a:latin typeface="Arial" panose="020B0604020202020204" pitchFamily="34" charset="0"/>
              </a:rPr>
              <a:t> generado por un material es suma del generado por sus moléculas, o átomos, y es, básicamente, la suma del generado por el “giro” (“spin” en inglés, espín) de sus electrones</a:t>
            </a:r>
          </a:p>
        </p:txBody>
      </p:sp>
      <p:sp>
        <p:nvSpPr>
          <p:cNvPr id="34" name="Text Box 57"/>
          <p:cNvSpPr txBox="1">
            <a:spLocks noChangeArrowheads="1"/>
          </p:cNvSpPr>
          <p:nvPr/>
        </p:nvSpPr>
        <p:spPr bwMode="auto">
          <a:xfrm>
            <a:off x="1990851" y="3371200"/>
            <a:ext cx="1795957" cy="587441"/>
          </a:xfrm>
          <a:prstGeom prst="rect">
            <a:avLst/>
          </a:prstGeom>
          <a:noFill/>
          <a:ln>
            <a:noFill/>
          </a:ln>
        </p:spPr>
        <p:txBody>
          <a:bodyPr wrap="squar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b="1" dirty="0" err="1">
                <a:latin typeface="Arial" panose="020B0604020202020204" pitchFamily="34" charset="0"/>
              </a:rPr>
              <a:t>B</a:t>
            </a:r>
            <a:r>
              <a:rPr lang="es-ES" sz="2400" baseline="-25000" dirty="0" err="1">
                <a:solidFill>
                  <a:srgbClr val="000000"/>
                </a:solidFill>
                <a:latin typeface="Arial" panose="020B0604020202020204" pitchFamily="34" charset="0"/>
              </a:rPr>
              <a:t>total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 molécula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9233" name="Text Box 42"/>
          <p:cNvSpPr txBox="1">
            <a:spLocks noChangeArrowheads="1"/>
          </p:cNvSpPr>
          <p:nvPr/>
        </p:nvSpPr>
        <p:spPr bwMode="auto">
          <a:xfrm>
            <a:off x="2187017" y="5767943"/>
            <a:ext cx="7192651" cy="884069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>
                <a:latin typeface="Arial" panose="020B0604020202020204" pitchFamily="34" charset="0"/>
              </a:rPr>
              <a:t>Sus moléculas son dipolos magnéticos, imanes, poseen magnetización permanente</a:t>
            </a:r>
          </a:p>
        </p:txBody>
      </p:sp>
      <p:sp>
        <p:nvSpPr>
          <p:cNvPr id="2" name="AutoShape 43"/>
          <p:cNvSpPr>
            <a:spLocks/>
          </p:cNvSpPr>
          <p:nvPr/>
        </p:nvSpPr>
        <p:spPr bwMode="auto">
          <a:xfrm>
            <a:off x="8594137" y="3671367"/>
            <a:ext cx="173013" cy="1344865"/>
          </a:xfrm>
          <a:prstGeom prst="rightBrace">
            <a:avLst>
              <a:gd name="adj1" fmla="val 53517"/>
              <a:gd name="adj2" fmla="val 50000"/>
            </a:avLst>
          </a:prstGeom>
          <a:noFill/>
          <a:ln w="38100">
            <a:solidFill>
              <a:srgbClr val="008000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82800" rIns="90000" bIns="82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Forma libre: forma 5">
            <a:extLst>
              <a:ext uri="{FF2B5EF4-FFF2-40B4-BE49-F238E27FC236}">
                <a16:creationId xmlns:a16="http://schemas.microsoft.com/office/drawing/2014/main" id="{5F79C110-4136-47ED-A036-87973227BCF2}"/>
              </a:ext>
            </a:extLst>
          </p:cNvPr>
          <p:cNvSpPr/>
          <p:nvPr/>
        </p:nvSpPr>
        <p:spPr bwMode="auto">
          <a:xfrm>
            <a:off x="8150083" y="4370033"/>
            <a:ext cx="1299958" cy="1207481"/>
          </a:xfrm>
          <a:custGeom>
            <a:avLst/>
            <a:gdLst>
              <a:gd name="connsiteX0" fmla="*/ 844826 w 1299958"/>
              <a:gd name="connsiteY0" fmla="*/ 0 h 1461052"/>
              <a:gd name="connsiteX1" fmla="*/ 1262269 w 1299958"/>
              <a:gd name="connsiteY1" fmla="*/ 337930 h 1461052"/>
              <a:gd name="connsiteX2" fmla="*/ 0 w 1299958"/>
              <a:gd name="connsiteY2" fmla="*/ 1461052 h 1461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99958" h="1461052">
                <a:moveTo>
                  <a:pt x="844826" y="0"/>
                </a:moveTo>
                <a:cubicBezTo>
                  <a:pt x="1123949" y="47210"/>
                  <a:pt x="1403073" y="94421"/>
                  <a:pt x="1262269" y="337930"/>
                </a:cubicBezTo>
                <a:cubicBezTo>
                  <a:pt x="1121465" y="581439"/>
                  <a:pt x="560732" y="1021245"/>
                  <a:pt x="0" y="1461052"/>
                </a:cubicBezTo>
              </a:path>
            </a:pathLst>
          </a:custGeom>
          <a:noFill/>
          <a:ln w="38100" cap="flat" cmpd="sng" algn="ctr">
            <a:solidFill>
              <a:srgbClr val="008000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vert="horz" wrap="non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4639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9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34" grpId="0"/>
      <p:bldP spid="9233" grpId="0" animBg="1"/>
      <p:bldP spid="2" grpId="0" animBg="1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ángulo 97">
            <a:extLst>
              <a:ext uri="{FF2B5EF4-FFF2-40B4-BE49-F238E27FC236}">
                <a16:creationId xmlns:a16="http://schemas.microsoft.com/office/drawing/2014/main" id="{973E8193-7D1B-487E-B830-61BE9848BA2C}"/>
              </a:ext>
            </a:extLst>
          </p:cNvPr>
          <p:cNvSpPr/>
          <p:nvPr/>
        </p:nvSpPr>
        <p:spPr bwMode="auto">
          <a:xfrm>
            <a:off x="7312934" y="1989125"/>
            <a:ext cx="3044796" cy="2541671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squar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E543AF9-4AD3-4A93-B482-520E97FBD004}"/>
              </a:ext>
            </a:extLst>
          </p:cNvPr>
          <p:cNvSpPr/>
          <p:nvPr/>
        </p:nvSpPr>
        <p:spPr bwMode="auto">
          <a:xfrm>
            <a:off x="1271593" y="2006248"/>
            <a:ext cx="3044796" cy="2541671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squar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grpSp>
        <p:nvGrpSpPr>
          <p:cNvPr id="65662" name="Group 126"/>
          <p:cNvGrpSpPr>
            <a:grpSpLocks/>
          </p:cNvGrpSpPr>
          <p:nvPr/>
        </p:nvGrpSpPr>
        <p:grpSpPr bwMode="auto">
          <a:xfrm>
            <a:off x="4645026" y="3305630"/>
            <a:ext cx="2254250" cy="928688"/>
            <a:chOff x="2926" y="2592"/>
            <a:chExt cx="1420" cy="585"/>
          </a:xfrm>
        </p:grpSpPr>
        <p:sp>
          <p:nvSpPr>
            <p:cNvPr id="13405" name="Text Box 5"/>
            <p:cNvSpPr txBox="1">
              <a:spLocks noChangeArrowheads="1"/>
            </p:cNvSpPr>
            <p:nvPr/>
          </p:nvSpPr>
          <p:spPr bwMode="auto">
            <a:xfrm>
              <a:off x="2926" y="2839"/>
              <a:ext cx="1420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Si se desaplica</a:t>
              </a:r>
            </a:p>
          </p:txBody>
        </p:sp>
        <p:sp>
          <p:nvSpPr>
            <p:cNvPr id="13406" name="AutoShape 6"/>
            <p:cNvSpPr>
              <a:spLocks noChangeArrowheads="1"/>
            </p:cNvSpPr>
            <p:nvPr/>
          </p:nvSpPr>
          <p:spPr bwMode="auto">
            <a:xfrm flipH="1">
              <a:off x="3215" y="2592"/>
              <a:ext cx="788" cy="271"/>
            </a:xfrm>
            <a:prstGeom prst="rightArrow">
              <a:avLst>
                <a:gd name="adj1" fmla="val 39898"/>
                <a:gd name="adj2" fmla="val 72694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65541" name="Text Box 7"/>
          <p:cNvSpPr txBox="1">
            <a:spLocks noChangeArrowheads="1"/>
          </p:cNvSpPr>
          <p:nvPr/>
        </p:nvSpPr>
        <p:spPr bwMode="auto">
          <a:xfrm>
            <a:off x="4177369" y="4435305"/>
            <a:ext cx="3167341" cy="2383208"/>
          </a:xfrm>
          <a:prstGeom prst="rect">
            <a:avLst/>
          </a:prstGeom>
          <a:noFill/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Las colisiones moleculares por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la agitación térmica las van desalineando venciendo a la cohesión</a:t>
            </a:r>
          </a:p>
        </p:txBody>
      </p: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7599922" y="1345887"/>
            <a:ext cx="2587625" cy="2695580"/>
            <a:chOff x="4533" y="629"/>
            <a:chExt cx="1630" cy="1698"/>
          </a:xfrm>
        </p:grpSpPr>
        <p:sp>
          <p:nvSpPr>
            <p:cNvPr id="13349" name="Line 9"/>
            <p:cNvSpPr>
              <a:spLocks noChangeShapeType="1"/>
            </p:cNvSpPr>
            <p:nvPr/>
          </p:nvSpPr>
          <p:spPr bwMode="auto">
            <a:xfrm>
              <a:off x="5072" y="1138"/>
              <a:ext cx="565" cy="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miter lim="800000"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graphicFrame>
          <p:nvGraphicFramePr>
            <p:cNvPr id="13350" name="Object 10"/>
            <p:cNvGraphicFramePr>
              <a:graphicFrameLocks noChangeAspect="1"/>
            </p:cNvGraphicFramePr>
            <p:nvPr/>
          </p:nvGraphicFramePr>
          <p:xfrm>
            <a:off x="5036" y="629"/>
            <a:ext cx="642" cy="3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457002" imgH="266584" progId="Equation.3">
                    <p:embed/>
                  </p:oleObj>
                </mc:Choice>
                <mc:Fallback>
                  <p:oleObj name="Ecuación" r:id="rId3" imgW="457002" imgH="266584" progId="Equation.3">
                    <p:embed/>
                    <p:pic>
                      <p:nvPicPr>
                        <p:cNvPr id="1335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36" y="629"/>
                          <a:ext cx="642" cy="3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3351" name="Group 11"/>
            <p:cNvGrpSpPr>
              <a:grpSpLocks/>
            </p:cNvGrpSpPr>
            <p:nvPr/>
          </p:nvGrpSpPr>
          <p:grpSpPr bwMode="auto">
            <a:xfrm>
              <a:off x="4541" y="1368"/>
              <a:ext cx="440" cy="281"/>
              <a:chOff x="4541" y="1218"/>
              <a:chExt cx="440" cy="281"/>
            </a:xfrm>
          </p:grpSpPr>
          <p:grpSp>
            <p:nvGrpSpPr>
              <p:cNvPr id="13400" name="Group 12"/>
              <p:cNvGrpSpPr>
                <a:grpSpLocks/>
              </p:cNvGrpSpPr>
              <p:nvPr/>
            </p:nvGrpSpPr>
            <p:grpSpPr bwMode="auto">
              <a:xfrm flipH="1">
                <a:off x="4541" y="1256"/>
                <a:ext cx="438" cy="204"/>
                <a:chOff x="2118" y="2372"/>
                <a:chExt cx="438" cy="204"/>
              </a:xfrm>
            </p:grpSpPr>
            <p:sp>
              <p:nvSpPr>
                <p:cNvPr id="13403" name="Rectangle 13"/>
                <p:cNvSpPr>
                  <a:spLocks noChangeArrowheads="1"/>
                </p:cNvSpPr>
                <p:nvPr/>
              </p:nvSpPr>
              <p:spPr bwMode="auto">
                <a:xfrm rot="5400000" flipH="1" flipV="1">
                  <a:off x="2344" y="2364"/>
                  <a:ext cx="204" cy="220"/>
                </a:xfrm>
                <a:prstGeom prst="rect">
                  <a:avLst/>
                </a:prstGeom>
                <a:solidFill>
                  <a:srgbClr val="3366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sz="2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3404" name="Rectangle 14"/>
                <p:cNvSpPr>
                  <a:spLocks noChangeArrowheads="1"/>
                </p:cNvSpPr>
                <p:nvPr/>
              </p:nvSpPr>
              <p:spPr bwMode="auto">
                <a:xfrm rot="16200000" flipV="1">
                  <a:off x="2126" y="2364"/>
                  <a:ext cx="204" cy="220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rot="10800000" wrap="none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sz="20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3401" name="Text Box 15"/>
              <p:cNvSpPr txBox="1">
                <a:spLocks noChangeArrowheads="1"/>
              </p:cNvSpPr>
              <p:nvPr/>
            </p:nvSpPr>
            <p:spPr bwMode="auto">
              <a:xfrm>
                <a:off x="4763" y="1218"/>
                <a:ext cx="218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chemeClr val="bg1"/>
                    </a:solidFill>
                    <a:latin typeface="Arial" panose="020B0604020202020204" pitchFamily="34" charset="0"/>
                  </a:rPr>
                  <a:t>N</a:t>
                </a:r>
              </a:p>
            </p:txBody>
          </p:sp>
          <p:sp>
            <p:nvSpPr>
              <p:cNvPr id="13402" name="Text Box 16"/>
              <p:cNvSpPr txBox="1">
                <a:spLocks noChangeArrowheads="1"/>
              </p:cNvSpPr>
              <p:nvPr/>
            </p:nvSpPr>
            <p:spPr bwMode="auto">
              <a:xfrm>
                <a:off x="4554" y="1222"/>
                <a:ext cx="210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chemeClr val="bg1"/>
                    </a:solidFill>
                    <a:latin typeface="Arial" panose="020B0604020202020204" pitchFamily="34" charset="0"/>
                  </a:rPr>
                  <a:t>S</a:t>
                </a:r>
              </a:p>
            </p:txBody>
          </p:sp>
        </p:grpSp>
        <p:grpSp>
          <p:nvGrpSpPr>
            <p:cNvPr id="13352" name="Group 17"/>
            <p:cNvGrpSpPr>
              <a:grpSpLocks/>
            </p:cNvGrpSpPr>
            <p:nvPr/>
          </p:nvGrpSpPr>
          <p:grpSpPr bwMode="auto">
            <a:xfrm>
              <a:off x="5132" y="1368"/>
              <a:ext cx="440" cy="281"/>
              <a:chOff x="4541" y="1218"/>
              <a:chExt cx="440" cy="281"/>
            </a:xfrm>
          </p:grpSpPr>
          <p:grpSp>
            <p:nvGrpSpPr>
              <p:cNvPr id="13395" name="Group 18"/>
              <p:cNvGrpSpPr>
                <a:grpSpLocks/>
              </p:cNvGrpSpPr>
              <p:nvPr/>
            </p:nvGrpSpPr>
            <p:grpSpPr bwMode="auto">
              <a:xfrm flipH="1">
                <a:off x="4541" y="1256"/>
                <a:ext cx="438" cy="204"/>
                <a:chOff x="2118" y="2372"/>
                <a:chExt cx="438" cy="204"/>
              </a:xfrm>
            </p:grpSpPr>
            <p:sp>
              <p:nvSpPr>
                <p:cNvPr id="13398" name="Rectangle 19"/>
                <p:cNvSpPr>
                  <a:spLocks noChangeArrowheads="1"/>
                </p:cNvSpPr>
                <p:nvPr/>
              </p:nvSpPr>
              <p:spPr bwMode="auto">
                <a:xfrm rot="5400000" flipH="1" flipV="1">
                  <a:off x="2344" y="2364"/>
                  <a:ext cx="204" cy="220"/>
                </a:xfrm>
                <a:prstGeom prst="rect">
                  <a:avLst/>
                </a:prstGeom>
                <a:solidFill>
                  <a:srgbClr val="3366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sz="2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3399" name="Rectangle 20"/>
                <p:cNvSpPr>
                  <a:spLocks noChangeArrowheads="1"/>
                </p:cNvSpPr>
                <p:nvPr/>
              </p:nvSpPr>
              <p:spPr bwMode="auto">
                <a:xfrm rot="16200000" flipV="1">
                  <a:off x="2126" y="2364"/>
                  <a:ext cx="204" cy="220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rot="10800000" wrap="none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sz="20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3396" name="Text Box 21"/>
              <p:cNvSpPr txBox="1">
                <a:spLocks noChangeArrowheads="1"/>
              </p:cNvSpPr>
              <p:nvPr/>
            </p:nvSpPr>
            <p:spPr bwMode="auto">
              <a:xfrm>
                <a:off x="4763" y="1218"/>
                <a:ext cx="218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chemeClr val="bg1"/>
                    </a:solidFill>
                    <a:latin typeface="Arial" panose="020B0604020202020204" pitchFamily="34" charset="0"/>
                  </a:rPr>
                  <a:t>N</a:t>
                </a:r>
              </a:p>
            </p:txBody>
          </p:sp>
          <p:sp>
            <p:nvSpPr>
              <p:cNvPr id="13397" name="Text Box 22"/>
              <p:cNvSpPr txBox="1">
                <a:spLocks noChangeArrowheads="1"/>
              </p:cNvSpPr>
              <p:nvPr/>
            </p:nvSpPr>
            <p:spPr bwMode="auto">
              <a:xfrm>
                <a:off x="4554" y="1222"/>
                <a:ext cx="210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chemeClr val="bg1"/>
                    </a:solidFill>
                    <a:latin typeface="Arial" panose="020B0604020202020204" pitchFamily="34" charset="0"/>
                  </a:rPr>
                  <a:t>S</a:t>
                </a:r>
              </a:p>
            </p:txBody>
          </p:sp>
        </p:grpSp>
        <p:grpSp>
          <p:nvGrpSpPr>
            <p:cNvPr id="13353" name="Group 23"/>
            <p:cNvGrpSpPr>
              <a:grpSpLocks/>
            </p:cNvGrpSpPr>
            <p:nvPr/>
          </p:nvGrpSpPr>
          <p:grpSpPr bwMode="auto">
            <a:xfrm>
              <a:off x="5723" y="1368"/>
              <a:ext cx="440" cy="281"/>
              <a:chOff x="4541" y="1218"/>
              <a:chExt cx="440" cy="281"/>
            </a:xfrm>
          </p:grpSpPr>
          <p:grpSp>
            <p:nvGrpSpPr>
              <p:cNvPr id="13390" name="Group 24"/>
              <p:cNvGrpSpPr>
                <a:grpSpLocks/>
              </p:cNvGrpSpPr>
              <p:nvPr/>
            </p:nvGrpSpPr>
            <p:grpSpPr bwMode="auto">
              <a:xfrm flipH="1">
                <a:off x="4541" y="1256"/>
                <a:ext cx="438" cy="204"/>
                <a:chOff x="2118" y="2372"/>
                <a:chExt cx="438" cy="204"/>
              </a:xfrm>
            </p:grpSpPr>
            <p:sp>
              <p:nvSpPr>
                <p:cNvPr id="13393" name="Rectangle 25"/>
                <p:cNvSpPr>
                  <a:spLocks noChangeArrowheads="1"/>
                </p:cNvSpPr>
                <p:nvPr/>
              </p:nvSpPr>
              <p:spPr bwMode="auto">
                <a:xfrm rot="5400000" flipH="1" flipV="1">
                  <a:off x="2344" y="2364"/>
                  <a:ext cx="204" cy="220"/>
                </a:xfrm>
                <a:prstGeom prst="rect">
                  <a:avLst/>
                </a:prstGeom>
                <a:solidFill>
                  <a:srgbClr val="3366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sz="2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3394" name="Rectangle 26"/>
                <p:cNvSpPr>
                  <a:spLocks noChangeArrowheads="1"/>
                </p:cNvSpPr>
                <p:nvPr/>
              </p:nvSpPr>
              <p:spPr bwMode="auto">
                <a:xfrm rot="16200000" flipV="1">
                  <a:off x="2126" y="2364"/>
                  <a:ext cx="204" cy="220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rot="10800000" wrap="none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sz="20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3391" name="Text Box 27"/>
              <p:cNvSpPr txBox="1">
                <a:spLocks noChangeArrowheads="1"/>
              </p:cNvSpPr>
              <p:nvPr/>
            </p:nvSpPr>
            <p:spPr bwMode="auto">
              <a:xfrm>
                <a:off x="4763" y="1218"/>
                <a:ext cx="218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chemeClr val="bg1"/>
                    </a:solidFill>
                    <a:latin typeface="Arial" panose="020B0604020202020204" pitchFamily="34" charset="0"/>
                  </a:rPr>
                  <a:t>N</a:t>
                </a:r>
              </a:p>
            </p:txBody>
          </p:sp>
          <p:sp>
            <p:nvSpPr>
              <p:cNvPr id="13392" name="Text Box 28"/>
              <p:cNvSpPr txBox="1">
                <a:spLocks noChangeArrowheads="1"/>
              </p:cNvSpPr>
              <p:nvPr/>
            </p:nvSpPr>
            <p:spPr bwMode="auto">
              <a:xfrm>
                <a:off x="4554" y="1222"/>
                <a:ext cx="210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chemeClr val="bg1"/>
                    </a:solidFill>
                    <a:latin typeface="Arial" panose="020B0604020202020204" pitchFamily="34" charset="0"/>
                  </a:rPr>
                  <a:t>S</a:t>
                </a:r>
              </a:p>
            </p:txBody>
          </p:sp>
        </p:grpSp>
        <p:grpSp>
          <p:nvGrpSpPr>
            <p:cNvPr id="13354" name="Group 29"/>
            <p:cNvGrpSpPr>
              <a:grpSpLocks/>
            </p:cNvGrpSpPr>
            <p:nvPr/>
          </p:nvGrpSpPr>
          <p:grpSpPr bwMode="auto">
            <a:xfrm>
              <a:off x="4537" y="1707"/>
              <a:ext cx="440" cy="281"/>
              <a:chOff x="4541" y="1218"/>
              <a:chExt cx="440" cy="281"/>
            </a:xfrm>
          </p:grpSpPr>
          <p:grpSp>
            <p:nvGrpSpPr>
              <p:cNvPr id="13385" name="Group 30"/>
              <p:cNvGrpSpPr>
                <a:grpSpLocks/>
              </p:cNvGrpSpPr>
              <p:nvPr/>
            </p:nvGrpSpPr>
            <p:grpSpPr bwMode="auto">
              <a:xfrm flipH="1">
                <a:off x="4541" y="1256"/>
                <a:ext cx="438" cy="204"/>
                <a:chOff x="2118" y="2372"/>
                <a:chExt cx="438" cy="204"/>
              </a:xfrm>
            </p:grpSpPr>
            <p:sp>
              <p:nvSpPr>
                <p:cNvPr id="13388" name="Rectangle 31"/>
                <p:cNvSpPr>
                  <a:spLocks noChangeArrowheads="1"/>
                </p:cNvSpPr>
                <p:nvPr/>
              </p:nvSpPr>
              <p:spPr bwMode="auto">
                <a:xfrm rot="5400000" flipH="1" flipV="1">
                  <a:off x="2344" y="2364"/>
                  <a:ext cx="204" cy="220"/>
                </a:xfrm>
                <a:prstGeom prst="rect">
                  <a:avLst/>
                </a:prstGeom>
                <a:solidFill>
                  <a:srgbClr val="3366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sz="2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3389" name="Rectangle 32"/>
                <p:cNvSpPr>
                  <a:spLocks noChangeArrowheads="1"/>
                </p:cNvSpPr>
                <p:nvPr/>
              </p:nvSpPr>
              <p:spPr bwMode="auto">
                <a:xfrm rot="16200000" flipV="1">
                  <a:off x="2126" y="2364"/>
                  <a:ext cx="204" cy="220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rot="10800000" wrap="none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sz="20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3386" name="Text Box 33"/>
              <p:cNvSpPr txBox="1">
                <a:spLocks noChangeArrowheads="1"/>
              </p:cNvSpPr>
              <p:nvPr/>
            </p:nvSpPr>
            <p:spPr bwMode="auto">
              <a:xfrm>
                <a:off x="4763" y="1218"/>
                <a:ext cx="218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chemeClr val="bg1"/>
                    </a:solidFill>
                    <a:latin typeface="Arial" panose="020B0604020202020204" pitchFamily="34" charset="0"/>
                  </a:rPr>
                  <a:t>N</a:t>
                </a:r>
              </a:p>
            </p:txBody>
          </p:sp>
          <p:sp>
            <p:nvSpPr>
              <p:cNvPr id="13387" name="Text Box 34"/>
              <p:cNvSpPr txBox="1">
                <a:spLocks noChangeArrowheads="1"/>
              </p:cNvSpPr>
              <p:nvPr/>
            </p:nvSpPr>
            <p:spPr bwMode="auto">
              <a:xfrm>
                <a:off x="4554" y="1222"/>
                <a:ext cx="210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chemeClr val="bg1"/>
                    </a:solidFill>
                    <a:latin typeface="Arial" panose="020B0604020202020204" pitchFamily="34" charset="0"/>
                  </a:rPr>
                  <a:t>S</a:t>
                </a:r>
              </a:p>
            </p:txBody>
          </p:sp>
        </p:grpSp>
        <p:grpSp>
          <p:nvGrpSpPr>
            <p:cNvPr id="13355" name="Group 35"/>
            <p:cNvGrpSpPr>
              <a:grpSpLocks/>
            </p:cNvGrpSpPr>
            <p:nvPr/>
          </p:nvGrpSpPr>
          <p:grpSpPr bwMode="auto">
            <a:xfrm>
              <a:off x="5128" y="1707"/>
              <a:ext cx="440" cy="281"/>
              <a:chOff x="4541" y="1218"/>
              <a:chExt cx="440" cy="281"/>
            </a:xfrm>
          </p:grpSpPr>
          <p:grpSp>
            <p:nvGrpSpPr>
              <p:cNvPr id="13380" name="Group 36"/>
              <p:cNvGrpSpPr>
                <a:grpSpLocks/>
              </p:cNvGrpSpPr>
              <p:nvPr/>
            </p:nvGrpSpPr>
            <p:grpSpPr bwMode="auto">
              <a:xfrm flipH="1">
                <a:off x="4541" y="1256"/>
                <a:ext cx="438" cy="204"/>
                <a:chOff x="2118" y="2372"/>
                <a:chExt cx="438" cy="204"/>
              </a:xfrm>
            </p:grpSpPr>
            <p:sp>
              <p:nvSpPr>
                <p:cNvPr id="13383" name="Rectangle 37"/>
                <p:cNvSpPr>
                  <a:spLocks noChangeArrowheads="1"/>
                </p:cNvSpPr>
                <p:nvPr/>
              </p:nvSpPr>
              <p:spPr bwMode="auto">
                <a:xfrm rot="5400000" flipH="1" flipV="1">
                  <a:off x="2344" y="2364"/>
                  <a:ext cx="204" cy="220"/>
                </a:xfrm>
                <a:prstGeom prst="rect">
                  <a:avLst/>
                </a:prstGeom>
                <a:solidFill>
                  <a:srgbClr val="3366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sz="2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3384" name="Rectangle 38"/>
                <p:cNvSpPr>
                  <a:spLocks noChangeArrowheads="1"/>
                </p:cNvSpPr>
                <p:nvPr/>
              </p:nvSpPr>
              <p:spPr bwMode="auto">
                <a:xfrm rot="16200000" flipV="1">
                  <a:off x="2126" y="2364"/>
                  <a:ext cx="204" cy="220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rot="10800000" wrap="none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sz="20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3381" name="Text Box 39"/>
              <p:cNvSpPr txBox="1">
                <a:spLocks noChangeArrowheads="1"/>
              </p:cNvSpPr>
              <p:nvPr/>
            </p:nvSpPr>
            <p:spPr bwMode="auto">
              <a:xfrm>
                <a:off x="4763" y="1218"/>
                <a:ext cx="218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chemeClr val="bg1"/>
                    </a:solidFill>
                    <a:latin typeface="Arial" panose="020B0604020202020204" pitchFamily="34" charset="0"/>
                  </a:rPr>
                  <a:t>N</a:t>
                </a:r>
              </a:p>
            </p:txBody>
          </p:sp>
          <p:sp>
            <p:nvSpPr>
              <p:cNvPr id="13382" name="Text Box 40"/>
              <p:cNvSpPr txBox="1">
                <a:spLocks noChangeArrowheads="1"/>
              </p:cNvSpPr>
              <p:nvPr/>
            </p:nvSpPr>
            <p:spPr bwMode="auto">
              <a:xfrm>
                <a:off x="4554" y="1222"/>
                <a:ext cx="210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chemeClr val="bg1"/>
                    </a:solidFill>
                    <a:latin typeface="Arial" panose="020B0604020202020204" pitchFamily="34" charset="0"/>
                  </a:rPr>
                  <a:t>S</a:t>
                </a:r>
              </a:p>
            </p:txBody>
          </p:sp>
        </p:grpSp>
        <p:grpSp>
          <p:nvGrpSpPr>
            <p:cNvPr id="13356" name="Group 41"/>
            <p:cNvGrpSpPr>
              <a:grpSpLocks/>
            </p:cNvGrpSpPr>
            <p:nvPr/>
          </p:nvGrpSpPr>
          <p:grpSpPr bwMode="auto">
            <a:xfrm>
              <a:off x="5719" y="1707"/>
              <a:ext cx="440" cy="281"/>
              <a:chOff x="4541" y="1218"/>
              <a:chExt cx="440" cy="281"/>
            </a:xfrm>
          </p:grpSpPr>
          <p:grpSp>
            <p:nvGrpSpPr>
              <p:cNvPr id="13375" name="Group 42"/>
              <p:cNvGrpSpPr>
                <a:grpSpLocks/>
              </p:cNvGrpSpPr>
              <p:nvPr/>
            </p:nvGrpSpPr>
            <p:grpSpPr bwMode="auto">
              <a:xfrm flipH="1">
                <a:off x="4541" y="1256"/>
                <a:ext cx="438" cy="204"/>
                <a:chOff x="2118" y="2372"/>
                <a:chExt cx="438" cy="204"/>
              </a:xfrm>
            </p:grpSpPr>
            <p:sp>
              <p:nvSpPr>
                <p:cNvPr id="13378" name="Rectangle 43"/>
                <p:cNvSpPr>
                  <a:spLocks noChangeArrowheads="1"/>
                </p:cNvSpPr>
                <p:nvPr/>
              </p:nvSpPr>
              <p:spPr bwMode="auto">
                <a:xfrm rot="5400000" flipH="1" flipV="1">
                  <a:off x="2344" y="2364"/>
                  <a:ext cx="204" cy="220"/>
                </a:xfrm>
                <a:prstGeom prst="rect">
                  <a:avLst/>
                </a:prstGeom>
                <a:solidFill>
                  <a:srgbClr val="3366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sz="2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3379" name="Rectangle 44"/>
                <p:cNvSpPr>
                  <a:spLocks noChangeArrowheads="1"/>
                </p:cNvSpPr>
                <p:nvPr/>
              </p:nvSpPr>
              <p:spPr bwMode="auto">
                <a:xfrm rot="16200000" flipV="1">
                  <a:off x="2126" y="2364"/>
                  <a:ext cx="204" cy="220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rot="10800000" wrap="none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sz="20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3376" name="Text Box 45"/>
              <p:cNvSpPr txBox="1">
                <a:spLocks noChangeArrowheads="1"/>
              </p:cNvSpPr>
              <p:nvPr/>
            </p:nvSpPr>
            <p:spPr bwMode="auto">
              <a:xfrm>
                <a:off x="4763" y="1218"/>
                <a:ext cx="218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chemeClr val="bg1"/>
                    </a:solidFill>
                    <a:latin typeface="Arial" panose="020B0604020202020204" pitchFamily="34" charset="0"/>
                  </a:rPr>
                  <a:t>N</a:t>
                </a:r>
              </a:p>
            </p:txBody>
          </p:sp>
          <p:sp>
            <p:nvSpPr>
              <p:cNvPr id="13377" name="Text Box 46"/>
              <p:cNvSpPr txBox="1">
                <a:spLocks noChangeArrowheads="1"/>
              </p:cNvSpPr>
              <p:nvPr/>
            </p:nvSpPr>
            <p:spPr bwMode="auto">
              <a:xfrm>
                <a:off x="4554" y="1222"/>
                <a:ext cx="210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chemeClr val="bg1"/>
                    </a:solidFill>
                    <a:latin typeface="Arial" panose="020B0604020202020204" pitchFamily="34" charset="0"/>
                  </a:rPr>
                  <a:t>S</a:t>
                </a:r>
              </a:p>
            </p:txBody>
          </p:sp>
        </p:grpSp>
        <p:grpSp>
          <p:nvGrpSpPr>
            <p:cNvPr id="13357" name="Group 47"/>
            <p:cNvGrpSpPr>
              <a:grpSpLocks/>
            </p:cNvGrpSpPr>
            <p:nvPr/>
          </p:nvGrpSpPr>
          <p:grpSpPr bwMode="auto">
            <a:xfrm>
              <a:off x="4533" y="2046"/>
              <a:ext cx="440" cy="281"/>
              <a:chOff x="4541" y="1218"/>
              <a:chExt cx="440" cy="281"/>
            </a:xfrm>
          </p:grpSpPr>
          <p:grpSp>
            <p:nvGrpSpPr>
              <p:cNvPr id="13370" name="Group 48"/>
              <p:cNvGrpSpPr>
                <a:grpSpLocks/>
              </p:cNvGrpSpPr>
              <p:nvPr/>
            </p:nvGrpSpPr>
            <p:grpSpPr bwMode="auto">
              <a:xfrm flipH="1">
                <a:off x="4541" y="1256"/>
                <a:ext cx="438" cy="204"/>
                <a:chOff x="2118" y="2372"/>
                <a:chExt cx="438" cy="204"/>
              </a:xfrm>
            </p:grpSpPr>
            <p:sp>
              <p:nvSpPr>
                <p:cNvPr id="13373" name="Rectangle 49"/>
                <p:cNvSpPr>
                  <a:spLocks noChangeArrowheads="1"/>
                </p:cNvSpPr>
                <p:nvPr/>
              </p:nvSpPr>
              <p:spPr bwMode="auto">
                <a:xfrm rot="5400000" flipH="1" flipV="1">
                  <a:off x="2344" y="2364"/>
                  <a:ext cx="204" cy="220"/>
                </a:xfrm>
                <a:prstGeom prst="rect">
                  <a:avLst/>
                </a:prstGeom>
                <a:solidFill>
                  <a:srgbClr val="3366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sz="2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3374" name="Rectangle 50"/>
                <p:cNvSpPr>
                  <a:spLocks noChangeArrowheads="1"/>
                </p:cNvSpPr>
                <p:nvPr/>
              </p:nvSpPr>
              <p:spPr bwMode="auto">
                <a:xfrm rot="16200000" flipV="1">
                  <a:off x="2126" y="2364"/>
                  <a:ext cx="204" cy="220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rot="10800000" wrap="none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sz="20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3371" name="Text Box 51"/>
              <p:cNvSpPr txBox="1">
                <a:spLocks noChangeArrowheads="1"/>
              </p:cNvSpPr>
              <p:nvPr/>
            </p:nvSpPr>
            <p:spPr bwMode="auto">
              <a:xfrm>
                <a:off x="4763" y="1218"/>
                <a:ext cx="218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chemeClr val="bg1"/>
                    </a:solidFill>
                    <a:latin typeface="Arial" panose="020B0604020202020204" pitchFamily="34" charset="0"/>
                  </a:rPr>
                  <a:t>N</a:t>
                </a:r>
              </a:p>
            </p:txBody>
          </p:sp>
          <p:sp>
            <p:nvSpPr>
              <p:cNvPr id="13372" name="Text Box 52"/>
              <p:cNvSpPr txBox="1">
                <a:spLocks noChangeArrowheads="1"/>
              </p:cNvSpPr>
              <p:nvPr/>
            </p:nvSpPr>
            <p:spPr bwMode="auto">
              <a:xfrm>
                <a:off x="4554" y="1222"/>
                <a:ext cx="210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chemeClr val="bg1"/>
                    </a:solidFill>
                    <a:latin typeface="Arial" panose="020B0604020202020204" pitchFamily="34" charset="0"/>
                  </a:rPr>
                  <a:t>S</a:t>
                </a:r>
              </a:p>
            </p:txBody>
          </p:sp>
        </p:grpSp>
        <p:grpSp>
          <p:nvGrpSpPr>
            <p:cNvPr id="13358" name="Group 53"/>
            <p:cNvGrpSpPr>
              <a:grpSpLocks/>
            </p:cNvGrpSpPr>
            <p:nvPr/>
          </p:nvGrpSpPr>
          <p:grpSpPr bwMode="auto">
            <a:xfrm>
              <a:off x="5124" y="2046"/>
              <a:ext cx="440" cy="281"/>
              <a:chOff x="4541" y="1218"/>
              <a:chExt cx="440" cy="281"/>
            </a:xfrm>
          </p:grpSpPr>
          <p:grpSp>
            <p:nvGrpSpPr>
              <p:cNvPr id="13365" name="Group 54"/>
              <p:cNvGrpSpPr>
                <a:grpSpLocks/>
              </p:cNvGrpSpPr>
              <p:nvPr/>
            </p:nvGrpSpPr>
            <p:grpSpPr bwMode="auto">
              <a:xfrm flipH="1">
                <a:off x="4541" y="1256"/>
                <a:ext cx="438" cy="204"/>
                <a:chOff x="2118" y="2372"/>
                <a:chExt cx="438" cy="204"/>
              </a:xfrm>
            </p:grpSpPr>
            <p:sp>
              <p:nvSpPr>
                <p:cNvPr id="13368" name="Rectangle 55"/>
                <p:cNvSpPr>
                  <a:spLocks noChangeArrowheads="1"/>
                </p:cNvSpPr>
                <p:nvPr/>
              </p:nvSpPr>
              <p:spPr bwMode="auto">
                <a:xfrm rot="5400000" flipH="1" flipV="1">
                  <a:off x="2344" y="2364"/>
                  <a:ext cx="204" cy="220"/>
                </a:xfrm>
                <a:prstGeom prst="rect">
                  <a:avLst/>
                </a:prstGeom>
                <a:solidFill>
                  <a:srgbClr val="3366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sz="2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3369" name="Rectangle 56"/>
                <p:cNvSpPr>
                  <a:spLocks noChangeArrowheads="1"/>
                </p:cNvSpPr>
                <p:nvPr/>
              </p:nvSpPr>
              <p:spPr bwMode="auto">
                <a:xfrm rot="16200000" flipV="1">
                  <a:off x="2126" y="2364"/>
                  <a:ext cx="204" cy="220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rot="10800000" wrap="none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sz="20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3366" name="Text Box 57"/>
              <p:cNvSpPr txBox="1">
                <a:spLocks noChangeArrowheads="1"/>
              </p:cNvSpPr>
              <p:nvPr/>
            </p:nvSpPr>
            <p:spPr bwMode="auto">
              <a:xfrm>
                <a:off x="4763" y="1218"/>
                <a:ext cx="218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chemeClr val="bg1"/>
                    </a:solidFill>
                    <a:latin typeface="Arial" panose="020B0604020202020204" pitchFamily="34" charset="0"/>
                  </a:rPr>
                  <a:t>N</a:t>
                </a:r>
              </a:p>
            </p:txBody>
          </p:sp>
          <p:sp>
            <p:nvSpPr>
              <p:cNvPr id="13367" name="Text Box 58"/>
              <p:cNvSpPr txBox="1">
                <a:spLocks noChangeArrowheads="1"/>
              </p:cNvSpPr>
              <p:nvPr/>
            </p:nvSpPr>
            <p:spPr bwMode="auto">
              <a:xfrm>
                <a:off x="4554" y="1222"/>
                <a:ext cx="210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chemeClr val="bg1"/>
                    </a:solidFill>
                    <a:latin typeface="Arial" panose="020B0604020202020204" pitchFamily="34" charset="0"/>
                  </a:rPr>
                  <a:t>S</a:t>
                </a:r>
              </a:p>
            </p:txBody>
          </p:sp>
        </p:grpSp>
        <p:grpSp>
          <p:nvGrpSpPr>
            <p:cNvPr id="13359" name="Group 59"/>
            <p:cNvGrpSpPr>
              <a:grpSpLocks/>
            </p:cNvGrpSpPr>
            <p:nvPr/>
          </p:nvGrpSpPr>
          <p:grpSpPr bwMode="auto">
            <a:xfrm>
              <a:off x="5715" y="2046"/>
              <a:ext cx="440" cy="281"/>
              <a:chOff x="4541" y="1218"/>
              <a:chExt cx="440" cy="281"/>
            </a:xfrm>
          </p:grpSpPr>
          <p:grpSp>
            <p:nvGrpSpPr>
              <p:cNvPr id="13360" name="Group 60"/>
              <p:cNvGrpSpPr>
                <a:grpSpLocks/>
              </p:cNvGrpSpPr>
              <p:nvPr/>
            </p:nvGrpSpPr>
            <p:grpSpPr bwMode="auto">
              <a:xfrm flipH="1">
                <a:off x="4541" y="1256"/>
                <a:ext cx="438" cy="204"/>
                <a:chOff x="2118" y="2372"/>
                <a:chExt cx="438" cy="204"/>
              </a:xfrm>
            </p:grpSpPr>
            <p:sp>
              <p:nvSpPr>
                <p:cNvPr id="13363" name="Rectangle 61"/>
                <p:cNvSpPr>
                  <a:spLocks noChangeArrowheads="1"/>
                </p:cNvSpPr>
                <p:nvPr/>
              </p:nvSpPr>
              <p:spPr bwMode="auto">
                <a:xfrm rot="5400000" flipH="1" flipV="1">
                  <a:off x="2344" y="2364"/>
                  <a:ext cx="204" cy="220"/>
                </a:xfrm>
                <a:prstGeom prst="rect">
                  <a:avLst/>
                </a:prstGeom>
                <a:solidFill>
                  <a:srgbClr val="3366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sz="2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3364" name="Rectangle 62"/>
                <p:cNvSpPr>
                  <a:spLocks noChangeArrowheads="1"/>
                </p:cNvSpPr>
                <p:nvPr/>
              </p:nvSpPr>
              <p:spPr bwMode="auto">
                <a:xfrm rot="16200000" flipV="1">
                  <a:off x="2126" y="2364"/>
                  <a:ext cx="204" cy="220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rot="10800000" wrap="none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sz="20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3361" name="Text Box 63"/>
              <p:cNvSpPr txBox="1">
                <a:spLocks noChangeArrowheads="1"/>
              </p:cNvSpPr>
              <p:nvPr/>
            </p:nvSpPr>
            <p:spPr bwMode="auto">
              <a:xfrm>
                <a:off x="4763" y="1218"/>
                <a:ext cx="218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chemeClr val="bg1"/>
                    </a:solidFill>
                    <a:latin typeface="Arial" panose="020B0604020202020204" pitchFamily="34" charset="0"/>
                  </a:rPr>
                  <a:t>N</a:t>
                </a:r>
              </a:p>
            </p:txBody>
          </p:sp>
          <p:sp>
            <p:nvSpPr>
              <p:cNvPr id="13362" name="Text Box 64"/>
              <p:cNvSpPr txBox="1">
                <a:spLocks noChangeArrowheads="1"/>
              </p:cNvSpPr>
              <p:nvPr/>
            </p:nvSpPr>
            <p:spPr bwMode="auto">
              <a:xfrm>
                <a:off x="4554" y="1222"/>
                <a:ext cx="210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chemeClr val="bg1"/>
                    </a:solidFill>
                    <a:latin typeface="Arial" panose="020B0604020202020204" pitchFamily="34" charset="0"/>
                  </a:rPr>
                  <a:t>S</a:t>
                </a:r>
              </a:p>
            </p:txBody>
          </p:sp>
        </p:grpSp>
      </p:grpSp>
      <p:sp>
        <p:nvSpPr>
          <p:cNvPr id="762945" name="Text Box 65"/>
          <p:cNvSpPr txBox="1">
            <a:spLocks noChangeArrowheads="1"/>
          </p:cNvSpPr>
          <p:nvPr/>
        </p:nvSpPr>
        <p:spPr bwMode="auto">
          <a:xfrm>
            <a:off x="7539016" y="5031385"/>
            <a:ext cx="2700000" cy="1800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108000" rIns="90000" bIns="216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 dirty="0">
                <a:latin typeface="Arial" panose="020B0604020202020204" pitchFamily="34" charset="0"/>
              </a:rPr>
              <a:t>  Magnetización</a:t>
            </a:r>
          </a:p>
          <a:p>
            <a:pPr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 dirty="0">
                <a:latin typeface="Arial" panose="020B0604020202020204" pitchFamily="34" charset="0"/>
              </a:rPr>
              <a:t>   macroscópica</a:t>
            </a:r>
          </a:p>
          <a:p>
            <a:pPr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 dirty="0">
                <a:latin typeface="Arial" panose="020B0604020202020204" pitchFamily="34" charset="0"/>
              </a:rPr>
              <a:t> (</a:t>
            </a:r>
            <a:r>
              <a:rPr lang="es-ES" sz="2400" b="1" dirty="0" err="1">
                <a:latin typeface="Arial" panose="020B0604020202020204" pitchFamily="34" charset="0"/>
              </a:rPr>
              <a:t>B</a:t>
            </a:r>
            <a:r>
              <a:rPr lang="es-ES" sz="2400" baseline="-25000" dirty="0" err="1">
                <a:latin typeface="Arial" panose="020B0604020202020204" pitchFamily="34" charset="0"/>
              </a:rPr>
              <a:t>conjunto</a:t>
            </a:r>
            <a:r>
              <a:rPr lang="es-ES" sz="2400" dirty="0">
                <a:latin typeface="Arial" panose="020B0604020202020204" pitchFamily="34" charset="0"/>
              </a:rPr>
              <a:t> =</a:t>
            </a:r>
          </a:p>
          <a:p>
            <a:pPr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 b="1" dirty="0">
                <a:latin typeface="Arial" panose="020B0604020202020204" pitchFamily="34" charset="0"/>
              </a:rPr>
              <a:t>   </a:t>
            </a:r>
            <a:r>
              <a:rPr lang="es-ES" sz="2400" b="1" dirty="0" err="1">
                <a:latin typeface="Arial" panose="020B0604020202020204" pitchFamily="34" charset="0"/>
              </a:rPr>
              <a:t>B</a:t>
            </a:r>
            <a:r>
              <a:rPr lang="es-ES" sz="2400" baseline="-25000" dirty="0" err="1">
                <a:latin typeface="Arial" panose="020B0604020202020204" pitchFamily="34" charset="0"/>
              </a:rPr>
              <a:t>magnetización</a:t>
            </a:r>
            <a:r>
              <a:rPr lang="es-ES" sz="2400" dirty="0">
                <a:latin typeface="Arial" panose="020B0604020202020204" pitchFamily="34" charset="0"/>
              </a:rPr>
              <a:t>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 </a:t>
            </a:r>
            <a:r>
              <a:rPr lang="es-ES" sz="2400" b="1" dirty="0">
                <a:latin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)</a:t>
            </a:r>
            <a:endParaRPr lang="es-ES" sz="2400" dirty="0">
              <a:latin typeface="Arial" panose="020B0604020202020204" pitchFamily="34" charset="0"/>
            </a:endParaRPr>
          </a:p>
        </p:txBody>
      </p:sp>
      <p:grpSp>
        <p:nvGrpSpPr>
          <p:cNvPr id="65659" name="Group 123"/>
          <p:cNvGrpSpPr>
            <a:grpSpLocks/>
          </p:cNvGrpSpPr>
          <p:nvPr/>
        </p:nvGrpSpPr>
        <p:grpSpPr bwMode="auto">
          <a:xfrm>
            <a:off x="4527553" y="2310809"/>
            <a:ext cx="2493962" cy="922338"/>
            <a:chOff x="2852" y="1336"/>
            <a:chExt cx="1571" cy="581"/>
          </a:xfrm>
        </p:grpSpPr>
        <p:sp>
          <p:nvSpPr>
            <p:cNvPr id="13347" name="AutoShape 83"/>
            <p:cNvSpPr>
              <a:spLocks noChangeArrowheads="1"/>
            </p:cNvSpPr>
            <p:nvPr/>
          </p:nvSpPr>
          <p:spPr bwMode="auto">
            <a:xfrm>
              <a:off x="3235" y="1664"/>
              <a:ext cx="788" cy="253"/>
            </a:xfrm>
            <a:prstGeom prst="rightArrow">
              <a:avLst>
                <a:gd name="adj1" fmla="val 39898"/>
                <a:gd name="adj2" fmla="val 77866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348" name="Text Box 84"/>
            <p:cNvSpPr txBox="1">
              <a:spLocks noChangeArrowheads="1"/>
            </p:cNvSpPr>
            <p:nvPr/>
          </p:nvSpPr>
          <p:spPr bwMode="auto">
            <a:xfrm>
              <a:off x="2852" y="1336"/>
              <a:ext cx="1571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8000"/>
                  </a:solidFill>
                  <a:latin typeface="Arial" panose="020B0604020202020204" pitchFamily="34" charset="0"/>
                </a:rPr>
                <a:t>Si se aplica un </a:t>
              </a:r>
              <a:r>
                <a:rPr lang="es-ES" sz="2400" b="1" dirty="0">
                  <a:solidFill>
                    <a:srgbClr val="008000"/>
                  </a:solidFill>
                  <a:latin typeface="Arial" panose="020B0604020202020204" pitchFamily="34" charset="0"/>
                </a:rPr>
                <a:t>B</a:t>
              </a:r>
            </a:p>
          </p:txBody>
        </p:sp>
      </p:grpSp>
      <p:sp>
        <p:nvSpPr>
          <p:cNvPr id="65621" name="Text Box 86"/>
          <p:cNvSpPr txBox="1">
            <a:spLocks noChangeArrowheads="1"/>
          </p:cNvSpPr>
          <p:nvPr/>
        </p:nvSpPr>
        <p:spPr bwMode="auto">
          <a:xfrm>
            <a:off x="4239166" y="1021645"/>
            <a:ext cx="3092642" cy="1275213"/>
          </a:xfrm>
          <a:prstGeom prst="rect">
            <a:avLst/>
          </a:prstGeom>
          <a:noFill/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Suficiente para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vencer cohesión y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agitación térmica</a:t>
            </a:r>
          </a:p>
        </p:txBody>
      </p:sp>
      <p:sp>
        <p:nvSpPr>
          <p:cNvPr id="2" name="Text Box 106"/>
          <p:cNvSpPr txBox="1">
            <a:spLocks noChangeArrowheads="1"/>
          </p:cNvSpPr>
          <p:nvPr/>
        </p:nvSpPr>
        <p:spPr bwMode="auto">
          <a:xfrm>
            <a:off x="1429458" y="5030473"/>
            <a:ext cx="2700000" cy="1800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90000" tIns="108000" rIns="90000" bIns="216000" anchor="t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>
                <a:latin typeface="Arial" panose="020B0604020202020204" pitchFamily="34" charset="0"/>
              </a:rPr>
              <a:t>Moléculas orientadas al azar (</a:t>
            </a:r>
            <a:r>
              <a:rPr lang="es-ES" sz="2400" b="1">
                <a:latin typeface="Arial" panose="020B0604020202020204" pitchFamily="34" charset="0"/>
              </a:rPr>
              <a:t>B</a:t>
            </a:r>
            <a:r>
              <a:rPr lang="es-ES" sz="2400" baseline="-25000">
                <a:latin typeface="Arial" panose="020B0604020202020204" pitchFamily="34" charset="0"/>
              </a:rPr>
              <a:t>conjunto</a:t>
            </a:r>
            <a:r>
              <a:rPr lang="es-ES" sz="2400">
                <a:latin typeface="Arial" panose="020B0604020202020204" pitchFamily="34" charset="0"/>
              </a:rPr>
              <a:t> = </a:t>
            </a:r>
            <a:r>
              <a:rPr lang="es-ES" sz="2400" b="1">
                <a:latin typeface="Arial" panose="020B0604020202020204" pitchFamily="34" charset="0"/>
              </a:rPr>
              <a:t>0</a:t>
            </a:r>
            <a:r>
              <a:rPr lang="es-ES" sz="2400">
                <a:latin typeface="Arial" panose="020B0604020202020204" pitchFamily="34" charset="0"/>
              </a:rPr>
              <a:t>)</a:t>
            </a:r>
          </a:p>
        </p:txBody>
      </p:sp>
      <p:grpSp>
        <p:nvGrpSpPr>
          <p:cNvPr id="5" name="Grupo 4"/>
          <p:cNvGrpSpPr/>
          <p:nvPr/>
        </p:nvGrpSpPr>
        <p:grpSpPr>
          <a:xfrm>
            <a:off x="1453067" y="2225118"/>
            <a:ext cx="2775743" cy="2116139"/>
            <a:chOff x="1519237" y="2330958"/>
            <a:chExt cx="2775743" cy="2116139"/>
          </a:xfrm>
        </p:grpSpPr>
        <p:grpSp>
          <p:nvGrpSpPr>
            <p:cNvPr id="13326" name="Group 89"/>
            <p:cNvGrpSpPr>
              <a:grpSpLocks/>
            </p:cNvGrpSpPr>
            <p:nvPr/>
          </p:nvGrpSpPr>
          <p:grpSpPr bwMode="auto">
            <a:xfrm>
              <a:off x="3151187" y="4032759"/>
              <a:ext cx="695325" cy="323850"/>
              <a:chOff x="2118" y="2372"/>
              <a:chExt cx="438" cy="204"/>
            </a:xfrm>
          </p:grpSpPr>
          <p:sp>
            <p:nvSpPr>
              <p:cNvPr id="13345" name="Rectangle 90"/>
              <p:cNvSpPr>
                <a:spLocks noChangeArrowheads="1"/>
              </p:cNvSpPr>
              <p:nvPr/>
            </p:nvSpPr>
            <p:spPr bwMode="auto">
              <a:xfrm rot="16200000" flipV="1">
                <a:off x="2344" y="2364"/>
                <a:ext cx="204" cy="220"/>
              </a:xfrm>
              <a:prstGeom prst="rect">
                <a:avLst/>
              </a:prstGeom>
              <a:solidFill>
                <a:srgbClr val="3366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3346" name="Rectangle 91"/>
              <p:cNvSpPr>
                <a:spLocks noChangeArrowheads="1"/>
              </p:cNvSpPr>
              <p:nvPr/>
            </p:nvSpPr>
            <p:spPr bwMode="auto">
              <a:xfrm rot="16200000" flipV="1">
                <a:off x="2126" y="2364"/>
                <a:ext cx="204" cy="220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3327" name="Rectangle 92"/>
            <p:cNvSpPr>
              <a:spLocks noChangeArrowheads="1"/>
            </p:cNvSpPr>
            <p:nvPr/>
          </p:nvSpPr>
          <p:spPr bwMode="auto">
            <a:xfrm rot="5400000" flipH="1" flipV="1">
              <a:off x="2052637" y="3394584"/>
              <a:ext cx="323850" cy="349250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000">
                <a:latin typeface="Arial" panose="020B0604020202020204" pitchFamily="34" charset="0"/>
              </a:endParaRPr>
            </a:p>
          </p:txBody>
        </p:sp>
        <p:sp>
          <p:nvSpPr>
            <p:cNvPr id="13328" name="Rectangle 93"/>
            <p:cNvSpPr>
              <a:spLocks noChangeArrowheads="1"/>
            </p:cNvSpPr>
            <p:nvPr/>
          </p:nvSpPr>
          <p:spPr bwMode="auto">
            <a:xfrm rot="5400000" flipH="1" flipV="1">
              <a:off x="2398712" y="3392996"/>
              <a:ext cx="323850" cy="34925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000">
                <a:latin typeface="Arial" panose="020B0604020202020204" pitchFamily="34" charset="0"/>
              </a:endParaRPr>
            </a:p>
          </p:txBody>
        </p:sp>
        <p:sp>
          <p:nvSpPr>
            <p:cNvPr id="13329" name="Rectangle 94"/>
            <p:cNvSpPr>
              <a:spLocks noChangeArrowheads="1"/>
            </p:cNvSpPr>
            <p:nvPr/>
          </p:nvSpPr>
          <p:spPr bwMode="auto">
            <a:xfrm rot="7752306" flipH="1" flipV="1">
              <a:off x="3106737" y="3180271"/>
              <a:ext cx="323850" cy="349250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000">
                <a:latin typeface="Arial" panose="020B0604020202020204" pitchFamily="34" charset="0"/>
              </a:endParaRPr>
            </a:p>
          </p:txBody>
        </p:sp>
        <p:sp>
          <p:nvSpPr>
            <p:cNvPr id="13330" name="Rectangle 95"/>
            <p:cNvSpPr>
              <a:spLocks noChangeArrowheads="1"/>
            </p:cNvSpPr>
            <p:nvPr/>
          </p:nvSpPr>
          <p:spPr bwMode="auto">
            <a:xfrm rot="7752306" flipH="1" flipV="1">
              <a:off x="3375024" y="3396171"/>
              <a:ext cx="323850" cy="34925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000">
                <a:latin typeface="Arial" panose="020B0604020202020204" pitchFamily="34" charset="0"/>
              </a:endParaRPr>
            </a:p>
          </p:txBody>
        </p:sp>
        <p:sp>
          <p:nvSpPr>
            <p:cNvPr id="13331" name="Rectangle 96"/>
            <p:cNvSpPr>
              <a:spLocks noChangeArrowheads="1"/>
            </p:cNvSpPr>
            <p:nvPr/>
          </p:nvSpPr>
          <p:spPr bwMode="auto">
            <a:xfrm rot="13847694" flipH="1">
              <a:off x="3203574" y="2537333"/>
              <a:ext cx="323850" cy="349250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000">
                <a:latin typeface="Arial" panose="020B0604020202020204" pitchFamily="34" charset="0"/>
              </a:endParaRPr>
            </a:p>
          </p:txBody>
        </p:sp>
        <p:sp>
          <p:nvSpPr>
            <p:cNvPr id="13332" name="Rectangle 97"/>
            <p:cNvSpPr>
              <a:spLocks noChangeArrowheads="1"/>
            </p:cNvSpPr>
            <p:nvPr/>
          </p:nvSpPr>
          <p:spPr bwMode="auto">
            <a:xfrm rot="13847694" flipH="1">
              <a:off x="3471862" y="2318258"/>
              <a:ext cx="323850" cy="34925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000">
                <a:latin typeface="Arial" panose="020B0604020202020204" pitchFamily="34" charset="0"/>
              </a:endParaRPr>
            </a:p>
          </p:txBody>
        </p:sp>
        <p:sp>
          <p:nvSpPr>
            <p:cNvPr id="13333" name="Rectangle 98"/>
            <p:cNvSpPr>
              <a:spLocks noChangeArrowheads="1"/>
            </p:cNvSpPr>
            <p:nvPr/>
          </p:nvSpPr>
          <p:spPr bwMode="auto">
            <a:xfrm rot="13847694" flipV="1">
              <a:off x="2527299" y="3905759"/>
              <a:ext cx="323850" cy="349250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000">
                <a:latin typeface="Arial" panose="020B0604020202020204" pitchFamily="34" charset="0"/>
              </a:endParaRPr>
            </a:p>
          </p:txBody>
        </p:sp>
        <p:sp>
          <p:nvSpPr>
            <p:cNvPr id="13334" name="Rectangle 99"/>
            <p:cNvSpPr>
              <a:spLocks noChangeArrowheads="1"/>
            </p:cNvSpPr>
            <p:nvPr/>
          </p:nvSpPr>
          <p:spPr bwMode="auto">
            <a:xfrm rot="13847694" flipV="1">
              <a:off x="2259012" y="4110547"/>
              <a:ext cx="323850" cy="34925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000">
                <a:latin typeface="Arial" panose="020B0604020202020204" pitchFamily="34" charset="0"/>
              </a:endParaRPr>
            </a:p>
          </p:txBody>
        </p:sp>
        <p:sp>
          <p:nvSpPr>
            <p:cNvPr id="13335" name="Rectangle 100"/>
            <p:cNvSpPr>
              <a:spLocks noChangeArrowheads="1"/>
            </p:cNvSpPr>
            <p:nvPr/>
          </p:nvSpPr>
          <p:spPr bwMode="auto">
            <a:xfrm rot="7752306">
              <a:off x="1965325" y="2659571"/>
              <a:ext cx="323850" cy="349250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000">
                <a:latin typeface="Arial" panose="020B0604020202020204" pitchFamily="34" charset="0"/>
              </a:endParaRPr>
            </a:p>
          </p:txBody>
        </p:sp>
        <p:sp>
          <p:nvSpPr>
            <p:cNvPr id="13336" name="Rectangle 101"/>
            <p:cNvSpPr>
              <a:spLocks noChangeArrowheads="1"/>
            </p:cNvSpPr>
            <p:nvPr/>
          </p:nvSpPr>
          <p:spPr bwMode="auto">
            <a:xfrm rot="7752306">
              <a:off x="1685925" y="2440496"/>
              <a:ext cx="323850" cy="34925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000">
                <a:latin typeface="Arial" panose="020B0604020202020204" pitchFamily="34" charset="0"/>
              </a:endParaRPr>
            </a:p>
          </p:txBody>
        </p:sp>
        <p:sp>
          <p:nvSpPr>
            <p:cNvPr id="13337" name="Rectangle 102"/>
            <p:cNvSpPr>
              <a:spLocks noChangeArrowheads="1"/>
            </p:cNvSpPr>
            <p:nvPr/>
          </p:nvSpPr>
          <p:spPr bwMode="auto">
            <a:xfrm rot="10800000" flipH="1" flipV="1">
              <a:off x="2578100" y="2464308"/>
              <a:ext cx="323850" cy="349250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000">
                <a:latin typeface="Arial" panose="020B0604020202020204" pitchFamily="34" charset="0"/>
              </a:endParaRPr>
            </a:p>
          </p:txBody>
        </p:sp>
        <p:sp>
          <p:nvSpPr>
            <p:cNvPr id="13338" name="Rectangle 103"/>
            <p:cNvSpPr>
              <a:spLocks noChangeArrowheads="1"/>
            </p:cNvSpPr>
            <p:nvPr/>
          </p:nvSpPr>
          <p:spPr bwMode="auto">
            <a:xfrm rot="10800000" flipH="1" flipV="1">
              <a:off x="2578100" y="2797683"/>
              <a:ext cx="323850" cy="34925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000">
                <a:latin typeface="Arial" panose="020B0604020202020204" pitchFamily="34" charset="0"/>
              </a:endParaRPr>
            </a:p>
          </p:txBody>
        </p:sp>
        <p:sp>
          <p:nvSpPr>
            <p:cNvPr id="13339" name="Rectangle 104"/>
            <p:cNvSpPr>
              <a:spLocks noChangeArrowheads="1"/>
            </p:cNvSpPr>
            <p:nvPr/>
          </p:nvSpPr>
          <p:spPr bwMode="auto">
            <a:xfrm rot="10800000" flipH="1">
              <a:off x="1519237" y="4075622"/>
              <a:ext cx="323850" cy="349250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000">
                <a:latin typeface="Arial" panose="020B0604020202020204" pitchFamily="34" charset="0"/>
              </a:endParaRPr>
            </a:p>
          </p:txBody>
        </p:sp>
        <p:sp>
          <p:nvSpPr>
            <p:cNvPr id="13340" name="Rectangle 105"/>
            <p:cNvSpPr>
              <a:spLocks noChangeArrowheads="1"/>
            </p:cNvSpPr>
            <p:nvPr/>
          </p:nvSpPr>
          <p:spPr bwMode="auto">
            <a:xfrm rot="10800000" flipH="1">
              <a:off x="1519237" y="3729547"/>
              <a:ext cx="323850" cy="34925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000">
                <a:latin typeface="Arial" panose="020B0604020202020204" pitchFamily="34" charset="0"/>
              </a:endParaRPr>
            </a:p>
          </p:txBody>
        </p:sp>
        <p:grpSp>
          <p:nvGrpSpPr>
            <p:cNvPr id="13342" name="Group 107"/>
            <p:cNvGrpSpPr>
              <a:grpSpLocks/>
            </p:cNvGrpSpPr>
            <p:nvPr/>
          </p:nvGrpSpPr>
          <p:grpSpPr bwMode="auto">
            <a:xfrm rot="3000724">
              <a:off x="3716336" y="2875471"/>
              <a:ext cx="617538" cy="539750"/>
              <a:chOff x="2889" y="3196"/>
              <a:chExt cx="389" cy="340"/>
            </a:xfrm>
          </p:grpSpPr>
          <p:sp>
            <p:nvSpPr>
              <p:cNvPr id="13343" name="Rectangle 108"/>
              <p:cNvSpPr>
                <a:spLocks noChangeArrowheads="1"/>
              </p:cNvSpPr>
              <p:nvPr/>
            </p:nvSpPr>
            <p:spPr bwMode="auto">
              <a:xfrm rot="7752306" flipH="1" flipV="1">
                <a:off x="2897" y="3188"/>
                <a:ext cx="204" cy="220"/>
              </a:xfrm>
              <a:prstGeom prst="rect">
                <a:avLst/>
              </a:prstGeom>
              <a:solidFill>
                <a:srgbClr val="3366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3344" name="Rectangle 109"/>
              <p:cNvSpPr>
                <a:spLocks noChangeArrowheads="1"/>
              </p:cNvSpPr>
              <p:nvPr/>
            </p:nvSpPr>
            <p:spPr bwMode="auto">
              <a:xfrm rot="7752306" flipH="1" flipV="1">
                <a:off x="3066" y="3324"/>
                <a:ext cx="204" cy="220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sz="2000"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324" name="Text Box 88"/>
          <p:cNvSpPr txBox="1">
            <a:spLocks noChangeArrowheads="1"/>
          </p:cNvSpPr>
          <p:nvPr/>
        </p:nvSpPr>
        <p:spPr bwMode="auto">
          <a:xfrm>
            <a:off x="1253854" y="320130"/>
            <a:ext cx="2444751" cy="587374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108000" rIns="108000" bIns="108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cs typeface="Arial" panose="020B0604020202020204" pitchFamily="34" charset="0"/>
              </a:rPr>
              <a:t>Paramagnéticos</a:t>
            </a:r>
          </a:p>
        </p:txBody>
      </p:sp>
      <p:sp>
        <p:nvSpPr>
          <p:cNvPr id="4" name="Text Box 110"/>
          <p:cNvSpPr txBox="1">
            <a:spLocks noChangeArrowheads="1"/>
          </p:cNvSpPr>
          <p:nvPr/>
        </p:nvSpPr>
        <p:spPr bwMode="auto">
          <a:xfrm>
            <a:off x="1253854" y="1004035"/>
            <a:ext cx="915988" cy="536574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 dirty="0">
                <a:latin typeface="Arial" panose="020B0604020202020204" pitchFamily="34" charset="0"/>
              </a:rPr>
              <a:t>Al, Pt</a:t>
            </a:r>
          </a:p>
        </p:txBody>
      </p:sp>
      <p:sp>
        <p:nvSpPr>
          <p:cNvPr id="95" name="Text Box 65"/>
          <p:cNvSpPr txBox="1">
            <a:spLocks noChangeArrowheads="1"/>
          </p:cNvSpPr>
          <p:nvPr/>
        </p:nvSpPr>
        <p:spPr bwMode="auto">
          <a:xfrm>
            <a:off x="7885693" y="4079356"/>
            <a:ext cx="2021983" cy="90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(el conjunto es un imán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)</a:t>
            </a:r>
          </a:p>
        </p:txBody>
      </p:sp>
      <p:grpSp>
        <p:nvGrpSpPr>
          <p:cNvPr id="94" name="Group 78"/>
          <p:cNvGrpSpPr>
            <a:grpSpLocks/>
          </p:cNvGrpSpPr>
          <p:nvPr/>
        </p:nvGrpSpPr>
        <p:grpSpPr bwMode="auto">
          <a:xfrm>
            <a:off x="8267435" y="3028077"/>
            <a:ext cx="1330325" cy="703262"/>
            <a:chOff x="4941" y="1678"/>
            <a:chExt cx="838" cy="443"/>
          </a:xfrm>
        </p:grpSpPr>
        <p:sp>
          <p:nvSpPr>
            <p:cNvPr id="96" name="Line 79"/>
            <p:cNvSpPr>
              <a:spLocks noChangeShapeType="1"/>
            </p:cNvSpPr>
            <p:nvPr/>
          </p:nvSpPr>
          <p:spPr bwMode="auto">
            <a:xfrm>
              <a:off x="5074" y="1678"/>
              <a:ext cx="565" cy="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miter lim="800000"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graphicFrame>
          <p:nvGraphicFramePr>
            <p:cNvPr id="97" name="Object 80"/>
            <p:cNvGraphicFramePr>
              <a:graphicFrameLocks noChangeAspect="1"/>
            </p:cNvGraphicFramePr>
            <p:nvPr/>
          </p:nvGraphicFramePr>
          <p:xfrm>
            <a:off x="4941" y="1742"/>
            <a:ext cx="838" cy="3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5" imgW="596641" imgH="266584" progId="Equation.3">
                    <p:embed/>
                  </p:oleObj>
                </mc:Choice>
                <mc:Fallback>
                  <p:oleObj name="Ecuación" r:id="rId5" imgW="596641" imgH="266584" progId="Equation.3">
                    <p:embed/>
                    <p:pic>
                      <p:nvPicPr>
                        <p:cNvPr id="97" name="Object 8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1" y="1742"/>
                          <a:ext cx="838" cy="3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3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13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5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65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762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65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65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 animBg="1"/>
      <p:bldP spid="6" grpId="0" animBg="1"/>
      <p:bldP spid="65541" grpId="0"/>
      <p:bldP spid="762945" grpId="0" animBg="1"/>
      <p:bldP spid="65621" grpId="0"/>
      <p:bldP spid="2" grpId="0" animBg="1"/>
      <p:bldP spid="13324" grpId="0" animBg="1"/>
      <p:bldP spid="4" grpId="0" animBg="1"/>
      <p:bldP spid="9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EFE8EB09-512A-4881-9E82-B8C1BE943A0D}"/>
              </a:ext>
            </a:extLst>
          </p:cNvPr>
          <p:cNvSpPr/>
          <p:nvPr/>
        </p:nvSpPr>
        <p:spPr bwMode="auto">
          <a:xfrm>
            <a:off x="1480877" y="4395849"/>
            <a:ext cx="1649832" cy="585506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grpSp>
        <p:nvGrpSpPr>
          <p:cNvPr id="15362" name="Group 8"/>
          <p:cNvGrpSpPr>
            <a:grpSpLocks/>
          </p:cNvGrpSpPr>
          <p:nvPr/>
        </p:nvGrpSpPr>
        <p:grpSpPr bwMode="auto">
          <a:xfrm>
            <a:off x="1365492" y="1024052"/>
            <a:ext cx="2587625" cy="2103438"/>
            <a:chOff x="4533" y="1002"/>
            <a:chExt cx="1630" cy="1325"/>
          </a:xfrm>
        </p:grpSpPr>
        <p:sp>
          <p:nvSpPr>
            <p:cNvPr id="15399" name="Line 9"/>
            <p:cNvSpPr>
              <a:spLocks noChangeShapeType="1"/>
            </p:cNvSpPr>
            <p:nvPr/>
          </p:nvSpPr>
          <p:spPr bwMode="auto">
            <a:xfrm>
              <a:off x="5377" y="1236"/>
              <a:ext cx="565" cy="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miter lim="800000"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graphicFrame>
          <p:nvGraphicFramePr>
            <p:cNvPr id="15400" name="Object 10"/>
            <p:cNvGraphicFramePr>
              <a:graphicFrameLocks noChangeAspect="1"/>
            </p:cNvGraphicFramePr>
            <p:nvPr/>
          </p:nvGraphicFramePr>
          <p:xfrm>
            <a:off x="4730" y="1002"/>
            <a:ext cx="642" cy="3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457002" imgH="266584" progId="Equation.3">
                    <p:embed/>
                  </p:oleObj>
                </mc:Choice>
                <mc:Fallback>
                  <p:oleObj name="Ecuación" r:id="rId3" imgW="457002" imgH="266584" progId="Equation.3">
                    <p:embed/>
                    <p:pic>
                      <p:nvPicPr>
                        <p:cNvPr id="1540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30" y="1002"/>
                          <a:ext cx="642" cy="3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5401" name="Group 11"/>
            <p:cNvGrpSpPr>
              <a:grpSpLocks/>
            </p:cNvGrpSpPr>
            <p:nvPr/>
          </p:nvGrpSpPr>
          <p:grpSpPr bwMode="auto">
            <a:xfrm>
              <a:off x="4541" y="1368"/>
              <a:ext cx="440" cy="281"/>
              <a:chOff x="4541" y="1218"/>
              <a:chExt cx="440" cy="281"/>
            </a:xfrm>
          </p:grpSpPr>
          <p:grpSp>
            <p:nvGrpSpPr>
              <p:cNvPr id="15450" name="Group 12"/>
              <p:cNvGrpSpPr>
                <a:grpSpLocks/>
              </p:cNvGrpSpPr>
              <p:nvPr/>
            </p:nvGrpSpPr>
            <p:grpSpPr bwMode="auto">
              <a:xfrm flipH="1">
                <a:off x="4541" y="1256"/>
                <a:ext cx="438" cy="204"/>
                <a:chOff x="2118" y="2372"/>
                <a:chExt cx="438" cy="204"/>
              </a:xfrm>
            </p:grpSpPr>
            <p:sp>
              <p:nvSpPr>
                <p:cNvPr id="15453" name="Rectangle 13"/>
                <p:cNvSpPr>
                  <a:spLocks noChangeArrowheads="1"/>
                </p:cNvSpPr>
                <p:nvPr/>
              </p:nvSpPr>
              <p:spPr bwMode="auto">
                <a:xfrm rot="5400000" flipH="1" flipV="1">
                  <a:off x="2344" y="2364"/>
                  <a:ext cx="204" cy="220"/>
                </a:xfrm>
                <a:prstGeom prst="rect">
                  <a:avLst/>
                </a:prstGeom>
                <a:solidFill>
                  <a:srgbClr val="3366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sz="2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5454" name="Rectangle 14"/>
                <p:cNvSpPr>
                  <a:spLocks noChangeArrowheads="1"/>
                </p:cNvSpPr>
                <p:nvPr/>
              </p:nvSpPr>
              <p:spPr bwMode="auto">
                <a:xfrm rot="16200000" flipV="1">
                  <a:off x="2126" y="2364"/>
                  <a:ext cx="204" cy="220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rot="10800000" wrap="none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sz="20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5451" name="Text Box 15"/>
              <p:cNvSpPr txBox="1">
                <a:spLocks noChangeArrowheads="1"/>
              </p:cNvSpPr>
              <p:nvPr/>
            </p:nvSpPr>
            <p:spPr bwMode="auto">
              <a:xfrm>
                <a:off x="4763" y="1218"/>
                <a:ext cx="218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chemeClr val="bg1"/>
                    </a:solidFill>
                    <a:latin typeface="Arial" panose="020B0604020202020204" pitchFamily="34" charset="0"/>
                  </a:rPr>
                  <a:t>N</a:t>
                </a:r>
              </a:p>
            </p:txBody>
          </p:sp>
          <p:sp>
            <p:nvSpPr>
              <p:cNvPr id="15452" name="Text Box 16"/>
              <p:cNvSpPr txBox="1">
                <a:spLocks noChangeArrowheads="1"/>
              </p:cNvSpPr>
              <p:nvPr/>
            </p:nvSpPr>
            <p:spPr bwMode="auto">
              <a:xfrm>
                <a:off x="4554" y="1222"/>
                <a:ext cx="210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chemeClr val="bg1"/>
                    </a:solidFill>
                    <a:latin typeface="Arial" panose="020B0604020202020204" pitchFamily="34" charset="0"/>
                  </a:rPr>
                  <a:t>S</a:t>
                </a:r>
              </a:p>
            </p:txBody>
          </p:sp>
        </p:grpSp>
        <p:grpSp>
          <p:nvGrpSpPr>
            <p:cNvPr id="15402" name="Group 17"/>
            <p:cNvGrpSpPr>
              <a:grpSpLocks/>
            </p:cNvGrpSpPr>
            <p:nvPr/>
          </p:nvGrpSpPr>
          <p:grpSpPr bwMode="auto">
            <a:xfrm>
              <a:off x="5132" y="1368"/>
              <a:ext cx="440" cy="281"/>
              <a:chOff x="4541" y="1218"/>
              <a:chExt cx="440" cy="281"/>
            </a:xfrm>
          </p:grpSpPr>
          <p:grpSp>
            <p:nvGrpSpPr>
              <p:cNvPr id="15445" name="Group 18"/>
              <p:cNvGrpSpPr>
                <a:grpSpLocks/>
              </p:cNvGrpSpPr>
              <p:nvPr/>
            </p:nvGrpSpPr>
            <p:grpSpPr bwMode="auto">
              <a:xfrm flipH="1">
                <a:off x="4541" y="1256"/>
                <a:ext cx="438" cy="204"/>
                <a:chOff x="2118" y="2372"/>
                <a:chExt cx="438" cy="204"/>
              </a:xfrm>
            </p:grpSpPr>
            <p:sp>
              <p:nvSpPr>
                <p:cNvPr id="15448" name="Rectangle 19"/>
                <p:cNvSpPr>
                  <a:spLocks noChangeArrowheads="1"/>
                </p:cNvSpPr>
                <p:nvPr/>
              </p:nvSpPr>
              <p:spPr bwMode="auto">
                <a:xfrm rot="5400000" flipH="1" flipV="1">
                  <a:off x="2344" y="2364"/>
                  <a:ext cx="204" cy="220"/>
                </a:xfrm>
                <a:prstGeom prst="rect">
                  <a:avLst/>
                </a:prstGeom>
                <a:solidFill>
                  <a:srgbClr val="3366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sz="2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5449" name="Rectangle 20"/>
                <p:cNvSpPr>
                  <a:spLocks noChangeArrowheads="1"/>
                </p:cNvSpPr>
                <p:nvPr/>
              </p:nvSpPr>
              <p:spPr bwMode="auto">
                <a:xfrm rot="16200000" flipV="1">
                  <a:off x="2126" y="2364"/>
                  <a:ext cx="204" cy="220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rot="10800000" wrap="none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sz="20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5446" name="Text Box 21"/>
              <p:cNvSpPr txBox="1">
                <a:spLocks noChangeArrowheads="1"/>
              </p:cNvSpPr>
              <p:nvPr/>
            </p:nvSpPr>
            <p:spPr bwMode="auto">
              <a:xfrm>
                <a:off x="4763" y="1218"/>
                <a:ext cx="218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chemeClr val="bg1"/>
                    </a:solidFill>
                    <a:latin typeface="Arial" panose="020B0604020202020204" pitchFamily="34" charset="0"/>
                  </a:rPr>
                  <a:t>N</a:t>
                </a:r>
              </a:p>
            </p:txBody>
          </p:sp>
          <p:sp>
            <p:nvSpPr>
              <p:cNvPr id="15447" name="Text Box 22"/>
              <p:cNvSpPr txBox="1">
                <a:spLocks noChangeArrowheads="1"/>
              </p:cNvSpPr>
              <p:nvPr/>
            </p:nvSpPr>
            <p:spPr bwMode="auto">
              <a:xfrm>
                <a:off x="4554" y="1222"/>
                <a:ext cx="210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chemeClr val="bg1"/>
                    </a:solidFill>
                    <a:latin typeface="Arial" panose="020B0604020202020204" pitchFamily="34" charset="0"/>
                  </a:rPr>
                  <a:t>S</a:t>
                </a:r>
              </a:p>
            </p:txBody>
          </p:sp>
        </p:grpSp>
        <p:grpSp>
          <p:nvGrpSpPr>
            <p:cNvPr id="15403" name="Group 23"/>
            <p:cNvGrpSpPr>
              <a:grpSpLocks/>
            </p:cNvGrpSpPr>
            <p:nvPr/>
          </p:nvGrpSpPr>
          <p:grpSpPr bwMode="auto">
            <a:xfrm>
              <a:off x="5723" y="1368"/>
              <a:ext cx="440" cy="281"/>
              <a:chOff x="4541" y="1218"/>
              <a:chExt cx="440" cy="281"/>
            </a:xfrm>
          </p:grpSpPr>
          <p:grpSp>
            <p:nvGrpSpPr>
              <p:cNvPr id="15440" name="Group 24"/>
              <p:cNvGrpSpPr>
                <a:grpSpLocks/>
              </p:cNvGrpSpPr>
              <p:nvPr/>
            </p:nvGrpSpPr>
            <p:grpSpPr bwMode="auto">
              <a:xfrm flipH="1">
                <a:off x="4541" y="1256"/>
                <a:ext cx="438" cy="204"/>
                <a:chOff x="2118" y="2372"/>
                <a:chExt cx="438" cy="204"/>
              </a:xfrm>
            </p:grpSpPr>
            <p:sp>
              <p:nvSpPr>
                <p:cNvPr id="15443" name="Rectangle 25"/>
                <p:cNvSpPr>
                  <a:spLocks noChangeArrowheads="1"/>
                </p:cNvSpPr>
                <p:nvPr/>
              </p:nvSpPr>
              <p:spPr bwMode="auto">
                <a:xfrm rot="5400000" flipH="1" flipV="1">
                  <a:off x="2344" y="2364"/>
                  <a:ext cx="204" cy="220"/>
                </a:xfrm>
                <a:prstGeom prst="rect">
                  <a:avLst/>
                </a:prstGeom>
                <a:solidFill>
                  <a:srgbClr val="3366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sz="2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5444" name="Rectangle 26"/>
                <p:cNvSpPr>
                  <a:spLocks noChangeArrowheads="1"/>
                </p:cNvSpPr>
                <p:nvPr/>
              </p:nvSpPr>
              <p:spPr bwMode="auto">
                <a:xfrm rot="16200000" flipV="1">
                  <a:off x="2126" y="2364"/>
                  <a:ext cx="204" cy="220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rot="10800000" wrap="none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sz="20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5441" name="Text Box 27"/>
              <p:cNvSpPr txBox="1">
                <a:spLocks noChangeArrowheads="1"/>
              </p:cNvSpPr>
              <p:nvPr/>
            </p:nvSpPr>
            <p:spPr bwMode="auto">
              <a:xfrm>
                <a:off x="4763" y="1218"/>
                <a:ext cx="218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chemeClr val="bg1"/>
                    </a:solidFill>
                    <a:latin typeface="Arial" panose="020B0604020202020204" pitchFamily="34" charset="0"/>
                  </a:rPr>
                  <a:t>N</a:t>
                </a:r>
              </a:p>
            </p:txBody>
          </p:sp>
          <p:sp>
            <p:nvSpPr>
              <p:cNvPr id="15442" name="Text Box 28"/>
              <p:cNvSpPr txBox="1">
                <a:spLocks noChangeArrowheads="1"/>
              </p:cNvSpPr>
              <p:nvPr/>
            </p:nvSpPr>
            <p:spPr bwMode="auto">
              <a:xfrm>
                <a:off x="4554" y="1222"/>
                <a:ext cx="210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chemeClr val="bg1"/>
                    </a:solidFill>
                    <a:latin typeface="Arial" panose="020B0604020202020204" pitchFamily="34" charset="0"/>
                  </a:rPr>
                  <a:t>S</a:t>
                </a:r>
              </a:p>
            </p:txBody>
          </p:sp>
        </p:grpSp>
        <p:grpSp>
          <p:nvGrpSpPr>
            <p:cNvPr id="15404" name="Group 29"/>
            <p:cNvGrpSpPr>
              <a:grpSpLocks/>
            </p:cNvGrpSpPr>
            <p:nvPr/>
          </p:nvGrpSpPr>
          <p:grpSpPr bwMode="auto">
            <a:xfrm>
              <a:off x="4537" y="1707"/>
              <a:ext cx="440" cy="281"/>
              <a:chOff x="4541" y="1218"/>
              <a:chExt cx="440" cy="281"/>
            </a:xfrm>
          </p:grpSpPr>
          <p:grpSp>
            <p:nvGrpSpPr>
              <p:cNvPr id="15435" name="Group 30"/>
              <p:cNvGrpSpPr>
                <a:grpSpLocks/>
              </p:cNvGrpSpPr>
              <p:nvPr/>
            </p:nvGrpSpPr>
            <p:grpSpPr bwMode="auto">
              <a:xfrm flipH="1">
                <a:off x="4541" y="1256"/>
                <a:ext cx="438" cy="204"/>
                <a:chOff x="2118" y="2372"/>
                <a:chExt cx="438" cy="204"/>
              </a:xfrm>
            </p:grpSpPr>
            <p:sp>
              <p:nvSpPr>
                <p:cNvPr id="15438" name="Rectangle 31"/>
                <p:cNvSpPr>
                  <a:spLocks noChangeArrowheads="1"/>
                </p:cNvSpPr>
                <p:nvPr/>
              </p:nvSpPr>
              <p:spPr bwMode="auto">
                <a:xfrm rot="5400000" flipH="1" flipV="1">
                  <a:off x="2344" y="2364"/>
                  <a:ext cx="204" cy="220"/>
                </a:xfrm>
                <a:prstGeom prst="rect">
                  <a:avLst/>
                </a:prstGeom>
                <a:solidFill>
                  <a:srgbClr val="3366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sz="2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5439" name="Rectangle 32"/>
                <p:cNvSpPr>
                  <a:spLocks noChangeArrowheads="1"/>
                </p:cNvSpPr>
                <p:nvPr/>
              </p:nvSpPr>
              <p:spPr bwMode="auto">
                <a:xfrm rot="16200000" flipV="1">
                  <a:off x="2126" y="2364"/>
                  <a:ext cx="204" cy="220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rot="10800000" wrap="none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sz="20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5436" name="Text Box 33"/>
              <p:cNvSpPr txBox="1">
                <a:spLocks noChangeArrowheads="1"/>
              </p:cNvSpPr>
              <p:nvPr/>
            </p:nvSpPr>
            <p:spPr bwMode="auto">
              <a:xfrm>
                <a:off x="4763" y="1218"/>
                <a:ext cx="218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chemeClr val="bg1"/>
                    </a:solidFill>
                    <a:latin typeface="Arial" panose="020B0604020202020204" pitchFamily="34" charset="0"/>
                  </a:rPr>
                  <a:t>N</a:t>
                </a:r>
              </a:p>
            </p:txBody>
          </p:sp>
          <p:sp>
            <p:nvSpPr>
              <p:cNvPr id="15437" name="Text Box 34"/>
              <p:cNvSpPr txBox="1">
                <a:spLocks noChangeArrowheads="1"/>
              </p:cNvSpPr>
              <p:nvPr/>
            </p:nvSpPr>
            <p:spPr bwMode="auto">
              <a:xfrm>
                <a:off x="4554" y="1222"/>
                <a:ext cx="210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chemeClr val="bg1"/>
                    </a:solidFill>
                    <a:latin typeface="Arial" panose="020B0604020202020204" pitchFamily="34" charset="0"/>
                  </a:rPr>
                  <a:t>S</a:t>
                </a:r>
              </a:p>
            </p:txBody>
          </p:sp>
        </p:grpSp>
        <p:grpSp>
          <p:nvGrpSpPr>
            <p:cNvPr id="15405" name="Group 35"/>
            <p:cNvGrpSpPr>
              <a:grpSpLocks/>
            </p:cNvGrpSpPr>
            <p:nvPr/>
          </p:nvGrpSpPr>
          <p:grpSpPr bwMode="auto">
            <a:xfrm>
              <a:off x="5128" y="1707"/>
              <a:ext cx="440" cy="281"/>
              <a:chOff x="4541" y="1218"/>
              <a:chExt cx="440" cy="281"/>
            </a:xfrm>
          </p:grpSpPr>
          <p:grpSp>
            <p:nvGrpSpPr>
              <p:cNvPr id="15430" name="Group 36"/>
              <p:cNvGrpSpPr>
                <a:grpSpLocks/>
              </p:cNvGrpSpPr>
              <p:nvPr/>
            </p:nvGrpSpPr>
            <p:grpSpPr bwMode="auto">
              <a:xfrm flipH="1">
                <a:off x="4541" y="1256"/>
                <a:ext cx="438" cy="204"/>
                <a:chOff x="2118" y="2372"/>
                <a:chExt cx="438" cy="204"/>
              </a:xfrm>
            </p:grpSpPr>
            <p:sp>
              <p:nvSpPr>
                <p:cNvPr id="15433" name="Rectangle 37"/>
                <p:cNvSpPr>
                  <a:spLocks noChangeArrowheads="1"/>
                </p:cNvSpPr>
                <p:nvPr/>
              </p:nvSpPr>
              <p:spPr bwMode="auto">
                <a:xfrm rot="5400000" flipH="1" flipV="1">
                  <a:off x="2344" y="2364"/>
                  <a:ext cx="204" cy="220"/>
                </a:xfrm>
                <a:prstGeom prst="rect">
                  <a:avLst/>
                </a:prstGeom>
                <a:solidFill>
                  <a:srgbClr val="3366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sz="2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5434" name="Rectangle 38"/>
                <p:cNvSpPr>
                  <a:spLocks noChangeArrowheads="1"/>
                </p:cNvSpPr>
                <p:nvPr/>
              </p:nvSpPr>
              <p:spPr bwMode="auto">
                <a:xfrm rot="16200000" flipV="1">
                  <a:off x="2126" y="2364"/>
                  <a:ext cx="204" cy="220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rot="10800000" wrap="none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sz="20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5431" name="Text Box 39"/>
              <p:cNvSpPr txBox="1">
                <a:spLocks noChangeArrowheads="1"/>
              </p:cNvSpPr>
              <p:nvPr/>
            </p:nvSpPr>
            <p:spPr bwMode="auto">
              <a:xfrm>
                <a:off x="4763" y="1218"/>
                <a:ext cx="218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chemeClr val="bg1"/>
                    </a:solidFill>
                    <a:latin typeface="Arial" panose="020B0604020202020204" pitchFamily="34" charset="0"/>
                  </a:rPr>
                  <a:t>N</a:t>
                </a:r>
              </a:p>
            </p:txBody>
          </p:sp>
          <p:sp>
            <p:nvSpPr>
              <p:cNvPr id="15432" name="Text Box 40"/>
              <p:cNvSpPr txBox="1">
                <a:spLocks noChangeArrowheads="1"/>
              </p:cNvSpPr>
              <p:nvPr/>
            </p:nvSpPr>
            <p:spPr bwMode="auto">
              <a:xfrm>
                <a:off x="4554" y="1222"/>
                <a:ext cx="210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chemeClr val="bg1"/>
                    </a:solidFill>
                    <a:latin typeface="Arial" panose="020B0604020202020204" pitchFamily="34" charset="0"/>
                  </a:rPr>
                  <a:t>S</a:t>
                </a:r>
              </a:p>
            </p:txBody>
          </p:sp>
        </p:grpSp>
        <p:grpSp>
          <p:nvGrpSpPr>
            <p:cNvPr id="15406" name="Group 41"/>
            <p:cNvGrpSpPr>
              <a:grpSpLocks/>
            </p:cNvGrpSpPr>
            <p:nvPr/>
          </p:nvGrpSpPr>
          <p:grpSpPr bwMode="auto">
            <a:xfrm>
              <a:off x="5719" y="1707"/>
              <a:ext cx="440" cy="281"/>
              <a:chOff x="4541" y="1218"/>
              <a:chExt cx="440" cy="281"/>
            </a:xfrm>
          </p:grpSpPr>
          <p:grpSp>
            <p:nvGrpSpPr>
              <p:cNvPr id="15425" name="Group 42"/>
              <p:cNvGrpSpPr>
                <a:grpSpLocks/>
              </p:cNvGrpSpPr>
              <p:nvPr/>
            </p:nvGrpSpPr>
            <p:grpSpPr bwMode="auto">
              <a:xfrm flipH="1">
                <a:off x="4541" y="1256"/>
                <a:ext cx="438" cy="204"/>
                <a:chOff x="2118" y="2372"/>
                <a:chExt cx="438" cy="204"/>
              </a:xfrm>
            </p:grpSpPr>
            <p:sp>
              <p:nvSpPr>
                <p:cNvPr id="15428" name="Rectangle 43"/>
                <p:cNvSpPr>
                  <a:spLocks noChangeArrowheads="1"/>
                </p:cNvSpPr>
                <p:nvPr/>
              </p:nvSpPr>
              <p:spPr bwMode="auto">
                <a:xfrm rot="5400000" flipH="1" flipV="1">
                  <a:off x="2344" y="2364"/>
                  <a:ext cx="204" cy="220"/>
                </a:xfrm>
                <a:prstGeom prst="rect">
                  <a:avLst/>
                </a:prstGeom>
                <a:solidFill>
                  <a:srgbClr val="3366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sz="2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5429" name="Rectangle 44"/>
                <p:cNvSpPr>
                  <a:spLocks noChangeArrowheads="1"/>
                </p:cNvSpPr>
                <p:nvPr/>
              </p:nvSpPr>
              <p:spPr bwMode="auto">
                <a:xfrm rot="16200000" flipV="1">
                  <a:off x="2126" y="2364"/>
                  <a:ext cx="204" cy="220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rot="10800000" wrap="none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sz="20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5426" name="Text Box 45"/>
              <p:cNvSpPr txBox="1">
                <a:spLocks noChangeArrowheads="1"/>
              </p:cNvSpPr>
              <p:nvPr/>
            </p:nvSpPr>
            <p:spPr bwMode="auto">
              <a:xfrm>
                <a:off x="4763" y="1218"/>
                <a:ext cx="218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chemeClr val="bg1"/>
                    </a:solidFill>
                    <a:latin typeface="Arial" panose="020B0604020202020204" pitchFamily="34" charset="0"/>
                  </a:rPr>
                  <a:t>N</a:t>
                </a:r>
              </a:p>
            </p:txBody>
          </p:sp>
          <p:sp>
            <p:nvSpPr>
              <p:cNvPr id="15427" name="Text Box 46"/>
              <p:cNvSpPr txBox="1">
                <a:spLocks noChangeArrowheads="1"/>
              </p:cNvSpPr>
              <p:nvPr/>
            </p:nvSpPr>
            <p:spPr bwMode="auto">
              <a:xfrm>
                <a:off x="4554" y="1222"/>
                <a:ext cx="210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chemeClr val="bg1"/>
                    </a:solidFill>
                    <a:latin typeface="Arial" panose="020B0604020202020204" pitchFamily="34" charset="0"/>
                  </a:rPr>
                  <a:t>S</a:t>
                </a:r>
              </a:p>
            </p:txBody>
          </p:sp>
        </p:grpSp>
        <p:grpSp>
          <p:nvGrpSpPr>
            <p:cNvPr id="15407" name="Group 47"/>
            <p:cNvGrpSpPr>
              <a:grpSpLocks/>
            </p:cNvGrpSpPr>
            <p:nvPr/>
          </p:nvGrpSpPr>
          <p:grpSpPr bwMode="auto">
            <a:xfrm>
              <a:off x="4533" y="2046"/>
              <a:ext cx="440" cy="281"/>
              <a:chOff x="4541" y="1218"/>
              <a:chExt cx="440" cy="281"/>
            </a:xfrm>
          </p:grpSpPr>
          <p:grpSp>
            <p:nvGrpSpPr>
              <p:cNvPr id="15420" name="Group 48"/>
              <p:cNvGrpSpPr>
                <a:grpSpLocks/>
              </p:cNvGrpSpPr>
              <p:nvPr/>
            </p:nvGrpSpPr>
            <p:grpSpPr bwMode="auto">
              <a:xfrm flipH="1">
                <a:off x="4541" y="1256"/>
                <a:ext cx="438" cy="204"/>
                <a:chOff x="2118" y="2372"/>
                <a:chExt cx="438" cy="204"/>
              </a:xfrm>
            </p:grpSpPr>
            <p:sp>
              <p:nvSpPr>
                <p:cNvPr id="15423" name="Rectangle 49"/>
                <p:cNvSpPr>
                  <a:spLocks noChangeArrowheads="1"/>
                </p:cNvSpPr>
                <p:nvPr/>
              </p:nvSpPr>
              <p:spPr bwMode="auto">
                <a:xfrm rot="5400000" flipH="1" flipV="1">
                  <a:off x="2344" y="2364"/>
                  <a:ext cx="204" cy="220"/>
                </a:xfrm>
                <a:prstGeom prst="rect">
                  <a:avLst/>
                </a:prstGeom>
                <a:solidFill>
                  <a:srgbClr val="3366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sz="2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5424" name="Rectangle 50"/>
                <p:cNvSpPr>
                  <a:spLocks noChangeArrowheads="1"/>
                </p:cNvSpPr>
                <p:nvPr/>
              </p:nvSpPr>
              <p:spPr bwMode="auto">
                <a:xfrm rot="16200000" flipV="1">
                  <a:off x="2126" y="2364"/>
                  <a:ext cx="204" cy="220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rot="10800000" wrap="none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sz="20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5421" name="Text Box 51"/>
              <p:cNvSpPr txBox="1">
                <a:spLocks noChangeArrowheads="1"/>
              </p:cNvSpPr>
              <p:nvPr/>
            </p:nvSpPr>
            <p:spPr bwMode="auto">
              <a:xfrm>
                <a:off x="4763" y="1218"/>
                <a:ext cx="218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chemeClr val="bg1"/>
                    </a:solidFill>
                    <a:latin typeface="Arial" panose="020B0604020202020204" pitchFamily="34" charset="0"/>
                  </a:rPr>
                  <a:t>N</a:t>
                </a:r>
              </a:p>
            </p:txBody>
          </p:sp>
          <p:sp>
            <p:nvSpPr>
              <p:cNvPr id="15422" name="Text Box 52"/>
              <p:cNvSpPr txBox="1">
                <a:spLocks noChangeArrowheads="1"/>
              </p:cNvSpPr>
              <p:nvPr/>
            </p:nvSpPr>
            <p:spPr bwMode="auto">
              <a:xfrm>
                <a:off x="4554" y="1222"/>
                <a:ext cx="210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chemeClr val="bg1"/>
                    </a:solidFill>
                    <a:latin typeface="Arial" panose="020B0604020202020204" pitchFamily="34" charset="0"/>
                  </a:rPr>
                  <a:t>S</a:t>
                </a:r>
              </a:p>
            </p:txBody>
          </p:sp>
        </p:grpSp>
        <p:grpSp>
          <p:nvGrpSpPr>
            <p:cNvPr id="15408" name="Group 53"/>
            <p:cNvGrpSpPr>
              <a:grpSpLocks/>
            </p:cNvGrpSpPr>
            <p:nvPr/>
          </p:nvGrpSpPr>
          <p:grpSpPr bwMode="auto">
            <a:xfrm>
              <a:off x="5124" y="2046"/>
              <a:ext cx="440" cy="281"/>
              <a:chOff x="4541" y="1218"/>
              <a:chExt cx="440" cy="281"/>
            </a:xfrm>
          </p:grpSpPr>
          <p:grpSp>
            <p:nvGrpSpPr>
              <p:cNvPr id="15415" name="Group 54"/>
              <p:cNvGrpSpPr>
                <a:grpSpLocks/>
              </p:cNvGrpSpPr>
              <p:nvPr/>
            </p:nvGrpSpPr>
            <p:grpSpPr bwMode="auto">
              <a:xfrm flipH="1">
                <a:off x="4541" y="1256"/>
                <a:ext cx="438" cy="204"/>
                <a:chOff x="2118" y="2372"/>
                <a:chExt cx="438" cy="204"/>
              </a:xfrm>
            </p:grpSpPr>
            <p:sp>
              <p:nvSpPr>
                <p:cNvPr id="15418" name="Rectangle 55"/>
                <p:cNvSpPr>
                  <a:spLocks noChangeArrowheads="1"/>
                </p:cNvSpPr>
                <p:nvPr/>
              </p:nvSpPr>
              <p:spPr bwMode="auto">
                <a:xfrm rot="5400000" flipH="1" flipV="1">
                  <a:off x="2344" y="2364"/>
                  <a:ext cx="204" cy="220"/>
                </a:xfrm>
                <a:prstGeom prst="rect">
                  <a:avLst/>
                </a:prstGeom>
                <a:solidFill>
                  <a:srgbClr val="3366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sz="2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5419" name="Rectangle 56"/>
                <p:cNvSpPr>
                  <a:spLocks noChangeArrowheads="1"/>
                </p:cNvSpPr>
                <p:nvPr/>
              </p:nvSpPr>
              <p:spPr bwMode="auto">
                <a:xfrm rot="16200000" flipV="1">
                  <a:off x="2126" y="2364"/>
                  <a:ext cx="204" cy="220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rot="10800000" wrap="none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sz="20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5416" name="Text Box 57"/>
              <p:cNvSpPr txBox="1">
                <a:spLocks noChangeArrowheads="1"/>
              </p:cNvSpPr>
              <p:nvPr/>
            </p:nvSpPr>
            <p:spPr bwMode="auto">
              <a:xfrm>
                <a:off x="4763" y="1218"/>
                <a:ext cx="218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chemeClr val="bg1"/>
                    </a:solidFill>
                    <a:latin typeface="Arial" panose="020B0604020202020204" pitchFamily="34" charset="0"/>
                  </a:rPr>
                  <a:t>N</a:t>
                </a:r>
              </a:p>
            </p:txBody>
          </p:sp>
          <p:sp>
            <p:nvSpPr>
              <p:cNvPr id="15417" name="Text Box 58"/>
              <p:cNvSpPr txBox="1">
                <a:spLocks noChangeArrowheads="1"/>
              </p:cNvSpPr>
              <p:nvPr/>
            </p:nvSpPr>
            <p:spPr bwMode="auto">
              <a:xfrm>
                <a:off x="4554" y="1222"/>
                <a:ext cx="210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chemeClr val="bg1"/>
                    </a:solidFill>
                    <a:latin typeface="Arial" panose="020B0604020202020204" pitchFamily="34" charset="0"/>
                  </a:rPr>
                  <a:t>S</a:t>
                </a:r>
              </a:p>
            </p:txBody>
          </p:sp>
        </p:grpSp>
        <p:grpSp>
          <p:nvGrpSpPr>
            <p:cNvPr id="15409" name="Group 59"/>
            <p:cNvGrpSpPr>
              <a:grpSpLocks/>
            </p:cNvGrpSpPr>
            <p:nvPr/>
          </p:nvGrpSpPr>
          <p:grpSpPr bwMode="auto">
            <a:xfrm>
              <a:off x="5715" y="2046"/>
              <a:ext cx="440" cy="281"/>
              <a:chOff x="4541" y="1218"/>
              <a:chExt cx="440" cy="281"/>
            </a:xfrm>
          </p:grpSpPr>
          <p:grpSp>
            <p:nvGrpSpPr>
              <p:cNvPr id="15410" name="Group 60"/>
              <p:cNvGrpSpPr>
                <a:grpSpLocks/>
              </p:cNvGrpSpPr>
              <p:nvPr/>
            </p:nvGrpSpPr>
            <p:grpSpPr bwMode="auto">
              <a:xfrm flipH="1">
                <a:off x="4541" y="1256"/>
                <a:ext cx="438" cy="204"/>
                <a:chOff x="2118" y="2372"/>
                <a:chExt cx="438" cy="204"/>
              </a:xfrm>
            </p:grpSpPr>
            <p:sp>
              <p:nvSpPr>
                <p:cNvPr id="15413" name="Rectangle 61"/>
                <p:cNvSpPr>
                  <a:spLocks noChangeArrowheads="1"/>
                </p:cNvSpPr>
                <p:nvPr/>
              </p:nvSpPr>
              <p:spPr bwMode="auto">
                <a:xfrm rot="5400000" flipH="1" flipV="1">
                  <a:off x="2344" y="2364"/>
                  <a:ext cx="204" cy="220"/>
                </a:xfrm>
                <a:prstGeom prst="rect">
                  <a:avLst/>
                </a:prstGeom>
                <a:solidFill>
                  <a:srgbClr val="3366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sz="2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5414" name="Rectangle 62"/>
                <p:cNvSpPr>
                  <a:spLocks noChangeArrowheads="1"/>
                </p:cNvSpPr>
                <p:nvPr/>
              </p:nvSpPr>
              <p:spPr bwMode="auto">
                <a:xfrm rot="16200000" flipV="1">
                  <a:off x="2126" y="2364"/>
                  <a:ext cx="204" cy="220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rot="10800000" wrap="none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sz="20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5411" name="Text Box 63"/>
              <p:cNvSpPr txBox="1">
                <a:spLocks noChangeArrowheads="1"/>
              </p:cNvSpPr>
              <p:nvPr/>
            </p:nvSpPr>
            <p:spPr bwMode="auto">
              <a:xfrm>
                <a:off x="4763" y="1218"/>
                <a:ext cx="218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chemeClr val="bg1"/>
                    </a:solidFill>
                    <a:latin typeface="Arial" panose="020B0604020202020204" pitchFamily="34" charset="0"/>
                  </a:rPr>
                  <a:t>N</a:t>
                </a:r>
              </a:p>
            </p:txBody>
          </p:sp>
          <p:sp>
            <p:nvSpPr>
              <p:cNvPr id="15412" name="Text Box 64"/>
              <p:cNvSpPr txBox="1">
                <a:spLocks noChangeArrowheads="1"/>
              </p:cNvSpPr>
              <p:nvPr/>
            </p:nvSpPr>
            <p:spPr bwMode="auto">
              <a:xfrm>
                <a:off x="4554" y="1222"/>
                <a:ext cx="210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chemeClr val="bg1"/>
                    </a:solidFill>
                    <a:latin typeface="Arial" panose="020B0604020202020204" pitchFamily="34" charset="0"/>
                  </a:rPr>
                  <a:t>S</a:t>
                </a:r>
              </a:p>
            </p:txBody>
          </p:sp>
        </p:grpSp>
      </p:grpSp>
      <p:sp>
        <p:nvSpPr>
          <p:cNvPr id="762946" name="Text Box 66"/>
          <p:cNvSpPr txBox="1">
            <a:spLocks noChangeArrowheads="1"/>
          </p:cNvSpPr>
          <p:nvPr/>
        </p:nvSpPr>
        <p:spPr bwMode="auto">
          <a:xfrm>
            <a:off x="4186128" y="350699"/>
            <a:ext cx="6082583" cy="905881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Su comportamiento recuerda al de moléculas polares con interacción débil</a:t>
            </a:r>
          </a:p>
        </p:txBody>
      </p:sp>
      <p:grpSp>
        <p:nvGrpSpPr>
          <p:cNvPr id="5" name="Grupo 4"/>
          <p:cNvGrpSpPr>
            <a:grpSpLocks/>
          </p:cNvGrpSpPr>
          <p:nvPr/>
        </p:nvGrpSpPr>
        <p:grpSpPr bwMode="auto">
          <a:xfrm>
            <a:off x="4285399" y="1372938"/>
            <a:ext cx="1880941" cy="536549"/>
            <a:chOff x="1452200" y="2857717"/>
            <a:chExt cx="1880929" cy="536523"/>
          </a:xfrm>
        </p:grpSpPr>
        <p:sp>
          <p:nvSpPr>
            <p:cNvPr id="15397" name="Rectángulo 2"/>
            <p:cNvSpPr>
              <a:spLocks noChangeArrowheads="1"/>
            </p:cNvSpPr>
            <p:nvPr/>
          </p:nvSpPr>
          <p:spPr bwMode="auto">
            <a:xfrm>
              <a:off x="1757949" y="2893923"/>
              <a:ext cx="1533131" cy="474266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square" lIns="90000" tIns="82800" rIns="90000" bIns="82800" anchorCtr="1">
              <a:spAutoFit/>
            </a:bodyPr>
            <a:lstStyle>
              <a:lvl1pPr>
                <a:defRPr sz="2000">
                  <a:solidFill>
                    <a:srgbClr val="3333FF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3333FF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3333FF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3333FF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3333FF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FF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FF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FF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FF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baseline="-25000">
                <a:solidFill>
                  <a:srgbClr val="000000"/>
                </a:solidFill>
              </a:endParaRPr>
            </a:p>
          </p:txBody>
        </p:sp>
        <p:sp>
          <p:nvSpPr>
            <p:cNvPr id="15398" name="Text Box 67"/>
            <p:cNvSpPr txBox="1">
              <a:spLocks noChangeArrowheads="1"/>
            </p:cNvSpPr>
            <p:nvPr/>
          </p:nvSpPr>
          <p:spPr bwMode="auto">
            <a:xfrm>
              <a:off x="1452200" y="2857717"/>
              <a:ext cx="1880929" cy="536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 </a:t>
              </a:r>
              <a:r>
                <a:rPr lang="es-ES" sz="2400" dirty="0">
                  <a:latin typeface="Arial" panose="020B0604020202020204" pitchFamily="34" charset="0"/>
                  <a:sym typeface="Symbol" panose="05050102010706020507" pitchFamily="18" charset="2"/>
                </a:rPr>
                <a:t>Diferencia:</a:t>
              </a:r>
              <a:endPara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</p:grpSp>
      <p:grpSp>
        <p:nvGrpSpPr>
          <p:cNvPr id="22" name="Group 121"/>
          <p:cNvGrpSpPr>
            <a:grpSpLocks/>
          </p:cNvGrpSpPr>
          <p:nvPr/>
        </p:nvGrpSpPr>
        <p:grpSpPr bwMode="auto">
          <a:xfrm>
            <a:off x="4277837" y="1881841"/>
            <a:ext cx="2149476" cy="1044576"/>
            <a:chOff x="3474" y="3734"/>
            <a:chExt cx="1354" cy="658"/>
          </a:xfrm>
        </p:grpSpPr>
        <p:sp>
          <p:nvSpPr>
            <p:cNvPr id="15393" name="Text Box 69"/>
            <p:cNvSpPr txBox="1">
              <a:spLocks noChangeArrowheads="1"/>
            </p:cNvSpPr>
            <p:nvPr/>
          </p:nvSpPr>
          <p:spPr bwMode="auto">
            <a:xfrm>
              <a:off x="3474" y="3921"/>
              <a:ext cx="1354" cy="3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  <a:sym typeface="Symbol" panose="05050102010706020507" pitchFamily="18" charset="2"/>
                </a:rPr>
                <a:t></a:t>
              </a:r>
              <a:r>
                <a:rPr lang="es-ES" sz="2800">
                  <a:latin typeface="Arial" panose="020B0604020202020204" pitchFamily="34" charset="0"/>
                  <a:sym typeface="Symbol" panose="05050102010706020507" pitchFamily="18" charset="2"/>
                </a:rPr>
                <a:t> </a:t>
              </a:r>
              <a:r>
                <a:rPr lang="es-ES" sz="2400" baseline="-25000">
                  <a:latin typeface="Arial" panose="020B0604020202020204" pitchFamily="34" charset="0"/>
                  <a:sym typeface="Symbol" panose="05050102010706020507" pitchFamily="18" charset="2"/>
                </a:rPr>
                <a:t>relativa</a:t>
              </a:r>
              <a:r>
                <a:rPr lang="es-ES" sz="2400">
                  <a:latin typeface="Arial" panose="020B0604020202020204" pitchFamily="34" charset="0"/>
                  <a:sym typeface="Symbol" panose="05050102010706020507" pitchFamily="18" charset="2"/>
                </a:rPr>
                <a:t> =</a:t>
              </a:r>
              <a:r>
                <a:rPr lang="es-ES" sz="2800">
                  <a:latin typeface="Arial" panose="020B0604020202020204" pitchFamily="34" charset="0"/>
                  <a:sym typeface="Symbol" panose="05050102010706020507" pitchFamily="18" charset="2"/>
                </a:rPr>
                <a:t>      </a:t>
              </a:r>
              <a:endParaRPr lang="es-ES" sz="2400"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15396" name="Text Box 72"/>
            <p:cNvSpPr txBox="1">
              <a:spLocks noChangeArrowheads="1"/>
            </p:cNvSpPr>
            <p:nvPr/>
          </p:nvSpPr>
          <p:spPr bwMode="auto">
            <a:xfrm>
              <a:off x="4400" y="4015"/>
              <a:ext cx="329" cy="3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800">
                  <a:latin typeface="Arial" panose="020B0604020202020204" pitchFamily="34" charset="0"/>
                  <a:sym typeface="Symbol" panose="05050102010706020507" pitchFamily="18" charset="2"/>
                </a:rPr>
                <a:t></a:t>
              </a:r>
              <a:r>
                <a:rPr lang="es-ES" sz="2800" baseline="-25000">
                  <a:latin typeface="Arial" panose="020B0604020202020204" pitchFamily="34" charset="0"/>
                  <a:sym typeface="Symbol" panose="05050102010706020507" pitchFamily="18" charset="2"/>
                </a:rPr>
                <a:t>0</a:t>
              </a:r>
            </a:p>
          </p:txBody>
        </p:sp>
        <p:sp>
          <p:nvSpPr>
            <p:cNvPr id="15394" name="Line 70"/>
            <p:cNvSpPr>
              <a:spLocks noChangeShapeType="1"/>
            </p:cNvSpPr>
            <p:nvPr/>
          </p:nvSpPr>
          <p:spPr bwMode="auto">
            <a:xfrm flipV="1">
              <a:off x="4434" y="4132"/>
              <a:ext cx="26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 sz="2400">
                <a:solidFill>
                  <a:schemeClr val="tx1"/>
                </a:solidFill>
              </a:endParaRPr>
            </a:p>
          </p:txBody>
        </p:sp>
        <p:sp>
          <p:nvSpPr>
            <p:cNvPr id="15395" name="Text Box 71"/>
            <p:cNvSpPr txBox="1">
              <a:spLocks noChangeArrowheads="1"/>
            </p:cNvSpPr>
            <p:nvPr/>
          </p:nvSpPr>
          <p:spPr bwMode="auto">
            <a:xfrm>
              <a:off x="4452" y="3734"/>
              <a:ext cx="245" cy="3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800">
                  <a:latin typeface="Arial" panose="020B0604020202020204" pitchFamily="34" charset="0"/>
                  <a:sym typeface="Symbol" panose="05050102010706020507" pitchFamily="18" charset="2"/>
                </a:rPr>
                <a:t></a:t>
              </a:r>
              <a:endParaRPr lang="es-ES" sz="2800" baseline="-25000"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</p:grpSp>
      <p:grpSp>
        <p:nvGrpSpPr>
          <p:cNvPr id="3" name="Grupo 2">
            <a:extLst>
              <a:ext uri="{FF2B5EF4-FFF2-40B4-BE49-F238E27FC236}">
                <a16:creationId xmlns:a16="http://schemas.microsoft.com/office/drawing/2014/main" id="{EE330472-7518-44C9-BADF-934257021AE9}"/>
              </a:ext>
            </a:extLst>
          </p:cNvPr>
          <p:cNvGrpSpPr/>
          <p:nvPr/>
        </p:nvGrpSpPr>
        <p:grpSpPr>
          <a:xfrm>
            <a:off x="6361672" y="1990877"/>
            <a:ext cx="1513296" cy="1038225"/>
            <a:chOff x="3887717" y="2191840"/>
            <a:chExt cx="1513296" cy="1038225"/>
          </a:xfrm>
        </p:grpSpPr>
        <p:sp>
          <p:nvSpPr>
            <p:cNvPr id="15390" name="Text Box 75"/>
            <p:cNvSpPr txBox="1">
              <a:spLocks noChangeArrowheads="1"/>
            </p:cNvSpPr>
            <p:nvPr/>
          </p:nvSpPr>
          <p:spPr bwMode="auto">
            <a:xfrm>
              <a:off x="4253250" y="2693490"/>
              <a:ext cx="1147763" cy="536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 err="1">
                  <a:latin typeface="Arial" panose="020B0604020202020204" pitchFamily="34" charset="0"/>
                </a:rPr>
                <a:t>B</a:t>
              </a:r>
              <a:r>
                <a:rPr lang="es-ES" sz="2400" baseline="-25000" dirty="0" err="1">
                  <a:latin typeface="Arial" panose="020B0604020202020204" pitchFamily="34" charset="0"/>
                </a:rPr>
                <a:t>aplicado</a:t>
              </a:r>
              <a:endParaRPr lang="es-ES" sz="2400" baseline="-25000" dirty="0">
                <a:latin typeface="Arial" panose="020B0604020202020204" pitchFamily="34" charset="0"/>
              </a:endParaRPr>
            </a:p>
          </p:txBody>
        </p:sp>
        <p:sp>
          <p:nvSpPr>
            <p:cNvPr id="15388" name="Line 73"/>
            <p:cNvSpPr>
              <a:spLocks noChangeShapeType="1"/>
            </p:cNvSpPr>
            <p:nvPr/>
          </p:nvSpPr>
          <p:spPr bwMode="auto">
            <a:xfrm flipV="1">
              <a:off x="4357129" y="2731590"/>
              <a:ext cx="963712" cy="47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82800" rIns="90000" bIns="82800" anchorCtr="1">
              <a:spAutoFit/>
            </a:bodyPr>
            <a:lstStyle/>
            <a:p>
              <a:endParaRPr lang="en-GB" sz="2400" dirty="0"/>
            </a:p>
          </p:txBody>
        </p:sp>
        <p:sp>
          <p:nvSpPr>
            <p:cNvPr id="15389" name="Text Box 74"/>
            <p:cNvSpPr txBox="1">
              <a:spLocks noChangeArrowheads="1"/>
            </p:cNvSpPr>
            <p:nvPr/>
          </p:nvSpPr>
          <p:spPr bwMode="auto">
            <a:xfrm>
              <a:off x="4270713" y="2191840"/>
              <a:ext cx="774700" cy="536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 err="1">
                  <a:latin typeface="Arial" panose="020B0604020202020204" pitchFamily="34" charset="0"/>
                </a:rPr>
                <a:t>B</a:t>
              </a:r>
              <a:r>
                <a:rPr lang="es-ES" sz="2400" baseline="-25000" dirty="0" err="1">
                  <a:latin typeface="Arial" panose="020B0604020202020204" pitchFamily="34" charset="0"/>
                </a:rPr>
                <a:t>total</a:t>
              </a:r>
              <a:endParaRPr lang="es-ES" sz="2400" dirty="0">
                <a:latin typeface="Arial" panose="020B0604020202020204" pitchFamily="34" charset="0"/>
              </a:endParaRPr>
            </a:p>
          </p:txBody>
        </p:sp>
        <p:sp>
          <p:nvSpPr>
            <p:cNvPr id="15391" name="Text Box 76"/>
            <p:cNvSpPr txBox="1">
              <a:spLocks noChangeArrowheads="1"/>
            </p:cNvSpPr>
            <p:nvPr/>
          </p:nvSpPr>
          <p:spPr bwMode="auto">
            <a:xfrm>
              <a:off x="3887717" y="2441078"/>
              <a:ext cx="361950" cy="536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latin typeface="Arial" panose="020B0604020202020204" pitchFamily="34" charset="0"/>
                </a:rPr>
                <a:t>=</a:t>
              </a:r>
            </a:p>
          </p:txBody>
        </p:sp>
      </p:grpSp>
      <p:sp>
        <p:nvSpPr>
          <p:cNvPr id="15392" name="Text Box 77"/>
          <p:cNvSpPr txBox="1">
            <a:spLocks noChangeArrowheads="1"/>
          </p:cNvSpPr>
          <p:nvPr/>
        </p:nvSpPr>
        <p:spPr bwMode="auto">
          <a:xfrm>
            <a:off x="7815717" y="2252201"/>
            <a:ext cx="617538" cy="53657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&gt; 1</a:t>
            </a:r>
          </a:p>
        </p:txBody>
      </p:sp>
      <p:grpSp>
        <p:nvGrpSpPr>
          <p:cNvPr id="24" name="Group 78"/>
          <p:cNvGrpSpPr>
            <a:grpSpLocks/>
          </p:cNvGrpSpPr>
          <p:nvPr/>
        </p:nvGrpSpPr>
        <p:grpSpPr bwMode="auto">
          <a:xfrm>
            <a:off x="2032648" y="2094026"/>
            <a:ext cx="1330325" cy="703262"/>
            <a:chOff x="4941" y="1678"/>
            <a:chExt cx="838" cy="443"/>
          </a:xfrm>
        </p:grpSpPr>
        <p:sp>
          <p:nvSpPr>
            <p:cNvPr id="15386" name="Line 79"/>
            <p:cNvSpPr>
              <a:spLocks noChangeShapeType="1"/>
            </p:cNvSpPr>
            <p:nvPr/>
          </p:nvSpPr>
          <p:spPr bwMode="auto">
            <a:xfrm>
              <a:off x="5074" y="1678"/>
              <a:ext cx="565" cy="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miter lim="800000"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graphicFrame>
          <p:nvGraphicFramePr>
            <p:cNvPr id="15387" name="Object 80"/>
            <p:cNvGraphicFramePr>
              <a:graphicFrameLocks noChangeAspect="1"/>
            </p:cNvGraphicFramePr>
            <p:nvPr/>
          </p:nvGraphicFramePr>
          <p:xfrm>
            <a:off x="4941" y="1742"/>
            <a:ext cx="838" cy="3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5" imgW="596641" imgH="266584" progId="Equation.3">
                    <p:embed/>
                  </p:oleObj>
                </mc:Choice>
                <mc:Fallback>
                  <p:oleObj name="Ecuación" r:id="rId5" imgW="596641" imgH="266584" progId="Equation.3">
                    <p:embed/>
                    <p:pic>
                      <p:nvPicPr>
                        <p:cNvPr id="15387" name="Object 8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1" y="1742"/>
                          <a:ext cx="838" cy="3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385" name="Text Box 114"/>
          <p:cNvSpPr txBox="1">
            <a:spLocks noChangeArrowheads="1"/>
          </p:cNvSpPr>
          <p:nvPr/>
        </p:nvSpPr>
        <p:spPr bwMode="auto">
          <a:xfrm>
            <a:off x="1205653" y="4385801"/>
            <a:ext cx="2010015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  </a:t>
            </a:r>
            <a:r>
              <a:rPr lang="es-ES" sz="2400">
                <a:latin typeface="Arial" panose="020B0604020202020204" pitchFamily="34" charset="0"/>
              </a:rPr>
              <a:t>B</a:t>
            </a:r>
            <a:r>
              <a:rPr lang="es-ES" sz="2400" baseline="-25000">
                <a:latin typeface="Arial" panose="020B0604020202020204" pitchFamily="34" charset="0"/>
              </a:rPr>
              <a:t>mag</a:t>
            </a:r>
            <a:r>
              <a:rPr lang="es-ES" sz="2400">
                <a:latin typeface="Arial" panose="020B0604020202020204" pitchFamily="34" charset="0"/>
              </a:rPr>
              <a:t>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 </a:t>
            </a:r>
            <a:r>
              <a:rPr lang="es-ES" sz="2400" dirty="0">
                <a:latin typeface="Arial" panose="020B0604020202020204" pitchFamily="34" charset="0"/>
              </a:rPr>
              <a:t>1/T </a:t>
            </a:r>
          </a:p>
        </p:txBody>
      </p:sp>
      <p:sp>
        <p:nvSpPr>
          <p:cNvPr id="763000" name="Text Box 120"/>
          <p:cNvSpPr txBox="1">
            <a:spLocks noChangeArrowheads="1"/>
          </p:cNvSpPr>
          <p:nvPr/>
        </p:nvSpPr>
        <p:spPr bwMode="auto">
          <a:xfrm>
            <a:off x="6076977" y="2799542"/>
            <a:ext cx="975245" cy="598104"/>
          </a:xfrm>
          <a:prstGeom prst="rect">
            <a:avLst/>
          </a:prstGeom>
          <a:noFill/>
          <a:ln>
            <a:noFill/>
          </a:ln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B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 </a:t>
            </a:r>
            <a:r>
              <a:rPr lang="es-ES" sz="28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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763012" name="Text Box 132"/>
          <p:cNvSpPr txBox="1">
            <a:spLocks noChangeArrowheads="1"/>
          </p:cNvSpPr>
          <p:nvPr/>
        </p:nvSpPr>
        <p:spPr bwMode="auto">
          <a:xfrm>
            <a:off x="5404423" y="4109470"/>
            <a:ext cx="4953882" cy="127521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A mayor temperatura, menos </a:t>
            </a:r>
            <a:r>
              <a:rPr lang="es-ES" sz="2400" dirty="0" err="1">
                <a:latin typeface="Arial" panose="020B0604020202020204" pitchFamily="34" charset="0"/>
              </a:rPr>
              <a:t>B</a:t>
            </a:r>
            <a:r>
              <a:rPr lang="es-ES" sz="2400" baseline="-25000" dirty="0" err="1">
                <a:latin typeface="Arial" panose="020B0604020202020204" pitchFamily="34" charset="0"/>
              </a:rPr>
              <a:t>mag</a:t>
            </a:r>
            <a:r>
              <a:rPr lang="es-ES" sz="2400" dirty="0">
                <a:latin typeface="Arial" panose="020B0604020202020204" pitchFamily="34" charset="0"/>
              </a:rPr>
              <a:t>. Hay más agitación y, en promedio, un alineamiento menor</a:t>
            </a:r>
            <a:endParaRPr lang="es-ES" sz="2400" baseline="-25000" dirty="0">
              <a:latin typeface="Arial" panose="020B0604020202020204" pitchFamily="34" charset="0"/>
            </a:endParaRPr>
          </a:p>
        </p:txBody>
      </p:sp>
      <p:sp>
        <p:nvSpPr>
          <p:cNvPr id="15381" name="CuadroTexto 2"/>
          <p:cNvSpPr txBox="1">
            <a:spLocks noChangeArrowheads="1"/>
          </p:cNvSpPr>
          <p:nvPr/>
        </p:nvSpPr>
        <p:spPr bwMode="auto">
          <a:xfrm>
            <a:off x="6457618" y="3496208"/>
            <a:ext cx="215155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 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s-ES" sz="24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total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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s-ES" sz="2400" baseline="-250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apl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endParaRPr lang="es-ES" sz="2400" dirty="0">
              <a:solidFill>
                <a:srgbClr val="3333FF"/>
              </a:solidFill>
              <a:latin typeface="Arial" panose="020B0604020202020204" pitchFamily="34" charset="0"/>
            </a:endParaRPr>
          </a:p>
        </p:txBody>
      </p:sp>
      <p:grpSp>
        <p:nvGrpSpPr>
          <p:cNvPr id="4" name="Grupo 3"/>
          <p:cNvGrpSpPr>
            <a:grpSpLocks/>
          </p:cNvGrpSpPr>
          <p:nvPr/>
        </p:nvGrpSpPr>
        <p:grpSpPr bwMode="auto">
          <a:xfrm>
            <a:off x="1216036" y="3428872"/>
            <a:ext cx="2102156" cy="536549"/>
            <a:chOff x="1681189" y="5254589"/>
            <a:chExt cx="2102292" cy="536587"/>
          </a:xfrm>
        </p:grpSpPr>
        <p:sp>
          <p:nvSpPr>
            <p:cNvPr id="15376" name="Rectángulo 95"/>
            <p:cNvSpPr>
              <a:spLocks noChangeArrowheads="1"/>
            </p:cNvSpPr>
            <p:nvPr/>
          </p:nvSpPr>
          <p:spPr bwMode="auto">
            <a:xfrm>
              <a:off x="1946047" y="5280775"/>
              <a:ext cx="1796021" cy="500295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lIns="90000" tIns="82800" rIns="90000" bIns="82800" anchorCtr="1">
              <a:spAutoFit/>
            </a:bodyPr>
            <a:lstStyle>
              <a:lvl1pPr>
                <a:defRPr sz="2000">
                  <a:solidFill>
                    <a:srgbClr val="3333FF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3333FF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3333FF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3333FF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3333FF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FF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FF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FF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FF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sz="2400" baseline="-25000">
                <a:solidFill>
                  <a:srgbClr val="000000"/>
                </a:solidFill>
              </a:endParaRPr>
            </a:p>
          </p:txBody>
        </p:sp>
        <p:sp>
          <p:nvSpPr>
            <p:cNvPr id="15377" name="Text Box 113"/>
            <p:cNvSpPr txBox="1">
              <a:spLocks noChangeArrowheads="1"/>
            </p:cNvSpPr>
            <p:nvPr/>
          </p:nvSpPr>
          <p:spPr bwMode="auto">
            <a:xfrm>
              <a:off x="1681189" y="5254589"/>
              <a:ext cx="2102292" cy="536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 </a:t>
              </a:r>
              <a:r>
                <a:rPr lang="es-ES" sz="2400">
                  <a:latin typeface="Arial" panose="020B0604020202020204" pitchFamily="34" charset="0"/>
                  <a:sym typeface="Symbol" panose="05050102010706020507" pitchFamily="18" charset="2"/>
                </a:rPr>
                <a:t>Efecto débil:</a:t>
              </a:r>
            </a:p>
          </p:txBody>
        </p:sp>
      </p:grpSp>
      <p:sp>
        <p:nvSpPr>
          <p:cNvPr id="96" name="Text Box 88"/>
          <p:cNvSpPr txBox="1">
            <a:spLocks noChangeArrowheads="1"/>
          </p:cNvSpPr>
          <p:nvPr/>
        </p:nvSpPr>
        <p:spPr bwMode="auto">
          <a:xfrm>
            <a:off x="1253074" y="320130"/>
            <a:ext cx="2444751" cy="587374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108000" rIns="108000" bIns="108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cs typeface="Arial" panose="020B0604020202020204" pitchFamily="34" charset="0"/>
              </a:rPr>
              <a:t>Paramagnéticos</a:t>
            </a:r>
          </a:p>
        </p:txBody>
      </p:sp>
      <p:sp>
        <p:nvSpPr>
          <p:cNvPr id="100" name="Text Box 132"/>
          <p:cNvSpPr txBox="1">
            <a:spLocks noChangeArrowheads="1"/>
          </p:cNvSpPr>
          <p:nvPr/>
        </p:nvSpPr>
        <p:spPr bwMode="auto">
          <a:xfrm>
            <a:off x="1678078" y="5450217"/>
            <a:ext cx="8179357" cy="1644545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108000" tIns="82800" rIns="72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La temperatura, al calentar el material, p.ej. con un láser, puede ayudar, sin embargo, a superar la cohesión y lograr la orientación, que la cohesión tiende a mantener </a:t>
            </a:r>
            <a:r>
              <a:rPr lang="es-ES" sz="2400">
                <a:latin typeface="Arial" panose="020B0604020202020204" pitchFamily="34" charset="0"/>
              </a:rPr>
              <a:t>al enfriarse, al no incidir el láser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(disco magneto-óptico)</a:t>
            </a:r>
            <a:endParaRPr lang="es-ES" sz="2400" baseline="-25000" dirty="0">
              <a:solidFill>
                <a:srgbClr val="3333FF"/>
              </a:solidFill>
              <a:latin typeface="Arial" panose="020B0604020202020204" pitchFamily="34" charset="0"/>
            </a:endParaRPr>
          </a:p>
        </p:txBody>
      </p:sp>
      <p:grpSp>
        <p:nvGrpSpPr>
          <p:cNvPr id="2" name="Grupo 1"/>
          <p:cNvGrpSpPr/>
          <p:nvPr/>
        </p:nvGrpSpPr>
        <p:grpSpPr>
          <a:xfrm>
            <a:off x="3285458" y="4396877"/>
            <a:ext cx="1984626" cy="605314"/>
            <a:chOff x="3334898" y="4681139"/>
            <a:chExt cx="1984626" cy="500261"/>
          </a:xfrm>
        </p:grpSpPr>
        <p:sp>
          <p:nvSpPr>
            <p:cNvPr id="15384" name="Rectángulo 1"/>
            <p:cNvSpPr>
              <a:spLocks noChangeArrowheads="1"/>
            </p:cNvSpPr>
            <p:nvPr/>
          </p:nvSpPr>
          <p:spPr bwMode="auto">
            <a:xfrm>
              <a:off x="3334898" y="4681139"/>
              <a:ext cx="1984626" cy="500261"/>
            </a:xfrm>
            <a:prstGeom prst="rect">
              <a:avLst/>
            </a:prstGeom>
            <a:solidFill>
              <a:srgbClr val="66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82800" rIns="90000" bIns="82800" anchor="ctr" anchorCtr="1">
              <a:spAutoFit/>
            </a:bodyPr>
            <a:lstStyle>
              <a:lvl1pPr>
                <a:defRPr sz="2000">
                  <a:solidFill>
                    <a:srgbClr val="3333FF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3333FF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3333FF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3333FF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3333FF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FF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FF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FF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FF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sz="2400" baseline="-25000">
                <a:solidFill>
                  <a:srgbClr val="000000"/>
                </a:solidFill>
              </a:endParaRPr>
            </a:p>
          </p:txBody>
        </p:sp>
        <p:sp>
          <p:nvSpPr>
            <p:cNvPr id="91" name="Text Box 114"/>
            <p:cNvSpPr txBox="1">
              <a:spLocks noChangeArrowheads="1"/>
            </p:cNvSpPr>
            <p:nvPr/>
          </p:nvSpPr>
          <p:spPr bwMode="auto">
            <a:xfrm>
              <a:off x="3362695" y="4732588"/>
              <a:ext cx="1929031" cy="4031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FFFFFF"/>
                  </a:solidFill>
                  <a:latin typeface="Arial" panose="020B0604020202020204" pitchFamily="34" charset="0"/>
                </a:rPr>
                <a:t>Ley de Curie</a:t>
              </a:r>
            </a:p>
          </p:txBody>
        </p:sp>
      </p:grpSp>
      <p:sp>
        <p:nvSpPr>
          <p:cNvPr id="94" name="Text Box 67">
            <a:extLst>
              <a:ext uri="{FF2B5EF4-FFF2-40B4-BE49-F238E27FC236}">
                <a16:creationId xmlns:a16="http://schemas.microsoft.com/office/drawing/2014/main" id="{9B13F251-C937-4A02-98E0-13F7C6D581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1350" y="1373404"/>
            <a:ext cx="2175893" cy="53654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s-ES" sz="2400" baseline="-25000" dirty="0" err="1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total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&gt;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s-ES" sz="2400" baseline="-25000" dirty="0" err="1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aplicado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</a:p>
        </p:txBody>
      </p:sp>
      <p:sp>
        <p:nvSpPr>
          <p:cNvPr id="99" name="CuadroTexto 5">
            <a:extLst>
              <a:ext uri="{FF2B5EF4-FFF2-40B4-BE49-F238E27FC236}">
                <a16:creationId xmlns:a16="http://schemas.microsoft.com/office/drawing/2014/main" id="{4EDED2B7-A6F3-4A97-A2A9-15F7D4A695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7274" y="3454951"/>
            <a:ext cx="3206327" cy="558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spAutoFit/>
          </a:bodyPr>
          <a:lstStyle>
            <a:lvl1pPr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 dirty="0" err="1">
                <a:solidFill>
                  <a:schemeClr val="tx1"/>
                </a:solidFill>
              </a:rPr>
              <a:t>B</a:t>
            </a:r>
            <a:r>
              <a:rPr lang="es-ES" sz="2400" baseline="-25000" dirty="0" err="1">
                <a:solidFill>
                  <a:schemeClr val="tx1"/>
                </a:solidFill>
              </a:rPr>
              <a:t>magnetización</a:t>
            </a:r>
            <a:r>
              <a:rPr lang="es-ES" sz="2400" dirty="0">
                <a:solidFill>
                  <a:schemeClr val="tx1"/>
                </a:solidFill>
              </a:rPr>
              <a:t> &lt;&lt; </a:t>
            </a:r>
            <a:r>
              <a:rPr lang="es-ES" sz="2400" dirty="0" err="1">
                <a:solidFill>
                  <a:schemeClr val="tx1"/>
                </a:solidFill>
              </a:rPr>
              <a:t>B</a:t>
            </a:r>
            <a:r>
              <a:rPr lang="es-ES" sz="2400" baseline="-25000" dirty="0" err="1">
                <a:solidFill>
                  <a:schemeClr val="tx1"/>
                </a:solidFill>
              </a:rPr>
              <a:t>aplicado</a:t>
            </a:r>
            <a:endParaRPr lang="es-ES" sz="2400" dirty="0">
              <a:solidFill>
                <a:schemeClr val="tx1"/>
              </a:solidFill>
            </a:endParaRPr>
          </a:p>
        </p:txBody>
      </p:sp>
      <p:sp>
        <p:nvSpPr>
          <p:cNvPr id="93" name="Text Box 81">
            <a:extLst>
              <a:ext uri="{FF2B5EF4-FFF2-40B4-BE49-F238E27FC236}">
                <a16:creationId xmlns:a16="http://schemas.microsoft.com/office/drawing/2014/main" id="{A1779259-61BB-44DA-BF5D-08E6A5CC9A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16597" y="3371444"/>
            <a:ext cx="2106036" cy="598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 </a:t>
            </a:r>
            <a:r>
              <a:rPr lang="es-ES" sz="2800">
                <a:latin typeface="Arial" panose="020B0604020202020204" pitchFamily="34" charset="0"/>
                <a:sym typeface="Symbol" panose="05050102010706020507" pitchFamily="18" charset="2"/>
              </a:rPr>
              <a:t> </a:t>
            </a:r>
            <a:r>
              <a:rPr lang="es-ES" sz="2800" dirty="0">
                <a:latin typeface="Arial" panose="020B0604020202020204" pitchFamily="34" charset="0"/>
                <a:sym typeface="Symbol" panose="05050102010706020507" pitchFamily="18" charset="2"/>
              </a:rPr>
              <a:t> </a:t>
            </a:r>
            <a:r>
              <a:rPr lang="es-ES" sz="2800" baseline="-25000" dirty="0">
                <a:latin typeface="Arial" panose="020B0604020202020204" pitchFamily="34" charset="0"/>
                <a:sym typeface="Symbol" panose="05050102010706020507" pitchFamily="18" charset="2"/>
              </a:rPr>
              <a:t>0</a:t>
            </a:r>
            <a:endParaRPr lang="es-ES" sz="28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92" name="Text Box 81">
            <a:extLst>
              <a:ext uri="{FF2B5EF4-FFF2-40B4-BE49-F238E27FC236}">
                <a16:creationId xmlns:a16="http://schemas.microsoft.com/office/drawing/2014/main" id="{E420616A-C18B-496F-B1D2-3748F13D60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68394" y="2187371"/>
            <a:ext cx="1601598" cy="598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 </a:t>
            </a:r>
            <a:r>
              <a:rPr lang="es-ES" sz="2800" dirty="0">
                <a:latin typeface="Arial" panose="020B0604020202020204" pitchFamily="34" charset="0"/>
                <a:sym typeface="Symbol" panose="05050102010706020507" pitchFamily="18" charset="2"/>
              </a:rPr>
              <a:t> &gt; </a:t>
            </a:r>
            <a:r>
              <a:rPr lang="es-ES" sz="2800" baseline="-25000" dirty="0">
                <a:latin typeface="Arial" panose="020B0604020202020204" pitchFamily="34" charset="0"/>
                <a:sym typeface="Symbol" panose="05050102010706020507" pitchFamily="18" charset="2"/>
              </a:rPr>
              <a:t>0</a:t>
            </a:r>
            <a:endParaRPr lang="es-ES" sz="28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62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630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630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5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5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/>
                                        <p:tgtEl>
                                          <p:spTgt spid="153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15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763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62946" grpId="0" animBg="1"/>
      <p:bldP spid="15392" grpId="0"/>
      <p:bldP spid="15385" grpId="0"/>
      <p:bldP spid="763000" grpId="0"/>
      <p:bldP spid="763012" grpId="0" animBg="1"/>
      <p:bldP spid="15381" grpId="0"/>
      <p:bldP spid="100" grpId="0" animBg="1"/>
      <p:bldP spid="94" grpId="0" animBg="1"/>
      <p:bldP spid="99" grpId="0" animBg="1"/>
      <p:bldP spid="93" grpId="0"/>
      <p:bldP spid="9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ángulo 97">
            <a:extLst>
              <a:ext uri="{FF2B5EF4-FFF2-40B4-BE49-F238E27FC236}">
                <a16:creationId xmlns:a16="http://schemas.microsoft.com/office/drawing/2014/main" id="{BA614086-8FB3-42FF-96F9-D2003DD5D630}"/>
              </a:ext>
            </a:extLst>
          </p:cNvPr>
          <p:cNvSpPr/>
          <p:nvPr/>
        </p:nvSpPr>
        <p:spPr bwMode="auto">
          <a:xfrm>
            <a:off x="7312934" y="2343738"/>
            <a:ext cx="3044796" cy="2541671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squar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99" name="Rectángulo 98">
            <a:extLst>
              <a:ext uri="{FF2B5EF4-FFF2-40B4-BE49-F238E27FC236}">
                <a16:creationId xmlns:a16="http://schemas.microsoft.com/office/drawing/2014/main" id="{52BBC45E-46D9-460D-B09B-5E05BC304D0F}"/>
              </a:ext>
            </a:extLst>
          </p:cNvPr>
          <p:cNvSpPr/>
          <p:nvPr/>
        </p:nvSpPr>
        <p:spPr bwMode="auto">
          <a:xfrm>
            <a:off x="1241449" y="2351717"/>
            <a:ext cx="3044796" cy="2541671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squar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764932" name="Text Box 4"/>
          <p:cNvSpPr txBox="1">
            <a:spLocks noChangeArrowheads="1"/>
          </p:cNvSpPr>
          <p:nvPr/>
        </p:nvSpPr>
        <p:spPr bwMode="auto">
          <a:xfrm>
            <a:off x="4753607" y="484464"/>
            <a:ext cx="5483540" cy="90588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 typeface="Symbol" panose="05050102010706020507" pitchFamily="18" charset="2"/>
              <a:buNone/>
              <a:defRPr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La interacción magnética entre dipolos da lugar a la aparición de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dominios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</a:p>
        </p:txBody>
      </p:sp>
      <p:sp>
        <p:nvSpPr>
          <p:cNvPr id="17461" name="Text Box 62"/>
          <p:cNvSpPr txBox="1">
            <a:spLocks noChangeArrowheads="1"/>
          </p:cNvSpPr>
          <p:nvPr/>
        </p:nvSpPr>
        <p:spPr bwMode="auto">
          <a:xfrm>
            <a:off x="7463872" y="5172817"/>
            <a:ext cx="2778125" cy="127476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90000" tIns="82800" rIns="90000" bIns="82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 dirty="0">
                <a:latin typeface="Arial" panose="020B0604020202020204" pitchFamily="34" charset="0"/>
              </a:rPr>
              <a:t>Magnetización macroscópica</a:t>
            </a:r>
          </a:p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 dirty="0">
                <a:latin typeface="Arial" panose="020B0604020202020204" pitchFamily="34" charset="0"/>
              </a:rPr>
              <a:t>(</a:t>
            </a:r>
            <a:r>
              <a:rPr lang="es-ES" sz="2400" b="1" dirty="0" err="1">
                <a:latin typeface="Arial" panose="020B0604020202020204" pitchFamily="34" charset="0"/>
              </a:rPr>
              <a:t>B</a:t>
            </a:r>
            <a:r>
              <a:rPr lang="es-ES" sz="2400" baseline="-25000" dirty="0" err="1">
                <a:latin typeface="Arial" panose="020B0604020202020204" pitchFamily="34" charset="0"/>
              </a:rPr>
              <a:t>mag</a:t>
            </a:r>
            <a:r>
              <a:rPr lang="es-ES" sz="2400" dirty="0">
                <a:latin typeface="Arial" panose="020B0604020202020204" pitchFamily="34" charset="0"/>
              </a:rPr>
              <a:t>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 </a:t>
            </a:r>
            <a:r>
              <a:rPr lang="es-ES" sz="2400" b="1" dirty="0">
                <a:latin typeface="Arial" panose="020B0604020202020204" pitchFamily="34" charset="0"/>
              </a:rPr>
              <a:t>0</a:t>
            </a:r>
            <a:r>
              <a:rPr lang="es-ES" sz="2400" dirty="0">
                <a:latin typeface="Arial" panose="020B0604020202020204" pitchFamily="34" charset="0"/>
              </a:rPr>
              <a:t>)</a:t>
            </a: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D373541D-D7BC-44A0-B1A0-E5D339E64A86}"/>
              </a:ext>
            </a:extLst>
          </p:cNvPr>
          <p:cNvGrpSpPr/>
          <p:nvPr/>
        </p:nvGrpSpPr>
        <p:grpSpPr>
          <a:xfrm>
            <a:off x="7462856" y="1972734"/>
            <a:ext cx="2587625" cy="2347913"/>
            <a:chOff x="7493000" y="1618121"/>
            <a:chExt cx="2587625" cy="2347913"/>
          </a:xfrm>
        </p:grpSpPr>
        <p:sp>
          <p:nvSpPr>
            <p:cNvPr id="17450" name="Line 6"/>
            <p:cNvSpPr>
              <a:spLocks noChangeShapeType="1"/>
            </p:cNvSpPr>
            <p:nvPr/>
          </p:nvSpPr>
          <p:spPr bwMode="auto">
            <a:xfrm>
              <a:off x="8331200" y="2284871"/>
              <a:ext cx="896938" cy="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miter lim="800000"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graphicFrame>
          <p:nvGraphicFramePr>
            <p:cNvPr id="17451" name="Object 7"/>
            <p:cNvGraphicFramePr>
              <a:graphicFrameLocks noChangeAspect="1"/>
            </p:cNvGraphicFramePr>
            <p:nvPr/>
          </p:nvGraphicFramePr>
          <p:xfrm>
            <a:off x="8231188" y="1618121"/>
            <a:ext cx="1019175" cy="6016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457002" imgH="266584" progId="Equation.3">
                    <p:embed/>
                  </p:oleObj>
                </mc:Choice>
                <mc:Fallback>
                  <p:oleObj name="Ecuación" r:id="rId3" imgW="457002" imgH="266584" progId="Equation.3">
                    <p:embed/>
                    <p:pic>
                      <p:nvPicPr>
                        <p:cNvPr id="17451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31188" y="1618121"/>
                          <a:ext cx="1019175" cy="6016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7452" name="Group 8"/>
            <p:cNvGrpSpPr>
              <a:grpSpLocks/>
            </p:cNvGrpSpPr>
            <p:nvPr/>
          </p:nvGrpSpPr>
          <p:grpSpPr bwMode="auto">
            <a:xfrm>
              <a:off x="7505700" y="2443621"/>
              <a:ext cx="698500" cy="446088"/>
              <a:chOff x="4541" y="1218"/>
              <a:chExt cx="440" cy="281"/>
            </a:xfrm>
          </p:grpSpPr>
          <p:grpSp>
            <p:nvGrpSpPr>
              <p:cNvPr id="17504" name="Group 9"/>
              <p:cNvGrpSpPr>
                <a:grpSpLocks/>
              </p:cNvGrpSpPr>
              <p:nvPr/>
            </p:nvGrpSpPr>
            <p:grpSpPr bwMode="auto">
              <a:xfrm flipH="1">
                <a:off x="4541" y="1256"/>
                <a:ext cx="438" cy="204"/>
                <a:chOff x="2118" y="2372"/>
                <a:chExt cx="438" cy="204"/>
              </a:xfrm>
            </p:grpSpPr>
            <p:sp>
              <p:nvSpPr>
                <p:cNvPr id="17507" name="Rectangle 10"/>
                <p:cNvSpPr>
                  <a:spLocks noChangeArrowheads="1"/>
                </p:cNvSpPr>
                <p:nvPr/>
              </p:nvSpPr>
              <p:spPr bwMode="auto">
                <a:xfrm rot="5400000" flipH="1" flipV="1">
                  <a:off x="2344" y="2364"/>
                  <a:ext cx="204" cy="220"/>
                </a:xfrm>
                <a:prstGeom prst="rect">
                  <a:avLst/>
                </a:prstGeom>
                <a:solidFill>
                  <a:srgbClr val="3366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sz="2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7508" name="Rectangle 11"/>
                <p:cNvSpPr>
                  <a:spLocks noChangeArrowheads="1"/>
                </p:cNvSpPr>
                <p:nvPr/>
              </p:nvSpPr>
              <p:spPr bwMode="auto">
                <a:xfrm rot="16200000" flipV="1">
                  <a:off x="2126" y="2364"/>
                  <a:ext cx="204" cy="220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rot="10800000" wrap="none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sz="20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7505" name="Text Box 12"/>
              <p:cNvSpPr txBox="1">
                <a:spLocks noChangeArrowheads="1"/>
              </p:cNvSpPr>
              <p:nvPr/>
            </p:nvSpPr>
            <p:spPr bwMode="auto">
              <a:xfrm>
                <a:off x="4763" y="1218"/>
                <a:ext cx="218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chemeClr val="bg1"/>
                    </a:solidFill>
                    <a:latin typeface="Arial" panose="020B0604020202020204" pitchFamily="34" charset="0"/>
                  </a:rPr>
                  <a:t>N</a:t>
                </a:r>
              </a:p>
            </p:txBody>
          </p:sp>
          <p:sp>
            <p:nvSpPr>
              <p:cNvPr id="17506" name="Text Box 13"/>
              <p:cNvSpPr txBox="1">
                <a:spLocks noChangeArrowheads="1"/>
              </p:cNvSpPr>
              <p:nvPr/>
            </p:nvSpPr>
            <p:spPr bwMode="auto">
              <a:xfrm>
                <a:off x="4554" y="1222"/>
                <a:ext cx="210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chemeClr val="bg1"/>
                    </a:solidFill>
                    <a:latin typeface="Arial" panose="020B0604020202020204" pitchFamily="34" charset="0"/>
                  </a:rPr>
                  <a:t>S</a:t>
                </a:r>
              </a:p>
            </p:txBody>
          </p:sp>
        </p:grpSp>
        <p:grpSp>
          <p:nvGrpSpPr>
            <p:cNvPr id="17453" name="Group 14"/>
            <p:cNvGrpSpPr>
              <a:grpSpLocks/>
            </p:cNvGrpSpPr>
            <p:nvPr/>
          </p:nvGrpSpPr>
          <p:grpSpPr bwMode="auto">
            <a:xfrm>
              <a:off x="8443913" y="2443621"/>
              <a:ext cx="698500" cy="446088"/>
              <a:chOff x="4541" y="1218"/>
              <a:chExt cx="440" cy="281"/>
            </a:xfrm>
          </p:grpSpPr>
          <p:grpSp>
            <p:nvGrpSpPr>
              <p:cNvPr id="17499" name="Group 15"/>
              <p:cNvGrpSpPr>
                <a:grpSpLocks/>
              </p:cNvGrpSpPr>
              <p:nvPr/>
            </p:nvGrpSpPr>
            <p:grpSpPr bwMode="auto">
              <a:xfrm flipH="1">
                <a:off x="4541" y="1256"/>
                <a:ext cx="438" cy="204"/>
                <a:chOff x="2118" y="2372"/>
                <a:chExt cx="438" cy="204"/>
              </a:xfrm>
            </p:grpSpPr>
            <p:sp>
              <p:nvSpPr>
                <p:cNvPr id="17502" name="Rectangle 16"/>
                <p:cNvSpPr>
                  <a:spLocks noChangeArrowheads="1"/>
                </p:cNvSpPr>
                <p:nvPr/>
              </p:nvSpPr>
              <p:spPr bwMode="auto">
                <a:xfrm rot="5400000" flipH="1" flipV="1">
                  <a:off x="2344" y="2364"/>
                  <a:ext cx="204" cy="220"/>
                </a:xfrm>
                <a:prstGeom prst="rect">
                  <a:avLst/>
                </a:prstGeom>
                <a:solidFill>
                  <a:srgbClr val="3366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sz="2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7503" name="Rectangle 17"/>
                <p:cNvSpPr>
                  <a:spLocks noChangeArrowheads="1"/>
                </p:cNvSpPr>
                <p:nvPr/>
              </p:nvSpPr>
              <p:spPr bwMode="auto">
                <a:xfrm rot="16200000" flipV="1">
                  <a:off x="2126" y="2364"/>
                  <a:ext cx="204" cy="220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rot="10800000" wrap="none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sz="20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7500" name="Text Box 18"/>
              <p:cNvSpPr txBox="1">
                <a:spLocks noChangeArrowheads="1"/>
              </p:cNvSpPr>
              <p:nvPr/>
            </p:nvSpPr>
            <p:spPr bwMode="auto">
              <a:xfrm>
                <a:off x="4763" y="1218"/>
                <a:ext cx="218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chemeClr val="bg1"/>
                    </a:solidFill>
                    <a:latin typeface="Arial" panose="020B0604020202020204" pitchFamily="34" charset="0"/>
                  </a:rPr>
                  <a:t>N</a:t>
                </a:r>
              </a:p>
            </p:txBody>
          </p:sp>
          <p:sp>
            <p:nvSpPr>
              <p:cNvPr id="17501" name="Text Box 19"/>
              <p:cNvSpPr txBox="1">
                <a:spLocks noChangeArrowheads="1"/>
              </p:cNvSpPr>
              <p:nvPr/>
            </p:nvSpPr>
            <p:spPr bwMode="auto">
              <a:xfrm>
                <a:off x="4554" y="1222"/>
                <a:ext cx="210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chemeClr val="bg1"/>
                    </a:solidFill>
                    <a:latin typeface="Arial" panose="020B0604020202020204" pitchFamily="34" charset="0"/>
                  </a:rPr>
                  <a:t>S</a:t>
                </a:r>
              </a:p>
            </p:txBody>
          </p:sp>
        </p:grpSp>
        <p:grpSp>
          <p:nvGrpSpPr>
            <p:cNvPr id="17454" name="Group 20"/>
            <p:cNvGrpSpPr>
              <a:grpSpLocks/>
            </p:cNvGrpSpPr>
            <p:nvPr/>
          </p:nvGrpSpPr>
          <p:grpSpPr bwMode="auto">
            <a:xfrm>
              <a:off x="9382125" y="2443621"/>
              <a:ext cx="698500" cy="446088"/>
              <a:chOff x="4541" y="1218"/>
              <a:chExt cx="440" cy="281"/>
            </a:xfrm>
          </p:grpSpPr>
          <p:grpSp>
            <p:nvGrpSpPr>
              <p:cNvPr id="17494" name="Group 21"/>
              <p:cNvGrpSpPr>
                <a:grpSpLocks/>
              </p:cNvGrpSpPr>
              <p:nvPr/>
            </p:nvGrpSpPr>
            <p:grpSpPr bwMode="auto">
              <a:xfrm flipH="1">
                <a:off x="4541" y="1256"/>
                <a:ext cx="438" cy="204"/>
                <a:chOff x="2118" y="2372"/>
                <a:chExt cx="438" cy="204"/>
              </a:xfrm>
            </p:grpSpPr>
            <p:sp>
              <p:nvSpPr>
                <p:cNvPr id="17497" name="Rectangle 22"/>
                <p:cNvSpPr>
                  <a:spLocks noChangeArrowheads="1"/>
                </p:cNvSpPr>
                <p:nvPr/>
              </p:nvSpPr>
              <p:spPr bwMode="auto">
                <a:xfrm rot="5400000" flipH="1" flipV="1">
                  <a:off x="2344" y="2364"/>
                  <a:ext cx="204" cy="220"/>
                </a:xfrm>
                <a:prstGeom prst="rect">
                  <a:avLst/>
                </a:prstGeom>
                <a:solidFill>
                  <a:srgbClr val="3366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sz="2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7498" name="Rectangle 23"/>
                <p:cNvSpPr>
                  <a:spLocks noChangeArrowheads="1"/>
                </p:cNvSpPr>
                <p:nvPr/>
              </p:nvSpPr>
              <p:spPr bwMode="auto">
                <a:xfrm rot="16200000" flipV="1">
                  <a:off x="2126" y="2364"/>
                  <a:ext cx="204" cy="220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rot="10800000" wrap="none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sz="20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7495" name="Text Box 24"/>
              <p:cNvSpPr txBox="1">
                <a:spLocks noChangeArrowheads="1"/>
              </p:cNvSpPr>
              <p:nvPr/>
            </p:nvSpPr>
            <p:spPr bwMode="auto">
              <a:xfrm>
                <a:off x="4763" y="1218"/>
                <a:ext cx="218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chemeClr val="bg1"/>
                    </a:solidFill>
                    <a:latin typeface="Arial" panose="020B0604020202020204" pitchFamily="34" charset="0"/>
                  </a:rPr>
                  <a:t>N</a:t>
                </a:r>
              </a:p>
            </p:txBody>
          </p:sp>
          <p:sp>
            <p:nvSpPr>
              <p:cNvPr id="17496" name="Text Box 25"/>
              <p:cNvSpPr txBox="1">
                <a:spLocks noChangeArrowheads="1"/>
              </p:cNvSpPr>
              <p:nvPr/>
            </p:nvSpPr>
            <p:spPr bwMode="auto">
              <a:xfrm>
                <a:off x="4554" y="1222"/>
                <a:ext cx="210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chemeClr val="bg1"/>
                    </a:solidFill>
                    <a:latin typeface="Arial" panose="020B0604020202020204" pitchFamily="34" charset="0"/>
                  </a:rPr>
                  <a:t>S</a:t>
                </a:r>
              </a:p>
            </p:txBody>
          </p:sp>
        </p:grpSp>
        <p:grpSp>
          <p:nvGrpSpPr>
            <p:cNvPr id="17455" name="Group 26"/>
            <p:cNvGrpSpPr>
              <a:grpSpLocks/>
            </p:cNvGrpSpPr>
            <p:nvPr/>
          </p:nvGrpSpPr>
          <p:grpSpPr bwMode="auto">
            <a:xfrm>
              <a:off x="7499350" y="2981784"/>
              <a:ext cx="698500" cy="446088"/>
              <a:chOff x="4541" y="1218"/>
              <a:chExt cx="440" cy="281"/>
            </a:xfrm>
          </p:grpSpPr>
          <p:grpSp>
            <p:nvGrpSpPr>
              <p:cNvPr id="17489" name="Group 27"/>
              <p:cNvGrpSpPr>
                <a:grpSpLocks/>
              </p:cNvGrpSpPr>
              <p:nvPr/>
            </p:nvGrpSpPr>
            <p:grpSpPr bwMode="auto">
              <a:xfrm flipH="1">
                <a:off x="4541" y="1256"/>
                <a:ext cx="438" cy="204"/>
                <a:chOff x="2118" y="2372"/>
                <a:chExt cx="438" cy="204"/>
              </a:xfrm>
            </p:grpSpPr>
            <p:sp>
              <p:nvSpPr>
                <p:cNvPr id="17492" name="Rectangle 28"/>
                <p:cNvSpPr>
                  <a:spLocks noChangeArrowheads="1"/>
                </p:cNvSpPr>
                <p:nvPr/>
              </p:nvSpPr>
              <p:spPr bwMode="auto">
                <a:xfrm rot="5400000" flipH="1" flipV="1">
                  <a:off x="2344" y="2364"/>
                  <a:ext cx="204" cy="220"/>
                </a:xfrm>
                <a:prstGeom prst="rect">
                  <a:avLst/>
                </a:prstGeom>
                <a:solidFill>
                  <a:srgbClr val="3366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sz="2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7493" name="Rectangle 29"/>
                <p:cNvSpPr>
                  <a:spLocks noChangeArrowheads="1"/>
                </p:cNvSpPr>
                <p:nvPr/>
              </p:nvSpPr>
              <p:spPr bwMode="auto">
                <a:xfrm rot="16200000" flipV="1">
                  <a:off x="2126" y="2364"/>
                  <a:ext cx="204" cy="220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rot="10800000" wrap="none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sz="20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7490" name="Text Box 30"/>
              <p:cNvSpPr txBox="1">
                <a:spLocks noChangeArrowheads="1"/>
              </p:cNvSpPr>
              <p:nvPr/>
            </p:nvSpPr>
            <p:spPr bwMode="auto">
              <a:xfrm>
                <a:off x="4763" y="1218"/>
                <a:ext cx="218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chemeClr val="bg1"/>
                    </a:solidFill>
                    <a:latin typeface="Arial" panose="020B0604020202020204" pitchFamily="34" charset="0"/>
                  </a:rPr>
                  <a:t>N</a:t>
                </a:r>
              </a:p>
            </p:txBody>
          </p:sp>
          <p:sp>
            <p:nvSpPr>
              <p:cNvPr id="17491" name="Text Box 31"/>
              <p:cNvSpPr txBox="1">
                <a:spLocks noChangeArrowheads="1"/>
              </p:cNvSpPr>
              <p:nvPr/>
            </p:nvSpPr>
            <p:spPr bwMode="auto">
              <a:xfrm>
                <a:off x="4554" y="1222"/>
                <a:ext cx="210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chemeClr val="bg1"/>
                    </a:solidFill>
                    <a:latin typeface="Arial" panose="020B0604020202020204" pitchFamily="34" charset="0"/>
                  </a:rPr>
                  <a:t>S</a:t>
                </a:r>
              </a:p>
            </p:txBody>
          </p:sp>
        </p:grpSp>
        <p:grpSp>
          <p:nvGrpSpPr>
            <p:cNvPr id="17456" name="Group 32"/>
            <p:cNvGrpSpPr>
              <a:grpSpLocks/>
            </p:cNvGrpSpPr>
            <p:nvPr/>
          </p:nvGrpSpPr>
          <p:grpSpPr bwMode="auto">
            <a:xfrm>
              <a:off x="8437563" y="2981784"/>
              <a:ext cx="698500" cy="446088"/>
              <a:chOff x="4541" y="1218"/>
              <a:chExt cx="440" cy="281"/>
            </a:xfrm>
          </p:grpSpPr>
          <p:grpSp>
            <p:nvGrpSpPr>
              <p:cNvPr id="17484" name="Group 33"/>
              <p:cNvGrpSpPr>
                <a:grpSpLocks/>
              </p:cNvGrpSpPr>
              <p:nvPr/>
            </p:nvGrpSpPr>
            <p:grpSpPr bwMode="auto">
              <a:xfrm flipH="1">
                <a:off x="4541" y="1256"/>
                <a:ext cx="438" cy="204"/>
                <a:chOff x="2118" y="2372"/>
                <a:chExt cx="438" cy="204"/>
              </a:xfrm>
            </p:grpSpPr>
            <p:sp>
              <p:nvSpPr>
                <p:cNvPr id="17487" name="Rectangle 34"/>
                <p:cNvSpPr>
                  <a:spLocks noChangeArrowheads="1"/>
                </p:cNvSpPr>
                <p:nvPr/>
              </p:nvSpPr>
              <p:spPr bwMode="auto">
                <a:xfrm rot="5400000" flipH="1" flipV="1">
                  <a:off x="2344" y="2364"/>
                  <a:ext cx="204" cy="220"/>
                </a:xfrm>
                <a:prstGeom prst="rect">
                  <a:avLst/>
                </a:prstGeom>
                <a:solidFill>
                  <a:srgbClr val="3366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sz="2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7488" name="Rectangle 35"/>
                <p:cNvSpPr>
                  <a:spLocks noChangeArrowheads="1"/>
                </p:cNvSpPr>
                <p:nvPr/>
              </p:nvSpPr>
              <p:spPr bwMode="auto">
                <a:xfrm rot="16200000" flipV="1">
                  <a:off x="2126" y="2364"/>
                  <a:ext cx="204" cy="220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rot="10800000" wrap="none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sz="20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7485" name="Text Box 36"/>
              <p:cNvSpPr txBox="1">
                <a:spLocks noChangeArrowheads="1"/>
              </p:cNvSpPr>
              <p:nvPr/>
            </p:nvSpPr>
            <p:spPr bwMode="auto">
              <a:xfrm>
                <a:off x="4763" y="1218"/>
                <a:ext cx="218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chemeClr val="bg1"/>
                    </a:solidFill>
                    <a:latin typeface="Arial" panose="020B0604020202020204" pitchFamily="34" charset="0"/>
                  </a:rPr>
                  <a:t>N</a:t>
                </a:r>
              </a:p>
            </p:txBody>
          </p:sp>
          <p:sp>
            <p:nvSpPr>
              <p:cNvPr id="17486" name="Text Box 37"/>
              <p:cNvSpPr txBox="1">
                <a:spLocks noChangeArrowheads="1"/>
              </p:cNvSpPr>
              <p:nvPr/>
            </p:nvSpPr>
            <p:spPr bwMode="auto">
              <a:xfrm>
                <a:off x="4554" y="1222"/>
                <a:ext cx="210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chemeClr val="bg1"/>
                    </a:solidFill>
                    <a:latin typeface="Arial" panose="020B0604020202020204" pitchFamily="34" charset="0"/>
                  </a:rPr>
                  <a:t>S</a:t>
                </a:r>
              </a:p>
            </p:txBody>
          </p:sp>
        </p:grpSp>
        <p:grpSp>
          <p:nvGrpSpPr>
            <p:cNvPr id="17457" name="Group 38"/>
            <p:cNvGrpSpPr>
              <a:grpSpLocks/>
            </p:cNvGrpSpPr>
            <p:nvPr/>
          </p:nvGrpSpPr>
          <p:grpSpPr bwMode="auto">
            <a:xfrm>
              <a:off x="9375775" y="2981784"/>
              <a:ext cx="698500" cy="446088"/>
              <a:chOff x="4541" y="1218"/>
              <a:chExt cx="440" cy="281"/>
            </a:xfrm>
          </p:grpSpPr>
          <p:grpSp>
            <p:nvGrpSpPr>
              <p:cNvPr id="17479" name="Group 39"/>
              <p:cNvGrpSpPr>
                <a:grpSpLocks/>
              </p:cNvGrpSpPr>
              <p:nvPr/>
            </p:nvGrpSpPr>
            <p:grpSpPr bwMode="auto">
              <a:xfrm flipH="1">
                <a:off x="4541" y="1256"/>
                <a:ext cx="438" cy="204"/>
                <a:chOff x="2118" y="2372"/>
                <a:chExt cx="438" cy="204"/>
              </a:xfrm>
            </p:grpSpPr>
            <p:sp>
              <p:nvSpPr>
                <p:cNvPr id="17482" name="Rectangle 40"/>
                <p:cNvSpPr>
                  <a:spLocks noChangeArrowheads="1"/>
                </p:cNvSpPr>
                <p:nvPr/>
              </p:nvSpPr>
              <p:spPr bwMode="auto">
                <a:xfrm rot="5400000" flipH="1" flipV="1">
                  <a:off x="2344" y="2364"/>
                  <a:ext cx="204" cy="220"/>
                </a:xfrm>
                <a:prstGeom prst="rect">
                  <a:avLst/>
                </a:prstGeom>
                <a:solidFill>
                  <a:srgbClr val="3366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sz="2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7483" name="Rectangle 41"/>
                <p:cNvSpPr>
                  <a:spLocks noChangeArrowheads="1"/>
                </p:cNvSpPr>
                <p:nvPr/>
              </p:nvSpPr>
              <p:spPr bwMode="auto">
                <a:xfrm rot="16200000" flipV="1">
                  <a:off x="2126" y="2364"/>
                  <a:ext cx="204" cy="220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rot="10800000" wrap="none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sz="20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7480" name="Text Box 42"/>
              <p:cNvSpPr txBox="1">
                <a:spLocks noChangeArrowheads="1"/>
              </p:cNvSpPr>
              <p:nvPr/>
            </p:nvSpPr>
            <p:spPr bwMode="auto">
              <a:xfrm>
                <a:off x="4763" y="1218"/>
                <a:ext cx="218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chemeClr val="bg1"/>
                    </a:solidFill>
                    <a:latin typeface="Arial" panose="020B0604020202020204" pitchFamily="34" charset="0"/>
                  </a:rPr>
                  <a:t>N</a:t>
                </a:r>
              </a:p>
            </p:txBody>
          </p:sp>
          <p:sp>
            <p:nvSpPr>
              <p:cNvPr id="17481" name="Text Box 43"/>
              <p:cNvSpPr txBox="1">
                <a:spLocks noChangeArrowheads="1"/>
              </p:cNvSpPr>
              <p:nvPr/>
            </p:nvSpPr>
            <p:spPr bwMode="auto">
              <a:xfrm>
                <a:off x="4554" y="1222"/>
                <a:ext cx="210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chemeClr val="bg1"/>
                    </a:solidFill>
                    <a:latin typeface="Arial" panose="020B0604020202020204" pitchFamily="34" charset="0"/>
                  </a:rPr>
                  <a:t>S</a:t>
                </a:r>
              </a:p>
            </p:txBody>
          </p:sp>
        </p:grpSp>
        <p:grpSp>
          <p:nvGrpSpPr>
            <p:cNvPr id="17458" name="Group 44"/>
            <p:cNvGrpSpPr>
              <a:grpSpLocks/>
            </p:cNvGrpSpPr>
            <p:nvPr/>
          </p:nvGrpSpPr>
          <p:grpSpPr bwMode="auto">
            <a:xfrm>
              <a:off x="7493000" y="3519946"/>
              <a:ext cx="698500" cy="446088"/>
              <a:chOff x="4541" y="1218"/>
              <a:chExt cx="440" cy="281"/>
            </a:xfrm>
          </p:grpSpPr>
          <p:grpSp>
            <p:nvGrpSpPr>
              <p:cNvPr id="17474" name="Group 45"/>
              <p:cNvGrpSpPr>
                <a:grpSpLocks/>
              </p:cNvGrpSpPr>
              <p:nvPr/>
            </p:nvGrpSpPr>
            <p:grpSpPr bwMode="auto">
              <a:xfrm flipH="1">
                <a:off x="4541" y="1256"/>
                <a:ext cx="438" cy="204"/>
                <a:chOff x="2118" y="2372"/>
                <a:chExt cx="438" cy="204"/>
              </a:xfrm>
            </p:grpSpPr>
            <p:sp>
              <p:nvSpPr>
                <p:cNvPr id="17477" name="Rectangle 46"/>
                <p:cNvSpPr>
                  <a:spLocks noChangeArrowheads="1"/>
                </p:cNvSpPr>
                <p:nvPr/>
              </p:nvSpPr>
              <p:spPr bwMode="auto">
                <a:xfrm rot="5400000" flipH="1" flipV="1">
                  <a:off x="2344" y="2364"/>
                  <a:ext cx="204" cy="220"/>
                </a:xfrm>
                <a:prstGeom prst="rect">
                  <a:avLst/>
                </a:prstGeom>
                <a:solidFill>
                  <a:srgbClr val="3366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sz="2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7478" name="Rectangle 47"/>
                <p:cNvSpPr>
                  <a:spLocks noChangeArrowheads="1"/>
                </p:cNvSpPr>
                <p:nvPr/>
              </p:nvSpPr>
              <p:spPr bwMode="auto">
                <a:xfrm rot="16200000" flipV="1">
                  <a:off x="2126" y="2364"/>
                  <a:ext cx="204" cy="220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rot="10800000" wrap="none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sz="20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7475" name="Text Box 48"/>
              <p:cNvSpPr txBox="1">
                <a:spLocks noChangeArrowheads="1"/>
              </p:cNvSpPr>
              <p:nvPr/>
            </p:nvSpPr>
            <p:spPr bwMode="auto">
              <a:xfrm>
                <a:off x="4763" y="1218"/>
                <a:ext cx="218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chemeClr val="bg1"/>
                    </a:solidFill>
                    <a:latin typeface="Arial" panose="020B0604020202020204" pitchFamily="34" charset="0"/>
                  </a:rPr>
                  <a:t>N</a:t>
                </a:r>
              </a:p>
            </p:txBody>
          </p:sp>
          <p:sp>
            <p:nvSpPr>
              <p:cNvPr id="17476" name="Text Box 49"/>
              <p:cNvSpPr txBox="1">
                <a:spLocks noChangeArrowheads="1"/>
              </p:cNvSpPr>
              <p:nvPr/>
            </p:nvSpPr>
            <p:spPr bwMode="auto">
              <a:xfrm>
                <a:off x="4554" y="1222"/>
                <a:ext cx="210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chemeClr val="bg1"/>
                    </a:solidFill>
                    <a:latin typeface="Arial" panose="020B0604020202020204" pitchFamily="34" charset="0"/>
                  </a:rPr>
                  <a:t>S</a:t>
                </a:r>
              </a:p>
            </p:txBody>
          </p:sp>
        </p:grpSp>
        <p:grpSp>
          <p:nvGrpSpPr>
            <p:cNvPr id="17459" name="Group 50"/>
            <p:cNvGrpSpPr>
              <a:grpSpLocks/>
            </p:cNvGrpSpPr>
            <p:nvPr/>
          </p:nvGrpSpPr>
          <p:grpSpPr bwMode="auto">
            <a:xfrm>
              <a:off x="8431213" y="3519946"/>
              <a:ext cx="698500" cy="446088"/>
              <a:chOff x="4541" y="1218"/>
              <a:chExt cx="440" cy="281"/>
            </a:xfrm>
          </p:grpSpPr>
          <p:grpSp>
            <p:nvGrpSpPr>
              <p:cNvPr id="17469" name="Group 51"/>
              <p:cNvGrpSpPr>
                <a:grpSpLocks/>
              </p:cNvGrpSpPr>
              <p:nvPr/>
            </p:nvGrpSpPr>
            <p:grpSpPr bwMode="auto">
              <a:xfrm flipH="1">
                <a:off x="4541" y="1256"/>
                <a:ext cx="438" cy="204"/>
                <a:chOff x="2118" y="2372"/>
                <a:chExt cx="438" cy="204"/>
              </a:xfrm>
            </p:grpSpPr>
            <p:sp>
              <p:nvSpPr>
                <p:cNvPr id="17472" name="Rectangle 52"/>
                <p:cNvSpPr>
                  <a:spLocks noChangeArrowheads="1"/>
                </p:cNvSpPr>
                <p:nvPr/>
              </p:nvSpPr>
              <p:spPr bwMode="auto">
                <a:xfrm rot="5400000" flipH="1" flipV="1">
                  <a:off x="2344" y="2364"/>
                  <a:ext cx="204" cy="220"/>
                </a:xfrm>
                <a:prstGeom prst="rect">
                  <a:avLst/>
                </a:prstGeom>
                <a:solidFill>
                  <a:srgbClr val="3366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sz="2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7473" name="Rectangle 53"/>
                <p:cNvSpPr>
                  <a:spLocks noChangeArrowheads="1"/>
                </p:cNvSpPr>
                <p:nvPr/>
              </p:nvSpPr>
              <p:spPr bwMode="auto">
                <a:xfrm rot="16200000" flipV="1">
                  <a:off x="2126" y="2364"/>
                  <a:ext cx="204" cy="220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rot="10800000" wrap="none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sz="20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7470" name="Text Box 54"/>
              <p:cNvSpPr txBox="1">
                <a:spLocks noChangeArrowheads="1"/>
              </p:cNvSpPr>
              <p:nvPr/>
            </p:nvSpPr>
            <p:spPr bwMode="auto">
              <a:xfrm>
                <a:off x="4763" y="1218"/>
                <a:ext cx="218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chemeClr val="bg1"/>
                    </a:solidFill>
                    <a:latin typeface="Arial" panose="020B0604020202020204" pitchFamily="34" charset="0"/>
                  </a:rPr>
                  <a:t>N</a:t>
                </a:r>
              </a:p>
            </p:txBody>
          </p:sp>
          <p:sp>
            <p:nvSpPr>
              <p:cNvPr id="17471" name="Text Box 55"/>
              <p:cNvSpPr txBox="1">
                <a:spLocks noChangeArrowheads="1"/>
              </p:cNvSpPr>
              <p:nvPr/>
            </p:nvSpPr>
            <p:spPr bwMode="auto">
              <a:xfrm>
                <a:off x="4554" y="1222"/>
                <a:ext cx="210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chemeClr val="bg1"/>
                    </a:solidFill>
                    <a:latin typeface="Arial" panose="020B0604020202020204" pitchFamily="34" charset="0"/>
                  </a:rPr>
                  <a:t>S</a:t>
                </a:r>
              </a:p>
            </p:txBody>
          </p:sp>
        </p:grpSp>
        <p:grpSp>
          <p:nvGrpSpPr>
            <p:cNvPr id="17460" name="Group 56"/>
            <p:cNvGrpSpPr>
              <a:grpSpLocks/>
            </p:cNvGrpSpPr>
            <p:nvPr/>
          </p:nvGrpSpPr>
          <p:grpSpPr bwMode="auto">
            <a:xfrm>
              <a:off x="9369425" y="3519946"/>
              <a:ext cx="698500" cy="446088"/>
              <a:chOff x="4541" y="1218"/>
              <a:chExt cx="440" cy="281"/>
            </a:xfrm>
          </p:grpSpPr>
          <p:grpSp>
            <p:nvGrpSpPr>
              <p:cNvPr id="17464" name="Group 57"/>
              <p:cNvGrpSpPr>
                <a:grpSpLocks/>
              </p:cNvGrpSpPr>
              <p:nvPr/>
            </p:nvGrpSpPr>
            <p:grpSpPr bwMode="auto">
              <a:xfrm flipH="1">
                <a:off x="4541" y="1256"/>
                <a:ext cx="438" cy="204"/>
                <a:chOff x="2118" y="2372"/>
                <a:chExt cx="438" cy="204"/>
              </a:xfrm>
            </p:grpSpPr>
            <p:sp>
              <p:nvSpPr>
                <p:cNvPr id="17467" name="Rectangle 58"/>
                <p:cNvSpPr>
                  <a:spLocks noChangeArrowheads="1"/>
                </p:cNvSpPr>
                <p:nvPr/>
              </p:nvSpPr>
              <p:spPr bwMode="auto">
                <a:xfrm rot="5400000" flipH="1" flipV="1">
                  <a:off x="2344" y="2364"/>
                  <a:ext cx="204" cy="220"/>
                </a:xfrm>
                <a:prstGeom prst="rect">
                  <a:avLst/>
                </a:prstGeom>
                <a:solidFill>
                  <a:srgbClr val="3366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sz="2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7468" name="Rectangle 59"/>
                <p:cNvSpPr>
                  <a:spLocks noChangeArrowheads="1"/>
                </p:cNvSpPr>
                <p:nvPr/>
              </p:nvSpPr>
              <p:spPr bwMode="auto">
                <a:xfrm rot="16200000" flipV="1">
                  <a:off x="2126" y="2364"/>
                  <a:ext cx="204" cy="220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rot="10800000" wrap="none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sz="20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7465" name="Text Box 60"/>
              <p:cNvSpPr txBox="1">
                <a:spLocks noChangeArrowheads="1"/>
              </p:cNvSpPr>
              <p:nvPr/>
            </p:nvSpPr>
            <p:spPr bwMode="auto">
              <a:xfrm>
                <a:off x="4763" y="1218"/>
                <a:ext cx="218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chemeClr val="bg1"/>
                    </a:solidFill>
                    <a:latin typeface="Arial" panose="020B0604020202020204" pitchFamily="34" charset="0"/>
                  </a:rPr>
                  <a:t>N</a:t>
                </a:r>
              </a:p>
            </p:txBody>
          </p:sp>
          <p:sp>
            <p:nvSpPr>
              <p:cNvPr id="17466" name="Text Box 61"/>
              <p:cNvSpPr txBox="1">
                <a:spLocks noChangeArrowheads="1"/>
              </p:cNvSpPr>
              <p:nvPr/>
            </p:nvSpPr>
            <p:spPr bwMode="auto">
              <a:xfrm>
                <a:off x="4554" y="1222"/>
                <a:ext cx="210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chemeClr val="bg1"/>
                    </a:solidFill>
                    <a:latin typeface="Arial" panose="020B0604020202020204" pitchFamily="34" charset="0"/>
                  </a:rPr>
                  <a:t>S</a:t>
                </a:r>
              </a:p>
            </p:txBody>
          </p:sp>
        </p:grpSp>
      </p:grpSp>
      <p:grpSp>
        <p:nvGrpSpPr>
          <p:cNvPr id="17446" name="Group 133"/>
          <p:cNvGrpSpPr>
            <a:grpSpLocks/>
          </p:cNvGrpSpPr>
          <p:nvPr/>
        </p:nvGrpSpPr>
        <p:grpSpPr bwMode="auto">
          <a:xfrm>
            <a:off x="4735513" y="2917387"/>
            <a:ext cx="2065338" cy="950913"/>
            <a:chOff x="2983" y="1990"/>
            <a:chExt cx="1301" cy="599"/>
          </a:xfrm>
        </p:grpSpPr>
        <p:sp>
          <p:nvSpPr>
            <p:cNvPr id="17448" name="AutoShape 72"/>
            <p:cNvSpPr>
              <a:spLocks noChangeArrowheads="1"/>
            </p:cNvSpPr>
            <p:nvPr/>
          </p:nvSpPr>
          <p:spPr bwMode="auto">
            <a:xfrm>
              <a:off x="3241" y="2256"/>
              <a:ext cx="788" cy="333"/>
            </a:xfrm>
            <a:prstGeom prst="rightArrow">
              <a:avLst>
                <a:gd name="adj1" fmla="val 39898"/>
                <a:gd name="adj2" fmla="val 59159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449" name="Text Box 73"/>
            <p:cNvSpPr txBox="1">
              <a:spLocks noChangeArrowheads="1"/>
            </p:cNvSpPr>
            <p:nvPr/>
          </p:nvSpPr>
          <p:spPr bwMode="auto">
            <a:xfrm>
              <a:off x="2983" y="1990"/>
              <a:ext cx="1301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8000"/>
                  </a:solidFill>
                  <a:latin typeface="Arial" panose="020B0604020202020204" pitchFamily="34" charset="0"/>
                </a:rPr>
                <a:t>Si se aplica </a:t>
              </a:r>
              <a:r>
                <a:rPr lang="es-ES" sz="2400" b="1" dirty="0">
                  <a:solidFill>
                    <a:srgbClr val="008000"/>
                  </a:solidFill>
                  <a:latin typeface="Arial" panose="020B0604020202020204" pitchFamily="34" charset="0"/>
                </a:rPr>
                <a:t>B</a:t>
              </a:r>
            </a:p>
          </p:txBody>
        </p:sp>
      </p:grpSp>
      <p:sp>
        <p:nvSpPr>
          <p:cNvPr id="17447" name="Text Box 75"/>
          <p:cNvSpPr txBox="1">
            <a:spLocks noChangeArrowheads="1"/>
          </p:cNvSpPr>
          <p:nvPr/>
        </p:nvSpPr>
        <p:spPr bwMode="auto">
          <a:xfrm>
            <a:off x="4203859" y="1597125"/>
            <a:ext cx="3117525" cy="1274762"/>
          </a:xfrm>
          <a:prstGeom prst="rect">
            <a:avLst/>
          </a:prstGeom>
          <a:noFill/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Suficiente para vencer cohesión y agitación térmica</a:t>
            </a:r>
          </a:p>
        </p:txBody>
      </p:sp>
      <p:sp>
        <p:nvSpPr>
          <p:cNvPr id="17443" name="Text Box 78"/>
          <p:cNvSpPr txBox="1">
            <a:spLocks noChangeArrowheads="1"/>
          </p:cNvSpPr>
          <p:nvPr/>
        </p:nvSpPr>
        <p:spPr bwMode="auto">
          <a:xfrm>
            <a:off x="4625833" y="3869809"/>
            <a:ext cx="2294394" cy="90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</a:rPr>
              <a:t>No desaparece al eliminar </a:t>
            </a:r>
            <a:r>
              <a:rPr lang="es-ES" sz="2400" b="1" dirty="0">
                <a:solidFill>
                  <a:srgbClr val="008000"/>
                </a:solidFill>
                <a:latin typeface="Arial" panose="020B0604020202020204" pitchFamily="34" charset="0"/>
              </a:rPr>
              <a:t>B</a:t>
            </a:r>
          </a:p>
        </p:txBody>
      </p:sp>
      <p:sp>
        <p:nvSpPr>
          <p:cNvPr id="17444" name="Text Box 82"/>
          <p:cNvSpPr txBox="1">
            <a:spLocks noChangeArrowheads="1"/>
          </p:cNvSpPr>
          <p:nvPr/>
        </p:nvSpPr>
        <p:spPr bwMode="auto">
          <a:xfrm>
            <a:off x="1238534" y="339807"/>
            <a:ext cx="2496194" cy="558614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Ferromagnéticos</a:t>
            </a:r>
          </a:p>
        </p:txBody>
      </p:sp>
      <p:sp>
        <p:nvSpPr>
          <p:cNvPr id="4" name="Text Box 101"/>
          <p:cNvSpPr txBox="1">
            <a:spLocks noChangeArrowheads="1"/>
          </p:cNvSpPr>
          <p:nvPr/>
        </p:nvSpPr>
        <p:spPr bwMode="auto">
          <a:xfrm>
            <a:off x="1223845" y="1009572"/>
            <a:ext cx="1566752" cy="536549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 dirty="0">
                <a:latin typeface="Arial" panose="020B0604020202020204" pitchFamily="34" charset="0"/>
              </a:rPr>
              <a:t>Fe, Co, Ni</a:t>
            </a:r>
          </a:p>
        </p:txBody>
      </p:sp>
      <p:grpSp>
        <p:nvGrpSpPr>
          <p:cNvPr id="21" name="Group 65"/>
          <p:cNvGrpSpPr>
            <a:grpSpLocks/>
          </p:cNvGrpSpPr>
          <p:nvPr/>
        </p:nvGrpSpPr>
        <p:grpSpPr bwMode="auto">
          <a:xfrm>
            <a:off x="1503344" y="2493815"/>
            <a:ext cx="2532063" cy="2146300"/>
            <a:chOff x="928" y="1217"/>
            <a:chExt cx="1595" cy="1352"/>
          </a:xfrm>
        </p:grpSpPr>
        <p:sp>
          <p:nvSpPr>
            <p:cNvPr id="17440" name="Freeform 66"/>
            <p:cNvSpPr>
              <a:spLocks/>
            </p:cNvSpPr>
            <p:nvPr/>
          </p:nvSpPr>
          <p:spPr bwMode="auto">
            <a:xfrm>
              <a:off x="928" y="1217"/>
              <a:ext cx="773" cy="839"/>
            </a:xfrm>
            <a:custGeom>
              <a:avLst/>
              <a:gdLst>
                <a:gd name="T0" fmla="*/ 627 w 773"/>
                <a:gd name="T1" fmla="*/ 0 h 839"/>
                <a:gd name="T2" fmla="*/ 773 w 773"/>
                <a:gd name="T3" fmla="*/ 284 h 839"/>
                <a:gd name="T4" fmla="*/ 744 w 773"/>
                <a:gd name="T5" fmla="*/ 605 h 839"/>
                <a:gd name="T6" fmla="*/ 431 w 773"/>
                <a:gd name="T7" fmla="*/ 802 h 839"/>
                <a:gd name="T8" fmla="*/ 146 w 773"/>
                <a:gd name="T9" fmla="*/ 839 h 839"/>
                <a:gd name="T10" fmla="*/ 0 w 773"/>
                <a:gd name="T11" fmla="*/ 736 h 83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73"/>
                <a:gd name="T19" fmla="*/ 0 h 839"/>
                <a:gd name="T20" fmla="*/ 773 w 773"/>
                <a:gd name="T21" fmla="*/ 839 h 83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73" h="839">
                  <a:moveTo>
                    <a:pt x="627" y="0"/>
                  </a:moveTo>
                  <a:lnTo>
                    <a:pt x="773" y="284"/>
                  </a:lnTo>
                  <a:lnTo>
                    <a:pt x="744" y="605"/>
                  </a:lnTo>
                  <a:lnTo>
                    <a:pt x="431" y="802"/>
                  </a:lnTo>
                  <a:lnTo>
                    <a:pt x="146" y="839"/>
                  </a:lnTo>
                  <a:lnTo>
                    <a:pt x="0" y="736"/>
                  </a:lnTo>
                </a:path>
              </a:pathLst>
            </a:custGeom>
            <a:noFill/>
            <a:ln w="25400">
              <a:solidFill>
                <a:srgbClr val="008000"/>
              </a:solidFill>
              <a:prstDash val="dash"/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  <p:sp>
          <p:nvSpPr>
            <p:cNvPr id="17441" name="Freeform 67"/>
            <p:cNvSpPr>
              <a:spLocks/>
            </p:cNvSpPr>
            <p:nvPr/>
          </p:nvSpPr>
          <p:spPr bwMode="auto">
            <a:xfrm>
              <a:off x="1633" y="1625"/>
              <a:ext cx="890" cy="299"/>
            </a:xfrm>
            <a:custGeom>
              <a:avLst/>
              <a:gdLst>
                <a:gd name="T0" fmla="*/ 890 w 890"/>
                <a:gd name="T1" fmla="*/ 0 h 299"/>
                <a:gd name="T2" fmla="*/ 729 w 890"/>
                <a:gd name="T3" fmla="*/ 161 h 299"/>
                <a:gd name="T4" fmla="*/ 474 w 890"/>
                <a:gd name="T5" fmla="*/ 212 h 299"/>
                <a:gd name="T6" fmla="*/ 343 w 890"/>
                <a:gd name="T7" fmla="*/ 299 h 299"/>
                <a:gd name="T8" fmla="*/ 131 w 890"/>
                <a:gd name="T9" fmla="*/ 263 h 299"/>
                <a:gd name="T10" fmla="*/ 0 w 890"/>
                <a:gd name="T11" fmla="*/ 212 h 29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90"/>
                <a:gd name="T19" fmla="*/ 0 h 299"/>
                <a:gd name="T20" fmla="*/ 890 w 890"/>
                <a:gd name="T21" fmla="*/ 299 h 29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90" h="299">
                  <a:moveTo>
                    <a:pt x="890" y="0"/>
                  </a:moveTo>
                  <a:lnTo>
                    <a:pt x="729" y="161"/>
                  </a:lnTo>
                  <a:lnTo>
                    <a:pt x="474" y="212"/>
                  </a:lnTo>
                  <a:lnTo>
                    <a:pt x="343" y="299"/>
                  </a:lnTo>
                  <a:lnTo>
                    <a:pt x="131" y="263"/>
                  </a:lnTo>
                  <a:lnTo>
                    <a:pt x="0" y="212"/>
                  </a:lnTo>
                </a:path>
              </a:pathLst>
            </a:custGeom>
            <a:noFill/>
            <a:ln w="25400">
              <a:solidFill>
                <a:srgbClr val="008000"/>
              </a:solidFill>
              <a:prstDash val="dash"/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  <p:sp>
          <p:nvSpPr>
            <p:cNvPr id="17442" name="Freeform 68"/>
            <p:cNvSpPr>
              <a:spLocks/>
            </p:cNvSpPr>
            <p:nvPr/>
          </p:nvSpPr>
          <p:spPr bwMode="auto">
            <a:xfrm>
              <a:off x="1743" y="1928"/>
              <a:ext cx="182" cy="641"/>
            </a:xfrm>
            <a:custGeom>
              <a:avLst/>
              <a:gdLst>
                <a:gd name="T0" fmla="*/ 36 w 182"/>
                <a:gd name="T1" fmla="*/ 0 h 641"/>
                <a:gd name="T2" fmla="*/ 0 w 182"/>
                <a:gd name="T3" fmla="*/ 189 h 641"/>
                <a:gd name="T4" fmla="*/ 29 w 182"/>
                <a:gd name="T5" fmla="*/ 496 h 641"/>
                <a:gd name="T6" fmla="*/ 182 w 182"/>
                <a:gd name="T7" fmla="*/ 641 h 64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2"/>
                <a:gd name="T13" fmla="*/ 0 h 641"/>
                <a:gd name="T14" fmla="*/ 182 w 182"/>
                <a:gd name="T15" fmla="*/ 641 h 64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2" h="641">
                  <a:moveTo>
                    <a:pt x="36" y="0"/>
                  </a:moveTo>
                  <a:lnTo>
                    <a:pt x="0" y="189"/>
                  </a:lnTo>
                  <a:lnTo>
                    <a:pt x="29" y="496"/>
                  </a:lnTo>
                  <a:lnTo>
                    <a:pt x="182" y="641"/>
                  </a:lnTo>
                </a:path>
              </a:pathLst>
            </a:custGeom>
            <a:noFill/>
            <a:ln w="25400">
              <a:solidFill>
                <a:srgbClr val="008000"/>
              </a:solidFill>
              <a:prstDash val="dash"/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</p:grpSp>
      <p:sp>
        <p:nvSpPr>
          <p:cNvPr id="67698" name="Text Box 91"/>
          <p:cNvSpPr txBox="1">
            <a:spLocks noChangeArrowheads="1"/>
          </p:cNvSpPr>
          <p:nvPr/>
        </p:nvSpPr>
        <p:spPr bwMode="auto">
          <a:xfrm>
            <a:off x="1396496" y="5173117"/>
            <a:ext cx="2713037" cy="127521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 dirty="0">
                <a:latin typeface="Arial" panose="020B0604020202020204" pitchFamily="34" charset="0"/>
              </a:rPr>
              <a:t>Dominios orientados al azar (</a:t>
            </a:r>
            <a:r>
              <a:rPr lang="es-ES" sz="2400" b="1" dirty="0" err="1">
                <a:latin typeface="Arial" panose="020B0604020202020204" pitchFamily="34" charset="0"/>
              </a:rPr>
              <a:t>B</a:t>
            </a:r>
            <a:r>
              <a:rPr lang="es-ES" sz="2400" baseline="-25000" dirty="0" err="1">
                <a:latin typeface="Arial" panose="020B0604020202020204" pitchFamily="34" charset="0"/>
              </a:rPr>
              <a:t>mag</a:t>
            </a:r>
            <a:r>
              <a:rPr lang="es-ES" sz="2400" dirty="0">
                <a:latin typeface="Arial" panose="020B0604020202020204" pitchFamily="34" charset="0"/>
              </a:rPr>
              <a:t> = </a:t>
            </a:r>
            <a:r>
              <a:rPr lang="es-ES" sz="2400" b="1" dirty="0">
                <a:latin typeface="Arial" panose="020B0604020202020204" pitchFamily="34" charset="0"/>
              </a:rPr>
              <a:t>0</a:t>
            </a:r>
            <a:r>
              <a:rPr lang="es-ES" sz="2400" dirty="0">
                <a:latin typeface="Arial" panose="020B0604020202020204" pitchFamily="34" charset="0"/>
              </a:rPr>
              <a:t>)</a:t>
            </a:r>
          </a:p>
        </p:txBody>
      </p:sp>
      <p:grpSp>
        <p:nvGrpSpPr>
          <p:cNvPr id="67699" name="Group 110"/>
          <p:cNvGrpSpPr>
            <a:grpSpLocks/>
          </p:cNvGrpSpPr>
          <p:nvPr/>
        </p:nvGrpSpPr>
        <p:grpSpPr bwMode="auto">
          <a:xfrm>
            <a:off x="1571607" y="2587477"/>
            <a:ext cx="2578100" cy="2039938"/>
            <a:chOff x="41" y="-1425"/>
            <a:chExt cx="1624" cy="1285"/>
          </a:xfrm>
        </p:grpSpPr>
        <p:sp>
          <p:nvSpPr>
            <p:cNvPr id="17423" name="Rectangle 83"/>
            <p:cNvSpPr>
              <a:spLocks noChangeArrowheads="1"/>
            </p:cNvSpPr>
            <p:nvPr/>
          </p:nvSpPr>
          <p:spPr bwMode="auto">
            <a:xfrm rot="7752306" flipH="1" flipV="1">
              <a:off x="1284" y="-819"/>
              <a:ext cx="204" cy="220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000">
                <a:latin typeface="Arial" panose="020B0604020202020204" pitchFamily="34" charset="0"/>
              </a:endParaRPr>
            </a:p>
          </p:txBody>
        </p:sp>
        <p:sp>
          <p:nvSpPr>
            <p:cNvPr id="17424" name="Rectangle 84"/>
            <p:cNvSpPr>
              <a:spLocks noChangeArrowheads="1"/>
            </p:cNvSpPr>
            <p:nvPr/>
          </p:nvSpPr>
          <p:spPr bwMode="auto">
            <a:xfrm rot="7752306" flipH="1" flipV="1">
              <a:off x="1453" y="-683"/>
              <a:ext cx="204" cy="22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000">
                <a:latin typeface="Arial" panose="020B0604020202020204" pitchFamily="34" charset="0"/>
              </a:endParaRPr>
            </a:p>
          </p:txBody>
        </p:sp>
        <p:sp>
          <p:nvSpPr>
            <p:cNvPr id="17425" name="Rectangle 85"/>
            <p:cNvSpPr>
              <a:spLocks noChangeArrowheads="1"/>
            </p:cNvSpPr>
            <p:nvPr/>
          </p:nvSpPr>
          <p:spPr bwMode="auto">
            <a:xfrm rot="7752306">
              <a:off x="446" y="-1252"/>
              <a:ext cx="204" cy="220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vert="eaVert"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000">
                <a:latin typeface="Arial" panose="020B0604020202020204" pitchFamily="34" charset="0"/>
              </a:endParaRPr>
            </a:p>
          </p:txBody>
        </p:sp>
        <p:sp>
          <p:nvSpPr>
            <p:cNvPr id="17426" name="Rectangle 86"/>
            <p:cNvSpPr>
              <a:spLocks noChangeArrowheads="1"/>
            </p:cNvSpPr>
            <p:nvPr/>
          </p:nvSpPr>
          <p:spPr bwMode="auto">
            <a:xfrm rot="7752306">
              <a:off x="277" y="-1397"/>
              <a:ext cx="204" cy="22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vert="eaVert"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000">
                <a:latin typeface="Arial" panose="020B0604020202020204" pitchFamily="34" charset="0"/>
              </a:endParaRPr>
            </a:p>
          </p:txBody>
        </p:sp>
        <p:sp>
          <p:nvSpPr>
            <p:cNvPr id="17427" name="Rectangle 87"/>
            <p:cNvSpPr>
              <a:spLocks noChangeArrowheads="1"/>
            </p:cNvSpPr>
            <p:nvPr/>
          </p:nvSpPr>
          <p:spPr bwMode="auto">
            <a:xfrm rot="10800000" flipH="1" flipV="1">
              <a:off x="832" y="-1375"/>
              <a:ext cx="204" cy="220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000">
                <a:latin typeface="Arial" panose="020B0604020202020204" pitchFamily="34" charset="0"/>
              </a:endParaRPr>
            </a:p>
          </p:txBody>
        </p:sp>
        <p:sp>
          <p:nvSpPr>
            <p:cNvPr id="17428" name="Rectangle 88"/>
            <p:cNvSpPr>
              <a:spLocks noChangeArrowheads="1"/>
            </p:cNvSpPr>
            <p:nvPr/>
          </p:nvSpPr>
          <p:spPr bwMode="auto">
            <a:xfrm rot="10800000" flipH="1" flipV="1">
              <a:off x="832" y="-1165"/>
              <a:ext cx="204" cy="22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000">
                <a:latin typeface="Arial" panose="020B0604020202020204" pitchFamily="34" charset="0"/>
              </a:endParaRPr>
            </a:p>
          </p:txBody>
        </p:sp>
        <p:sp>
          <p:nvSpPr>
            <p:cNvPr id="17429" name="Rectangle 89"/>
            <p:cNvSpPr>
              <a:spLocks noChangeArrowheads="1"/>
            </p:cNvSpPr>
            <p:nvPr/>
          </p:nvSpPr>
          <p:spPr bwMode="auto">
            <a:xfrm rot="10800000" flipH="1">
              <a:off x="165" y="-360"/>
              <a:ext cx="204" cy="220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000">
                <a:latin typeface="Arial" panose="020B0604020202020204" pitchFamily="34" charset="0"/>
              </a:endParaRPr>
            </a:p>
          </p:txBody>
        </p:sp>
        <p:sp>
          <p:nvSpPr>
            <p:cNvPr id="17430" name="Rectangle 90"/>
            <p:cNvSpPr>
              <a:spLocks noChangeArrowheads="1"/>
            </p:cNvSpPr>
            <p:nvPr/>
          </p:nvSpPr>
          <p:spPr bwMode="auto">
            <a:xfrm rot="10800000" flipH="1">
              <a:off x="165" y="-578"/>
              <a:ext cx="204" cy="22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000">
                <a:latin typeface="Arial" panose="020B0604020202020204" pitchFamily="34" charset="0"/>
              </a:endParaRPr>
            </a:p>
          </p:txBody>
        </p:sp>
        <p:grpSp>
          <p:nvGrpSpPr>
            <p:cNvPr id="17431" name="Group 92"/>
            <p:cNvGrpSpPr>
              <a:grpSpLocks/>
            </p:cNvGrpSpPr>
            <p:nvPr/>
          </p:nvGrpSpPr>
          <p:grpSpPr bwMode="auto">
            <a:xfrm rot="3000724">
              <a:off x="1075" y="-1400"/>
              <a:ext cx="389" cy="340"/>
              <a:chOff x="2889" y="3196"/>
              <a:chExt cx="389" cy="340"/>
            </a:xfrm>
          </p:grpSpPr>
          <p:sp>
            <p:nvSpPr>
              <p:cNvPr id="17438" name="Rectangle 93"/>
              <p:cNvSpPr>
                <a:spLocks noChangeArrowheads="1"/>
              </p:cNvSpPr>
              <p:nvPr/>
            </p:nvSpPr>
            <p:spPr bwMode="auto">
              <a:xfrm rot="7752306" flipH="1" flipV="1">
                <a:off x="2897" y="3188"/>
                <a:ext cx="204" cy="220"/>
              </a:xfrm>
              <a:prstGeom prst="rect">
                <a:avLst/>
              </a:prstGeom>
              <a:solidFill>
                <a:srgbClr val="3366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sz="20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7439" name="Rectangle 94"/>
              <p:cNvSpPr>
                <a:spLocks noChangeArrowheads="1"/>
              </p:cNvSpPr>
              <p:nvPr/>
            </p:nvSpPr>
            <p:spPr bwMode="auto">
              <a:xfrm rot="7752306" flipH="1" flipV="1">
                <a:off x="3066" y="3324"/>
                <a:ext cx="204" cy="220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7432" name="Rectangle 95"/>
            <p:cNvSpPr>
              <a:spLocks noChangeArrowheads="1"/>
            </p:cNvSpPr>
            <p:nvPr/>
          </p:nvSpPr>
          <p:spPr bwMode="auto">
            <a:xfrm rot="10800000" flipH="1">
              <a:off x="527" y="-475"/>
              <a:ext cx="204" cy="220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000">
                <a:latin typeface="Arial" panose="020B0604020202020204" pitchFamily="34" charset="0"/>
              </a:endParaRPr>
            </a:p>
          </p:txBody>
        </p:sp>
        <p:sp>
          <p:nvSpPr>
            <p:cNvPr id="17433" name="Rectangle 96"/>
            <p:cNvSpPr>
              <a:spLocks noChangeArrowheads="1"/>
            </p:cNvSpPr>
            <p:nvPr/>
          </p:nvSpPr>
          <p:spPr bwMode="auto">
            <a:xfrm rot="10800000" flipH="1">
              <a:off x="527" y="-693"/>
              <a:ext cx="204" cy="22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000">
                <a:latin typeface="Arial" panose="020B0604020202020204" pitchFamily="34" charset="0"/>
              </a:endParaRPr>
            </a:p>
          </p:txBody>
        </p:sp>
        <p:sp>
          <p:nvSpPr>
            <p:cNvPr id="17434" name="Rectangle 97"/>
            <p:cNvSpPr>
              <a:spLocks noChangeArrowheads="1"/>
            </p:cNvSpPr>
            <p:nvPr/>
          </p:nvSpPr>
          <p:spPr bwMode="auto">
            <a:xfrm rot="7752306">
              <a:off x="218" y="-1000"/>
              <a:ext cx="204" cy="220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vert="eaVert"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000">
                <a:latin typeface="Arial" panose="020B0604020202020204" pitchFamily="34" charset="0"/>
              </a:endParaRPr>
            </a:p>
          </p:txBody>
        </p:sp>
        <p:sp>
          <p:nvSpPr>
            <p:cNvPr id="17435" name="Rectangle 98"/>
            <p:cNvSpPr>
              <a:spLocks noChangeArrowheads="1"/>
            </p:cNvSpPr>
            <p:nvPr/>
          </p:nvSpPr>
          <p:spPr bwMode="auto">
            <a:xfrm rot="7752306">
              <a:off x="49" y="-1145"/>
              <a:ext cx="204" cy="22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vert="eaVert"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000">
                <a:latin typeface="Arial" panose="020B0604020202020204" pitchFamily="34" charset="0"/>
              </a:endParaRPr>
            </a:p>
          </p:txBody>
        </p:sp>
        <p:sp>
          <p:nvSpPr>
            <p:cNvPr id="17436" name="Rectangle 99"/>
            <p:cNvSpPr>
              <a:spLocks noChangeArrowheads="1"/>
            </p:cNvSpPr>
            <p:nvPr/>
          </p:nvSpPr>
          <p:spPr bwMode="auto">
            <a:xfrm rot="7752306" flipH="1" flipV="1">
              <a:off x="951" y="-643"/>
              <a:ext cx="204" cy="220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000">
                <a:latin typeface="Arial" panose="020B0604020202020204" pitchFamily="34" charset="0"/>
              </a:endParaRPr>
            </a:p>
          </p:txBody>
        </p:sp>
        <p:sp>
          <p:nvSpPr>
            <p:cNvPr id="17437" name="Rectangle 100"/>
            <p:cNvSpPr>
              <a:spLocks noChangeArrowheads="1"/>
            </p:cNvSpPr>
            <p:nvPr/>
          </p:nvSpPr>
          <p:spPr bwMode="auto">
            <a:xfrm rot="7752306" flipH="1" flipV="1">
              <a:off x="1120" y="-507"/>
              <a:ext cx="204" cy="22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000">
                <a:latin typeface="Arial" panose="020B0604020202020204" pitchFamily="34" charset="0"/>
              </a:endParaRPr>
            </a:p>
          </p:txBody>
        </p:sp>
      </p:grpSp>
      <p:sp>
        <p:nvSpPr>
          <p:cNvPr id="67722" name="Text Box 138"/>
          <p:cNvSpPr txBox="1">
            <a:spLocks noChangeArrowheads="1"/>
          </p:cNvSpPr>
          <p:nvPr/>
        </p:nvSpPr>
        <p:spPr bwMode="auto">
          <a:xfrm>
            <a:off x="4256100" y="4785012"/>
            <a:ext cx="3044795" cy="1275213"/>
          </a:xfrm>
          <a:prstGeom prst="rect">
            <a:avLst/>
          </a:prstGeom>
          <a:noFill/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La interacción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entre dipolos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la tiende a mantener</a:t>
            </a:r>
          </a:p>
        </p:txBody>
      </p:sp>
      <p:sp>
        <p:nvSpPr>
          <p:cNvPr id="17421" name="Text Box 113"/>
          <p:cNvSpPr txBox="1">
            <a:spLocks noChangeArrowheads="1"/>
          </p:cNvSpPr>
          <p:nvPr/>
        </p:nvSpPr>
        <p:spPr bwMode="auto">
          <a:xfrm>
            <a:off x="4702139" y="6178416"/>
            <a:ext cx="2120688" cy="90588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Es un imán permanente</a:t>
            </a:r>
            <a:endParaRPr lang="es-ES" sz="2400" b="1" dirty="0">
              <a:latin typeface="Arial" panose="020B0604020202020204" pitchFamily="34" charset="0"/>
            </a:endParaRPr>
          </a:p>
        </p:txBody>
      </p:sp>
      <p:grpSp>
        <p:nvGrpSpPr>
          <p:cNvPr id="100" name="Group 78">
            <a:extLst>
              <a:ext uri="{FF2B5EF4-FFF2-40B4-BE49-F238E27FC236}">
                <a16:creationId xmlns:a16="http://schemas.microsoft.com/office/drawing/2014/main" id="{CA9E64DF-602E-420A-84CB-9F56D3160571}"/>
              </a:ext>
            </a:extLst>
          </p:cNvPr>
          <p:cNvGrpSpPr>
            <a:grpSpLocks/>
          </p:cNvGrpSpPr>
          <p:nvPr/>
        </p:nvGrpSpPr>
        <p:grpSpPr bwMode="auto">
          <a:xfrm>
            <a:off x="8130275" y="3309538"/>
            <a:ext cx="1330325" cy="703262"/>
            <a:chOff x="4941" y="1678"/>
            <a:chExt cx="838" cy="443"/>
          </a:xfrm>
        </p:grpSpPr>
        <p:sp>
          <p:nvSpPr>
            <p:cNvPr id="101" name="Line 79">
              <a:extLst>
                <a:ext uri="{FF2B5EF4-FFF2-40B4-BE49-F238E27FC236}">
                  <a16:creationId xmlns:a16="http://schemas.microsoft.com/office/drawing/2014/main" id="{7C05189A-3A28-49FA-B930-EAB04AE841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74" y="1678"/>
              <a:ext cx="565" cy="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miter lim="800000"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graphicFrame>
          <p:nvGraphicFramePr>
            <p:cNvPr id="102" name="Object 80">
              <a:extLst>
                <a:ext uri="{FF2B5EF4-FFF2-40B4-BE49-F238E27FC236}">
                  <a16:creationId xmlns:a16="http://schemas.microsoft.com/office/drawing/2014/main" id="{5A06CCB8-B749-433B-A553-8C931BBD3B3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941" y="1742"/>
            <a:ext cx="838" cy="3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5" imgW="596641" imgH="266584" progId="Equation.3">
                    <p:embed/>
                  </p:oleObj>
                </mc:Choice>
                <mc:Fallback>
                  <p:oleObj name="Ecuación" r:id="rId5" imgW="596641" imgH="266584" progId="Equation.3">
                    <p:embed/>
                    <p:pic>
                      <p:nvPicPr>
                        <p:cNvPr id="102" name="Object 80">
                          <a:extLst>
                            <a:ext uri="{FF2B5EF4-FFF2-40B4-BE49-F238E27FC236}">
                              <a16:creationId xmlns:a16="http://schemas.microsoft.com/office/drawing/2014/main" id="{5A06CCB8-B749-433B-A553-8C931BBD3B3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1" y="1742"/>
                          <a:ext cx="838" cy="3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3" name="Text Box 65">
            <a:extLst>
              <a:ext uri="{FF2B5EF4-FFF2-40B4-BE49-F238E27FC236}">
                <a16:creationId xmlns:a16="http://schemas.microsoft.com/office/drawing/2014/main" id="{94D15907-A34C-4AA9-B1E6-8A083C964E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5693" y="4270268"/>
            <a:ext cx="2021983" cy="90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(el conjunto es un imán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74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17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764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67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67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7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7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7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17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67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17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 animBg="1"/>
      <p:bldP spid="99" grpId="0" animBg="1"/>
      <p:bldP spid="764932" grpId="0" animBg="1"/>
      <p:bldP spid="17461" grpId="0" animBg="1"/>
      <p:bldP spid="17447" grpId="0"/>
      <p:bldP spid="17443" grpId="0"/>
      <p:bldP spid="17444" grpId="0" animBg="1"/>
      <p:bldP spid="4" grpId="0" animBg="1"/>
      <p:bldP spid="67698" grpId="0" animBg="1"/>
      <p:bldP spid="67722" grpId="0"/>
      <p:bldP spid="17421" grpId="0" animBg="1"/>
      <p:bldP spid="10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931" name="Text Box 3"/>
          <p:cNvSpPr txBox="1">
            <a:spLocks noChangeArrowheads="1"/>
          </p:cNvSpPr>
          <p:nvPr/>
        </p:nvSpPr>
        <p:spPr bwMode="auto">
          <a:xfrm>
            <a:off x="5032013" y="371337"/>
            <a:ext cx="4353146" cy="905881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Su comportamiento recuerda al de los ferroeléctricos</a:t>
            </a:r>
          </a:p>
        </p:txBody>
      </p:sp>
      <p:sp>
        <p:nvSpPr>
          <p:cNvPr id="765004" name="Text Box 76"/>
          <p:cNvSpPr txBox="1">
            <a:spLocks noChangeArrowheads="1"/>
          </p:cNvSpPr>
          <p:nvPr/>
        </p:nvSpPr>
        <p:spPr bwMode="auto">
          <a:xfrm>
            <a:off x="1837681" y="5417664"/>
            <a:ext cx="7868094" cy="14206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154800" rIns="90000" bIns="154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 dirty="0">
                <a:latin typeface="Arial" panose="020B0604020202020204" pitchFamily="34" charset="0"/>
              </a:rPr>
              <a:t>Si se supera cierta T, llamada</a:t>
            </a:r>
            <a:r>
              <a:rPr lang="es-ES" sz="2400" b="1" dirty="0">
                <a:latin typeface="Arial" panose="020B0604020202020204" pitchFamily="34" charset="0"/>
              </a:rPr>
              <a:t>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T</a:t>
            </a:r>
            <a:r>
              <a:rPr lang="es-ES" sz="2400" baseline="-25000" dirty="0">
                <a:solidFill>
                  <a:srgbClr val="3333FF"/>
                </a:solidFill>
                <a:latin typeface="Arial" panose="020B0604020202020204" pitchFamily="34" charset="0"/>
              </a:rPr>
              <a:t>CURIE</a:t>
            </a:r>
            <a:r>
              <a:rPr lang="es-ES" sz="2400" dirty="0">
                <a:latin typeface="Arial" panose="020B0604020202020204" pitchFamily="34" charset="0"/>
              </a:rPr>
              <a:t>, que es propia de cada material, se comportan como los paramagnéticos, pero con un </a:t>
            </a:r>
            <a:r>
              <a:rPr lang="es-ES" sz="2400" dirty="0" err="1">
                <a:latin typeface="Arial" panose="020B0604020202020204" pitchFamily="34" charset="0"/>
              </a:rPr>
              <a:t>B</a:t>
            </a:r>
            <a:r>
              <a:rPr lang="es-ES" sz="2400" baseline="-25000" dirty="0" err="1">
                <a:latin typeface="Arial" panose="020B0604020202020204" pitchFamily="34" charset="0"/>
              </a:rPr>
              <a:t>mag</a:t>
            </a:r>
            <a:r>
              <a:rPr lang="es-ES" sz="2400" dirty="0">
                <a:latin typeface="Arial" panose="020B0604020202020204" pitchFamily="34" charset="0"/>
              </a:rPr>
              <a:t> mucho mayor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(</a:t>
            </a:r>
            <a:r>
              <a:rPr lang="es-ES" sz="2400" dirty="0" err="1">
                <a:solidFill>
                  <a:srgbClr val="3333FF"/>
                </a:solidFill>
                <a:latin typeface="Arial" panose="020B0604020202020204" pitchFamily="34" charset="0"/>
              </a:rPr>
              <a:t>superparamagnéticos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)</a:t>
            </a:r>
          </a:p>
        </p:txBody>
      </p:sp>
      <p:grpSp>
        <p:nvGrpSpPr>
          <p:cNvPr id="3" name="Grupo 2"/>
          <p:cNvGrpSpPr>
            <a:grpSpLocks/>
          </p:cNvGrpSpPr>
          <p:nvPr/>
        </p:nvGrpSpPr>
        <p:grpSpPr bwMode="auto">
          <a:xfrm>
            <a:off x="1205563" y="1512908"/>
            <a:ext cx="2079625" cy="536549"/>
            <a:chOff x="1416050" y="2207261"/>
            <a:chExt cx="2079625" cy="536549"/>
          </a:xfrm>
        </p:grpSpPr>
        <p:sp>
          <p:nvSpPr>
            <p:cNvPr id="19496" name="Rectángulo 1"/>
            <p:cNvSpPr>
              <a:spLocks noChangeArrowheads="1"/>
            </p:cNvSpPr>
            <p:nvPr/>
          </p:nvSpPr>
          <p:spPr bwMode="auto">
            <a:xfrm>
              <a:off x="1452481" y="2209839"/>
              <a:ext cx="1923185" cy="532467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square" lIns="90000" tIns="82800" rIns="90000" bIns="82800" anchorCtr="1">
              <a:spAutoFit/>
            </a:bodyPr>
            <a:lstStyle>
              <a:lvl1pPr>
                <a:defRPr sz="2000">
                  <a:solidFill>
                    <a:srgbClr val="3333FF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3333FF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3333FF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3333FF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3333FF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FF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FF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FF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FF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baseline="-25000">
                <a:solidFill>
                  <a:srgbClr val="000000"/>
                </a:solidFill>
              </a:endParaRPr>
            </a:p>
          </p:txBody>
        </p:sp>
        <p:sp>
          <p:nvSpPr>
            <p:cNvPr id="19501" name="Text Box 107"/>
            <p:cNvSpPr txBox="1">
              <a:spLocks noChangeArrowheads="1"/>
            </p:cNvSpPr>
            <p:nvPr/>
          </p:nvSpPr>
          <p:spPr bwMode="auto">
            <a:xfrm>
              <a:off x="1416050" y="2207261"/>
              <a:ext cx="2079625" cy="536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82800" rIns="90000" bIns="82800" anchor="ctr" anchorCtr="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latin typeface="Arial" panose="020B0604020202020204" pitchFamily="34" charset="0"/>
                  <a:sym typeface="Symbol" panose="05050102010706020507" pitchFamily="18" charset="2"/>
                </a:rPr>
                <a:t> Diferencia:</a:t>
              </a:r>
              <a:endParaRPr lang="es-ES" sz="2400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767006" name="Text Box 30"/>
          <p:cNvSpPr txBox="1">
            <a:spLocks noChangeArrowheads="1"/>
          </p:cNvSpPr>
          <p:nvPr/>
        </p:nvSpPr>
        <p:spPr bwMode="auto">
          <a:xfrm>
            <a:off x="3350337" y="2869534"/>
            <a:ext cx="4833112" cy="105128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154800" rIns="90000" bIns="154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 dirty="0">
                <a:latin typeface="Arial" panose="020B0604020202020204" pitchFamily="34" charset="0"/>
              </a:rPr>
              <a:t>Almacenamiento de información (Discos Duros –</a:t>
            </a:r>
            <a:r>
              <a:rPr lang="es-ES" sz="2400" b="1" dirty="0" err="1">
                <a:latin typeface="Arial" panose="020B0604020202020204" pitchFamily="34" charset="0"/>
              </a:rPr>
              <a:t>H</a:t>
            </a:r>
            <a:r>
              <a:rPr lang="es-ES" sz="2400" dirty="0" err="1">
                <a:latin typeface="Arial" panose="020B0604020202020204" pitchFamily="34" charset="0"/>
              </a:rPr>
              <a:t>ard</a:t>
            </a:r>
            <a:r>
              <a:rPr lang="es-ES" sz="2400" dirty="0">
                <a:latin typeface="Arial" panose="020B0604020202020204" pitchFamily="34" charset="0"/>
              </a:rPr>
              <a:t> </a:t>
            </a:r>
            <a:r>
              <a:rPr lang="es-ES" sz="2400" b="1" dirty="0">
                <a:latin typeface="Arial" panose="020B0604020202020204" pitchFamily="34" charset="0"/>
              </a:rPr>
              <a:t>D</a:t>
            </a:r>
            <a:r>
              <a:rPr lang="es-ES" sz="2400" dirty="0">
                <a:latin typeface="Arial" panose="020B0604020202020204" pitchFamily="34" charset="0"/>
              </a:rPr>
              <a:t>isks–)</a:t>
            </a:r>
          </a:p>
        </p:txBody>
      </p:sp>
      <p:sp>
        <p:nvSpPr>
          <p:cNvPr id="767007" name="Text Box 31"/>
          <p:cNvSpPr txBox="1">
            <a:spLocks noChangeArrowheads="1"/>
          </p:cNvSpPr>
          <p:nvPr/>
        </p:nvSpPr>
        <p:spPr bwMode="auto">
          <a:xfrm>
            <a:off x="3330242" y="4020678"/>
            <a:ext cx="5896368" cy="1275213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Actualmente la orientación de un conjunto de dipolos (un imán), según su sentido,</a:t>
            </a:r>
          </a:p>
          <a:p>
            <a:pPr algn="ctr" eaLnBrk="1" hangingPunct="1"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equivale a un 0 o a un 1 en un HD</a:t>
            </a:r>
          </a:p>
        </p:txBody>
      </p:sp>
      <p:sp>
        <p:nvSpPr>
          <p:cNvPr id="84081" name="Text Box 47"/>
          <p:cNvSpPr txBox="1">
            <a:spLocks noChangeArrowheads="1"/>
          </p:cNvSpPr>
          <p:nvPr/>
        </p:nvSpPr>
        <p:spPr bwMode="auto">
          <a:xfrm>
            <a:off x="1274778" y="2867229"/>
            <a:ext cx="1881582" cy="536549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Aplicación:</a:t>
            </a:r>
          </a:p>
        </p:txBody>
      </p:sp>
      <p:sp>
        <p:nvSpPr>
          <p:cNvPr id="46" name="Text Box 82"/>
          <p:cNvSpPr txBox="1">
            <a:spLocks noChangeArrowheads="1"/>
          </p:cNvSpPr>
          <p:nvPr/>
        </p:nvSpPr>
        <p:spPr bwMode="auto">
          <a:xfrm>
            <a:off x="1238533" y="339807"/>
            <a:ext cx="2496194" cy="558614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cs typeface="Arial" panose="020B0604020202020204" pitchFamily="34" charset="0"/>
              </a:rPr>
              <a:t>Ferromagnéticos</a:t>
            </a:r>
          </a:p>
        </p:txBody>
      </p:sp>
      <p:sp>
        <p:nvSpPr>
          <p:cNvPr id="18" name="Text Box 105"/>
          <p:cNvSpPr txBox="1">
            <a:spLocks noChangeArrowheads="1"/>
          </p:cNvSpPr>
          <p:nvPr/>
        </p:nvSpPr>
        <p:spPr bwMode="auto">
          <a:xfrm>
            <a:off x="5047123" y="2096264"/>
            <a:ext cx="2190321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  </a:t>
            </a:r>
            <a:r>
              <a:rPr lang="es-ES" sz="2400" dirty="0" err="1">
                <a:latin typeface="Arial" panose="020B0604020202020204" pitchFamily="34" charset="0"/>
              </a:rPr>
              <a:t>B</a:t>
            </a:r>
            <a:r>
              <a:rPr lang="es-ES" sz="2400" baseline="-25000" dirty="0" err="1">
                <a:latin typeface="Arial" panose="020B0604020202020204" pitchFamily="34" charset="0"/>
              </a:rPr>
              <a:t>total</a:t>
            </a:r>
            <a:r>
              <a:rPr lang="es-ES" sz="2400" dirty="0">
                <a:latin typeface="Arial" panose="020B0604020202020204" pitchFamily="34" charset="0"/>
              </a:rPr>
              <a:t>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</a:t>
            </a:r>
            <a:r>
              <a:rPr lang="es-ES" sz="2400" dirty="0">
                <a:latin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</a:rPr>
              <a:t>B</a:t>
            </a:r>
            <a:r>
              <a:rPr lang="es-ES" sz="2400" baseline="-25000" dirty="0" err="1">
                <a:latin typeface="Arial" panose="020B0604020202020204" pitchFamily="34" charset="0"/>
              </a:rPr>
              <a:t>mag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4" name="Text Box 107">
            <a:extLst>
              <a:ext uri="{FF2B5EF4-FFF2-40B4-BE49-F238E27FC236}">
                <a16:creationId xmlns:a16="http://schemas.microsoft.com/office/drawing/2014/main" id="{DBC78639-928C-4AA4-92BF-DEC1D35197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0895" y="2084795"/>
            <a:ext cx="1796623" cy="53654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0000" tIns="82800" rIns="90000" bIns="82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 err="1">
                <a:latin typeface="Arial" panose="020B0604020202020204" pitchFamily="34" charset="0"/>
              </a:rPr>
              <a:t>B</a:t>
            </a:r>
            <a:r>
              <a:rPr lang="es-ES" sz="2400" baseline="-25000" dirty="0" err="1">
                <a:latin typeface="Arial" panose="020B0604020202020204" pitchFamily="34" charset="0"/>
              </a:rPr>
              <a:t>mag</a:t>
            </a:r>
            <a:r>
              <a:rPr lang="es-ES" sz="2400" dirty="0">
                <a:latin typeface="Arial" panose="020B0604020202020204" pitchFamily="34" charset="0"/>
              </a:rPr>
              <a:t> &gt;&gt; </a:t>
            </a:r>
            <a:r>
              <a:rPr lang="es-ES" sz="2400" dirty="0" err="1">
                <a:latin typeface="Arial" panose="020B0604020202020204" pitchFamily="34" charset="0"/>
              </a:rPr>
              <a:t>B</a:t>
            </a:r>
            <a:r>
              <a:rPr lang="es-ES" sz="2400" baseline="-25000" dirty="0" err="1">
                <a:latin typeface="Arial" panose="020B0604020202020204" pitchFamily="34" charset="0"/>
              </a:rPr>
              <a:t>apl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0" name="Text Box 107">
            <a:extLst>
              <a:ext uri="{FF2B5EF4-FFF2-40B4-BE49-F238E27FC236}">
                <a16:creationId xmlns:a16="http://schemas.microsoft.com/office/drawing/2014/main" id="{D22DF0C6-B203-4BBF-A1BE-ABD54743BD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6420" y="1530869"/>
            <a:ext cx="6681042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None/>
            </a:pPr>
            <a:r>
              <a:rPr lang="es-ES" sz="2400" dirty="0">
                <a:latin typeface="Arial" panose="020B0604020202020204" pitchFamily="34" charset="0"/>
              </a:rPr>
              <a:t>Efecto </a:t>
            </a:r>
            <a:r>
              <a:rPr lang="es-ES" sz="2400">
                <a:latin typeface="Arial" panose="020B0604020202020204" pitchFamily="34" charset="0"/>
              </a:rPr>
              <a:t>muy fuerte, aparte </a:t>
            </a:r>
            <a:r>
              <a:rPr lang="es-ES" sz="2400" dirty="0">
                <a:latin typeface="Arial" panose="020B0604020202020204" pitchFamily="34" charset="0"/>
              </a:rPr>
              <a:t>de que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s-ES" sz="2400" baseline="-25000" dirty="0" err="1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tot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&gt; B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apl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5" name="Text Box 104">
            <a:extLst>
              <a:ext uri="{FF2B5EF4-FFF2-40B4-BE49-F238E27FC236}">
                <a16:creationId xmlns:a16="http://schemas.microsoft.com/office/drawing/2014/main" id="{2F17AE9E-24F9-4638-9FD8-088D05AAC9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1835" y="2065131"/>
            <a:ext cx="3328453" cy="598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</a:t>
            </a:r>
            <a:r>
              <a:rPr lang="es-ES" sz="2800" dirty="0">
                <a:latin typeface="Arial" panose="020B0604020202020204" pitchFamily="34" charset="0"/>
                <a:sym typeface="Symbol" panose="05050102010706020507" pitchFamily="18" charset="2"/>
              </a:rPr>
              <a:t> </a:t>
            </a:r>
            <a:r>
              <a:rPr lang="es-ES" sz="2400" baseline="-25000" dirty="0">
                <a:latin typeface="Arial" panose="020B0604020202020204" pitchFamily="34" charset="0"/>
                <a:sym typeface="Symbol" panose="05050102010706020507" pitchFamily="18" charset="2"/>
              </a:rPr>
              <a:t>relativa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&gt;&gt;1 (</a:t>
            </a:r>
            <a:r>
              <a:rPr lang="es-ES" sz="2800" dirty="0">
                <a:latin typeface="Arial" panose="020B0604020202020204" pitchFamily="34" charset="0"/>
                <a:sym typeface="Symbol" panose="05050102010706020507" pitchFamily="18" charset="2"/>
              </a:rPr>
              <a:t>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&gt;&gt;</a:t>
            </a:r>
            <a:r>
              <a:rPr lang="es-ES" sz="2800" dirty="0">
                <a:latin typeface="Arial" panose="020B0604020202020204" pitchFamily="34" charset="0"/>
                <a:sym typeface="Symbol" panose="05050102010706020507" pitchFamily="18" charset="2"/>
              </a:rPr>
              <a:t></a:t>
            </a:r>
            <a:r>
              <a:rPr lang="es-ES" sz="2400" baseline="-25000" dirty="0">
                <a:latin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64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840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84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767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767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765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4931" grpId="0" animBg="1"/>
      <p:bldP spid="765004" grpId="0" animBg="1"/>
      <p:bldP spid="767006" grpId="0" animBg="1"/>
      <p:bldP spid="767007" grpId="0" animBg="1"/>
      <p:bldP spid="84081" grpId="0" animBg="1"/>
      <p:bldP spid="18" grpId="0"/>
      <p:bldP spid="14" grpId="0" animBg="1"/>
      <p:bldP spid="20" grpId="0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83" name="Text Box 49"/>
          <p:cNvSpPr txBox="1">
            <a:spLocks noChangeArrowheads="1"/>
          </p:cNvSpPr>
          <p:nvPr/>
        </p:nvSpPr>
        <p:spPr bwMode="auto">
          <a:xfrm>
            <a:off x="4314644" y="1443923"/>
            <a:ext cx="2921290" cy="590204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Antiferromagnéticos</a:t>
            </a:r>
          </a:p>
        </p:txBody>
      </p:sp>
      <p:sp>
        <p:nvSpPr>
          <p:cNvPr id="19485" name="Text Box 3"/>
          <p:cNvSpPr txBox="1">
            <a:spLocks noChangeArrowheads="1"/>
          </p:cNvSpPr>
          <p:nvPr/>
        </p:nvSpPr>
        <p:spPr bwMode="auto">
          <a:xfrm>
            <a:off x="4533105" y="4428376"/>
            <a:ext cx="2441575" cy="81136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tIns="36000" bIns="360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E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s-ES" sz="24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mag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pasa         a ser 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= </a:t>
            </a:r>
            <a:r>
              <a:rPr lang="es-ES" sz="24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grpSp>
        <p:nvGrpSpPr>
          <p:cNvPr id="8" name="Grupo 7"/>
          <p:cNvGrpSpPr/>
          <p:nvPr/>
        </p:nvGrpSpPr>
        <p:grpSpPr>
          <a:xfrm>
            <a:off x="4533105" y="3441936"/>
            <a:ext cx="2441575" cy="792163"/>
            <a:chOff x="4533105" y="3092534"/>
            <a:chExt cx="2441575" cy="792163"/>
          </a:xfrm>
        </p:grpSpPr>
        <p:sp>
          <p:nvSpPr>
            <p:cNvPr id="19484" name="Rectangle 4"/>
            <p:cNvSpPr>
              <a:spLocks noChangeArrowheads="1"/>
            </p:cNvSpPr>
            <p:nvPr/>
          </p:nvSpPr>
          <p:spPr bwMode="auto">
            <a:xfrm rot="16200000" flipV="1">
              <a:off x="4891880" y="3079834"/>
              <a:ext cx="323850" cy="349250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vert="eaVert"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000">
                <a:latin typeface="Arial" panose="020B0604020202020204" pitchFamily="34" charset="0"/>
              </a:endParaRPr>
            </a:p>
          </p:txBody>
        </p:sp>
        <p:sp>
          <p:nvSpPr>
            <p:cNvPr id="2" name="Rectangle 5"/>
            <p:cNvSpPr>
              <a:spLocks noChangeArrowheads="1"/>
            </p:cNvSpPr>
            <p:nvPr/>
          </p:nvSpPr>
          <p:spPr bwMode="auto">
            <a:xfrm rot="16200000" flipV="1">
              <a:off x="4545805" y="3079834"/>
              <a:ext cx="323850" cy="34925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vert="eaVert"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000">
                <a:latin typeface="Arial" panose="020B0604020202020204" pitchFamily="34" charset="0"/>
              </a:endParaRPr>
            </a:p>
          </p:txBody>
        </p:sp>
        <p:sp>
          <p:nvSpPr>
            <p:cNvPr id="19486" name="Rectangle 6"/>
            <p:cNvSpPr>
              <a:spLocks noChangeArrowheads="1"/>
            </p:cNvSpPr>
            <p:nvPr/>
          </p:nvSpPr>
          <p:spPr bwMode="auto">
            <a:xfrm rot="16200000" flipV="1">
              <a:off x="5758655" y="3079834"/>
              <a:ext cx="323850" cy="349250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vert="eaVert"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000">
                <a:latin typeface="Arial" panose="020B0604020202020204" pitchFamily="34" charset="0"/>
              </a:endParaRPr>
            </a:p>
          </p:txBody>
        </p:sp>
        <p:sp>
          <p:nvSpPr>
            <p:cNvPr id="19487" name="Rectangle 7"/>
            <p:cNvSpPr>
              <a:spLocks noChangeArrowheads="1"/>
            </p:cNvSpPr>
            <p:nvPr/>
          </p:nvSpPr>
          <p:spPr bwMode="auto">
            <a:xfrm rot="16200000" flipV="1">
              <a:off x="5412580" y="3079834"/>
              <a:ext cx="323850" cy="34925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vert="eaVert"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000">
                <a:latin typeface="Arial" panose="020B0604020202020204" pitchFamily="34" charset="0"/>
              </a:endParaRPr>
            </a:p>
          </p:txBody>
        </p:sp>
        <p:sp>
          <p:nvSpPr>
            <p:cNvPr id="19488" name="Rectangle 8"/>
            <p:cNvSpPr>
              <a:spLocks noChangeArrowheads="1"/>
            </p:cNvSpPr>
            <p:nvPr/>
          </p:nvSpPr>
          <p:spPr bwMode="auto">
            <a:xfrm rot="16200000" flipV="1">
              <a:off x="6625430" y="3079834"/>
              <a:ext cx="323850" cy="349250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vert="eaVert"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000">
                <a:latin typeface="Arial" panose="020B0604020202020204" pitchFamily="34" charset="0"/>
              </a:endParaRPr>
            </a:p>
          </p:txBody>
        </p:sp>
        <p:sp>
          <p:nvSpPr>
            <p:cNvPr id="19489" name="Rectangle 9"/>
            <p:cNvSpPr>
              <a:spLocks noChangeArrowheads="1"/>
            </p:cNvSpPr>
            <p:nvPr/>
          </p:nvSpPr>
          <p:spPr bwMode="auto">
            <a:xfrm rot="16200000" flipV="1">
              <a:off x="6279355" y="3079834"/>
              <a:ext cx="323850" cy="34925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vert="eaVert"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000">
                <a:latin typeface="Arial" panose="020B0604020202020204" pitchFamily="34" charset="0"/>
              </a:endParaRPr>
            </a:p>
          </p:txBody>
        </p:sp>
        <p:sp>
          <p:nvSpPr>
            <p:cNvPr id="19490" name="Rectangle 10"/>
            <p:cNvSpPr>
              <a:spLocks noChangeArrowheads="1"/>
            </p:cNvSpPr>
            <p:nvPr/>
          </p:nvSpPr>
          <p:spPr bwMode="auto">
            <a:xfrm rot="5400000" flipH="1" flipV="1">
              <a:off x="4558505" y="3548147"/>
              <a:ext cx="323850" cy="349250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000">
                <a:latin typeface="Arial" panose="020B0604020202020204" pitchFamily="34" charset="0"/>
              </a:endParaRPr>
            </a:p>
          </p:txBody>
        </p:sp>
        <p:sp>
          <p:nvSpPr>
            <p:cNvPr id="19491" name="Rectangle 11"/>
            <p:cNvSpPr>
              <a:spLocks noChangeArrowheads="1"/>
            </p:cNvSpPr>
            <p:nvPr/>
          </p:nvSpPr>
          <p:spPr bwMode="auto">
            <a:xfrm rot="5400000" flipH="1" flipV="1">
              <a:off x="4904580" y="3548147"/>
              <a:ext cx="323850" cy="34925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000">
                <a:latin typeface="Arial" panose="020B0604020202020204" pitchFamily="34" charset="0"/>
              </a:endParaRPr>
            </a:p>
          </p:txBody>
        </p:sp>
        <p:sp>
          <p:nvSpPr>
            <p:cNvPr id="19492" name="Rectangle 12"/>
            <p:cNvSpPr>
              <a:spLocks noChangeArrowheads="1"/>
            </p:cNvSpPr>
            <p:nvPr/>
          </p:nvSpPr>
          <p:spPr bwMode="auto">
            <a:xfrm rot="5400000" flipH="1" flipV="1">
              <a:off x="5425280" y="3548147"/>
              <a:ext cx="323850" cy="349250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000">
                <a:latin typeface="Arial" panose="020B0604020202020204" pitchFamily="34" charset="0"/>
              </a:endParaRPr>
            </a:p>
          </p:txBody>
        </p:sp>
        <p:sp>
          <p:nvSpPr>
            <p:cNvPr id="19493" name="Rectangle 13"/>
            <p:cNvSpPr>
              <a:spLocks noChangeArrowheads="1"/>
            </p:cNvSpPr>
            <p:nvPr/>
          </p:nvSpPr>
          <p:spPr bwMode="auto">
            <a:xfrm rot="5400000" flipH="1" flipV="1">
              <a:off x="5771355" y="3548147"/>
              <a:ext cx="323850" cy="34925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000">
                <a:latin typeface="Arial" panose="020B0604020202020204" pitchFamily="34" charset="0"/>
              </a:endParaRPr>
            </a:p>
          </p:txBody>
        </p:sp>
        <p:sp>
          <p:nvSpPr>
            <p:cNvPr id="19494" name="Rectangle 14"/>
            <p:cNvSpPr>
              <a:spLocks noChangeArrowheads="1"/>
            </p:cNvSpPr>
            <p:nvPr/>
          </p:nvSpPr>
          <p:spPr bwMode="auto">
            <a:xfrm rot="5400000" flipH="1" flipV="1">
              <a:off x="6292055" y="3548147"/>
              <a:ext cx="323850" cy="349250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000">
                <a:latin typeface="Arial" panose="020B0604020202020204" pitchFamily="34" charset="0"/>
              </a:endParaRPr>
            </a:p>
          </p:txBody>
        </p:sp>
        <p:sp>
          <p:nvSpPr>
            <p:cNvPr id="19495" name="Rectangle 15"/>
            <p:cNvSpPr>
              <a:spLocks noChangeArrowheads="1"/>
            </p:cNvSpPr>
            <p:nvPr/>
          </p:nvSpPr>
          <p:spPr bwMode="auto">
            <a:xfrm rot="5400000" flipH="1" flipV="1">
              <a:off x="6638130" y="3548147"/>
              <a:ext cx="323850" cy="34925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000">
                <a:latin typeface="Arial" panose="020B0604020202020204" pitchFamily="34" charset="0"/>
              </a:endParaRPr>
            </a:p>
          </p:txBody>
        </p:sp>
      </p:grpSp>
      <p:sp>
        <p:nvSpPr>
          <p:cNvPr id="19472" name="Text Box 16"/>
          <p:cNvSpPr txBox="1">
            <a:spLocks noChangeArrowheads="1"/>
          </p:cNvSpPr>
          <p:nvPr/>
        </p:nvSpPr>
        <p:spPr bwMode="auto">
          <a:xfrm>
            <a:off x="7639050" y="4446052"/>
            <a:ext cx="2439987" cy="81136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tIns="36000" bIns="36000" anchor="t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E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s-ES" sz="24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mag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se reduce pero 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 </a:t>
            </a:r>
            <a:r>
              <a:rPr lang="es-ES" sz="24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grpSp>
        <p:nvGrpSpPr>
          <p:cNvPr id="9" name="Grupo 8"/>
          <p:cNvGrpSpPr/>
          <p:nvPr/>
        </p:nvGrpSpPr>
        <p:grpSpPr>
          <a:xfrm>
            <a:off x="7639050" y="3473471"/>
            <a:ext cx="2439987" cy="688182"/>
            <a:chOff x="7639050" y="3092539"/>
            <a:chExt cx="2439987" cy="688182"/>
          </a:xfrm>
        </p:grpSpPr>
        <p:sp>
          <p:nvSpPr>
            <p:cNvPr id="19471" name="Rectangle 17"/>
            <p:cNvSpPr>
              <a:spLocks noChangeArrowheads="1"/>
            </p:cNvSpPr>
            <p:nvPr/>
          </p:nvSpPr>
          <p:spPr bwMode="auto">
            <a:xfrm rot="16200000" flipV="1">
              <a:off x="8008937" y="3079839"/>
              <a:ext cx="323850" cy="349250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vert="eaVert"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000">
                <a:latin typeface="Arial" panose="020B0604020202020204" pitchFamily="34" charset="0"/>
              </a:endParaRPr>
            </a:p>
          </p:txBody>
        </p:sp>
        <p:sp>
          <p:nvSpPr>
            <p:cNvPr id="4" name="Rectangle 18"/>
            <p:cNvSpPr>
              <a:spLocks noChangeArrowheads="1"/>
            </p:cNvSpPr>
            <p:nvPr/>
          </p:nvSpPr>
          <p:spPr bwMode="auto">
            <a:xfrm rot="16200000" flipV="1">
              <a:off x="7651750" y="3079839"/>
              <a:ext cx="323850" cy="34925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vert="eaVert"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000">
                <a:latin typeface="Arial" panose="020B0604020202020204" pitchFamily="34" charset="0"/>
              </a:endParaRPr>
            </a:p>
          </p:txBody>
        </p:sp>
        <p:sp>
          <p:nvSpPr>
            <p:cNvPr id="19473" name="Rectangle 19"/>
            <p:cNvSpPr>
              <a:spLocks noChangeArrowheads="1"/>
            </p:cNvSpPr>
            <p:nvPr/>
          </p:nvSpPr>
          <p:spPr bwMode="auto">
            <a:xfrm rot="16200000" flipV="1">
              <a:off x="8875712" y="3079839"/>
              <a:ext cx="323850" cy="349250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vert="eaVert"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000">
                <a:latin typeface="Arial" panose="020B0604020202020204" pitchFamily="34" charset="0"/>
              </a:endParaRPr>
            </a:p>
          </p:txBody>
        </p:sp>
        <p:sp>
          <p:nvSpPr>
            <p:cNvPr id="19474" name="Rectangle 20"/>
            <p:cNvSpPr>
              <a:spLocks noChangeArrowheads="1"/>
            </p:cNvSpPr>
            <p:nvPr/>
          </p:nvSpPr>
          <p:spPr bwMode="auto">
            <a:xfrm rot="16200000" flipV="1">
              <a:off x="8518525" y="3079839"/>
              <a:ext cx="323850" cy="34925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vert="eaVert"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000">
                <a:latin typeface="Arial" panose="020B0604020202020204" pitchFamily="34" charset="0"/>
              </a:endParaRPr>
            </a:p>
          </p:txBody>
        </p:sp>
        <p:sp>
          <p:nvSpPr>
            <p:cNvPr id="19475" name="Rectangle 21"/>
            <p:cNvSpPr>
              <a:spLocks noChangeArrowheads="1"/>
            </p:cNvSpPr>
            <p:nvPr/>
          </p:nvSpPr>
          <p:spPr bwMode="auto">
            <a:xfrm rot="16200000" flipV="1">
              <a:off x="9742487" y="3079839"/>
              <a:ext cx="323850" cy="349250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vert="eaVert"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000">
                <a:latin typeface="Arial" panose="020B0604020202020204" pitchFamily="34" charset="0"/>
              </a:endParaRPr>
            </a:p>
          </p:txBody>
        </p:sp>
        <p:sp>
          <p:nvSpPr>
            <p:cNvPr id="19476" name="Rectangle 22"/>
            <p:cNvSpPr>
              <a:spLocks noChangeArrowheads="1"/>
            </p:cNvSpPr>
            <p:nvPr/>
          </p:nvSpPr>
          <p:spPr bwMode="auto">
            <a:xfrm rot="16200000" flipV="1">
              <a:off x="9385299" y="3079839"/>
              <a:ext cx="323850" cy="34925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vert="eaVert"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000">
                <a:latin typeface="Arial" panose="020B0604020202020204" pitchFamily="34" charset="0"/>
              </a:endParaRPr>
            </a:p>
          </p:txBody>
        </p:sp>
        <p:sp>
          <p:nvSpPr>
            <p:cNvPr id="19477" name="Rectangle 23"/>
            <p:cNvSpPr>
              <a:spLocks noChangeArrowheads="1"/>
            </p:cNvSpPr>
            <p:nvPr/>
          </p:nvSpPr>
          <p:spPr bwMode="auto">
            <a:xfrm rot="5400000" flipH="1" flipV="1">
              <a:off x="7739062" y="3538627"/>
              <a:ext cx="233363" cy="250825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000">
                <a:latin typeface="Arial" panose="020B0604020202020204" pitchFamily="34" charset="0"/>
              </a:endParaRPr>
            </a:p>
          </p:txBody>
        </p:sp>
        <p:sp>
          <p:nvSpPr>
            <p:cNvPr id="19478" name="Rectangle 24"/>
            <p:cNvSpPr>
              <a:spLocks noChangeArrowheads="1"/>
            </p:cNvSpPr>
            <p:nvPr/>
          </p:nvSpPr>
          <p:spPr bwMode="auto">
            <a:xfrm rot="5400000" flipH="1" flipV="1">
              <a:off x="7989887" y="3538627"/>
              <a:ext cx="233363" cy="250825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000">
                <a:latin typeface="Arial" panose="020B0604020202020204" pitchFamily="34" charset="0"/>
              </a:endParaRPr>
            </a:p>
          </p:txBody>
        </p:sp>
        <p:sp>
          <p:nvSpPr>
            <p:cNvPr id="19479" name="Rectangle 25"/>
            <p:cNvSpPr>
              <a:spLocks noChangeArrowheads="1"/>
            </p:cNvSpPr>
            <p:nvPr/>
          </p:nvSpPr>
          <p:spPr bwMode="auto">
            <a:xfrm rot="5400000" flipH="1" flipV="1">
              <a:off x="8605837" y="3538627"/>
              <a:ext cx="233363" cy="250825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000">
                <a:latin typeface="Arial" panose="020B0604020202020204" pitchFamily="34" charset="0"/>
              </a:endParaRPr>
            </a:p>
          </p:txBody>
        </p:sp>
        <p:sp>
          <p:nvSpPr>
            <p:cNvPr id="19480" name="Rectangle 26"/>
            <p:cNvSpPr>
              <a:spLocks noChangeArrowheads="1"/>
            </p:cNvSpPr>
            <p:nvPr/>
          </p:nvSpPr>
          <p:spPr bwMode="auto">
            <a:xfrm rot="5400000" flipH="1" flipV="1">
              <a:off x="8845550" y="3538627"/>
              <a:ext cx="233363" cy="250825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000">
                <a:latin typeface="Arial" panose="020B0604020202020204" pitchFamily="34" charset="0"/>
              </a:endParaRPr>
            </a:p>
          </p:txBody>
        </p:sp>
        <p:sp>
          <p:nvSpPr>
            <p:cNvPr id="19481" name="Rectangle 27"/>
            <p:cNvSpPr>
              <a:spLocks noChangeArrowheads="1"/>
            </p:cNvSpPr>
            <p:nvPr/>
          </p:nvSpPr>
          <p:spPr bwMode="auto">
            <a:xfrm rot="5400000" flipH="1" flipV="1">
              <a:off x="9472612" y="3538627"/>
              <a:ext cx="233363" cy="250825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000">
                <a:latin typeface="Arial" panose="020B0604020202020204" pitchFamily="34" charset="0"/>
              </a:endParaRPr>
            </a:p>
          </p:txBody>
        </p:sp>
        <p:sp>
          <p:nvSpPr>
            <p:cNvPr id="19482" name="Rectangle 28"/>
            <p:cNvSpPr>
              <a:spLocks noChangeArrowheads="1"/>
            </p:cNvSpPr>
            <p:nvPr/>
          </p:nvSpPr>
          <p:spPr bwMode="auto">
            <a:xfrm rot="5400000" flipH="1" flipV="1">
              <a:off x="9712324" y="3538627"/>
              <a:ext cx="233363" cy="250825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000">
                <a:latin typeface="Arial" panose="020B0604020202020204" pitchFamily="34" charset="0"/>
              </a:endParaRPr>
            </a:p>
          </p:txBody>
        </p:sp>
      </p:grpSp>
      <p:sp>
        <p:nvSpPr>
          <p:cNvPr id="45" name="Text Box 82"/>
          <p:cNvSpPr txBox="1">
            <a:spLocks noChangeArrowheads="1"/>
          </p:cNvSpPr>
          <p:nvPr/>
        </p:nvSpPr>
        <p:spPr bwMode="auto">
          <a:xfrm>
            <a:off x="1448740" y="1443677"/>
            <a:ext cx="2496194" cy="558614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cs typeface="Arial" panose="020B0604020202020204" pitchFamily="34" charset="0"/>
              </a:rPr>
              <a:t>Ferromagnéticos</a:t>
            </a:r>
          </a:p>
        </p:txBody>
      </p:sp>
      <p:sp>
        <p:nvSpPr>
          <p:cNvPr id="48" name="Text Box 3"/>
          <p:cNvSpPr txBox="1">
            <a:spLocks noChangeArrowheads="1"/>
          </p:cNvSpPr>
          <p:nvPr/>
        </p:nvSpPr>
        <p:spPr bwMode="auto">
          <a:xfrm>
            <a:off x="1468904" y="4437901"/>
            <a:ext cx="2476500" cy="810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tIns="108000" bIns="1080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s-ES" sz="240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ES" sz="2400" b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s-ES" sz="2400" baseline="-25000">
                <a:latin typeface="Arial" panose="020B0604020202020204" pitchFamily="34" charset="0"/>
                <a:cs typeface="Arial" panose="020B0604020202020204" pitchFamily="34" charset="0"/>
              </a:rPr>
              <a:t>mag</a:t>
            </a:r>
            <a:r>
              <a:rPr lang="es-E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 </a:t>
            </a:r>
            <a:r>
              <a:rPr lang="es-ES" sz="2400" b="1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s-ES" sz="240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grpSp>
        <p:nvGrpSpPr>
          <p:cNvPr id="7" name="Grupo 6"/>
          <p:cNvGrpSpPr/>
          <p:nvPr/>
        </p:nvGrpSpPr>
        <p:grpSpPr>
          <a:xfrm>
            <a:off x="1468904" y="3441936"/>
            <a:ext cx="2441575" cy="792163"/>
            <a:chOff x="1468904" y="3092534"/>
            <a:chExt cx="2441575" cy="792163"/>
          </a:xfrm>
        </p:grpSpPr>
        <p:sp>
          <p:nvSpPr>
            <p:cNvPr id="49" name="Rectangle 4"/>
            <p:cNvSpPr>
              <a:spLocks noChangeArrowheads="1"/>
            </p:cNvSpPr>
            <p:nvPr/>
          </p:nvSpPr>
          <p:spPr bwMode="auto">
            <a:xfrm rot="16200000" flipV="1">
              <a:off x="1827679" y="3079834"/>
              <a:ext cx="323850" cy="349250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vert="eaVert"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000">
                <a:latin typeface="Arial" panose="020B0604020202020204" pitchFamily="34" charset="0"/>
              </a:endParaRPr>
            </a:p>
          </p:txBody>
        </p:sp>
        <p:sp>
          <p:nvSpPr>
            <p:cNvPr id="50" name="Rectangle 5"/>
            <p:cNvSpPr>
              <a:spLocks noChangeArrowheads="1"/>
            </p:cNvSpPr>
            <p:nvPr/>
          </p:nvSpPr>
          <p:spPr bwMode="auto">
            <a:xfrm rot="16200000" flipV="1">
              <a:off x="1481604" y="3079834"/>
              <a:ext cx="323850" cy="34925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vert="eaVert"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000">
                <a:latin typeface="Arial" panose="020B0604020202020204" pitchFamily="34" charset="0"/>
              </a:endParaRPr>
            </a:p>
          </p:txBody>
        </p:sp>
        <p:sp>
          <p:nvSpPr>
            <p:cNvPr id="51" name="Rectangle 6"/>
            <p:cNvSpPr>
              <a:spLocks noChangeArrowheads="1"/>
            </p:cNvSpPr>
            <p:nvPr/>
          </p:nvSpPr>
          <p:spPr bwMode="auto">
            <a:xfrm rot="16200000" flipV="1">
              <a:off x="2694454" y="3079834"/>
              <a:ext cx="323850" cy="349250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vert="eaVert"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000">
                <a:latin typeface="Arial" panose="020B0604020202020204" pitchFamily="34" charset="0"/>
              </a:endParaRPr>
            </a:p>
          </p:txBody>
        </p:sp>
        <p:sp>
          <p:nvSpPr>
            <p:cNvPr id="52" name="Rectangle 7"/>
            <p:cNvSpPr>
              <a:spLocks noChangeArrowheads="1"/>
            </p:cNvSpPr>
            <p:nvPr/>
          </p:nvSpPr>
          <p:spPr bwMode="auto">
            <a:xfrm rot="16200000" flipV="1">
              <a:off x="2348379" y="3079834"/>
              <a:ext cx="323850" cy="34925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vert="eaVert"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000">
                <a:latin typeface="Arial" panose="020B0604020202020204" pitchFamily="34" charset="0"/>
              </a:endParaRPr>
            </a:p>
          </p:txBody>
        </p:sp>
        <p:sp>
          <p:nvSpPr>
            <p:cNvPr id="53" name="Rectangle 8"/>
            <p:cNvSpPr>
              <a:spLocks noChangeArrowheads="1"/>
            </p:cNvSpPr>
            <p:nvPr/>
          </p:nvSpPr>
          <p:spPr bwMode="auto">
            <a:xfrm rot="16200000" flipV="1">
              <a:off x="3561229" y="3079834"/>
              <a:ext cx="323850" cy="349250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vert="eaVert"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000">
                <a:latin typeface="Arial" panose="020B0604020202020204" pitchFamily="34" charset="0"/>
              </a:endParaRPr>
            </a:p>
          </p:txBody>
        </p:sp>
        <p:sp>
          <p:nvSpPr>
            <p:cNvPr id="54" name="Rectangle 9"/>
            <p:cNvSpPr>
              <a:spLocks noChangeArrowheads="1"/>
            </p:cNvSpPr>
            <p:nvPr/>
          </p:nvSpPr>
          <p:spPr bwMode="auto">
            <a:xfrm rot="16200000" flipV="1">
              <a:off x="3215154" y="3079834"/>
              <a:ext cx="323850" cy="34925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vert="eaVert"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000">
                <a:latin typeface="Arial" panose="020B0604020202020204" pitchFamily="34" charset="0"/>
              </a:endParaRPr>
            </a:p>
          </p:txBody>
        </p:sp>
        <p:sp>
          <p:nvSpPr>
            <p:cNvPr id="55" name="Rectangle 10"/>
            <p:cNvSpPr>
              <a:spLocks noChangeArrowheads="1"/>
            </p:cNvSpPr>
            <p:nvPr/>
          </p:nvSpPr>
          <p:spPr bwMode="auto">
            <a:xfrm rot="5400000" flipH="1" flipV="1">
              <a:off x="1494304" y="3548147"/>
              <a:ext cx="323850" cy="34925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000">
                <a:latin typeface="Arial" panose="020B0604020202020204" pitchFamily="34" charset="0"/>
              </a:endParaRPr>
            </a:p>
          </p:txBody>
        </p:sp>
        <p:sp>
          <p:nvSpPr>
            <p:cNvPr id="56" name="Rectangle 11"/>
            <p:cNvSpPr>
              <a:spLocks noChangeArrowheads="1"/>
            </p:cNvSpPr>
            <p:nvPr/>
          </p:nvSpPr>
          <p:spPr bwMode="auto">
            <a:xfrm rot="5400000" flipH="1" flipV="1">
              <a:off x="1840379" y="3548147"/>
              <a:ext cx="323850" cy="349250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rgbClr val="3366FF"/>
              </a:solidFill>
              <a:miter lim="800000"/>
              <a:headEnd/>
              <a:tailEnd/>
            </a:ln>
          </p:spPr>
          <p:txBody>
            <a:bodyPr vert="eaVert"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000">
                <a:solidFill>
                  <a:srgbClr val="3333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7" name="Rectangle 12"/>
            <p:cNvSpPr>
              <a:spLocks noChangeArrowheads="1"/>
            </p:cNvSpPr>
            <p:nvPr/>
          </p:nvSpPr>
          <p:spPr bwMode="auto">
            <a:xfrm rot="5400000" flipH="1" flipV="1">
              <a:off x="2361079" y="3548147"/>
              <a:ext cx="323850" cy="34925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000">
                <a:latin typeface="Arial" panose="020B0604020202020204" pitchFamily="34" charset="0"/>
              </a:endParaRPr>
            </a:p>
          </p:txBody>
        </p:sp>
        <p:sp>
          <p:nvSpPr>
            <p:cNvPr id="58" name="Rectangle 13"/>
            <p:cNvSpPr>
              <a:spLocks noChangeArrowheads="1"/>
            </p:cNvSpPr>
            <p:nvPr/>
          </p:nvSpPr>
          <p:spPr bwMode="auto">
            <a:xfrm rot="5400000" flipH="1" flipV="1">
              <a:off x="2707154" y="3548147"/>
              <a:ext cx="323850" cy="349250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rgbClr val="3366FF"/>
              </a:solidFill>
              <a:miter lim="800000"/>
              <a:headEnd/>
              <a:tailEnd/>
            </a:ln>
          </p:spPr>
          <p:txBody>
            <a:bodyPr vert="eaVert"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000">
                <a:solidFill>
                  <a:srgbClr val="3333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9" name="Rectangle 14"/>
            <p:cNvSpPr>
              <a:spLocks noChangeArrowheads="1"/>
            </p:cNvSpPr>
            <p:nvPr/>
          </p:nvSpPr>
          <p:spPr bwMode="auto">
            <a:xfrm rot="5400000" flipH="1" flipV="1">
              <a:off x="3227854" y="3548147"/>
              <a:ext cx="323850" cy="34925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000">
                <a:latin typeface="Arial" panose="020B0604020202020204" pitchFamily="34" charset="0"/>
              </a:endParaRPr>
            </a:p>
          </p:txBody>
        </p:sp>
        <p:sp>
          <p:nvSpPr>
            <p:cNvPr id="60" name="Rectangle 15"/>
            <p:cNvSpPr>
              <a:spLocks noChangeArrowheads="1"/>
            </p:cNvSpPr>
            <p:nvPr/>
          </p:nvSpPr>
          <p:spPr bwMode="auto">
            <a:xfrm rot="5400000" flipH="1" flipV="1">
              <a:off x="3573929" y="3548147"/>
              <a:ext cx="323850" cy="349250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rgbClr val="3366FF"/>
              </a:solidFill>
              <a:miter lim="800000"/>
              <a:headEnd/>
              <a:tailEnd/>
            </a:ln>
          </p:spPr>
          <p:txBody>
            <a:bodyPr vert="eaVert"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000">
                <a:solidFill>
                  <a:srgbClr val="3333FF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61" name="Text Box 49"/>
          <p:cNvSpPr txBox="1">
            <a:spLocks noChangeArrowheads="1"/>
          </p:cNvSpPr>
          <p:nvPr/>
        </p:nvSpPr>
        <p:spPr bwMode="auto">
          <a:xfrm>
            <a:off x="7639050" y="1444476"/>
            <a:ext cx="2439987" cy="536549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Ferrimagnéticos</a:t>
            </a:r>
          </a:p>
        </p:txBody>
      </p:sp>
      <p:sp>
        <p:nvSpPr>
          <p:cNvPr id="62" name="Text Box 78"/>
          <p:cNvSpPr txBox="1">
            <a:spLocks noChangeArrowheads="1"/>
          </p:cNvSpPr>
          <p:nvPr/>
        </p:nvSpPr>
        <p:spPr bwMode="auto">
          <a:xfrm>
            <a:off x="1280160" y="2092695"/>
            <a:ext cx="2780024" cy="90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</a:rPr>
              <a:t>Tras desaplicar </a:t>
            </a:r>
            <a:r>
              <a:rPr lang="es-ES" sz="2400" b="1">
                <a:solidFill>
                  <a:srgbClr val="008000"/>
                </a:solidFill>
                <a:latin typeface="Arial" panose="020B0604020202020204" pitchFamily="34" charset="0"/>
              </a:rPr>
              <a:t>B 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</a:rPr>
              <a:t>se mantiene orden</a:t>
            </a:r>
          </a:p>
        </p:txBody>
      </p:sp>
      <p:sp>
        <p:nvSpPr>
          <p:cNvPr id="63" name="Text Box 78"/>
          <p:cNvSpPr txBox="1">
            <a:spLocks noChangeArrowheads="1"/>
          </p:cNvSpPr>
          <p:nvPr/>
        </p:nvSpPr>
        <p:spPr bwMode="auto">
          <a:xfrm>
            <a:off x="4356860" y="2080886"/>
            <a:ext cx="2761490" cy="1275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</a:rPr>
              <a:t>Tras desaplicar </a:t>
            </a:r>
            <a:r>
              <a:rPr lang="es-ES" sz="2400" b="1" dirty="0">
                <a:solidFill>
                  <a:srgbClr val="008000"/>
                </a:solidFill>
                <a:latin typeface="Arial" panose="020B0604020202020204" pitchFamily="34" charset="0"/>
              </a:rPr>
              <a:t>B </a:t>
            </a: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</a:rPr>
              <a:t>se giran la mitad de los dipolos</a:t>
            </a:r>
          </a:p>
        </p:txBody>
      </p:sp>
      <p:sp>
        <p:nvSpPr>
          <p:cNvPr id="64" name="Text Box 78"/>
          <p:cNvSpPr txBox="1">
            <a:spLocks noChangeArrowheads="1"/>
          </p:cNvSpPr>
          <p:nvPr/>
        </p:nvSpPr>
        <p:spPr bwMode="auto">
          <a:xfrm>
            <a:off x="7296600" y="2106592"/>
            <a:ext cx="3104700" cy="1275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</a:rPr>
              <a:t>Tras desaplicar </a:t>
            </a:r>
            <a:r>
              <a:rPr lang="es-ES" sz="2400" b="1" dirty="0">
                <a:solidFill>
                  <a:srgbClr val="008000"/>
                </a:solidFill>
                <a:latin typeface="Arial" panose="020B0604020202020204" pitchFamily="34" charset="0"/>
              </a:rPr>
              <a:t>B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</a:rPr>
              <a:t>se giran la mitad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</a:rPr>
              <a:t>que son diferentes</a:t>
            </a:r>
          </a:p>
        </p:txBody>
      </p:sp>
      <p:grpSp>
        <p:nvGrpSpPr>
          <p:cNvPr id="6" name="Grupo 5"/>
          <p:cNvGrpSpPr/>
          <p:nvPr/>
        </p:nvGrpSpPr>
        <p:grpSpPr>
          <a:xfrm>
            <a:off x="1448740" y="5374969"/>
            <a:ext cx="2496194" cy="1514358"/>
            <a:chOff x="1448740" y="4221732"/>
            <a:chExt cx="2496194" cy="1514358"/>
          </a:xfrm>
        </p:grpSpPr>
        <p:sp>
          <p:nvSpPr>
            <p:cNvPr id="65" name="Text Box 80"/>
            <p:cNvSpPr txBox="1">
              <a:spLocks noChangeArrowheads="1"/>
            </p:cNvSpPr>
            <p:nvPr/>
          </p:nvSpPr>
          <p:spPr bwMode="auto">
            <a:xfrm>
              <a:off x="1448740" y="4764090"/>
              <a:ext cx="2496194" cy="9720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wrap="square" lIns="90000" tIns="108000" rIns="90000" bIns="1080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  <a:defRPr/>
              </a:pPr>
              <a:r>
                <a:rPr lang="es-ES" sz="2400">
                  <a:latin typeface="Arial" panose="020B0604020202020204" pitchFamily="34" charset="0"/>
                </a:rPr>
                <a:t>Se deshace</a:t>
              </a:r>
            </a:p>
            <a:p>
              <a:pPr algn="ctr" eaLnBrk="1" hangingPunct="1">
                <a:spcBef>
                  <a:spcPts val="0"/>
                </a:spcBef>
                <a:buFontTx/>
                <a:buNone/>
                <a:defRPr/>
              </a:pPr>
              <a:r>
                <a:rPr lang="es-ES" sz="2400">
                  <a:latin typeface="Arial" panose="020B0604020202020204" pitchFamily="34" charset="0"/>
                </a:rPr>
                <a:t>a la </a:t>
              </a:r>
              <a:r>
                <a:rPr lang="es-ES" sz="2400">
                  <a:solidFill>
                    <a:srgbClr val="3333FF"/>
                  </a:solidFill>
                  <a:latin typeface="Arial" panose="020B0604020202020204" pitchFamily="34" charset="0"/>
                </a:rPr>
                <a:t>T</a:t>
              </a:r>
              <a:r>
                <a:rPr lang="es-ES" sz="2400" baseline="-25000">
                  <a:solidFill>
                    <a:srgbClr val="3333FF"/>
                  </a:solidFill>
                  <a:latin typeface="Arial" panose="020B0604020202020204" pitchFamily="34" charset="0"/>
                </a:rPr>
                <a:t>CURIE</a:t>
              </a:r>
              <a:endParaRPr lang="es-ES" sz="2400" dirty="0">
                <a:solidFill>
                  <a:srgbClr val="3333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" name="Flecha abajo 4"/>
            <p:cNvSpPr/>
            <p:nvPr/>
          </p:nvSpPr>
          <p:spPr bwMode="auto">
            <a:xfrm>
              <a:off x="2340441" y="4221732"/>
              <a:ext cx="682625" cy="479696"/>
            </a:xfrm>
            <a:prstGeom prst="downArrow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none" lIns="90000" tIns="82800" rIns="90000" bIns="82800" numCol="1" rtlCol="0" anchor="t" anchorCtr="1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-2500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3" name="CuadroTexto 2"/>
          <p:cNvSpPr txBox="1"/>
          <p:nvPr/>
        </p:nvSpPr>
        <p:spPr>
          <a:xfrm>
            <a:off x="1313487" y="353180"/>
            <a:ext cx="8876077" cy="88407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txBody>
          <a:bodyPr wrap="square" lIns="180000" tIns="72000" rIns="180000" bIns="72000" rtlCol="0" anchor="ctr" anchorCtr="0">
            <a:spAutoFit/>
          </a:bodyPr>
          <a:lstStyle/>
          <a:p>
            <a:r>
              <a:rPr lang="es-ES" sz="2400" dirty="0">
                <a:solidFill>
                  <a:schemeClr val="tx1"/>
                </a:solidFill>
              </a:rPr>
              <a:t>Los </a:t>
            </a:r>
            <a:r>
              <a:rPr lang="es-ES" sz="2400" dirty="0">
                <a:solidFill>
                  <a:srgbClr val="008000"/>
                </a:solidFill>
              </a:rPr>
              <a:t>“ferromagnéticos”</a:t>
            </a:r>
            <a:r>
              <a:rPr lang="es-ES" sz="2400" dirty="0">
                <a:solidFill>
                  <a:schemeClr val="tx1"/>
                </a:solidFill>
              </a:rPr>
              <a:t>, según el efecto de la interacción entre dipolos sobre la orientación de los dipolos, se clasifican en: </a:t>
            </a: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56D57C56-86AE-424B-B35E-188C125B12E1}"/>
              </a:ext>
            </a:extLst>
          </p:cNvPr>
          <p:cNvGrpSpPr/>
          <p:nvPr/>
        </p:nvGrpSpPr>
        <p:grpSpPr>
          <a:xfrm>
            <a:off x="4545805" y="5399773"/>
            <a:ext cx="5533232" cy="1505753"/>
            <a:chOff x="4545805" y="5399773"/>
            <a:chExt cx="5533232" cy="1505753"/>
          </a:xfrm>
        </p:grpSpPr>
        <p:sp>
          <p:nvSpPr>
            <p:cNvPr id="19470" name="Text Box 80"/>
            <p:cNvSpPr txBox="1">
              <a:spLocks noChangeArrowheads="1"/>
            </p:cNvSpPr>
            <p:nvPr/>
          </p:nvSpPr>
          <p:spPr bwMode="auto">
            <a:xfrm>
              <a:off x="4545805" y="5933526"/>
              <a:ext cx="5533232" cy="9720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wrap="square" lIns="90000" tIns="108000" rIns="90000" bIns="1080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  <a:defRPr/>
              </a:pPr>
              <a:r>
                <a:rPr lang="es-ES" sz="2400">
                  <a:latin typeface="Arial" panose="020B0604020202020204" pitchFamily="34" charset="0"/>
                </a:rPr>
                <a:t>Se deshace el orden</a:t>
              </a:r>
              <a:endParaRPr lang="es-ES" sz="2400" dirty="0">
                <a:latin typeface="Arial" panose="020B0604020202020204" pitchFamily="34" charset="0"/>
              </a:endParaRPr>
            </a:p>
            <a:p>
              <a:pPr algn="ctr" eaLnBrk="1" hangingPunct="1">
                <a:spcBef>
                  <a:spcPts val="0"/>
                </a:spcBef>
                <a:buFontTx/>
                <a:buNone/>
                <a:defRPr/>
              </a:pPr>
              <a:r>
                <a:rPr lang="es-ES" sz="2400" dirty="0">
                  <a:latin typeface="Arial" panose="020B0604020202020204" pitchFamily="34" charset="0"/>
                </a:rPr>
                <a:t>a la </a:t>
              </a:r>
              <a:r>
                <a:rPr lang="es-ES" sz="2400" dirty="0">
                  <a:solidFill>
                    <a:srgbClr val="3333FF"/>
                  </a:solidFill>
                  <a:latin typeface="Arial" panose="020B0604020202020204" pitchFamily="34" charset="0"/>
                </a:rPr>
                <a:t>T</a:t>
              </a:r>
              <a:r>
                <a:rPr lang="es-ES" sz="2400" baseline="-25000" dirty="0">
                  <a:solidFill>
                    <a:srgbClr val="3333FF"/>
                  </a:solidFill>
                  <a:latin typeface="Arial" panose="020B0604020202020204" pitchFamily="34" charset="0"/>
                </a:rPr>
                <a:t>NEEL</a:t>
              </a:r>
              <a:endParaRPr lang="es-ES" sz="2400" dirty="0">
                <a:solidFill>
                  <a:srgbClr val="3333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6" name="Flecha abajo 4">
              <a:extLst>
                <a:ext uri="{FF2B5EF4-FFF2-40B4-BE49-F238E27FC236}">
                  <a16:creationId xmlns:a16="http://schemas.microsoft.com/office/drawing/2014/main" id="{1CC6D661-A2D7-44A8-8CB7-668DCB1C28FF}"/>
                </a:ext>
              </a:extLst>
            </p:cNvPr>
            <p:cNvSpPr/>
            <p:nvPr/>
          </p:nvSpPr>
          <p:spPr bwMode="auto">
            <a:xfrm>
              <a:off x="5448695" y="5410408"/>
              <a:ext cx="682625" cy="479696"/>
            </a:xfrm>
            <a:prstGeom prst="downArrow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none" lIns="90000" tIns="82800" rIns="90000" bIns="82800" numCol="1" rtlCol="0" anchor="t" anchorCtr="1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-2500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67" name="Flecha abajo 4">
              <a:extLst>
                <a:ext uri="{FF2B5EF4-FFF2-40B4-BE49-F238E27FC236}">
                  <a16:creationId xmlns:a16="http://schemas.microsoft.com/office/drawing/2014/main" id="{78D96C70-25AC-4258-B117-02FF59CF6BCE}"/>
                </a:ext>
              </a:extLst>
            </p:cNvPr>
            <p:cNvSpPr/>
            <p:nvPr/>
          </p:nvSpPr>
          <p:spPr bwMode="auto">
            <a:xfrm>
              <a:off x="8500258" y="5399773"/>
              <a:ext cx="682625" cy="479696"/>
            </a:xfrm>
            <a:prstGeom prst="downArrow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none" lIns="90000" tIns="82800" rIns="90000" bIns="82800" numCol="1" rtlCol="0" anchor="t" anchorCtr="1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-2500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40186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840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84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9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19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083" grpId="0" animBg="1"/>
      <p:bldP spid="19485" grpId="0" animBg="1"/>
      <p:bldP spid="19472" grpId="0" animBg="1"/>
      <p:bldP spid="45" grpId="0" animBg="1"/>
      <p:bldP spid="48" grpId="0" animBg="1"/>
      <p:bldP spid="61" grpId="0" animBg="1"/>
      <p:bldP spid="62" grpId="0"/>
      <p:bldP spid="63" grpId="0"/>
      <p:bldP spid="64" grpId="0"/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009" name="Text Box 33"/>
          <p:cNvSpPr txBox="1">
            <a:spLocks noChangeArrowheads="1"/>
          </p:cNvSpPr>
          <p:nvPr/>
        </p:nvSpPr>
        <p:spPr bwMode="auto">
          <a:xfrm>
            <a:off x="1253508" y="984332"/>
            <a:ext cx="3292475" cy="1420619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126000" tIns="154800" rIns="126000" bIns="154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Una mayor capacidad de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almacenamiento sin variar su tamaño</a:t>
            </a:r>
            <a:endParaRPr lang="es-ES" sz="2400" baseline="-250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767012" name="Text Box 36"/>
          <p:cNvSpPr txBox="1">
            <a:spLocks noChangeArrowheads="1"/>
          </p:cNvSpPr>
          <p:nvPr/>
        </p:nvSpPr>
        <p:spPr bwMode="auto">
          <a:xfrm>
            <a:off x="1270856" y="3244296"/>
            <a:ext cx="4400014" cy="1695437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wrap="square" lIns="72000" tIns="108000" rIns="72000" bIns="108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None/>
            </a:pPr>
            <a:r>
              <a:rPr lang="es-ES" sz="2400" u="sng" dirty="0">
                <a:latin typeface="Arial" panose="020B0604020202020204" pitchFamily="34" charset="0"/>
                <a:cs typeface="Arial" panose="020B0604020202020204" pitchFamily="34" charset="0"/>
              </a:rPr>
              <a:t>Primera solución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Aumentar la interacción entre los dipolos (usar los materiales con la mayor interacción)</a:t>
            </a:r>
          </a:p>
        </p:txBody>
      </p:sp>
      <p:grpSp>
        <p:nvGrpSpPr>
          <p:cNvPr id="69691" name="Group 59"/>
          <p:cNvGrpSpPr>
            <a:grpSpLocks/>
          </p:cNvGrpSpPr>
          <p:nvPr/>
        </p:nvGrpSpPr>
        <p:grpSpPr bwMode="auto">
          <a:xfrm>
            <a:off x="1267685" y="5043145"/>
            <a:ext cx="4497388" cy="925514"/>
            <a:chOff x="1914" y="3168"/>
            <a:chExt cx="2833" cy="583"/>
          </a:xfrm>
        </p:grpSpPr>
        <p:sp>
          <p:nvSpPr>
            <p:cNvPr id="21525" name="Text Box 43"/>
            <p:cNvSpPr txBox="1">
              <a:spLocks noChangeArrowheads="1"/>
            </p:cNvSpPr>
            <p:nvPr/>
          </p:nvSpPr>
          <p:spPr bwMode="auto">
            <a:xfrm>
              <a:off x="3324" y="3168"/>
              <a:ext cx="1423" cy="583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 anchorCtr="1">
              <a:no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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10</a:t>
              </a:r>
              <a:r>
                <a:rPr lang="es-ES" sz="2400" baseline="30000" dirty="0">
                  <a:solidFill>
                    <a:srgbClr val="000000"/>
                  </a:solidFill>
                  <a:latin typeface="Arial" panose="020B0604020202020204" pitchFamily="34" charset="0"/>
                </a:rPr>
                <a:t>10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 bits/mm</a:t>
              </a:r>
              <a:r>
                <a:rPr lang="es-ES" sz="2400" baseline="30000" dirty="0">
                  <a:solidFill>
                    <a:srgbClr val="000000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2" name="Text Box 44"/>
            <p:cNvSpPr txBox="1">
              <a:spLocks noChangeArrowheads="1"/>
            </p:cNvSpPr>
            <p:nvPr/>
          </p:nvSpPr>
          <p:spPr bwMode="auto">
            <a:xfrm>
              <a:off x="1914" y="3180"/>
              <a:ext cx="1363" cy="571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82800" rIns="90000" bIns="828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  <a:defRPr/>
              </a:pPr>
              <a:r>
                <a:rPr lang="es-ES" sz="2400">
                  <a:latin typeface="Arial" panose="020B0604020202020204" pitchFamily="34" charset="0"/>
                </a:rPr>
                <a:t>Límite teórico  actual </a:t>
              </a:r>
            </a:p>
          </p:txBody>
        </p:sp>
      </p:grpSp>
      <p:sp>
        <p:nvSpPr>
          <p:cNvPr id="767047" name="Text Box 71"/>
          <p:cNvSpPr txBox="1">
            <a:spLocks noChangeArrowheads="1"/>
          </p:cNvSpPr>
          <p:nvPr/>
        </p:nvSpPr>
        <p:spPr bwMode="auto">
          <a:xfrm>
            <a:off x="1243716" y="6098390"/>
            <a:ext cx="9073421" cy="956773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108000" rIns="108000" bIns="108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</a:t>
            </a:r>
            <a:r>
              <a:rPr lang="es-ES" sz="2400" dirty="0">
                <a:latin typeface="Arial" panose="020B0604020202020204" pitchFamily="34" charset="0"/>
              </a:rPr>
              <a:t>10</a:t>
            </a:r>
            <a:r>
              <a:rPr lang="es-ES" sz="2400" baseline="30000" dirty="0">
                <a:latin typeface="Arial" panose="020B0604020202020204" pitchFamily="34" charset="0"/>
              </a:rPr>
              <a:t>10</a:t>
            </a:r>
            <a:r>
              <a:rPr lang="es-ES" sz="2400" dirty="0">
                <a:latin typeface="Arial" panose="020B0604020202020204" pitchFamily="34" charset="0"/>
              </a:rPr>
              <a:t> bits/mm</a:t>
            </a:r>
            <a:r>
              <a:rPr lang="es-ES" sz="2400" baseline="30000" dirty="0">
                <a:latin typeface="Arial" panose="020B0604020202020204" pitchFamily="34" charset="0"/>
              </a:rPr>
              <a:t>2</a:t>
            </a:r>
            <a:r>
              <a:rPr lang="es-ES" sz="2400" dirty="0">
                <a:latin typeface="Arial" panose="020B0604020202020204" pitchFamily="34" charset="0"/>
              </a:rPr>
              <a:t> 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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</a:t>
            </a:r>
            <a:r>
              <a:rPr lang="es-ES" sz="2400" dirty="0">
                <a:latin typeface="Arial" panose="020B0604020202020204" pitchFamily="34" charset="0"/>
              </a:rPr>
              <a:t>10</a:t>
            </a:r>
            <a:r>
              <a:rPr lang="es-ES" sz="2400" baseline="30000" dirty="0">
                <a:latin typeface="Arial" panose="020B0604020202020204" pitchFamily="34" charset="0"/>
              </a:rPr>
              <a:t>1</a:t>
            </a:r>
            <a:r>
              <a:rPr lang="es-ES" sz="2400" dirty="0">
                <a:latin typeface="Arial" panose="020B0604020202020204" pitchFamily="34" charset="0"/>
              </a:rPr>
              <a:t> TB (decenas de TB) para un HD de un disco, de 10 cm de diámetro y 8 bits por byte, usando una cara</a:t>
            </a:r>
          </a:p>
        </p:txBody>
      </p:sp>
      <p:sp>
        <p:nvSpPr>
          <p:cNvPr id="20525" name="Rectangle 41"/>
          <p:cNvSpPr>
            <a:spLocks noChangeArrowheads="1"/>
          </p:cNvSpPr>
          <p:nvPr/>
        </p:nvSpPr>
        <p:spPr bwMode="auto">
          <a:xfrm>
            <a:off x="5885182" y="3271571"/>
            <a:ext cx="4106425" cy="1695437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wrap="square" lIns="72000" tIns="108000" rIns="72000" bIns="108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u="sng" dirty="0">
                <a:latin typeface="Arial" panose="020B0604020202020204" pitchFamily="34" charset="0"/>
                <a:sym typeface="Symbol" panose="05050102010706020507" pitchFamily="18" charset="2"/>
              </a:rPr>
              <a:t>Segunda solución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:       Reducir el área que ocupa en la superficie cada imán, más que el </a:t>
            </a:r>
            <a:r>
              <a:rPr lang="es-ES" sz="2400" dirty="0" err="1">
                <a:latin typeface="Arial" panose="020B0604020202020204" pitchFamily="34" charset="0"/>
                <a:sym typeface="Symbol" panose="05050102010706020507" pitchFamily="18" charset="2"/>
              </a:rPr>
              <a:t>nº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de sus dipolos</a:t>
            </a:r>
          </a:p>
        </p:txBody>
      </p:sp>
      <p:sp>
        <p:nvSpPr>
          <p:cNvPr id="69681" name="Text Box 39"/>
          <p:cNvSpPr txBox="1">
            <a:spLocks noChangeArrowheads="1"/>
          </p:cNvSpPr>
          <p:nvPr/>
        </p:nvSpPr>
        <p:spPr bwMode="auto">
          <a:xfrm>
            <a:off x="6473510" y="5123155"/>
            <a:ext cx="3010694" cy="83201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lIns="90000" tIns="82800" rIns="90000" bIns="82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  <a:buFont typeface="Symbol" panose="05050102010706020507" pitchFamily="18" charset="2"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Poner el conjunto en vertical o en capas</a:t>
            </a:r>
          </a:p>
        </p:txBody>
      </p:sp>
      <p:grpSp>
        <p:nvGrpSpPr>
          <p:cNvPr id="69688" name="Group 56"/>
          <p:cNvGrpSpPr>
            <a:grpSpLocks/>
          </p:cNvGrpSpPr>
          <p:nvPr/>
        </p:nvGrpSpPr>
        <p:grpSpPr bwMode="auto">
          <a:xfrm>
            <a:off x="4698993" y="578778"/>
            <a:ext cx="2836863" cy="1790701"/>
            <a:chOff x="3041" y="566"/>
            <a:chExt cx="1787" cy="1128"/>
          </a:xfrm>
        </p:grpSpPr>
        <p:sp>
          <p:nvSpPr>
            <p:cNvPr id="21523" name="Text Box 33"/>
            <p:cNvSpPr txBox="1">
              <a:spLocks noChangeArrowheads="1"/>
            </p:cNvSpPr>
            <p:nvPr/>
          </p:nvSpPr>
          <p:spPr bwMode="auto">
            <a:xfrm>
              <a:off x="3333" y="566"/>
              <a:ext cx="1495" cy="1128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126000" tIns="154800" rIns="126000" bIns="1548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latin typeface="Arial" panose="020B0604020202020204" pitchFamily="34" charset="0"/>
                  <a:sym typeface="Symbol" panose="05050102010706020507" pitchFamily="18" charset="2"/>
                </a:rPr>
                <a:t>Reducir el </a:t>
              </a:r>
              <a:r>
                <a:rPr lang="es-ES" sz="2400" dirty="0" err="1">
                  <a:latin typeface="Arial" panose="020B0604020202020204" pitchFamily="34" charset="0"/>
                  <a:sym typeface="Symbol" panose="05050102010706020507" pitchFamily="18" charset="2"/>
                </a:rPr>
                <a:t>nº</a:t>
              </a:r>
              <a:r>
                <a:rPr lang="es-ES" sz="2400" dirty="0">
                  <a:latin typeface="Arial" panose="020B0604020202020204" pitchFamily="34" charset="0"/>
                  <a:sym typeface="Symbol" panose="05050102010706020507" pitchFamily="18" charset="2"/>
                </a:rPr>
                <a:t> de dipolos en cada conjunto (en cada imán)</a:t>
              </a:r>
              <a:endParaRPr lang="es-ES" sz="2400" baseline="-25000" dirty="0"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21524" name="AutoShape 53"/>
            <p:cNvSpPr>
              <a:spLocks noChangeArrowheads="1"/>
            </p:cNvSpPr>
            <p:nvPr/>
          </p:nvSpPr>
          <p:spPr bwMode="auto">
            <a:xfrm>
              <a:off x="3041" y="1050"/>
              <a:ext cx="207" cy="334"/>
            </a:xfrm>
            <a:prstGeom prst="rightArrow">
              <a:avLst>
                <a:gd name="adj1" fmla="val 49704"/>
                <a:gd name="adj2" fmla="val 52097"/>
              </a:avLst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82800" rIns="90000" bIns="82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 baseline="-25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9479" name="Group 23"/>
          <p:cNvGrpSpPr>
            <a:grpSpLocks/>
          </p:cNvGrpSpPr>
          <p:nvPr/>
        </p:nvGrpSpPr>
        <p:grpSpPr bwMode="auto">
          <a:xfrm>
            <a:off x="7768127" y="336681"/>
            <a:ext cx="2559046" cy="2065338"/>
            <a:chOff x="4905" y="196"/>
            <a:chExt cx="1612" cy="1301"/>
          </a:xfrm>
        </p:grpSpPr>
        <p:sp>
          <p:nvSpPr>
            <p:cNvPr id="21521" name="Text Box 33"/>
            <p:cNvSpPr txBox="1">
              <a:spLocks noChangeArrowheads="1"/>
            </p:cNvSpPr>
            <p:nvPr/>
          </p:nvSpPr>
          <p:spPr bwMode="auto">
            <a:xfrm>
              <a:off x="5229" y="196"/>
              <a:ext cx="1288" cy="1301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108000" tIns="108000" rIns="108000" bIns="1080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  <a:sym typeface="Symbol" panose="05050102010706020507" pitchFamily="18" charset="2"/>
                </a:rPr>
                <a:t>Se reduce la T</a:t>
              </a:r>
              <a:r>
                <a:rPr lang="es-ES" sz="2400" baseline="-25000">
                  <a:latin typeface="Arial" panose="020B0604020202020204" pitchFamily="34" charset="0"/>
                  <a:sym typeface="Symbol" panose="05050102010706020507" pitchFamily="18" charset="2"/>
                </a:rPr>
                <a:t>CURIE</a:t>
              </a:r>
              <a:r>
                <a:rPr lang="es-ES" sz="2400">
                  <a:latin typeface="Arial" panose="020B0604020202020204" pitchFamily="34" charset="0"/>
                  <a:sym typeface="Symbol" panose="05050102010706020507" pitchFamily="18" charset="2"/>
                </a:rPr>
                <a:t>  al debilitarse la interacción entre dipolos</a:t>
              </a:r>
            </a:p>
          </p:txBody>
        </p:sp>
        <p:sp>
          <p:nvSpPr>
            <p:cNvPr id="21522" name="AutoShape 54"/>
            <p:cNvSpPr>
              <a:spLocks noChangeArrowheads="1"/>
            </p:cNvSpPr>
            <p:nvPr/>
          </p:nvSpPr>
          <p:spPr bwMode="auto">
            <a:xfrm>
              <a:off x="4905" y="697"/>
              <a:ext cx="202" cy="355"/>
            </a:xfrm>
            <a:prstGeom prst="rightArrow">
              <a:avLst>
                <a:gd name="adj1" fmla="val 49704"/>
                <a:gd name="adj2" fmla="val 52097"/>
              </a:avLst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 baseline="-25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1518" name="Text Box 73"/>
          <p:cNvSpPr txBox="1">
            <a:spLocks noChangeArrowheads="1"/>
          </p:cNvSpPr>
          <p:nvPr/>
        </p:nvSpPr>
        <p:spPr bwMode="auto">
          <a:xfrm>
            <a:off x="3726777" y="2601087"/>
            <a:ext cx="4066995" cy="536549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Desalineamiento a menor T</a:t>
            </a:r>
          </a:p>
        </p:txBody>
      </p:sp>
      <p:sp>
        <p:nvSpPr>
          <p:cNvPr id="21519" name="Freeform 55"/>
          <p:cNvSpPr>
            <a:spLocks/>
          </p:cNvSpPr>
          <p:nvPr/>
        </p:nvSpPr>
        <p:spPr bwMode="auto">
          <a:xfrm>
            <a:off x="7942521" y="2447032"/>
            <a:ext cx="1361818" cy="465137"/>
          </a:xfrm>
          <a:custGeom>
            <a:avLst/>
            <a:gdLst>
              <a:gd name="T0" fmla="*/ 2147483646 w 728"/>
              <a:gd name="T1" fmla="*/ 0 h 293"/>
              <a:gd name="T2" fmla="*/ 2147483646 w 728"/>
              <a:gd name="T3" fmla="*/ 2147483646 h 293"/>
              <a:gd name="T4" fmla="*/ 0 w 728"/>
              <a:gd name="T5" fmla="*/ 2147483646 h 29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728" h="293">
                <a:moveTo>
                  <a:pt x="728" y="0"/>
                </a:moveTo>
                <a:lnTo>
                  <a:pt x="728" y="293"/>
                </a:lnTo>
                <a:lnTo>
                  <a:pt x="0" y="293"/>
                </a:lnTo>
              </a:path>
            </a:pathLst>
          </a:custGeom>
          <a:noFill/>
          <a:ln w="7620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 anchorCtr="1">
            <a:spAutoFit/>
          </a:bodyPr>
          <a:lstStyle/>
          <a:p>
            <a:endParaRPr lang="en-GB"/>
          </a:p>
        </p:txBody>
      </p:sp>
      <p:sp>
        <p:nvSpPr>
          <p:cNvPr id="21520" name="CuadroTexto 1"/>
          <p:cNvSpPr txBox="1">
            <a:spLocks noChangeArrowheads="1"/>
          </p:cNvSpPr>
          <p:nvPr/>
        </p:nvSpPr>
        <p:spPr bwMode="auto">
          <a:xfrm>
            <a:off x="8484563" y="2653629"/>
            <a:ext cx="1503938" cy="461665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 dirty="0">
                <a:solidFill>
                  <a:schemeClr val="tx1"/>
                </a:solidFill>
              </a:rPr>
              <a:t>Problema</a:t>
            </a:r>
          </a:p>
        </p:txBody>
      </p:sp>
      <p:sp>
        <p:nvSpPr>
          <p:cNvPr id="23" name="AutoShape 54"/>
          <p:cNvSpPr>
            <a:spLocks noChangeArrowheads="1"/>
          </p:cNvSpPr>
          <p:nvPr/>
        </p:nvSpPr>
        <p:spPr bwMode="auto">
          <a:xfrm rot="10800000">
            <a:off x="5983308" y="5241034"/>
            <a:ext cx="320675" cy="563563"/>
          </a:xfrm>
          <a:prstGeom prst="rightArrow">
            <a:avLst>
              <a:gd name="adj1" fmla="val 49704"/>
              <a:gd name="adj2" fmla="val 52097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 baseline="-25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" name="Forma libre 2"/>
          <p:cNvSpPr/>
          <p:nvPr/>
        </p:nvSpPr>
        <p:spPr bwMode="auto">
          <a:xfrm>
            <a:off x="9558779" y="5043341"/>
            <a:ext cx="744718" cy="478883"/>
          </a:xfrm>
          <a:custGeom>
            <a:avLst/>
            <a:gdLst>
              <a:gd name="connsiteX0" fmla="*/ 490194 w 744718"/>
              <a:gd name="connsiteY0" fmla="*/ 0 h 1369337"/>
              <a:gd name="connsiteX1" fmla="*/ 744718 w 744718"/>
              <a:gd name="connsiteY1" fmla="*/ 735291 h 1369337"/>
              <a:gd name="connsiteX2" fmla="*/ 490194 w 744718"/>
              <a:gd name="connsiteY2" fmla="*/ 1272619 h 1369337"/>
              <a:gd name="connsiteX3" fmla="*/ 0 w 744718"/>
              <a:gd name="connsiteY3" fmla="*/ 1366887 h 1369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4718" h="1369337">
                <a:moveTo>
                  <a:pt x="490194" y="0"/>
                </a:moveTo>
                <a:cubicBezTo>
                  <a:pt x="617456" y="261594"/>
                  <a:pt x="744718" y="523188"/>
                  <a:pt x="744718" y="735291"/>
                </a:cubicBezTo>
                <a:cubicBezTo>
                  <a:pt x="744718" y="947394"/>
                  <a:pt x="614314" y="1167353"/>
                  <a:pt x="490194" y="1272619"/>
                </a:cubicBezTo>
                <a:cubicBezTo>
                  <a:pt x="366074" y="1377885"/>
                  <a:pt x="183037" y="1372386"/>
                  <a:pt x="0" y="1366887"/>
                </a:cubicBezTo>
              </a:path>
            </a:pathLst>
          </a:custGeom>
          <a:noFill/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0000" tIns="82800" rIns="90000" bIns="82800" numCol="1" rtlCol="0" anchor="t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000" b="0" i="0" u="none" strike="noStrike" cap="none" normalizeH="0" baseline="-2500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24" name="Text Box 47">
            <a:extLst>
              <a:ext uri="{FF2B5EF4-FFF2-40B4-BE49-F238E27FC236}">
                <a16:creationId xmlns:a16="http://schemas.microsoft.com/office/drawing/2014/main" id="{A35A433C-F328-49C6-926E-3FDCCE7C57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5200" y="329548"/>
            <a:ext cx="3267539" cy="536549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 Evolución de los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HD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767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9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9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1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3" dur="500"/>
                                        <p:tgtEl>
                                          <p:spTgt spid="21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21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767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0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6" dur="500"/>
                                        <p:tgtEl>
                                          <p:spTgt spid="69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69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767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7009" grpId="0" animBg="1"/>
      <p:bldP spid="767012" grpId="0" animBg="1"/>
      <p:bldP spid="767047" grpId="0" animBg="1"/>
      <p:bldP spid="20525" grpId="0" animBg="1"/>
      <p:bldP spid="69681" grpId="0" animBg="1"/>
      <p:bldP spid="21518" grpId="0" animBg="1"/>
      <p:bldP spid="21519" grpId="0" animBg="1"/>
      <p:bldP spid="21520" grpId="0" animBg="1"/>
      <p:bldP spid="23" grpId="0" animBg="1"/>
      <p:bldP spid="3" grpId="0" animBg="1"/>
      <p:bldP spid="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/>
          <p:cNvGrpSpPr/>
          <p:nvPr/>
        </p:nvGrpSpPr>
        <p:grpSpPr>
          <a:xfrm>
            <a:off x="1312585" y="288980"/>
            <a:ext cx="2273379" cy="2769051"/>
            <a:chOff x="1453261" y="288980"/>
            <a:chExt cx="2273379" cy="2769051"/>
          </a:xfrm>
        </p:grpSpPr>
        <p:pic>
          <p:nvPicPr>
            <p:cNvPr id="14" name="Picture 9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72030" y="862518"/>
              <a:ext cx="2195513" cy="2195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" name="CuadroTexto 21"/>
            <p:cNvSpPr txBox="1">
              <a:spLocks noChangeArrowheads="1"/>
            </p:cNvSpPr>
            <p:nvPr/>
          </p:nvSpPr>
          <p:spPr bwMode="auto">
            <a:xfrm>
              <a:off x="1453261" y="288980"/>
              <a:ext cx="227337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s-ES" sz="2400">
                  <a:solidFill>
                    <a:srgbClr val="008000"/>
                  </a:solidFill>
                </a:rPr>
                <a:t>Hard Disk (HD)</a:t>
              </a:r>
            </a:p>
          </p:txBody>
        </p:sp>
      </p:grpSp>
      <p:pic>
        <p:nvPicPr>
          <p:cNvPr id="23" name="Picture 20" descr="FNT_TEMA1_HD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9373" y="3176830"/>
            <a:ext cx="8580437" cy="391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Rectángulo 23"/>
          <p:cNvSpPr/>
          <p:nvPr/>
        </p:nvSpPr>
        <p:spPr bwMode="auto">
          <a:xfrm>
            <a:off x="5196800" y="6477001"/>
            <a:ext cx="1077686" cy="348343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-2500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25" name="Rectángulo 24"/>
          <p:cNvSpPr/>
          <p:nvPr/>
        </p:nvSpPr>
        <p:spPr bwMode="auto">
          <a:xfrm>
            <a:off x="2675273" y="3892000"/>
            <a:ext cx="2717470" cy="348343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squar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-2500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2" name="Rectángulo 1"/>
          <p:cNvSpPr/>
          <p:nvPr/>
        </p:nvSpPr>
        <p:spPr bwMode="auto">
          <a:xfrm>
            <a:off x="6405114" y="6487886"/>
            <a:ext cx="1077686" cy="348343"/>
          </a:xfrm>
          <a:prstGeom prst="rect">
            <a:avLst/>
          </a:prstGeom>
          <a:solidFill>
            <a:schemeClr val="tx2">
              <a:lumMod val="50000"/>
              <a:lumOff val="50000"/>
              <a:alpha val="50196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-2500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A6BD1C39-9684-4940-A146-9D186F1A8F3E}"/>
              </a:ext>
            </a:extLst>
          </p:cNvPr>
          <p:cNvGrpSpPr/>
          <p:nvPr/>
        </p:nvGrpSpPr>
        <p:grpSpPr>
          <a:xfrm>
            <a:off x="6829879" y="3595271"/>
            <a:ext cx="1077686" cy="369332"/>
            <a:chOff x="6553422" y="3595271"/>
            <a:chExt cx="1077686" cy="369332"/>
          </a:xfrm>
        </p:grpSpPr>
        <p:sp>
          <p:nvSpPr>
            <p:cNvPr id="26" name="Rectángulo 25"/>
            <p:cNvSpPr/>
            <p:nvPr/>
          </p:nvSpPr>
          <p:spPr bwMode="auto">
            <a:xfrm>
              <a:off x="6553422" y="3611337"/>
              <a:ext cx="1077686" cy="348343"/>
            </a:xfrm>
            <a:prstGeom prst="rect">
              <a:avLst/>
            </a:prstGeom>
            <a:solidFill>
              <a:schemeClr val="tx2">
                <a:lumMod val="50000"/>
                <a:lumOff val="50000"/>
                <a:alpha val="50196"/>
              </a:schemeClr>
            </a:solidFill>
            <a:ln w="254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none" lIns="90000" tIns="82800" rIns="90000" bIns="82800" numCol="1" rtlCol="0" anchor="t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-2500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4" name="CuadroTexto 3"/>
            <p:cNvSpPr txBox="1"/>
            <p:nvPr/>
          </p:nvSpPr>
          <p:spPr>
            <a:xfrm>
              <a:off x="6643526" y="3595271"/>
              <a:ext cx="9028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800" dirty="0">
                  <a:solidFill>
                    <a:srgbClr val="777777"/>
                  </a:solidFill>
                </a:rPr>
                <a:t>Bobina</a:t>
              </a:r>
            </a:p>
          </p:txBody>
        </p:sp>
      </p:grpSp>
      <p:sp>
        <p:nvSpPr>
          <p:cNvPr id="5" name="CuadroTexto 4"/>
          <p:cNvSpPr txBox="1"/>
          <p:nvPr/>
        </p:nvSpPr>
        <p:spPr>
          <a:xfrm>
            <a:off x="6397869" y="1808228"/>
            <a:ext cx="3961981" cy="122774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lIns="108000" tIns="108000" rIns="108000" bIns="144000" rtlCol="0" anchor="ctr" anchorCtr="0">
            <a:spAutoFit/>
          </a:bodyPr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La R del </a:t>
            </a:r>
            <a:r>
              <a:rPr lang="es-ES" dirty="0">
                <a:solidFill>
                  <a:srgbClr val="3333FF"/>
                </a:solidFill>
              </a:rPr>
              <a:t>sensor</a:t>
            </a:r>
            <a:r>
              <a:rPr lang="es-ES" dirty="0">
                <a:solidFill>
                  <a:schemeClr val="tx1"/>
                </a:solidFill>
              </a:rPr>
              <a:t>, y por ello el valor de la </a:t>
            </a:r>
            <a:r>
              <a:rPr lang="es-ES" dirty="0">
                <a:solidFill>
                  <a:schemeClr val="tx1"/>
                </a:solidFill>
                <a:latin typeface="Comic Sans MS" panose="030F0702030302020204" pitchFamily="66" charset="0"/>
              </a:rPr>
              <a:t>I </a:t>
            </a:r>
            <a:r>
              <a:rPr lang="es-ES" dirty="0">
                <a:solidFill>
                  <a:schemeClr val="tx1"/>
                </a:solidFill>
              </a:rPr>
              <a:t>de lectura (</a:t>
            </a:r>
            <a:r>
              <a:rPr lang="es-ES" dirty="0">
                <a:solidFill>
                  <a:schemeClr val="tx1"/>
                </a:solidFill>
                <a:latin typeface="Comic Sans MS" panose="030F0702030302020204" pitchFamily="66" charset="0"/>
              </a:rPr>
              <a:t>I</a:t>
            </a:r>
            <a:r>
              <a:rPr lang="es-ES" dirty="0">
                <a:solidFill>
                  <a:schemeClr val="tx1"/>
                </a:solidFill>
              </a:rPr>
              <a:t>=V/R), alto o bajo (1 o 0), depende del sentido del </a:t>
            </a:r>
            <a:r>
              <a:rPr lang="es-ES" b="1" dirty="0">
                <a:solidFill>
                  <a:schemeClr val="tx1"/>
                </a:solidFill>
              </a:rPr>
              <a:t>B</a:t>
            </a:r>
            <a:r>
              <a:rPr lang="es-ES" dirty="0">
                <a:solidFill>
                  <a:schemeClr val="tx1"/>
                </a:solidFill>
              </a:rPr>
              <a:t> del imán bajo él</a:t>
            </a:r>
            <a:endParaRPr lang="es-ES" baseline="-25000" dirty="0">
              <a:solidFill>
                <a:schemeClr val="tx1"/>
              </a:solidFill>
            </a:endParaRPr>
          </a:p>
        </p:txBody>
      </p:sp>
      <p:sp>
        <p:nvSpPr>
          <p:cNvPr id="27" name="CuadroTexto 26"/>
          <p:cNvSpPr txBox="1"/>
          <p:nvPr/>
        </p:nvSpPr>
        <p:spPr>
          <a:xfrm>
            <a:off x="6397869" y="339124"/>
            <a:ext cx="3961981" cy="125137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lIns="108000" tIns="72000" rIns="108000" bIns="72000" rtlCol="0" anchor="ctr" anchorCtr="0">
            <a:spAutoFit/>
          </a:bodyPr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El sentido del </a:t>
            </a:r>
            <a:r>
              <a:rPr lang="es-ES" b="1" dirty="0">
                <a:solidFill>
                  <a:schemeClr val="tx1"/>
                </a:solidFill>
              </a:rPr>
              <a:t>B</a:t>
            </a:r>
            <a:r>
              <a:rPr lang="es-ES" dirty="0">
                <a:solidFill>
                  <a:schemeClr val="tx1"/>
                </a:solidFill>
              </a:rPr>
              <a:t> aplicado por la </a:t>
            </a:r>
            <a:r>
              <a:rPr lang="es-ES" dirty="0">
                <a:solidFill>
                  <a:srgbClr val="3333FF"/>
                </a:solidFill>
              </a:rPr>
              <a:t>bobina</a:t>
            </a:r>
            <a:r>
              <a:rPr lang="es-ES" dirty="0">
                <a:solidFill>
                  <a:schemeClr val="tx1"/>
                </a:solidFill>
              </a:rPr>
              <a:t> al imán bajo ella, con el que se orienta, depende del sentido de la </a:t>
            </a:r>
            <a:r>
              <a:rPr lang="es-ES" dirty="0">
                <a:solidFill>
                  <a:schemeClr val="tx1"/>
                </a:solidFill>
                <a:latin typeface="Comic Sans MS" panose="030F0702030302020204" pitchFamily="66" charset="0"/>
              </a:rPr>
              <a:t>I</a:t>
            </a:r>
            <a:r>
              <a:rPr lang="es-ES" dirty="0">
                <a:solidFill>
                  <a:schemeClr val="tx1"/>
                </a:solidFill>
              </a:rPr>
              <a:t> de escritura</a:t>
            </a:r>
            <a:endParaRPr lang="es-ES" baseline="-25000" dirty="0">
              <a:solidFill>
                <a:schemeClr val="tx1"/>
              </a:solidFill>
            </a:endParaRPr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CA43224A-7DF0-41AA-8BCE-47820679CD68}"/>
              </a:ext>
            </a:extLst>
          </p:cNvPr>
          <p:cNvGrpSpPr/>
          <p:nvPr/>
        </p:nvGrpSpPr>
        <p:grpSpPr>
          <a:xfrm>
            <a:off x="3752657" y="333995"/>
            <a:ext cx="2484440" cy="2800353"/>
            <a:chOff x="3752657" y="333995"/>
            <a:chExt cx="2484440" cy="2800353"/>
          </a:xfrm>
        </p:grpSpPr>
        <p:pic>
          <p:nvPicPr>
            <p:cNvPr id="19" name="Picture 11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44732" y="333995"/>
              <a:ext cx="2301877" cy="20875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" name="Text Box 12"/>
            <p:cNvSpPr txBox="1">
              <a:spLocks noChangeArrowheads="1"/>
            </p:cNvSpPr>
            <p:nvPr/>
          </p:nvSpPr>
          <p:spPr bwMode="auto">
            <a:xfrm>
              <a:off x="3752657" y="2351710"/>
              <a:ext cx="2484440" cy="782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000" dirty="0">
                  <a:solidFill>
                    <a:srgbClr val="008000"/>
                  </a:solidFill>
                  <a:latin typeface="Arial" panose="020B0604020202020204" pitchFamily="34" charset="0"/>
                </a:rPr>
                <a:t>Cabeza</a:t>
              </a:r>
            </a:p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000" dirty="0">
                  <a:solidFill>
                    <a:srgbClr val="008000"/>
                  </a:solidFill>
                  <a:latin typeface="Arial" panose="020B0604020202020204" pitchFamily="34" charset="0"/>
                </a:rPr>
                <a:t>lectora/escritora</a:t>
              </a:r>
            </a:p>
          </p:txBody>
        </p:sp>
      </p:grpSp>
      <p:sp>
        <p:nvSpPr>
          <p:cNvPr id="21" name="Line 13"/>
          <p:cNvSpPr>
            <a:spLocks noChangeShapeType="1"/>
          </p:cNvSpPr>
          <p:nvPr/>
        </p:nvSpPr>
        <p:spPr bwMode="auto">
          <a:xfrm>
            <a:off x="2912869" y="1807197"/>
            <a:ext cx="2062164" cy="5238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90000" tIns="82800" rIns="90000" bIns="82800">
            <a:spAutoFit/>
          </a:bodyPr>
          <a:lstStyle/>
          <a:p>
            <a:endParaRPr lang="en-GB"/>
          </a:p>
        </p:txBody>
      </p:sp>
      <p:sp>
        <p:nvSpPr>
          <p:cNvPr id="28" name="CuadroTexto 27"/>
          <p:cNvSpPr txBox="1"/>
          <p:nvPr/>
        </p:nvSpPr>
        <p:spPr>
          <a:xfrm>
            <a:off x="2954976" y="4616959"/>
            <a:ext cx="15536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dirty="0">
                <a:solidFill>
                  <a:schemeClr val="tx1"/>
                </a:solidFill>
              </a:rPr>
              <a:t>ferromagnético</a:t>
            </a:r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BA22503C-6B59-43DA-BDE4-C50950B91DE9}"/>
              </a:ext>
            </a:extLst>
          </p:cNvPr>
          <p:cNvGrpSpPr/>
          <p:nvPr/>
        </p:nvGrpSpPr>
        <p:grpSpPr>
          <a:xfrm>
            <a:off x="8254849" y="3753687"/>
            <a:ext cx="2015770" cy="1032549"/>
            <a:chOff x="7978392" y="3753687"/>
            <a:chExt cx="2015770" cy="1032549"/>
          </a:xfrm>
        </p:grpSpPr>
        <p:sp>
          <p:nvSpPr>
            <p:cNvPr id="29" name="CuadroTexto 28">
              <a:extLst>
                <a:ext uri="{FF2B5EF4-FFF2-40B4-BE49-F238E27FC236}">
                  <a16:creationId xmlns:a16="http://schemas.microsoft.com/office/drawing/2014/main" id="{84F4E5E0-6257-4DCD-B352-B8855587CAA4}"/>
                </a:ext>
              </a:extLst>
            </p:cNvPr>
            <p:cNvSpPr txBox="1"/>
            <p:nvPr/>
          </p:nvSpPr>
          <p:spPr>
            <a:xfrm>
              <a:off x="8382823" y="3753687"/>
              <a:ext cx="161133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600" dirty="0">
                  <a:solidFill>
                    <a:schemeClr val="tx1"/>
                  </a:solidFill>
                </a:rPr>
                <a:t>Núcleo</a:t>
              </a:r>
            </a:p>
            <a:p>
              <a:r>
                <a:rPr lang="es-ES" sz="1600" dirty="0">
                  <a:solidFill>
                    <a:schemeClr val="tx1"/>
                  </a:solidFill>
                </a:rPr>
                <a:t>ferromagnético</a:t>
              </a:r>
            </a:p>
          </p:txBody>
        </p:sp>
        <p:cxnSp>
          <p:nvCxnSpPr>
            <p:cNvPr id="9" name="Conector recto de flecha 8">
              <a:extLst>
                <a:ext uri="{FF2B5EF4-FFF2-40B4-BE49-F238E27FC236}">
                  <a16:creationId xmlns:a16="http://schemas.microsoft.com/office/drawing/2014/main" id="{397C2ADA-B1C1-46CA-B6F8-504E8AB59DED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7978392" y="4338462"/>
              <a:ext cx="400467" cy="447774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sp>
        <p:nvSpPr>
          <p:cNvPr id="31" name="Rectángulo 30">
            <a:extLst>
              <a:ext uri="{FF2B5EF4-FFF2-40B4-BE49-F238E27FC236}">
                <a16:creationId xmlns:a16="http://schemas.microsoft.com/office/drawing/2014/main" id="{272362F5-35B6-40BF-A38A-A2574646648E}"/>
              </a:ext>
            </a:extLst>
          </p:cNvPr>
          <p:cNvSpPr/>
          <p:nvPr/>
        </p:nvSpPr>
        <p:spPr bwMode="auto">
          <a:xfrm>
            <a:off x="2631857" y="4927352"/>
            <a:ext cx="664247" cy="348343"/>
          </a:xfrm>
          <a:prstGeom prst="rect">
            <a:avLst/>
          </a:prstGeom>
          <a:solidFill>
            <a:srgbClr val="99CCFF">
              <a:alpha val="50196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squar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-2500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32" name="Text Box 12">
            <a:extLst>
              <a:ext uri="{FF2B5EF4-FFF2-40B4-BE49-F238E27FC236}">
                <a16:creationId xmlns:a16="http://schemas.microsoft.com/office/drawing/2014/main" id="{34438A87-3ADD-41BB-BC5C-9892C9E6B9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356" y="4893821"/>
            <a:ext cx="1847325" cy="721215"/>
          </a:xfrm>
          <a:prstGeom prst="rect">
            <a:avLst/>
          </a:prstGeom>
          <a:solidFill>
            <a:srgbClr val="99CCFF">
              <a:alpha val="50196"/>
            </a:srgbClr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1800" dirty="0">
                <a:latin typeface="Arial" panose="020B0604020202020204" pitchFamily="34" charset="0"/>
              </a:rPr>
              <a:t>Circunferencia con información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F4A081B-612D-48C4-B1CD-058D7E625110}"/>
              </a:ext>
            </a:extLst>
          </p:cNvPr>
          <p:cNvSpPr/>
          <p:nvPr/>
        </p:nvSpPr>
        <p:spPr bwMode="auto">
          <a:xfrm>
            <a:off x="6407917" y="3276977"/>
            <a:ext cx="2257447" cy="229326"/>
          </a:xfrm>
          <a:prstGeom prst="rect">
            <a:avLst/>
          </a:prstGeom>
          <a:solidFill>
            <a:schemeClr val="tx2">
              <a:lumMod val="25000"/>
              <a:lumOff val="75000"/>
              <a:alpha val="5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7EC0F53B-DBA2-4053-BCD4-9EB4215C103C}"/>
              </a:ext>
            </a:extLst>
          </p:cNvPr>
          <p:cNvSpPr/>
          <p:nvPr/>
        </p:nvSpPr>
        <p:spPr bwMode="auto">
          <a:xfrm>
            <a:off x="4037775" y="3276403"/>
            <a:ext cx="2052225" cy="229326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8655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" grpId="0" animBg="1"/>
      <p:bldP spid="5" grpId="0" animBg="1"/>
      <p:bldP spid="27" grpId="0" animBg="1"/>
      <p:bldP spid="21" grpId="0" animBg="1"/>
      <p:bldP spid="28" grpId="0"/>
      <p:bldP spid="31" grpId="0" animBg="1"/>
      <p:bldP spid="32" grpId="0" animBg="1"/>
      <p:bldP spid="3" grpId="0" animBg="1"/>
      <p:bldP spid="3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/>
          <p:cNvSpPr txBox="1"/>
          <p:nvPr/>
        </p:nvSpPr>
        <p:spPr>
          <a:xfrm>
            <a:off x="1330571" y="1556042"/>
            <a:ext cx="8861179" cy="148556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lIns="108000" tIns="108000" rIns="108000" bIns="144000" rtlCol="0" anchor="ctr" anchorCtr="0">
            <a:spAutoFit/>
          </a:bodyPr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El </a:t>
            </a:r>
            <a:r>
              <a:rPr lang="es-ES" dirty="0">
                <a:solidFill>
                  <a:srgbClr val="3333FF"/>
                </a:solidFill>
              </a:rPr>
              <a:t>blindaje ferromagnético </a:t>
            </a:r>
            <a:r>
              <a:rPr lang="es-ES" dirty="0">
                <a:solidFill>
                  <a:schemeClr val="tx1"/>
                </a:solidFill>
              </a:rPr>
              <a:t>rodea al sensor excepto por su parte inferior.</a:t>
            </a:r>
          </a:p>
          <a:p>
            <a:pPr algn="ctr"/>
            <a:r>
              <a:rPr lang="es-ES" dirty="0">
                <a:solidFill>
                  <a:schemeClr val="tx1"/>
                </a:solidFill>
              </a:rPr>
              <a:t>La magnetización del blindaje por el </a:t>
            </a:r>
            <a:r>
              <a:rPr lang="es-ES" b="1" dirty="0">
                <a:solidFill>
                  <a:schemeClr val="tx1"/>
                </a:solidFill>
              </a:rPr>
              <a:t>B</a:t>
            </a:r>
            <a:r>
              <a:rPr lang="es-ES" dirty="0">
                <a:solidFill>
                  <a:schemeClr val="tx1"/>
                </a:solidFill>
              </a:rPr>
              <a:t> debido a los imanes del disco,</a:t>
            </a:r>
          </a:p>
          <a:p>
            <a:pPr algn="ctr"/>
            <a:r>
              <a:rPr lang="es-ES" dirty="0">
                <a:solidFill>
                  <a:schemeClr val="tx1"/>
                </a:solidFill>
              </a:rPr>
              <a:t>da lugar a un </a:t>
            </a:r>
            <a:r>
              <a:rPr lang="es-ES" b="1" err="1">
                <a:solidFill>
                  <a:schemeClr val="tx1"/>
                </a:solidFill>
              </a:rPr>
              <a:t>B</a:t>
            </a:r>
            <a:r>
              <a:rPr lang="es-ES" baseline="-25000" err="1">
                <a:solidFill>
                  <a:schemeClr val="tx1"/>
                </a:solidFill>
              </a:rPr>
              <a:t>total</a:t>
            </a:r>
            <a:r>
              <a:rPr lang="es-ES">
                <a:solidFill>
                  <a:schemeClr val="tx1"/>
                </a:solidFill>
              </a:rPr>
              <a:t> dentro</a:t>
            </a:r>
            <a:r>
              <a:rPr lang="es-ES" dirty="0">
                <a:solidFill>
                  <a:schemeClr val="tx1"/>
                </a:solidFill>
              </a:rPr>
              <a:t>, donde está el sensor</a:t>
            </a:r>
            <a:r>
              <a:rPr lang="es-ES">
                <a:solidFill>
                  <a:schemeClr val="tx1"/>
                </a:solidFill>
              </a:rPr>
              <a:t>, sin contribución de</a:t>
            </a:r>
          </a:p>
          <a:p>
            <a:pPr algn="ctr"/>
            <a:r>
              <a:rPr lang="es-ES">
                <a:solidFill>
                  <a:schemeClr val="tx1"/>
                </a:solidFill>
              </a:rPr>
              <a:t>los </a:t>
            </a:r>
            <a:r>
              <a:rPr lang="es-ES" dirty="0">
                <a:solidFill>
                  <a:schemeClr val="tx1"/>
                </a:solidFill>
              </a:rPr>
              <a:t>de </a:t>
            </a:r>
            <a:r>
              <a:rPr lang="es-ES">
                <a:solidFill>
                  <a:schemeClr val="tx1"/>
                </a:solidFill>
              </a:rPr>
              <a:t>fuera. El </a:t>
            </a:r>
            <a:r>
              <a:rPr lang="es-ES" dirty="0">
                <a:solidFill>
                  <a:schemeClr val="tx1"/>
                </a:solidFill>
              </a:rPr>
              <a:t>sensor </a:t>
            </a:r>
            <a:r>
              <a:rPr lang="es-ES">
                <a:solidFill>
                  <a:schemeClr val="tx1"/>
                </a:solidFill>
              </a:rPr>
              <a:t>siente solo </a:t>
            </a:r>
            <a:r>
              <a:rPr lang="es-ES" dirty="0">
                <a:solidFill>
                  <a:schemeClr val="tx1"/>
                </a:solidFill>
              </a:rPr>
              <a:t>el </a:t>
            </a:r>
            <a:r>
              <a:rPr lang="es-ES" b="1">
                <a:solidFill>
                  <a:schemeClr val="tx1"/>
                </a:solidFill>
              </a:rPr>
              <a:t>B</a:t>
            </a:r>
            <a:r>
              <a:rPr lang="es-ES">
                <a:solidFill>
                  <a:schemeClr val="tx1"/>
                </a:solidFill>
              </a:rPr>
              <a:t> del </a:t>
            </a:r>
            <a:r>
              <a:rPr lang="es-ES" dirty="0">
                <a:solidFill>
                  <a:schemeClr val="tx1"/>
                </a:solidFill>
              </a:rPr>
              <a:t>imán que está debajo de él</a:t>
            </a:r>
            <a:endParaRPr lang="es-ES" baseline="-25000" dirty="0">
              <a:solidFill>
                <a:schemeClr val="tx1"/>
              </a:solidFill>
            </a:endParaRPr>
          </a:p>
        </p:txBody>
      </p:sp>
      <p:sp>
        <p:nvSpPr>
          <p:cNvPr id="30" name="Text Box 42">
            <a:extLst>
              <a:ext uri="{FF2B5EF4-FFF2-40B4-BE49-F238E27FC236}">
                <a16:creationId xmlns:a16="http://schemas.microsoft.com/office/drawing/2014/main" id="{8C4EAA79-17D1-4677-8A26-3D9E9A0962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0571" y="350371"/>
            <a:ext cx="8861179" cy="109054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000" dirty="0">
                <a:latin typeface="Arial" panose="020B0604020202020204" pitchFamily="34" charset="0"/>
              </a:rPr>
              <a:t>La magnetización del </a:t>
            </a:r>
            <a:r>
              <a:rPr lang="es-ES" sz="2000" dirty="0">
                <a:solidFill>
                  <a:srgbClr val="3333FF"/>
                </a:solidFill>
                <a:latin typeface="Arial" panose="020B0604020202020204" pitchFamily="34" charset="0"/>
              </a:rPr>
              <a:t>núcleo ferromagnético</a:t>
            </a:r>
            <a:r>
              <a:rPr lang="es-ES" sz="2000" dirty="0">
                <a:latin typeface="Arial" panose="020B0604020202020204" pitchFamily="34" charset="0"/>
              </a:rPr>
              <a:t>,</a:t>
            </a:r>
            <a:r>
              <a:rPr lang="es-ES" sz="2000" dirty="0">
                <a:solidFill>
                  <a:srgbClr val="008000"/>
                </a:solidFill>
                <a:latin typeface="Arial" panose="020B0604020202020204" pitchFamily="34" charset="0"/>
              </a:rPr>
              <a:t> </a:t>
            </a:r>
            <a:r>
              <a:rPr lang="es-ES" sz="2000" dirty="0">
                <a:latin typeface="Arial" panose="020B0604020202020204" pitchFamily="34" charset="0"/>
              </a:rPr>
              <a:t>con forma de herradura, debido al </a:t>
            </a:r>
            <a:r>
              <a:rPr lang="es-ES" sz="2000" b="1" dirty="0">
                <a:latin typeface="Arial" panose="020B0604020202020204" pitchFamily="34" charset="0"/>
              </a:rPr>
              <a:t>B</a:t>
            </a:r>
            <a:r>
              <a:rPr lang="es-ES" sz="2000" dirty="0">
                <a:latin typeface="Arial" panose="020B0604020202020204" pitchFamily="34" charset="0"/>
              </a:rPr>
              <a:t> de la bobina, hace que solo haya </a:t>
            </a:r>
            <a:r>
              <a:rPr lang="es-ES" sz="2000" b="1" dirty="0" err="1">
                <a:latin typeface="Arial" panose="020B0604020202020204" pitchFamily="34" charset="0"/>
              </a:rPr>
              <a:t>B</a:t>
            </a:r>
            <a:r>
              <a:rPr lang="es-ES" sz="2000" baseline="-25000" dirty="0" err="1">
                <a:latin typeface="Arial" panose="020B0604020202020204" pitchFamily="34" charset="0"/>
              </a:rPr>
              <a:t>total</a:t>
            </a:r>
            <a:r>
              <a:rPr lang="es-ES" sz="2000" dirty="0">
                <a:latin typeface="Arial" panose="020B0604020202020204" pitchFamily="34" charset="0"/>
              </a:rPr>
              <a:t> (líneas de campo) dentro de él, excepto abajo, donde salen y entran, </a:t>
            </a:r>
            <a:r>
              <a:rPr lang="es-ES" sz="2000">
                <a:latin typeface="Arial" panose="020B0604020202020204" pitchFamily="34" charset="0"/>
              </a:rPr>
              <a:t>y donde </a:t>
            </a:r>
            <a:r>
              <a:rPr lang="es-ES" sz="2000" dirty="0">
                <a:latin typeface="Arial" panose="020B0604020202020204" pitchFamily="34" charset="0"/>
              </a:rPr>
              <a:t>afecta al imán que hay debajo</a:t>
            </a:r>
          </a:p>
        </p:txBody>
      </p:sp>
      <p:pic>
        <p:nvPicPr>
          <p:cNvPr id="15" name="Picture 20" descr="FNT_TEMA1_HD">
            <a:extLst>
              <a:ext uri="{FF2B5EF4-FFF2-40B4-BE49-F238E27FC236}">
                <a16:creationId xmlns:a16="http://schemas.microsoft.com/office/drawing/2014/main" id="{C784B8A2-CFB6-447D-8299-08046FA1FE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9373" y="3176830"/>
            <a:ext cx="8580437" cy="391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Rectángulo 16">
            <a:extLst>
              <a:ext uri="{FF2B5EF4-FFF2-40B4-BE49-F238E27FC236}">
                <a16:creationId xmlns:a16="http://schemas.microsoft.com/office/drawing/2014/main" id="{EEED2893-7D3A-49C3-96A7-208DBE44F3DE}"/>
              </a:ext>
            </a:extLst>
          </p:cNvPr>
          <p:cNvSpPr/>
          <p:nvPr/>
        </p:nvSpPr>
        <p:spPr bwMode="auto">
          <a:xfrm>
            <a:off x="5196800" y="6477001"/>
            <a:ext cx="1077686" cy="348343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-2500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3B7E620A-9C50-47F1-8D16-EE3447689D7C}"/>
              </a:ext>
            </a:extLst>
          </p:cNvPr>
          <p:cNvSpPr/>
          <p:nvPr/>
        </p:nvSpPr>
        <p:spPr bwMode="auto">
          <a:xfrm>
            <a:off x="2675273" y="3892000"/>
            <a:ext cx="2717470" cy="348343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squar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-2500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E79D1B56-1AE8-4588-8E3C-407CEB2B9B3F}"/>
              </a:ext>
            </a:extLst>
          </p:cNvPr>
          <p:cNvSpPr/>
          <p:nvPr/>
        </p:nvSpPr>
        <p:spPr bwMode="auto">
          <a:xfrm>
            <a:off x="6405114" y="6487886"/>
            <a:ext cx="1077686" cy="348343"/>
          </a:xfrm>
          <a:prstGeom prst="rect">
            <a:avLst/>
          </a:prstGeom>
          <a:solidFill>
            <a:schemeClr val="tx2">
              <a:lumMod val="50000"/>
              <a:lumOff val="50000"/>
              <a:alpha val="50196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-2500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8CE841D0-2544-4F74-8BFA-417D0419C639}"/>
              </a:ext>
            </a:extLst>
          </p:cNvPr>
          <p:cNvGrpSpPr/>
          <p:nvPr/>
        </p:nvGrpSpPr>
        <p:grpSpPr>
          <a:xfrm>
            <a:off x="6829879" y="3595271"/>
            <a:ext cx="1077686" cy="369332"/>
            <a:chOff x="6553422" y="3595271"/>
            <a:chExt cx="1077686" cy="369332"/>
          </a:xfrm>
        </p:grpSpPr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4209E873-F9B4-4030-8EE1-83112110C0E7}"/>
                </a:ext>
              </a:extLst>
            </p:cNvPr>
            <p:cNvSpPr/>
            <p:nvPr/>
          </p:nvSpPr>
          <p:spPr bwMode="auto">
            <a:xfrm>
              <a:off x="6553422" y="3611337"/>
              <a:ext cx="1077686" cy="348343"/>
            </a:xfrm>
            <a:prstGeom prst="rect">
              <a:avLst/>
            </a:prstGeom>
            <a:solidFill>
              <a:schemeClr val="tx2">
                <a:lumMod val="50000"/>
                <a:lumOff val="50000"/>
                <a:alpha val="50196"/>
              </a:schemeClr>
            </a:solidFill>
            <a:ln w="254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none" lIns="90000" tIns="82800" rIns="90000" bIns="82800" numCol="1" rtlCol="0" anchor="t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-2500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551449FA-5371-457B-AE4E-9F1CBE4A12CC}"/>
                </a:ext>
              </a:extLst>
            </p:cNvPr>
            <p:cNvSpPr txBox="1"/>
            <p:nvPr/>
          </p:nvSpPr>
          <p:spPr>
            <a:xfrm>
              <a:off x="6643526" y="3595271"/>
              <a:ext cx="9028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800" dirty="0">
                  <a:solidFill>
                    <a:srgbClr val="777777"/>
                  </a:solidFill>
                </a:rPr>
                <a:t>Bobina</a:t>
              </a:r>
            </a:p>
          </p:txBody>
        </p:sp>
      </p:grpSp>
      <p:sp>
        <p:nvSpPr>
          <p:cNvPr id="27" name="CuadroTexto 26">
            <a:extLst>
              <a:ext uri="{FF2B5EF4-FFF2-40B4-BE49-F238E27FC236}">
                <a16:creationId xmlns:a16="http://schemas.microsoft.com/office/drawing/2014/main" id="{799107FB-5668-4ADF-84A8-D03FE65DD731}"/>
              </a:ext>
            </a:extLst>
          </p:cNvPr>
          <p:cNvSpPr txBox="1"/>
          <p:nvPr/>
        </p:nvSpPr>
        <p:spPr>
          <a:xfrm>
            <a:off x="2954976" y="4616959"/>
            <a:ext cx="15536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dirty="0">
                <a:solidFill>
                  <a:schemeClr val="tx1"/>
                </a:solidFill>
              </a:rPr>
              <a:t>ferromagnético</a:t>
            </a:r>
          </a:p>
        </p:txBody>
      </p:sp>
      <p:grpSp>
        <p:nvGrpSpPr>
          <p:cNvPr id="31" name="Grupo 30">
            <a:extLst>
              <a:ext uri="{FF2B5EF4-FFF2-40B4-BE49-F238E27FC236}">
                <a16:creationId xmlns:a16="http://schemas.microsoft.com/office/drawing/2014/main" id="{A231B277-9B63-41A0-98FA-DB7BBB7478D7}"/>
              </a:ext>
            </a:extLst>
          </p:cNvPr>
          <p:cNvGrpSpPr/>
          <p:nvPr/>
        </p:nvGrpSpPr>
        <p:grpSpPr>
          <a:xfrm>
            <a:off x="8254849" y="3753687"/>
            <a:ext cx="2015770" cy="1032549"/>
            <a:chOff x="7978392" y="3753687"/>
            <a:chExt cx="2015770" cy="1032549"/>
          </a:xfrm>
        </p:grpSpPr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D31A73F9-656C-48D5-9A95-D3515A778CAC}"/>
                </a:ext>
              </a:extLst>
            </p:cNvPr>
            <p:cNvSpPr txBox="1"/>
            <p:nvPr/>
          </p:nvSpPr>
          <p:spPr>
            <a:xfrm>
              <a:off x="8382823" y="3753687"/>
              <a:ext cx="161133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600" dirty="0">
                  <a:solidFill>
                    <a:schemeClr val="tx1"/>
                  </a:solidFill>
                </a:rPr>
                <a:t>Núcleo</a:t>
              </a:r>
            </a:p>
            <a:p>
              <a:r>
                <a:rPr lang="es-ES" sz="1600" dirty="0">
                  <a:solidFill>
                    <a:schemeClr val="tx1"/>
                  </a:solidFill>
                </a:rPr>
                <a:t>ferromagnético</a:t>
              </a:r>
            </a:p>
          </p:txBody>
        </p:sp>
        <p:cxnSp>
          <p:nvCxnSpPr>
            <p:cNvPr id="33" name="Conector recto de flecha 32">
              <a:extLst>
                <a:ext uri="{FF2B5EF4-FFF2-40B4-BE49-F238E27FC236}">
                  <a16:creationId xmlns:a16="http://schemas.microsoft.com/office/drawing/2014/main" id="{141A7541-D1CF-4E58-AC0C-FEB7E7B444CE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7978392" y="4338462"/>
              <a:ext cx="400467" cy="447774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sp>
        <p:nvSpPr>
          <p:cNvPr id="34" name="Rectángulo 33">
            <a:extLst>
              <a:ext uri="{FF2B5EF4-FFF2-40B4-BE49-F238E27FC236}">
                <a16:creationId xmlns:a16="http://schemas.microsoft.com/office/drawing/2014/main" id="{0F9D593B-9D4B-4F6F-A299-78D315B2033B}"/>
              </a:ext>
            </a:extLst>
          </p:cNvPr>
          <p:cNvSpPr/>
          <p:nvPr/>
        </p:nvSpPr>
        <p:spPr bwMode="auto">
          <a:xfrm>
            <a:off x="2631857" y="4927352"/>
            <a:ext cx="664247" cy="348343"/>
          </a:xfrm>
          <a:prstGeom prst="rect">
            <a:avLst/>
          </a:prstGeom>
          <a:solidFill>
            <a:srgbClr val="99CCFF">
              <a:alpha val="50196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squar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-2500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35" name="Text Box 12">
            <a:extLst>
              <a:ext uri="{FF2B5EF4-FFF2-40B4-BE49-F238E27FC236}">
                <a16:creationId xmlns:a16="http://schemas.microsoft.com/office/drawing/2014/main" id="{C404048F-86A4-4510-900F-8F5C08CFD5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356" y="4893821"/>
            <a:ext cx="1847325" cy="721215"/>
          </a:xfrm>
          <a:prstGeom prst="rect">
            <a:avLst/>
          </a:prstGeom>
          <a:solidFill>
            <a:srgbClr val="99CCFF">
              <a:alpha val="50196"/>
            </a:srgbClr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1800" dirty="0">
                <a:latin typeface="Arial" panose="020B0604020202020204" pitchFamily="34" charset="0"/>
              </a:rPr>
              <a:t>Circunferencia con información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6776E249-E1EB-4FA3-9E43-11BEB45ECC22}"/>
              </a:ext>
            </a:extLst>
          </p:cNvPr>
          <p:cNvSpPr/>
          <p:nvPr/>
        </p:nvSpPr>
        <p:spPr bwMode="auto">
          <a:xfrm>
            <a:off x="6407917" y="3276977"/>
            <a:ext cx="2257447" cy="229326"/>
          </a:xfrm>
          <a:prstGeom prst="rect">
            <a:avLst/>
          </a:prstGeom>
          <a:solidFill>
            <a:schemeClr val="tx2">
              <a:lumMod val="25000"/>
              <a:lumOff val="75000"/>
              <a:alpha val="5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EDD0CE35-B31C-41EB-8AB2-F8412FC93A53}"/>
              </a:ext>
            </a:extLst>
          </p:cNvPr>
          <p:cNvSpPr/>
          <p:nvPr/>
        </p:nvSpPr>
        <p:spPr bwMode="auto">
          <a:xfrm>
            <a:off x="4037775" y="3276403"/>
            <a:ext cx="2052225" cy="229326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55297C2A-2D00-41BF-A7FC-50AE6732B885}"/>
              </a:ext>
            </a:extLst>
          </p:cNvPr>
          <p:cNvSpPr/>
          <p:nvPr/>
        </p:nvSpPr>
        <p:spPr bwMode="auto">
          <a:xfrm>
            <a:off x="8634591" y="3784268"/>
            <a:ext cx="1541867" cy="540740"/>
          </a:xfrm>
          <a:prstGeom prst="rect">
            <a:avLst/>
          </a:prstGeom>
          <a:solidFill>
            <a:schemeClr val="accent3">
              <a:lumMod val="50000"/>
              <a:alpha val="5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351834CA-46D5-45BE-82A2-1D7B07E77A36}"/>
              </a:ext>
            </a:extLst>
          </p:cNvPr>
          <p:cNvSpPr/>
          <p:nvPr/>
        </p:nvSpPr>
        <p:spPr bwMode="auto">
          <a:xfrm>
            <a:off x="3016851" y="4359194"/>
            <a:ext cx="1401697" cy="540740"/>
          </a:xfrm>
          <a:prstGeom prst="rect">
            <a:avLst/>
          </a:prstGeom>
          <a:solidFill>
            <a:schemeClr val="accent3">
              <a:lumMod val="50000"/>
              <a:alpha val="5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1101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0" grpId="0" animBg="1"/>
      <p:bldP spid="25" grpId="0" animBg="1"/>
      <p:bldP spid="2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/>
          <p:cNvSpPr txBox="1"/>
          <p:nvPr/>
        </p:nvSpPr>
        <p:spPr>
          <a:xfrm>
            <a:off x="1235320" y="1281582"/>
            <a:ext cx="9070730" cy="179334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lIns="108000" tIns="108000" rIns="108000" bIns="144000" rtlCol="0" anchor="ctr" anchorCtr="0">
            <a:spAutoFit/>
          </a:bodyPr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La </a:t>
            </a:r>
            <a:r>
              <a:rPr lang="es-ES" dirty="0">
                <a:solidFill>
                  <a:srgbClr val="008000"/>
                </a:solidFill>
              </a:rPr>
              <a:t>lectura</a:t>
            </a:r>
            <a:r>
              <a:rPr lang="es-ES" dirty="0">
                <a:solidFill>
                  <a:schemeClr val="tx1"/>
                </a:solidFill>
              </a:rPr>
              <a:t> se hacía antes generando una </a:t>
            </a:r>
            <a:r>
              <a:rPr lang="es-ES" dirty="0" err="1">
                <a:latin typeface="Comic Sans MS" panose="030F0702030302020204" pitchFamily="66" charset="0"/>
              </a:rPr>
              <a:t>I</a:t>
            </a:r>
            <a:r>
              <a:rPr lang="es-ES" baseline="-25000" dirty="0" err="1">
                <a:solidFill>
                  <a:schemeClr val="tx1"/>
                </a:solidFill>
              </a:rPr>
              <a:t>inducida</a:t>
            </a:r>
            <a:r>
              <a:rPr lang="es-ES" dirty="0">
                <a:solidFill>
                  <a:schemeClr val="tx1"/>
                </a:solidFill>
              </a:rPr>
              <a:t> en una bobina. Su sentido (0 o 1) dependía del cambio en la orientación de 2 imanes consecutivos, del cambio en el </a:t>
            </a:r>
            <a:r>
              <a:rPr lang="es-ES" b="1" dirty="0">
                <a:solidFill>
                  <a:schemeClr val="tx1"/>
                </a:solidFill>
              </a:rPr>
              <a:t>B</a:t>
            </a:r>
            <a:r>
              <a:rPr lang="es-ES" dirty="0">
                <a:solidFill>
                  <a:schemeClr val="tx1"/>
                </a:solidFill>
              </a:rPr>
              <a:t>. </a:t>
            </a:r>
            <a:r>
              <a:rPr lang="es-ES" dirty="0"/>
              <a:t>Al </a:t>
            </a:r>
            <a:r>
              <a:rPr lang="es-ES" dirty="0">
                <a:solidFill>
                  <a:srgbClr val="FF0000"/>
                </a:solidFill>
              </a:rPr>
              <a:t>miniaturizar</a:t>
            </a:r>
            <a:r>
              <a:rPr lang="es-ES" dirty="0"/>
              <a:t>, l</a:t>
            </a:r>
            <a:r>
              <a:rPr lang="es-ES" dirty="0">
                <a:sym typeface="Symbol" panose="05050102010706020507" pitchFamily="18" charset="2"/>
              </a:rPr>
              <a:t>a </a:t>
            </a:r>
            <a:r>
              <a:rPr lang="es-ES" dirty="0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dirty="0">
                <a:sym typeface="Symbol" panose="05050102010706020507" pitchFamily="18" charset="2"/>
              </a:rPr>
              <a:t> se debilitó y no se distinguía de la creada por las </a:t>
            </a:r>
            <a:r>
              <a:rPr lang="es-ES" dirty="0" err="1">
                <a:sym typeface="Symbol" panose="05050102010706020507" pitchFamily="18" charset="2"/>
              </a:rPr>
              <a:t>ddp</a:t>
            </a:r>
            <a:r>
              <a:rPr lang="es-ES" dirty="0">
                <a:sym typeface="Symbol" panose="05050102010706020507" pitchFamily="18" charset="2"/>
              </a:rPr>
              <a:t> generadas por polarizaciones inducidas por la agitación térmica. Actualmente, la clave, es que se distinga al menos la alta</a:t>
            </a:r>
            <a:endParaRPr lang="es-ES" baseline="-25000" dirty="0">
              <a:solidFill>
                <a:schemeClr val="tx1"/>
              </a:solidFill>
            </a:endParaRPr>
          </a:p>
        </p:txBody>
      </p:sp>
      <p:sp>
        <p:nvSpPr>
          <p:cNvPr id="30" name="Text Box 42">
            <a:extLst>
              <a:ext uri="{FF2B5EF4-FFF2-40B4-BE49-F238E27FC236}">
                <a16:creationId xmlns:a16="http://schemas.microsoft.com/office/drawing/2014/main" id="{8C4EAA79-17D1-4677-8A26-3D9E9A0962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5320" y="109216"/>
            <a:ext cx="9070729" cy="109054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000" dirty="0">
                <a:latin typeface="Arial" panose="020B0604020202020204" pitchFamily="34" charset="0"/>
              </a:rPr>
              <a:t>La disminución del </a:t>
            </a:r>
            <a:r>
              <a:rPr lang="es-ES" sz="2000" b="1" dirty="0">
                <a:latin typeface="Arial" panose="020B0604020202020204" pitchFamily="34" charset="0"/>
              </a:rPr>
              <a:t>B</a:t>
            </a:r>
            <a:r>
              <a:rPr lang="es-ES" sz="2000" dirty="0">
                <a:latin typeface="Arial" panose="020B0604020202020204" pitchFamily="34" charset="0"/>
              </a:rPr>
              <a:t> de </a:t>
            </a:r>
            <a:r>
              <a:rPr lang="es-ES" sz="2000" dirty="0">
                <a:solidFill>
                  <a:srgbClr val="008000"/>
                </a:solidFill>
                <a:latin typeface="Arial" panose="020B0604020202020204" pitchFamily="34" charset="0"/>
              </a:rPr>
              <a:t>escritura</a:t>
            </a:r>
            <a:r>
              <a:rPr lang="es-ES" sz="2000" dirty="0">
                <a:latin typeface="Arial" panose="020B0604020202020204" pitchFamily="34" charset="0"/>
              </a:rPr>
              <a:t> debido a la </a:t>
            </a:r>
            <a:r>
              <a:rPr lang="es-ES" sz="2000" dirty="0">
                <a:solidFill>
                  <a:srgbClr val="FF0000"/>
                </a:solidFill>
                <a:latin typeface="Arial" panose="020B0604020202020204" pitchFamily="34" charset="0"/>
              </a:rPr>
              <a:t>miniaturización</a:t>
            </a:r>
            <a:r>
              <a:rPr lang="es-ES" sz="2000" dirty="0">
                <a:latin typeface="Arial" panose="020B0604020202020204" pitchFamily="34" charset="0"/>
              </a:rPr>
              <a:t> de la bobina, asociada a la mayor capacidad de los HD, a que tengan más imanes pero  más “pequeños”, se ha compensado aumentando la </a:t>
            </a:r>
            <a:r>
              <a:rPr lang="es-ES" sz="2000" dirty="0">
                <a:latin typeface="Comic Sans MS" panose="030F0702030302020204" pitchFamily="66" charset="0"/>
              </a:rPr>
              <a:t>I</a:t>
            </a:r>
            <a:r>
              <a:rPr lang="es-ES" sz="2000" dirty="0">
                <a:latin typeface="Arial" panose="020B0604020202020204" pitchFamily="34" charset="0"/>
              </a:rPr>
              <a:t> de escritura</a:t>
            </a:r>
            <a:endParaRPr lang="es-ES" sz="2000" dirty="0">
              <a:latin typeface="Comic Sans MS" panose="030F0702030302020204" pitchFamily="66" charset="0"/>
            </a:endParaRPr>
          </a:p>
        </p:txBody>
      </p:sp>
      <p:pic>
        <p:nvPicPr>
          <p:cNvPr id="15" name="Picture 20" descr="FNT_TEMA1_HD">
            <a:extLst>
              <a:ext uri="{FF2B5EF4-FFF2-40B4-BE49-F238E27FC236}">
                <a16:creationId xmlns:a16="http://schemas.microsoft.com/office/drawing/2014/main" id="{D5B2A60C-D4D9-42F9-9458-75E0087630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9373" y="3176830"/>
            <a:ext cx="8580437" cy="391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Rectángulo 16">
            <a:extLst>
              <a:ext uri="{FF2B5EF4-FFF2-40B4-BE49-F238E27FC236}">
                <a16:creationId xmlns:a16="http://schemas.microsoft.com/office/drawing/2014/main" id="{BE68F1B5-B5F2-4FA9-A570-40E8B1224B59}"/>
              </a:ext>
            </a:extLst>
          </p:cNvPr>
          <p:cNvSpPr/>
          <p:nvPr/>
        </p:nvSpPr>
        <p:spPr bwMode="auto">
          <a:xfrm>
            <a:off x="5196800" y="6477001"/>
            <a:ext cx="1077686" cy="348343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-2500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1998D7EB-5542-4F83-B162-B894FA8E364F}"/>
              </a:ext>
            </a:extLst>
          </p:cNvPr>
          <p:cNvSpPr/>
          <p:nvPr/>
        </p:nvSpPr>
        <p:spPr bwMode="auto">
          <a:xfrm>
            <a:off x="2675273" y="3892000"/>
            <a:ext cx="2717470" cy="348343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squar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-2500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94DF7A91-BD59-4953-BA98-A7A13AEDA79B}"/>
              </a:ext>
            </a:extLst>
          </p:cNvPr>
          <p:cNvSpPr/>
          <p:nvPr/>
        </p:nvSpPr>
        <p:spPr bwMode="auto">
          <a:xfrm>
            <a:off x="6405114" y="6487886"/>
            <a:ext cx="1077686" cy="348343"/>
          </a:xfrm>
          <a:prstGeom prst="rect">
            <a:avLst/>
          </a:prstGeom>
          <a:solidFill>
            <a:schemeClr val="tx2">
              <a:lumMod val="50000"/>
              <a:lumOff val="50000"/>
              <a:alpha val="50196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-2500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D76CC2D9-9C19-4A39-843E-6F1A00A9545D}"/>
              </a:ext>
            </a:extLst>
          </p:cNvPr>
          <p:cNvGrpSpPr/>
          <p:nvPr/>
        </p:nvGrpSpPr>
        <p:grpSpPr>
          <a:xfrm>
            <a:off x="6829879" y="3595271"/>
            <a:ext cx="1077686" cy="369332"/>
            <a:chOff x="6553422" y="3595271"/>
            <a:chExt cx="1077686" cy="369332"/>
          </a:xfrm>
        </p:grpSpPr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A1B73977-BD8F-4945-8240-A9FAB17B9A4E}"/>
                </a:ext>
              </a:extLst>
            </p:cNvPr>
            <p:cNvSpPr/>
            <p:nvPr/>
          </p:nvSpPr>
          <p:spPr bwMode="auto">
            <a:xfrm>
              <a:off x="6553422" y="3611337"/>
              <a:ext cx="1077686" cy="348343"/>
            </a:xfrm>
            <a:prstGeom prst="rect">
              <a:avLst/>
            </a:prstGeom>
            <a:solidFill>
              <a:schemeClr val="tx2">
                <a:lumMod val="50000"/>
                <a:lumOff val="50000"/>
                <a:alpha val="50196"/>
              </a:schemeClr>
            </a:solidFill>
            <a:ln w="254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none" lIns="90000" tIns="82800" rIns="90000" bIns="82800" numCol="1" rtlCol="0" anchor="t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-2500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C9556BB6-9857-4830-A11E-6AFE16F83DFE}"/>
                </a:ext>
              </a:extLst>
            </p:cNvPr>
            <p:cNvSpPr txBox="1"/>
            <p:nvPr/>
          </p:nvSpPr>
          <p:spPr>
            <a:xfrm>
              <a:off x="6643526" y="3595271"/>
              <a:ext cx="9028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800" dirty="0">
                  <a:solidFill>
                    <a:srgbClr val="777777"/>
                  </a:solidFill>
                </a:rPr>
                <a:t>Bobina</a:t>
              </a:r>
            </a:p>
          </p:txBody>
        </p:sp>
      </p:grpSp>
      <p:sp>
        <p:nvSpPr>
          <p:cNvPr id="27" name="CuadroTexto 26">
            <a:extLst>
              <a:ext uri="{FF2B5EF4-FFF2-40B4-BE49-F238E27FC236}">
                <a16:creationId xmlns:a16="http://schemas.microsoft.com/office/drawing/2014/main" id="{954B63F8-4977-40A6-A844-7B634960B24E}"/>
              </a:ext>
            </a:extLst>
          </p:cNvPr>
          <p:cNvSpPr txBox="1"/>
          <p:nvPr/>
        </p:nvSpPr>
        <p:spPr>
          <a:xfrm>
            <a:off x="2954976" y="4616959"/>
            <a:ext cx="15536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dirty="0">
                <a:solidFill>
                  <a:schemeClr val="tx1"/>
                </a:solidFill>
              </a:rPr>
              <a:t>ferromagnético</a:t>
            </a:r>
          </a:p>
        </p:txBody>
      </p:sp>
      <p:grpSp>
        <p:nvGrpSpPr>
          <p:cNvPr id="31" name="Grupo 30">
            <a:extLst>
              <a:ext uri="{FF2B5EF4-FFF2-40B4-BE49-F238E27FC236}">
                <a16:creationId xmlns:a16="http://schemas.microsoft.com/office/drawing/2014/main" id="{661DFB65-DA61-43A4-902B-9008191A072E}"/>
              </a:ext>
            </a:extLst>
          </p:cNvPr>
          <p:cNvGrpSpPr/>
          <p:nvPr/>
        </p:nvGrpSpPr>
        <p:grpSpPr>
          <a:xfrm>
            <a:off x="8254849" y="3753687"/>
            <a:ext cx="2015770" cy="1032549"/>
            <a:chOff x="7978392" y="3753687"/>
            <a:chExt cx="2015770" cy="1032549"/>
          </a:xfrm>
        </p:grpSpPr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DCCF7288-BBA5-4EF9-B866-8C5BB5D8F6CB}"/>
                </a:ext>
              </a:extLst>
            </p:cNvPr>
            <p:cNvSpPr txBox="1"/>
            <p:nvPr/>
          </p:nvSpPr>
          <p:spPr>
            <a:xfrm>
              <a:off x="8382823" y="3753687"/>
              <a:ext cx="161133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600" dirty="0">
                  <a:solidFill>
                    <a:schemeClr val="tx1"/>
                  </a:solidFill>
                </a:rPr>
                <a:t>Núcleo</a:t>
              </a:r>
            </a:p>
            <a:p>
              <a:r>
                <a:rPr lang="es-ES" sz="1600" dirty="0">
                  <a:solidFill>
                    <a:schemeClr val="tx1"/>
                  </a:solidFill>
                </a:rPr>
                <a:t>ferromagnético</a:t>
              </a:r>
            </a:p>
          </p:txBody>
        </p:sp>
        <p:cxnSp>
          <p:nvCxnSpPr>
            <p:cNvPr id="33" name="Conector recto de flecha 32">
              <a:extLst>
                <a:ext uri="{FF2B5EF4-FFF2-40B4-BE49-F238E27FC236}">
                  <a16:creationId xmlns:a16="http://schemas.microsoft.com/office/drawing/2014/main" id="{0CC6165A-F7C7-4F0D-A3F9-7725204D8A82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7978392" y="4338462"/>
              <a:ext cx="400467" cy="447774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sp>
        <p:nvSpPr>
          <p:cNvPr id="34" name="Rectángulo 33">
            <a:extLst>
              <a:ext uri="{FF2B5EF4-FFF2-40B4-BE49-F238E27FC236}">
                <a16:creationId xmlns:a16="http://schemas.microsoft.com/office/drawing/2014/main" id="{DF6C4A47-1648-4756-BF73-54A56896CC7D}"/>
              </a:ext>
            </a:extLst>
          </p:cNvPr>
          <p:cNvSpPr/>
          <p:nvPr/>
        </p:nvSpPr>
        <p:spPr bwMode="auto">
          <a:xfrm>
            <a:off x="2631857" y="4927352"/>
            <a:ext cx="664247" cy="348343"/>
          </a:xfrm>
          <a:prstGeom prst="rect">
            <a:avLst/>
          </a:prstGeom>
          <a:solidFill>
            <a:srgbClr val="99CCFF">
              <a:alpha val="50196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squar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-2500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35" name="Text Box 12">
            <a:extLst>
              <a:ext uri="{FF2B5EF4-FFF2-40B4-BE49-F238E27FC236}">
                <a16:creationId xmlns:a16="http://schemas.microsoft.com/office/drawing/2014/main" id="{677692F5-DEB2-4638-850E-33DB9466CC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356" y="4893821"/>
            <a:ext cx="1847325" cy="721215"/>
          </a:xfrm>
          <a:prstGeom prst="rect">
            <a:avLst/>
          </a:prstGeom>
          <a:solidFill>
            <a:srgbClr val="99CCFF">
              <a:alpha val="50196"/>
            </a:srgbClr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1800" dirty="0">
                <a:latin typeface="Arial" panose="020B0604020202020204" pitchFamily="34" charset="0"/>
              </a:rPr>
              <a:t>Circunferencia con información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FED91460-68EA-4C49-831C-AF403B59DFA4}"/>
              </a:ext>
            </a:extLst>
          </p:cNvPr>
          <p:cNvSpPr/>
          <p:nvPr/>
        </p:nvSpPr>
        <p:spPr bwMode="auto">
          <a:xfrm>
            <a:off x="6407917" y="3276977"/>
            <a:ext cx="2257447" cy="229326"/>
          </a:xfrm>
          <a:prstGeom prst="rect">
            <a:avLst/>
          </a:prstGeom>
          <a:solidFill>
            <a:schemeClr val="tx2">
              <a:lumMod val="25000"/>
              <a:lumOff val="75000"/>
              <a:alpha val="5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2E5FEBA1-4566-4124-8CD9-C4EB0D3260A0}"/>
              </a:ext>
            </a:extLst>
          </p:cNvPr>
          <p:cNvSpPr/>
          <p:nvPr/>
        </p:nvSpPr>
        <p:spPr bwMode="auto">
          <a:xfrm>
            <a:off x="4037775" y="3276403"/>
            <a:ext cx="2052225" cy="229326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BEA125F9-4137-4C92-8D69-7CB6B9E7B6E1}"/>
              </a:ext>
            </a:extLst>
          </p:cNvPr>
          <p:cNvSpPr/>
          <p:nvPr/>
        </p:nvSpPr>
        <p:spPr bwMode="auto">
          <a:xfrm>
            <a:off x="8634591" y="3784268"/>
            <a:ext cx="1541867" cy="540740"/>
          </a:xfrm>
          <a:prstGeom prst="rect">
            <a:avLst/>
          </a:prstGeom>
          <a:solidFill>
            <a:schemeClr val="accent3">
              <a:lumMod val="50000"/>
              <a:alpha val="5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C6E205DE-73B7-4B37-ADA0-F3362ED501A3}"/>
              </a:ext>
            </a:extLst>
          </p:cNvPr>
          <p:cNvSpPr/>
          <p:nvPr/>
        </p:nvSpPr>
        <p:spPr bwMode="auto">
          <a:xfrm>
            <a:off x="3016851" y="4359194"/>
            <a:ext cx="1401697" cy="540740"/>
          </a:xfrm>
          <a:prstGeom prst="rect">
            <a:avLst/>
          </a:prstGeom>
          <a:solidFill>
            <a:schemeClr val="accent3">
              <a:lumMod val="50000"/>
              <a:alpha val="5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1051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4"/>
          <p:cNvGrpSpPr>
            <a:grpSpLocks/>
          </p:cNvGrpSpPr>
          <p:nvPr/>
        </p:nvGrpSpPr>
        <p:grpSpPr bwMode="auto">
          <a:xfrm>
            <a:off x="2511562" y="1354326"/>
            <a:ext cx="7578725" cy="5091105"/>
            <a:chOff x="1556" y="669"/>
            <a:chExt cx="4774" cy="3207"/>
          </a:xfrm>
        </p:grpSpPr>
        <p:sp>
          <p:nvSpPr>
            <p:cNvPr id="33873" name="Line 5"/>
            <p:cNvSpPr>
              <a:spLocks noChangeShapeType="1"/>
            </p:cNvSpPr>
            <p:nvPr/>
          </p:nvSpPr>
          <p:spPr bwMode="auto">
            <a:xfrm>
              <a:off x="3611" y="879"/>
              <a:ext cx="0" cy="299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stealth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33874" name="Line 6"/>
            <p:cNvSpPr>
              <a:spLocks noChangeShapeType="1"/>
            </p:cNvSpPr>
            <p:nvPr/>
          </p:nvSpPr>
          <p:spPr bwMode="auto">
            <a:xfrm>
              <a:off x="1556" y="2451"/>
              <a:ext cx="411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33875" name="Text Box 7"/>
            <p:cNvSpPr txBox="1">
              <a:spLocks noChangeArrowheads="1"/>
            </p:cNvSpPr>
            <p:nvPr/>
          </p:nvSpPr>
          <p:spPr bwMode="auto">
            <a:xfrm>
              <a:off x="3650" y="669"/>
              <a:ext cx="915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latin typeface="Arial" panose="020B0604020202020204" pitchFamily="34" charset="0"/>
                </a:rPr>
                <a:t>B</a:t>
              </a:r>
              <a:r>
                <a:rPr lang="es-ES" sz="2000" baseline="-25000">
                  <a:latin typeface="Arial" panose="020B0604020202020204" pitchFamily="34" charset="0"/>
                </a:rPr>
                <a:t>magnetización</a:t>
              </a:r>
            </a:p>
          </p:txBody>
        </p:sp>
        <p:sp>
          <p:nvSpPr>
            <p:cNvPr id="33877" name="Text Box 9"/>
            <p:cNvSpPr txBox="1">
              <a:spLocks noChangeArrowheads="1"/>
            </p:cNvSpPr>
            <p:nvPr/>
          </p:nvSpPr>
          <p:spPr bwMode="auto">
            <a:xfrm>
              <a:off x="5708" y="2226"/>
              <a:ext cx="622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FontTx/>
                <a:buNone/>
              </a:pPr>
              <a:r>
                <a:rPr lang="es-ES" sz="2000" dirty="0" err="1">
                  <a:latin typeface="Arial" panose="020B0604020202020204" pitchFamily="34" charset="0"/>
                </a:rPr>
                <a:t>B</a:t>
              </a:r>
              <a:r>
                <a:rPr lang="es-ES" sz="2000" baseline="-25000" dirty="0" err="1">
                  <a:latin typeface="Arial" panose="020B0604020202020204" pitchFamily="34" charset="0"/>
                </a:rPr>
                <a:t>aplicado</a:t>
              </a:r>
              <a:endParaRPr lang="es-ES" sz="2000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5775462" y="1876637"/>
            <a:ext cx="3757612" cy="557218"/>
            <a:chOff x="3612" y="998"/>
            <a:chExt cx="2367" cy="351"/>
          </a:xfrm>
        </p:grpSpPr>
        <p:sp>
          <p:nvSpPr>
            <p:cNvPr id="33871" name="Line 11"/>
            <p:cNvSpPr>
              <a:spLocks noChangeShapeType="1"/>
            </p:cNvSpPr>
            <p:nvPr/>
          </p:nvSpPr>
          <p:spPr bwMode="auto">
            <a:xfrm flipH="1">
              <a:off x="3612" y="1349"/>
              <a:ext cx="1331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prstDash val="dash"/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33872" name="Text Box 12"/>
            <p:cNvSpPr txBox="1">
              <a:spLocks noChangeArrowheads="1"/>
            </p:cNvSpPr>
            <p:nvPr/>
          </p:nvSpPr>
          <p:spPr bwMode="auto">
            <a:xfrm>
              <a:off x="4922" y="998"/>
              <a:ext cx="1057" cy="2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1800">
                  <a:latin typeface="Arial" panose="020B0604020202020204" pitchFamily="34" charset="0"/>
                </a:rPr>
                <a:t>SATURACIÓN</a:t>
              </a:r>
            </a:p>
          </p:txBody>
        </p:sp>
      </p:grpSp>
      <p:sp>
        <p:nvSpPr>
          <p:cNvPr id="33869" name="Line 24"/>
          <p:cNvSpPr>
            <a:spLocks noChangeShapeType="1"/>
          </p:cNvSpPr>
          <p:nvPr/>
        </p:nvSpPr>
        <p:spPr bwMode="auto">
          <a:xfrm flipH="1">
            <a:off x="5049974" y="3814958"/>
            <a:ext cx="0" cy="984250"/>
          </a:xfrm>
          <a:prstGeom prst="line">
            <a:avLst/>
          </a:prstGeom>
          <a:noFill/>
          <a:ln w="25400">
            <a:solidFill>
              <a:srgbClr val="008000"/>
            </a:solidFill>
            <a:prstDash val="dash"/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82800" rIns="90000" bIns="82800" anchorCtr="1">
            <a:spAutoFit/>
          </a:bodyPr>
          <a:lstStyle/>
          <a:p>
            <a:endParaRPr lang="en-GB"/>
          </a:p>
        </p:txBody>
      </p:sp>
      <p:sp>
        <p:nvSpPr>
          <p:cNvPr id="33870" name="Line 25"/>
          <p:cNvSpPr>
            <a:spLocks noChangeShapeType="1"/>
          </p:cNvSpPr>
          <p:nvPr/>
        </p:nvSpPr>
        <p:spPr bwMode="auto">
          <a:xfrm flipH="1">
            <a:off x="6480312" y="3740345"/>
            <a:ext cx="0" cy="984250"/>
          </a:xfrm>
          <a:prstGeom prst="line">
            <a:avLst/>
          </a:prstGeom>
          <a:noFill/>
          <a:ln w="25400">
            <a:solidFill>
              <a:srgbClr val="008000"/>
            </a:solidFill>
            <a:prstDash val="dash"/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82800" rIns="90000" bIns="82800" anchorCtr="1">
            <a:spAutoFit/>
          </a:bodyPr>
          <a:lstStyle/>
          <a:p>
            <a:endParaRPr lang="en-GB"/>
          </a:p>
        </p:txBody>
      </p:sp>
      <p:grpSp>
        <p:nvGrpSpPr>
          <p:cNvPr id="7" name="Group 26"/>
          <p:cNvGrpSpPr>
            <a:grpSpLocks/>
          </p:cNvGrpSpPr>
          <p:nvPr/>
        </p:nvGrpSpPr>
        <p:grpSpPr bwMode="auto">
          <a:xfrm>
            <a:off x="5053149" y="2433833"/>
            <a:ext cx="2859088" cy="1817687"/>
            <a:chOff x="3157" y="1349"/>
            <a:chExt cx="1801" cy="1145"/>
          </a:xfrm>
        </p:grpSpPr>
        <p:sp>
          <p:nvSpPr>
            <p:cNvPr id="33866" name="Freeform 27"/>
            <p:cNvSpPr>
              <a:spLocks/>
            </p:cNvSpPr>
            <p:nvPr/>
          </p:nvSpPr>
          <p:spPr bwMode="auto">
            <a:xfrm>
              <a:off x="3157" y="1349"/>
              <a:ext cx="1801" cy="1145"/>
            </a:xfrm>
            <a:custGeom>
              <a:avLst/>
              <a:gdLst>
                <a:gd name="T0" fmla="*/ 1801 w 1801"/>
                <a:gd name="T1" fmla="*/ 0 h 1145"/>
                <a:gd name="T2" fmla="*/ 904 w 1801"/>
                <a:gd name="T3" fmla="*/ 109 h 1145"/>
                <a:gd name="T4" fmla="*/ 445 w 1801"/>
                <a:gd name="T5" fmla="*/ 343 h 1145"/>
                <a:gd name="T6" fmla="*/ 146 w 1801"/>
                <a:gd name="T7" fmla="*/ 758 h 1145"/>
                <a:gd name="T8" fmla="*/ 29 w 1801"/>
                <a:gd name="T9" fmla="*/ 1013 h 1145"/>
                <a:gd name="T10" fmla="*/ 0 w 1801"/>
                <a:gd name="T11" fmla="*/ 1145 h 114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801"/>
                <a:gd name="T19" fmla="*/ 0 h 1145"/>
                <a:gd name="T20" fmla="*/ 1801 w 1801"/>
                <a:gd name="T21" fmla="*/ 1145 h 114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801" h="1145">
                  <a:moveTo>
                    <a:pt x="1801" y="0"/>
                  </a:moveTo>
                  <a:cubicBezTo>
                    <a:pt x="1465" y="26"/>
                    <a:pt x="1130" y="52"/>
                    <a:pt x="904" y="109"/>
                  </a:cubicBezTo>
                  <a:cubicBezTo>
                    <a:pt x="678" y="166"/>
                    <a:pt x="571" y="235"/>
                    <a:pt x="445" y="343"/>
                  </a:cubicBezTo>
                  <a:cubicBezTo>
                    <a:pt x="319" y="451"/>
                    <a:pt x="215" y="646"/>
                    <a:pt x="146" y="758"/>
                  </a:cubicBezTo>
                  <a:cubicBezTo>
                    <a:pt x="77" y="870"/>
                    <a:pt x="53" y="949"/>
                    <a:pt x="29" y="1013"/>
                  </a:cubicBezTo>
                  <a:cubicBezTo>
                    <a:pt x="5" y="1077"/>
                    <a:pt x="2" y="1111"/>
                    <a:pt x="0" y="1145"/>
                  </a:cubicBezTo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33867" name="Line 28"/>
            <p:cNvSpPr>
              <a:spLocks noChangeShapeType="1"/>
            </p:cNvSpPr>
            <p:nvPr/>
          </p:nvSpPr>
          <p:spPr bwMode="auto">
            <a:xfrm flipH="1">
              <a:off x="3850" y="1473"/>
              <a:ext cx="131" cy="51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33868" name="Line 29"/>
            <p:cNvSpPr>
              <a:spLocks noChangeShapeType="1"/>
            </p:cNvSpPr>
            <p:nvPr/>
          </p:nvSpPr>
          <p:spPr bwMode="auto">
            <a:xfrm flipH="1">
              <a:off x="3339" y="1932"/>
              <a:ext cx="66" cy="11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</p:grpSp>
      <p:grpSp>
        <p:nvGrpSpPr>
          <p:cNvPr id="9" name="Group 33"/>
          <p:cNvGrpSpPr>
            <a:grpSpLocks/>
          </p:cNvGrpSpPr>
          <p:nvPr/>
        </p:nvGrpSpPr>
        <p:grpSpPr bwMode="auto">
          <a:xfrm>
            <a:off x="2652849" y="4252585"/>
            <a:ext cx="2397125" cy="1800225"/>
            <a:chOff x="1645" y="2501"/>
            <a:chExt cx="1510" cy="1134"/>
          </a:xfrm>
        </p:grpSpPr>
        <p:sp>
          <p:nvSpPr>
            <p:cNvPr id="33863" name="Line 34"/>
            <p:cNvSpPr>
              <a:spLocks noChangeShapeType="1"/>
            </p:cNvSpPr>
            <p:nvPr/>
          </p:nvSpPr>
          <p:spPr bwMode="auto">
            <a:xfrm rot="10800000">
              <a:off x="1645" y="3635"/>
              <a:ext cx="620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33864" name="Freeform 35"/>
            <p:cNvSpPr>
              <a:spLocks/>
            </p:cNvSpPr>
            <p:nvPr/>
          </p:nvSpPr>
          <p:spPr bwMode="auto">
            <a:xfrm rot="10800000">
              <a:off x="2259" y="2501"/>
              <a:ext cx="896" cy="1130"/>
            </a:xfrm>
            <a:custGeom>
              <a:avLst/>
              <a:gdLst>
                <a:gd name="T0" fmla="*/ 0 w 1801"/>
                <a:gd name="T1" fmla="*/ 0 h 1145"/>
                <a:gd name="T2" fmla="*/ 0 w 1801"/>
                <a:gd name="T3" fmla="*/ 81 h 1145"/>
                <a:gd name="T4" fmla="*/ 0 w 1801"/>
                <a:gd name="T5" fmla="*/ 240 h 1145"/>
                <a:gd name="T6" fmla="*/ 0 w 1801"/>
                <a:gd name="T7" fmla="*/ 524 h 1145"/>
                <a:gd name="T8" fmla="*/ 0 w 1801"/>
                <a:gd name="T9" fmla="*/ 701 h 1145"/>
                <a:gd name="T10" fmla="*/ 0 w 1801"/>
                <a:gd name="T11" fmla="*/ 791 h 114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801"/>
                <a:gd name="T19" fmla="*/ 0 h 1145"/>
                <a:gd name="T20" fmla="*/ 1801 w 1801"/>
                <a:gd name="T21" fmla="*/ 1145 h 114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801" h="1145">
                  <a:moveTo>
                    <a:pt x="1801" y="0"/>
                  </a:moveTo>
                  <a:cubicBezTo>
                    <a:pt x="1465" y="26"/>
                    <a:pt x="1130" y="52"/>
                    <a:pt x="904" y="109"/>
                  </a:cubicBezTo>
                  <a:cubicBezTo>
                    <a:pt x="678" y="166"/>
                    <a:pt x="571" y="235"/>
                    <a:pt x="445" y="343"/>
                  </a:cubicBezTo>
                  <a:cubicBezTo>
                    <a:pt x="319" y="451"/>
                    <a:pt x="215" y="646"/>
                    <a:pt x="146" y="758"/>
                  </a:cubicBezTo>
                  <a:cubicBezTo>
                    <a:pt x="77" y="870"/>
                    <a:pt x="53" y="949"/>
                    <a:pt x="29" y="1013"/>
                  </a:cubicBezTo>
                  <a:cubicBezTo>
                    <a:pt x="5" y="1077"/>
                    <a:pt x="2" y="1111"/>
                    <a:pt x="0" y="1145"/>
                  </a:cubicBezTo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33865" name="Line 36"/>
            <p:cNvSpPr>
              <a:spLocks noChangeShapeType="1"/>
            </p:cNvSpPr>
            <p:nvPr/>
          </p:nvSpPr>
          <p:spPr bwMode="auto">
            <a:xfrm flipH="1">
              <a:off x="2996" y="3019"/>
              <a:ext cx="44" cy="14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</p:grpSp>
      <p:grpSp>
        <p:nvGrpSpPr>
          <p:cNvPr id="10" name="Group 37"/>
          <p:cNvGrpSpPr>
            <a:grpSpLocks/>
          </p:cNvGrpSpPr>
          <p:nvPr/>
        </p:nvGrpSpPr>
        <p:grpSpPr bwMode="auto">
          <a:xfrm>
            <a:off x="3619637" y="4256283"/>
            <a:ext cx="2859087" cy="1817687"/>
            <a:chOff x="2254" y="2497"/>
            <a:chExt cx="1801" cy="1145"/>
          </a:xfrm>
        </p:grpSpPr>
        <p:sp>
          <p:nvSpPr>
            <p:cNvPr id="33860" name="Freeform 38"/>
            <p:cNvSpPr>
              <a:spLocks/>
            </p:cNvSpPr>
            <p:nvPr/>
          </p:nvSpPr>
          <p:spPr bwMode="auto">
            <a:xfrm rot="10800000">
              <a:off x="2254" y="2497"/>
              <a:ext cx="1801" cy="1145"/>
            </a:xfrm>
            <a:custGeom>
              <a:avLst/>
              <a:gdLst>
                <a:gd name="T0" fmla="*/ 1801 w 1801"/>
                <a:gd name="T1" fmla="*/ 0 h 1145"/>
                <a:gd name="T2" fmla="*/ 904 w 1801"/>
                <a:gd name="T3" fmla="*/ 109 h 1145"/>
                <a:gd name="T4" fmla="*/ 445 w 1801"/>
                <a:gd name="T5" fmla="*/ 343 h 1145"/>
                <a:gd name="T6" fmla="*/ 146 w 1801"/>
                <a:gd name="T7" fmla="*/ 758 h 1145"/>
                <a:gd name="T8" fmla="*/ 29 w 1801"/>
                <a:gd name="T9" fmla="*/ 1013 h 1145"/>
                <a:gd name="T10" fmla="*/ 0 w 1801"/>
                <a:gd name="T11" fmla="*/ 1145 h 114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801"/>
                <a:gd name="T19" fmla="*/ 0 h 1145"/>
                <a:gd name="T20" fmla="*/ 1801 w 1801"/>
                <a:gd name="T21" fmla="*/ 1145 h 114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801" h="1145">
                  <a:moveTo>
                    <a:pt x="1801" y="0"/>
                  </a:moveTo>
                  <a:cubicBezTo>
                    <a:pt x="1465" y="26"/>
                    <a:pt x="1130" y="52"/>
                    <a:pt x="904" y="109"/>
                  </a:cubicBezTo>
                  <a:cubicBezTo>
                    <a:pt x="678" y="166"/>
                    <a:pt x="571" y="235"/>
                    <a:pt x="445" y="343"/>
                  </a:cubicBezTo>
                  <a:cubicBezTo>
                    <a:pt x="319" y="451"/>
                    <a:pt x="215" y="646"/>
                    <a:pt x="146" y="758"/>
                  </a:cubicBezTo>
                  <a:cubicBezTo>
                    <a:pt x="77" y="870"/>
                    <a:pt x="53" y="949"/>
                    <a:pt x="29" y="1013"/>
                  </a:cubicBezTo>
                  <a:cubicBezTo>
                    <a:pt x="5" y="1077"/>
                    <a:pt x="2" y="1111"/>
                    <a:pt x="0" y="1145"/>
                  </a:cubicBezTo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33861" name="Line 39"/>
            <p:cNvSpPr>
              <a:spLocks noChangeShapeType="1"/>
            </p:cNvSpPr>
            <p:nvPr/>
          </p:nvSpPr>
          <p:spPr bwMode="auto">
            <a:xfrm rot="10800000" flipH="1">
              <a:off x="3278" y="3447"/>
              <a:ext cx="131" cy="51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33862" name="Line 40"/>
            <p:cNvSpPr>
              <a:spLocks noChangeShapeType="1"/>
            </p:cNvSpPr>
            <p:nvPr/>
          </p:nvSpPr>
          <p:spPr bwMode="auto">
            <a:xfrm rot="10800000" flipH="1">
              <a:off x="3860" y="2862"/>
              <a:ext cx="66" cy="11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</p:grpSp>
      <p:grpSp>
        <p:nvGrpSpPr>
          <p:cNvPr id="11" name="Group 41"/>
          <p:cNvGrpSpPr>
            <a:grpSpLocks/>
          </p:cNvGrpSpPr>
          <p:nvPr/>
        </p:nvGrpSpPr>
        <p:grpSpPr bwMode="auto">
          <a:xfrm>
            <a:off x="6483487" y="2451295"/>
            <a:ext cx="1422400" cy="1793875"/>
            <a:chOff x="4058" y="1367"/>
            <a:chExt cx="896" cy="1130"/>
          </a:xfrm>
        </p:grpSpPr>
        <p:sp>
          <p:nvSpPr>
            <p:cNvPr id="33858" name="Freeform 42"/>
            <p:cNvSpPr>
              <a:spLocks/>
            </p:cNvSpPr>
            <p:nvPr/>
          </p:nvSpPr>
          <p:spPr bwMode="auto">
            <a:xfrm>
              <a:off x="4058" y="1367"/>
              <a:ext cx="896" cy="1130"/>
            </a:xfrm>
            <a:custGeom>
              <a:avLst/>
              <a:gdLst>
                <a:gd name="T0" fmla="*/ 0 w 1801"/>
                <a:gd name="T1" fmla="*/ 0 h 1145"/>
                <a:gd name="T2" fmla="*/ 0 w 1801"/>
                <a:gd name="T3" fmla="*/ 81 h 1145"/>
                <a:gd name="T4" fmla="*/ 0 w 1801"/>
                <a:gd name="T5" fmla="*/ 240 h 1145"/>
                <a:gd name="T6" fmla="*/ 0 w 1801"/>
                <a:gd name="T7" fmla="*/ 524 h 1145"/>
                <a:gd name="T8" fmla="*/ 0 w 1801"/>
                <a:gd name="T9" fmla="*/ 701 h 1145"/>
                <a:gd name="T10" fmla="*/ 0 w 1801"/>
                <a:gd name="T11" fmla="*/ 791 h 114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801"/>
                <a:gd name="T19" fmla="*/ 0 h 1145"/>
                <a:gd name="T20" fmla="*/ 1801 w 1801"/>
                <a:gd name="T21" fmla="*/ 1145 h 114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801" h="1145">
                  <a:moveTo>
                    <a:pt x="1801" y="0"/>
                  </a:moveTo>
                  <a:cubicBezTo>
                    <a:pt x="1465" y="26"/>
                    <a:pt x="1130" y="52"/>
                    <a:pt x="904" y="109"/>
                  </a:cubicBezTo>
                  <a:cubicBezTo>
                    <a:pt x="678" y="166"/>
                    <a:pt x="571" y="235"/>
                    <a:pt x="445" y="343"/>
                  </a:cubicBezTo>
                  <a:cubicBezTo>
                    <a:pt x="319" y="451"/>
                    <a:pt x="215" y="646"/>
                    <a:pt x="146" y="758"/>
                  </a:cubicBezTo>
                  <a:cubicBezTo>
                    <a:pt x="77" y="870"/>
                    <a:pt x="53" y="949"/>
                    <a:pt x="29" y="1013"/>
                  </a:cubicBezTo>
                  <a:cubicBezTo>
                    <a:pt x="5" y="1077"/>
                    <a:pt x="2" y="1111"/>
                    <a:pt x="0" y="1145"/>
                  </a:cubicBezTo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33859" name="Line 43"/>
            <p:cNvSpPr>
              <a:spLocks noChangeShapeType="1"/>
            </p:cNvSpPr>
            <p:nvPr/>
          </p:nvSpPr>
          <p:spPr bwMode="auto">
            <a:xfrm rot="10800000" flipH="1">
              <a:off x="4212" y="1725"/>
              <a:ext cx="44" cy="14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</p:grpSp>
      <p:grpSp>
        <p:nvGrpSpPr>
          <p:cNvPr id="12" name="Group 103"/>
          <p:cNvGrpSpPr>
            <a:grpSpLocks/>
          </p:cNvGrpSpPr>
          <p:nvPr/>
        </p:nvGrpSpPr>
        <p:grpSpPr bwMode="auto">
          <a:xfrm>
            <a:off x="5791337" y="2429070"/>
            <a:ext cx="3059112" cy="1766888"/>
            <a:chOff x="3609" y="1243"/>
            <a:chExt cx="1927" cy="1113"/>
          </a:xfrm>
        </p:grpSpPr>
        <p:sp>
          <p:nvSpPr>
            <p:cNvPr id="33855" name="Line 51"/>
            <p:cNvSpPr>
              <a:spLocks noChangeShapeType="1"/>
            </p:cNvSpPr>
            <p:nvPr/>
          </p:nvSpPr>
          <p:spPr bwMode="auto">
            <a:xfrm flipV="1">
              <a:off x="3758" y="1718"/>
              <a:ext cx="81" cy="16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33856" name="Line 52"/>
            <p:cNvSpPr>
              <a:spLocks noChangeShapeType="1"/>
            </p:cNvSpPr>
            <p:nvPr/>
          </p:nvSpPr>
          <p:spPr bwMode="auto">
            <a:xfrm>
              <a:off x="4916" y="1246"/>
              <a:ext cx="620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33857" name="Freeform 53"/>
            <p:cNvSpPr>
              <a:spLocks/>
            </p:cNvSpPr>
            <p:nvPr/>
          </p:nvSpPr>
          <p:spPr bwMode="auto">
            <a:xfrm>
              <a:off x="3609" y="1243"/>
              <a:ext cx="1307" cy="1113"/>
            </a:xfrm>
            <a:custGeom>
              <a:avLst/>
              <a:gdLst>
                <a:gd name="T0" fmla="*/ 1 w 1801"/>
                <a:gd name="T1" fmla="*/ 0 h 1145"/>
                <a:gd name="T2" fmla="*/ 1 w 1801"/>
                <a:gd name="T3" fmla="*/ 49 h 1145"/>
                <a:gd name="T4" fmla="*/ 1 w 1801"/>
                <a:gd name="T5" fmla="*/ 155 h 1145"/>
                <a:gd name="T6" fmla="*/ 1 w 1801"/>
                <a:gd name="T7" fmla="*/ 344 h 1145"/>
                <a:gd name="T8" fmla="*/ 1 w 1801"/>
                <a:gd name="T9" fmla="*/ 457 h 1145"/>
                <a:gd name="T10" fmla="*/ 0 w 1801"/>
                <a:gd name="T11" fmla="*/ 517 h 114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801"/>
                <a:gd name="T19" fmla="*/ 0 h 1145"/>
                <a:gd name="T20" fmla="*/ 1801 w 1801"/>
                <a:gd name="T21" fmla="*/ 1145 h 114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801" h="1145">
                  <a:moveTo>
                    <a:pt x="1801" y="0"/>
                  </a:moveTo>
                  <a:cubicBezTo>
                    <a:pt x="1465" y="26"/>
                    <a:pt x="1130" y="52"/>
                    <a:pt x="904" y="109"/>
                  </a:cubicBezTo>
                  <a:cubicBezTo>
                    <a:pt x="678" y="166"/>
                    <a:pt x="571" y="235"/>
                    <a:pt x="445" y="343"/>
                  </a:cubicBezTo>
                  <a:cubicBezTo>
                    <a:pt x="319" y="451"/>
                    <a:pt x="215" y="646"/>
                    <a:pt x="146" y="758"/>
                  </a:cubicBezTo>
                  <a:cubicBezTo>
                    <a:pt x="77" y="870"/>
                    <a:pt x="53" y="949"/>
                    <a:pt x="29" y="1013"/>
                  </a:cubicBezTo>
                  <a:cubicBezTo>
                    <a:pt x="5" y="1077"/>
                    <a:pt x="2" y="1111"/>
                    <a:pt x="0" y="1145"/>
                  </a:cubicBezTo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</p:grpSp>
      <p:sp>
        <p:nvSpPr>
          <p:cNvPr id="29742" name="Text Box 98"/>
          <p:cNvSpPr txBox="1">
            <a:spLocks noChangeArrowheads="1"/>
          </p:cNvSpPr>
          <p:nvPr/>
        </p:nvSpPr>
        <p:spPr bwMode="auto">
          <a:xfrm>
            <a:off x="580244" y="287928"/>
            <a:ext cx="6117815" cy="905881"/>
          </a:xfrm>
          <a:prstGeom prst="rect">
            <a:avLst/>
          </a:prstGeom>
          <a:noFill/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</a:rPr>
              <a:t>Ferromagnéticos </a:t>
            </a:r>
            <a:r>
              <a:rPr lang="es-ES" sz="2400">
                <a:latin typeface="Arial" panose="020B0604020202020204" pitchFamily="34" charset="0"/>
              </a:rPr>
              <a:t>(y 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</a:rPr>
              <a:t>ferroeléctricos</a:t>
            </a:r>
            <a:r>
              <a:rPr lang="es-ES" sz="2400">
                <a:latin typeface="Arial" panose="020B0604020202020204" pitchFamily="34" charset="0"/>
              </a:rPr>
              <a:t>)</a:t>
            </a:r>
            <a:endParaRPr lang="es-ES" sz="2400" dirty="0">
              <a:latin typeface="Arial" panose="020B0604020202020204" pitchFamily="34" charset="0"/>
            </a:endParaRPr>
          </a:p>
          <a:p>
            <a:pPr algn="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  presentan un:</a:t>
            </a:r>
          </a:p>
        </p:txBody>
      </p:sp>
      <p:grpSp>
        <p:nvGrpSpPr>
          <p:cNvPr id="18" name="Grupo 17"/>
          <p:cNvGrpSpPr>
            <a:grpSpLocks/>
          </p:cNvGrpSpPr>
          <p:nvPr/>
        </p:nvGrpSpPr>
        <p:grpSpPr bwMode="auto">
          <a:xfrm>
            <a:off x="5920904" y="4179496"/>
            <a:ext cx="2265552" cy="363538"/>
            <a:chOff x="5909274" y="4083543"/>
            <a:chExt cx="2265552" cy="363538"/>
          </a:xfrm>
        </p:grpSpPr>
        <p:sp>
          <p:nvSpPr>
            <p:cNvPr id="33851" name="AutoShape 100"/>
            <p:cNvSpPr>
              <a:spLocks noChangeArrowheads="1"/>
            </p:cNvSpPr>
            <p:nvPr/>
          </p:nvSpPr>
          <p:spPr bwMode="auto">
            <a:xfrm>
              <a:off x="5909274" y="4117975"/>
              <a:ext cx="1918788" cy="211138"/>
            </a:xfrm>
            <a:prstGeom prst="rightArrow">
              <a:avLst>
                <a:gd name="adj1" fmla="val 50000"/>
                <a:gd name="adj2" fmla="val 87594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82800" rIns="90000" bIns="82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3852" name="Text Box 92"/>
            <p:cNvSpPr txBox="1">
              <a:spLocks noChangeArrowheads="1"/>
            </p:cNvSpPr>
            <p:nvPr/>
          </p:nvSpPr>
          <p:spPr bwMode="auto">
            <a:xfrm>
              <a:off x="7839863" y="4083543"/>
              <a:ext cx="334963" cy="363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60000"/>
                </a:lnSpc>
                <a:spcBef>
                  <a:spcPct val="50000"/>
                </a:spcBef>
                <a:buFontTx/>
                <a:buNone/>
              </a:pPr>
              <a:r>
                <a:rPr lang="es-ES" sz="2000" dirty="0">
                  <a:solidFill>
                    <a:srgbClr val="FF0000"/>
                  </a:solidFill>
                  <a:latin typeface="Arial" panose="020B0604020202020204" pitchFamily="34" charset="0"/>
                  <a:sym typeface="Wingdings 2" panose="05020102010507070707" pitchFamily="18" charset="2"/>
                </a:rPr>
                <a:t></a:t>
              </a:r>
              <a:endParaRPr lang="es-ES" sz="2000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29" name="Grupo 28"/>
          <p:cNvGrpSpPr>
            <a:grpSpLocks/>
          </p:cNvGrpSpPr>
          <p:nvPr/>
        </p:nvGrpSpPr>
        <p:grpSpPr bwMode="auto">
          <a:xfrm>
            <a:off x="6994153" y="5567413"/>
            <a:ext cx="3403484" cy="1200329"/>
            <a:chOff x="6337012" y="5865107"/>
            <a:chExt cx="3403717" cy="1199158"/>
          </a:xfrm>
        </p:grpSpPr>
        <p:sp>
          <p:nvSpPr>
            <p:cNvPr id="33849" name="CuadroTexto 20"/>
            <p:cNvSpPr txBox="1">
              <a:spLocks noChangeArrowheads="1"/>
            </p:cNvSpPr>
            <p:nvPr/>
          </p:nvSpPr>
          <p:spPr bwMode="auto">
            <a:xfrm>
              <a:off x="6624227" y="5865107"/>
              <a:ext cx="3116502" cy="11991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s-ES" sz="1800" dirty="0">
                  <a:latin typeface="Arial" panose="020B0604020202020204" pitchFamily="34" charset="0"/>
                </a:rPr>
                <a:t>Se va venciendo la cohesión y la agitación térmica, y los dipolos se van alineando (</a:t>
              </a:r>
              <a:r>
                <a:rPr lang="es-ES" sz="1800" dirty="0" err="1">
                  <a:latin typeface="Arial" panose="020B0604020202020204" pitchFamily="34" charset="0"/>
                </a:rPr>
                <a:t>B</a:t>
              </a:r>
              <a:r>
                <a:rPr lang="es-ES" sz="1800" baseline="-25000" dirty="0" err="1">
                  <a:latin typeface="Arial" panose="020B0604020202020204" pitchFamily="34" charset="0"/>
                </a:rPr>
                <a:t>mag</a:t>
              </a:r>
              <a:r>
                <a:rPr lang="es-ES" sz="1800" dirty="0">
                  <a:latin typeface="Arial" panose="020B0604020202020204" pitchFamily="34" charset="0"/>
                </a:rPr>
                <a:t> </a:t>
              </a:r>
              <a:r>
                <a:rPr lang="es-ES" sz="1800" dirty="0">
                  <a:latin typeface="Arial" panose="020B0604020202020204" pitchFamily="34" charset="0"/>
                  <a:sym typeface="Symbol" panose="05050102010706020507" pitchFamily="18" charset="2"/>
                </a:rPr>
                <a:t> </a:t>
              </a:r>
              <a:r>
                <a:rPr lang="es-ES" sz="1800" dirty="0">
                  <a:latin typeface="Arial" panose="020B0604020202020204" pitchFamily="34" charset="0"/>
                </a:rPr>
                <a:t>0)</a:t>
              </a:r>
            </a:p>
          </p:txBody>
        </p:sp>
        <p:sp>
          <p:nvSpPr>
            <p:cNvPr id="33850" name="Text Box 92"/>
            <p:cNvSpPr txBox="1">
              <a:spLocks noChangeArrowheads="1"/>
            </p:cNvSpPr>
            <p:nvPr/>
          </p:nvSpPr>
          <p:spPr bwMode="auto">
            <a:xfrm>
              <a:off x="6337012" y="5943600"/>
              <a:ext cx="336550" cy="363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FF0000"/>
                  </a:solidFill>
                  <a:latin typeface="Arial" panose="020B0604020202020204" pitchFamily="34" charset="0"/>
                  <a:sym typeface="Wingdings 2" panose="05020102010507070707" pitchFamily="18" charset="2"/>
                </a:rPr>
                <a:t></a:t>
              </a:r>
              <a:endParaRPr lang="es-ES" sz="200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2" name="Grupo 1"/>
          <p:cNvGrpSpPr/>
          <p:nvPr/>
        </p:nvGrpSpPr>
        <p:grpSpPr>
          <a:xfrm>
            <a:off x="1809823" y="6073970"/>
            <a:ext cx="3965639" cy="589693"/>
            <a:chOff x="1789049" y="6330000"/>
            <a:chExt cx="3965639" cy="589693"/>
          </a:xfrm>
        </p:grpSpPr>
        <p:sp>
          <p:nvSpPr>
            <p:cNvPr id="33846" name="Line 14"/>
            <p:cNvSpPr>
              <a:spLocks noChangeShapeType="1"/>
            </p:cNvSpPr>
            <p:nvPr/>
          </p:nvSpPr>
          <p:spPr bwMode="auto">
            <a:xfrm rot="10800000" flipH="1">
              <a:off x="3641725" y="6330000"/>
              <a:ext cx="2112963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prstDash val="dash"/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33847" name="Text Box 15"/>
            <p:cNvSpPr txBox="1">
              <a:spLocks noChangeArrowheads="1"/>
            </p:cNvSpPr>
            <p:nvPr/>
          </p:nvSpPr>
          <p:spPr bwMode="auto">
            <a:xfrm>
              <a:off x="1789049" y="6445030"/>
              <a:ext cx="1847850" cy="4746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latin typeface="Arial" panose="020B0604020202020204" pitchFamily="34" charset="0"/>
                </a:rPr>
                <a:t>SATURACIÓN</a:t>
              </a:r>
            </a:p>
          </p:txBody>
        </p:sp>
      </p:grpSp>
      <p:grpSp>
        <p:nvGrpSpPr>
          <p:cNvPr id="5" name="Grupo 4"/>
          <p:cNvGrpSpPr/>
          <p:nvPr/>
        </p:nvGrpSpPr>
        <p:grpSpPr>
          <a:xfrm>
            <a:off x="7883661" y="2413195"/>
            <a:ext cx="2322513" cy="720725"/>
            <a:chOff x="7862887" y="2669225"/>
            <a:chExt cx="2322513" cy="720725"/>
          </a:xfrm>
        </p:grpSpPr>
        <p:sp>
          <p:nvSpPr>
            <p:cNvPr id="33848" name="Text Box 16"/>
            <p:cNvSpPr txBox="1">
              <a:spLocks noChangeArrowheads="1"/>
            </p:cNvSpPr>
            <p:nvPr/>
          </p:nvSpPr>
          <p:spPr bwMode="auto">
            <a:xfrm>
              <a:off x="7959725" y="2669225"/>
              <a:ext cx="2225675" cy="720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1800">
                  <a:latin typeface="Arial" panose="020B0604020202020204" pitchFamily="34" charset="0"/>
                </a:rPr>
                <a:t>Todos los dipolos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1800">
                  <a:latin typeface="Arial" panose="020B0604020202020204" pitchFamily="34" charset="0"/>
                </a:rPr>
                <a:t>están orientados</a:t>
              </a:r>
            </a:p>
          </p:txBody>
        </p:sp>
        <p:sp>
          <p:nvSpPr>
            <p:cNvPr id="33845" name="Text Box 92"/>
            <p:cNvSpPr txBox="1">
              <a:spLocks noChangeArrowheads="1"/>
            </p:cNvSpPr>
            <p:nvPr/>
          </p:nvSpPr>
          <p:spPr bwMode="auto">
            <a:xfrm>
              <a:off x="7862887" y="2772412"/>
              <a:ext cx="334962" cy="363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60000"/>
                </a:lnSpc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FF0000"/>
                  </a:solidFill>
                  <a:latin typeface="Arial" panose="020B0604020202020204" pitchFamily="34" charset="0"/>
                  <a:sym typeface="Wingdings 2" panose="05020102010507070707" pitchFamily="18" charset="2"/>
                </a:rPr>
                <a:t></a:t>
              </a:r>
              <a:endParaRPr lang="es-ES" sz="200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21" name="Grupo 20"/>
          <p:cNvGrpSpPr>
            <a:grpSpLocks/>
          </p:cNvGrpSpPr>
          <p:nvPr/>
        </p:nvGrpSpPr>
        <p:grpSpPr bwMode="auto">
          <a:xfrm>
            <a:off x="5874613" y="3630510"/>
            <a:ext cx="1918788" cy="530493"/>
            <a:chOff x="6913577" y="4686698"/>
            <a:chExt cx="1918788" cy="530493"/>
          </a:xfrm>
        </p:grpSpPr>
        <p:sp>
          <p:nvSpPr>
            <p:cNvPr id="33842" name="AutoShape 101"/>
            <p:cNvSpPr>
              <a:spLocks noChangeArrowheads="1"/>
            </p:cNvSpPr>
            <p:nvPr/>
          </p:nvSpPr>
          <p:spPr bwMode="auto">
            <a:xfrm flipH="1">
              <a:off x="6913577" y="5006053"/>
              <a:ext cx="1918788" cy="211138"/>
            </a:xfrm>
            <a:prstGeom prst="rightArrow">
              <a:avLst>
                <a:gd name="adj1" fmla="val 50000"/>
                <a:gd name="adj2" fmla="val 87594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82800" rIns="90000" bIns="82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3843" name="Text Box 92"/>
            <p:cNvSpPr txBox="1">
              <a:spLocks noChangeArrowheads="1"/>
            </p:cNvSpPr>
            <p:nvPr/>
          </p:nvSpPr>
          <p:spPr bwMode="auto">
            <a:xfrm>
              <a:off x="8030897" y="4686698"/>
              <a:ext cx="334963" cy="363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60000"/>
                </a:lnSpc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FF0000"/>
                  </a:solidFill>
                  <a:latin typeface="Arial" panose="020B0604020202020204" pitchFamily="34" charset="0"/>
                  <a:sym typeface="Wingdings 2" panose="05020102010507070707" pitchFamily="18" charset="2"/>
                </a:rPr>
                <a:t></a:t>
              </a:r>
              <a:endParaRPr lang="es-ES" sz="200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22" name="Grupo 21"/>
          <p:cNvGrpSpPr>
            <a:grpSpLocks/>
          </p:cNvGrpSpPr>
          <p:nvPr/>
        </p:nvGrpSpPr>
        <p:grpSpPr bwMode="auto">
          <a:xfrm>
            <a:off x="2355222" y="2011243"/>
            <a:ext cx="3411236" cy="947683"/>
            <a:chOff x="2324905" y="2214617"/>
            <a:chExt cx="3411117" cy="947683"/>
          </a:xfrm>
        </p:grpSpPr>
        <p:sp>
          <p:nvSpPr>
            <p:cNvPr id="33838" name="Line 21"/>
            <p:cNvSpPr>
              <a:spLocks noChangeShapeType="1"/>
            </p:cNvSpPr>
            <p:nvPr/>
          </p:nvSpPr>
          <p:spPr bwMode="auto">
            <a:xfrm flipH="1">
              <a:off x="5047913" y="3162300"/>
              <a:ext cx="681126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prstDash val="dash"/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33839" name="Text Box 20"/>
            <p:cNvSpPr txBox="1">
              <a:spLocks noChangeArrowheads="1"/>
            </p:cNvSpPr>
            <p:nvPr/>
          </p:nvSpPr>
          <p:spPr bwMode="auto">
            <a:xfrm>
              <a:off x="2511162" y="2214617"/>
              <a:ext cx="3224860" cy="721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1800">
                  <a:latin typeface="Arial" panose="020B0604020202020204" pitchFamily="34" charset="0"/>
                </a:rPr>
                <a:t>La agitación térmica provoca cierta desorientación</a:t>
              </a:r>
            </a:p>
          </p:txBody>
        </p:sp>
        <p:sp>
          <p:nvSpPr>
            <p:cNvPr id="33840" name="Text Box 92"/>
            <p:cNvSpPr txBox="1">
              <a:spLocks noChangeArrowheads="1"/>
            </p:cNvSpPr>
            <p:nvPr/>
          </p:nvSpPr>
          <p:spPr bwMode="auto">
            <a:xfrm>
              <a:off x="2324905" y="2302407"/>
              <a:ext cx="334962" cy="363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60000"/>
                </a:lnSpc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FF0000"/>
                  </a:solidFill>
                  <a:latin typeface="Arial" panose="020B0604020202020204" pitchFamily="34" charset="0"/>
                  <a:sym typeface="Wingdings 2" panose="05020102010507070707" pitchFamily="18" charset="2"/>
                </a:rPr>
                <a:t></a:t>
              </a:r>
              <a:endParaRPr lang="es-ES" sz="200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33841" name="Conector recto de flecha 16"/>
            <p:cNvCxnSpPr>
              <a:cxnSpLocks noChangeShapeType="1"/>
            </p:cNvCxnSpPr>
            <p:nvPr/>
          </p:nvCxnSpPr>
          <p:spPr bwMode="auto">
            <a:xfrm>
              <a:off x="5554954" y="2681865"/>
              <a:ext cx="0" cy="385763"/>
            </a:xfrm>
            <a:prstGeom prst="straightConnector1">
              <a:avLst/>
            </a:prstGeom>
            <a:noFill/>
            <a:ln w="76200" algn="ctr">
              <a:solidFill>
                <a:schemeClr val="accent1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3832" name="Line 22"/>
          <p:cNvSpPr>
            <a:spLocks noChangeShapeType="1"/>
          </p:cNvSpPr>
          <p:nvPr/>
        </p:nvSpPr>
        <p:spPr bwMode="auto">
          <a:xfrm flipH="1">
            <a:off x="5812133" y="5528077"/>
            <a:ext cx="941742" cy="0"/>
          </a:xfrm>
          <a:prstGeom prst="line">
            <a:avLst/>
          </a:prstGeom>
          <a:noFill/>
          <a:ln w="25400">
            <a:solidFill>
              <a:srgbClr val="008000"/>
            </a:solidFill>
            <a:prstDash val="dash"/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82800" rIns="90000" bIns="82800" anchorCtr="1">
            <a:spAutoFit/>
          </a:bodyPr>
          <a:lstStyle/>
          <a:p>
            <a:endParaRPr lang="en-GB"/>
          </a:p>
        </p:txBody>
      </p:sp>
      <p:grpSp>
        <p:nvGrpSpPr>
          <p:cNvPr id="33833" name="Grupo 22"/>
          <p:cNvGrpSpPr>
            <a:grpSpLocks/>
          </p:cNvGrpSpPr>
          <p:nvPr/>
        </p:nvGrpSpPr>
        <p:grpSpPr bwMode="auto">
          <a:xfrm>
            <a:off x="1203739" y="2678385"/>
            <a:ext cx="4056757" cy="1442786"/>
            <a:chOff x="1183107" y="2898283"/>
            <a:chExt cx="4056670" cy="1443045"/>
          </a:xfrm>
        </p:grpSpPr>
        <p:grpSp>
          <p:nvGrpSpPr>
            <p:cNvPr id="33834" name="Group 91"/>
            <p:cNvGrpSpPr>
              <a:grpSpLocks/>
            </p:cNvGrpSpPr>
            <p:nvPr/>
          </p:nvGrpSpPr>
          <p:grpSpPr bwMode="auto">
            <a:xfrm>
              <a:off x="1274195" y="2898283"/>
              <a:ext cx="3965582" cy="1443045"/>
              <a:chOff x="588" y="1786"/>
              <a:chExt cx="2498" cy="909"/>
            </a:xfrm>
          </p:grpSpPr>
          <p:sp>
            <p:nvSpPr>
              <p:cNvPr id="33836" name="Text Box 77"/>
              <p:cNvSpPr txBox="1">
                <a:spLocks noChangeArrowheads="1"/>
              </p:cNvSpPr>
              <p:nvPr/>
            </p:nvSpPr>
            <p:spPr bwMode="auto">
              <a:xfrm>
                <a:off x="762" y="1786"/>
                <a:ext cx="2324" cy="29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dirty="0">
                    <a:latin typeface="Arial" panose="020B0604020202020204" pitchFamily="34" charset="0"/>
                  </a:rPr>
                  <a:t>MAGNETIZACIÓN REMANENTE</a:t>
                </a:r>
                <a:r>
                  <a:rPr lang="es-ES" sz="2000" dirty="0">
                    <a:latin typeface="Arial" panose="020B0604020202020204" pitchFamily="34" charset="0"/>
                  </a:rPr>
                  <a:t> </a:t>
                </a:r>
              </a:p>
            </p:txBody>
          </p:sp>
          <p:sp>
            <p:nvSpPr>
              <p:cNvPr id="33837" name="Text Box 79"/>
              <p:cNvSpPr txBox="1">
                <a:spLocks noChangeArrowheads="1"/>
              </p:cNvSpPr>
              <p:nvPr/>
            </p:nvSpPr>
            <p:spPr bwMode="auto">
              <a:xfrm>
                <a:off x="588" y="2047"/>
                <a:ext cx="2132" cy="6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lIns="90000" tIns="82800" rIns="90000" bIns="82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>
                    <a:latin typeface="Arial" panose="020B0604020202020204" pitchFamily="34" charset="0"/>
                  </a:rPr>
                  <a:t>La interacción entre los dipolos mantiene B</a:t>
                </a:r>
                <a:r>
                  <a:rPr lang="es-ES" sz="1800" baseline="-25000">
                    <a:latin typeface="Arial" panose="020B0604020202020204" pitchFamily="34" charset="0"/>
                  </a:rPr>
                  <a:t>mag</a:t>
                </a:r>
                <a:r>
                  <a:rPr lang="es-ES" sz="1800">
                    <a:latin typeface="Arial" panose="020B0604020202020204" pitchFamily="34" charset="0"/>
                  </a:rPr>
                  <a:t> </a:t>
                </a:r>
                <a:r>
                  <a:rPr lang="es-ES" sz="1800">
                    <a:latin typeface="Arial" panose="020B0604020202020204" pitchFamily="34" charset="0"/>
                    <a:sym typeface="Symbol" panose="05050102010706020507" pitchFamily="18" charset="2"/>
                  </a:rPr>
                  <a:t> </a:t>
                </a:r>
                <a:r>
                  <a:rPr lang="es-ES" sz="1800">
                    <a:latin typeface="Arial" panose="020B0604020202020204" pitchFamily="34" charset="0"/>
                  </a:rPr>
                  <a:t>0 con B</a:t>
                </a:r>
                <a:r>
                  <a:rPr lang="es-ES" sz="1800" baseline="-25000">
                    <a:latin typeface="Arial" panose="020B0604020202020204" pitchFamily="34" charset="0"/>
                  </a:rPr>
                  <a:t>apl</a:t>
                </a:r>
                <a:r>
                  <a:rPr lang="es-ES" sz="1800">
                    <a:latin typeface="Arial" panose="020B0604020202020204" pitchFamily="34" charset="0"/>
                  </a:rPr>
                  <a:t> = 0         </a:t>
                </a:r>
                <a:r>
                  <a:rPr lang="es-ES" sz="1800">
                    <a:solidFill>
                      <a:srgbClr val="FF0000"/>
                    </a:solidFill>
                    <a:latin typeface="Arial" panose="020B0604020202020204" pitchFamily="34" charset="0"/>
                  </a:rPr>
                  <a:t>(el material es un imán)</a:t>
                </a:r>
              </a:p>
            </p:txBody>
          </p:sp>
        </p:grpSp>
        <p:sp>
          <p:nvSpPr>
            <p:cNvPr id="33835" name="Text Box 92"/>
            <p:cNvSpPr txBox="1">
              <a:spLocks noChangeArrowheads="1"/>
            </p:cNvSpPr>
            <p:nvPr/>
          </p:nvSpPr>
          <p:spPr bwMode="auto">
            <a:xfrm>
              <a:off x="1183107" y="3020512"/>
              <a:ext cx="334962" cy="363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60000"/>
                </a:lnSpc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FF0000"/>
                  </a:solidFill>
                  <a:latin typeface="Arial" panose="020B0604020202020204" pitchFamily="34" charset="0"/>
                  <a:sym typeface="Wingdings 2" panose="05020102010507070707" pitchFamily="18" charset="2"/>
                </a:rPr>
                <a:t></a:t>
              </a:r>
              <a:endParaRPr lang="es-ES" sz="200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25" name="Grupo 24"/>
          <p:cNvGrpSpPr>
            <a:grpSpLocks/>
          </p:cNvGrpSpPr>
          <p:nvPr/>
        </p:nvGrpSpPr>
        <p:grpSpPr bwMode="auto">
          <a:xfrm>
            <a:off x="5130142" y="3631227"/>
            <a:ext cx="544512" cy="538292"/>
            <a:chOff x="5117088" y="4113502"/>
            <a:chExt cx="543719" cy="537008"/>
          </a:xfrm>
        </p:grpSpPr>
        <p:sp>
          <p:nvSpPr>
            <p:cNvPr id="33826" name="AutoShape 101"/>
            <p:cNvSpPr>
              <a:spLocks noChangeArrowheads="1"/>
            </p:cNvSpPr>
            <p:nvPr/>
          </p:nvSpPr>
          <p:spPr bwMode="auto">
            <a:xfrm flipH="1">
              <a:off x="5117088" y="4425085"/>
              <a:ext cx="543719" cy="225425"/>
            </a:xfrm>
            <a:prstGeom prst="rightArrow">
              <a:avLst>
                <a:gd name="adj1" fmla="val 50000"/>
                <a:gd name="adj2" fmla="val 87590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82800" rIns="90000" bIns="82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3827" name="Text Box 92"/>
            <p:cNvSpPr txBox="1">
              <a:spLocks noChangeArrowheads="1"/>
            </p:cNvSpPr>
            <p:nvPr/>
          </p:nvSpPr>
          <p:spPr bwMode="auto">
            <a:xfrm>
              <a:off x="5279082" y="4113502"/>
              <a:ext cx="334963" cy="363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60000"/>
                </a:lnSpc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FF0000"/>
                  </a:solidFill>
                  <a:latin typeface="Arial" panose="020B0604020202020204" pitchFamily="34" charset="0"/>
                  <a:sym typeface="Wingdings 2" panose="05020102010507070707" pitchFamily="18" charset="2"/>
                </a:rPr>
                <a:t></a:t>
              </a:r>
              <a:endParaRPr lang="es-ES" sz="200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27" name="Grupo 26"/>
          <p:cNvGrpSpPr>
            <a:grpSpLocks/>
          </p:cNvGrpSpPr>
          <p:nvPr/>
        </p:nvGrpSpPr>
        <p:grpSpPr bwMode="auto">
          <a:xfrm>
            <a:off x="3781288" y="3632698"/>
            <a:ext cx="1190520" cy="541031"/>
            <a:chOff x="3301959" y="4132581"/>
            <a:chExt cx="1191415" cy="541033"/>
          </a:xfrm>
        </p:grpSpPr>
        <p:sp>
          <p:nvSpPr>
            <p:cNvPr id="33824" name="AutoShape 101"/>
            <p:cNvSpPr>
              <a:spLocks noChangeArrowheads="1"/>
            </p:cNvSpPr>
            <p:nvPr/>
          </p:nvSpPr>
          <p:spPr bwMode="auto">
            <a:xfrm flipH="1">
              <a:off x="3301959" y="4462476"/>
              <a:ext cx="1191415" cy="211138"/>
            </a:xfrm>
            <a:prstGeom prst="rightArrow">
              <a:avLst>
                <a:gd name="adj1" fmla="val 50000"/>
                <a:gd name="adj2" fmla="val 87594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82800" rIns="90000" bIns="82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3825" name="Text Box 92"/>
            <p:cNvSpPr txBox="1">
              <a:spLocks noChangeArrowheads="1"/>
            </p:cNvSpPr>
            <p:nvPr/>
          </p:nvSpPr>
          <p:spPr bwMode="auto">
            <a:xfrm>
              <a:off x="4147772" y="4132581"/>
              <a:ext cx="334963" cy="363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60000"/>
                </a:lnSpc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FF0000"/>
                  </a:solidFill>
                  <a:latin typeface="Arial" panose="020B0604020202020204" pitchFamily="34" charset="0"/>
                  <a:sym typeface="Wingdings 2" panose="05020102010507070707" pitchFamily="18" charset="2"/>
                </a:rPr>
                <a:t></a:t>
              </a:r>
              <a:endParaRPr lang="es-ES" sz="200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28" name="Grupo 27"/>
          <p:cNvGrpSpPr>
            <a:grpSpLocks/>
          </p:cNvGrpSpPr>
          <p:nvPr/>
        </p:nvGrpSpPr>
        <p:grpSpPr bwMode="auto">
          <a:xfrm>
            <a:off x="3825808" y="4266270"/>
            <a:ext cx="1917292" cy="592147"/>
            <a:chOff x="3483154" y="4146154"/>
            <a:chExt cx="1918785" cy="592120"/>
          </a:xfrm>
        </p:grpSpPr>
        <p:sp>
          <p:nvSpPr>
            <p:cNvPr id="33822" name="AutoShape 100"/>
            <p:cNvSpPr>
              <a:spLocks noChangeArrowheads="1"/>
            </p:cNvSpPr>
            <p:nvPr/>
          </p:nvSpPr>
          <p:spPr bwMode="auto">
            <a:xfrm>
              <a:off x="3483154" y="4146154"/>
              <a:ext cx="1918785" cy="211138"/>
            </a:xfrm>
            <a:prstGeom prst="rightArrow">
              <a:avLst>
                <a:gd name="adj1" fmla="val 50000"/>
                <a:gd name="adj2" fmla="val 87594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82800" rIns="90000" bIns="82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3823" name="Text Box 92"/>
            <p:cNvSpPr txBox="1">
              <a:spLocks noChangeArrowheads="1"/>
            </p:cNvSpPr>
            <p:nvPr/>
          </p:nvSpPr>
          <p:spPr bwMode="auto">
            <a:xfrm>
              <a:off x="4853253" y="4371579"/>
              <a:ext cx="365845" cy="3666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60000"/>
                </a:lnSpc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FF0000"/>
                  </a:solidFill>
                  <a:latin typeface="Arial" panose="020B0604020202020204" pitchFamily="34" charset="0"/>
                  <a:sym typeface="Wingdings 2" panose="05020102010507070707" pitchFamily="18" charset="2"/>
                </a:rPr>
                <a:t></a:t>
              </a:r>
              <a:endParaRPr lang="es-ES" sz="200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87" name="Grupo 86"/>
          <p:cNvGrpSpPr>
            <a:grpSpLocks/>
          </p:cNvGrpSpPr>
          <p:nvPr/>
        </p:nvGrpSpPr>
        <p:grpSpPr bwMode="auto">
          <a:xfrm>
            <a:off x="5788889" y="4461900"/>
            <a:ext cx="722514" cy="586278"/>
            <a:chOff x="5002247" y="4393913"/>
            <a:chExt cx="722378" cy="586840"/>
          </a:xfrm>
        </p:grpSpPr>
        <p:sp>
          <p:nvSpPr>
            <p:cNvPr id="33820" name="AutoShape 101"/>
            <p:cNvSpPr>
              <a:spLocks noChangeArrowheads="1"/>
            </p:cNvSpPr>
            <p:nvPr/>
          </p:nvSpPr>
          <p:spPr bwMode="auto">
            <a:xfrm>
              <a:off x="5147106" y="4393913"/>
              <a:ext cx="577519" cy="213628"/>
            </a:xfrm>
            <a:prstGeom prst="rightArrow">
              <a:avLst>
                <a:gd name="adj1" fmla="val 50000"/>
                <a:gd name="adj2" fmla="val 87601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82800" rIns="90000" bIns="82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3821" name="Text Box 92"/>
            <p:cNvSpPr txBox="1">
              <a:spLocks noChangeArrowheads="1"/>
            </p:cNvSpPr>
            <p:nvPr/>
          </p:nvSpPr>
          <p:spPr bwMode="auto">
            <a:xfrm>
              <a:off x="5002247" y="4617215"/>
              <a:ext cx="334963" cy="363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60000"/>
                </a:lnSpc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FF0000"/>
                  </a:solidFill>
                  <a:latin typeface="Arial" panose="020B0604020202020204" pitchFamily="34" charset="0"/>
                  <a:sym typeface="Wingdings 2" panose="05020102010507070707" pitchFamily="18" charset="2"/>
                </a:rPr>
                <a:t></a:t>
              </a:r>
              <a:endParaRPr lang="es-ES" sz="200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33831" name="Line 32"/>
          <p:cNvSpPr>
            <a:spLocks noChangeShapeType="1"/>
          </p:cNvSpPr>
          <p:nvPr/>
        </p:nvSpPr>
        <p:spPr bwMode="auto">
          <a:xfrm flipH="1">
            <a:off x="4154625" y="4262634"/>
            <a:ext cx="823913" cy="38735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90000" tIns="82800" rIns="90000" bIns="82800" anchorCtr="1">
            <a:spAutoFit/>
          </a:bodyPr>
          <a:lstStyle/>
          <a:p>
            <a:endParaRPr lang="en-GB"/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8B8D0780-1758-9032-F284-F72834BB5C32}"/>
              </a:ext>
            </a:extLst>
          </p:cNvPr>
          <p:cNvGrpSpPr/>
          <p:nvPr/>
        </p:nvGrpSpPr>
        <p:grpSpPr>
          <a:xfrm>
            <a:off x="1073287" y="4436564"/>
            <a:ext cx="3438525" cy="1446773"/>
            <a:chOff x="1073287" y="4436564"/>
            <a:chExt cx="3438525" cy="1446773"/>
          </a:xfrm>
        </p:grpSpPr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1594EB78-2E4C-19E8-602A-9F5085522BF7}"/>
                </a:ext>
              </a:extLst>
            </p:cNvPr>
            <p:cNvSpPr/>
            <p:nvPr/>
          </p:nvSpPr>
          <p:spPr bwMode="auto">
            <a:xfrm>
              <a:off x="1591872" y="4436564"/>
              <a:ext cx="2501950" cy="474994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square" lIns="90000" tIns="82800" rIns="90000" bIns="82800" numCol="1" rtlCol="0" anchor="t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s-ES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 </a:t>
              </a:r>
            </a:p>
          </p:txBody>
        </p:sp>
        <p:grpSp>
          <p:nvGrpSpPr>
            <p:cNvPr id="6" name="Grupo 5"/>
            <p:cNvGrpSpPr/>
            <p:nvPr/>
          </p:nvGrpSpPr>
          <p:grpSpPr>
            <a:xfrm>
              <a:off x="1073287" y="4438847"/>
              <a:ext cx="3438525" cy="1444490"/>
              <a:chOff x="1094553" y="4621307"/>
              <a:chExt cx="3438525" cy="1444490"/>
            </a:xfrm>
          </p:grpSpPr>
          <p:sp>
            <p:nvSpPr>
              <p:cNvPr id="33830" name="Text Box 31"/>
              <p:cNvSpPr txBox="1">
                <a:spLocks noChangeArrowheads="1"/>
              </p:cNvSpPr>
              <p:nvPr/>
            </p:nvSpPr>
            <p:spPr bwMode="auto">
              <a:xfrm>
                <a:off x="1094553" y="4621307"/>
                <a:ext cx="3438525" cy="14444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lIns="90000" tIns="82800" rIns="90000" bIns="82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>
                    <a:solidFill>
                      <a:srgbClr val="008000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s-ES" sz="1800">
                    <a:latin typeface="Arial" panose="020B0604020202020204" pitchFamily="34" charset="0"/>
                  </a:rPr>
                  <a:t>CAMPO COERCITIVO</a:t>
                </a:r>
                <a:r>
                  <a:rPr lang="es-ES" sz="2000">
                    <a:latin typeface="Arial" panose="020B0604020202020204" pitchFamily="34" charset="0"/>
                  </a:rPr>
                  <a:t>              </a:t>
                </a:r>
              </a:p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>
                    <a:latin typeface="Arial" panose="020B0604020202020204" pitchFamily="34" charset="0"/>
                  </a:rPr>
                  <a:t>B</a:t>
                </a:r>
                <a:r>
                  <a:rPr lang="es-ES" sz="1800" baseline="-25000">
                    <a:latin typeface="Arial" panose="020B0604020202020204" pitchFamily="34" charset="0"/>
                  </a:rPr>
                  <a:t>apl</a:t>
                </a:r>
                <a:r>
                  <a:rPr lang="es-ES" sz="1800">
                    <a:latin typeface="Arial" panose="020B0604020202020204" pitchFamily="34" charset="0"/>
                  </a:rPr>
                  <a:t> para el que B</a:t>
                </a:r>
                <a:r>
                  <a:rPr lang="es-ES" sz="1800" baseline="-25000">
                    <a:latin typeface="Arial" panose="020B0604020202020204" pitchFamily="34" charset="0"/>
                  </a:rPr>
                  <a:t>mag</a:t>
                </a:r>
                <a:r>
                  <a:rPr lang="es-ES" sz="1800">
                    <a:latin typeface="Arial" panose="020B0604020202020204" pitchFamily="34" charset="0"/>
                  </a:rPr>
                  <a:t> = 0         (la mitad de dipolos se ha orientado al contrario)</a:t>
                </a:r>
              </a:p>
            </p:txBody>
          </p:sp>
          <p:sp>
            <p:nvSpPr>
              <p:cNvPr id="33829" name="Text Box 92"/>
              <p:cNvSpPr txBox="1">
                <a:spLocks noChangeArrowheads="1"/>
              </p:cNvSpPr>
              <p:nvPr/>
            </p:nvSpPr>
            <p:spPr bwMode="auto">
              <a:xfrm>
                <a:off x="1302604" y="4704650"/>
                <a:ext cx="334963" cy="3635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lIns="90000" tIns="82800" rIns="90000" bIns="82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6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s-ES" sz="2000">
                    <a:solidFill>
                      <a:srgbClr val="FF0000"/>
                    </a:solidFill>
                    <a:latin typeface="Arial" panose="020B0604020202020204" pitchFamily="34" charset="0"/>
                    <a:sym typeface="Wingdings 2" panose="05020102010507070707" pitchFamily="18" charset="2"/>
                  </a:rPr>
                  <a:t></a:t>
                </a:r>
                <a:endParaRPr lang="es-ES" sz="2000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5" name="Group 94"/>
          <p:cNvGrpSpPr>
            <a:grpSpLocks/>
          </p:cNvGrpSpPr>
          <p:nvPr/>
        </p:nvGrpSpPr>
        <p:grpSpPr bwMode="auto">
          <a:xfrm>
            <a:off x="5821500" y="4218200"/>
            <a:ext cx="4144963" cy="1355731"/>
            <a:chOff x="3674" y="2506"/>
            <a:chExt cx="2611" cy="854"/>
          </a:xfrm>
        </p:grpSpPr>
        <p:sp>
          <p:nvSpPr>
            <p:cNvPr id="33853" name="Text Box 92"/>
            <p:cNvSpPr txBox="1">
              <a:spLocks noChangeArrowheads="1"/>
            </p:cNvSpPr>
            <p:nvPr/>
          </p:nvSpPr>
          <p:spPr bwMode="auto">
            <a:xfrm>
              <a:off x="4215" y="2854"/>
              <a:ext cx="2070" cy="5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400"/>
                </a:spcBef>
                <a:buFontTx/>
                <a:buNone/>
              </a:pPr>
              <a:r>
                <a:rPr lang="es-ES" sz="2000" dirty="0">
                  <a:solidFill>
                    <a:srgbClr val="FF0000"/>
                  </a:solidFill>
                  <a:latin typeface="Arial" panose="020B0604020202020204" pitchFamily="34" charset="0"/>
                  <a:sym typeface="Wingdings 2" panose="05020102010507070707" pitchFamily="18" charset="2"/>
                </a:rPr>
                <a:t></a:t>
              </a:r>
              <a:r>
                <a:rPr lang="es-ES" sz="2000" dirty="0">
                  <a:solidFill>
                    <a:srgbClr val="008000"/>
                  </a:solidFill>
                  <a:latin typeface="Arial" panose="020B0604020202020204" pitchFamily="34" charset="0"/>
                  <a:sym typeface="Wingdings 2" panose="05020102010507070707" pitchFamily="18" charset="2"/>
                </a:rPr>
                <a:t> </a:t>
              </a:r>
              <a:r>
                <a:rPr lang="es-ES" sz="1800" dirty="0">
                  <a:latin typeface="Arial" panose="020B0604020202020204" pitchFamily="34" charset="0"/>
                </a:rPr>
                <a:t>Dipolos al azar</a:t>
              </a:r>
            </a:p>
            <a:p>
              <a:pPr eaLnBrk="1" hangingPunct="1">
                <a:spcBef>
                  <a:spcPts val="400"/>
                </a:spcBef>
                <a:buFontTx/>
                <a:buNone/>
              </a:pPr>
              <a:r>
                <a:rPr lang="es-ES" sz="1800" dirty="0">
                  <a:latin typeface="Arial" panose="020B0604020202020204" pitchFamily="34" charset="0"/>
                </a:rPr>
                <a:t>    (</a:t>
              </a:r>
              <a:r>
                <a:rPr lang="es-ES" sz="1800" dirty="0" err="1">
                  <a:latin typeface="Arial" panose="020B0604020202020204" pitchFamily="34" charset="0"/>
                </a:rPr>
                <a:t>B</a:t>
              </a:r>
              <a:r>
                <a:rPr lang="es-ES" sz="1800" baseline="-25000" dirty="0" err="1">
                  <a:latin typeface="Arial" panose="020B0604020202020204" pitchFamily="34" charset="0"/>
                </a:rPr>
                <a:t>mag</a:t>
              </a:r>
              <a:r>
                <a:rPr lang="es-ES" sz="1800" dirty="0">
                  <a:latin typeface="Arial" panose="020B0604020202020204" pitchFamily="34" charset="0"/>
                </a:rPr>
                <a:t> = 0 para </a:t>
              </a:r>
              <a:r>
                <a:rPr lang="es-ES" sz="1800" dirty="0" err="1">
                  <a:latin typeface="Arial" panose="020B0604020202020204" pitchFamily="34" charset="0"/>
                </a:rPr>
                <a:t>B</a:t>
              </a:r>
              <a:r>
                <a:rPr lang="es-ES" sz="1800" baseline="-25000" dirty="0" err="1">
                  <a:latin typeface="Arial" panose="020B0604020202020204" pitchFamily="34" charset="0"/>
                </a:rPr>
                <a:t>apl</a:t>
              </a:r>
              <a:r>
                <a:rPr lang="es-ES" sz="1800" dirty="0">
                  <a:latin typeface="Arial" panose="020B0604020202020204" pitchFamily="34" charset="0"/>
                </a:rPr>
                <a:t> = 0)</a:t>
              </a:r>
            </a:p>
          </p:txBody>
        </p:sp>
        <p:sp>
          <p:nvSpPr>
            <p:cNvPr id="33854" name="Line 93"/>
            <p:cNvSpPr>
              <a:spLocks noChangeShapeType="1"/>
            </p:cNvSpPr>
            <p:nvPr/>
          </p:nvSpPr>
          <p:spPr bwMode="auto">
            <a:xfrm>
              <a:off x="3674" y="2506"/>
              <a:ext cx="712" cy="42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82800" rIns="90000" bIns="82800" anchorCtr="1">
              <a:spAutoFit/>
            </a:bodyPr>
            <a:lstStyle/>
            <a:p>
              <a:endParaRPr lang="en-GB"/>
            </a:p>
          </p:txBody>
        </p:sp>
      </p:grpSp>
      <p:grpSp>
        <p:nvGrpSpPr>
          <p:cNvPr id="81" name="Grupo 80">
            <a:extLst>
              <a:ext uri="{FF2B5EF4-FFF2-40B4-BE49-F238E27FC236}">
                <a16:creationId xmlns:a16="http://schemas.microsoft.com/office/drawing/2014/main" id="{76550F20-468A-480A-85B3-B30EC5C0D15D}"/>
              </a:ext>
            </a:extLst>
          </p:cNvPr>
          <p:cNvGrpSpPr>
            <a:grpSpLocks/>
          </p:cNvGrpSpPr>
          <p:nvPr/>
        </p:nvGrpSpPr>
        <p:grpSpPr bwMode="auto">
          <a:xfrm>
            <a:off x="6665474" y="4467817"/>
            <a:ext cx="1522338" cy="366335"/>
            <a:chOff x="3395550" y="4472867"/>
            <a:chExt cx="1523483" cy="366336"/>
          </a:xfrm>
        </p:grpSpPr>
        <p:sp>
          <p:nvSpPr>
            <p:cNvPr id="82" name="AutoShape 101">
              <a:extLst>
                <a:ext uri="{FF2B5EF4-FFF2-40B4-BE49-F238E27FC236}">
                  <a16:creationId xmlns:a16="http://schemas.microsoft.com/office/drawing/2014/main" id="{3EEEDE7D-F36A-4DBB-AE82-CDBF72F320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5550" y="4472867"/>
              <a:ext cx="1191415" cy="211138"/>
            </a:xfrm>
            <a:prstGeom prst="rightArrow">
              <a:avLst>
                <a:gd name="adj1" fmla="val 50000"/>
                <a:gd name="adj2" fmla="val 87594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82800" rIns="90000" bIns="82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5" name="Text Box 92">
              <a:extLst>
                <a:ext uri="{FF2B5EF4-FFF2-40B4-BE49-F238E27FC236}">
                  <a16:creationId xmlns:a16="http://schemas.microsoft.com/office/drawing/2014/main" id="{3827C0B0-BB21-4592-85AB-8B85384C86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4070" y="4475665"/>
              <a:ext cx="334963" cy="363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60000"/>
                </a:lnSpc>
                <a:spcBef>
                  <a:spcPct val="50000"/>
                </a:spcBef>
                <a:buFontTx/>
                <a:buNone/>
              </a:pPr>
              <a:r>
                <a:rPr lang="es-ES" sz="2000" dirty="0">
                  <a:solidFill>
                    <a:srgbClr val="FF0000"/>
                  </a:solidFill>
                  <a:latin typeface="Arial" panose="020B0604020202020204" pitchFamily="34" charset="0"/>
                  <a:sym typeface="Wingdings 2" panose="05020102010507070707" pitchFamily="18" charset="2"/>
                </a:rPr>
                <a:t></a:t>
              </a:r>
              <a:endParaRPr lang="es-ES" sz="2000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3" name="Text Box 47">
            <a:extLst>
              <a:ext uri="{FF2B5EF4-FFF2-40B4-BE49-F238E27FC236}">
                <a16:creationId xmlns:a16="http://schemas.microsoft.com/office/drawing/2014/main" id="{DBCB483B-0209-3808-936C-D431F42DCF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5229" y="426245"/>
            <a:ext cx="2972068" cy="58744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none" lIns="108000" tIns="108000" rIns="108000" bIns="1080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Ciclo de Histéresis</a:t>
            </a:r>
          </a:p>
        </p:txBody>
      </p:sp>
      <p:sp>
        <p:nvSpPr>
          <p:cNvPr id="16" name="Text Box 86">
            <a:extLst>
              <a:ext uri="{FF2B5EF4-FFF2-40B4-BE49-F238E27FC236}">
                <a16:creationId xmlns:a16="http://schemas.microsoft.com/office/drawing/2014/main" id="{C60F5D3A-BCBC-1E34-996A-0501964850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3128" y="914864"/>
            <a:ext cx="2573037" cy="782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None/>
            </a:pPr>
            <a:r>
              <a:rPr lang="es-ES" sz="2000">
                <a:solidFill>
                  <a:srgbClr val="FF0000"/>
                </a:solidFill>
                <a:latin typeface="Arial" panose="020B0604020202020204" pitchFamily="34" charset="0"/>
              </a:rPr>
              <a:t>(de “retraso” de B</a:t>
            </a:r>
            <a:r>
              <a:rPr lang="es-ES" sz="2000" baseline="-25000">
                <a:solidFill>
                  <a:srgbClr val="FF0000"/>
                </a:solidFill>
                <a:latin typeface="Arial" panose="020B0604020202020204" pitchFamily="34" charset="0"/>
              </a:rPr>
              <a:t>MAG</a:t>
            </a:r>
          </a:p>
          <a:p>
            <a:pPr algn="ctr" eaLnBrk="1" hangingPunct="1">
              <a:spcBef>
                <a:spcPts val="0"/>
              </a:spcBef>
              <a:buNone/>
            </a:pPr>
            <a:r>
              <a:rPr lang="es-ES" sz="2000">
                <a:solidFill>
                  <a:srgbClr val="FF0000"/>
                </a:solidFill>
                <a:latin typeface="Arial" panose="020B0604020202020204" pitchFamily="34" charset="0"/>
              </a:rPr>
              <a:t>respecto a B</a:t>
            </a:r>
            <a:r>
              <a:rPr lang="es-ES" sz="2000" baseline="-25000">
                <a:solidFill>
                  <a:srgbClr val="FF0000"/>
                </a:solidFill>
                <a:latin typeface="Arial" panose="020B0604020202020204" pitchFamily="34" charset="0"/>
              </a:rPr>
              <a:t>APL</a:t>
            </a:r>
            <a:r>
              <a:rPr lang="es-ES" sz="2000">
                <a:solidFill>
                  <a:srgbClr val="FF0000"/>
                </a:solidFill>
                <a:latin typeface="Arial" panose="020B0604020202020204" pitchFamily="34" charset="0"/>
              </a:rPr>
              <a:t>)</a:t>
            </a:r>
            <a:endParaRPr lang="es-ES" sz="20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9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33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33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0" dur="500"/>
                                        <p:tgtEl>
                                          <p:spTgt spid="33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9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0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33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1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33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69" grpId="0" animBg="1"/>
      <p:bldP spid="33870" grpId="0" animBg="1"/>
      <p:bldP spid="29742" grpId="0"/>
      <p:bldP spid="33832" grpId="0" animBg="1"/>
      <p:bldP spid="33831" grpId="0" animBg="1"/>
      <p:bldP spid="13" grpId="0" animBg="1"/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 2">
            <a:extLst>
              <a:ext uri="{FF2B5EF4-FFF2-40B4-BE49-F238E27FC236}">
                <a16:creationId xmlns:a16="http://schemas.microsoft.com/office/drawing/2014/main" id="{828EED0E-E7E6-4A9E-BEAF-DB192A6B3379}"/>
              </a:ext>
            </a:extLst>
          </p:cNvPr>
          <p:cNvSpPr>
            <a:spLocks/>
          </p:cNvSpPr>
          <p:nvPr/>
        </p:nvSpPr>
        <p:spPr bwMode="auto">
          <a:xfrm>
            <a:off x="3909829" y="2449415"/>
            <a:ext cx="3836987" cy="3602038"/>
          </a:xfrm>
          <a:custGeom>
            <a:avLst/>
            <a:gdLst>
              <a:gd name="T0" fmla="*/ 2147483646 w 2417"/>
              <a:gd name="T1" fmla="*/ 0 h 2269"/>
              <a:gd name="T2" fmla="*/ 2147483646 w 2417"/>
              <a:gd name="T3" fmla="*/ 2147483646 h 2269"/>
              <a:gd name="T4" fmla="*/ 2147483646 w 2417"/>
              <a:gd name="T5" fmla="*/ 2147483646 h 2269"/>
              <a:gd name="T6" fmla="*/ 2147483646 w 2417"/>
              <a:gd name="T7" fmla="*/ 2147483646 h 2269"/>
              <a:gd name="T8" fmla="*/ 2147483646 w 2417"/>
              <a:gd name="T9" fmla="*/ 2147483646 h 2269"/>
              <a:gd name="T10" fmla="*/ 2147483646 w 2417"/>
              <a:gd name="T11" fmla="*/ 2147483646 h 2269"/>
              <a:gd name="T12" fmla="*/ 2147483646 w 2417"/>
              <a:gd name="T13" fmla="*/ 2147483646 h 2269"/>
              <a:gd name="T14" fmla="*/ 2147483646 w 2417"/>
              <a:gd name="T15" fmla="*/ 2147483646 h 2269"/>
              <a:gd name="T16" fmla="*/ 2147483646 w 2417"/>
              <a:gd name="T17" fmla="*/ 2147483646 h 2269"/>
              <a:gd name="T18" fmla="*/ 2147483646 w 2417"/>
              <a:gd name="T19" fmla="*/ 2147483646 h 2269"/>
              <a:gd name="T20" fmla="*/ 2147483646 w 2417"/>
              <a:gd name="T21" fmla="*/ 2147483646 h 2269"/>
              <a:gd name="T22" fmla="*/ 2147483646 w 2417"/>
              <a:gd name="T23" fmla="*/ 2147483646 h 2269"/>
              <a:gd name="T24" fmla="*/ 2147483646 w 2417"/>
              <a:gd name="T25" fmla="*/ 2147483646 h 2269"/>
              <a:gd name="T26" fmla="*/ 2147483646 w 2417"/>
              <a:gd name="T27" fmla="*/ 2147483646 h 2269"/>
              <a:gd name="T28" fmla="*/ 2147483646 w 2417"/>
              <a:gd name="T29" fmla="*/ 2147483646 h 2269"/>
              <a:gd name="T30" fmla="*/ 2147483646 w 2417"/>
              <a:gd name="T31" fmla="*/ 2147483646 h 2269"/>
              <a:gd name="T32" fmla="*/ 2147483646 w 2417"/>
              <a:gd name="T33" fmla="*/ 2147483646 h 2269"/>
              <a:gd name="T34" fmla="*/ 2147483646 w 2417"/>
              <a:gd name="T35" fmla="*/ 2147483646 h 2269"/>
              <a:gd name="T36" fmla="*/ 2147483646 w 2417"/>
              <a:gd name="T37" fmla="*/ 2147483646 h 2269"/>
              <a:gd name="T38" fmla="*/ 2147483646 w 2417"/>
              <a:gd name="T39" fmla="*/ 2147483646 h 2269"/>
              <a:gd name="T40" fmla="*/ 2147483646 w 2417"/>
              <a:gd name="T41" fmla="*/ 2147483646 h 2269"/>
              <a:gd name="T42" fmla="*/ 2147483646 w 2417"/>
              <a:gd name="T43" fmla="*/ 2147483646 h 2269"/>
              <a:gd name="T44" fmla="*/ 2147483646 w 2417"/>
              <a:gd name="T45" fmla="*/ 2147483646 h 2269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w 2417"/>
              <a:gd name="T70" fmla="*/ 0 h 2269"/>
              <a:gd name="T71" fmla="*/ 2417 w 2417"/>
              <a:gd name="T72" fmla="*/ 2269 h 2269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T69" t="T70" r="T71" b="T72"/>
            <a:pathLst>
              <a:path w="2417" h="2269">
                <a:moveTo>
                  <a:pt x="2417" y="0"/>
                </a:moveTo>
                <a:cubicBezTo>
                  <a:pt x="2185" y="1"/>
                  <a:pt x="1953" y="3"/>
                  <a:pt x="1761" y="43"/>
                </a:cubicBezTo>
                <a:cubicBezTo>
                  <a:pt x="1569" y="83"/>
                  <a:pt x="1408" y="139"/>
                  <a:pt x="1265" y="240"/>
                </a:cubicBezTo>
                <a:cubicBezTo>
                  <a:pt x="1122" y="341"/>
                  <a:pt x="987" y="528"/>
                  <a:pt x="901" y="649"/>
                </a:cubicBezTo>
                <a:cubicBezTo>
                  <a:pt x="815" y="770"/>
                  <a:pt x="778" y="880"/>
                  <a:pt x="748" y="969"/>
                </a:cubicBezTo>
                <a:cubicBezTo>
                  <a:pt x="718" y="1058"/>
                  <a:pt x="730" y="1103"/>
                  <a:pt x="718" y="1181"/>
                </a:cubicBezTo>
                <a:cubicBezTo>
                  <a:pt x="706" y="1259"/>
                  <a:pt x="710" y="1323"/>
                  <a:pt x="675" y="1436"/>
                </a:cubicBezTo>
                <a:cubicBezTo>
                  <a:pt x="640" y="1549"/>
                  <a:pt x="553" y="1755"/>
                  <a:pt x="507" y="1859"/>
                </a:cubicBezTo>
                <a:cubicBezTo>
                  <a:pt x="461" y="1963"/>
                  <a:pt x="447" y="2010"/>
                  <a:pt x="398" y="2063"/>
                </a:cubicBezTo>
                <a:cubicBezTo>
                  <a:pt x="349" y="2116"/>
                  <a:pt x="278" y="2150"/>
                  <a:pt x="215" y="2180"/>
                </a:cubicBezTo>
                <a:cubicBezTo>
                  <a:pt x="152" y="2210"/>
                  <a:pt x="0" y="2232"/>
                  <a:pt x="18" y="2245"/>
                </a:cubicBezTo>
                <a:cubicBezTo>
                  <a:pt x="36" y="2258"/>
                  <a:pt x="229" y="2269"/>
                  <a:pt x="325" y="2260"/>
                </a:cubicBezTo>
                <a:cubicBezTo>
                  <a:pt x="421" y="2251"/>
                  <a:pt x="501" y="2217"/>
                  <a:pt x="594" y="2194"/>
                </a:cubicBezTo>
                <a:cubicBezTo>
                  <a:pt x="687" y="2171"/>
                  <a:pt x="779" y="2174"/>
                  <a:pt x="886" y="2121"/>
                </a:cubicBezTo>
                <a:cubicBezTo>
                  <a:pt x="993" y="2068"/>
                  <a:pt x="1134" y="1988"/>
                  <a:pt x="1236" y="1874"/>
                </a:cubicBezTo>
                <a:cubicBezTo>
                  <a:pt x="1338" y="1760"/>
                  <a:pt x="1440" y="1551"/>
                  <a:pt x="1499" y="1436"/>
                </a:cubicBezTo>
                <a:cubicBezTo>
                  <a:pt x="1558" y="1321"/>
                  <a:pt x="1575" y="1251"/>
                  <a:pt x="1593" y="1181"/>
                </a:cubicBezTo>
                <a:cubicBezTo>
                  <a:pt x="1611" y="1111"/>
                  <a:pt x="1591" y="1102"/>
                  <a:pt x="1608" y="1013"/>
                </a:cubicBezTo>
                <a:cubicBezTo>
                  <a:pt x="1625" y="924"/>
                  <a:pt x="1656" y="766"/>
                  <a:pt x="1695" y="649"/>
                </a:cubicBezTo>
                <a:cubicBezTo>
                  <a:pt x="1734" y="532"/>
                  <a:pt x="1789" y="399"/>
                  <a:pt x="1841" y="313"/>
                </a:cubicBezTo>
                <a:cubicBezTo>
                  <a:pt x="1893" y="227"/>
                  <a:pt x="1958" y="172"/>
                  <a:pt x="2009" y="131"/>
                </a:cubicBezTo>
                <a:cubicBezTo>
                  <a:pt x="2060" y="90"/>
                  <a:pt x="2098" y="83"/>
                  <a:pt x="2147" y="65"/>
                </a:cubicBezTo>
                <a:cubicBezTo>
                  <a:pt x="2196" y="47"/>
                  <a:pt x="2248" y="34"/>
                  <a:pt x="2301" y="22"/>
                </a:cubicBezTo>
              </a:path>
            </a:pathLst>
          </a:custGeom>
          <a:solidFill>
            <a:srgbClr val="CCFFFF"/>
          </a:solidFill>
          <a:ln>
            <a:noFill/>
          </a:ln>
        </p:spPr>
        <p:txBody>
          <a:bodyPr wrap="none" lIns="90000" tIns="82800" rIns="90000" bIns="82800" anchorCtr="1">
            <a:spAutoFit/>
          </a:bodyPr>
          <a:lstStyle/>
          <a:p>
            <a:endParaRPr lang="en-GB"/>
          </a:p>
        </p:txBody>
      </p:sp>
      <p:grpSp>
        <p:nvGrpSpPr>
          <p:cNvPr id="53" name="Group 4">
            <a:extLst>
              <a:ext uri="{FF2B5EF4-FFF2-40B4-BE49-F238E27FC236}">
                <a16:creationId xmlns:a16="http://schemas.microsoft.com/office/drawing/2014/main" id="{4F7C662F-D729-4931-8FAA-88E022331E93}"/>
              </a:ext>
            </a:extLst>
          </p:cNvPr>
          <p:cNvGrpSpPr>
            <a:grpSpLocks/>
          </p:cNvGrpSpPr>
          <p:nvPr/>
        </p:nvGrpSpPr>
        <p:grpSpPr bwMode="auto">
          <a:xfrm>
            <a:off x="2508066" y="1678421"/>
            <a:ext cx="6527800" cy="4757744"/>
            <a:chOff x="1556" y="879"/>
            <a:chExt cx="4112" cy="2997"/>
          </a:xfrm>
        </p:grpSpPr>
        <p:sp>
          <p:nvSpPr>
            <p:cNvPr id="54" name="Line 5">
              <a:extLst>
                <a:ext uri="{FF2B5EF4-FFF2-40B4-BE49-F238E27FC236}">
                  <a16:creationId xmlns:a16="http://schemas.microsoft.com/office/drawing/2014/main" id="{88854E47-45B7-4017-8530-4E5478DE55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11" y="879"/>
              <a:ext cx="0" cy="299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stealth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55" name="Line 6">
              <a:extLst>
                <a:ext uri="{FF2B5EF4-FFF2-40B4-BE49-F238E27FC236}">
                  <a16:creationId xmlns:a16="http://schemas.microsoft.com/office/drawing/2014/main" id="{C94CBDB8-BEB1-4423-AD6F-C0B0C8D55E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56" y="2451"/>
              <a:ext cx="411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</p:grpSp>
      <p:grpSp>
        <p:nvGrpSpPr>
          <p:cNvPr id="58" name="Group 26">
            <a:extLst>
              <a:ext uri="{FF2B5EF4-FFF2-40B4-BE49-F238E27FC236}">
                <a16:creationId xmlns:a16="http://schemas.microsoft.com/office/drawing/2014/main" id="{E24BC3CA-0F71-4A9B-BF82-09045020DD50}"/>
              </a:ext>
            </a:extLst>
          </p:cNvPr>
          <p:cNvGrpSpPr>
            <a:grpSpLocks/>
          </p:cNvGrpSpPr>
          <p:nvPr/>
        </p:nvGrpSpPr>
        <p:grpSpPr bwMode="auto">
          <a:xfrm>
            <a:off x="5049654" y="2424538"/>
            <a:ext cx="2859087" cy="1817688"/>
            <a:chOff x="3157" y="1349"/>
            <a:chExt cx="1801" cy="1145"/>
          </a:xfrm>
        </p:grpSpPr>
        <p:sp>
          <p:nvSpPr>
            <p:cNvPr id="59" name="Freeform 27">
              <a:extLst>
                <a:ext uri="{FF2B5EF4-FFF2-40B4-BE49-F238E27FC236}">
                  <a16:creationId xmlns:a16="http://schemas.microsoft.com/office/drawing/2014/main" id="{9016D46E-B2BF-4955-95EC-4240D35909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7" y="1349"/>
              <a:ext cx="1801" cy="1145"/>
            </a:xfrm>
            <a:custGeom>
              <a:avLst/>
              <a:gdLst>
                <a:gd name="T0" fmla="*/ 1801 w 1801"/>
                <a:gd name="T1" fmla="*/ 0 h 1145"/>
                <a:gd name="T2" fmla="*/ 904 w 1801"/>
                <a:gd name="T3" fmla="*/ 109 h 1145"/>
                <a:gd name="T4" fmla="*/ 445 w 1801"/>
                <a:gd name="T5" fmla="*/ 343 h 1145"/>
                <a:gd name="T6" fmla="*/ 146 w 1801"/>
                <a:gd name="T7" fmla="*/ 758 h 1145"/>
                <a:gd name="T8" fmla="*/ 29 w 1801"/>
                <a:gd name="T9" fmla="*/ 1013 h 1145"/>
                <a:gd name="T10" fmla="*/ 0 w 1801"/>
                <a:gd name="T11" fmla="*/ 1145 h 114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801"/>
                <a:gd name="T19" fmla="*/ 0 h 1145"/>
                <a:gd name="T20" fmla="*/ 1801 w 1801"/>
                <a:gd name="T21" fmla="*/ 1145 h 114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801" h="1145">
                  <a:moveTo>
                    <a:pt x="1801" y="0"/>
                  </a:moveTo>
                  <a:cubicBezTo>
                    <a:pt x="1465" y="26"/>
                    <a:pt x="1130" y="52"/>
                    <a:pt x="904" y="109"/>
                  </a:cubicBezTo>
                  <a:cubicBezTo>
                    <a:pt x="678" y="166"/>
                    <a:pt x="571" y="235"/>
                    <a:pt x="445" y="343"/>
                  </a:cubicBezTo>
                  <a:cubicBezTo>
                    <a:pt x="319" y="451"/>
                    <a:pt x="215" y="646"/>
                    <a:pt x="146" y="758"/>
                  </a:cubicBezTo>
                  <a:cubicBezTo>
                    <a:pt x="77" y="870"/>
                    <a:pt x="53" y="949"/>
                    <a:pt x="29" y="1013"/>
                  </a:cubicBezTo>
                  <a:cubicBezTo>
                    <a:pt x="5" y="1077"/>
                    <a:pt x="2" y="1111"/>
                    <a:pt x="0" y="1145"/>
                  </a:cubicBezTo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60" name="Line 28">
              <a:extLst>
                <a:ext uri="{FF2B5EF4-FFF2-40B4-BE49-F238E27FC236}">
                  <a16:creationId xmlns:a16="http://schemas.microsoft.com/office/drawing/2014/main" id="{75D18CF8-77A4-4964-97CC-0508340FC0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50" y="1473"/>
              <a:ext cx="131" cy="51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61" name="Line 29">
              <a:extLst>
                <a:ext uri="{FF2B5EF4-FFF2-40B4-BE49-F238E27FC236}">
                  <a16:creationId xmlns:a16="http://schemas.microsoft.com/office/drawing/2014/main" id="{3EDE62BF-8DD4-48ED-8D51-176CE57F7B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39" y="1932"/>
              <a:ext cx="66" cy="11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</p:grpSp>
      <p:grpSp>
        <p:nvGrpSpPr>
          <p:cNvPr id="62" name="Group 33">
            <a:extLst>
              <a:ext uri="{FF2B5EF4-FFF2-40B4-BE49-F238E27FC236}">
                <a16:creationId xmlns:a16="http://schemas.microsoft.com/office/drawing/2014/main" id="{C394C3E5-C097-4770-B567-DAB345ECE294}"/>
              </a:ext>
            </a:extLst>
          </p:cNvPr>
          <p:cNvGrpSpPr>
            <a:grpSpLocks/>
          </p:cNvGrpSpPr>
          <p:nvPr/>
        </p:nvGrpSpPr>
        <p:grpSpPr bwMode="auto">
          <a:xfrm>
            <a:off x="2659402" y="4243290"/>
            <a:ext cx="2397125" cy="1811338"/>
            <a:chOff x="1645" y="2501"/>
            <a:chExt cx="1510" cy="1141"/>
          </a:xfrm>
        </p:grpSpPr>
        <p:sp>
          <p:nvSpPr>
            <p:cNvPr id="63" name="Line 34">
              <a:extLst>
                <a:ext uri="{FF2B5EF4-FFF2-40B4-BE49-F238E27FC236}">
                  <a16:creationId xmlns:a16="http://schemas.microsoft.com/office/drawing/2014/main" id="{60D1CB6F-E100-4EAD-B216-5606F5FAE4D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645" y="3642"/>
              <a:ext cx="620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64" name="Freeform 35">
              <a:extLst>
                <a:ext uri="{FF2B5EF4-FFF2-40B4-BE49-F238E27FC236}">
                  <a16:creationId xmlns:a16="http://schemas.microsoft.com/office/drawing/2014/main" id="{80FEE50C-A090-4D03-90C7-DFE09D40834F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2259" y="2501"/>
              <a:ext cx="896" cy="1130"/>
            </a:xfrm>
            <a:custGeom>
              <a:avLst/>
              <a:gdLst>
                <a:gd name="T0" fmla="*/ 0 w 1801"/>
                <a:gd name="T1" fmla="*/ 0 h 1145"/>
                <a:gd name="T2" fmla="*/ 0 w 1801"/>
                <a:gd name="T3" fmla="*/ 81 h 1145"/>
                <a:gd name="T4" fmla="*/ 0 w 1801"/>
                <a:gd name="T5" fmla="*/ 240 h 1145"/>
                <a:gd name="T6" fmla="*/ 0 w 1801"/>
                <a:gd name="T7" fmla="*/ 524 h 1145"/>
                <a:gd name="T8" fmla="*/ 0 w 1801"/>
                <a:gd name="T9" fmla="*/ 701 h 1145"/>
                <a:gd name="T10" fmla="*/ 0 w 1801"/>
                <a:gd name="T11" fmla="*/ 791 h 114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801"/>
                <a:gd name="T19" fmla="*/ 0 h 1145"/>
                <a:gd name="T20" fmla="*/ 1801 w 1801"/>
                <a:gd name="T21" fmla="*/ 1145 h 114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801" h="1145">
                  <a:moveTo>
                    <a:pt x="1801" y="0"/>
                  </a:moveTo>
                  <a:cubicBezTo>
                    <a:pt x="1465" y="26"/>
                    <a:pt x="1130" y="52"/>
                    <a:pt x="904" y="109"/>
                  </a:cubicBezTo>
                  <a:cubicBezTo>
                    <a:pt x="678" y="166"/>
                    <a:pt x="571" y="235"/>
                    <a:pt x="445" y="343"/>
                  </a:cubicBezTo>
                  <a:cubicBezTo>
                    <a:pt x="319" y="451"/>
                    <a:pt x="215" y="646"/>
                    <a:pt x="146" y="758"/>
                  </a:cubicBezTo>
                  <a:cubicBezTo>
                    <a:pt x="77" y="870"/>
                    <a:pt x="53" y="949"/>
                    <a:pt x="29" y="1013"/>
                  </a:cubicBezTo>
                  <a:cubicBezTo>
                    <a:pt x="5" y="1077"/>
                    <a:pt x="2" y="1111"/>
                    <a:pt x="0" y="1145"/>
                  </a:cubicBezTo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65" name="Line 36">
              <a:extLst>
                <a:ext uri="{FF2B5EF4-FFF2-40B4-BE49-F238E27FC236}">
                  <a16:creationId xmlns:a16="http://schemas.microsoft.com/office/drawing/2014/main" id="{9E23050B-059A-472F-85BF-1C2521CA0B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96" y="3019"/>
              <a:ext cx="44" cy="14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</p:grpSp>
      <p:grpSp>
        <p:nvGrpSpPr>
          <p:cNvPr id="66" name="Group 37">
            <a:extLst>
              <a:ext uri="{FF2B5EF4-FFF2-40B4-BE49-F238E27FC236}">
                <a16:creationId xmlns:a16="http://schemas.microsoft.com/office/drawing/2014/main" id="{440F781B-8F08-4FDC-BEBB-7C95D7DB3C5C}"/>
              </a:ext>
            </a:extLst>
          </p:cNvPr>
          <p:cNvGrpSpPr>
            <a:grpSpLocks/>
          </p:cNvGrpSpPr>
          <p:nvPr/>
        </p:nvGrpSpPr>
        <p:grpSpPr bwMode="auto">
          <a:xfrm>
            <a:off x="3616141" y="4246465"/>
            <a:ext cx="2859088" cy="1817688"/>
            <a:chOff x="2254" y="2503"/>
            <a:chExt cx="1801" cy="1145"/>
          </a:xfrm>
        </p:grpSpPr>
        <p:sp>
          <p:nvSpPr>
            <p:cNvPr id="67" name="Freeform 38">
              <a:extLst>
                <a:ext uri="{FF2B5EF4-FFF2-40B4-BE49-F238E27FC236}">
                  <a16:creationId xmlns:a16="http://schemas.microsoft.com/office/drawing/2014/main" id="{77533752-D8DC-4D0C-9847-9D0DD7BE8DB7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2254" y="2503"/>
              <a:ext cx="1801" cy="1145"/>
            </a:xfrm>
            <a:custGeom>
              <a:avLst/>
              <a:gdLst>
                <a:gd name="T0" fmla="*/ 1801 w 1801"/>
                <a:gd name="T1" fmla="*/ 0 h 1145"/>
                <a:gd name="T2" fmla="*/ 904 w 1801"/>
                <a:gd name="T3" fmla="*/ 109 h 1145"/>
                <a:gd name="T4" fmla="*/ 445 w 1801"/>
                <a:gd name="T5" fmla="*/ 343 h 1145"/>
                <a:gd name="T6" fmla="*/ 146 w 1801"/>
                <a:gd name="T7" fmla="*/ 758 h 1145"/>
                <a:gd name="T8" fmla="*/ 29 w 1801"/>
                <a:gd name="T9" fmla="*/ 1013 h 1145"/>
                <a:gd name="T10" fmla="*/ 0 w 1801"/>
                <a:gd name="T11" fmla="*/ 1145 h 114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801"/>
                <a:gd name="T19" fmla="*/ 0 h 1145"/>
                <a:gd name="T20" fmla="*/ 1801 w 1801"/>
                <a:gd name="T21" fmla="*/ 1145 h 114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801" h="1145">
                  <a:moveTo>
                    <a:pt x="1801" y="0"/>
                  </a:moveTo>
                  <a:cubicBezTo>
                    <a:pt x="1465" y="26"/>
                    <a:pt x="1130" y="52"/>
                    <a:pt x="904" y="109"/>
                  </a:cubicBezTo>
                  <a:cubicBezTo>
                    <a:pt x="678" y="166"/>
                    <a:pt x="571" y="235"/>
                    <a:pt x="445" y="343"/>
                  </a:cubicBezTo>
                  <a:cubicBezTo>
                    <a:pt x="319" y="451"/>
                    <a:pt x="215" y="646"/>
                    <a:pt x="146" y="758"/>
                  </a:cubicBezTo>
                  <a:cubicBezTo>
                    <a:pt x="77" y="870"/>
                    <a:pt x="53" y="949"/>
                    <a:pt x="29" y="1013"/>
                  </a:cubicBezTo>
                  <a:cubicBezTo>
                    <a:pt x="5" y="1077"/>
                    <a:pt x="2" y="1111"/>
                    <a:pt x="0" y="1145"/>
                  </a:cubicBezTo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68" name="Line 39">
              <a:extLst>
                <a:ext uri="{FF2B5EF4-FFF2-40B4-BE49-F238E27FC236}">
                  <a16:creationId xmlns:a16="http://schemas.microsoft.com/office/drawing/2014/main" id="{249CF1D3-02D9-4786-9342-EE71E89947A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3278" y="3447"/>
              <a:ext cx="131" cy="51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69" name="Line 40">
              <a:extLst>
                <a:ext uri="{FF2B5EF4-FFF2-40B4-BE49-F238E27FC236}">
                  <a16:creationId xmlns:a16="http://schemas.microsoft.com/office/drawing/2014/main" id="{9DE488D5-0352-4C88-906D-D09E1DB127C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3860" y="2862"/>
              <a:ext cx="66" cy="11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</p:grpSp>
      <p:grpSp>
        <p:nvGrpSpPr>
          <p:cNvPr id="70" name="Group 41">
            <a:extLst>
              <a:ext uri="{FF2B5EF4-FFF2-40B4-BE49-F238E27FC236}">
                <a16:creationId xmlns:a16="http://schemas.microsoft.com/office/drawing/2014/main" id="{0AB39AEE-A27E-4EC2-B9D1-B380B89787FF}"/>
              </a:ext>
            </a:extLst>
          </p:cNvPr>
          <p:cNvGrpSpPr>
            <a:grpSpLocks/>
          </p:cNvGrpSpPr>
          <p:nvPr/>
        </p:nvGrpSpPr>
        <p:grpSpPr bwMode="auto">
          <a:xfrm>
            <a:off x="6479991" y="2453113"/>
            <a:ext cx="1422400" cy="1793875"/>
            <a:chOff x="4058" y="1367"/>
            <a:chExt cx="896" cy="1130"/>
          </a:xfrm>
        </p:grpSpPr>
        <p:sp>
          <p:nvSpPr>
            <p:cNvPr id="71" name="Freeform 42">
              <a:extLst>
                <a:ext uri="{FF2B5EF4-FFF2-40B4-BE49-F238E27FC236}">
                  <a16:creationId xmlns:a16="http://schemas.microsoft.com/office/drawing/2014/main" id="{93A5806C-F2CF-4E58-A6AF-6AB121E935C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8" y="1367"/>
              <a:ext cx="896" cy="1130"/>
            </a:xfrm>
            <a:custGeom>
              <a:avLst/>
              <a:gdLst>
                <a:gd name="T0" fmla="*/ 0 w 1801"/>
                <a:gd name="T1" fmla="*/ 0 h 1145"/>
                <a:gd name="T2" fmla="*/ 0 w 1801"/>
                <a:gd name="T3" fmla="*/ 81 h 1145"/>
                <a:gd name="T4" fmla="*/ 0 w 1801"/>
                <a:gd name="T5" fmla="*/ 240 h 1145"/>
                <a:gd name="T6" fmla="*/ 0 w 1801"/>
                <a:gd name="T7" fmla="*/ 524 h 1145"/>
                <a:gd name="T8" fmla="*/ 0 w 1801"/>
                <a:gd name="T9" fmla="*/ 701 h 1145"/>
                <a:gd name="T10" fmla="*/ 0 w 1801"/>
                <a:gd name="T11" fmla="*/ 791 h 114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801"/>
                <a:gd name="T19" fmla="*/ 0 h 1145"/>
                <a:gd name="T20" fmla="*/ 1801 w 1801"/>
                <a:gd name="T21" fmla="*/ 1145 h 114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801" h="1145">
                  <a:moveTo>
                    <a:pt x="1801" y="0"/>
                  </a:moveTo>
                  <a:cubicBezTo>
                    <a:pt x="1465" y="26"/>
                    <a:pt x="1130" y="52"/>
                    <a:pt x="904" y="109"/>
                  </a:cubicBezTo>
                  <a:cubicBezTo>
                    <a:pt x="678" y="166"/>
                    <a:pt x="571" y="235"/>
                    <a:pt x="445" y="343"/>
                  </a:cubicBezTo>
                  <a:cubicBezTo>
                    <a:pt x="319" y="451"/>
                    <a:pt x="215" y="646"/>
                    <a:pt x="146" y="758"/>
                  </a:cubicBezTo>
                  <a:cubicBezTo>
                    <a:pt x="77" y="870"/>
                    <a:pt x="53" y="949"/>
                    <a:pt x="29" y="1013"/>
                  </a:cubicBezTo>
                  <a:cubicBezTo>
                    <a:pt x="5" y="1077"/>
                    <a:pt x="2" y="1111"/>
                    <a:pt x="0" y="1145"/>
                  </a:cubicBezTo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72" name="Line 43">
              <a:extLst>
                <a:ext uri="{FF2B5EF4-FFF2-40B4-BE49-F238E27FC236}">
                  <a16:creationId xmlns:a16="http://schemas.microsoft.com/office/drawing/2014/main" id="{8A239535-3CAE-4E7B-B444-96312363ADF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4212" y="1725"/>
              <a:ext cx="44" cy="14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</p:grpSp>
      <p:grpSp>
        <p:nvGrpSpPr>
          <p:cNvPr id="73" name="Group 103">
            <a:extLst>
              <a:ext uri="{FF2B5EF4-FFF2-40B4-BE49-F238E27FC236}">
                <a16:creationId xmlns:a16="http://schemas.microsoft.com/office/drawing/2014/main" id="{C928F904-07F9-4D13-81AC-EFF7AAA016A5}"/>
              </a:ext>
            </a:extLst>
          </p:cNvPr>
          <p:cNvGrpSpPr>
            <a:grpSpLocks/>
          </p:cNvGrpSpPr>
          <p:nvPr/>
        </p:nvGrpSpPr>
        <p:grpSpPr bwMode="auto">
          <a:xfrm>
            <a:off x="5767204" y="2430888"/>
            <a:ext cx="3070225" cy="1766888"/>
            <a:chOff x="3609" y="1243"/>
            <a:chExt cx="1934" cy="1113"/>
          </a:xfrm>
        </p:grpSpPr>
        <p:sp>
          <p:nvSpPr>
            <p:cNvPr id="74" name="Line 51">
              <a:extLst>
                <a:ext uri="{FF2B5EF4-FFF2-40B4-BE49-F238E27FC236}">
                  <a16:creationId xmlns:a16="http://schemas.microsoft.com/office/drawing/2014/main" id="{6D21C1D7-A871-4C6A-AA18-34B9D10FE9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58" y="1718"/>
              <a:ext cx="81" cy="16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75" name="Line 52">
              <a:extLst>
                <a:ext uri="{FF2B5EF4-FFF2-40B4-BE49-F238E27FC236}">
                  <a16:creationId xmlns:a16="http://schemas.microsoft.com/office/drawing/2014/main" id="{6FD9D7CD-65AA-4656-B1A2-C322DF0C32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3" y="1246"/>
              <a:ext cx="620" cy="0"/>
            </a:xfrm>
            <a:prstGeom prst="line">
              <a:avLst/>
            </a:prstGeom>
            <a:noFill/>
            <a:ln w="34925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76" name="Freeform 53">
              <a:extLst>
                <a:ext uri="{FF2B5EF4-FFF2-40B4-BE49-F238E27FC236}">
                  <a16:creationId xmlns:a16="http://schemas.microsoft.com/office/drawing/2014/main" id="{2D6CB1F1-B754-4567-9093-04DA3669392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9" y="1243"/>
              <a:ext cx="1307" cy="1113"/>
            </a:xfrm>
            <a:custGeom>
              <a:avLst/>
              <a:gdLst>
                <a:gd name="T0" fmla="*/ 1 w 1801"/>
                <a:gd name="T1" fmla="*/ 0 h 1145"/>
                <a:gd name="T2" fmla="*/ 1 w 1801"/>
                <a:gd name="T3" fmla="*/ 49 h 1145"/>
                <a:gd name="T4" fmla="*/ 1 w 1801"/>
                <a:gd name="T5" fmla="*/ 155 h 1145"/>
                <a:gd name="T6" fmla="*/ 1 w 1801"/>
                <a:gd name="T7" fmla="*/ 344 h 1145"/>
                <a:gd name="T8" fmla="*/ 1 w 1801"/>
                <a:gd name="T9" fmla="*/ 457 h 1145"/>
                <a:gd name="T10" fmla="*/ 0 w 1801"/>
                <a:gd name="T11" fmla="*/ 517 h 114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801"/>
                <a:gd name="T19" fmla="*/ 0 h 1145"/>
                <a:gd name="T20" fmla="*/ 1801 w 1801"/>
                <a:gd name="T21" fmla="*/ 1145 h 114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801" h="1145">
                  <a:moveTo>
                    <a:pt x="1801" y="0"/>
                  </a:moveTo>
                  <a:cubicBezTo>
                    <a:pt x="1465" y="26"/>
                    <a:pt x="1130" y="52"/>
                    <a:pt x="904" y="109"/>
                  </a:cubicBezTo>
                  <a:cubicBezTo>
                    <a:pt x="678" y="166"/>
                    <a:pt x="571" y="235"/>
                    <a:pt x="445" y="343"/>
                  </a:cubicBezTo>
                  <a:cubicBezTo>
                    <a:pt x="319" y="451"/>
                    <a:pt x="215" y="646"/>
                    <a:pt x="146" y="758"/>
                  </a:cubicBezTo>
                  <a:cubicBezTo>
                    <a:pt x="77" y="870"/>
                    <a:pt x="53" y="949"/>
                    <a:pt x="29" y="1013"/>
                  </a:cubicBezTo>
                  <a:cubicBezTo>
                    <a:pt x="5" y="1077"/>
                    <a:pt x="2" y="1111"/>
                    <a:pt x="0" y="1145"/>
                  </a:cubicBezTo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</p:grpSp>
      <p:grpSp>
        <p:nvGrpSpPr>
          <p:cNvPr id="78" name="Grupo 77">
            <a:extLst>
              <a:ext uri="{FF2B5EF4-FFF2-40B4-BE49-F238E27FC236}">
                <a16:creationId xmlns:a16="http://schemas.microsoft.com/office/drawing/2014/main" id="{E234D3B8-216B-46BF-A690-65029A1737B2}"/>
              </a:ext>
            </a:extLst>
          </p:cNvPr>
          <p:cNvGrpSpPr>
            <a:grpSpLocks/>
          </p:cNvGrpSpPr>
          <p:nvPr/>
        </p:nvGrpSpPr>
        <p:grpSpPr bwMode="auto">
          <a:xfrm>
            <a:off x="6847547" y="4698423"/>
            <a:ext cx="3271881" cy="1213658"/>
            <a:chOff x="7321289" y="2402510"/>
            <a:chExt cx="3270222" cy="1212879"/>
          </a:xfrm>
        </p:grpSpPr>
        <p:sp>
          <p:nvSpPr>
            <p:cNvPr id="79" name="Text Box 111">
              <a:extLst>
                <a:ext uri="{FF2B5EF4-FFF2-40B4-BE49-F238E27FC236}">
                  <a16:creationId xmlns:a16="http://schemas.microsoft.com/office/drawing/2014/main" id="{B65D3063-134A-49A9-8D13-C52C992A00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21289" y="2402510"/>
              <a:ext cx="3270222" cy="121287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  <a:defRPr/>
              </a:pPr>
              <a:r>
                <a:rPr lang="es-ES" sz="1800">
                  <a:solidFill>
                    <a:srgbClr val="3333FF"/>
                  </a:solidFill>
                  <a:latin typeface="Arial" panose="020B0604020202020204" pitchFamily="34" charset="0"/>
                </a:rPr>
                <a:t>SON MEDIOS NO LINEALES</a:t>
              </a:r>
              <a:r>
                <a:rPr lang="es-ES" sz="1800">
                  <a:solidFill>
                    <a:srgbClr val="008000"/>
                  </a:solidFill>
                  <a:latin typeface="Arial" panose="020B0604020202020204" pitchFamily="34" charset="0"/>
                </a:rPr>
                <a:t>  </a:t>
              </a:r>
              <a:r>
                <a:rPr lang="es-ES" sz="2000">
                  <a:solidFill>
                    <a:srgbClr val="008000"/>
                  </a:solidFill>
                  <a:latin typeface="Arial" panose="020B0604020202020204" pitchFamily="34" charset="0"/>
                </a:rPr>
                <a:t> </a:t>
              </a:r>
              <a:r>
                <a:rPr lang="es-ES" sz="2000">
                  <a:latin typeface="Arial" panose="020B0604020202020204" pitchFamily="34" charset="0"/>
                  <a:sym typeface="Symbol" panose="05050102010706020507" pitchFamily="18" charset="2"/>
                </a:rPr>
                <a:t>B</a:t>
              </a:r>
              <a:r>
                <a:rPr lang="es-ES" sz="2000" baseline="-25000">
                  <a:latin typeface="Arial" panose="020B0604020202020204" pitchFamily="34" charset="0"/>
                  <a:sym typeface="Symbol" panose="05050102010706020507" pitchFamily="18" charset="2"/>
                </a:rPr>
                <a:t>mag</a:t>
              </a:r>
              <a:r>
                <a:rPr lang="es-ES" sz="2000">
                  <a:latin typeface="Arial" panose="020B0604020202020204" pitchFamily="34" charset="0"/>
                  <a:sym typeface="Symbol" panose="05050102010706020507" pitchFamily="18" charset="2"/>
                </a:rPr>
                <a:t>  B</a:t>
              </a:r>
              <a:r>
                <a:rPr lang="es-ES" sz="2000" baseline="-25000">
                  <a:latin typeface="Arial" panose="020B0604020202020204" pitchFamily="34" charset="0"/>
                  <a:sym typeface="Symbol" panose="05050102010706020507" pitchFamily="18" charset="2"/>
                </a:rPr>
                <a:t>apl</a:t>
              </a:r>
              <a:r>
                <a:rPr lang="es-ES" sz="2000">
                  <a:latin typeface="Arial" panose="020B0604020202020204" pitchFamily="34" charset="0"/>
                  <a:sym typeface="Symbol" panose="05050102010706020507" pitchFamily="18" charset="2"/>
                </a:rPr>
                <a:t>  (</a:t>
              </a:r>
              <a:r>
                <a:rPr lang="es-ES" sz="2400">
                  <a:latin typeface="Arial" panose="020B0604020202020204" pitchFamily="34" charset="0"/>
                  <a:sym typeface="Symbol" panose="05050102010706020507" pitchFamily="18" charset="2"/>
                </a:rPr>
                <a:t> </a:t>
              </a:r>
              <a:r>
                <a:rPr lang="es-ES" sz="2000">
                  <a:latin typeface="Arial" panose="020B0604020202020204" pitchFamily="34" charset="0"/>
                  <a:sym typeface="Symbol" panose="05050102010706020507" pitchFamily="18" charset="2"/>
                </a:rPr>
                <a:t>= f(B</a:t>
              </a:r>
              <a:r>
                <a:rPr lang="es-ES" sz="2000" baseline="-25000">
                  <a:latin typeface="Arial" panose="020B0604020202020204" pitchFamily="34" charset="0"/>
                  <a:sym typeface="Symbol" panose="05050102010706020507" pitchFamily="18" charset="2"/>
                </a:rPr>
                <a:t>apl</a:t>
              </a:r>
              <a:r>
                <a:rPr lang="es-ES" sz="2000">
                  <a:latin typeface="Arial" panose="020B0604020202020204" pitchFamily="34" charset="0"/>
                  <a:sym typeface="Symbol" panose="05050102010706020507" pitchFamily="18" charset="2"/>
                </a:rPr>
                <a:t>)) E</a:t>
              </a:r>
              <a:r>
                <a:rPr lang="es-ES" sz="2000" baseline="-25000">
                  <a:latin typeface="Arial" panose="020B0604020202020204" pitchFamily="34" charset="0"/>
                  <a:sym typeface="Symbol" panose="05050102010706020507" pitchFamily="18" charset="2"/>
                </a:rPr>
                <a:t>pol</a:t>
              </a:r>
              <a:r>
                <a:rPr lang="es-ES" sz="2000">
                  <a:latin typeface="Arial" panose="020B0604020202020204" pitchFamily="34" charset="0"/>
                  <a:sym typeface="Symbol" panose="05050102010706020507" pitchFamily="18" charset="2"/>
                </a:rPr>
                <a:t>  E</a:t>
              </a:r>
              <a:r>
                <a:rPr lang="es-ES" sz="2000" baseline="-25000">
                  <a:latin typeface="Arial" panose="020B0604020202020204" pitchFamily="34" charset="0"/>
                  <a:sym typeface="Symbol" panose="05050102010706020507" pitchFamily="18" charset="2"/>
                </a:rPr>
                <a:t>apl</a:t>
              </a:r>
              <a:r>
                <a:rPr lang="es-ES" sz="2000">
                  <a:latin typeface="Arial" panose="020B0604020202020204" pitchFamily="34" charset="0"/>
                  <a:sym typeface="Symbol" panose="05050102010706020507" pitchFamily="18" charset="2"/>
                </a:rPr>
                <a:t>   (</a:t>
              </a:r>
              <a:r>
                <a:rPr lang="es-ES" sz="2400">
                  <a:latin typeface="Arial" panose="020B0604020202020204" pitchFamily="34" charset="0"/>
                  <a:sym typeface="Symbol" panose="05050102010706020507" pitchFamily="18" charset="2"/>
                </a:rPr>
                <a:t> </a:t>
              </a:r>
              <a:r>
                <a:rPr lang="es-ES" sz="2000">
                  <a:latin typeface="Arial" panose="020B0604020202020204" pitchFamily="34" charset="0"/>
                  <a:sym typeface="Symbol" panose="05050102010706020507" pitchFamily="18" charset="2"/>
                </a:rPr>
                <a:t>= f(E</a:t>
              </a:r>
              <a:r>
                <a:rPr lang="es-ES" sz="2000" baseline="-25000">
                  <a:latin typeface="Arial" panose="020B0604020202020204" pitchFamily="34" charset="0"/>
                  <a:sym typeface="Symbol" panose="05050102010706020507" pitchFamily="18" charset="2"/>
                </a:rPr>
                <a:t>apl</a:t>
              </a:r>
              <a:r>
                <a:rPr lang="es-ES" sz="2000">
                  <a:latin typeface="Arial" panose="020B0604020202020204" pitchFamily="34" charset="0"/>
                  <a:sym typeface="Symbol" panose="05050102010706020507" pitchFamily="18" charset="2"/>
                </a:rPr>
                <a:t>))</a:t>
              </a:r>
              <a:endParaRPr lang="es-ES" sz="2000">
                <a:latin typeface="Arial" panose="020B0604020202020204" pitchFamily="34" charset="0"/>
              </a:endParaRPr>
            </a:p>
          </p:txBody>
        </p:sp>
        <p:cxnSp>
          <p:nvCxnSpPr>
            <p:cNvPr id="80" name="Conector recto 21">
              <a:extLst>
                <a:ext uri="{FF2B5EF4-FFF2-40B4-BE49-F238E27FC236}">
                  <a16:creationId xmlns:a16="http://schemas.microsoft.com/office/drawing/2014/main" id="{E756FA72-0FA3-4568-835D-C0632776E55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8252675" y="2917240"/>
              <a:ext cx="103982" cy="23495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1" name="Conector recto 90">
              <a:extLst>
                <a:ext uri="{FF2B5EF4-FFF2-40B4-BE49-F238E27FC236}">
                  <a16:creationId xmlns:a16="http://schemas.microsoft.com/office/drawing/2014/main" id="{114A8579-0912-4EB7-B396-19E5E543BC2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8202811" y="3239768"/>
              <a:ext cx="103982" cy="23495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82" name="Text Box 44">
            <a:extLst>
              <a:ext uri="{FF2B5EF4-FFF2-40B4-BE49-F238E27FC236}">
                <a16:creationId xmlns:a16="http://schemas.microsoft.com/office/drawing/2014/main" id="{5BACD57B-8F5B-4E50-9B46-0720819B13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5423" y="6298699"/>
            <a:ext cx="8066930" cy="47499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000" dirty="0" err="1">
                <a:solidFill>
                  <a:srgbClr val="3333FF"/>
                </a:solidFill>
                <a:latin typeface="Arial" panose="020B0604020202020204" pitchFamily="34" charset="0"/>
              </a:rPr>
              <a:t>Área</a:t>
            </a:r>
            <a:r>
              <a:rPr lang="es-ES" sz="2000" dirty="0" err="1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de</a:t>
            </a:r>
            <a:r>
              <a:rPr lang="es-ES" sz="20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ciclo </a:t>
            </a:r>
            <a:r>
              <a:rPr lang="es-ES" sz="2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 Energía disipada en forma de calor al orientar dipolos</a:t>
            </a:r>
          </a:p>
        </p:txBody>
      </p:sp>
      <p:sp>
        <p:nvSpPr>
          <p:cNvPr id="84" name="CuadroTexto 20">
            <a:extLst>
              <a:ext uri="{FF2B5EF4-FFF2-40B4-BE49-F238E27FC236}">
                <a16:creationId xmlns:a16="http://schemas.microsoft.com/office/drawing/2014/main" id="{D8816BD3-447C-4AA3-A5B0-DBFC507724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375" y="3152133"/>
            <a:ext cx="3721100" cy="206476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lIns="108000" tIns="108000" rIns="108000" bIns="108000">
            <a:spAutoFit/>
          </a:bodyPr>
          <a:lstStyle>
            <a:lvl1pPr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" dirty="0">
                <a:solidFill>
                  <a:schemeClr val="tx1"/>
                </a:solidFill>
              </a:rPr>
              <a:t>Incrementar la T</a:t>
            </a:r>
            <a:r>
              <a:rPr lang="es-ES" dirty="0">
                <a:solidFill>
                  <a:srgbClr val="FF0000"/>
                </a:solidFill>
              </a:rPr>
              <a:t> </a:t>
            </a:r>
            <a:r>
              <a:rPr lang="es-ES" dirty="0">
                <a:solidFill>
                  <a:srgbClr val="000000"/>
                </a:solidFill>
              </a:rPr>
              <a:t>(la agitación molecular), p.ej. con un láser, ayuda a superar la cohesión y la interacción entre dipolos,</a:t>
            </a:r>
          </a:p>
          <a:p>
            <a:pPr algn="ctr"/>
            <a:r>
              <a:rPr lang="es-ES" dirty="0">
                <a:solidFill>
                  <a:srgbClr val="000000"/>
                </a:solidFill>
              </a:rPr>
              <a:t>y a </a:t>
            </a:r>
            <a:r>
              <a:rPr lang="es-ES" dirty="0"/>
              <a:t>volver al estado inicial</a:t>
            </a:r>
          </a:p>
          <a:p>
            <a:pPr algn="ctr"/>
            <a:r>
              <a:rPr lang="es-ES" dirty="0">
                <a:solidFill>
                  <a:srgbClr val="000000"/>
                </a:solidFill>
              </a:rPr>
              <a:t>(</a:t>
            </a:r>
            <a:r>
              <a:rPr lang="es-ES" dirty="0" err="1">
                <a:solidFill>
                  <a:srgbClr val="000000"/>
                </a:solidFill>
              </a:rPr>
              <a:t>B</a:t>
            </a:r>
            <a:r>
              <a:rPr lang="es-ES" baseline="-25000" dirty="0" err="1">
                <a:solidFill>
                  <a:srgbClr val="000000"/>
                </a:solidFill>
              </a:rPr>
              <a:t>mag</a:t>
            </a:r>
            <a:r>
              <a:rPr lang="es-ES" dirty="0">
                <a:solidFill>
                  <a:srgbClr val="000000"/>
                </a:solidFill>
              </a:rPr>
              <a:t> = 0 con </a:t>
            </a:r>
            <a:r>
              <a:rPr lang="es-ES" dirty="0" err="1">
                <a:solidFill>
                  <a:srgbClr val="000000"/>
                </a:solidFill>
              </a:rPr>
              <a:t>B</a:t>
            </a:r>
            <a:r>
              <a:rPr lang="es-ES" baseline="-25000" dirty="0" err="1">
                <a:solidFill>
                  <a:srgbClr val="000000"/>
                </a:solidFill>
              </a:rPr>
              <a:t>apl</a:t>
            </a:r>
            <a:r>
              <a:rPr lang="es-ES" dirty="0">
                <a:solidFill>
                  <a:srgbClr val="000000"/>
                </a:solidFill>
              </a:rPr>
              <a:t> = 0)</a:t>
            </a:r>
          </a:p>
        </p:txBody>
      </p:sp>
      <p:cxnSp>
        <p:nvCxnSpPr>
          <p:cNvPr id="85" name="Conector recto de flecha 84">
            <a:extLst>
              <a:ext uri="{FF2B5EF4-FFF2-40B4-BE49-F238E27FC236}">
                <a16:creationId xmlns:a16="http://schemas.microsoft.com/office/drawing/2014/main" id="{358F0D58-BC3E-437E-9FF5-EBFBDB2228A1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909829" y="4252852"/>
            <a:ext cx="1672264" cy="326762"/>
          </a:xfrm>
          <a:prstGeom prst="straightConnector1">
            <a:avLst/>
          </a:prstGeom>
          <a:noFill/>
          <a:ln w="25400" algn="ctr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6" name="Elipse 22">
            <a:extLst>
              <a:ext uri="{FF2B5EF4-FFF2-40B4-BE49-F238E27FC236}">
                <a16:creationId xmlns:a16="http://schemas.microsoft.com/office/drawing/2014/main" id="{DDDEBFD7-EE10-4207-A7A7-492A337942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3965" y="4094780"/>
            <a:ext cx="144076" cy="144068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 baseline="-25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7" name="Text Box 55">
            <a:extLst>
              <a:ext uri="{FF2B5EF4-FFF2-40B4-BE49-F238E27FC236}">
                <a16:creationId xmlns:a16="http://schemas.microsoft.com/office/drawing/2014/main" id="{AECCA5D8-C3C3-4FA5-98FC-711C32B98E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4578" y="594267"/>
            <a:ext cx="3760077" cy="1706100"/>
          </a:xfrm>
          <a:prstGeom prst="rect">
            <a:avLst/>
          </a:pr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000" dirty="0">
                <a:latin typeface="Arial" panose="020B0604020202020204" pitchFamily="34" charset="0"/>
              </a:rPr>
              <a:t>Los materiales que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000" dirty="0">
                <a:latin typeface="Arial" panose="020B0604020202020204" pitchFamily="34" charset="0"/>
              </a:rPr>
              <a:t>lo presentan son: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000" dirty="0">
                <a:solidFill>
                  <a:srgbClr val="3333FF"/>
                </a:solidFill>
                <a:latin typeface="Arial" panose="020B0604020202020204" pitchFamily="34" charset="0"/>
              </a:rPr>
              <a:t>MATERIALES CON HISTORIA</a:t>
            </a:r>
            <a:r>
              <a:rPr lang="es-ES" sz="2000" dirty="0">
                <a:solidFill>
                  <a:srgbClr val="008000"/>
                </a:solidFill>
                <a:latin typeface="Arial" panose="020B0604020202020204" pitchFamily="34" charset="0"/>
              </a:rPr>
              <a:t>                     </a:t>
            </a:r>
            <a:r>
              <a:rPr lang="es-ES" sz="2000" dirty="0">
                <a:latin typeface="Arial" panose="020B0604020202020204" pitchFamily="34" charset="0"/>
              </a:rPr>
              <a:t>Su estado, </a:t>
            </a:r>
            <a:r>
              <a:rPr lang="es-ES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B</a:t>
            </a:r>
            <a:r>
              <a:rPr lang="es-ES" sz="2000" b="1" baseline="-250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mag</a:t>
            </a:r>
            <a:r>
              <a:rPr lang="es-ES" sz="2000" dirty="0">
                <a:latin typeface="Arial" panose="020B0604020202020204" pitchFamily="34" charset="0"/>
              </a:rPr>
              <a:t>, a </a:t>
            </a:r>
            <a:r>
              <a:rPr lang="es-ES" sz="2000" dirty="0" err="1">
                <a:latin typeface="Arial" panose="020B0604020202020204" pitchFamily="34" charset="0"/>
              </a:rPr>
              <a:t>B</a:t>
            </a:r>
            <a:r>
              <a:rPr lang="es-ES" sz="2000" baseline="-25000" dirty="0" err="1">
                <a:latin typeface="Arial" panose="020B0604020202020204" pitchFamily="34" charset="0"/>
              </a:rPr>
              <a:t>apl</a:t>
            </a:r>
            <a:r>
              <a:rPr lang="es-ES" sz="2000" dirty="0">
                <a:latin typeface="Arial" panose="020B0604020202020204" pitchFamily="34" charset="0"/>
              </a:rPr>
              <a:t> = 0 depende de su pasado</a:t>
            </a:r>
            <a:endParaRPr lang="es-ES" sz="2000" dirty="0">
              <a:solidFill>
                <a:srgbClr val="008000"/>
              </a:solidFill>
              <a:latin typeface="Arial" panose="020B0604020202020204" pitchFamily="34" charset="0"/>
            </a:endParaRPr>
          </a:p>
        </p:txBody>
      </p:sp>
      <p:sp>
        <p:nvSpPr>
          <p:cNvPr id="116" name="Elipse 93">
            <a:extLst>
              <a:ext uri="{FF2B5EF4-FFF2-40B4-BE49-F238E27FC236}">
                <a16:creationId xmlns:a16="http://schemas.microsoft.com/office/drawing/2014/main" id="{0AE1022E-709F-400D-B351-AFAE03C20A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9294" y="2847279"/>
            <a:ext cx="144075" cy="14406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 baseline="-25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17" name="Elipse 93">
            <a:extLst>
              <a:ext uri="{FF2B5EF4-FFF2-40B4-BE49-F238E27FC236}">
                <a16:creationId xmlns:a16="http://schemas.microsoft.com/office/drawing/2014/main" id="{AC9207AB-2E9D-4097-9C15-D577846C6C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5830" y="5461297"/>
            <a:ext cx="144075" cy="14406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 baseline="-25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EE7CB771-A81F-4F4C-9EE7-59342630DCF9}"/>
              </a:ext>
            </a:extLst>
          </p:cNvPr>
          <p:cNvGrpSpPr/>
          <p:nvPr/>
        </p:nvGrpSpPr>
        <p:grpSpPr>
          <a:xfrm>
            <a:off x="5690276" y="3141749"/>
            <a:ext cx="609828" cy="1271320"/>
            <a:chOff x="9267708" y="1232828"/>
            <a:chExt cx="609828" cy="1271320"/>
          </a:xfrm>
        </p:grpSpPr>
        <p:sp>
          <p:nvSpPr>
            <p:cNvPr id="98" name="AutoShape 100">
              <a:extLst>
                <a:ext uri="{FF2B5EF4-FFF2-40B4-BE49-F238E27FC236}">
                  <a16:creationId xmlns:a16="http://schemas.microsoft.com/office/drawing/2014/main" id="{65056A37-BB07-4D9E-97A4-DB2D7F7224F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9361844" y="2035574"/>
              <a:ext cx="427262" cy="198147"/>
            </a:xfrm>
            <a:prstGeom prst="rightArrow">
              <a:avLst>
                <a:gd name="adj1" fmla="val 50000"/>
                <a:gd name="adj2" fmla="val 87595"/>
              </a:avLst>
            </a:prstGeom>
            <a:solidFill>
              <a:srgbClr val="008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82800" rIns="90000" bIns="82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6" name="AutoShape 100">
              <a:extLst>
                <a:ext uri="{FF2B5EF4-FFF2-40B4-BE49-F238E27FC236}">
                  <a16:creationId xmlns:a16="http://schemas.microsoft.com/office/drawing/2014/main" id="{DB9DA40D-7AF1-430B-84AE-DB7A152F05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91133" y="2306001"/>
              <a:ext cx="427262" cy="198147"/>
            </a:xfrm>
            <a:prstGeom prst="rightArrow">
              <a:avLst>
                <a:gd name="adj1" fmla="val 50000"/>
                <a:gd name="adj2" fmla="val 87595"/>
              </a:avLst>
            </a:prstGeom>
            <a:solidFill>
              <a:srgbClr val="008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82800" rIns="90000" bIns="82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7" name="84 Forma libre">
              <a:extLst>
                <a:ext uri="{FF2B5EF4-FFF2-40B4-BE49-F238E27FC236}">
                  <a16:creationId xmlns:a16="http://schemas.microsoft.com/office/drawing/2014/main" id="{0E33308A-C504-4DB0-8C01-85D401FA446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8902854" flipH="1" flipV="1">
              <a:off x="9324939" y="1232828"/>
              <a:ext cx="552597" cy="128727"/>
            </a:xfrm>
            <a:custGeom>
              <a:avLst/>
              <a:gdLst>
                <a:gd name="T0" fmla="*/ 0 w 497941"/>
                <a:gd name="T1" fmla="*/ 0 h 262551"/>
                <a:gd name="T2" fmla="*/ 0 w 497941"/>
                <a:gd name="T3" fmla="*/ 0 h 262551"/>
                <a:gd name="T4" fmla="*/ 0 w 497941"/>
                <a:gd name="T5" fmla="*/ 0 h 262551"/>
                <a:gd name="T6" fmla="*/ 0 60000 65536"/>
                <a:gd name="T7" fmla="*/ 0 60000 65536"/>
                <a:gd name="T8" fmla="*/ 0 60000 65536"/>
                <a:gd name="T9" fmla="*/ 0 w 497941"/>
                <a:gd name="T10" fmla="*/ 0 h 262551"/>
                <a:gd name="T11" fmla="*/ 497941 w 497941"/>
                <a:gd name="T12" fmla="*/ 262551 h 2625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97941" h="262551">
                  <a:moveTo>
                    <a:pt x="497941" y="0"/>
                  </a:moveTo>
                  <a:cubicBezTo>
                    <a:pt x="421741" y="14335"/>
                    <a:pt x="345541" y="28670"/>
                    <a:pt x="262551" y="72428"/>
                  </a:cubicBezTo>
                  <a:cubicBezTo>
                    <a:pt x="179561" y="116186"/>
                    <a:pt x="0" y="262551"/>
                    <a:pt x="0" y="262551"/>
                  </a:cubicBezTo>
                </a:path>
              </a:pathLst>
            </a:custGeom>
            <a:noFill/>
            <a:ln w="25400" algn="ctr">
              <a:solidFill>
                <a:srgbClr val="3333FF"/>
              </a:solidFill>
              <a:prstDash val="dash"/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  <p:sp>
          <p:nvSpPr>
            <p:cNvPr id="100" name="Elipse 93">
              <a:extLst>
                <a:ext uri="{FF2B5EF4-FFF2-40B4-BE49-F238E27FC236}">
                  <a16:creationId xmlns:a16="http://schemas.microsoft.com/office/drawing/2014/main" id="{1087D028-A1A0-42EA-B0D9-6BFBEB8682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67708" y="1478743"/>
              <a:ext cx="144075" cy="144068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 baseline="-25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5" name="Text Box 7">
            <a:extLst>
              <a:ext uri="{FF2B5EF4-FFF2-40B4-BE49-F238E27FC236}">
                <a16:creationId xmlns:a16="http://schemas.microsoft.com/office/drawing/2014/main" id="{9BF4D428-A826-02B9-C7A0-C4029BC62C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5787" y="1353846"/>
            <a:ext cx="1452563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000">
                <a:latin typeface="Arial" panose="020B0604020202020204" pitchFamily="34" charset="0"/>
              </a:rPr>
              <a:t>B</a:t>
            </a:r>
            <a:r>
              <a:rPr lang="es-ES" sz="2000" baseline="-25000">
                <a:latin typeface="Arial" panose="020B0604020202020204" pitchFamily="34" charset="0"/>
              </a:rPr>
              <a:t>magnetización</a:t>
            </a:r>
          </a:p>
        </p:txBody>
      </p:sp>
      <p:sp>
        <p:nvSpPr>
          <p:cNvPr id="6" name="Text Box 9">
            <a:extLst>
              <a:ext uri="{FF2B5EF4-FFF2-40B4-BE49-F238E27FC236}">
                <a16:creationId xmlns:a16="http://schemas.microsoft.com/office/drawing/2014/main" id="{D09C7037-6F98-3227-E6F5-EC1380CD81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02862" y="3825580"/>
            <a:ext cx="98742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es-ES" sz="2000" dirty="0" err="1">
                <a:latin typeface="Arial" panose="020B0604020202020204" pitchFamily="34" charset="0"/>
              </a:rPr>
              <a:t>B</a:t>
            </a:r>
            <a:r>
              <a:rPr lang="es-ES" sz="2000" baseline="-25000" dirty="0" err="1">
                <a:latin typeface="Arial" panose="020B0604020202020204" pitchFamily="34" charset="0"/>
              </a:rPr>
              <a:t>aplicado</a:t>
            </a:r>
            <a:endParaRPr lang="es-ES" sz="2000" dirty="0">
              <a:latin typeface="Arial" panose="020B0604020202020204" pitchFamily="34" charset="0"/>
            </a:endParaRPr>
          </a:p>
        </p:txBody>
      </p:sp>
      <p:sp>
        <p:nvSpPr>
          <p:cNvPr id="7" name="Text Box 47">
            <a:extLst>
              <a:ext uri="{FF2B5EF4-FFF2-40B4-BE49-F238E27FC236}">
                <a16:creationId xmlns:a16="http://schemas.microsoft.com/office/drawing/2014/main" id="{268DA752-D743-B698-B39D-D7B7E8C992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5229" y="647303"/>
            <a:ext cx="2972068" cy="58744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none" lIns="108000" tIns="108000" rIns="108000" bIns="1080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Ciclo de Histéresis</a:t>
            </a:r>
          </a:p>
        </p:txBody>
      </p:sp>
      <p:grpSp>
        <p:nvGrpSpPr>
          <p:cNvPr id="34" name="Grupo 33">
            <a:extLst>
              <a:ext uri="{FF2B5EF4-FFF2-40B4-BE49-F238E27FC236}">
                <a16:creationId xmlns:a16="http://schemas.microsoft.com/office/drawing/2014/main" id="{007E8616-3009-899F-088C-63CBEB667D65}"/>
              </a:ext>
            </a:extLst>
          </p:cNvPr>
          <p:cNvGrpSpPr/>
          <p:nvPr/>
        </p:nvGrpSpPr>
        <p:grpSpPr>
          <a:xfrm rot="16200000">
            <a:off x="5932323" y="5364859"/>
            <a:ext cx="706437" cy="323850"/>
            <a:chOff x="7630929" y="3010398"/>
            <a:chExt cx="706437" cy="323850"/>
          </a:xfrm>
        </p:grpSpPr>
        <p:sp>
          <p:nvSpPr>
            <p:cNvPr id="21" name="Rectangle 17">
              <a:extLst>
                <a:ext uri="{FF2B5EF4-FFF2-40B4-BE49-F238E27FC236}">
                  <a16:creationId xmlns:a16="http://schemas.microsoft.com/office/drawing/2014/main" id="{B1B5B274-5880-1BE8-FDDF-BD07C521153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V="1">
              <a:off x="8000816" y="2997698"/>
              <a:ext cx="323850" cy="349250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vert="eaVert"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000">
                <a:latin typeface="Arial" panose="020B0604020202020204" pitchFamily="34" charset="0"/>
              </a:endParaRPr>
            </a:p>
          </p:txBody>
        </p:sp>
        <p:sp>
          <p:nvSpPr>
            <p:cNvPr id="22" name="Rectangle 18">
              <a:extLst>
                <a:ext uri="{FF2B5EF4-FFF2-40B4-BE49-F238E27FC236}">
                  <a16:creationId xmlns:a16="http://schemas.microsoft.com/office/drawing/2014/main" id="{11B9FFC9-B3F1-8907-30FB-ED9A3119027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V="1">
              <a:off x="7643629" y="2997698"/>
              <a:ext cx="323850" cy="34925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vert="eaVert"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3" name="Grupo 32">
            <a:extLst>
              <a:ext uri="{FF2B5EF4-FFF2-40B4-BE49-F238E27FC236}">
                <a16:creationId xmlns:a16="http://schemas.microsoft.com/office/drawing/2014/main" id="{E63FBAAF-0324-8FA9-7616-C05090D914E3}"/>
              </a:ext>
            </a:extLst>
          </p:cNvPr>
          <p:cNvGrpSpPr/>
          <p:nvPr/>
        </p:nvGrpSpPr>
        <p:grpSpPr>
          <a:xfrm rot="5400000">
            <a:off x="4882917" y="2737809"/>
            <a:ext cx="706437" cy="323850"/>
            <a:chOff x="8497704" y="3010398"/>
            <a:chExt cx="706437" cy="323850"/>
          </a:xfrm>
        </p:grpSpPr>
        <p:sp>
          <p:nvSpPr>
            <p:cNvPr id="23" name="Rectangle 19">
              <a:extLst>
                <a:ext uri="{FF2B5EF4-FFF2-40B4-BE49-F238E27FC236}">
                  <a16:creationId xmlns:a16="http://schemas.microsoft.com/office/drawing/2014/main" id="{59DF53EF-B409-C54B-7D2A-A305159C6F2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V="1">
              <a:off x="8867591" y="2997698"/>
              <a:ext cx="323850" cy="349250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vert="eaVert"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000">
                <a:latin typeface="Arial" panose="020B0604020202020204" pitchFamily="34" charset="0"/>
              </a:endParaRPr>
            </a:p>
          </p:txBody>
        </p:sp>
        <p:sp>
          <p:nvSpPr>
            <p:cNvPr id="24" name="Rectangle 20">
              <a:extLst>
                <a:ext uri="{FF2B5EF4-FFF2-40B4-BE49-F238E27FC236}">
                  <a16:creationId xmlns:a16="http://schemas.microsoft.com/office/drawing/2014/main" id="{E56461C4-42A8-E889-D6DB-3AB467FEDB4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V="1">
              <a:off x="8510404" y="2997698"/>
              <a:ext cx="323850" cy="34925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vert="eaVert"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5" name="Grupo 34">
            <a:extLst>
              <a:ext uri="{FF2B5EF4-FFF2-40B4-BE49-F238E27FC236}">
                <a16:creationId xmlns:a16="http://schemas.microsoft.com/office/drawing/2014/main" id="{1FBB9389-D787-E6D2-218B-7ECF5616EC0D}"/>
              </a:ext>
            </a:extLst>
          </p:cNvPr>
          <p:cNvGrpSpPr/>
          <p:nvPr/>
        </p:nvGrpSpPr>
        <p:grpSpPr>
          <a:xfrm rot="16200000">
            <a:off x="4535670" y="3326238"/>
            <a:ext cx="501650" cy="233363"/>
            <a:chOff x="7722210" y="3465217"/>
            <a:chExt cx="501650" cy="233363"/>
          </a:xfrm>
        </p:grpSpPr>
        <p:sp>
          <p:nvSpPr>
            <p:cNvPr id="27" name="Rectangle 23">
              <a:extLst>
                <a:ext uri="{FF2B5EF4-FFF2-40B4-BE49-F238E27FC236}">
                  <a16:creationId xmlns:a16="http://schemas.microsoft.com/office/drawing/2014/main" id="{54A67D6B-2213-E96C-683B-5528B619557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7730941" y="3456486"/>
              <a:ext cx="233363" cy="250825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000">
                <a:latin typeface="Arial" panose="020B0604020202020204" pitchFamily="34" charset="0"/>
              </a:endParaRPr>
            </a:p>
          </p:txBody>
        </p:sp>
        <p:sp>
          <p:nvSpPr>
            <p:cNvPr id="28" name="Rectangle 24">
              <a:extLst>
                <a:ext uri="{FF2B5EF4-FFF2-40B4-BE49-F238E27FC236}">
                  <a16:creationId xmlns:a16="http://schemas.microsoft.com/office/drawing/2014/main" id="{0C38CD38-E9AD-299F-7336-B49A3F41670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7981766" y="3456486"/>
              <a:ext cx="233363" cy="250825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000"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82" grpId="0" animBg="1"/>
      <p:bldP spid="84" grpId="0" animBg="1"/>
      <p:bldP spid="86" grpId="0" animBg="1"/>
      <p:bldP spid="77" grpId="0" animBg="1"/>
      <p:bldP spid="116" grpId="0" animBg="1"/>
      <p:bldP spid="11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CuadroTexto 104"/>
          <p:cNvSpPr txBox="1">
            <a:spLocks noChangeArrowheads="1"/>
          </p:cNvSpPr>
          <p:nvPr/>
        </p:nvSpPr>
        <p:spPr bwMode="auto">
          <a:xfrm>
            <a:off x="5455027" y="2576932"/>
            <a:ext cx="381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ES" sz="2000" b="1">
                <a:solidFill>
                  <a:srgbClr val="008000"/>
                </a:solidFill>
                <a:latin typeface="Arial" panose="020B0604020202020204" pitchFamily="34" charset="0"/>
              </a:rPr>
              <a:t>R</a:t>
            </a:r>
          </a:p>
        </p:txBody>
      </p:sp>
      <p:sp>
        <p:nvSpPr>
          <p:cNvPr id="37891" name="Freeform 2"/>
          <p:cNvSpPr>
            <a:spLocks/>
          </p:cNvSpPr>
          <p:nvPr/>
        </p:nvSpPr>
        <p:spPr bwMode="auto">
          <a:xfrm>
            <a:off x="3910390" y="2459457"/>
            <a:ext cx="3836987" cy="3602038"/>
          </a:xfrm>
          <a:custGeom>
            <a:avLst/>
            <a:gdLst>
              <a:gd name="T0" fmla="*/ 2147483646 w 2417"/>
              <a:gd name="T1" fmla="*/ 0 h 2269"/>
              <a:gd name="T2" fmla="*/ 2147483646 w 2417"/>
              <a:gd name="T3" fmla="*/ 2147483646 h 2269"/>
              <a:gd name="T4" fmla="*/ 2147483646 w 2417"/>
              <a:gd name="T5" fmla="*/ 2147483646 h 2269"/>
              <a:gd name="T6" fmla="*/ 2147483646 w 2417"/>
              <a:gd name="T7" fmla="*/ 2147483646 h 2269"/>
              <a:gd name="T8" fmla="*/ 2147483646 w 2417"/>
              <a:gd name="T9" fmla="*/ 2147483646 h 2269"/>
              <a:gd name="T10" fmla="*/ 2147483646 w 2417"/>
              <a:gd name="T11" fmla="*/ 2147483646 h 2269"/>
              <a:gd name="T12" fmla="*/ 2147483646 w 2417"/>
              <a:gd name="T13" fmla="*/ 2147483646 h 2269"/>
              <a:gd name="T14" fmla="*/ 2147483646 w 2417"/>
              <a:gd name="T15" fmla="*/ 2147483646 h 2269"/>
              <a:gd name="T16" fmla="*/ 2147483646 w 2417"/>
              <a:gd name="T17" fmla="*/ 2147483646 h 2269"/>
              <a:gd name="T18" fmla="*/ 2147483646 w 2417"/>
              <a:gd name="T19" fmla="*/ 2147483646 h 2269"/>
              <a:gd name="T20" fmla="*/ 2147483646 w 2417"/>
              <a:gd name="T21" fmla="*/ 2147483646 h 2269"/>
              <a:gd name="T22" fmla="*/ 2147483646 w 2417"/>
              <a:gd name="T23" fmla="*/ 2147483646 h 2269"/>
              <a:gd name="T24" fmla="*/ 2147483646 w 2417"/>
              <a:gd name="T25" fmla="*/ 2147483646 h 2269"/>
              <a:gd name="T26" fmla="*/ 2147483646 w 2417"/>
              <a:gd name="T27" fmla="*/ 2147483646 h 2269"/>
              <a:gd name="T28" fmla="*/ 2147483646 w 2417"/>
              <a:gd name="T29" fmla="*/ 2147483646 h 2269"/>
              <a:gd name="T30" fmla="*/ 2147483646 w 2417"/>
              <a:gd name="T31" fmla="*/ 2147483646 h 2269"/>
              <a:gd name="T32" fmla="*/ 2147483646 w 2417"/>
              <a:gd name="T33" fmla="*/ 2147483646 h 2269"/>
              <a:gd name="T34" fmla="*/ 2147483646 w 2417"/>
              <a:gd name="T35" fmla="*/ 2147483646 h 2269"/>
              <a:gd name="T36" fmla="*/ 2147483646 w 2417"/>
              <a:gd name="T37" fmla="*/ 2147483646 h 2269"/>
              <a:gd name="T38" fmla="*/ 2147483646 w 2417"/>
              <a:gd name="T39" fmla="*/ 2147483646 h 2269"/>
              <a:gd name="T40" fmla="*/ 2147483646 w 2417"/>
              <a:gd name="T41" fmla="*/ 2147483646 h 2269"/>
              <a:gd name="T42" fmla="*/ 2147483646 w 2417"/>
              <a:gd name="T43" fmla="*/ 2147483646 h 2269"/>
              <a:gd name="T44" fmla="*/ 2147483646 w 2417"/>
              <a:gd name="T45" fmla="*/ 2147483646 h 2269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w 2417"/>
              <a:gd name="T70" fmla="*/ 0 h 2269"/>
              <a:gd name="T71" fmla="*/ 2417 w 2417"/>
              <a:gd name="T72" fmla="*/ 2269 h 2269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T69" t="T70" r="T71" b="T72"/>
            <a:pathLst>
              <a:path w="2417" h="2269">
                <a:moveTo>
                  <a:pt x="2417" y="0"/>
                </a:moveTo>
                <a:cubicBezTo>
                  <a:pt x="2185" y="1"/>
                  <a:pt x="1953" y="3"/>
                  <a:pt x="1761" y="43"/>
                </a:cubicBezTo>
                <a:cubicBezTo>
                  <a:pt x="1569" y="83"/>
                  <a:pt x="1408" y="139"/>
                  <a:pt x="1265" y="240"/>
                </a:cubicBezTo>
                <a:cubicBezTo>
                  <a:pt x="1122" y="341"/>
                  <a:pt x="987" y="528"/>
                  <a:pt x="901" y="649"/>
                </a:cubicBezTo>
                <a:cubicBezTo>
                  <a:pt x="815" y="770"/>
                  <a:pt x="778" y="880"/>
                  <a:pt x="748" y="969"/>
                </a:cubicBezTo>
                <a:cubicBezTo>
                  <a:pt x="718" y="1058"/>
                  <a:pt x="730" y="1103"/>
                  <a:pt x="718" y="1181"/>
                </a:cubicBezTo>
                <a:cubicBezTo>
                  <a:pt x="706" y="1259"/>
                  <a:pt x="710" y="1323"/>
                  <a:pt x="675" y="1436"/>
                </a:cubicBezTo>
                <a:cubicBezTo>
                  <a:pt x="640" y="1549"/>
                  <a:pt x="553" y="1755"/>
                  <a:pt x="507" y="1859"/>
                </a:cubicBezTo>
                <a:cubicBezTo>
                  <a:pt x="461" y="1963"/>
                  <a:pt x="447" y="2010"/>
                  <a:pt x="398" y="2063"/>
                </a:cubicBezTo>
                <a:cubicBezTo>
                  <a:pt x="349" y="2116"/>
                  <a:pt x="278" y="2150"/>
                  <a:pt x="215" y="2180"/>
                </a:cubicBezTo>
                <a:cubicBezTo>
                  <a:pt x="152" y="2210"/>
                  <a:pt x="0" y="2232"/>
                  <a:pt x="18" y="2245"/>
                </a:cubicBezTo>
                <a:cubicBezTo>
                  <a:pt x="36" y="2258"/>
                  <a:pt x="229" y="2269"/>
                  <a:pt x="325" y="2260"/>
                </a:cubicBezTo>
                <a:cubicBezTo>
                  <a:pt x="421" y="2251"/>
                  <a:pt x="501" y="2217"/>
                  <a:pt x="594" y="2194"/>
                </a:cubicBezTo>
                <a:cubicBezTo>
                  <a:pt x="687" y="2171"/>
                  <a:pt x="779" y="2174"/>
                  <a:pt x="886" y="2121"/>
                </a:cubicBezTo>
                <a:cubicBezTo>
                  <a:pt x="993" y="2068"/>
                  <a:pt x="1134" y="1988"/>
                  <a:pt x="1236" y="1874"/>
                </a:cubicBezTo>
                <a:cubicBezTo>
                  <a:pt x="1338" y="1760"/>
                  <a:pt x="1440" y="1551"/>
                  <a:pt x="1499" y="1436"/>
                </a:cubicBezTo>
                <a:cubicBezTo>
                  <a:pt x="1558" y="1321"/>
                  <a:pt x="1575" y="1251"/>
                  <a:pt x="1593" y="1181"/>
                </a:cubicBezTo>
                <a:cubicBezTo>
                  <a:pt x="1611" y="1111"/>
                  <a:pt x="1591" y="1102"/>
                  <a:pt x="1608" y="1013"/>
                </a:cubicBezTo>
                <a:cubicBezTo>
                  <a:pt x="1625" y="924"/>
                  <a:pt x="1656" y="766"/>
                  <a:pt x="1695" y="649"/>
                </a:cubicBezTo>
                <a:cubicBezTo>
                  <a:pt x="1734" y="532"/>
                  <a:pt x="1789" y="399"/>
                  <a:pt x="1841" y="313"/>
                </a:cubicBezTo>
                <a:cubicBezTo>
                  <a:pt x="1893" y="227"/>
                  <a:pt x="1958" y="172"/>
                  <a:pt x="2009" y="131"/>
                </a:cubicBezTo>
                <a:cubicBezTo>
                  <a:pt x="2060" y="90"/>
                  <a:pt x="2098" y="83"/>
                  <a:pt x="2147" y="65"/>
                </a:cubicBezTo>
                <a:cubicBezTo>
                  <a:pt x="2196" y="47"/>
                  <a:pt x="2248" y="34"/>
                  <a:pt x="2301" y="22"/>
                </a:cubicBezTo>
              </a:path>
            </a:pathLst>
          </a:cu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/>
          <a:p>
            <a:endParaRPr lang="en-GB"/>
          </a:p>
        </p:txBody>
      </p:sp>
      <p:grpSp>
        <p:nvGrpSpPr>
          <p:cNvPr id="37892" name="Group 4"/>
          <p:cNvGrpSpPr>
            <a:grpSpLocks/>
          </p:cNvGrpSpPr>
          <p:nvPr/>
        </p:nvGrpSpPr>
        <p:grpSpPr bwMode="auto">
          <a:xfrm>
            <a:off x="2508627" y="1678408"/>
            <a:ext cx="6527800" cy="4757738"/>
            <a:chOff x="1556" y="879"/>
            <a:chExt cx="4112" cy="2997"/>
          </a:xfrm>
        </p:grpSpPr>
        <p:sp>
          <p:nvSpPr>
            <p:cNvPr id="37932" name="Line 5"/>
            <p:cNvSpPr>
              <a:spLocks noChangeShapeType="1"/>
            </p:cNvSpPr>
            <p:nvPr/>
          </p:nvSpPr>
          <p:spPr bwMode="auto">
            <a:xfrm>
              <a:off x="3611" y="879"/>
              <a:ext cx="0" cy="299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stealth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37933" name="Line 6"/>
            <p:cNvSpPr>
              <a:spLocks noChangeShapeType="1"/>
            </p:cNvSpPr>
            <p:nvPr/>
          </p:nvSpPr>
          <p:spPr bwMode="auto">
            <a:xfrm>
              <a:off x="1556" y="2451"/>
              <a:ext cx="411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</p:grpSp>
      <p:grpSp>
        <p:nvGrpSpPr>
          <p:cNvPr id="37893" name="Group 26"/>
          <p:cNvGrpSpPr>
            <a:grpSpLocks/>
          </p:cNvGrpSpPr>
          <p:nvPr/>
        </p:nvGrpSpPr>
        <p:grpSpPr bwMode="auto">
          <a:xfrm>
            <a:off x="5050215" y="2424532"/>
            <a:ext cx="2859087" cy="1817688"/>
            <a:chOff x="3157" y="1349"/>
            <a:chExt cx="1801" cy="1145"/>
          </a:xfrm>
        </p:grpSpPr>
        <p:sp>
          <p:nvSpPr>
            <p:cNvPr id="37929" name="Freeform 27"/>
            <p:cNvSpPr>
              <a:spLocks/>
            </p:cNvSpPr>
            <p:nvPr/>
          </p:nvSpPr>
          <p:spPr bwMode="auto">
            <a:xfrm>
              <a:off x="3157" y="1349"/>
              <a:ext cx="1801" cy="1145"/>
            </a:xfrm>
            <a:custGeom>
              <a:avLst/>
              <a:gdLst>
                <a:gd name="T0" fmla="*/ 1801 w 1801"/>
                <a:gd name="T1" fmla="*/ 0 h 1145"/>
                <a:gd name="T2" fmla="*/ 904 w 1801"/>
                <a:gd name="T3" fmla="*/ 109 h 1145"/>
                <a:gd name="T4" fmla="*/ 445 w 1801"/>
                <a:gd name="T5" fmla="*/ 343 h 1145"/>
                <a:gd name="T6" fmla="*/ 146 w 1801"/>
                <a:gd name="T7" fmla="*/ 758 h 1145"/>
                <a:gd name="T8" fmla="*/ 29 w 1801"/>
                <a:gd name="T9" fmla="*/ 1013 h 1145"/>
                <a:gd name="T10" fmla="*/ 0 w 1801"/>
                <a:gd name="T11" fmla="*/ 1145 h 114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801"/>
                <a:gd name="T19" fmla="*/ 0 h 1145"/>
                <a:gd name="T20" fmla="*/ 1801 w 1801"/>
                <a:gd name="T21" fmla="*/ 1145 h 114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801" h="1145">
                  <a:moveTo>
                    <a:pt x="1801" y="0"/>
                  </a:moveTo>
                  <a:cubicBezTo>
                    <a:pt x="1465" y="26"/>
                    <a:pt x="1130" y="52"/>
                    <a:pt x="904" y="109"/>
                  </a:cubicBezTo>
                  <a:cubicBezTo>
                    <a:pt x="678" y="166"/>
                    <a:pt x="571" y="235"/>
                    <a:pt x="445" y="343"/>
                  </a:cubicBezTo>
                  <a:cubicBezTo>
                    <a:pt x="319" y="451"/>
                    <a:pt x="215" y="646"/>
                    <a:pt x="146" y="758"/>
                  </a:cubicBezTo>
                  <a:cubicBezTo>
                    <a:pt x="77" y="870"/>
                    <a:pt x="53" y="949"/>
                    <a:pt x="29" y="1013"/>
                  </a:cubicBezTo>
                  <a:cubicBezTo>
                    <a:pt x="5" y="1077"/>
                    <a:pt x="2" y="1111"/>
                    <a:pt x="0" y="1145"/>
                  </a:cubicBezTo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37930" name="Line 28"/>
            <p:cNvSpPr>
              <a:spLocks noChangeShapeType="1"/>
            </p:cNvSpPr>
            <p:nvPr/>
          </p:nvSpPr>
          <p:spPr bwMode="auto">
            <a:xfrm flipH="1">
              <a:off x="3850" y="1473"/>
              <a:ext cx="131" cy="51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37931" name="Line 29"/>
            <p:cNvSpPr>
              <a:spLocks noChangeShapeType="1"/>
            </p:cNvSpPr>
            <p:nvPr/>
          </p:nvSpPr>
          <p:spPr bwMode="auto">
            <a:xfrm flipH="1">
              <a:off x="3339" y="1932"/>
              <a:ext cx="66" cy="11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</p:grpSp>
      <p:grpSp>
        <p:nvGrpSpPr>
          <p:cNvPr id="37894" name="Group 33"/>
          <p:cNvGrpSpPr>
            <a:grpSpLocks/>
          </p:cNvGrpSpPr>
          <p:nvPr/>
        </p:nvGrpSpPr>
        <p:grpSpPr bwMode="auto">
          <a:xfrm>
            <a:off x="2659963" y="4243284"/>
            <a:ext cx="2397125" cy="1811338"/>
            <a:chOff x="1645" y="2501"/>
            <a:chExt cx="1510" cy="1141"/>
          </a:xfrm>
        </p:grpSpPr>
        <p:sp>
          <p:nvSpPr>
            <p:cNvPr id="37926" name="Line 34"/>
            <p:cNvSpPr>
              <a:spLocks noChangeShapeType="1"/>
            </p:cNvSpPr>
            <p:nvPr/>
          </p:nvSpPr>
          <p:spPr bwMode="auto">
            <a:xfrm rot="10800000">
              <a:off x="1645" y="3642"/>
              <a:ext cx="620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37927" name="Freeform 35"/>
            <p:cNvSpPr>
              <a:spLocks/>
            </p:cNvSpPr>
            <p:nvPr/>
          </p:nvSpPr>
          <p:spPr bwMode="auto">
            <a:xfrm rot="10800000">
              <a:off x="2259" y="2501"/>
              <a:ext cx="896" cy="1130"/>
            </a:xfrm>
            <a:custGeom>
              <a:avLst/>
              <a:gdLst>
                <a:gd name="T0" fmla="*/ 0 w 1801"/>
                <a:gd name="T1" fmla="*/ 0 h 1145"/>
                <a:gd name="T2" fmla="*/ 0 w 1801"/>
                <a:gd name="T3" fmla="*/ 81 h 1145"/>
                <a:gd name="T4" fmla="*/ 0 w 1801"/>
                <a:gd name="T5" fmla="*/ 240 h 1145"/>
                <a:gd name="T6" fmla="*/ 0 w 1801"/>
                <a:gd name="T7" fmla="*/ 524 h 1145"/>
                <a:gd name="T8" fmla="*/ 0 w 1801"/>
                <a:gd name="T9" fmla="*/ 701 h 1145"/>
                <a:gd name="T10" fmla="*/ 0 w 1801"/>
                <a:gd name="T11" fmla="*/ 791 h 114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801"/>
                <a:gd name="T19" fmla="*/ 0 h 1145"/>
                <a:gd name="T20" fmla="*/ 1801 w 1801"/>
                <a:gd name="T21" fmla="*/ 1145 h 114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801" h="1145">
                  <a:moveTo>
                    <a:pt x="1801" y="0"/>
                  </a:moveTo>
                  <a:cubicBezTo>
                    <a:pt x="1465" y="26"/>
                    <a:pt x="1130" y="52"/>
                    <a:pt x="904" y="109"/>
                  </a:cubicBezTo>
                  <a:cubicBezTo>
                    <a:pt x="678" y="166"/>
                    <a:pt x="571" y="235"/>
                    <a:pt x="445" y="343"/>
                  </a:cubicBezTo>
                  <a:cubicBezTo>
                    <a:pt x="319" y="451"/>
                    <a:pt x="215" y="646"/>
                    <a:pt x="146" y="758"/>
                  </a:cubicBezTo>
                  <a:cubicBezTo>
                    <a:pt x="77" y="870"/>
                    <a:pt x="53" y="949"/>
                    <a:pt x="29" y="1013"/>
                  </a:cubicBezTo>
                  <a:cubicBezTo>
                    <a:pt x="5" y="1077"/>
                    <a:pt x="2" y="1111"/>
                    <a:pt x="0" y="1145"/>
                  </a:cubicBezTo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37928" name="Line 36"/>
            <p:cNvSpPr>
              <a:spLocks noChangeShapeType="1"/>
            </p:cNvSpPr>
            <p:nvPr/>
          </p:nvSpPr>
          <p:spPr bwMode="auto">
            <a:xfrm flipH="1">
              <a:off x="2996" y="3019"/>
              <a:ext cx="44" cy="14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</p:grpSp>
      <p:grpSp>
        <p:nvGrpSpPr>
          <p:cNvPr id="37895" name="Group 37"/>
          <p:cNvGrpSpPr>
            <a:grpSpLocks/>
          </p:cNvGrpSpPr>
          <p:nvPr/>
        </p:nvGrpSpPr>
        <p:grpSpPr bwMode="auto">
          <a:xfrm>
            <a:off x="3616702" y="4246982"/>
            <a:ext cx="2859088" cy="1817688"/>
            <a:chOff x="2254" y="2497"/>
            <a:chExt cx="1801" cy="1145"/>
          </a:xfrm>
        </p:grpSpPr>
        <p:sp>
          <p:nvSpPr>
            <p:cNvPr id="37923" name="Freeform 38"/>
            <p:cNvSpPr>
              <a:spLocks/>
            </p:cNvSpPr>
            <p:nvPr/>
          </p:nvSpPr>
          <p:spPr bwMode="auto">
            <a:xfrm rot="10800000">
              <a:off x="2254" y="2497"/>
              <a:ext cx="1801" cy="1145"/>
            </a:xfrm>
            <a:custGeom>
              <a:avLst/>
              <a:gdLst>
                <a:gd name="T0" fmla="*/ 1801 w 1801"/>
                <a:gd name="T1" fmla="*/ 0 h 1145"/>
                <a:gd name="T2" fmla="*/ 904 w 1801"/>
                <a:gd name="T3" fmla="*/ 109 h 1145"/>
                <a:gd name="T4" fmla="*/ 445 w 1801"/>
                <a:gd name="T5" fmla="*/ 343 h 1145"/>
                <a:gd name="T6" fmla="*/ 146 w 1801"/>
                <a:gd name="T7" fmla="*/ 758 h 1145"/>
                <a:gd name="T8" fmla="*/ 29 w 1801"/>
                <a:gd name="T9" fmla="*/ 1013 h 1145"/>
                <a:gd name="T10" fmla="*/ 0 w 1801"/>
                <a:gd name="T11" fmla="*/ 1145 h 114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801"/>
                <a:gd name="T19" fmla="*/ 0 h 1145"/>
                <a:gd name="T20" fmla="*/ 1801 w 1801"/>
                <a:gd name="T21" fmla="*/ 1145 h 114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801" h="1145">
                  <a:moveTo>
                    <a:pt x="1801" y="0"/>
                  </a:moveTo>
                  <a:cubicBezTo>
                    <a:pt x="1465" y="26"/>
                    <a:pt x="1130" y="52"/>
                    <a:pt x="904" y="109"/>
                  </a:cubicBezTo>
                  <a:cubicBezTo>
                    <a:pt x="678" y="166"/>
                    <a:pt x="571" y="235"/>
                    <a:pt x="445" y="343"/>
                  </a:cubicBezTo>
                  <a:cubicBezTo>
                    <a:pt x="319" y="451"/>
                    <a:pt x="215" y="646"/>
                    <a:pt x="146" y="758"/>
                  </a:cubicBezTo>
                  <a:cubicBezTo>
                    <a:pt x="77" y="870"/>
                    <a:pt x="53" y="949"/>
                    <a:pt x="29" y="1013"/>
                  </a:cubicBezTo>
                  <a:cubicBezTo>
                    <a:pt x="5" y="1077"/>
                    <a:pt x="2" y="1111"/>
                    <a:pt x="0" y="1145"/>
                  </a:cubicBezTo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37924" name="Line 39"/>
            <p:cNvSpPr>
              <a:spLocks noChangeShapeType="1"/>
            </p:cNvSpPr>
            <p:nvPr/>
          </p:nvSpPr>
          <p:spPr bwMode="auto">
            <a:xfrm rot="10800000" flipH="1">
              <a:off x="3278" y="3447"/>
              <a:ext cx="131" cy="51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37925" name="Line 40"/>
            <p:cNvSpPr>
              <a:spLocks noChangeShapeType="1"/>
            </p:cNvSpPr>
            <p:nvPr/>
          </p:nvSpPr>
          <p:spPr bwMode="auto">
            <a:xfrm rot="10800000" flipH="1">
              <a:off x="3860" y="2862"/>
              <a:ext cx="66" cy="11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</p:grpSp>
      <p:grpSp>
        <p:nvGrpSpPr>
          <p:cNvPr id="37896" name="Group 41"/>
          <p:cNvGrpSpPr>
            <a:grpSpLocks/>
          </p:cNvGrpSpPr>
          <p:nvPr/>
        </p:nvGrpSpPr>
        <p:grpSpPr bwMode="auto">
          <a:xfrm>
            <a:off x="6480552" y="2453107"/>
            <a:ext cx="1422400" cy="1793875"/>
            <a:chOff x="4058" y="1367"/>
            <a:chExt cx="896" cy="1130"/>
          </a:xfrm>
        </p:grpSpPr>
        <p:sp>
          <p:nvSpPr>
            <p:cNvPr id="37921" name="Freeform 42"/>
            <p:cNvSpPr>
              <a:spLocks/>
            </p:cNvSpPr>
            <p:nvPr/>
          </p:nvSpPr>
          <p:spPr bwMode="auto">
            <a:xfrm>
              <a:off x="4058" y="1367"/>
              <a:ext cx="896" cy="1130"/>
            </a:xfrm>
            <a:custGeom>
              <a:avLst/>
              <a:gdLst>
                <a:gd name="T0" fmla="*/ 0 w 1801"/>
                <a:gd name="T1" fmla="*/ 0 h 1145"/>
                <a:gd name="T2" fmla="*/ 0 w 1801"/>
                <a:gd name="T3" fmla="*/ 81 h 1145"/>
                <a:gd name="T4" fmla="*/ 0 w 1801"/>
                <a:gd name="T5" fmla="*/ 240 h 1145"/>
                <a:gd name="T6" fmla="*/ 0 w 1801"/>
                <a:gd name="T7" fmla="*/ 524 h 1145"/>
                <a:gd name="T8" fmla="*/ 0 w 1801"/>
                <a:gd name="T9" fmla="*/ 701 h 1145"/>
                <a:gd name="T10" fmla="*/ 0 w 1801"/>
                <a:gd name="T11" fmla="*/ 791 h 114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801"/>
                <a:gd name="T19" fmla="*/ 0 h 1145"/>
                <a:gd name="T20" fmla="*/ 1801 w 1801"/>
                <a:gd name="T21" fmla="*/ 1145 h 114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801" h="1145">
                  <a:moveTo>
                    <a:pt x="1801" y="0"/>
                  </a:moveTo>
                  <a:cubicBezTo>
                    <a:pt x="1465" y="26"/>
                    <a:pt x="1130" y="52"/>
                    <a:pt x="904" y="109"/>
                  </a:cubicBezTo>
                  <a:cubicBezTo>
                    <a:pt x="678" y="166"/>
                    <a:pt x="571" y="235"/>
                    <a:pt x="445" y="343"/>
                  </a:cubicBezTo>
                  <a:cubicBezTo>
                    <a:pt x="319" y="451"/>
                    <a:pt x="215" y="646"/>
                    <a:pt x="146" y="758"/>
                  </a:cubicBezTo>
                  <a:cubicBezTo>
                    <a:pt x="77" y="870"/>
                    <a:pt x="53" y="949"/>
                    <a:pt x="29" y="1013"/>
                  </a:cubicBezTo>
                  <a:cubicBezTo>
                    <a:pt x="5" y="1077"/>
                    <a:pt x="2" y="1111"/>
                    <a:pt x="0" y="1145"/>
                  </a:cubicBezTo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37922" name="Line 43"/>
            <p:cNvSpPr>
              <a:spLocks noChangeShapeType="1"/>
            </p:cNvSpPr>
            <p:nvPr/>
          </p:nvSpPr>
          <p:spPr bwMode="auto">
            <a:xfrm rot="10800000" flipH="1">
              <a:off x="4212" y="1725"/>
              <a:ext cx="44" cy="14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</p:grpSp>
      <p:grpSp>
        <p:nvGrpSpPr>
          <p:cNvPr id="37897" name="Group 103"/>
          <p:cNvGrpSpPr>
            <a:grpSpLocks/>
          </p:cNvGrpSpPr>
          <p:nvPr/>
        </p:nvGrpSpPr>
        <p:grpSpPr bwMode="auto">
          <a:xfrm>
            <a:off x="5767765" y="2430882"/>
            <a:ext cx="3070225" cy="1766888"/>
            <a:chOff x="3609" y="1243"/>
            <a:chExt cx="1934" cy="1113"/>
          </a:xfrm>
        </p:grpSpPr>
        <p:sp>
          <p:nvSpPr>
            <p:cNvPr id="37918" name="Line 51"/>
            <p:cNvSpPr>
              <a:spLocks noChangeShapeType="1"/>
            </p:cNvSpPr>
            <p:nvPr/>
          </p:nvSpPr>
          <p:spPr bwMode="auto">
            <a:xfrm flipV="1">
              <a:off x="3758" y="1718"/>
              <a:ext cx="81" cy="16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37919" name="Line 52"/>
            <p:cNvSpPr>
              <a:spLocks noChangeShapeType="1"/>
            </p:cNvSpPr>
            <p:nvPr/>
          </p:nvSpPr>
          <p:spPr bwMode="auto">
            <a:xfrm>
              <a:off x="4923" y="1246"/>
              <a:ext cx="620" cy="0"/>
            </a:xfrm>
            <a:prstGeom prst="line">
              <a:avLst/>
            </a:prstGeom>
            <a:noFill/>
            <a:ln w="34925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37920" name="Freeform 53"/>
            <p:cNvSpPr>
              <a:spLocks/>
            </p:cNvSpPr>
            <p:nvPr/>
          </p:nvSpPr>
          <p:spPr bwMode="auto">
            <a:xfrm>
              <a:off x="3609" y="1243"/>
              <a:ext cx="1307" cy="1113"/>
            </a:xfrm>
            <a:custGeom>
              <a:avLst/>
              <a:gdLst>
                <a:gd name="T0" fmla="*/ 1 w 1801"/>
                <a:gd name="T1" fmla="*/ 0 h 1145"/>
                <a:gd name="T2" fmla="*/ 1 w 1801"/>
                <a:gd name="T3" fmla="*/ 49 h 1145"/>
                <a:gd name="T4" fmla="*/ 1 w 1801"/>
                <a:gd name="T5" fmla="*/ 155 h 1145"/>
                <a:gd name="T6" fmla="*/ 1 w 1801"/>
                <a:gd name="T7" fmla="*/ 344 h 1145"/>
                <a:gd name="T8" fmla="*/ 1 w 1801"/>
                <a:gd name="T9" fmla="*/ 457 h 1145"/>
                <a:gd name="T10" fmla="*/ 0 w 1801"/>
                <a:gd name="T11" fmla="*/ 517 h 114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801"/>
                <a:gd name="T19" fmla="*/ 0 h 1145"/>
                <a:gd name="T20" fmla="*/ 1801 w 1801"/>
                <a:gd name="T21" fmla="*/ 1145 h 114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801" h="1145">
                  <a:moveTo>
                    <a:pt x="1801" y="0"/>
                  </a:moveTo>
                  <a:cubicBezTo>
                    <a:pt x="1465" y="26"/>
                    <a:pt x="1130" y="52"/>
                    <a:pt x="904" y="109"/>
                  </a:cubicBezTo>
                  <a:cubicBezTo>
                    <a:pt x="678" y="166"/>
                    <a:pt x="571" y="235"/>
                    <a:pt x="445" y="343"/>
                  </a:cubicBezTo>
                  <a:cubicBezTo>
                    <a:pt x="319" y="451"/>
                    <a:pt x="215" y="646"/>
                    <a:pt x="146" y="758"/>
                  </a:cubicBezTo>
                  <a:cubicBezTo>
                    <a:pt x="77" y="870"/>
                    <a:pt x="53" y="949"/>
                    <a:pt x="29" y="1013"/>
                  </a:cubicBezTo>
                  <a:cubicBezTo>
                    <a:pt x="5" y="1077"/>
                    <a:pt x="2" y="1111"/>
                    <a:pt x="0" y="1145"/>
                  </a:cubicBezTo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</p:grpSp>
      <p:sp>
        <p:nvSpPr>
          <p:cNvPr id="33830" name="Rectangle 81"/>
          <p:cNvSpPr>
            <a:spLocks noChangeArrowheads="1"/>
          </p:cNvSpPr>
          <p:nvPr/>
        </p:nvSpPr>
        <p:spPr bwMode="auto">
          <a:xfrm>
            <a:off x="1442754" y="435016"/>
            <a:ext cx="3277442" cy="338175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wrap="none" lIns="90000" tIns="82800" rIns="90000" bIns="82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7915" name="Text Box 66"/>
          <p:cNvSpPr txBox="1">
            <a:spLocks noChangeArrowheads="1"/>
          </p:cNvSpPr>
          <p:nvPr/>
        </p:nvSpPr>
        <p:spPr bwMode="auto">
          <a:xfrm>
            <a:off x="1819890" y="528201"/>
            <a:ext cx="2532062" cy="474994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000" b="1">
                <a:solidFill>
                  <a:srgbClr val="000000"/>
                </a:solidFill>
                <a:latin typeface="Arial" panose="020B0604020202020204" pitchFamily="34" charset="0"/>
              </a:rPr>
              <a:t>Material duro</a:t>
            </a:r>
          </a:p>
        </p:txBody>
      </p:sp>
      <p:sp>
        <p:nvSpPr>
          <p:cNvPr id="37916" name="Text Box 67"/>
          <p:cNvSpPr txBox="1">
            <a:spLocks noChangeArrowheads="1"/>
          </p:cNvSpPr>
          <p:nvPr/>
        </p:nvSpPr>
        <p:spPr bwMode="auto">
          <a:xfrm>
            <a:off x="1819890" y="1063360"/>
            <a:ext cx="2532063" cy="4746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000">
                <a:latin typeface="Arial" panose="020B0604020202020204" pitchFamily="34" charset="0"/>
              </a:rPr>
              <a:t>Área, C y R grandes</a:t>
            </a:r>
          </a:p>
        </p:txBody>
      </p:sp>
      <p:sp>
        <p:nvSpPr>
          <p:cNvPr id="37917" name="Text Box 68"/>
          <p:cNvSpPr txBox="1">
            <a:spLocks noChangeArrowheads="1"/>
          </p:cNvSpPr>
          <p:nvPr/>
        </p:nvSpPr>
        <p:spPr bwMode="auto">
          <a:xfrm>
            <a:off x="1607524" y="1536903"/>
            <a:ext cx="2950749" cy="782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000" dirty="0">
                <a:latin typeface="Arial" panose="020B0604020202020204" pitchFamily="34" charset="0"/>
              </a:rPr>
              <a:t>Interesan si se quiere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000" dirty="0">
                <a:latin typeface="Arial" panose="020B0604020202020204" pitchFamily="34" charset="0"/>
              </a:rPr>
              <a:t>un </a:t>
            </a:r>
            <a:r>
              <a:rPr lang="es-ES" sz="2000" dirty="0">
                <a:latin typeface="Arial" panose="020B0604020202020204" pitchFamily="34" charset="0"/>
                <a:sym typeface="Symbol" panose="05050102010706020507" pitchFamily="18" charset="2"/>
              </a:rPr>
              <a:t>T al recorrer el ciclo</a:t>
            </a:r>
            <a:endParaRPr lang="es-ES" sz="2000" dirty="0">
              <a:solidFill>
                <a:srgbClr val="3333FF"/>
              </a:solidFill>
              <a:latin typeface="Arial" panose="020B0604020202020204" pitchFamily="34" charset="0"/>
            </a:endParaRPr>
          </a:p>
        </p:txBody>
      </p:sp>
      <p:sp>
        <p:nvSpPr>
          <p:cNvPr id="33819" name="Rectangle 87"/>
          <p:cNvSpPr>
            <a:spLocks noChangeArrowheads="1"/>
          </p:cNvSpPr>
          <p:nvPr/>
        </p:nvSpPr>
        <p:spPr bwMode="auto">
          <a:xfrm>
            <a:off x="7013942" y="4325184"/>
            <a:ext cx="3303353" cy="271342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lIns="90000" tIns="82800" rIns="90000" bIns="82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7911" name="Text Box 84"/>
          <p:cNvSpPr txBox="1">
            <a:spLocks noChangeArrowheads="1"/>
          </p:cNvSpPr>
          <p:nvPr/>
        </p:nvSpPr>
        <p:spPr bwMode="auto">
          <a:xfrm>
            <a:off x="7322408" y="4412242"/>
            <a:ext cx="2703513" cy="474994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000" b="1">
                <a:solidFill>
                  <a:srgbClr val="000000"/>
                </a:solidFill>
                <a:latin typeface="Arial" panose="020B0604020202020204" pitchFamily="34" charset="0"/>
              </a:rPr>
              <a:t>Material blando</a:t>
            </a:r>
          </a:p>
        </p:txBody>
      </p:sp>
      <p:sp>
        <p:nvSpPr>
          <p:cNvPr id="37912" name="Text Box 85"/>
          <p:cNvSpPr txBox="1">
            <a:spLocks noChangeArrowheads="1"/>
          </p:cNvSpPr>
          <p:nvPr/>
        </p:nvSpPr>
        <p:spPr bwMode="auto">
          <a:xfrm>
            <a:off x="7322409" y="4948966"/>
            <a:ext cx="2703513" cy="4746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000">
                <a:latin typeface="Arial" panose="020B0604020202020204" pitchFamily="34" charset="0"/>
              </a:rPr>
              <a:t>Área, C y R pequeños</a:t>
            </a:r>
          </a:p>
        </p:txBody>
      </p:sp>
      <p:sp>
        <p:nvSpPr>
          <p:cNvPr id="37913" name="Text Box 86"/>
          <p:cNvSpPr txBox="1">
            <a:spLocks noChangeArrowheads="1"/>
          </p:cNvSpPr>
          <p:nvPr/>
        </p:nvSpPr>
        <p:spPr bwMode="auto">
          <a:xfrm>
            <a:off x="7146320" y="5439873"/>
            <a:ext cx="3037259" cy="10905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000" dirty="0">
                <a:latin typeface="Arial" panose="020B0604020202020204" pitchFamily="34" charset="0"/>
              </a:rPr>
              <a:t>Interesan si no se quiere</a:t>
            </a:r>
            <a:endParaRPr lang="es-ES" sz="2000" dirty="0"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000" dirty="0">
                <a:latin typeface="Arial" panose="020B0604020202020204" pitchFamily="34" charset="0"/>
                <a:sym typeface="Symbol" panose="05050102010706020507" pitchFamily="18" charset="2"/>
              </a:rPr>
              <a:t>un T </a:t>
            </a:r>
            <a:r>
              <a:rPr lang="es-ES" sz="2000" dirty="0">
                <a:latin typeface="Arial" panose="020B0604020202020204" pitchFamily="34" charset="0"/>
              </a:rPr>
              <a:t>y si el B</a:t>
            </a:r>
            <a:r>
              <a:rPr lang="es-ES" sz="2000" baseline="-25000" dirty="0">
                <a:latin typeface="Arial" panose="020B0604020202020204" pitchFamily="34" charset="0"/>
              </a:rPr>
              <a:t>MAG</a:t>
            </a:r>
            <a:r>
              <a:rPr lang="es-ES" sz="2000" dirty="0">
                <a:latin typeface="Arial" panose="020B0604020202020204" pitchFamily="34" charset="0"/>
              </a:rPr>
              <a:t> debe seguir </a:t>
            </a:r>
            <a:r>
              <a:rPr lang="es-ES" sz="2000">
                <a:latin typeface="Arial" panose="020B0604020202020204" pitchFamily="34" charset="0"/>
              </a:rPr>
              <a:t>al </a:t>
            </a:r>
            <a:r>
              <a:rPr lang="es-ES" sz="2000">
                <a:solidFill>
                  <a:srgbClr val="FF0000"/>
                </a:solidFill>
                <a:latin typeface="Arial" panose="020B0604020202020204" pitchFamily="34" charset="0"/>
              </a:rPr>
              <a:t>B</a:t>
            </a:r>
            <a:r>
              <a:rPr lang="es-ES" sz="2000" baseline="-25000">
                <a:solidFill>
                  <a:srgbClr val="FF0000"/>
                </a:solidFill>
                <a:latin typeface="Arial" panose="020B0604020202020204" pitchFamily="34" charset="0"/>
              </a:rPr>
              <a:t>APL</a:t>
            </a:r>
            <a:endParaRPr lang="es-ES" sz="2000" dirty="0">
              <a:solidFill>
                <a:srgbClr val="3333FF"/>
              </a:solidFill>
              <a:latin typeface="Arial" panose="020B0604020202020204" pitchFamily="34" charset="0"/>
            </a:endParaRPr>
          </a:p>
        </p:txBody>
      </p:sp>
      <p:sp>
        <p:nvSpPr>
          <p:cNvPr id="33813" name="CuadroTexto 23"/>
          <p:cNvSpPr txBox="1">
            <a:spLocks noChangeArrowheads="1"/>
          </p:cNvSpPr>
          <p:nvPr/>
        </p:nvSpPr>
        <p:spPr bwMode="auto">
          <a:xfrm>
            <a:off x="6463090" y="4151732"/>
            <a:ext cx="381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ES" sz="2000" b="1">
                <a:solidFill>
                  <a:srgbClr val="008000"/>
                </a:solidFill>
                <a:latin typeface="Arial" panose="020B0604020202020204" pitchFamily="34" charset="0"/>
              </a:rPr>
              <a:t>C</a:t>
            </a:r>
          </a:p>
        </p:txBody>
      </p:sp>
      <p:sp>
        <p:nvSpPr>
          <p:cNvPr id="33814" name="CuadroTexto 95"/>
          <p:cNvSpPr txBox="1">
            <a:spLocks noChangeArrowheads="1"/>
          </p:cNvSpPr>
          <p:nvPr/>
        </p:nvSpPr>
        <p:spPr bwMode="auto">
          <a:xfrm>
            <a:off x="5785227" y="5416970"/>
            <a:ext cx="381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ES" sz="2000" b="1">
                <a:solidFill>
                  <a:srgbClr val="008000"/>
                </a:solidFill>
                <a:latin typeface="Arial" panose="020B0604020202020204" pitchFamily="34" charset="0"/>
              </a:rPr>
              <a:t>R</a:t>
            </a:r>
          </a:p>
        </p:txBody>
      </p:sp>
      <p:cxnSp>
        <p:nvCxnSpPr>
          <p:cNvPr id="26" name="Conector recto de flecha 25"/>
          <p:cNvCxnSpPr>
            <a:cxnSpLocks noChangeShapeType="1"/>
          </p:cNvCxnSpPr>
          <p:nvPr/>
        </p:nvCxnSpPr>
        <p:spPr bwMode="auto">
          <a:xfrm>
            <a:off x="5594830" y="4313862"/>
            <a:ext cx="336345" cy="0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9" name="Conector recto de flecha 98"/>
          <p:cNvCxnSpPr>
            <a:cxnSpLocks noChangeShapeType="1"/>
          </p:cNvCxnSpPr>
          <p:nvPr/>
        </p:nvCxnSpPr>
        <p:spPr bwMode="auto">
          <a:xfrm flipV="1">
            <a:off x="3748465" y="3961232"/>
            <a:ext cx="4105275" cy="1588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3817" name="CuadroTexto 103"/>
          <p:cNvSpPr txBox="1">
            <a:spLocks noChangeArrowheads="1"/>
          </p:cNvSpPr>
          <p:nvPr/>
        </p:nvSpPr>
        <p:spPr bwMode="auto">
          <a:xfrm>
            <a:off x="4683502" y="4107282"/>
            <a:ext cx="381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ES" sz="2000" b="1">
                <a:solidFill>
                  <a:srgbClr val="008000"/>
                </a:solidFill>
                <a:latin typeface="Arial" panose="020B0604020202020204" pitchFamily="34" charset="0"/>
              </a:rPr>
              <a:t>C</a:t>
            </a:r>
          </a:p>
        </p:txBody>
      </p:sp>
      <p:sp>
        <p:nvSpPr>
          <p:cNvPr id="53" name="Text Box 86"/>
          <p:cNvSpPr txBox="1">
            <a:spLocks noChangeArrowheads="1"/>
          </p:cNvSpPr>
          <p:nvPr/>
        </p:nvSpPr>
        <p:spPr bwMode="auto">
          <a:xfrm>
            <a:off x="6933948" y="3014381"/>
            <a:ext cx="1376991" cy="782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000" dirty="0">
                <a:solidFill>
                  <a:srgbClr val="FF0000"/>
                </a:solidFill>
                <a:latin typeface="Arial" panose="020B0604020202020204" pitchFamily="34" charset="0"/>
              </a:rPr>
              <a:t>Valores </a:t>
            </a:r>
            <a:r>
              <a:rPr lang="es-ES" sz="2000">
                <a:solidFill>
                  <a:srgbClr val="FF0000"/>
                </a:solidFill>
                <a:latin typeface="Arial" panose="020B0604020202020204" pitchFamily="34" charset="0"/>
              </a:rPr>
              <a:t>de B</a:t>
            </a:r>
            <a:r>
              <a:rPr lang="es-ES" sz="2000" baseline="-25000">
                <a:solidFill>
                  <a:srgbClr val="FF0000"/>
                </a:solidFill>
                <a:latin typeface="Arial" panose="020B0604020202020204" pitchFamily="34" charset="0"/>
              </a:rPr>
              <a:t>APL</a:t>
            </a:r>
            <a:endParaRPr lang="es-ES" sz="2000" baseline="-250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49" name="Text Box 86"/>
          <p:cNvSpPr txBox="1">
            <a:spLocks noChangeArrowheads="1"/>
          </p:cNvSpPr>
          <p:nvPr/>
        </p:nvSpPr>
        <p:spPr bwMode="auto">
          <a:xfrm>
            <a:off x="4881177" y="4327586"/>
            <a:ext cx="1343618" cy="782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000" dirty="0">
                <a:solidFill>
                  <a:srgbClr val="FF0000"/>
                </a:solidFill>
                <a:latin typeface="Arial" panose="020B0604020202020204" pitchFamily="34" charset="0"/>
              </a:rPr>
              <a:t>Valores </a:t>
            </a:r>
            <a:r>
              <a:rPr lang="es-ES" sz="2000">
                <a:solidFill>
                  <a:srgbClr val="FF0000"/>
                </a:solidFill>
                <a:latin typeface="Arial" panose="020B0604020202020204" pitchFamily="34" charset="0"/>
              </a:rPr>
              <a:t>de B</a:t>
            </a:r>
            <a:r>
              <a:rPr lang="es-ES" sz="2000" baseline="-25000">
                <a:solidFill>
                  <a:srgbClr val="FF0000"/>
                </a:solidFill>
                <a:latin typeface="Arial" panose="020B0604020202020204" pitchFamily="34" charset="0"/>
              </a:rPr>
              <a:t>APL</a:t>
            </a:r>
            <a:endParaRPr lang="es-ES" sz="2000" baseline="-250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50" name="Text Box 86">
            <a:extLst>
              <a:ext uri="{FF2B5EF4-FFF2-40B4-BE49-F238E27FC236}">
                <a16:creationId xmlns:a16="http://schemas.microsoft.com/office/drawing/2014/main" id="{378DDF2B-B097-4A1E-B52D-109ED03E11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5535" y="6503935"/>
            <a:ext cx="3037259" cy="474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000" dirty="0">
                <a:solidFill>
                  <a:srgbClr val="3333FF"/>
                </a:solidFill>
                <a:latin typeface="Arial" panose="020B0604020202020204" pitchFamily="34" charset="0"/>
              </a:rPr>
              <a:t>(ej</a:t>
            </a:r>
            <a:r>
              <a:rPr lang="es-ES" sz="2000">
                <a:solidFill>
                  <a:srgbClr val="3333FF"/>
                </a:solidFill>
                <a:latin typeface="Arial" panose="020B0604020202020204" pitchFamily="34" charset="0"/>
              </a:rPr>
              <a:t>.: transformador)</a:t>
            </a:r>
            <a:endParaRPr lang="es-ES" sz="2000" dirty="0">
              <a:solidFill>
                <a:srgbClr val="3333FF"/>
              </a:solidFill>
              <a:latin typeface="Arial" panose="020B0604020202020204" pitchFamily="34" charset="0"/>
            </a:endParaRPr>
          </a:p>
        </p:txBody>
      </p:sp>
      <p:sp>
        <p:nvSpPr>
          <p:cNvPr id="51" name="Text Box 68">
            <a:extLst>
              <a:ext uri="{FF2B5EF4-FFF2-40B4-BE49-F238E27FC236}">
                <a16:creationId xmlns:a16="http://schemas.microsoft.com/office/drawing/2014/main" id="{6A26451E-1A7B-4FBD-A693-A8D8DA2C36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6930" y="2193335"/>
            <a:ext cx="1477695" cy="474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000" dirty="0">
                <a:latin typeface="Arial" panose="020B0604020202020204" pitchFamily="34" charset="0"/>
              </a:rPr>
              <a:t> </a:t>
            </a:r>
            <a:r>
              <a:rPr lang="es-ES" sz="2000">
                <a:solidFill>
                  <a:srgbClr val="3333FF"/>
                </a:solidFill>
                <a:latin typeface="Arial" panose="020B0604020202020204" pitchFamily="34" charset="0"/>
              </a:rPr>
              <a:t>(sarten)</a:t>
            </a:r>
            <a:endParaRPr lang="es-ES" sz="2000" dirty="0">
              <a:solidFill>
                <a:srgbClr val="3333FF"/>
              </a:solidFill>
              <a:latin typeface="Arial" panose="020B0604020202020204" pitchFamily="34" charset="0"/>
            </a:endParaRPr>
          </a:p>
        </p:txBody>
      </p:sp>
      <p:sp>
        <p:nvSpPr>
          <p:cNvPr id="46" name="Elipse 93">
            <a:extLst>
              <a:ext uri="{FF2B5EF4-FFF2-40B4-BE49-F238E27FC236}">
                <a16:creationId xmlns:a16="http://schemas.microsoft.com/office/drawing/2014/main" id="{FFBA5DAB-F5E5-4EEE-96EA-18AE4DFB7C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4900" y="2878586"/>
            <a:ext cx="144076" cy="14406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 baseline="-25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8" name="Text Box 68">
            <a:extLst>
              <a:ext uri="{FF2B5EF4-FFF2-40B4-BE49-F238E27FC236}">
                <a16:creationId xmlns:a16="http://schemas.microsoft.com/office/drawing/2014/main" id="{F6385CA9-CD9C-4C1F-A21F-3BA8AB3121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4497" y="2560272"/>
            <a:ext cx="2950749" cy="782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000" dirty="0">
                <a:latin typeface="Arial" panose="020B0604020202020204" pitchFamily="34" charset="0"/>
                <a:sym typeface="Symbol" panose="05050102010706020507" pitchFamily="18" charset="2"/>
              </a:rPr>
              <a:t>O si </a:t>
            </a:r>
            <a:r>
              <a:rPr lang="es-ES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B</a:t>
            </a:r>
            <a:r>
              <a:rPr lang="es-ES" sz="2000" b="1" baseline="-250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MAG</a:t>
            </a:r>
            <a:r>
              <a:rPr lang="es-ES" sz="2000" dirty="0">
                <a:latin typeface="Arial" panose="020B0604020202020204" pitchFamily="34" charset="0"/>
              </a:rPr>
              <a:t> debe ser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000" dirty="0">
                <a:latin typeface="Arial" panose="020B0604020202020204" pitchFamily="34" charset="0"/>
                <a:sym typeface="Symbol" panose="05050102010706020507" pitchFamily="18" charset="2"/>
              </a:rPr>
              <a:t> </a:t>
            </a:r>
            <a:r>
              <a:rPr lang="es-ES" sz="2000" dirty="0">
                <a:latin typeface="Arial" panose="020B0604020202020204" pitchFamily="34" charset="0"/>
              </a:rPr>
              <a:t>cte. para </a:t>
            </a:r>
            <a:r>
              <a:rPr lang="es-ES" sz="2000">
                <a:latin typeface="Arial" panose="020B0604020202020204" pitchFamily="34" charset="0"/>
              </a:rPr>
              <a:t>el </a:t>
            </a:r>
            <a:r>
              <a:rPr lang="es-ES" sz="2000">
                <a:solidFill>
                  <a:srgbClr val="FF0000"/>
                </a:solidFill>
                <a:latin typeface="Arial" panose="020B0604020202020204" pitchFamily="34" charset="0"/>
              </a:rPr>
              <a:t>B</a:t>
            </a:r>
            <a:r>
              <a:rPr lang="es-ES" sz="2000" baseline="-25000">
                <a:solidFill>
                  <a:srgbClr val="FF0000"/>
                </a:solidFill>
                <a:latin typeface="Arial" panose="020B0604020202020204" pitchFamily="34" charset="0"/>
              </a:rPr>
              <a:t>APL</a:t>
            </a:r>
            <a:endParaRPr lang="es-ES" sz="2000" dirty="0">
              <a:solidFill>
                <a:srgbClr val="3333FF"/>
              </a:solidFill>
              <a:latin typeface="Arial" panose="020B0604020202020204" pitchFamily="34" charset="0"/>
            </a:endParaRPr>
          </a:p>
        </p:txBody>
      </p:sp>
      <p:sp>
        <p:nvSpPr>
          <p:cNvPr id="52" name="Text Box 68">
            <a:extLst>
              <a:ext uri="{FF2B5EF4-FFF2-40B4-BE49-F238E27FC236}">
                <a16:creationId xmlns:a16="http://schemas.microsoft.com/office/drawing/2014/main" id="{FF1DAC73-DB96-467C-B608-3A77584596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8777" y="3310320"/>
            <a:ext cx="3836987" cy="474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000" dirty="0">
                <a:latin typeface="Arial" panose="020B0604020202020204" pitchFamily="34" charset="0"/>
              </a:rPr>
              <a:t> </a:t>
            </a:r>
            <a:r>
              <a:rPr lang="es-ES" sz="2000" dirty="0">
                <a:solidFill>
                  <a:srgbClr val="3333FF"/>
                </a:solidFill>
                <a:latin typeface="Arial" panose="020B0604020202020204" pitchFamily="34" charset="0"/>
              </a:rPr>
              <a:t>(</a:t>
            </a:r>
            <a:r>
              <a:rPr lang="es-ES" sz="2000">
                <a:solidFill>
                  <a:srgbClr val="3333FF"/>
                </a:solidFill>
                <a:latin typeface="Arial" panose="020B0604020202020204" pitchFamily="34" charset="0"/>
              </a:rPr>
              <a:t>imán permanente)</a:t>
            </a:r>
            <a:endParaRPr lang="es-ES" sz="2000" dirty="0">
              <a:solidFill>
                <a:srgbClr val="3333FF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 Box 7">
            <a:extLst>
              <a:ext uri="{FF2B5EF4-FFF2-40B4-BE49-F238E27FC236}">
                <a16:creationId xmlns:a16="http://schemas.microsoft.com/office/drawing/2014/main" id="{ED8AE7B1-BF20-D491-EA9F-3D1A8FC0CD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5787" y="1353846"/>
            <a:ext cx="1452563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000">
                <a:latin typeface="Arial" panose="020B0604020202020204" pitchFamily="34" charset="0"/>
              </a:rPr>
              <a:t>B</a:t>
            </a:r>
            <a:r>
              <a:rPr lang="es-ES" sz="2000" baseline="-25000">
                <a:latin typeface="Arial" panose="020B0604020202020204" pitchFamily="34" charset="0"/>
              </a:rPr>
              <a:t>magnetización</a:t>
            </a:r>
          </a:p>
        </p:txBody>
      </p:sp>
      <p:sp>
        <p:nvSpPr>
          <p:cNvPr id="4" name="Text Box 9">
            <a:extLst>
              <a:ext uri="{FF2B5EF4-FFF2-40B4-BE49-F238E27FC236}">
                <a16:creationId xmlns:a16="http://schemas.microsoft.com/office/drawing/2014/main" id="{59C57F2B-3200-C8BB-74FD-8AC524EB1B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02862" y="3825580"/>
            <a:ext cx="98742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es-ES" sz="2000" dirty="0" err="1">
                <a:latin typeface="Arial" panose="020B0604020202020204" pitchFamily="34" charset="0"/>
              </a:rPr>
              <a:t>B</a:t>
            </a:r>
            <a:r>
              <a:rPr lang="es-ES" sz="2000" baseline="-25000" dirty="0" err="1">
                <a:latin typeface="Arial" panose="020B0604020202020204" pitchFamily="34" charset="0"/>
              </a:rPr>
              <a:t>aplicado</a:t>
            </a:r>
            <a:endParaRPr lang="es-ES" sz="2000" dirty="0">
              <a:latin typeface="Arial" panose="020B0604020202020204" pitchFamily="34" charset="0"/>
            </a:endParaRPr>
          </a:p>
        </p:txBody>
      </p:sp>
      <p:sp>
        <p:nvSpPr>
          <p:cNvPr id="5" name="Text Box 47">
            <a:extLst>
              <a:ext uri="{FF2B5EF4-FFF2-40B4-BE49-F238E27FC236}">
                <a16:creationId xmlns:a16="http://schemas.microsoft.com/office/drawing/2014/main" id="{80831B99-5ED7-8323-7737-A7815D8154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5229" y="647303"/>
            <a:ext cx="2972068" cy="58744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none" lIns="108000" tIns="108000" rIns="108000" bIns="1080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Ciclo de Histéresis</a:t>
            </a:r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17AF741D-46AD-0EED-E86D-0B8CB27FA17D}"/>
              </a:ext>
            </a:extLst>
          </p:cNvPr>
          <p:cNvGrpSpPr/>
          <p:nvPr/>
        </p:nvGrpSpPr>
        <p:grpSpPr>
          <a:xfrm>
            <a:off x="5857110" y="5849166"/>
            <a:ext cx="1339405" cy="1142831"/>
            <a:chOff x="5857110" y="5788878"/>
            <a:chExt cx="1339405" cy="1142831"/>
          </a:xfrm>
        </p:grpSpPr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1EE2A7FC-6E19-347C-2704-51918B660532}"/>
                </a:ext>
              </a:extLst>
            </p:cNvPr>
            <p:cNvSpPr/>
            <p:nvPr/>
          </p:nvSpPr>
          <p:spPr bwMode="auto">
            <a:xfrm>
              <a:off x="5857110" y="5788878"/>
              <a:ext cx="1339405" cy="1142831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none" lIns="90000" tIns="82800" rIns="90000" bIns="82800" numCol="1" rtlCol="0" anchor="t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5684901C-7482-801F-1F1D-3DD4A31A9567}"/>
                </a:ext>
              </a:extLst>
            </p:cNvPr>
            <p:cNvGrpSpPr/>
            <p:nvPr/>
          </p:nvGrpSpPr>
          <p:grpSpPr>
            <a:xfrm>
              <a:off x="5952078" y="5877549"/>
              <a:ext cx="1195087" cy="987675"/>
              <a:chOff x="5952078" y="5877549"/>
              <a:chExt cx="1195087" cy="987675"/>
            </a:xfrm>
          </p:grpSpPr>
          <p:grpSp>
            <p:nvGrpSpPr>
              <p:cNvPr id="9" name="Grupo 8">
                <a:extLst>
                  <a:ext uri="{FF2B5EF4-FFF2-40B4-BE49-F238E27FC236}">
                    <a16:creationId xmlns:a16="http://schemas.microsoft.com/office/drawing/2014/main" id="{682396AA-222C-D1EB-1B41-AFA786901C13}"/>
                  </a:ext>
                </a:extLst>
              </p:cNvPr>
              <p:cNvGrpSpPr/>
              <p:nvPr/>
            </p:nvGrpSpPr>
            <p:grpSpPr>
              <a:xfrm>
                <a:off x="5952078" y="5877549"/>
                <a:ext cx="1195087" cy="987675"/>
                <a:chOff x="6707543" y="6287453"/>
                <a:chExt cx="626816" cy="518030"/>
              </a:xfrm>
            </p:grpSpPr>
            <p:sp>
              <p:nvSpPr>
                <p:cNvPr id="2" name="Forma libre: forma 1">
                  <a:extLst>
                    <a:ext uri="{FF2B5EF4-FFF2-40B4-BE49-F238E27FC236}">
                      <a16:creationId xmlns:a16="http://schemas.microsoft.com/office/drawing/2014/main" id="{E22291EE-71D5-37EE-8969-D04C68346B0A}"/>
                    </a:ext>
                  </a:extLst>
                </p:cNvPr>
                <p:cNvSpPr/>
                <p:nvPr/>
              </p:nvSpPr>
              <p:spPr bwMode="auto">
                <a:xfrm>
                  <a:off x="6758281" y="6349250"/>
                  <a:ext cx="520028" cy="351681"/>
                </a:xfrm>
                <a:custGeom>
                  <a:avLst/>
                  <a:gdLst>
                    <a:gd name="connsiteX0" fmla="*/ 0 w 1754372"/>
                    <a:gd name="connsiteY0" fmla="*/ 818707 h 818707"/>
                    <a:gd name="connsiteX1" fmla="*/ 467833 w 1754372"/>
                    <a:gd name="connsiteY1" fmla="*/ 818707 h 818707"/>
                    <a:gd name="connsiteX2" fmla="*/ 1307805 w 1754372"/>
                    <a:gd name="connsiteY2" fmla="*/ 0 h 818707"/>
                    <a:gd name="connsiteX3" fmla="*/ 1754372 w 1754372"/>
                    <a:gd name="connsiteY3" fmla="*/ 0 h 818707"/>
                    <a:gd name="connsiteX4" fmla="*/ 1754372 w 1754372"/>
                    <a:gd name="connsiteY4" fmla="*/ 0 h 8187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54372" h="818707">
                      <a:moveTo>
                        <a:pt x="0" y="818707"/>
                      </a:moveTo>
                      <a:lnTo>
                        <a:pt x="467833" y="818707"/>
                      </a:lnTo>
                      <a:lnTo>
                        <a:pt x="1307805" y="0"/>
                      </a:lnTo>
                      <a:lnTo>
                        <a:pt x="1754372" y="0"/>
                      </a:lnTo>
                      <a:lnTo>
                        <a:pt x="1754372" y="0"/>
                      </a:lnTo>
                    </a:path>
                  </a:pathLst>
                </a:custGeom>
                <a:noFill/>
                <a:ln w="25400" cap="flat" cmpd="sng" algn="ctr">
                  <a:solidFill>
                    <a:srgbClr val="3333FF"/>
                  </a:solidFill>
                  <a:prstDash val="solid"/>
                  <a:round/>
                  <a:headEnd type="none" w="med" len="med"/>
                  <a:tailEnd type="none" w="lg" len="lg"/>
                </a:ln>
                <a:effectLst/>
              </p:spPr>
              <p:txBody>
                <a:bodyPr vert="horz" wrap="square" lIns="90000" tIns="82800" rIns="90000" bIns="82800" numCol="1" rtlCol="0" anchor="t" anchorCtr="1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s-ES" sz="20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charset="0"/>
                  </a:endParaRPr>
                </a:p>
              </p:txBody>
            </p:sp>
            <p:cxnSp>
              <p:nvCxnSpPr>
                <p:cNvPr id="7" name="Conector recto 6">
                  <a:extLst>
                    <a:ext uri="{FF2B5EF4-FFF2-40B4-BE49-F238E27FC236}">
                      <a16:creationId xmlns:a16="http://schemas.microsoft.com/office/drawing/2014/main" id="{E4CD34E3-C2B7-5FD7-B600-1A5566212EF5}"/>
                    </a:ext>
                  </a:extLst>
                </p:cNvPr>
                <p:cNvCxnSpPr/>
                <p:nvPr/>
              </p:nvCxnSpPr>
              <p:spPr bwMode="auto">
                <a:xfrm>
                  <a:off x="7032436" y="6287453"/>
                  <a:ext cx="0" cy="518030"/>
                </a:xfrm>
                <a:prstGeom prst="line">
                  <a:avLst/>
                </a:prstGeom>
                <a:solidFill>
                  <a:schemeClr val="accent1"/>
                </a:solidFill>
                <a:ln w="254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lg" len="lg"/>
                </a:ln>
                <a:effectLst/>
              </p:spPr>
            </p:cxnSp>
            <p:cxnSp>
              <p:nvCxnSpPr>
                <p:cNvPr id="8" name="Conector recto 7">
                  <a:extLst>
                    <a:ext uri="{FF2B5EF4-FFF2-40B4-BE49-F238E27FC236}">
                      <a16:creationId xmlns:a16="http://schemas.microsoft.com/office/drawing/2014/main" id="{9AB32D2D-9D68-2B00-86B7-A5D6C2ADABAB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rot="16200000">
                  <a:off x="7020951" y="6191931"/>
                  <a:ext cx="0" cy="626816"/>
                </a:xfrm>
                <a:prstGeom prst="line">
                  <a:avLst/>
                </a:prstGeom>
                <a:solidFill>
                  <a:schemeClr val="accent1"/>
                </a:solidFill>
                <a:ln w="254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lg" len="lg"/>
                </a:ln>
                <a:effectLst/>
              </p:spPr>
            </p:cxnSp>
          </p:grpSp>
          <p:cxnSp>
            <p:nvCxnSpPr>
              <p:cNvPr id="6" name="Conector recto de flecha 5">
                <a:extLst>
                  <a:ext uri="{FF2B5EF4-FFF2-40B4-BE49-F238E27FC236}">
                    <a16:creationId xmlns:a16="http://schemas.microsoft.com/office/drawing/2014/main" id="{B75086B5-769F-C9D7-1F9E-32BF1099BC2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6264980" y="6193959"/>
                <a:ext cx="610223" cy="1588"/>
              </a:xfrm>
              <a:prstGeom prst="straightConnector1">
                <a:avLst/>
              </a:prstGeom>
              <a:noFill/>
              <a:ln w="38100" algn="ctr">
                <a:solidFill>
                  <a:srgbClr val="FF0000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3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37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7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37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37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3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38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38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3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38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38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3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38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38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3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79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37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379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7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37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37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0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4" grpId="0"/>
      <p:bldP spid="33830" grpId="0" animBg="1"/>
      <p:bldP spid="37915" grpId="0" animBg="1"/>
      <p:bldP spid="37916" grpId="0" animBg="1"/>
      <p:bldP spid="37917" grpId="0"/>
      <p:bldP spid="33819" grpId="0" animBg="1"/>
      <p:bldP spid="37911" grpId="0" animBg="1"/>
      <p:bldP spid="37912" grpId="0" animBg="1"/>
      <p:bldP spid="37913" grpId="0"/>
      <p:bldP spid="33813" grpId="0"/>
      <p:bldP spid="33814" grpId="0"/>
      <p:bldP spid="33817" grpId="0"/>
      <p:bldP spid="53" grpId="0"/>
      <p:bldP spid="49" grpId="0"/>
      <p:bldP spid="50" grpId="0"/>
      <p:bldP spid="51" grpId="0"/>
      <p:bldP spid="46" grpId="0" animBg="1"/>
      <p:bldP spid="48" grpId="0"/>
      <p:bldP spid="5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ángulo 98">
            <a:extLst>
              <a:ext uri="{FF2B5EF4-FFF2-40B4-BE49-F238E27FC236}">
                <a16:creationId xmlns:a16="http://schemas.microsoft.com/office/drawing/2014/main" id="{2E988B42-34F9-42FB-AA89-0EAB32EA36A1}"/>
              </a:ext>
            </a:extLst>
          </p:cNvPr>
          <p:cNvSpPr/>
          <p:nvPr/>
        </p:nvSpPr>
        <p:spPr bwMode="auto">
          <a:xfrm>
            <a:off x="1262595" y="1059939"/>
            <a:ext cx="2414325" cy="2541671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squar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98" name="Rectángulo 97">
            <a:extLst>
              <a:ext uri="{FF2B5EF4-FFF2-40B4-BE49-F238E27FC236}">
                <a16:creationId xmlns:a16="http://schemas.microsoft.com/office/drawing/2014/main" id="{CEF2693E-A18C-44B2-AF7D-F3C4A00B4B9B}"/>
              </a:ext>
            </a:extLst>
          </p:cNvPr>
          <p:cNvSpPr/>
          <p:nvPr/>
        </p:nvSpPr>
        <p:spPr bwMode="auto">
          <a:xfrm>
            <a:off x="7300546" y="1053449"/>
            <a:ext cx="3044796" cy="2541671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squar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grpSp>
        <p:nvGrpSpPr>
          <p:cNvPr id="2" name="Group 110"/>
          <p:cNvGrpSpPr>
            <a:grpSpLocks/>
          </p:cNvGrpSpPr>
          <p:nvPr/>
        </p:nvGrpSpPr>
        <p:grpSpPr bwMode="auto">
          <a:xfrm>
            <a:off x="4521899" y="1070590"/>
            <a:ext cx="2065338" cy="768350"/>
            <a:chOff x="3080" y="1841"/>
            <a:chExt cx="1301" cy="484"/>
          </a:xfrm>
        </p:grpSpPr>
        <p:sp>
          <p:nvSpPr>
            <p:cNvPr id="23651" name="AutoShape 4"/>
            <p:cNvSpPr>
              <a:spLocks noChangeArrowheads="1"/>
            </p:cNvSpPr>
            <p:nvPr/>
          </p:nvSpPr>
          <p:spPr bwMode="auto">
            <a:xfrm>
              <a:off x="3379" y="2122"/>
              <a:ext cx="788" cy="203"/>
            </a:xfrm>
            <a:prstGeom prst="rightArrow">
              <a:avLst>
                <a:gd name="adj1" fmla="val 39898"/>
                <a:gd name="adj2" fmla="val 97044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82800" rIns="90000" bIns="82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3652" name="Text Box 5"/>
            <p:cNvSpPr txBox="1">
              <a:spLocks noChangeArrowheads="1"/>
            </p:cNvSpPr>
            <p:nvPr/>
          </p:nvSpPr>
          <p:spPr bwMode="auto">
            <a:xfrm>
              <a:off x="3080" y="1841"/>
              <a:ext cx="1301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8000"/>
                  </a:solidFill>
                  <a:latin typeface="Arial" panose="020B0604020202020204" pitchFamily="34" charset="0"/>
                </a:rPr>
                <a:t>Si se aplica </a:t>
              </a:r>
              <a:r>
                <a:rPr lang="es-ES" sz="2400" b="1" dirty="0">
                  <a:solidFill>
                    <a:srgbClr val="008000"/>
                  </a:solidFill>
                  <a:latin typeface="Arial" panose="020B0604020202020204" pitchFamily="34" charset="0"/>
                </a:rPr>
                <a:t>B</a:t>
              </a:r>
              <a:endParaRPr lang="es-ES" sz="2400" dirty="0">
                <a:solidFill>
                  <a:srgbClr val="008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769091" name="Text Box 67"/>
          <p:cNvSpPr txBox="1">
            <a:spLocks noChangeArrowheads="1"/>
          </p:cNvSpPr>
          <p:nvPr/>
        </p:nvSpPr>
        <p:spPr bwMode="auto">
          <a:xfrm>
            <a:off x="7753994" y="3760463"/>
            <a:ext cx="2169482" cy="127521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none" lIns="90000" tIns="82800" rIns="90000" bIns="82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 dirty="0">
                <a:latin typeface="Arial" panose="020B0604020202020204" pitchFamily="34" charset="0"/>
              </a:rPr>
              <a:t>Magnetización</a:t>
            </a:r>
          </a:p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 dirty="0">
                <a:latin typeface="Arial" panose="020B0604020202020204" pitchFamily="34" charset="0"/>
              </a:rPr>
              <a:t>macroscópica</a:t>
            </a:r>
          </a:p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 dirty="0">
                <a:latin typeface="Arial" panose="020B0604020202020204" pitchFamily="34" charset="0"/>
              </a:rPr>
              <a:t>(</a:t>
            </a:r>
            <a:r>
              <a:rPr lang="es-ES" sz="2400" b="1" dirty="0" err="1">
                <a:latin typeface="Arial" panose="020B0604020202020204" pitchFamily="34" charset="0"/>
              </a:rPr>
              <a:t>B</a:t>
            </a:r>
            <a:r>
              <a:rPr lang="es-ES" sz="2400" baseline="-25000" dirty="0" err="1">
                <a:latin typeface="Arial" panose="020B0604020202020204" pitchFamily="34" charset="0"/>
              </a:rPr>
              <a:t>mag</a:t>
            </a:r>
            <a:r>
              <a:rPr lang="es-ES" sz="2400" dirty="0">
                <a:latin typeface="Arial" panose="020B0604020202020204" pitchFamily="34" charset="0"/>
              </a:rPr>
              <a:t>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</a:t>
            </a:r>
            <a:r>
              <a:rPr lang="es-ES" sz="2400" dirty="0">
                <a:latin typeface="Arial" panose="020B0604020202020204" pitchFamily="34" charset="0"/>
              </a:rPr>
              <a:t> </a:t>
            </a:r>
            <a:r>
              <a:rPr lang="es-ES" sz="2400" b="1" dirty="0">
                <a:latin typeface="Arial" panose="020B0604020202020204" pitchFamily="34" charset="0"/>
              </a:rPr>
              <a:t>0</a:t>
            </a:r>
            <a:r>
              <a:rPr lang="es-ES" sz="2400" dirty="0">
                <a:latin typeface="Arial" panose="020B0604020202020204" pitchFamily="34" charset="0"/>
              </a:rPr>
              <a:t>)</a:t>
            </a:r>
            <a:endParaRPr lang="es-ES" sz="24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25" name="Group 70"/>
          <p:cNvGrpSpPr>
            <a:grpSpLocks/>
          </p:cNvGrpSpPr>
          <p:nvPr/>
        </p:nvGrpSpPr>
        <p:grpSpPr bwMode="auto">
          <a:xfrm>
            <a:off x="8188343" y="1981607"/>
            <a:ext cx="2236788" cy="698500"/>
            <a:chOff x="5172" y="1690"/>
            <a:chExt cx="1409" cy="440"/>
          </a:xfrm>
        </p:grpSpPr>
        <p:sp>
          <p:nvSpPr>
            <p:cNvPr id="23649" name="Line 71"/>
            <p:cNvSpPr>
              <a:spLocks noChangeShapeType="1"/>
            </p:cNvSpPr>
            <p:nvPr/>
          </p:nvSpPr>
          <p:spPr bwMode="auto">
            <a:xfrm flipH="1">
              <a:off x="5290" y="1690"/>
              <a:ext cx="565" cy="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miter lim="800000"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graphicFrame>
          <p:nvGraphicFramePr>
            <p:cNvPr id="23650" name="Object 72"/>
            <p:cNvGraphicFramePr>
              <a:graphicFrameLocks noChangeAspect="1"/>
            </p:cNvGraphicFramePr>
            <p:nvPr/>
          </p:nvGraphicFramePr>
          <p:xfrm>
            <a:off x="5172" y="1751"/>
            <a:ext cx="1409" cy="3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1002960" imgH="266400" progId="Equation.3">
                    <p:embed/>
                  </p:oleObj>
                </mc:Choice>
                <mc:Fallback>
                  <p:oleObj name="Ecuación" r:id="rId3" imgW="1002960" imgH="266400" progId="Equation.3">
                    <p:embed/>
                    <p:pic>
                      <p:nvPicPr>
                        <p:cNvPr id="23650" name="Object 7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72" y="1751"/>
                          <a:ext cx="1409" cy="3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69097" name="Text Box 73"/>
          <p:cNvSpPr txBox="1">
            <a:spLocks noChangeArrowheads="1"/>
          </p:cNvSpPr>
          <p:nvPr/>
        </p:nvSpPr>
        <p:spPr bwMode="auto">
          <a:xfrm>
            <a:off x="3833334" y="1933618"/>
            <a:ext cx="3345814" cy="3121872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Las moléculas se transforman en imanes porque la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inducción</a:t>
            </a:r>
            <a:r>
              <a:rPr lang="es-ES" sz="2400" dirty="0">
                <a:latin typeface="Arial" panose="020B0604020202020204" pitchFamily="34" charset="0"/>
              </a:rPr>
              <a:t> asociada al cambio en </a:t>
            </a:r>
            <a:r>
              <a:rPr lang="es-ES" sz="2400" b="1" dirty="0">
                <a:latin typeface="Arial" panose="020B0604020202020204" pitchFamily="34" charset="0"/>
              </a:rPr>
              <a:t>B</a:t>
            </a:r>
            <a:r>
              <a:rPr lang="es-ES" sz="2400" dirty="0">
                <a:latin typeface="Arial" panose="020B0604020202020204" pitchFamily="34" charset="0"/>
              </a:rPr>
              <a:t> altera las corrientes microscópicas, sobre todo las “orbitales”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(</a:t>
            </a:r>
            <a:r>
              <a:rPr lang="es-ES" sz="2400" b="1" dirty="0" err="1">
                <a:latin typeface="Arial" panose="020B0604020202020204" pitchFamily="34" charset="0"/>
              </a:rPr>
              <a:t>B</a:t>
            </a:r>
            <a:r>
              <a:rPr lang="es-ES" sz="2400" baseline="-25000" dirty="0" err="1">
                <a:latin typeface="Arial" panose="020B0604020202020204" pitchFamily="34" charset="0"/>
              </a:rPr>
              <a:t>molécula</a:t>
            </a:r>
            <a:r>
              <a:rPr lang="es-ES" sz="2400" dirty="0">
                <a:latin typeface="Arial" panose="020B0604020202020204" pitchFamily="34" charset="0"/>
              </a:rPr>
              <a:t>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 </a:t>
            </a:r>
            <a:r>
              <a:rPr lang="es-ES" sz="2400" b="1" dirty="0">
                <a:latin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)</a:t>
            </a:r>
            <a:endParaRPr lang="es-ES" sz="2400" baseline="-250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769099" name="Text Box 75"/>
          <p:cNvSpPr txBox="1">
            <a:spLocks noChangeArrowheads="1"/>
          </p:cNvSpPr>
          <p:nvPr/>
        </p:nvSpPr>
        <p:spPr bwMode="auto">
          <a:xfrm>
            <a:off x="1654232" y="5282949"/>
            <a:ext cx="8227695" cy="53654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Lo inducido se opone a lo que lo generó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(Ley de Lenz)</a:t>
            </a:r>
          </a:p>
        </p:txBody>
      </p:sp>
      <p:sp>
        <p:nvSpPr>
          <p:cNvPr id="23647" name="Text Box 83"/>
          <p:cNvSpPr txBox="1">
            <a:spLocks noChangeArrowheads="1"/>
          </p:cNvSpPr>
          <p:nvPr/>
        </p:nvSpPr>
        <p:spPr bwMode="auto">
          <a:xfrm>
            <a:off x="1239785" y="341027"/>
            <a:ext cx="2224089" cy="558799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cs typeface="Arial" panose="020B0604020202020204" pitchFamily="34" charset="0"/>
              </a:rPr>
              <a:t>Diamagnéticos</a:t>
            </a:r>
          </a:p>
        </p:txBody>
      </p:sp>
      <p:sp>
        <p:nvSpPr>
          <p:cNvPr id="4" name="Text Box 104"/>
          <p:cNvSpPr txBox="1">
            <a:spLocks noChangeArrowheads="1"/>
          </p:cNvSpPr>
          <p:nvPr/>
        </p:nvSpPr>
        <p:spPr bwMode="auto">
          <a:xfrm>
            <a:off x="3600399" y="361664"/>
            <a:ext cx="1670051" cy="536574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 dirty="0">
                <a:latin typeface="Arial" panose="020B0604020202020204" pitchFamily="34" charset="0"/>
              </a:rPr>
              <a:t>Ag, Pb, Cu</a:t>
            </a:r>
          </a:p>
        </p:txBody>
      </p:sp>
      <p:grpSp>
        <p:nvGrpSpPr>
          <p:cNvPr id="23565" name="Group 7"/>
          <p:cNvGrpSpPr>
            <a:grpSpLocks/>
          </p:cNvGrpSpPr>
          <p:nvPr/>
        </p:nvGrpSpPr>
        <p:grpSpPr bwMode="auto">
          <a:xfrm>
            <a:off x="7516826" y="630014"/>
            <a:ext cx="2587625" cy="2357433"/>
            <a:chOff x="4749" y="863"/>
            <a:chExt cx="1630" cy="1485"/>
          </a:xfrm>
        </p:grpSpPr>
        <p:sp>
          <p:nvSpPr>
            <p:cNvPr id="23567" name="Line 8"/>
            <p:cNvSpPr>
              <a:spLocks noChangeShapeType="1"/>
            </p:cNvSpPr>
            <p:nvPr/>
          </p:nvSpPr>
          <p:spPr bwMode="auto">
            <a:xfrm>
              <a:off x="5317" y="1296"/>
              <a:ext cx="565" cy="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miter lim="800000"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grpSp>
          <p:nvGrpSpPr>
            <p:cNvPr id="23568" name="Group 9"/>
            <p:cNvGrpSpPr>
              <a:grpSpLocks/>
            </p:cNvGrpSpPr>
            <p:nvPr/>
          </p:nvGrpSpPr>
          <p:grpSpPr bwMode="auto">
            <a:xfrm>
              <a:off x="4749" y="863"/>
              <a:ext cx="1630" cy="1485"/>
              <a:chOff x="4749" y="863"/>
              <a:chExt cx="1630" cy="1485"/>
            </a:xfrm>
          </p:grpSpPr>
          <p:graphicFrame>
            <p:nvGraphicFramePr>
              <p:cNvPr id="23569" name="Object 1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1009067"/>
                  </p:ext>
                </p:extLst>
              </p:nvPr>
            </p:nvGraphicFramePr>
            <p:xfrm>
              <a:off x="5279" y="863"/>
              <a:ext cx="642" cy="37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5" imgW="457002" imgH="266584" progId="Equation.3">
                      <p:embed/>
                    </p:oleObj>
                  </mc:Choice>
                  <mc:Fallback>
                    <p:oleObj name="Ecuación" r:id="rId5" imgW="457002" imgH="266584" progId="Equation.3">
                      <p:embed/>
                      <p:pic>
                        <p:nvPicPr>
                          <p:cNvPr id="23569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79" y="863"/>
                            <a:ext cx="642" cy="37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23570" name="Group 11"/>
              <p:cNvGrpSpPr>
                <a:grpSpLocks/>
              </p:cNvGrpSpPr>
              <p:nvPr/>
            </p:nvGrpSpPr>
            <p:grpSpPr bwMode="auto">
              <a:xfrm flipH="1">
                <a:off x="4757" y="1389"/>
                <a:ext cx="440" cy="281"/>
                <a:chOff x="4541" y="1218"/>
                <a:chExt cx="440" cy="281"/>
              </a:xfrm>
            </p:grpSpPr>
            <p:grpSp>
              <p:nvGrpSpPr>
                <p:cNvPr id="23621" name="Group 12"/>
                <p:cNvGrpSpPr>
                  <a:grpSpLocks/>
                </p:cNvGrpSpPr>
                <p:nvPr/>
              </p:nvGrpSpPr>
              <p:grpSpPr bwMode="auto">
                <a:xfrm flipH="1">
                  <a:off x="4541" y="1256"/>
                  <a:ext cx="438" cy="204"/>
                  <a:chOff x="2118" y="2372"/>
                  <a:chExt cx="438" cy="204"/>
                </a:xfrm>
              </p:grpSpPr>
              <p:sp>
                <p:nvSpPr>
                  <p:cNvPr id="23624" name="Rectangle 13"/>
                  <p:cNvSpPr>
                    <a:spLocks noChangeArrowheads="1"/>
                  </p:cNvSpPr>
                  <p:nvPr/>
                </p:nvSpPr>
                <p:spPr bwMode="auto">
                  <a:xfrm rot="5400000" flipH="1" flipV="1">
                    <a:off x="2344" y="2364"/>
                    <a:ext cx="204" cy="220"/>
                  </a:xfrm>
                  <a:prstGeom prst="rect">
                    <a:avLst/>
                  </a:prstGeom>
                  <a:solidFill>
                    <a:srgbClr val="3366FF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vert="eaVert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US" sz="200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3625" name="Rectangle 14"/>
                  <p:cNvSpPr>
                    <a:spLocks noChangeArrowheads="1"/>
                  </p:cNvSpPr>
                  <p:nvPr/>
                </p:nvSpPr>
                <p:spPr bwMode="auto">
                  <a:xfrm rot="16200000" flipV="1">
                    <a:off x="2126" y="2364"/>
                    <a:ext cx="204" cy="22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rot="10800000" vert="eaVert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US" sz="200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3622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4763" y="1218"/>
                  <a:ext cx="218" cy="2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 anchorCtr="1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 b="1" dirty="0">
                      <a:solidFill>
                        <a:schemeClr val="bg1"/>
                      </a:solidFill>
                      <a:latin typeface="Arial" panose="020B0604020202020204" pitchFamily="34" charset="0"/>
                    </a:rPr>
                    <a:t>N</a:t>
                  </a:r>
                </a:p>
              </p:txBody>
            </p:sp>
            <p:sp>
              <p:nvSpPr>
                <p:cNvPr id="23623" name="Text Box 16"/>
                <p:cNvSpPr txBox="1">
                  <a:spLocks noChangeArrowheads="1"/>
                </p:cNvSpPr>
                <p:nvPr/>
              </p:nvSpPr>
              <p:spPr bwMode="auto">
                <a:xfrm>
                  <a:off x="4554" y="1222"/>
                  <a:ext cx="210" cy="2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 anchorCtr="1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 b="1">
                      <a:solidFill>
                        <a:schemeClr val="bg1"/>
                      </a:solidFill>
                      <a:latin typeface="Arial" panose="020B0604020202020204" pitchFamily="34" charset="0"/>
                    </a:rPr>
                    <a:t>S</a:t>
                  </a:r>
                </a:p>
              </p:txBody>
            </p:sp>
          </p:grpSp>
          <p:grpSp>
            <p:nvGrpSpPr>
              <p:cNvPr id="23571" name="Group 17"/>
              <p:cNvGrpSpPr>
                <a:grpSpLocks/>
              </p:cNvGrpSpPr>
              <p:nvPr/>
            </p:nvGrpSpPr>
            <p:grpSpPr bwMode="auto">
              <a:xfrm flipH="1">
                <a:off x="4753" y="1728"/>
                <a:ext cx="440" cy="281"/>
                <a:chOff x="4541" y="1218"/>
                <a:chExt cx="440" cy="281"/>
              </a:xfrm>
            </p:grpSpPr>
            <p:grpSp>
              <p:nvGrpSpPr>
                <p:cNvPr id="23616" name="Group 18"/>
                <p:cNvGrpSpPr>
                  <a:grpSpLocks/>
                </p:cNvGrpSpPr>
                <p:nvPr/>
              </p:nvGrpSpPr>
              <p:grpSpPr bwMode="auto">
                <a:xfrm flipH="1">
                  <a:off x="4541" y="1256"/>
                  <a:ext cx="438" cy="204"/>
                  <a:chOff x="2118" y="2372"/>
                  <a:chExt cx="438" cy="204"/>
                </a:xfrm>
              </p:grpSpPr>
              <p:sp>
                <p:nvSpPr>
                  <p:cNvPr id="23619" name="Rectangle 19"/>
                  <p:cNvSpPr>
                    <a:spLocks noChangeArrowheads="1"/>
                  </p:cNvSpPr>
                  <p:nvPr/>
                </p:nvSpPr>
                <p:spPr bwMode="auto">
                  <a:xfrm rot="5400000" flipH="1" flipV="1">
                    <a:off x="2344" y="2364"/>
                    <a:ext cx="204" cy="220"/>
                  </a:xfrm>
                  <a:prstGeom prst="rect">
                    <a:avLst/>
                  </a:prstGeom>
                  <a:solidFill>
                    <a:srgbClr val="3366FF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vert="eaVert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US" sz="200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3620" name="Rectangle 20"/>
                  <p:cNvSpPr>
                    <a:spLocks noChangeArrowheads="1"/>
                  </p:cNvSpPr>
                  <p:nvPr/>
                </p:nvSpPr>
                <p:spPr bwMode="auto">
                  <a:xfrm rot="16200000" flipV="1">
                    <a:off x="2126" y="2364"/>
                    <a:ext cx="204" cy="22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rot="10800000" vert="eaVert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US" sz="200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3617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4763" y="1218"/>
                  <a:ext cx="218" cy="2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 anchorCtr="1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 b="1">
                      <a:solidFill>
                        <a:schemeClr val="bg1"/>
                      </a:solidFill>
                      <a:latin typeface="Arial" panose="020B0604020202020204" pitchFamily="34" charset="0"/>
                    </a:rPr>
                    <a:t>N</a:t>
                  </a:r>
                </a:p>
              </p:txBody>
            </p:sp>
            <p:sp>
              <p:nvSpPr>
                <p:cNvPr id="23618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4554" y="1222"/>
                  <a:ext cx="210" cy="2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 anchorCtr="1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 b="1">
                      <a:solidFill>
                        <a:schemeClr val="bg1"/>
                      </a:solidFill>
                      <a:latin typeface="Arial" panose="020B0604020202020204" pitchFamily="34" charset="0"/>
                    </a:rPr>
                    <a:t>S</a:t>
                  </a:r>
                </a:p>
              </p:txBody>
            </p:sp>
          </p:grpSp>
          <p:grpSp>
            <p:nvGrpSpPr>
              <p:cNvPr id="23572" name="Group 23"/>
              <p:cNvGrpSpPr>
                <a:grpSpLocks/>
              </p:cNvGrpSpPr>
              <p:nvPr/>
            </p:nvGrpSpPr>
            <p:grpSpPr bwMode="auto">
              <a:xfrm flipH="1">
                <a:off x="4749" y="2067"/>
                <a:ext cx="440" cy="281"/>
                <a:chOff x="4541" y="1218"/>
                <a:chExt cx="440" cy="281"/>
              </a:xfrm>
            </p:grpSpPr>
            <p:grpSp>
              <p:nvGrpSpPr>
                <p:cNvPr id="23611" name="Group 24"/>
                <p:cNvGrpSpPr>
                  <a:grpSpLocks/>
                </p:cNvGrpSpPr>
                <p:nvPr/>
              </p:nvGrpSpPr>
              <p:grpSpPr bwMode="auto">
                <a:xfrm flipH="1">
                  <a:off x="4541" y="1256"/>
                  <a:ext cx="438" cy="204"/>
                  <a:chOff x="2118" y="2372"/>
                  <a:chExt cx="438" cy="204"/>
                </a:xfrm>
              </p:grpSpPr>
              <p:sp>
                <p:nvSpPr>
                  <p:cNvPr id="23614" name="Rectangle 25"/>
                  <p:cNvSpPr>
                    <a:spLocks noChangeArrowheads="1"/>
                  </p:cNvSpPr>
                  <p:nvPr/>
                </p:nvSpPr>
                <p:spPr bwMode="auto">
                  <a:xfrm rot="5400000" flipH="1" flipV="1">
                    <a:off x="2344" y="2364"/>
                    <a:ext cx="204" cy="220"/>
                  </a:xfrm>
                  <a:prstGeom prst="rect">
                    <a:avLst/>
                  </a:prstGeom>
                  <a:solidFill>
                    <a:srgbClr val="3366FF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vert="eaVert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US" sz="200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3615" name="Rectangle 26"/>
                  <p:cNvSpPr>
                    <a:spLocks noChangeArrowheads="1"/>
                  </p:cNvSpPr>
                  <p:nvPr/>
                </p:nvSpPr>
                <p:spPr bwMode="auto">
                  <a:xfrm rot="16200000" flipV="1">
                    <a:off x="2126" y="2364"/>
                    <a:ext cx="204" cy="22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rot="10800000" vert="eaVert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US" sz="200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3612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4763" y="1218"/>
                  <a:ext cx="218" cy="2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 anchorCtr="1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 b="1">
                      <a:solidFill>
                        <a:schemeClr val="bg1"/>
                      </a:solidFill>
                      <a:latin typeface="Arial" panose="020B0604020202020204" pitchFamily="34" charset="0"/>
                    </a:rPr>
                    <a:t>N</a:t>
                  </a:r>
                </a:p>
              </p:txBody>
            </p:sp>
            <p:sp>
              <p:nvSpPr>
                <p:cNvPr id="23613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4554" y="1222"/>
                  <a:ext cx="210" cy="2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 anchorCtr="1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 b="1">
                      <a:solidFill>
                        <a:schemeClr val="bg1"/>
                      </a:solidFill>
                      <a:latin typeface="Arial" panose="020B0604020202020204" pitchFamily="34" charset="0"/>
                    </a:rPr>
                    <a:t>S</a:t>
                  </a:r>
                </a:p>
              </p:txBody>
            </p:sp>
          </p:grpSp>
          <p:grpSp>
            <p:nvGrpSpPr>
              <p:cNvPr id="23573" name="Group 29"/>
              <p:cNvGrpSpPr>
                <a:grpSpLocks/>
              </p:cNvGrpSpPr>
              <p:nvPr/>
            </p:nvGrpSpPr>
            <p:grpSpPr bwMode="auto">
              <a:xfrm flipH="1">
                <a:off x="5340" y="1389"/>
                <a:ext cx="448" cy="959"/>
                <a:chOff x="5124" y="1368"/>
                <a:chExt cx="448" cy="959"/>
              </a:xfrm>
            </p:grpSpPr>
            <p:grpSp>
              <p:nvGrpSpPr>
                <p:cNvPr id="23593" name="Group 30"/>
                <p:cNvGrpSpPr>
                  <a:grpSpLocks/>
                </p:cNvGrpSpPr>
                <p:nvPr/>
              </p:nvGrpSpPr>
              <p:grpSpPr bwMode="auto">
                <a:xfrm>
                  <a:off x="5132" y="1368"/>
                  <a:ext cx="440" cy="281"/>
                  <a:chOff x="4541" y="1218"/>
                  <a:chExt cx="440" cy="281"/>
                </a:xfrm>
              </p:grpSpPr>
              <p:grpSp>
                <p:nvGrpSpPr>
                  <p:cNvPr id="23606" name="Group 31"/>
                  <p:cNvGrpSpPr>
                    <a:grpSpLocks/>
                  </p:cNvGrpSpPr>
                  <p:nvPr/>
                </p:nvGrpSpPr>
                <p:grpSpPr bwMode="auto">
                  <a:xfrm flipH="1">
                    <a:off x="4541" y="1256"/>
                    <a:ext cx="438" cy="204"/>
                    <a:chOff x="2118" y="2372"/>
                    <a:chExt cx="438" cy="204"/>
                  </a:xfrm>
                </p:grpSpPr>
                <p:sp>
                  <p:nvSpPr>
                    <p:cNvPr id="23609" name="Rectangle 32"/>
                    <p:cNvSpPr>
                      <a:spLocks noChangeArrowheads="1"/>
                    </p:cNvSpPr>
                    <p:nvPr/>
                  </p:nvSpPr>
                  <p:spPr bwMode="auto">
                    <a:xfrm rot="5400000" flipH="1" flipV="1">
                      <a:off x="2344" y="2364"/>
                      <a:ext cx="204" cy="220"/>
                    </a:xfrm>
                    <a:prstGeom prst="rect">
                      <a:avLst/>
                    </a:prstGeom>
                    <a:solidFill>
                      <a:srgbClr val="3366FF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vert="eaVert" wrap="none" anchor="ctr"/>
                    <a:lstStyle>
                      <a:lvl1pPr>
                        <a:spcBef>
                          <a:spcPct val="20000"/>
                        </a:spcBef>
                        <a:buChar char="•"/>
                        <a:defRPr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7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endParaRPr lang="en-US" sz="200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3610" name="Rectangle 33"/>
                    <p:cNvSpPr>
                      <a:spLocks noChangeArrowheads="1"/>
                    </p:cNvSpPr>
                    <p:nvPr/>
                  </p:nvSpPr>
                  <p:spPr bwMode="auto">
                    <a:xfrm rot="16200000" flipV="1">
                      <a:off x="2126" y="2364"/>
                      <a:ext cx="204" cy="220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rot="10800000" vert="eaVert" wrap="none" anchor="ctr"/>
                    <a:lstStyle>
                      <a:lvl1pPr>
                        <a:spcBef>
                          <a:spcPct val="20000"/>
                        </a:spcBef>
                        <a:buChar char="•"/>
                        <a:defRPr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7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endParaRPr lang="en-US" sz="2000">
                        <a:latin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23607" name="Text Box 3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763" y="1218"/>
                    <a:ext cx="218" cy="27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5400" algn="ctr">
                        <a:solidFill>
                          <a:srgbClr val="000000"/>
                        </a:solidFill>
                        <a:miter lim="800000"/>
                        <a:headEnd/>
                        <a:tailEnd type="none" w="lg" len="lg"/>
                      </a14:hiddenLine>
                    </a:ext>
                  </a:extLst>
                </p:spPr>
                <p:txBody>
                  <a:bodyPr wrap="none" lIns="90000" tIns="82800" rIns="90000" bIns="82800" anchorCtr="1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FontTx/>
                      <a:buNone/>
                    </a:pPr>
                    <a:r>
                      <a:rPr lang="es-ES" sz="1800" b="1">
                        <a:solidFill>
                          <a:schemeClr val="bg1"/>
                        </a:solidFill>
                        <a:latin typeface="Arial" panose="020B0604020202020204" pitchFamily="34" charset="0"/>
                      </a:rPr>
                      <a:t>N</a:t>
                    </a:r>
                  </a:p>
                </p:txBody>
              </p:sp>
              <p:sp>
                <p:nvSpPr>
                  <p:cNvPr id="23608" name="Text Box 3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554" y="1222"/>
                    <a:ext cx="210" cy="27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5400" algn="ctr">
                        <a:solidFill>
                          <a:srgbClr val="000000"/>
                        </a:solidFill>
                        <a:miter lim="800000"/>
                        <a:headEnd/>
                        <a:tailEnd type="none" w="lg" len="lg"/>
                      </a14:hiddenLine>
                    </a:ext>
                  </a:extLst>
                </p:spPr>
                <p:txBody>
                  <a:bodyPr wrap="none" lIns="90000" tIns="82800" rIns="90000" bIns="82800" anchorCtr="1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FontTx/>
                      <a:buNone/>
                    </a:pPr>
                    <a:r>
                      <a:rPr lang="es-ES" sz="1800" b="1">
                        <a:solidFill>
                          <a:schemeClr val="bg1"/>
                        </a:solidFill>
                        <a:latin typeface="Arial" panose="020B0604020202020204" pitchFamily="34" charset="0"/>
                      </a:rPr>
                      <a:t>S</a:t>
                    </a:r>
                  </a:p>
                </p:txBody>
              </p:sp>
            </p:grpSp>
            <p:grpSp>
              <p:nvGrpSpPr>
                <p:cNvPr id="23594" name="Group 36"/>
                <p:cNvGrpSpPr>
                  <a:grpSpLocks/>
                </p:cNvGrpSpPr>
                <p:nvPr/>
              </p:nvGrpSpPr>
              <p:grpSpPr bwMode="auto">
                <a:xfrm>
                  <a:off x="5128" y="1707"/>
                  <a:ext cx="440" cy="281"/>
                  <a:chOff x="4541" y="1218"/>
                  <a:chExt cx="440" cy="281"/>
                </a:xfrm>
              </p:grpSpPr>
              <p:grpSp>
                <p:nvGrpSpPr>
                  <p:cNvPr id="23601" name="Group 37"/>
                  <p:cNvGrpSpPr>
                    <a:grpSpLocks/>
                  </p:cNvGrpSpPr>
                  <p:nvPr/>
                </p:nvGrpSpPr>
                <p:grpSpPr bwMode="auto">
                  <a:xfrm flipH="1">
                    <a:off x="4541" y="1256"/>
                    <a:ext cx="438" cy="204"/>
                    <a:chOff x="2118" y="2372"/>
                    <a:chExt cx="438" cy="204"/>
                  </a:xfrm>
                </p:grpSpPr>
                <p:sp>
                  <p:nvSpPr>
                    <p:cNvPr id="23604" name="Rectangle 38"/>
                    <p:cNvSpPr>
                      <a:spLocks noChangeArrowheads="1"/>
                    </p:cNvSpPr>
                    <p:nvPr/>
                  </p:nvSpPr>
                  <p:spPr bwMode="auto">
                    <a:xfrm rot="5400000" flipH="1" flipV="1">
                      <a:off x="2344" y="2364"/>
                      <a:ext cx="204" cy="220"/>
                    </a:xfrm>
                    <a:prstGeom prst="rect">
                      <a:avLst/>
                    </a:prstGeom>
                    <a:solidFill>
                      <a:srgbClr val="3366FF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vert="eaVert" wrap="none" anchor="ctr"/>
                    <a:lstStyle>
                      <a:lvl1pPr>
                        <a:spcBef>
                          <a:spcPct val="20000"/>
                        </a:spcBef>
                        <a:buChar char="•"/>
                        <a:defRPr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7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endParaRPr lang="en-US" sz="200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3605" name="Rectangle 39"/>
                    <p:cNvSpPr>
                      <a:spLocks noChangeArrowheads="1"/>
                    </p:cNvSpPr>
                    <p:nvPr/>
                  </p:nvSpPr>
                  <p:spPr bwMode="auto">
                    <a:xfrm rot="16200000" flipV="1">
                      <a:off x="2126" y="2364"/>
                      <a:ext cx="204" cy="220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rot="10800000" vert="eaVert" wrap="none" anchor="ctr"/>
                    <a:lstStyle>
                      <a:lvl1pPr>
                        <a:spcBef>
                          <a:spcPct val="20000"/>
                        </a:spcBef>
                        <a:buChar char="•"/>
                        <a:defRPr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7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endParaRPr lang="en-US" sz="2000">
                        <a:latin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23602" name="Text Box 4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763" y="1218"/>
                    <a:ext cx="218" cy="27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5400" algn="ctr">
                        <a:solidFill>
                          <a:srgbClr val="000000"/>
                        </a:solidFill>
                        <a:miter lim="800000"/>
                        <a:headEnd/>
                        <a:tailEnd type="none" w="lg" len="lg"/>
                      </a14:hiddenLine>
                    </a:ext>
                  </a:extLst>
                </p:spPr>
                <p:txBody>
                  <a:bodyPr wrap="none" lIns="90000" tIns="82800" rIns="90000" bIns="82800" anchorCtr="1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FontTx/>
                      <a:buNone/>
                    </a:pPr>
                    <a:r>
                      <a:rPr lang="es-ES" sz="1800" b="1">
                        <a:solidFill>
                          <a:schemeClr val="bg1"/>
                        </a:solidFill>
                        <a:latin typeface="Arial" panose="020B0604020202020204" pitchFamily="34" charset="0"/>
                      </a:rPr>
                      <a:t>N</a:t>
                    </a:r>
                  </a:p>
                </p:txBody>
              </p:sp>
              <p:sp>
                <p:nvSpPr>
                  <p:cNvPr id="23603" name="Text Box 4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554" y="1222"/>
                    <a:ext cx="210" cy="27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5400" algn="ctr">
                        <a:solidFill>
                          <a:srgbClr val="000000"/>
                        </a:solidFill>
                        <a:miter lim="800000"/>
                        <a:headEnd/>
                        <a:tailEnd type="none" w="lg" len="lg"/>
                      </a14:hiddenLine>
                    </a:ext>
                  </a:extLst>
                </p:spPr>
                <p:txBody>
                  <a:bodyPr wrap="none" lIns="90000" tIns="82800" rIns="90000" bIns="82800" anchorCtr="1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FontTx/>
                      <a:buNone/>
                    </a:pPr>
                    <a:r>
                      <a:rPr lang="es-ES" sz="1800" b="1">
                        <a:solidFill>
                          <a:schemeClr val="bg1"/>
                        </a:solidFill>
                        <a:latin typeface="Arial" panose="020B0604020202020204" pitchFamily="34" charset="0"/>
                      </a:rPr>
                      <a:t>S</a:t>
                    </a:r>
                  </a:p>
                </p:txBody>
              </p:sp>
            </p:grpSp>
            <p:grpSp>
              <p:nvGrpSpPr>
                <p:cNvPr id="23595" name="Group 42"/>
                <p:cNvGrpSpPr>
                  <a:grpSpLocks/>
                </p:cNvGrpSpPr>
                <p:nvPr/>
              </p:nvGrpSpPr>
              <p:grpSpPr bwMode="auto">
                <a:xfrm>
                  <a:off x="5124" y="2046"/>
                  <a:ext cx="440" cy="281"/>
                  <a:chOff x="4541" y="1218"/>
                  <a:chExt cx="440" cy="281"/>
                </a:xfrm>
              </p:grpSpPr>
              <p:grpSp>
                <p:nvGrpSpPr>
                  <p:cNvPr id="23596" name="Group 43"/>
                  <p:cNvGrpSpPr>
                    <a:grpSpLocks/>
                  </p:cNvGrpSpPr>
                  <p:nvPr/>
                </p:nvGrpSpPr>
                <p:grpSpPr bwMode="auto">
                  <a:xfrm flipH="1">
                    <a:off x="4541" y="1256"/>
                    <a:ext cx="438" cy="204"/>
                    <a:chOff x="2118" y="2372"/>
                    <a:chExt cx="438" cy="204"/>
                  </a:xfrm>
                </p:grpSpPr>
                <p:sp>
                  <p:nvSpPr>
                    <p:cNvPr id="23599" name="Rectangle 44"/>
                    <p:cNvSpPr>
                      <a:spLocks noChangeArrowheads="1"/>
                    </p:cNvSpPr>
                    <p:nvPr/>
                  </p:nvSpPr>
                  <p:spPr bwMode="auto">
                    <a:xfrm rot="5400000" flipH="1" flipV="1">
                      <a:off x="2344" y="2364"/>
                      <a:ext cx="204" cy="220"/>
                    </a:xfrm>
                    <a:prstGeom prst="rect">
                      <a:avLst/>
                    </a:prstGeom>
                    <a:solidFill>
                      <a:srgbClr val="3366FF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vert="eaVert" wrap="none" anchor="ctr"/>
                    <a:lstStyle>
                      <a:lvl1pPr>
                        <a:spcBef>
                          <a:spcPct val="20000"/>
                        </a:spcBef>
                        <a:buChar char="•"/>
                        <a:defRPr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7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endParaRPr lang="en-US" sz="200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3600" name="Rectangle 45"/>
                    <p:cNvSpPr>
                      <a:spLocks noChangeArrowheads="1"/>
                    </p:cNvSpPr>
                    <p:nvPr/>
                  </p:nvSpPr>
                  <p:spPr bwMode="auto">
                    <a:xfrm rot="16200000" flipV="1">
                      <a:off x="2126" y="2364"/>
                      <a:ext cx="204" cy="220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rot="10800000" vert="eaVert" wrap="none" anchor="ctr"/>
                    <a:lstStyle>
                      <a:lvl1pPr>
                        <a:spcBef>
                          <a:spcPct val="20000"/>
                        </a:spcBef>
                        <a:buChar char="•"/>
                        <a:defRPr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7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endParaRPr lang="en-US" sz="2000">
                        <a:latin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23597" name="Text Box 4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763" y="1218"/>
                    <a:ext cx="218" cy="27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5400" algn="ctr">
                        <a:solidFill>
                          <a:srgbClr val="000000"/>
                        </a:solidFill>
                        <a:miter lim="800000"/>
                        <a:headEnd/>
                        <a:tailEnd type="none" w="lg" len="lg"/>
                      </a14:hiddenLine>
                    </a:ext>
                  </a:extLst>
                </p:spPr>
                <p:txBody>
                  <a:bodyPr wrap="none" lIns="90000" tIns="82800" rIns="90000" bIns="82800" anchorCtr="1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FontTx/>
                      <a:buNone/>
                    </a:pPr>
                    <a:r>
                      <a:rPr lang="es-ES" sz="1800" b="1">
                        <a:solidFill>
                          <a:schemeClr val="bg1"/>
                        </a:solidFill>
                        <a:latin typeface="Arial" panose="020B0604020202020204" pitchFamily="34" charset="0"/>
                      </a:rPr>
                      <a:t>N</a:t>
                    </a:r>
                  </a:p>
                </p:txBody>
              </p:sp>
              <p:sp>
                <p:nvSpPr>
                  <p:cNvPr id="23598" name="Text Box 4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554" y="1222"/>
                    <a:ext cx="210" cy="27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5400" algn="ctr">
                        <a:solidFill>
                          <a:srgbClr val="000000"/>
                        </a:solidFill>
                        <a:miter lim="800000"/>
                        <a:headEnd/>
                        <a:tailEnd type="none" w="lg" len="lg"/>
                      </a14:hiddenLine>
                    </a:ext>
                  </a:extLst>
                </p:spPr>
                <p:txBody>
                  <a:bodyPr wrap="none" lIns="90000" tIns="82800" rIns="90000" bIns="82800" anchorCtr="1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FontTx/>
                      <a:buNone/>
                    </a:pPr>
                    <a:r>
                      <a:rPr lang="es-ES" sz="1800" b="1">
                        <a:solidFill>
                          <a:schemeClr val="bg1"/>
                        </a:solidFill>
                        <a:latin typeface="Arial" panose="020B0604020202020204" pitchFamily="34" charset="0"/>
                      </a:rPr>
                      <a:t>S</a:t>
                    </a:r>
                  </a:p>
                </p:txBody>
              </p:sp>
            </p:grpSp>
          </p:grpSp>
          <p:grpSp>
            <p:nvGrpSpPr>
              <p:cNvPr id="23574" name="Group 48"/>
              <p:cNvGrpSpPr>
                <a:grpSpLocks/>
              </p:cNvGrpSpPr>
              <p:nvPr/>
            </p:nvGrpSpPr>
            <p:grpSpPr bwMode="auto">
              <a:xfrm flipH="1">
                <a:off x="5931" y="1389"/>
                <a:ext cx="448" cy="959"/>
                <a:chOff x="5715" y="1368"/>
                <a:chExt cx="448" cy="959"/>
              </a:xfrm>
            </p:grpSpPr>
            <p:grpSp>
              <p:nvGrpSpPr>
                <p:cNvPr id="23575" name="Group 49"/>
                <p:cNvGrpSpPr>
                  <a:grpSpLocks/>
                </p:cNvGrpSpPr>
                <p:nvPr/>
              </p:nvGrpSpPr>
              <p:grpSpPr bwMode="auto">
                <a:xfrm>
                  <a:off x="5723" y="1368"/>
                  <a:ext cx="440" cy="281"/>
                  <a:chOff x="4541" y="1218"/>
                  <a:chExt cx="440" cy="281"/>
                </a:xfrm>
              </p:grpSpPr>
              <p:grpSp>
                <p:nvGrpSpPr>
                  <p:cNvPr id="23588" name="Group 50"/>
                  <p:cNvGrpSpPr>
                    <a:grpSpLocks/>
                  </p:cNvGrpSpPr>
                  <p:nvPr/>
                </p:nvGrpSpPr>
                <p:grpSpPr bwMode="auto">
                  <a:xfrm flipH="1">
                    <a:off x="4541" y="1256"/>
                    <a:ext cx="438" cy="204"/>
                    <a:chOff x="2118" y="2372"/>
                    <a:chExt cx="438" cy="204"/>
                  </a:xfrm>
                </p:grpSpPr>
                <p:sp>
                  <p:nvSpPr>
                    <p:cNvPr id="23591" name="Rectangle 51"/>
                    <p:cNvSpPr>
                      <a:spLocks noChangeArrowheads="1"/>
                    </p:cNvSpPr>
                    <p:nvPr/>
                  </p:nvSpPr>
                  <p:spPr bwMode="auto">
                    <a:xfrm rot="5400000" flipH="1" flipV="1">
                      <a:off x="2344" y="2364"/>
                      <a:ext cx="204" cy="220"/>
                    </a:xfrm>
                    <a:prstGeom prst="rect">
                      <a:avLst/>
                    </a:prstGeom>
                    <a:solidFill>
                      <a:srgbClr val="3366FF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vert="eaVert" wrap="none" anchor="ctr"/>
                    <a:lstStyle>
                      <a:lvl1pPr>
                        <a:spcBef>
                          <a:spcPct val="20000"/>
                        </a:spcBef>
                        <a:buChar char="•"/>
                        <a:defRPr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7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endParaRPr lang="en-US" sz="200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3592" name="Rectangle 52"/>
                    <p:cNvSpPr>
                      <a:spLocks noChangeArrowheads="1"/>
                    </p:cNvSpPr>
                    <p:nvPr/>
                  </p:nvSpPr>
                  <p:spPr bwMode="auto">
                    <a:xfrm rot="16200000" flipV="1">
                      <a:off x="2126" y="2364"/>
                      <a:ext cx="204" cy="220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rot="10800000" vert="eaVert" wrap="none" anchor="ctr"/>
                    <a:lstStyle>
                      <a:lvl1pPr>
                        <a:spcBef>
                          <a:spcPct val="20000"/>
                        </a:spcBef>
                        <a:buChar char="•"/>
                        <a:defRPr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7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endParaRPr lang="en-US" sz="2000">
                        <a:latin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23589" name="Text Box 5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763" y="1218"/>
                    <a:ext cx="218" cy="27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5400" algn="ctr">
                        <a:solidFill>
                          <a:srgbClr val="000000"/>
                        </a:solidFill>
                        <a:miter lim="800000"/>
                        <a:headEnd/>
                        <a:tailEnd type="none" w="lg" len="lg"/>
                      </a14:hiddenLine>
                    </a:ext>
                  </a:extLst>
                </p:spPr>
                <p:txBody>
                  <a:bodyPr wrap="none" lIns="90000" tIns="82800" rIns="90000" bIns="82800" anchorCtr="1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FontTx/>
                      <a:buNone/>
                    </a:pPr>
                    <a:r>
                      <a:rPr lang="es-ES" sz="1800" b="1">
                        <a:solidFill>
                          <a:schemeClr val="bg1"/>
                        </a:solidFill>
                        <a:latin typeface="Arial" panose="020B0604020202020204" pitchFamily="34" charset="0"/>
                      </a:rPr>
                      <a:t>N</a:t>
                    </a:r>
                  </a:p>
                </p:txBody>
              </p:sp>
              <p:sp>
                <p:nvSpPr>
                  <p:cNvPr id="23590" name="Text Box 5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554" y="1222"/>
                    <a:ext cx="210" cy="27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5400" algn="ctr">
                        <a:solidFill>
                          <a:srgbClr val="000000"/>
                        </a:solidFill>
                        <a:miter lim="800000"/>
                        <a:headEnd/>
                        <a:tailEnd type="none" w="lg" len="lg"/>
                      </a14:hiddenLine>
                    </a:ext>
                  </a:extLst>
                </p:spPr>
                <p:txBody>
                  <a:bodyPr wrap="none" lIns="90000" tIns="82800" rIns="90000" bIns="82800" anchorCtr="1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FontTx/>
                      <a:buNone/>
                    </a:pPr>
                    <a:r>
                      <a:rPr lang="es-ES" sz="1800" b="1">
                        <a:solidFill>
                          <a:schemeClr val="bg1"/>
                        </a:solidFill>
                        <a:latin typeface="Arial" panose="020B0604020202020204" pitchFamily="34" charset="0"/>
                      </a:rPr>
                      <a:t>S</a:t>
                    </a:r>
                  </a:p>
                </p:txBody>
              </p:sp>
            </p:grpSp>
            <p:grpSp>
              <p:nvGrpSpPr>
                <p:cNvPr id="23576" name="Group 55"/>
                <p:cNvGrpSpPr>
                  <a:grpSpLocks/>
                </p:cNvGrpSpPr>
                <p:nvPr/>
              </p:nvGrpSpPr>
              <p:grpSpPr bwMode="auto">
                <a:xfrm>
                  <a:off x="5719" y="1707"/>
                  <a:ext cx="440" cy="281"/>
                  <a:chOff x="4541" y="1218"/>
                  <a:chExt cx="440" cy="281"/>
                </a:xfrm>
              </p:grpSpPr>
              <p:grpSp>
                <p:nvGrpSpPr>
                  <p:cNvPr id="23583" name="Group 56"/>
                  <p:cNvGrpSpPr>
                    <a:grpSpLocks/>
                  </p:cNvGrpSpPr>
                  <p:nvPr/>
                </p:nvGrpSpPr>
                <p:grpSpPr bwMode="auto">
                  <a:xfrm flipH="1">
                    <a:off x="4541" y="1256"/>
                    <a:ext cx="438" cy="204"/>
                    <a:chOff x="2118" y="2372"/>
                    <a:chExt cx="438" cy="204"/>
                  </a:xfrm>
                </p:grpSpPr>
                <p:sp>
                  <p:nvSpPr>
                    <p:cNvPr id="23586" name="Rectangle 57"/>
                    <p:cNvSpPr>
                      <a:spLocks noChangeArrowheads="1"/>
                    </p:cNvSpPr>
                    <p:nvPr/>
                  </p:nvSpPr>
                  <p:spPr bwMode="auto">
                    <a:xfrm rot="5400000" flipH="1" flipV="1">
                      <a:off x="2344" y="2364"/>
                      <a:ext cx="204" cy="220"/>
                    </a:xfrm>
                    <a:prstGeom prst="rect">
                      <a:avLst/>
                    </a:prstGeom>
                    <a:solidFill>
                      <a:srgbClr val="3366FF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vert="eaVert" wrap="none" anchor="ctr"/>
                    <a:lstStyle>
                      <a:lvl1pPr>
                        <a:spcBef>
                          <a:spcPct val="20000"/>
                        </a:spcBef>
                        <a:buChar char="•"/>
                        <a:defRPr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7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endParaRPr lang="en-US" sz="200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3587" name="Rectangle 58"/>
                    <p:cNvSpPr>
                      <a:spLocks noChangeArrowheads="1"/>
                    </p:cNvSpPr>
                    <p:nvPr/>
                  </p:nvSpPr>
                  <p:spPr bwMode="auto">
                    <a:xfrm rot="16200000" flipV="1">
                      <a:off x="2126" y="2364"/>
                      <a:ext cx="204" cy="220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rot="10800000" vert="eaVert" wrap="none" anchor="ctr"/>
                    <a:lstStyle>
                      <a:lvl1pPr>
                        <a:spcBef>
                          <a:spcPct val="20000"/>
                        </a:spcBef>
                        <a:buChar char="•"/>
                        <a:defRPr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7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endParaRPr lang="en-US" sz="2000">
                        <a:latin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23584" name="Text Box 5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763" y="1218"/>
                    <a:ext cx="218" cy="27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5400" algn="ctr">
                        <a:solidFill>
                          <a:srgbClr val="000000"/>
                        </a:solidFill>
                        <a:miter lim="800000"/>
                        <a:headEnd/>
                        <a:tailEnd type="none" w="lg" len="lg"/>
                      </a14:hiddenLine>
                    </a:ext>
                  </a:extLst>
                </p:spPr>
                <p:txBody>
                  <a:bodyPr wrap="none" lIns="90000" tIns="82800" rIns="90000" bIns="82800" anchorCtr="1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FontTx/>
                      <a:buNone/>
                    </a:pPr>
                    <a:r>
                      <a:rPr lang="es-ES" sz="1800" b="1">
                        <a:solidFill>
                          <a:schemeClr val="bg1"/>
                        </a:solidFill>
                        <a:latin typeface="Arial" panose="020B0604020202020204" pitchFamily="34" charset="0"/>
                      </a:rPr>
                      <a:t>N</a:t>
                    </a:r>
                  </a:p>
                </p:txBody>
              </p:sp>
              <p:sp>
                <p:nvSpPr>
                  <p:cNvPr id="23585" name="Text Box 6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554" y="1222"/>
                    <a:ext cx="210" cy="27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5400" algn="ctr">
                        <a:solidFill>
                          <a:srgbClr val="000000"/>
                        </a:solidFill>
                        <a:miter lim="800000"/>
                        <a:headEnd/>
                        <a:tailEnd type="none" w="lg" len="lg"/>
                      </a14:hiddenLine>
                    </a:ext>
                  </a:extLst>
                </p:spPr>
                <p:txBody>
                  <a:bodyPr wrap="none" lIns="90000" tIns="82800" rIns="90000" bIns="82800" anchorCtr="1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FontTx/>
                      <a:buNone/>
                    </a:pPr>
                    <a:r>
                      <a:rPr lang="es-ES" sz="1800" b="1">
                        <a:solidFill>
                          <a:schemeClr val="bg1"/>
                        </a:solidFill>
                        <a:latin typeface="Arial" panose="020B0604020202020204" pitchFamily="34" charset="0"/>
                      </a:rPr>
                      <a:t>S</a:t>
                    </a:r>
                  </a:p>
                </p:txBody>
              </p:sp>
            </p:grpSp>
            <p:grpSp>
              <p:nvGrpSpPr>
                <p:cNvPr id="23577" name="Group 61"/>
                <p:cNvGrpSpPr>
                  <a:grpSpLocks/>
                </p:cNvGrpSpPr>
                <p:nvPr/>
              </p:nvGrpSpPr>
              <p:grpSpPr bwMode="auto">
                <a:xfrm>
                  <a:off x="5715" y="2046"/>
                  <a:ext cx="440" cy="281"/>
                  <a:chOff x="4541" y="1218"/>
                  <a:chExt cx="440" cy="281"/>
                </a:xfrm>
              </p:grpSpPr>
              <p:grpSp>
                <p:nvGrpSpPr>
                  <p:cNvPr id="23578" name="Group 62"/>
                  <p:cNvGrpSpPr>
                    <a:grpSpLocks/>
                  </p:cNvGrpSpPr>
                  <p:nvPr/>
                </p:nvGrpSpPr>
                <p:grpSpPr bwMode="auto">
                  <a:xfrm flipH="1">
                    <a:off x="4541" y="1256"/>
                    <a:ext cx="438" cy="204"/>
                    <a:chOff x="2118" y="2372"/>
                    <a:chExt cx="438" cy="204"/>
                  </a:xfrm>
                </p:grpSpPr>
                <p:sp>
                  <p:nvSpPr>
                    <p:cNvPr id="23581" name="Rectangle 63"/>
                    <p:cNvSpPr>
                      <a:spLocks noChangeArrowheads="1"/>
                    </p:cNvSpPr>
                    <p:nvPr/>
                  </p:nvSpPr>
                  <p:spPr bwMode="auto">
                    <a:xfrm rot="5400000" flipH="1" flipV="1">
                      <a:off x="2344" y="2364"/>
                      <a:ext cx="204" cy="220"/>
                    </a:xfrm>
                    <a:prstGeom prst="rect">
                      <a:avLst/>
                    </a:prstGeom>
                    <a:solidFill>
                      <a:srgbClr val="3366FF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vert="eaVert" wrap="none" anchor="ctr"/>
                    <a:lstStyle>
                      <a:lvl1pPr>
                        <a:spcBef>
                          <a:spcPct val="20000"/>
                        </a:spcBef>
                        <a:buChar char="•"/>
                        <a:defRPr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7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endParaRPr lang="en-US" sz="200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3582" name="Rectangle 64"/>
                    <p:cNvSpPr>
                      <a:spLocks noChangeArrowheads="1"/>
                    </p:cNvSpPr>
                    <p:nvPr/>
                  </p:nvSpPr>
                  <p:spPr bwMode="auto">
                    <a:xfrm rot="16200000" flipV="1">
                      <a:off x="2126" y="2364"/>
                      <a:ext cx="204" cy="220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rot="10800000" vert="eaVert" wrap="none" anchor="ctr"/>
                    <a:lstStyle>
                      <a:lvl1pPr>
                        <a:spcBef>
                          <a:spcPct val="20000"/>
                        </a:spcBef>
                        <a:buChar char="•"/>
                        <a:defRPr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7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endParaRPr lang="en-US" sz="2000">
                        <a:latin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23579" name="Text Box 6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763" y="1218"/>
                    <a:ext cx="218" cy="27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5400" algn="ctr">
                        <a:solidFill>
                          <a:srgbClr val="000000"/>
                        </a:solidFill>
                        <a:miter lim="800000"/>
                        <a:headEnd/>
                        <a:tailEnd type="none" w="lg" len="lg"/>
                      </a14:hiddenLine>
                    </a:ext>
                  </a:extLst>
                </p:spPr>
                <p:txBody>
                  <a:bodyPr wrap="none" lIns="90000" tIns="82800" rIns="90000" bIns="82800" anchorCtr="1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FontTx/>
                      <a:buNone/>
                    </a:pPr>
                    <a:r>
                      <a:rPr lang="es-ES" sz="1800" b="1">
                        <a:solidFill>
                          <a:schemeClr val="bg1"/>
                        </a:solidFill>
                        <a:latin typeface="Arial" panose="020B0604020202020204" pitchFamily="34" charset="0"/>
                      </a:rPr>
                      <a:t>N</a:t>
                    </a:r>
                  </a:p>
                </p:txBody>
              </p:sp>
              <p:sp>
                <p:nvSpPr>
                  <p:cNvPr id="23580" name="Text Box 6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554" y="1222"/>
                    <a:ext cx="210" cy="27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5400" algn="ctr">
                        <a:solidFill>
                          <a:srgbClr val="000000"/>
                        </a:solidFill>
                        <a:miter lim="800000"/>
                        <a:headEnd/>
                        <a:tailEnd type="none" w="lg" len="lg"/>
                      </a14:hiddenLine>
                    </a:ext>
                  </a:extLst>
                </p:spPr>
                <p:txBody>
                  <a:bodyPr wrap="none" lIns="90000" tIns="82800" rIns="90000" bIns="82800" anchorCtr="1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FontTx/>
                      <a:buNone/>
                    </a:pPr>
                    <a:r>
                      <a:rPr lang="es-ES" sz="1800" b="1">
                        <a:solidFill>
                          <a:schemeClr val="bg1"/>
                        </a:solidFill>
                        <a:latin typeface="Arial" panose="020B0604020202020204" pitchFamily="34" charset="0"/>
                      </a:rPr>
                      <a:t>S</a:t>
                    </a:r>
                  </a:p>
                </p:txBody>
              </p:sp>
            </p:grpSp>
          </p:grpSp>
        </p:grpSp>
      </p:grpSp>
      <p:sp>
        <p:nvSpPr>
          <p:cNvPr id="5" name="Text Box 108"/>
          <p:cNvSpPr txBox="1">
            <a:spLocks noChangeArrowheads="1"/>
          </p:cNvSpPr>
          <p:nvPr/>
        </p:nvSpPr>
        <p:spPr bwMode="auto">
          <a:xfrm>
            <a:off x="1275751" y="3755949"/>
            <a:ext cx="2405063" cy="127476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 dirty="0">
                <a:latin typeface="Arial" panose="020B0604020202020204" pitchFamily="34" charset="0"/>
              </a:rPr>
              <a:t>Moléculas no son dipolos (</a:t>
            </a:r>
            <a:r>
              <a:rPr lang="es-ES" sz="2400" b="1" dirty="0" err="1">
                <a:latin typeface="Arial" panose="020B0604020202020204" pitchFamily="34" charset="0"/>
              </a:rPr>
              <a:t>B</a:t>
            </a:r>
            <a:r>
              <a:rPr lang="es-ES" sz="2400" baseline="-25000" dirty="0" err="1">
                <a:latin typeface="Arial" panose="020B0604020202020204" pitchFamily="34" charset="0"/>
              </a:rPr>
              <a:t>mag</a:t>
            </a:r>
            <a:r>
              <a:rPr lang="es-ES" sz="2400" dirty="0">
                <a:latin typeface="Arial" panose="020B0604020202020204" pitchFamily="34" charset="0"/>
              </a:rPr>
              <a:t> = </a:t>
            </a:r>
            <a:r>
              <a:rPr lang="es-ES" sz="2400" b="1" dirty="0">
                <a:latin typeface="Arial" panose="020B0604020202020204" pitchFamily="34" charset="0"/>
              </a:rPr>
              <a:t>0</a:t>
            </a:r>
            <a:r>
              <a:rPr lang="es-ES" sz="2400" dirty="0">
                <a:latin typeface="Arial" panose="020B0604020202020204" pitchFamily="34" charset="0"/>
              </a:rPr>
              <a:t>)</a:t>
            </a:r>
          </a:p>
        </p:txBody>
      </p:sp>
      <p:sp>
        <p:nvSpPr>
          <p:cNvPr id="93" name="Text Box 75"/>
          <p:cNvSpPr txBox="1">
            <a:spLocks noChangeArrowheads="1"/>
          </p:cNvSpPr>
          <p:nvPr/>
        </p:nvSpPr>
        <p:spPr bwMode="auto">
          <a:xfrm>
            <a:off x="2149483" y="5952471"/>
            <a:ext cx="7194265" cy="905881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Si el </a:t>
            </a:r>
            <a:r>
              <a:rPr lang="es-ES" sz="2400" b="1">
                <a:latin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s-ES" sz="2400" baseline="-25000">
                <a:latin typeface="Arial" panose="020B0604020202020204" pitchFamily="34" charset="0"/>
                <a:sym typeface="Symbol" panose="05050102010706020507" pitchFamily="18" charset="2"/>
              </a:rPr>
              <a:t>aplicado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crece, aumenta el </a:t>
            </a:r>
            <a:r>
              <a:rPr lang="es-ES" sz="2400" b="1">
                <a:latin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s-ES" sz="2400" baseline="-25000">
                <a:latin typeface="Arial" panose="020B0604020202020204" pitchFamily="34" charset="0"/>
                <a:sym typeface="Symbol" panose="05050102010706020507" pitchFamily="18" charset="2"/>
              </a:rPr>
              <a:t>inducido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. Si no varía, no varía. Si decrece, disminuye (se desinduce)</a:t>
            </a:r>
            <a:endParaRPr lang="es-ES" sz="2400" dirty="0">
              <a:solidFill>
                <a:srgbClr val="3333FF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0CF94331-B270-435D-A30C-0EB72669AFBB}"/>
              </a:ext>
            </a:extLst>
          </p:cNvPr>
          <p:cNvGrpSpPr/>
          <p:nvPr/>
        </p:nvGrpSpPr>
        <p:grpSpPr>
          <a:xfrm>
            <a:off x="1542936" y="1451792"/>
            <a:ext cx="1865671" cy="1611088"/>
            <a:chOff x="1723694" y="1451792"/>
            <a:chExt cx="1865671" cy="1611088"/>
          </a:xfrm>
        </p:grpSpPr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1ACEA0A6-1761-45C2-BAD9-3F80F7B4D0F5}"/>
                </a:ext>
              </a:extLst>
            </p:cNvPr>
            <p:cNvSpPr/>
            <p:nvPr/>
          </p:nvSpPr>
          <p:spPr bwMode="auto">
            <a:xfrm>
              <a:off x="1755227" y="1451792"/>
              <a:ext cx="360000" cy="360000"/>
            </a:xfrm>
            <a:prstGeom prst="ellipse">
              <a:avLst/>
            </a:prstGeom>
            <a:solidFill>
              <a:srgbClr val="008000"/>
            </a:solidFill>
            <a:ln w="254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none" lIns="90000" tIns="82800" rIns="90000" bIns="82800" numCol="1" rtlCol="0" anchor="t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89" name="Elipse 88">
              <a:extLst>
                <a:ext uri="{FF2B5EF4-FFF2-40B4-BE49-F238E27FC236}">
                  <a16:creationId xmlns:a16="http://schemas.microsoft.com/office/drawing/2014/main" id="{9593BFD3-C3CE-4B95-A804-DA6FAB1E61EE}"/>
                </a:ext>
              </a:extLst>
            </p:cNvPr>
            <p:cNvSpPr/>
            <p:nvPr/>
          </p:nvSpPr>
          <p:spPr bwMode="auto">
            <a:xfrm>
              <a:off x="2506834" y="1467187"/>
              <a:ext cx="360000" cy="360000"/>
            </a:xfrm>
            <a:prstGeom prst="ellipse">
              <a:avLst/>
            </a:prstGeom>
            <a:solidFill>
              <a:srgbClr val="008000"/>
            </a:solidFill>
            <a:ln w="254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none" lIns="90000" tIns="82800" rIns="90000" bIns="82800" numCol="1" rtlCol="0" anchor="t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90" name="Elipse 89">
              <a:extLst>
                <a:ext uri="{FF2B5EF4-FFF2-40B4-BE49-F238E27FC236}">
                  <a16:creationId xmlns:a16="http://schemas.microsoft.com/office/drawing/2014/main" id="{8A2F6DCD-FF29-40DF-B377-57B86A0B4B1D}"/>
                </a:ext>
              </a:extLst>
            </p:cNvPr>
            <p:cNvSpPr/>
            <p:nvPr/>
          </p:nvSpPr>
          <p:spPr bwMode="auto">
            <a:xfrm>
              <a:off x="3226672" y="1462300"/>
              <a:ext cx="360000" cy="360000"/>
            </a:xfrm>
            <a:prstGeom prst="ellipse">
              <a:avLst/>
            </a:prstGeom>
            <a:solidFill>
              <a:srgbClr val="008000"/>
            </a:solidFill>
            <a:ln w="254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none" lIns="90000" tIns="82800" rIns="90000" bIns="82800" numCol="1" rtlCol="0" anchor="t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91" name="Elipse 90">
              <a:extLst>
                <a:ext uri="{FF2B5EF4-FFF2-40B4-BE49-F238E27FC236}">
                  <a16:creationId xmlns:a16="http://schemas.microsoft.com/office/drawing/2014/main" id="{DB1007AE-3E6E-4BD5-8280-83D09378880E}"/>
                </a:ext>
              </a:extLst>
            </p:cNvPr>
            <p:cNvSpPr/>
            <p:nvPr/>
          </p:nvSpPr>
          <p:spPr bwMode="auto">
            <a:xfrm>
              <a:off x="2498768" y="2055514"/>
              <a:ext cx="360000" cy="360000"/>
            </a:xfrm>
            <a:prstGeom prst="ellipse">
              <a:avLst/>
            </a:prstGeom>
            <a:solidFill>
              <a:srgbClr val="008000"/>
            </a:solidFill>
            <a:ln w="254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none" lIns="90000" tIns="82800" rIns="90000" bIns="82800" numCol="1" rtlCol="0" anchor="t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92" name="Elipse 91">
              <a:extLst>
                <a:ext uri="{FF2B5EF4-FFF2-40B4-BE49-F238E27FC236}">
                  <a16:creationId xmlns:a16="http://schemas.microsoft.com/office/drawing/2014/main" id="{1088513B-1F3B-48C7-BF14-5C9F3709E3C7}"/>
                </a:ext>
              </a:extLst>
            </p:cNvPr>
            <p:cNvSpPr/>
            <p:nvPr/>
          </p:nvSpPr>
          <p:spPr bwMode="auto">
            <a:xfrm>
              <a:off x="2490824" y="2681492"/>
              <a:ext cx="360000" cy="360000"/>
            </a:xfrm>
            <a:prstGeom prst="ellipse">
              <a:avLst/>
            </a:prstGeom>
            <a:solidFill>
              <a:srgbClr val="008000"/>
            </a:solidFill>
            <a:ln w="254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none" lIns="90000" tIns="82800" rIns="90000" bIns="82800" numCol="1" rtlCol="0" anchor="t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94" name="Elipse 93">
              <a:extLst>
                <a:ext uri="{FF2B5EF4-FFF2-40B4-BE49-F238E27FC236}">
                  <a16:creationId xmlns:a16="http://schemas.microsoft.com/office/drawing/2014/main" id="{03C8DFD3-2660-42D3-B896-4FA8C96AD43E}"/>
                </a:ext>
              </a:extLst>
            </p:cNvPr>
            <p:cNvSpPr/>
            <p:nvPr/>
          </p:nvSpPr>
          <p:spPr bwMode="auto">
            <a:xfrm>
              <a:off x="3221416" y="2665728"/>
              <a:ext cx="360000" cy="360000"/>
            </a:xfrm>
            <a:prstGeom prst="ellipse">
              <a:avLst/>
            </a:prstGeom>
            <a:solidFill>
              <a:srgbClr val="008000"/>
            </a:solidFill>
            <a:ln w="254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none" lIns="90000" tIns="82800" rIns="90000" bIns="82800" numCol="1" rtlCol="0" anchor="t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95" name="Elipse 94">
              <a:extLst>
                <a:ext uri="{FF2B5EF4-FFF2-40B4-BE49-F238E27FC236}">
                  <a16:creationId xmlns:a16="http://schemas.microsoft.com/office/drawing/2014/main" id="{3B37E593-A486-43C4-869F-EE24225F09DE}"/>
                </a:ext>
              </a:extLst>
            </p:cNvPr>
            <p:cNvSpPr/>
            <p:nvPr/>
          </p:nvSpPr>
          <p:spPr bwMode="auto">
            <a:xfrm>
              <a:off x="3229365" y="2061383"/>
              <a:ext cx="360000" cy="360000"/>
            </a:xfrm>
            <a:prstGeom prst="ellipse">
              <a:avLst/>
            </a:prstGeom>
            <a:solidFill>
              <a:srgbClr val="008000"/>
            </a:solidFill>
            <a:ln w="254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none" lIns="90000" tIns="82800" rIns="90000" bIns="82800" numCol="1" rtlCol="0" anchor="t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96" name="Elipse 95">
              <a:extLst>
                <a:ext uri="{FF2B5EF4-FFF2-40B4-BE49-F238E27FC236}">
                  <a16:creationId xmlns:a16="http://schemas.microsoft.com/office/drawing/2014/main" id="{817FE34F-27C9-494F-9867-85CFE8EE701E}"/>
                </a:ext>
              </a:extLst>
            </p:cNvPr>
            <p:cNvSpPr/>
            <p:nvPr/>
          </p:nvSpPr>
          <p:spPr bwMode="auto">
            <a:xfrm>
              <a:off x="1741910" y="2056130"/>
              <a:ext cx="360000" cy="360000"/>
            </a:xfrm>
            <a:prstGeom prst="ellipse">
              <a:avLst/>
            </a:prstGeom>
            <a:solidFill>
              <a:srgbClr val="008000"/>
            </a:solidFill>
            <a:ln w="254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none" lIns="90000" tIns="82800" rIns="90000" bIns="82800" numCol="1" rtlCol="0" anchor="t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97" name="Elipse 96">
              <a:extLst>
                <a:ext uri="{FF2B5EF4-FFF2-40B4-BE49-F238E27FC236}">
                  <a16:creationId xmlns:a16="http://schemas.microsoft.com/office/drawing/2014/main" id="{3407CB03-A65C-426D-9614-73D7085970C5}"/>
                </a:ext>
              </a:extLst>
            </p:cNvPr>
            <p:cNvSpPr/>
            <p:nvPr/>
          </p:nvSpPr>
          <p:spPr bwMode="auto">
            <a:xfrm>
              <a:off x="1723694" y="2702880"/>
              <a:ext cx="360000" cy="360000"/>
            </a:xfrm>
            <a:prstGeom prst="ellipse">
              <a:avLst/>
            </a:prstGeom>
            <a:solidFill>
              <a:srgbClr val="008000"/>
            </a:solidFill>
            <a:ln w="254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none" lIns="90000" tIns="82800" rIns="90000" bIns="82800" numCol="1" rtlCol="0" anchor="t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86" name="Text Box 65">
            <a:extLst>
              <a:ext uri="{FF2B5EF4-FFF2-40B4-BE49-F238E27FC236}">
                <a16:creationId xmlns:a16="http://schemas.microsoft.com/office/drawing/2014/main" id="{8A5137A7-07EE-4E96-9DC2-BE2EBA47F6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8230" y="3089224"/>
            <a:ext cx="2243931" cy="680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ts val="2000"/>
              </a:lnSpc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(se transforma en un imán)</a:t>
            </a:r>
          </a:p>
        </p:txBody>
      </p:sp>
      <p:sp>
        <p:nvSpPr>
          <p:cNvPr id="100" name="Forma libre 2">
            <a:extLst>
              <a:ext uri="{FF2B5EF4-FFF2-40B4-BE49-F238E27FC236}">
                <a16:creationId xmlns:a16="http://schemas.microsoft.com/office/drawing/2014/main" id="{AEC4F165-57C1-4B17-B82A-A148933AB892}"/>
              </a:ext>
            </a:extLst>
          </p:cNvPr>
          <p:cNvSpPr/>
          <p:nvPr/>
        </p:nvSpPr>
        <p:spPr bwMode="auto">
          <a:xfrm>
            <a:off x="9930572" y="2717530"/>
            <a:ext cx="440390" cy="2839207"/>
          </a:xfrm>
          <a:custGeom>
            <a:avLst/>
            <a:gdLst>
              <a:gd name="connsiteX0" fmla="*/ 490194 w 744718"/>
              <a:gd name="connsiteY0" fmla="*/ 0 h 1369337"/>
              <a:gd name="connsiteX1" fmla="*/ 744718 w 744718"/>
              <a:gd name="connsiteY1" fmla="*/ 735291 h 1369337"/>
              <a:gd name="connsiteX2" fmla="*/ 490194 w 744718"/>
              <a:gd name="connsiteY2" fmla="*/ 1272619 h 1369337"/>
              <a:gd name="connsiteX3" fmla="*/ 0 w 744718"/>
              <a:gd name="connsiteY3" fmla="*/ 1366887 h 1369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4718" h="1369337">
                <a:moveTo>
                  <a:pt x="490194" y="0"/>
                </a:moveTo>
                <a:cubicBezTo>
                  <a:pt x="617456" y="261594"/>
                  <a:pt x="744718" y="523188"/>
                  <a:pt x="744718" y="735291"/>
                </a:cubicBezTo>
                <a:cubicBezTo>
                  <a:pt x="744718" y="947394"/>
                  <a:pt x="614314" y="1167353"/>
                  <a:pt x="490194" y="1272619"/>
                </a:cubicBezTo>
                <a:cubicBezTo>
                  <a:pt x="366074" y="1377885"/>
                  <a:pt x="183037" y="1372386"/>
                  <a:pt x="0" y="1366887"/>
                </a:cubicBezTo>
              </a:path>
            </a:pathLst>
          </a:custGeom>
          <a:noFill/>
          <a:ln w="38100" cap="flat" cmpd="sng" algn="ctr">
            <a:solidFill>
              <a:srgbClr val="008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0000" tIns="82800" rIns="90000" bIns="82800" numCol="1" rtlCol="0" anchor="t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000" b="0" i="0" u="none" strike="noStrike" cap="none" normalizeH="0" baseline="-2500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36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23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3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769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769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769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98" grpId="0" animBg="1"/>
      <p:bldP spid="769091" grpId="0" animBg="1"/>
      <p:bldP spid="769097" grpId="0" animBg="1"/>
      <p:bldP spid="769099" grpId="0" animBg="1"/>
      <p:bldP spid="23647" grpId="0" animBg="1"/>
      <p:bldP spid="4" grpId="0" animBg="1"/>
      <p:bldP spid="5" grpId="0" animBg="1"/>
      <p:bldP spid="93" grpId="0" animBg="1"/>
      <p:bldP spid="86" grpId="0"/>
      <p:bldP spid="10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8" name="Text Box 68"/>
          <p:cNvSpPr txBox="1">
            <a:spLocks noChangeArrowheads="1"/>
          </p:cNvSpPr>
          <p:nvPr/>
        </p:nvSpPr>
        <p:spPr bwMode="auto">
          <a:xfrm>
            <a:off x="4330966" y="359057"/>
            <a:ext cx="4609121" cy="905881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Su comportamiento recuerda al de moléculas no polares</a:t>
            </a:r>
          </a:p>
        </p:txBody>
      </p:sp>
      <p:grpSp>
        <p:nvGrpSpPr>
          <p:cNvPr id="5" name="Grupo 4"/>
          <p:cNvGrpSpPr>
            <a:grpSpLocks/>
          </p:cNvGrpSpPr>
          <p:nvPr/>
        </p:nvGrpSpPr>
        <p:grpSpPr bwMode="auto">
          <a:xfrm>
            <a:off x="1361121" y="4238217"/>
            <a:ext cx="3013377" cy="565340"/>
            <a:chOff x="1551264" y="4825812"/>
            <a:chExt cx="2490340" cy="565312"/>
          </a:xfrm>
        </p:grpSpPr>
        <p:sp>
          <p:nvSpPr>
            <p:cNvPr id="25609" name="Rectángulo 1"/>
            <p:cNvSpPr>
              <a:spLocks noChangeArrowheads="1"/>
            </p:cNvSpPr>
            <p:nvPr/>
          </p:nvSpPr>
          <p:spPr bwMode="auto">
            <a:xfrm>
              <a:off x="1885361" y="4825812"/>
              <a:ext cx="2017336" cy="540141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defRPr sz="2000">
                  <a:solidFill>
                    <a:srgbClr val="3333FF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3333FF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3333FF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3333FF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3333FF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FF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FF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FF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FF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baseline="-25000">
                <a:solidFill>
                  <a:srgbClr val="000000"/>
                </a:solidFill>
              </a:endParaRPr>
            </a:p>
          </p:txBody>
        </p:sp>
        <p:sp>
          <p:nvSpPr>
            <p:cNvPr id="25610" name="Text Box 81"/>
            <p:cNvSpPr txBox="1">
              <a:spLocks noChangeArrowheads="1"/>
            </p:cNvSpPr>
            <p:nvPr/>
          </p:nvSpPr>
          <p:spPr bwMode="auto">
            <a:xfrm>
              <a:off x="1551264" y="4854602"/>
              <a:ext cx="2490340" cy="5365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  <a:sym typeface="Symbol" panose="05050102010706020507" pitchFamily="18" charset="2"/>
                </a:rPr>
                <a:t>  Efecto </a:t>
              </a:r>
              <a:r>
                <a:rPr lang="es-ES" sz="2400" dirty="0">
                  <a:latin typeface="Arial" panose="020B0604020202020204" pitchFamily="34" charset="0"/>
                  <a:sym typeface="Symbol" panose="05050102010706020507" pitchFamily="18" charset="2"/>
                </a:rPr>
                <a:t>muy débil:</a:t>
              </a:r>
              <a:endParaRPr lang="es-ES" sz="2800" dirty="0"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</p:grpSp>
      <p:grpSp>
        <p:nvGrpSpPr>
          <p:cNvPr id="2" name="Grupo 1"/>
          <p:cNvGrpSpPr/>
          <p:nvPr/>
        </p:nvGrpSpPr>
        <p:grpSpPr>
          <a:xfrm>
            <a:off x="1254351" y="3102447"/>
            <a:ext cx="5722920" cy="536549"/>
            <a:chOff x="1253703" y="1731192"/>
            <a:chExt cx="5722920" cy="536549"/>
          </a:xfrm>
        </p:grpSpPr>
        <p:sp>
          <p:nvSpPr>
            <p:cNvPr id="13" name="Rectángulo 1"/>
            <p:cNvSpPr>
              <a:spLocks noChangeArrowheads="1"/>
            </p:cNvSpPr>
            <p:nvPr/>
          </p:nvSpPr>
          <p:spPr bwMode="auto">
            <a:xfrm>
              <a:off x="1815745" y="1754128"/>
              <a:ext cx="4973290" cy="491061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square" lIns="90000" tIns="82800" rIns="90000" bIns="82800" anchorCtr="1">
              <a:spAutoFit/>
            </a:bodyPr>
            <a:lstStyle>
              <a:lvl1pPr>
                <a:defRPr sz="2000">
                  <a:solidFill>
                    <a:srgbClr val="3333FF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3333FF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3333FF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3333FF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3333FF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FF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FF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FF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FF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baseline="-25000">
                <a:solidFill>
                  <a:srgbClr val="000000"/>
                </a:solidFill>
              </a:endParaRPr>
            </a:p>
          </p:txBody>
        </p:sp>
        <p:sp>
          <p:nvSpPr>
            <p:cNvPr id="16" name="Text Box 74"/>
            <p:cNvSpPr txBox="1">
              <a:spLocks noChangeArrowheads="1"/>
            </p:cNvSpPr>
            <p:nvPr/>
          </p:nvSpPr>
          <p:spPr bwMode="auto">
            <a:xfrm>
              <a:off x="1253703" y="1731192"/>
              <a:ext cx="5722920" cy="536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54000" tIns="82800" rIns="54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342900" indent="-342900" eaLnBrk="1" hangingPunct="1">
                <a:spcBef>
                  <a:spcPts val="0"/>
                </a:spcBef>
                <a:buFont typeface="Symbol" panose="05050102010706020507" pitchFamily="18" charset="2"/>
                <a:buChar char="·"/>
              </a:pPr>
              <a:r>
                <a:rPr lang="es-ES" sz="2400" dirty="0">
                  <a:latin typeface="Arial" panose="020B0604020202020204" pitchFamily="34" charset="0"/>
                  <a:sym typeface="Symbol" panose="05050102010706020507" pitchFamily="18" charset="2"/>
                </a:rPr>
                <a:t>Repelen al imán que los magnetiza</a:t>
              </a:r>
            </a:p>
          </p:txBody>
        </p:sp>
      </p:grpSp>
      <p:sp>
        <p:nvSpPr>
          <p:cNvPr id="18" name="Text Box 74"/>
          <p:cNvSpPr txBox="1">
            <a:spLocks noChangeArrowheads="1"/>
          </p:cNvSpPr>
          <p:nvPr/>
        </p:nvSpPr>
        <p:spPr bwMode="auto">
          <a:xfrm>
            <a:off x="3977297" y="1373506"/>
            <a:ext cx="5890366" cy="536549"/>
          </a:xfrm>
          <a:prstGeom prst="rect">
            <a:avLst/>
          </a:prstGeom>
          <a:noFill/>
          <a:ln>
            <a:noFill/>
          </a:ln>
        </p:spPr>
        <p:txBody>
          <a:bodyPr wrap="square" lIns="54000" tIns="82800" rIns="54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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La interacción magnética se debilita</a:t>
            </a:r>
          </a:p>
        </p:txBody>
      </p:sp>
      <p:sp>
        <p:nvSpPr>
          <p:cNvPr id="24" name="Text Box 69"/>
          <p:cNvSpPr txBox="1">
            <a:spLocks noChangeArrowheads="1"/>
          </p:cNvSpPr>
          <p:nvPr/>
        </p:nvSpPr>
        <p:spPr bwMode="auto">
          <a:xfrm>
            <a:off x="4018549" y="2391670"/>
            <a:ext cx="3986147" cy="598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</a:t>
            </a:r>
            <a:r>
              <a:rPr lang="es-ES" sz="2800" dirty="0">
                <a:latin typeface="Arial" panose="020B0604020202020204" pitchFamily="34" charset="0"/>
                <a:sym typeface="Symbol" panose="05050102010706020507" pitchFamily="18" charset="2"/>
              </a:rPr>
              <a:t>   &lt; </a:t>
            </a:r>
            <a:r>
              <a:rPr lang="es-ES" sz="2800" baseline="-25000" dirty="0">
                <a:latin typeface="Arial" panose="020B0604020202020204" pitchFamily="34" charset="0"/>
                <a:sym typeface="Symbol" panose="05050102010706020507" pitchFamily="18" charset="2"/>
              </a:rPr>
              <a:t>0  </a:t>
            </a:r>
            <a:r>
              <a:rPr lang="es-ES" sz="2800" dirty="0">
                <a:latin typeface="Arial" panose="020B0604020202020204" pitchFamily="34" charset="0"/>
                <a:sym typeface="Symbol" panose="05050102010706020507" pitchFamily="18" charset="2"/>
              </a:rPr>
              <a:t>(</a:t>
            </a:r>
            <a:r>
              <a:rPr lang="es-ES" sz="2800" baseline="-25000" dirty="0">
                <a:latin typeface="Arial" panose="020B0604020202020204" pitchFamily="34" charset="0"/>
                <a:sym typeface="Symbol" panose="05050102010706020507" pitchFamily="18" charset="2"/>
              </a:rPr>
              <a:t>relativa</a:t>
            </a:r>
            <a:r>
              <a:rPr lang="es-ES" sz="2800" dirty="0">
                <a:latin typeface="Arial" panose="020B0604020202020204" pitchFamily="34" charset="0"/>
                <a:sym typeface="Symbol" panose="05050102010706020507" pitchFamily="18" charset="2"/>
              </a:rPr>
              <a:t> &lt; 1)</a:t>
            </a:r>
          </a:p>
        </p:txBody>
      </p:sp>
      <p:sp>
        <p:nvSpPr>
          <p:cNvPr id="27" name="Text Box 81"/>
          <p:cNvSpPr txBox="1">
            <a:spLocks noChangeArrowheads="1"/>
          </p:cNvSpPr>
          <p:nvPr/>
        </p:nvSpPr>
        <p:spPr bwMode="auto">
          <a:xfrm>
            <a:off x="4295544" y="4252025"/>
            <a:ext cx="1897385" cy="53654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 err="1">
                <a:latin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s-ES" sz="2400" baseline="-25000" dirty="0" err="1">
                <a:latin typeface="Arial" panose="020B0604020202020204" pitchFamily="34" charset="0"/>
                <a:sym typeface="Symbol" panose="05050102010706020507" pitchFamily="18" charset="2"/>
              </a:rPr>
              <a:t>mag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&lt;&lt; </a:t>
            </a:r>
            <a:r>
              <a:rPr lang="es-ES" sz="2400" dirty="0" err="1">
                <a:latin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s-ES" sz="2400" baseline="-25000" dirty="0" err="1">
                <a:latin typeface="Arial" panose="020B0604020202020204" pitchFamily="34" charset="0"/>
                <a:sym typeface="Symbol" panose="05050102010706020507" pitchFamily="18" charset="2"/>
              </a:rPr>
              <a:t>apl</a:t>
            </a:r>
            <a:endParaRPr lang="es-ES" sz="28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7" name="Text Box 83">
            <a:extLst>
              <a:ext uri="{FF2B5EF4-FFF2-40B4-BE49-F238E27FC236}">
                <a16:creationId xmlns:a16="http://schemas.microsoft.com/office/drawing/2014/main" id="{35E22AAD-4705-45F1-B4F6-03C967D1D0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9785" y="341027"/>
            <a:ext cx="2224089" cy="558799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cs typeface="Arial" panose="020B0604020202020204" pitchFamily="34" charset="0"/>
              </a:rPr>
              <a:t>Diamagnéticos</a:t>
            </a:r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F7407A24-8DB9-4B33-91B8-F40F343663EB}"/>
              </a:ext>
            </a:extLst>
          </p:cNvPr>
          <p:cNvGrpSpPr/>
          <p:nvPr/>
        </p:nvGrpSpPr>
        <p:grpSpPr>
          <a:xfrm>
            <a:off x="1287240" y="1318593"/>
            <a:ext cx="3023695" cy="598709"/>
            <a:chOff x="1299968" y="3472715"/>
            <a:chExt cx="3023695" cy="598709"/>
          </a:xfrm>
        </p:grpSpPr>
        <p:sp>
          <p:nvSpPr>
            <p:cNvPr id="20" name="Rectángulo 1">
              <a:extLst>
                <a:ext uri="{FF2B5EF4-FFF2-40B4-BE49-F238E27FC236}">
                  <a16:creationId xmlns:a16="http://schemas.microsoft.com/office/drawing/2014/main" id="{4877292B-9126-4E0E-A63C-FC5489ECA3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858" y="3531257"/>
              <a:ext cx="2328128" cy="54016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square" lIns="90000" tIns="82800" rIns="90000" bIns="82800" anchorCtr="1">
              <a:spAutoFit/>
            </a:bodyPr>
            <a:lstStyle>
              <a:lvl1pPr>
                <a:defRPr sz="2000">
                  <a:solidFill>
                    <a:srgbClr val="3333FF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3333FF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3333FF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3333FF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3333FF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FF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FF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FF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FF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baseline="-25000">
                <a:solidFill>
                  <a:srgbClr val="000000"/>
                </a:solidFill>
              </a:endParaRPr>
            </a:p>
          </p:txBody>
        </p:sp>
        <p:sp>
          <p:nvSpPr>
            <p:cNvPr id="21" name="Text Box 69">
              <a:extLst>
                <a:ext uri="{FF2B5EF4-FFF2-40B4-BE49-F238E27FC236}">
                  <a16:creationId xmlns:a16="http://schemas.microsoft.com/office/drawing/2014/main" id="{483F994F-5383-49C7-A6A6-8202DE8D83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9968" y="3472715"/>
              <a:ext cx="3023695" cy="5981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 </a:t>
              </a:r>
              <a:r>
                <a:rPr lang="es-ES" sz="2800" dirty="0" err="1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B</a:t>
              </a:r>
              <a:r>
                <a:rPr lang="es-ES" sz="2800" baseline="-25000" dirty="0" err="1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total</a:t>
              </a:r>
              <a:r>
                <a:rPr lang="es-ES" sz="28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&lt; </a:t>
              </a:r>
              <a:r>
                <a:rPr lang="es-ES" sz="2800" dirty="0" err="1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B</a:t>
              </a:r>
              <a:r>
                <a:rPr lang="es-ES" sz="2800" baseline="-25000" dirty="0" err="1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aplicado</a:t>
              </a:r>
              <a:endParaRPr lang="es-ES" sz="28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</p:grpSp>
      <p:sp>
        <p:nvSpPr>
          <p:cNvPr id="22" name="Text Box 74">
            <a:extLst>
              <a:ext uri="{FF2B5EF4-FFF2-40B4-BE49-F238E27FC236}">
                <a16:creationId xmlns:a16="http://schemas.microsoft.com/office/drawing/2014/main" id="{2F032002-5A51-4938-9AD1-FB90DEC0BF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4051" y="1904464"/>
            <a:ext cx="7858314" cy="536549"/>
          </a:xfrm>
          <a:prstGeom prst="rect">
            <a:avLst/>
          </a:prstGeom>
          <a:noFill/>
          <a:ln>
            <a:noFill/>
          </a:ln>
        </p:spPr>
        <p:txBody>
          <a:bodyPr wrap="square" lIns="54000" tIns="82800" rIns="54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</a:pP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Los para y ferromagnéticos la refuerzan (</a:t>
            </a:r>
            <a:r>
              <a:rPr lang="es-ES" sz="2400" dirty="0" err="1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s-ES" sz="2400" baseline="-25000" dirty="0" err="1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total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&gt; </a:t>
            </a:r>
            <a:r>
              <a:rPr lang="es-ES" sz="2400" dirty="0" err="1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s-ES" sz="2400" baseline="-25000" dirty="0" err="1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aplicado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)</a:t>
            </a:r>
          </a:p>
        </p:txBody>
      </p:sp>
      <p:sp>
        <p:nvSpPr>
          <p:cNvPr id="26" name="Text Box 74">
            <a:extLst>
              <a:ext uri="{FF2B5EF4-FFF2-40B4-BE49-F238E27FC236}">
                <a16:creationId xmlns:a16="http://schemas.microsoft.com/office/drawing/2014/main" id="{A0301BF2-3BBC-4633-8396-4745DC70BA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0820" y="3611829"/>
            <a:ext cx="5969949" cy="536549"/>
          </a:xfrm>
          <a:prstGeom prst="rect">
            <a:avLst/>
          </a:prstGeom>
          <a:noFill/>
          <a:ln>
            <a:noFill/>
          </a:ln>
        </p:spPr>
        <p:txBody>
          <a:bodyPr wrap="square" lIns="54000" tIns="82800" rIns="54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</a:pP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Los para y ferromagnéticos lo atraen</a:t>
            </a:r>
          </a:p>
        </p:txBody>
      </p:sp>
      <p:sp>
        <p:nvSpPr>
          <p:cNvPr id="23" name="Text Box 81">
            <a:extLst>
              <a:ext uri="{FF2B5EF4-FFF2-40B4-BE49-F238E27FC236}">
                <a16:creationId xmlns:a16="http://schemas.microsoft.com/office/drawing/2014/main" id="{450F6254-5809-4E97-8B6E-3EBF1F81A7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8649" y="4245741"/>
            <a:ext cx="2692896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   </a:t>
            </a:r>
            <a:r>
              <a:rPr lang="es-ES" sz="2400" dirty="0" err="1">
                <a:latin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s-ES" sz="2400" baseline="-25000" dirty="0" err="1">
                <a:latin typeface="Arial" panose="020B0604020202020204" pitchFamily="34" charset="0"/>
                <a:sym typeface="Symbol" panose="05050102010706020507" pitchFamily="18" charset="2"/>
              </a:rPr>
              <a:t>total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 </a:t>
            </a:r>
            <a:r>
              <a:rPr lang="es-ES" sz="2400" dirty="0" err="1">
                <a:latin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s-ES" sz="2400" baseline="-25000" dirty="0" err="1">
                <a:latin typeface="Arial" panose="020B0604020202020204" pitchFamily="34" charset="0"/>
                <a:sym typeface="Symbol" panose="05050102010706020507" pitchFamily="18" charset="2"/>
              </a:rPr>
              <a:t>apl</a:t>
            </a:r>
            <a:endParaRPr lang="es-ES" sz="28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5" name="Text Box 81">
            <a:extLst>
              <a:ext uri="{FF2B5EF4-FFF2-40B4-BE49-F238E27FC236}">
                <a16:creationId xmlns:a16="http://schemas.microsoft.com/office/drawing/2014/main" id="{C8C281EE-5278-4AD9-A681-8A33068F92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3802" y="4186815"/>
            <a:ext cx="2106036" cy="598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   </a:t>
            </a:r>
            <a:r>
              <a:rPr lang="es-ES" sz="2800" dirty="0">
                <a:latin typeface="Arial" panose="020B0604020202020204" pitchFamily="34" charset="0"/>
                <a:sym typeface="Symbol" panose="05050102010706020507" pitchFamily="18" charset="2"/>
              </a:rPr>
              <a:t>  </a:t>
            </a:r>
            <a:r>
              <a:rPr lang="es-ES" sz="2800" baseline="-25000" dirty="0">
                <a:latin typeface="Arial" panose="020B0604020202020204" pitchFamily="34" charset="0"/>
                <a:sym typeface="Symbol" panose="05050102010706020507" pitchFamily="18" charset="2"/>
              </a:rPr>
              <a:t>0</a:t>
            </a:r>
            <a:endParaRPr lang="es-ES" sz="28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8" name="Text Box 105">
            <a:extLst>
              <a:ext uri="{FF2B5EF4-FFF2-40B4-BE49-F238E27FC236}">
                <a16:creationId xmlns:a16="http://schemas.microsoft.com/office/drawing/2014/main" id="{818B8EA6-7A31-48D6-B387-117F521AB0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5986" y="5045256"/>
            <a:ext cx="9003671" cy="2064769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144000" tIns="108000" rIns="144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ts val="0"/>
              </a:spcBef>
              <a:buNone/>
              <a:defRPr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Esta debilidad hace que lo que se perciba en la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vida cotidiana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en tanto a lo magnético sea el ferromagnetismo y que digamos que lo magnético se refuerza en la materia. No obstante,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si T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crece lo suficiente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, no se consigue orientar ningún dipolo y todo material es diamagnético, sólo tiene esa contribución a su B</a:t>
            </a:r>
            <a:r>
              <a:rPr lang="es-ES" sz="2400" baseline="-25000">
                <a:latin typeface="Arial" panose="020B0604020202020204" pitchFamily="34" charset="0"/>
                <a:sym typeface="Symbol" panose="05050102010706020507" pitchFamily="18" charset="2"/>
              </a:rPr>
              <a:t>mag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endParaRPr lang="es-ES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7886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8" grpId="0" animBg="1"/>
      <p:bldP spid="18" grpId="0"/>
      <p:bldP spid="24" grpId="0"/>
      <p:bldP spid="27" grpId="0" animBg="1"/>
      <p:bldP spid="22" grpId="0"/>
      <p:bldP spid="26" grpId="0"/>
      <p:bldP spid="23" grpId="0"/>
      <p:bldP spid="25" grpId="0"/>
      <p:bldP spid="2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403" name="Text Box 3"/>
          <p:cNvSpPr txBox="1">
            <a:spLocks noChangeArrowheads="1"/>
          </p:cNvSpPr>
          <p:nvPr/>
        </p:nvSpPr>
        <p:spPr bwMode="auto">
          <a:xfrm>
            <a:off x="1807533" y="4362844"/>
            <a:ext cx="7921257" cy="2434101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wrap="square" lIns="180000" tIns="108000" rIns="180000" bIns="108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El </a:t>
            </a:r>
            <a:r>
              <a:rPr lang="es-ES" sz="2400" b="1">
                <a:latin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s-ES" sz="2400" baseline="-25000">
                <a:latin typeface="Arial" panose="020B0604020202020204" pitchFamily="34" charset="0"/>
                <a:sym typeface="Symbol" panose="05050102010706020507" pitchFamily="18" charset="2"/>
              </a:rPr>
              <a:t>total,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mientras haya </a:t>
            </a:r>
            <a:r>
              <a:rPr lang="es-ES" sz="2400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sz="2400" baseline="-25000">
                <a:latin typeface="Arial" panose="020B0604020202020204" pitchFamily="34" charset="0"/>
                <a:sym typeface="Symbol" panose="05050102010706020507" pitchFamily="18" charset="2"/>
              </a:rPr>
              <a:t>inducida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, será mayor o menor que el </a:t>
            </a:r>
            <a:r>
              <a:rPr lang="es-ES" sz="2400" b="1">
                <a:latin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s-ES" sz="2400" baseline="-25000">
                <a:latin typeface="Arial" panose="020B0604020202020204" pitchFamily="34" charset="0"/>
                <a:sym typeface="Symbol" panose="05050102010706020507" pitchFamily="18" charset="2"/>
              </a:rPr>
              <a:t>apl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, según el sentido del </a:t>
            </a:r>
            <a:r>
              <a:rPr lang="es-ES" sz="2400" b="1">
                <a:latin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s-ES" sz="2400" baseline="-25000">
                <a:latin typeface="Arial" panose="020B0604020202020204" pitchFamily="34" charset="0"/>
                <a:sym typeface="Symbol" panose="05050102010706020507" pitchFamily="18" charset="2"/>
              </a:rPr>
              <a:t>interior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(como vimos al ver la ley de Lenz). Si es menor, por tener sentidos contrarios, se ve que nunca se anula, como sí ocurre si se aplica un </a:t>
            </a:r>
            <a:r>
              <a:rPr lang="es-ES" sz="2400" b="1">
                <a:latin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. Por tanto,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el material siente siempre un </a:t>
            </a:r>
            <a:r>
              <a:rPr lang="es-ES" sz="2400" b="1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s-ES" sz="2400" baseline="-250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apl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, varíe o no, y muestra su comportamiento magnético</a:t>
            </a:r>
            <a:endParaRPr lang="es-ES" sz="24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1807533" y="1129316"/>
            <a:ext cx="7921257" cy="132610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txBody>
          <a:bodyPr wrap="square" lIns="108000" tIns="108000" rIns="108000" bIns="108000" anchor="ctr" anchorCtr="1">
            <a:spAutoFit/>
          </a:bodyPr>
          <a:lstStyle/>
          <a:p>
            <a:pPr algn="ctr">
              <a:defRPr/>
            </a:pPr>
            <a:r>
              <a:rPr lang="es-ES" sz="2400">
                <a:solidFill>
                  <a:schemeClr val="tx1"/>
                </a:solidFill>
              </a:rPr>
              <a:t>Lo visto se puede aplicar a un </a:t>
            </a:r>
            <a:r>
              <a:rPr lang="es-ES" sz="2400">
                <a:solidFill>
                  <a:srgbClr val="3333FF"/>
                </a:solidFill>
              </a:rPr>
              <a:t>aislante</a:t>
            </a:r>
            <a:r>
              <a:rPr lang="es-ES" sz="2400">
                <a:solidFill>
                  <a:schemeClr val="tx1"/>
                </a:solidFill>
              </a:rPr>
              <a:t>, pero, ¿qué pasa en un </a:t>
            </a:r>
            <a:r>
              <a:rPr lang="es-ES" sz="2400">
                <a:solidFill>
                  <a:srgbClr val="3333FF"/>
                </a:solidFill>
              </a:rPr>
              <a:t>conductor</a:t>
            </a:r>
            <a:r>
              <a:rPr lang="es-ES" sz="2400">
                <a:solidFill>
                  <a:schemeClr val="tx1"/>
                </a:solidFill>
              </a:rPr>
              <a:t> donde no sólo hay electrones en las moléculas, sino también moviéndose por el material?</a:t>
            </a:r>
          </a:p>
        </p:txBody>
      </p:sp>
      <p:sp>
        <p:nvSpPr>
          <p:cNvPr id="7" name="CuadroTexto 6"/>
          <p:cNvSpPr txBox="1">
            <a:spLocks noChangeArrowheads="1"/>
          </p:cNvSpPr>
          <p:nvPr/>
        </p:nvSpPr>
        <p:spPr bwMode="auto">
          <a:xfrm>
            <a:off x="1807533" y="2611243"/>
            <a:ext cx="7921257" cy="15696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>
            <a:spAutoFit/>
          </a:bodyPr>
          <a:lstStyle>
            <a:lvl1pPr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" sz="2400" dirty="0">
                <a:solidFill>
                  <a:schemeClr val="tx1"/>
                </a:solidFill>
              </a:rPr>
              <a:t>En un conductor si hay una variación de </a:t>
            </a:r>
            <a:r>
              <a:rPr lang="es-ES" sz="2400" b="1" dirty="0">
                <a:solidFill>
                  <a:schemeClr val="tx1"/>
                </a:solidFill>
              </a:rPr>
              <a:t>B</a:t>
            </a:r>
            <a:r>
              <a:rPr lang="es-ES" sz="2400" dirty="0">
                <a:solidFill>
                  <a:schemeClr val="tx1"/>
                </a:solidFill>
              </a:rPr>
              <a:t>, se generan </a:t>
            </a:r>
            <a:r>
              <a:rPr lang="es-ES" sz="2400" dirty="0"/>
              <a:t>corrientes inducidas </a:t>
            </a:r>
            <a:r>
              <a:rPr lang="es-ES" sz="2400" dirty="0">
                <a:solidFill>
                  <a:schemeClr val="tx1"/>
                </a:solidFill>
              </a:rPr>
              <a:t>con un </a:t>
            </a:r>
            <a:r>
              <a:rPr lang="es-ES" sz="2400" b="1" dirty="0" err="1">
                <a:solidFill>
                  <a:schemeClr val="tx1"/>
                </a:solidFill>
              </a:rPr>
              <a:t>B</a:t>
            </a:r>
            <a:r>
              <a:rPr lang="es-ES" sz="2400" baseline="-25000" dirty="0" err="1">
                <a:solidFill>
                  <a:schemeClr val="tx1"/>
                </a:solidFill>
              </a:rPr>
              <a:t>interior</a:t>
            </a:r>
            <a:r>
              <a:rPr lang="es-ES" sz="2400" dirty="0">
                <a:solidFill>
                  <a:schemeClr val="tx1"/>
                </a:solidFill>
              </a:rPr>
              <a:t> opuesto a la variación de flujo que las creó </a:t>
            </a:r>
            <a:r>
              <a:rPr lang="es-ES" sz="2400" dirty="0"/>
              <a:t>(Ley de Lenz)</a:t>
            </a:r>
            <a:r>
              <a:rPr lang="es-ES" sz="2400" dirty="0">
                <a:solidFill>
                  <a:schemeClr val="tx1"/>
                </a:solidFill>
              </a:rPr>
              <a:t>. Y que desaparecen si el</a:t>
            </a:r>
            <a:r>
              <a:rPr lang="es-ES" sz="2400" b="1" dirty="0">
                <a:solidFill>
                  <a:schemeClr val="tx1"/>
                </a:solidFill>
              </a:rPr>
              <a:t> </a:t>
            </a:r>
            <a:r>
              <a:rPr lang="es-ES" sz="2400" b="1" dirty="0" err="1">
                <a:solidFill>
                  <a:schemeClr val="tx1"/>
                </a:solidFill>
              </a:rPr>
              <a:t>B</a:t>
            </a:r>
            <a:r>
              <a:rPr lang="es-ES" sz="2400" baseline="-25000" dirty="0" err="1">
                <a:solidFill>
                  <a:schemeClr val="tx1"/>
                </a:solidFill>
                <a:sym typeface="Symbol" panose="05050102010706020507" pitchFamily="18" charset="2"/>
              </a:rPr>
              <a:t>apl</a:t>
            </a:r>
            <a:r>
              <a:rPr lang="es-ES" sz="2400" dirty="0">
                <a:solidFill>
                  <a:schemeClr val="tx1"/>
                </a:solidFill>
              </a:rPr>
              <a:t> no varía debido al efecto de la R del conductor</a:t>
            </a:r>
          </a:p>
        </p:txBody>
      </p:sp>
      <p:sp>
        <p:nvSpPr>
          <p:cNvPr id="5" name="Text Box 83"/>
          <p:cNvSpPr txBox="1">
            <a:spLocks noChangeArrowheads="1"/>
          </p:cNvSpPr>
          <p:nvPr/>
        </p:nvSpPr>
        <p:spPr bwMode="auto">
          <a:xfrm>
            <a:off x="1239786" y="341119"/>
            <a:ext cx="3489097" cy="558615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wrap="none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cs typeface="Arial" panose="020B0604020202020204" pitchFamily="34" charset="0"/>
              </a:rPr>
              <a:t>Conductores y Aislantes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742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2403" grpId="0" animBg="1"/>
      <p:bldP spid="4" grpId="0" animBg="1"/>
      <p:bldP spid="7" grpId="0" animBg="1"/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404" name="Text Box 4"/>
          <p:cNvSpPr txBox="1">
            <a:spLocks noChangeArrowheads="1"/>
          </p:cNvSpPr>
          <p:nvPr/>
        </p:nvSpPr>
        <p:spPr bwMode="auto">
          <a:xfrm>
            <a:off x="5049921" y="2324927"/>
            <a:ext cx="4880888" cy="1275213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En ellos, en principio, el </a:t>
            </a:r>
            <a:r>
              <a:rPr lang="es-ES" sz="2400" b="1" dirty="0" err="1">
                <a:latin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s-ES" sz="2400" baseline="-25000" dirty="0" err="1">
                <a:latin typeface="Arial" panose="020B0604020202020204" pitchFamily="34" charset="0"/>
                <a:sym typeface="Symbol" panose="05050102010706020507" pitchFamily="18" charset="2"/>
              </a:rPr>
              <a:t>total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siempre es nulo. Se dice que son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diamagnéticos perfectos</a:t>
            </a:r>
            <a:endParaRPr lang="es-ES" sz="24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9712" name="Rectangle 18"/>
          <p:cNvSpPr>
            <a:spLocks noChangeArrowheads="1"/>
          </p:cNvSpPr>
          <p:nvPr/>
        </p:nvSpPr>
        <p:spPr bwMode="auto">
          <a:xfrm>
            <a:off x="1250293" y="1413118"/>
            <a:ext cx="3131968" cy="258694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7664" name="Text Box 7"/>
          <p:cNvSpPr txBox="1">
            <a:spLocks noChangeArrowheads="1"/>
          </p:cNvSpPr>
          <p:nvPr/>
        </p:nvSpPr>
        <p:spPr bwMode="auto">
          <a:xfrm>
            <a:off x="4455793" y="351626"/>
            <a:ext cx="6306844" cy="134791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wrap="square" lIns="90000" tIns="118800" rIns="90000" bIns="118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>
                <a:latin typeface="Arial" panose="020B0604020202020204" pitchFamily="34" charset="0"/>
              </a:rPr>
              <a:t>Conductores que para cualquier par (campo aplicado, temperatura), por debajo de cierta relación entre B</a:t>
            </a:r>
            <a:r>
              <a:rPr lang="es-ES" sz="2400" baseline="-25000">
                <a:latin typeface="Arial" panose="020B0604020202020204" pitchFamily="34" charset="0"/>
              </a:rPr>
              <a:t>apl</a:t>
            </a:r>
            <a:r>
              <a:rPr lang="es-ES" sz="2400">
                <a:latin typeface="Arial" panose="020B0604020202020204" pitchFamily="34" charset="0"/>
              </a:rPr>
              <a:t> y T, tienen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resistencia nula</a:t>
            </a:r>
          </a:p>
        </p:txBody>
      </p:sp>
      <p:sp>
        <p:nvSpPr>
          <p:cNvPr id="26" name="Text Box 83"/>
          <p:cNvSpPr txBox="1">
            <a:spLocks noChangeArrowheads="1"/>
          </p:cNvSpPr>
          <p:nvPr/>
        </p:nvSpPr>
        <p:spPr bwMode="auto">
          <a:xfrm>
            <a:off x="1250293" y="351626"/>
            <a:ext cx="2685351" cy="558615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wrap="none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cs typeface="Arial" panose="020B0604020202020204" pitchFamily="34" charset="0"/>
              </a:rPr>
              <a:t>Superconductores</a:t>
            </a:r>
          </a:p>
        </p:txBody>
      </p:sp>
      <p:sp>
        <p:nvSpPr>
          <p:cNvPr id="27" name="Text Box 7"/>
          <p:cNvSpPr txBox="1">
            <a:spLocks noChangeArrowheads="1"/>
          </p:cNvSpPr>
          <p:nvPr/>
        </p:nvSpPr>
        <p:spPr bwMode="auto">
          <a:xfrm>
            <a:off x="7532328" y="1613424"/>
            <a:ext cx="3018155" cy="609252"/>
          </a:xfrm>
          <a:prstGeom prst="rect">
            <a:avLst/>
          </a:prstGeom>
          <a:noFill/>
          <a:ln>
            <a:noFill/>
          </a:ln>
        </p:spPr>
        <p:txBody>
          <a:bodyPr wrap="square" lIns="90000" tIns="118800" rIns="90000" bIns="118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(no disipan energía)</a:t>
            </a:r>
          </a:p>
        </p:txBody>
      </p:sp>
      <p:grpSp>
        <p:nvGrpSpPr>
          <p:cNvPr id="8" name="Grupo 7"/>
          <p:cNvGrpSpPr/>
          <p:nvPr/>
        </p:nvGrpSpPr>
        <p:grpSpPr>
          <a:xfrm>
            <a:off x="1409909" y="1494872"/>
            <a:ext cx="2945403" cy="2586940"/>
            <a:chOff x="1620115" y="4188617"/>
            <a:chExt cx="2945403" cy="2586940"/>
          </a:xfrm>
        </p:grpSpPr>
        <p:sp>
          <p:nvSpPr>
            <p:cNvPr id="29713" name="Line 19"/>
            <p:cNvSpPr>
              <a:spLocks noChangeShapeType="1"/>
            </p:cNvSpPr>
            <p:nvPr/>
          </p:nvSpPr>
          <p:spPr bwMode="auto">
            <a:xfrm flipV="1">
              <a:off x="2128159" y="4429987"/>
              <a:ext cx="0" cy="191928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29714" name="Line 20"/>
            <p:cNvSpPr>
              <a:spLocks noChangeShapeType="1"/>
            </p:cNvSpPr>
            <p:nvPr/>
          </p:nvSpPr>
          <p:spPr bwMode="auto">
            <a:xfrm>
              <a:off x="1847859" y="6045608"/>
              <a:ext cx="2242403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29716" name="Text Box 22"/>
            <p:cNvSpPr txBox="1">
              <a:spLocks noChangeArrowheads="1"/>
            </p:cNvSpPr>
            <p:nvPr/>
          </p:nvSpPr>
          <p:spPr bwMode="auto">
            <a:xfrm>
              <a:off x="2379262" y="4379377"/>
              <a:ext cx="955747" cy="6579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B(T)</a:t>
              </a:r>
            </a:p>
          </p:txBody>
        </p:sp>
        <p:sp>
          <p:nvSpPr>
            <p:cNvPr id="29717" name="Text Box 23"/>
            <p:cNvSpPr txBox="1">
              <a:spLocks noChangeArrowheads="1"/>
            </p:cNvSpPr>
            <p:nvPr/>
          </p:nvSpPr>
          <p:spPr bwMode="auto">
            <a:xfrm>
              <a:off x="1620115" y="4188617"/>
              <a:ext cx="474954" cy="6579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3333FF"/>
                  </a:solidFill>
                  <a:latin typeface="Arial" panose="020B0604020202020204" pitchFamily="34" charset="0"/>
                </a:rPr>
                <a:t>B</a:t>
              </a:r>
            </a:p>
          </p:txBody>
        </p:sp>
        <p:sp>
          <p:nvSpPr>
            <p:cNvPr id="29718" name="Text Box 24"/>
            <p:cNvSpPr txBox="1">
              <a:spLocks noChangeArrowheads="1"/>
            </p:cNvSpPr>
            <p:nvPr/>
          </p:nvSpPr>
          <p:spPr bwMode="auto">
            <a:xfrm>
              <a:off x="3743780" y="6117630"/>
              <a:ext cx="453542" cy="6579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3333FF"/>
                  </a:solidFill>
                  <a:latin typeface="Arial" panose="020B0604020202020204" pitchFamily="34" charset="0"/>
                </a:rPr>
                <a:t>T</a:t>
              </a:r>
            </a:p>
          </p:txBody>
        </p:sp>
        <p:sp>
          <p:nvSpPr>
            <p:cNvPr id="30" name="Text Box 7"/>
            <p:cNvSpPr txBox="1">
              <a:spLocks noChangeArrowheads="1"/>
            </p:cNvSpPr>
            <p:nvPr/>
          </p:nvSpPr>
          <p:spPr bwMode="auto">
            <a:xfrm>
              <a:off x="3198422" y="4713599"/>
              <a:ext cx="1367096" cy="5476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0000" tIns="118800" rIns="90000" bIns="1188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  <a:defRPr/>
              </a:pPr>
              <a:r>
                <a:rPr lang="es-ES" sz="2000">
                  <a:solidFill>
                    <a:srgbClr val="3333FF"/>
                  </a:solidFill>
                  <a:latin typeface="Arial" panose="020B0604020202020204" pitchFamily="34" charset="0"/>
                </a:rPr>
                <a:t>conductor</a:t>
              </a:r>
            </a:p>
          </p:txBody>
        </p:sp>
        <p:sp>
          <p:nvSpPr>
            <p:cNvPr id="31" name="Text Box 7"/>
            <p:cNvSpPr txBox="1">
              <a:spLocks noChangeArrowheads="1"/>
            </p:cNvSpPr>
            <p:nvPr/>
          </p:nvSpPr>
          <p:spPr bwMode="auto">
            <a:xfrm>
              <a:off x="2074935" y="5284979"/>
              <a:ext cx="1295149" cy="85547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0000" tIns="118800" rIns="90000" bIns="1188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  <a:defRPr/>
              </a:pPr>
              <a:r>
                <a:rPr lang="es-ES" sz="2000">
                  <a:solidFill>
                    <a:srgbClr val="3333FF"/>
                  </a:solidFill>
                  <a:latin typeface="Arial" panose="020B0604020202020204" pitchFamily="34" charset="0"/>
                </a:rPr>
                <a:t>super</a:t>
              </a:r>
            </a:p>
            <a:p>
              <a:pPr algn="ctr" eaLnBrk="1" hangingPunct="1">
                <a:spcBef>
                  <a:spcPts val="0"/>
                </a:spcBef>
                <a:buFontTx/>
                <a:buNone/>
                <a:defRPr/>
              </a:pPr>
              <a:r>
                <a:rPr lang="es-ES" sz="2000">
                  <a:solidFill>
                    <a:srgbClr val="3333FF"/>
                  </a:solidFill>
                  <a:latin typeface="Arial" panose="020B0604020202020204" pitchFamily="34" charset="0"/>
                </a:rPr>
                <a:t>conductor</a:t>
              </a:r>
            </a:p>
          </p:txBody>
        </p:sp>
        <p:sp>
          <p:nvSpPr>
            <p:cNvPr id="32" name="Freeform 21"/>
            <p:cNvSpPr>
              <a:spLocks/>
            </p:cNvSpPr>
            <p:nvPr/>
          </p:nvSpPr>
          <p:spPr bwMode="auto">
            <a:xfrm>
              <a:off x="2133465" y="4841141"/>
              <a:ext cx="1423887" cy="1190498"/>
            </a:xfrm>
            <a:custGeom>
              <a:avLst/>
              <a:gdLst>
                <a:gd name="T0" fmla="*/ 0 w 665"/>
                <a:gd name="T1" fmla="*/ 13 h 556"/>
                <a:gd name="T2" fmla="*/ 454 w 665"/>
                <a:gd name="T3" fmla="*/ 90 h 556"/>
                <a:gd name="T4" fmla="*/ 665 w 665"/>
                <a:gd name="T5" fmla="*/ 556 h 556"/>
                <a:gd name="T6" fmla="*/ 0 60000 65536"/>
                <a:gd name="T7" fmla="*/ 0 60000 65536"/>
                <a:gd name="T8" fmla="*/ 0 60000 65536"/>
                <a:gd name="T9" fmla="*/ 0 w 665"/>
                <a:gd name="T10" fmla="*/ 0 h 556"/>
                <a:gd name="T11" fmla="*/ 665 w 665"/>
                <a:gd name="T12" fmla="*/ 556 h 55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65" h="556">
                  <a:moveTo>
                    <a:pt x="0" y="13"/>
                  </a:moveTo>
                  <a:cubicBezTo>
                    <a:pt x="171" y="6"/>
                    <a:pt x="343" y="0"/>
                    <a:pt x="454" y="90"/>
                  </a:cubicBezTo>
                  <a:cubicBezTo>
                    <a:pt x="565" y="180"/>
                    <a:pt x="615" y="368"/>
                    <a:pt x="665" y="556"/>
                  </a:cubicBezTo>
                </a:path>
              </a:pathLst>
            </a:custGeom>
            <a:noFill/>
            <a:ln w="25400">
              <a:solidFill>
                <a:srgbClr val="008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82800" rIns="90000" bIns="82800" anchorCtr="1">
              <a:spAutoFit/>
            </a:bodyPr>
            <a:lstStyle/>
            <a:p>
              <a:endParaRPr lang="en-GB"/>
            </a:p>
          </p:txBody>
        </p:sp>
      </p:grpSp>
      <p:sp>
        <p:nvSpPr>
          <p:cNvPr id="2" name="Text Box 15">
            <a:extLst>
              <a:ext uri="{FF2B5EF4-FFF2-40B4-BE49-F238E27FC236}">
                <a16:creationId xmlns:a16="http://schemas.microsoft.com/office/drawing/2014/main" id="{9F2E9398-3627-10FC-534E-58C15BBE58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0293" y="4238796"/>
            <a:ext cx="9411864" cy="2506804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wrap="square" lIns="216000" tIns="144000" rIns="216000" bIns="1440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None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En un superconductor </a:t>
            </a:r>
            <a:r>
              <a:rPr lang="es-ES" sz="2400" dirty="0">
                <a:latin typeface="Arial" panose="020B0604020202020204" pitchFamily="34" charset="0"/>
              </a:rPr>
              <a:t>se observa que 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la </a:t>
            </a:r>
            <a:r>
              <a:rPr lang="es-ES" sz="2400" dirty="0">
                <a:latin typeface="Comic Sans MS" panose="030F0702030302020204" pitchFamily="66" charset="0"/>
              </a:rPr>
              <a:t>I</a:t>
            </a:r>
            <a:r>
              <a:rPr lang="es-ES" sz="2400" baseline="-25000" dirty="0">
                <a:latin typeface="Arial" panose="020B0604020202020204" pitchFamily="34" charset="0"/>
              </a:rPr>
              <a:t>INDUCIDA</a:t>
            </a:r>
            <a:r>
              <a:rPr lang="es-ES" sz="2400" dirty="0">
                <a:latin typeface="Arial" panose="020B0604020202020204" pitchFamily="34" charset="0"/>
              </a:rPr>
              <a:t> crece al crecer  el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sz="24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aplicado</a:t>
            </a:r>
            <a:r>
              <a:rPr lang="es-ES" sz="2400" dirty="0">
                <a:latin typeface="Arial" panose="020B0604020202020204" pitchFamily="34" charset="0"/>
              </a:rPr>
              <a:t>, y viceversa, pero que no desaparece cuando no varía.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Si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sz="24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aplicado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es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cte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., la </a:t>
            </a:r>
            <a:r>
              <a:rPr lang="en-US" sz="2400" dirty="0" err="1">
                <a:latin typeface="Comic Sans MS" panose="030F0702030302020204" pitchFamily="66" charset="0"/>
                <a:cs typeface="Arial" panose="020B0604020202020204" pitchFamily="34" charset="0"/>
              </a:rPr>
              <a:t>I</a:t>
            </a:r>
            <a:r>
              <a:rPr lang="en-US" sz="24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inducida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es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cte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y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sz="24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interior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también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Esto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hace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que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siempre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haya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un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sz="24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interior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opuesto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al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sz="24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aplicado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Y que, a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diferencia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de un conductor,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superconductor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siempre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repela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 la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fuente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del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sz="24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aplicado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comportándose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como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un </a:t>
            </a:r>
            <a:r>
              <a:rPr lang="en-US" sz="2400" dirty="0" err="1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diamagnético</a:t>
            </a:r>
            <a:endParaRPr lang="en-US" sz="2400" dirty="0">
              <a:solidFill>
                <a:srgbClr val="3333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72B0E141-681C-400E-A0A7-3F365ED99C72}"/>
              </a:ext>
            </a:extLst>
          </p:cNvPr>
          <p:cNvGrpSpPr/>
          <p:nvPr/>
        </p:nvGrpSpPr>
        <p:grpSpPr>
          <a:xfrm>
            <a:off x="5761038" y="3753750"/>
            <a:ext cx="2046531" cy="366887"/>
            <a:chOff x="5761038" y="3753750"/>
            <a:chExt cx="2046531" cy="366887"/>
          </a:xfrm>
        </p:grpSpPr>
        <p:cxnSp>
          <p:nvCxnSpPr>
            <p:cNvPr id="3" name="Conector recto de flecha 2">
              <a:extLst>
                <a:ext uri="{FF2B5EF4-FFF2-40B4-BE49-F238E27FC236}">
                  <a16:creationId xmlns:a16="http://schemas.microsoft.com/office/drawing/2014/main" id="{CE4FB6D6-E389-525C-A4AC-4A2DA01E752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844379" y="3753750"/>
              <a:ext cx="1" cy="366887"/>
            </a:xfrm>
            <a:prstGeom prst="straightConnector1">
              <a:avLst/>
            </a:prstGeom>
            <a:solidFill>
              <a:schemeClr val="accent1"/>
            </a:solidFill>
            <a:ln w="762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" name="Conector recto 4">
              <a:extLst>
                <a:ext uri="{FF2B5EF4-FFF2-40B4-BE49-F238E27FC236}">
                  <a16:creationId xmlns:a16="http://schemas.microsoft.com/office/drawing/2014/main" id="{16CBD635-E145-DBAB-A0A5-748B0C0E1DD7}"/>
                </a:ext>
              </a:extLst>
            </p:cNvPr>
            <p:cNvCxnSpPr/>
            <p:nvPr/>
          </p:nvCxnSpPr>
          <p:spPr bwMode="auto">
            <a:xfrm>
              <a:off x="5761038" y="3753750"/>
              <a:ext cx="2046531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lg" len="lg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237916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9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7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742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2404" grpId="0" animBg="1"/>
      <p:bldP spid="29712" grpId="0" animBg="1"/>
      <p:bldP spid="27664" grpId="0" animBg="1"/>
      <p:bldP spid="26" grpId="0" animBg="1"/>
      <p:bldP spid="27" grpId="0"/>
      <p:bldP spid="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21" name="Text Box 10"/>
          <p:cNvSpPr txBox="1">
            <a:spLocks noChangeArrowheads="1"/>
          </p:cNvSpPr>
          <p:nvPr/>
        </p:nvSpPr>
        <p:spPr bwMode="auto">
          <a:xfrm>
            <a:off x="1595974" y="4055254"/>
            <a:ext cx="8680515" cy="514738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El campo debido a las corrientes inducidas anula al aplicado</a:t>
            </a:r>
            <a:endParaRPr lang="es-ES" sz="2400" baseline="-250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42404" name="Text Box 4"/>
          <p:cNvSpPr txBox="1">
            <a:spLocks noChangeArrowheads="1"/>
          </p:cNvSpPr>
          <p:nvPr/>
        </p:nvSpPr>
        <p:spPr bwMode="auto">
          <a:xfrm>
            <a:off x="5049921" y="2324927"/>
            <a:ext cx="4880888" cy="1275213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En ellos, en principio, el </a:t>
            </a:r>
            <a:r>
              <a:rPr lang="es-ES" sz="2400" b="1">
                <a:latin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s-ES" sz="2400" baseline="-25000">
                <a:latin typeface="Arial" panose="020B0604020202020204" pitchFamily="34" charset="0"/>
                <a:sym typeface="Symbol" panose="05050102010706020507" pitchFamily="18" charset="2"/>
              </a:rPr>
              <a:t>total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siempre es nulo. Se dice que son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diamagnéticos perfectos</a:t>
            </a:r>
            <a:endParaRPr lang="es-ES" sz="240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9712" name="Rectangle 18"/>
          <p:cNvSpPr>
            <a:spLocks noChangeArrowheads="1"/>
          </p:cNvSpPr>
          <p:nvPr/>
        </p:nvSpPr>
        <p:spPr bwMode="auto">
          <a:xfrm>
            <a:off x="1250293" y="1413118"/>
            <a:ext cx="3131968" cy="258694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6" name="Text Box 83"/>
          <p:cNvSpPr txBox="1">
            <a:spLocks noChangeArrowheads="1"/>
          </p:cNvSpPr>
          <p:nvPr/>
        </p:nvSpPr>
        <p:spPr bwMode="auto">
          <a:xfrm>
            <a:off x="1250293" y="351626"/>
            <a:ext cx="2685351" cy="558615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wrap="none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cs typeface="Arial" panose="020B0604020202020204" pitchFamily="34" charset="0"/>
              </a:rPr>
              <a:t>Superconductores</a:t>
            </a:r>
          </a:p>
        </p:txBody>
      </p:sp>
      <p:sp>
        <p:nvSpPr>
          <p:cNvPr id="27" name="Text Box 7"/>
          <p:cNvSpPr txBox="1">
            <a:spLocks noChangeArrowheads="1"/>
          </p:cNvSpPr>
          <p:nvPr/>
        </p:nvSpPr>
        <p:spPr bwMode="auto">
          <a:xfrm>
            <a:off x="7532328" y="1613424"/>
            <a:ext cx="3018155" cy="609252"/>
          </a:xfrm>
          <a:prstGeom prst="rect">
            <a:avLst/>
          </a:prstGeom>
          <a:noFill/>
          <a:ln>
            <a:noFill/>
          </a:ln>
        </p:spPr>
        <p:txBody>
          <a:bodyPr wrap="square" lIns="90000" tIns="118800" rIns="90000" bIns="118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(no disipan energía)</a:t>
            </a:r>
          </a:p>
        </p:txBody>
      </p:sp>
      <p:grpSp>
        <p:nvGrpSpPr>
          <p:cNvPr id="8" name="Grupo 7"/>
          <p:cNvGrpSpPr/>
          <p:nvPr/>
        </p:nvGrpSpPr>
        <p:grpSpPr>
          <a:xfrm>
            <a:off x="1409909" y="1494872"/>
            <a:ext cx="2945403" cy="2586940"/>
            <a:chOff x="1620115" y="4188617"/>
            <a:chExt cx="2945403" cy="2586940"/>
          </a:xfrm>
        </p:grpSpPr>
        <p:sp>
          <p:nvSpPr>
            <p:cNvPr id="29713" name="Line 19"/>
            <p:cNvSpPr>
              <a:spLocks noChangeShapeType="1"/>
            </p:cNvSpPr>
            <p:nvPr/>
          </p:nvSpPr>
          <p:spPr bwMode="auto">
            <a:xfrm flipV="1">
              <a:off x="2128159" y="4429987"/>
              <a:ext cx="0" cy="191928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29714" name="Line 20"/>
            <p:cNvSpPr>
              <a:spLocks noChangeShapeType="1"/>
            </p:cNvSpPr>
            <p:nvPr/>
          </p:nvSpPr>
          <p:spPr bwMode="auto">
            <a:xfrm>
              <a:off x="1847859" y="6045608"/>
              <a:ext cx="2242403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29716" name="Text Box 22"/>
            <p:cNvSpPr txBox="1">
              <a:spLocks noChangeArrowheads="1"/>
            </p:cNvSpPr>
            <p:nvPr/>
          </p:nvSpPr>
          <p:spPr bwMode="auto">
            <a:xfrm>
              <a:off x="2379262" y="4379377"/>
              <a:ext cx="955747" cy="6579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B(T)</a:t>
              </a:r>
            </a:p>
          </p:txBody>
        </p:sp>
        <p:sp>
          <p:nvSpPr>
            <p:cNvPr id="29717" name="Text Box 23"/>
            <p:cNvSpPr txBox="1">
              <a:spLocks noChangeArrowheads="1"/>
            </p:cNvSpPr>
            <p:nvPr/>
          </p:nvSpPr>
          <p:spPr bwMode="auto">
            <a:xfrm>
              <a:off x="1620115" y="4188617"/>
              <a:ext cx="474954" cy="6579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3333FF"/>
                  </a:solidFill>
                  <a:latin typeface="Arial" panose="020B0604020202020204" pitchFamily="34" charset="0"/>
                </a:rPr>
                <a:t>B</a:t>
              </a:r>
            </a:p>
          </p:txBody>
        </p:sp>
        <p:sp>
          <p:nvSpPr>
            <p:cNvPr id="29718" name="Text Box 24"/>
            <p:cNvSpPr txBox="1">
              <a:spLocks noChangeArrowheads="1"/>
            </p:cNvSpPr>
            <p:nvPr/>
          </p:nvSpPr>
          <p:spPr bwMode="auto">
            <a:xfrm>
              <a:off x="3743780" y="6117630"/>
              <a:ext cx="453542" cy="6579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3333FF"/>
                  </a:solidFill>
                  <a:latin typeface="Arial" panose="020B0604020202020204" pitchFamily="34" charset="0"/>
                </a:rPr>
                <a:t>T</a:t>
              </a:r>
            </a:p>
          </p:txBody>
        </p:sp>
        <p:sp>
          <p:nvSpPr>
            <p:cNvPr id="30" name="Text Box 7"/>
            <p:cNvSpPr txBox="1">
              <a:spLocks noChangeArrowheads="1"/>
            </p:cNvSpPr>
            <p:nvPr/>
          </p:nvSpPr>
          <p:spPr bwMode="auto">
            <a:xfrm>
              <a:off x="3198422" y="4713599"/>
              <a:ext cx="1367096" cy="5476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0000" tIns="118800" rIns="90000" bIns="1188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  <a:defRPr/>
              </a:pPr>
              <a:r>
                <a:rPr lang="es-ES" sz="2000">
                  <a:solidFill>
                    <a:srgbClr val="3333FF"/>
                  </a:solidFill>
                  <a:latin typeface="Arial" panose="020B0604020202020204" pitchFamily="34" charset="0"/>
                </a:rPr>
                <a:t>conductor</a:t>
              </a:r>
            </a:p>
          </p:txBody>
        </p:sp>
        <p:sp>
          <p:nvSpPr>
            <p:cNvPr id="31" name="Text Box 7"/>
            <p:cNvSpPr txBox="1">
              <a:spLocks noChangeArrowheads="1"/>
            </p:cNvSpPr>
            <p:nvPr/>
          </p:nvSpPr>
          <p:spPr bwMode="auto">
            <a:xfrm>
              <a:off x="2074935" y="5284979"/>
              <a:ext cx="1295149" cy="85547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0000" tIns="118800" rIns="90000" bIns="1188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  <a:defRPr/>
              </a:pPr>
              <a:r>
                <a:rPr lang="es-ES" sz="2000">
                  <a:solidFill>
                    <a:srgbClr val="3333FF"/>
                  </a:solidFill>
                  <a:latin typeface="Arial" panose="020B0604020202020204" pitchFamily="34" charset="0"/>
                </a:rPr>
                <a:t>super</a:t>
              </a:r>
            </a:p>
            <a:p>
              <a:pPr algn="ctr" eaLnBrk="1" hangingPunct="1">
                <a:spcBef>
                  <a:spcPts val="0"/>
                </a:spcBef>
                <a:buFontTx/>
                <a:buNone/>
                <a:defRPr/>
              </a:pPr>
              <a:r>
                <a:rPr lang="es-ES" sz="2000">
                  <a:solidFill>
                    <a:srgbClr val="3333FF"/>
                  </a:solidFill>
                  <a:latin typeface="Arial" panose="020B0604020202020204" pitchFamily="34" charset="0"/>
                </a:rPr>
                <a:t>conductor</a:t>
              </a:r>
            </a:p>
          </p:txBody>
        </p:sp>
        <p:sp>
          <p:nvSpPr>
            <p:cNvPr id="32" name="Freeform 21"/>
            <p:cNvSpPr>
              <a:spLocks/>
            </p:cNvSpPr>
            <p:nvPr/>
          </p:nvSpPr>
          <p:spPr bwMode="auto">
            <a:xfrm>
              <a:off x="2133465" y="4841141"/>
              <a:ext cx="1423887" cy="1190498"/>
            </a:xfrm>
            <a:custGeom>
              <a:avLst/>
              <a:gdLst>
                <a:gd name="T0" fmla="*/ 0 w 665"/>
                <a:gd name="T1" fmla="*/ 13 h 556"/>
                <a:gd name="T2" fmla="*/ 454 w 665"/>
                <a:gd name="T3" fmla="*/ 90 h 556"/>
                <a:gd name="T4" fmla="*/ 665 w 665"/>
                <a:gd name="T5" fmla="*/ 556 h 556"/>
                <a:gd name="T6" fmla="*/ 0 60000 65536"/>
                <a:gd name="T7" fmla="*/ 0 60000 65536"/>
                <a:gd name="T8" fmla="*/ 0 60000 65536"/>
                <a:gd name="T9" fmla="*/ 0 w 665"/>
                <a:gd name="T10" fmla="*/ 0 h 556"/>
                <a:gd name="T11" fmla="*/ 665 w 665"/>
                <a:gd name="T12" fmla="*/ 556 h 55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65" h="556">
                  <a:moveTo>
                    <a:pt x="0" y="13"/>
                  </a:moveTo>
                  <a:cubicBezTo>
                    <a:pt x="171" y="6"/>
                    <a:pt x="343" y="0"/>
                    <a:pt x="454" y="90"/>
                  </a:cubicBezTo>
                  <a:cubicBezTo>
                    <a:pt x="565" y="180"/>
                    <a:pt x="615" y="368"/>
                    <a:pt x="665" y="556"/>
                  </a:cubicBezTo>
                </a:path>
              </a:pathLst>
            </a:custGeom>
            <a:noFill/>
            <a:ln w="25400">
              <a:solidFill>
                <a:srgbClr val="008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82800" rIns="90000" bIns="82800" anchorCtr="1">
              <a:spAutoFit/>
            </a:bodyPr>
            <a:lstStyle/>
            <a:p>
              <a:endParaRPr lang="en-GB"/>
            </a:p>
          </p:txBody>
        </p:sp>
      </p:grpSp>
      <p:sp>
        <p:nvSpPr>
          <p:cNvPr id="36" name="Text Box 7"/>
          <p:cNvSpPr txBox="1">
            <a:spLocks noChangeArrowheads="1"/>
          </p:cNvSpPr>
          <p:nvPr/>
        </p:nvSpPr>
        <p:spPr bwMode="auto">
          <a:xfrm>
            <a:off x="7641960" y="5003134"/>
            <a:ext cx="2629216" cy="553865"/>
          </a:xfrm>
          <a:prstGeom prst="rect">
            <a:avLst/>
          </a:prstGeom>
          <a:solidFill>
            <a:srgbClr val="666699"/>
          </a:solidFill>
          <a:ln>
            <a:noFill/>
          </a:ln>
        </p:spPr>
        <p:txBody>
          <a:bodyPr wrap="square" lIns="90000" tIns="118800" rIns="90000" bIns="118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solidFill>
                  <a:srgbClr val="FFFFFF"/>
                </a:solidFill>
                <a:latin typeface="Arial" panose="020B0604020202020204" pitchFamily="34" charset="0"/>
              </a:rPr>
              <a:t>Efecto Meissner</a:t>
            </a:r>
          </a:p>
        </p:txBody>
      </p:sp>
      <p:sp>
        <p:nvSpPr>
          <p:cNvPr id="19" name="Text Box 10">
            <a:extLst>
              <a:ext uri="{FF2B5EF4-FFF2-40B4-BE49-F238E27FC236}">
                <a16:creationId xmlns:a16="http://schemas.microsoft.com/office/drawing/2014/main" id="{32A727E5-22B8-47A7-8D71-DC60BFB7B4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0795" y="6020285"/>
            <a:ext cx="4878513" cy="88407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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Las líneas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de campo no cruzan el superconductor, lo rodean</a:t>
            </a:r>
            <a:endParaRPr lang="es-ES" sz="2400" baseline="-250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21" name="Grupo 20">
            <a:extLst>
              <a:ext uri="{FF2B5EF4-FFF2-40B4-BE49-F238E27FC236}">
                <a16:creationId xmlns:a16="http://schemas.microsoft.com/office/drawing/2014/main" id="{60B7EE6D-D655-4ADE-9815-5FDBDABF5C1D}"/>
              </a:ext>
            </a:extLst>
          </p:cNvPr>
          <p:cNvGrpSpPr/>
          <p:nvPr/>
        </p:nvGrpSpPr>
        <p:grpSpPr>
          <a:xfrm>
            <a:off x="1373242" y="5979204"/>
            <a:ext cx="1550722" cy="609252"/>
            <a:chOff x="1513690" y="1371842"/>
            <a:chExt cx="1550722" cy="609252"/>
          </a:xfrm>
        </p:grpSpPr>
        <p:sp>
          <p:nvSpPr>
            <p:cNvPr id="22" name="Rectángulo 21">
              <a:extLst>
                <a:ext uri="{FF2B5EF4-FFF2-40B4-BE49-F238E27FC236}">
                  <a16:creationId xmlns:a16="http://schemas.microsoft.com/office/drawing/2014/main" id="{A1821CB7-F807-4723-97EF-C3C81395C07E}"/>
                </a:ext>
              </a:extLst>
            </p:cNvPr>
            <p:cNvSpPr/>
            <p:nvPr/>
          </p:nvSpPr>
          <p:spPr bwMode="auto">
            <a:xfrm>
              <a:off x="1731523" y="1400783"/>
              <a:ext cx="1196503" cy="568557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none" lIns="90000" tIns="82800" rIns="90000" bIns="82800" numCol="1" rtlCol="0" anchor="t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-2500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23" name="Text Box 11">
              <a:extLst>
                <a:ext uri="{FF2B5EF4-FFF2-40B4-BE49-F238E27FC236}">
                  <a16:creationId xmlns:a16="http://schemas.microsoft.com/office/drawing/2014/main" id="{E3A76A38-B6BD-41E6-948E-2015E532F9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3690" y="1371842"/>
              <a:ext cx="1550722" cy="609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000" tIns="118800" rIns="90000" bIns="1188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 </a:t>
              </a:r>
              <a:r>
                <a:rPr lang="es-ES" sz="2400" dirty="0" err="1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B</a:t>
              </a:r>
              <a:r>
                <a:rPr lang="es-ES" sz="2400" baseline="-25000" dirty="0" err="1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total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= 0 </a:t>
              </a:r>
              <a:endPara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</p:grpSp>
      <p:sp>
        <p:nvSpPr>
          <p:cNvPr id="24" name="Text Box 11">
            <a:extLst>
              <a:ext uri="{FF2B5EF4-FFF2-40B4-BE49-F238E27FC236}">
                <a16:creationId xmlns:a16="http://schemas.microsoft.com/office/drawing/2014/main" id="{62B36260-193D-4B96-8D6E-5B33C9AC03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2621" y="5993030"/>
            <a:ext cx="983259" cy="670808"/>
          </a:xfrm>
          <a:prstGeom prst="rect">
            <a:avLst/>
          </a:prstGeom>
          <a:noFill/>
          <a:ln>
            <a:noFill/>
          </a:ln>
        </p:spPr>
        <p:txBody>
          <a:bodyPr wrap="none" lIns="90000" tIns="118800" rIns="90000" bIns="118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B  </a:t>
            </a:r>
            <a:r>
              <a:rPr lang="es-ES" sz="28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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5" name="Text Box 11">
            <a:extLst>
              <a:ext uri="{FF2B5EF4-FFF2-40B4-BE49-F238E27FC236}">
                <a16:creationId xmlns:a16="http://schemas.microsoft.com/office/drawing/2014/main" id="{DDA3FCFC-716E-4911-8D42-D8A0B9054B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61495" y="6011218"/>
            <a:ext cx="1297448" cy="670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90000" tIns="118800" rIns="90000" bIns="118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 </a:t>
            </a:r>
            <a:r>
              <a:rPr lang="es-ES" sz="2800" dirty="0">
                <a:latin typeface="Arial" panose="020B0604020202020204" pitchFamily="34" charset="0"/>
                <a:sym typeface="Symbol" panose="05050102010706020507" pitchFamily="18" charset="2"/>
              </a:rPr>
              <a:t>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= 0</a:t>
            </a:r>
          </a:p>
        </p:txBody>
      </p:sp>
      <p:sp>
        <p:nvSpPr>
          <p:cNvPr id="2" name="Text Box 10">
            <a:extLst>
              <a:ext uri="{FF2B5EF4-FFF2-40B4-BE49-F238E27FC236}">
                <a16:creationId xmlns:a16="http://schemas.microsoft.com/office/drawing/2014/main" id="{B796B653-3D2A-C5CF-541F-E1E156CC2C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3411" y="4654169"/>
            <a:ext cx="5003362" cy="1253402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Estas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corrientes también aparecen al pasar al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estado superconductor con B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aplicado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enfriando el conductor</a:t>
            </a:r>
            <a:endParaRPr lang="es-ES" sz="2400" baseline="-250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0CEA9694-88F7-430E-7B33-A5FFA1504E2A}"/>
              </a:ext>
            </a:extLst>
          </p:cNvPr>
          <p:cNvCxnSpPr>
            <a:cxnSpLocks/>
          </p:cNvCxnSpPr>
          <p:nvPr/>
        </p:nvCxnSpPr>
        <p:spPr bwMode="auto">
          <a:xfrm rot="16200000">
            <a:off x="7120895" y="5078278"/>
            <a:ext cx="1" cy="403576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rgbClr val="008000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5" name="Text Box 7">
            <a:extLst>
              <a:ext uri="{FF2B5EF4-FFF2-40B4-BE49-F238E27FC236}">
                <a16:creationId xmlns:a16="http://schemas.microsoft.com/office/drawing/2014/main" id="{4FE08B4C-E240-C05D-4906-018960A70B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5793" y="351626"/>
            <a:ext cx="6306844" cy="134791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wrap="square" lIns="90000" tIns="118800" rIns="90000" bIns="118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>
                <a:latin typeface="Arial" panose="020B0604020202020204" pitchFamily="34" charset="0"/>
              </a:rPr>
              <a:t>Conductores que para cualquier par (campo aplicado, temperatura), por debajo de cierta relación entre B</a:t>
            </a:r>
            <a:r>
              <a:rPr lang="es-ES" sz="2400" baseline="-25000">
                <a:latin typeface="Arial" panose="020B0604020202020204" pitchFamily="34" charset="0"/>
              </a:rPr>
              <a:t>apl</a:t>
            </a:r>
            <a:r>
              <a:rPr lang="es-ES" sz="2400">
                <a:latin typeface="Arial" panose="020B0604020202020204" pitchFamily="34" charset="0"/>
              </a:rPr>
              <a:t> y T, tienen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resistencia nula</a:t>
            </a: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DF7F4830-4FC1-3866-B98C-13220EF03F7D}"/>
              </a:ext>
            </a:extLst>
          </p:cNvPr>
          <p:cNvGrpSpPr/>
          <p:nvPr/>
        </p:nvGrpSpPr>
        <p:grpSpPr>
          <a:xfrm>
            <a:off x="7847109" y="3652619"/>
            <a:ext cx="1270735" cy="366887"/>
            <a:chOff x="7847109" y="3652619"/>
            <a:chExt cx="1270735" cy="366887"/>
          </a:xfrm>
        </p:grpSpPr>
        <p:cxnSp>
          <p:nvCxnSpPr>
            <p:cNvPr id="3" name="Conector recto de flecha 2">
              <a:extLst>
                <a:ext uri="{FF2B5EF4-FFF2-40B4-BE49-F238E27FC236}">
                  <a16:creationId xmlns:a16="http://schemas.microsoft.com/office/drawing/2014/main" id="{45235582-7A32-4E84-BBCF-6B2A65534DD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8479689" y="3652619"/>
              <a:ext cx="1" cy="366887"/>
            </a:xfrm>
            <a:prstGeom prst="straightConnector1">
              <a:avLst/>
            </a:prstGeom>
            <a:solidFill>
              <a:schemeClr val="accent1"/>
            </a:solidFill>
            <a:ln w="762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6" name="Conector recto 5">
              <a:extLst>
                <a:ext uri="{FF2B5EF4-FFF2-40B4-BE49-F238E27FC236}">
                  <a16:creationId xmlns:a16="http://schemas.microsoft.com/office/drawing/2014/main" id="{06077CE0-D375-785D-5657-00ECC1C1D9FD}"/>
                </a:ext>
              </a:extLst>
            </p:cNvPr>
            <p:cNvCxnSpPr/>
            <p:nvPr/>
          </p:nvCxnSpPr>
          <p:spPr bwMode="auto">
            <a:xfrm>
              <a:off x="7847109" y="3663313"/>
              <a:ext cx="1270735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lg" len="lg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997845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9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21" grpId="0" animBg="1"/>
      <p:bldP spid="36" grpId="0" animBg="1"/>
      <p:bldP spid="19" grpId="0" animBg="1"/>
      <p:bldP spid="24" grpId="0"/>
      <p:bldP spid="25" grpId="0" animBg="1"/>
      <p:bldP spid="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12" name="Rectangle 18"/>
          <p:cNvSpPr>
            <a:spLocks noChangeArrowheads="1"/>
          </p:cNvSpPr>
          <p:nvPr/>
        </p:nvSpPr>
        <p:spPr bwMode="auto">
          <a:xfrm>
            <a:off x="1250293" y="1413116"/>
            <a:ext cx="3131968" cy="258694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8" name="Grupo 7"/>
          <p:cNvGrpSpPr/>
          <p:nvPr/>
        </p:nvGrpSpPr>
        <p:grpSpPr>
          <a:xfrm>
            <a:off x="1409909" y="1494870"/>
            <a:ext cx="2945403" cy="2586940"/>
            <a:chOff x="1620115" y="4188617"/>
            <a:chExt cx="2945403" cy="2586940"/>
          </a:xfrm>
        </p:grpSpPr>
        <p:sp>
          <p:nvSpPr>
            <p:cNvPr id="29713" name="Line 19"/>
            <p:cNvSpPr>
              <a:spLocks noChangeShapeType="1"/>
            </p:cNvSpPr>
            <p:nvPr/>
          </p:nvSpPr>
          <p:spPr bwMode="auto">
            <a:xfrm flipV="1">
              <a:off x="2128159" y="4429987"/>
              <a:ext cx="0" cy="191928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29714" name="Line 20"/>
            <p:cNvSpPr>
              <a:spLocks noChangeShapeType="1"/>
            </p:cNvSpPr>
            <p:nvPr/>
          </p:nvSpPr>
          <p:spPr bwMode="auto">
            <a:xfrm>
              <a:off x="1847859" y="6045608"/>
              <a:ext cx="2242403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29716" name="Text Box 22"/>
            <p:cNvSpPr txBox="1">
              <a:spLocks noChangeArrowheads="1"/>
            </p:cNvSpPr>
            <p:nvPr/>
          </p:nvSpPr>
          <p:spPr bwMode="auto">
            <a:xfrm>
              <a:off x="2379262" y="4379377"/>
              <a:ext cx="955747" cy="6579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B(T)</a:t>
              </a:r>
            </a:p>
          </p:txBody>
        </p:sp>
        <p:sp>
          <p:nvSpPr>
            <p:cNvPr id="29717" name="Text Box 23"/>
            <p:cNvSpPr txBox="1">
              <a:spLocks noChangeArrowheads="1"/>
            </p:cNvSpPr>
            <p:nvPr/>
          </p:nvSpPr>
          <p:spPr bwMode="auto">
            <a:xfrm>
              <a:off x="1620115" y="4188617"/>
              <a:ext cx="474954" cy="6579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3333FF"/>
                  </a:solidFill>
                  <a:latin typeface="Arial" panose="020B0604020202020204" pitchFamily="34" charset="0"/>
                </a:rPr>
                <a:t>B</a:t>
              </a:r>
            </a:p>
          </p:txBody>
        </p:sp>
        <p:sp>
          <p:nvSpPr>
            <p:cNvPr id="29718" name="Text Box 24"/>
            <p:cNvSpPr txBox="1">
              <a:spLocks noChangeArrowheads="1"/>
            </p:cNvSpPr>
            <p:nvPr/>
          </p:nvSpPr>
          <p:spPr bwMode="auto">
            <a:xfrm>
              <a:off x="3743780" y="6117630"/>
              <a:ext cx="453542" cy="6579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3333FF"/>
                  </a:solidFill>
                  <a:latin typeface="Arial" panose="020B0604020202020204" pitchFamily="34" charset="0"/>
                </a:rPr>
                <a:t>T</a:t>
              </a:r>
            </a:p>
          </p:txBody>
        </p:sp>
        <p:sp>
          <p:nvSpPr>
            <p:cNvPr id="30" name="Text Box 7"/>
            <p:cNvSpPr txBox="1">
              <a:spLocks noChangeArrowheads="1"/>
            </p:cNvSpPr>
            <p:nvPr/>
          </p:nvSpPr>
          <p:spPr bwMode="auto">
            <a:xfrm>
              <a:off x="3198422" y="4713599"/>
              <a:ext cx="1367096" cy="5476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0000" tIns="118800" rIns="90000" bIns="1188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  <a:defRPr/>
              </a:pPr>
              <a:r>
                <a:rPr lang="es-ES" sz="2000">
                  <a:solidFill>
                    <a:srgbClr val="3333FF"/>
                  </a:solidFill>
                  <a:latin typeface="Arial" panose="020B0604020202020204" pitchFamily="34" charset="0"/>
                </a:rPr>
                <a:t>conductor</a:t>
              </a:r>
            </a:p>
          </p:txBody>
        </p:sp>
        <p:sp>
          <p:nvSpPr>
            <p:cNvPr id="31" name="Text Box 7"/>
            <p:cNvSpPr txBox="1">
              <a:spLocks noChangeArrowheads="1"/>
            </p:cNvSpPr>
            <p:nvPr/>
          </p:nvSpPr>
          <p:spPr bwMode="auto">
            <a:xfrm>
              <a:off x="2074935" y="5284979"/>
              <a:ext cx="1295149" cy="85547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0000" tIns="118800" rIns="90000" bIns="1188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  <a:defRPr/>
              </a:pPr>
              <a:r>
                <a:rPr lang="es-ES" sz="2000">
                  <a:solidFill>
                    <a:srgbClr val="3333FF"/>
                  </a:solidFill>
                  <a:latin typeface="Arial" panose="020B0604020202020204" pitchFamily="34" charset="0"/>
                </a:rPr>
                <a:t>super</a:t>
              </a:r>
            </a:p>
            <a:p>
              <a:pPr algn="ctr" eaLnBrk="1" hangingPunct="1">
                <a:spcBef>
                  <a:spcPts val="0"/>
                </a:spcBef>
                <a:buFontTx/>
                <a:buNone/>
                <a:defRPr/>
              </a:pPr>
              <a:r>
                <a:rPr lang="es-ES" sz="2000">
                  <a:solidFill>
                    <a:srgbClr val="3333FF"/>
                  </a:solidFill>
                  <a:latin typeface="Arial" panose="020B0604020202020204" pitchFamily="34" charset="0"/>
                </a:rPr>
                <a:t>conductor</a:t>
              </a:r>
            </a:p>
          </p:txBody>
        </p:sp>
        <p:sp>
          <p:nvSpPr>
            <p:cNvPr id="32" name="Freeform 21"/>
            <p:cNvSpPr>
              <a:spLocks/>
            </p:cNvSpPr>
            <p:nvPr/>
          </p:nvSpPr>
          <p:spPr bwMode="auto">
            <a:xfrm>
              <a:off x="2133465" y="4841141"/>
              <a:ext cx="1423887" cy="1190498"/>
            </a:xfrm>
            <a:custGeom>
              <a:avLst/>
              <a:gdLst>
                <a:gd name="T0" fmla="*/ 0 w 665"/>
                <a:gd name="T1" fmla="*/ 13 h 556"/>
                <a:gd name="T2" fmla="*/ 454 w 665"/>
                <a:gd name="T3" fmla="*/ 90 h 556"/>
                <a:gd name="T4" fmla="*/ 665 w 665"/>
                <a:gd name="T5" fmla="*/ 556 h 556"/>
                <a:gd name="T6" fmla="*/ 0 60000 65536"/>
                <a:gd name="T7" fmla="*/ 0 60000 65536"/>
                <a:gd name="T8" fmla="*/ 0 60000 65536"/>
                <a:gd name="T9" fmla="*/ 0 w 665"/>
                <a:gd name="T10" fmla="*/ 0 h 556"/>
                <a:gd name="T11" fmla="*/ 665 w 665"/>
                <a:gd name="T12" fmla="*/ 556 h 55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65" h="556">
                  <a:moveTo>
                    <a:pt x="0" y="13"/>
                  </a:moveTo>
                  <a:cubicBezTo>
                    <a:pt x="171" y="6"/>
                    <a:pt x="343" y="0"/>
                    <a:pt x="454" y="90"/>
                  </a:cubicBezTo>
                  <a:cubicBezTo>
                    <a:pt x="565" y="180"/>
                    <a:pt x="615" y="368"/>
                    <a:pt x="665" y="556"/>
                  </a:cubicBezTo>
                </a:path>
              </a:pathLst>
            </a:custGeom>
            <a:noFill/>
            <a:ln w="25400">
              <a:solidFill>
                <a:srgbClr val="008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82800" rIns="90000" bIns="82800" anchorCtr="1">
              <a:spAutoFit/>
            </a:bodyPr>
            <a:lstStyle/>
            <a:p>
              <a:endParaRPr lang="en-GB"/>
            </a:p>
          </p:txBody>
        </p:sp>
      </p:grpSp>
      <p:grpSp>
        <p:nvGrpSpPr>
          <p:cNvPr id="18" name="Grupo 17"/>
          <p:cNvGrpSpPr/>
          <p:nvPr/>
        </p:nvGrpSpPr>
        <p:grpSpPr>
          <a:xfrm>
            <a:off x="1923259" y="2219673"/>
            <a:ext cx="1676954" cy="1157689"/>
            <a:chOff x="2106747" y="4911277"/>
            <a:chExt cx="1676954" cy="1157689"/>
          </a:xfrm>
        </p:grpSpPr>
        <p:sp>
          <p:nvSpPr>
            <p:cNvPr id="19" name="Freeform 21"/>
            <p:cNvSpPr>
              <a:spLocks/>
            </p:cNvSpPr>
            <p:nvPr/>
          </p:nvSpPr>
          <p:spPr bwMode="auto">
            <a:xfrm>
              <a:off x="2106747" y="4986695"/>
              <a:ext cx="1294443" cy="1082271"/>
            </a:xfrm>
            <a:custGeom>
              <a:avLst/>
              <a:gdLst>
                <a:gd name="T0" fmla="*/ 0 w 665"/>
                <a:gd name="T1" fmla="*/ 13 h 556"/>
                <a:gd name="T2" fmla="*/ 454 w 665"/>
                <a:gd name="T3" fmla="*/ 90 h 556"/>
                <a:gd name="T4" fmla="*/ 665 w 665"/>
                <a:gd name="T5" fmla="*/ 556 h 556"/>
                <a:gd name="T6" fmla="*/ 0 60000 65536"/>
                <a:gd name="T7" fmla="*/ 0 60000 65536"/>
                <a:gd name="T8" fmla="*/ 0 60000 65536"/>
                <a:gd name="T9" fmla="*/ 0 w 665"/>
                <a:gd name="T10" fmla="*/ 0 h 556"/>
                <a:gd name="T11" fmla="*/ 665 w 665"/>
                <a:gd name="T12" fmla="*/ 556 h 55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65" h="556">
                  <a:moveTo>
                    <a:pt x="0" y="13"/>
                  </a:moveTo>
                  <a:cubicBezTo>
                    <a:pt x="171" y="6"/>
                    <a:pt x="343" y="0"/>
                    <a:pt x="454" y="90"/>
                  </a:cubicBezTo>
                  <a:cubicBezTo>
                    <a:pt x="565" y="180"/>
                    <a:pt x="615" y="368"/>
                    <a:pt x="665" y="556"/>
                  </a:cubicBezTo>
                </a:path>
              </a:pathLst>
            </a:custGeom>
            <a:noFill/>
            <a:ln w="25400">
              <a:solidFill>
                <a:srgbClr val="008000"/>
              </a:solidFill>
              <a:prstDash val="dash"/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20" name="Text Box 7"/>
            <p:cNvSpPr txBox="1">
              <a:spLocks noChangeArrowheads="1"/>
            </p:cNvSpPr>
            <p:nvPr/>
          </p:nvSpPr>
          <p:spPr bwMode="auto">
            <a:xfrm>
              <a:off x="3410309" y="5212025"/>
              <a:ext cx="373392" cy="6092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0000" tIns="118800" rIns="90000" bIns="1188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  <a:defRPr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I</a:t>
              </a:r>
            </a:p>
          </p:txBody>
        </p:sp>
        <p:sp>
          <p:nvSpPr>
            <p:cNvPr id="21" name="Text Box 7"/>
            <p:cNvSpPr txBox="1">
              <a:spLocks noChangeArrowheads="1"/>
            </p:cNvSpPr>
            <p:nvPr/>
          </p:nvSpPr>
          <p:spPr bwMode="auto">
            <a:xfrm>
              <a:off x="2360667" y="4911277"/>
              <a:ext cx="373392" cy="6092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0000" tIns="118800" rIns="90000" bIns="1188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  <a:defRPr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II</a:t>
              </a:r>
            </a:p>
          </p:txBody>
        </p:sp>
      </p:grpSp>
      <p:sp>
        <p:nvSpPr>
          <p:cNvPr id="24" name="CuadroTexto 23"/>
          <p:cNvSpPr txBox="1">
            <a:spLocks noChangeArrowheads="1"/>
          </p:cNvSpPr>
          <p:nvPr/>
        </p:nvSpPr>
        <p:spPr bwMode="auto">
          <a:xfrm>
            <a:off x="1409909" y="4109624"/>
            <a:ext cx="8808751" cy="2064769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108000" rIns="108000" bIns="1080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En los de </a:t>
            </a:r>
            <a:r>
              <a:rPr lang="es-ES" sz="2400" b="1">
                <a:solidFill>
                  <a:srgbClr val="008000"/>
                </a:solidFill>
                <a:latin typeface="Arial" panose="020B0604020202020204" pitchFamily="34" charset="0"/>
              </a:rPr>
              <a:t>Tipo II</a:t>
            </a:r>
            <a:r>
              <a:rPr lang="es-ES" sz="2400">
                <a:latin typeface="Arial" panose="020B0604020202020204" pitchFamily="34" charset="0"/>
              </a:rPr>
              <a:t>,</a:t>
            </a:r>
            <a:r>
              <a:rPr lang="es-ES" sz="2400" b="1">
                <a:solidFill>
                  <a:srgbClr val="008000"/>
                </a:solidFill>
                <a:latin typeface="Arial" panose="020B0604020202020204" pitchFamily="34" charset="0"/>
              </a:rPr>
              <a:t> </a:t>
            </a:r>
            <a:r>
              <a:rPr lang="es-ES" sz="2400">
                <a:latin typeface="Arial" panose="020B0604020202020204" pitchFamily="34" charset="0"/>
              </a:rPr>
              <a:t>si </a:t>
            </a:r>
            <a:r>
              <a:rPr lang="es-ES" sz="2400" dirty="0">
                <a:latin typeface="Arial" panose="020B0604020202020204" pitchFamily="34" charset="0"/>
              </a:rPr>
              <a:t>se está entre </a:t>
            </a:r>
            <a:r>
              <a:rPr lang="es-ES" sz="2400">
                <a:latin typeface="Arial" panose="020B0604020202020204" pitchFamily="34" charset="0"/>
              </a:rPr>
              <a:t>ambas curvas, hay zonas con </a:t>
            </a:r>
            <a:r>
              <a:rPr lang="es-ES" sz="2400" b="1">
                <a:latin typeface="Arial" panose="020B0604020202020204" pitchFamily="34" charset="0"/>
              </a:rPr>
              <a:t>B</a:t>
            </a:r>
            <a:r>
              <a:rPr lang="es-ES" sz="2400">
                <a:latin typeface="Arial" panose="020B0604020202020204" pitchFamily="34" charset="0"/>
              </a:rPr>
              <a:t>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 </a:t>
            </a:r>
            <a:r>
              <a:rPr lang="es-ES" sz="2400" b="1" dirty="0">
                <a:latin typeface="Arial" panose="020B0604020202020204" pitchFamily="34" charset="0"/>
              </a:rPr>
              <a:t>0</a:t>
            </a:r>
            <a:r>
              <a:rPr lang="es-ES" sz="2400" dirty="0">
                <a:latin typeface="Arial" panose="020B0604020202020204" pitchFamily="34" charset="0"/>
              </a:rPr>
              <a:t>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(vórtices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)</a:t>
            </a:r>
            <a:r>
              <a:rPr lang="es-ES" sz="2400">
                <a:latin typeface="Arial" panose="020B0604020202020204" pitchFamily="34" charset="0"/>
              </a:rPr>
              <a:t>, donde las líneas de campo cruzan y donde </a:t>
            </a:r>
            <a:r>
              <a:rPr lang="es-ES" sz="2400" dirty="0">
                <a:latin typeface="Arial" panose="020B0604020202020204" pitchFamily="34" charset="0"/>
              </a:rPr>
              <a:t>el </a:t>
            </a:r>
            <a:r>
              <a:rPr lang="es-ES" sz="2400">
                <a:latin typeface="Arial" panose="020B0604020202020204" pitchFamily="34" charset="0"/>
              </a:rPr>
              <a:t>material puede mostrar su ferromagnetismo. Los vórtices crecen </a:t>
            </a:r>
            <a:r>
              <a:rPr lang="es-ES" sz="2400" dirty="0">
                <a:latin typeface="Arial" panose="020B0604020202020204" pitchFamily="34" charset="0"/>
              </a:rPr>
              <a:t>hacia la región </a:t>
            </a:r>
            <a:r>
              <a:rPr lang="es-ES" sz="2400">
                <a:latin typeface="Arial" panose="020B0604020202020204" pitchFamily="34" charset="0"/>
              </a:rPr>
              <a:t>conductora hasta ocupar todo el material, y decrecen hacia la supercond. hasta desaparecer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25" name="Text Box 74"/>
          <p:cNvSpPr txBox="1">
            <a:spLocks noChangeArrowheads="1"/>
          </p:cNvSpPr>
          <p:nvPr/>
        </p:nvSpPr>
        <p:spPr bwMode="auto">
          <a:xfrm>
            <a:off x="1343127" y="6171635"/>
            <a:ext cx="8875534" cy="782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4000" tIns="82800" rIns="54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ts val="2400"/>
              </a:lnSpc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Un tipo II moviéndose por un "raíl" de imanes con la misma orientación, levita encima o queda suspendido debajo, “anclado”</a:t>
            </a:r>
          </a:p>
        </p:txBody>
      </p:sp>
      <p:sp>
        <p:nvSpPr>
          <p:cNvPr id="29" name="Text Box 83">
            <a:extLst>
              <a:ext uri="{FF2B5EF4-FFF2-40B4-BE49-F238E27FC236}">
                <a16:creationId xmlns:a16="http://schemas.microsoft.com/office/drawing/2014/main" id="{8850DED5-9D6A-475C-A495-195E265F37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0293" y="351626"/>
            <a:ext cx="2685351" cy="558615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wrap="none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cs typeface="Arial" panose="020B0604020202020204" pitchFamily="34" charset="0"/>
              </a:rPr>
              <a:t>Superconductores</a:t>
            </a:r>
          </a:p>
        </p:txBody>
      </p:sp>
      <p:sp>
        <p:nvSpPr>
          <p:cNvPr id="26" name="Text Box 16">
            <a:extLst>
              <a:ext uri="{FF2B5EF4-FFF2-40B4-BE49-F238E27FC236}">
                <a16:creationId xmlns:a16="http://schemas.microsoft.com/office/drawing/2014/main" id="{1E341E68-45AD-4DA7-8535-120954F623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1228" y="2289780"/>
            <a:ext cx="4637968" cy="1695437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square" lIns="108000" tIns="108000" rIns="108000" bIns="108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La anulación del </a:t>
            </a: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</a:rPr>
              <a:t>B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ocurre por debajo de la relación B(T), si son de </a:t>
            </a:r>
            <a:r>
              <a:rPr lang="es-ES" sz="2400" b="1" dirty="0">
                <a:solidFill>
                  <a:srgbClr val="008000"/>
                </a:solidFill>
                <a:latin typeface="Arial" panose="020B0604020202020204" pitchFamily="34" charset="0"/>
              </a:rPr>
              <a:t>Tipo 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, o por debajo de una inferior, si son de </a:t>
            </a:r>
            <a:r>
              <a:rPr lang="es-ES" sz="2400" b="1" dirty="0">
                <a:solidFill>
                  <a:srgbClr val="008000"/>
                </a:solidFill>
                <a:latin typeface="Arial" panose="020B0604020202020204" pitchFamily="34" charset="0"/>
              </a:rPr>
              <a:t>Tipo II</a:t>
            </a:r>
          </a:p>
        </p:txBody>
      </p:sp>
      <p:sp>
        <p:nvSpPr>
          <p:cNvPr id="27" name="Text Box 7">
            <a:extLst>
              <a:ext uri="{FF2B5EF4-FFF2-40B4-BE49-F238E27FC236}">
                <a16:creationId xmlns:a16="http://schemas.microsoft.com/office/drawing/2014/main" id="{3176C367-C170-4E0D-B650-7CCF73D388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2328" y="1613424"/>
            <a:ext cx="3018155" cy="609252"/>
          </a:xfrm>
          <a:prstGeom prst="rect">
            <a:avLst/>
          </a:prstGeom>
          <a:noFill/>
          <a:ln>
            <a:noFill/>
          </a:ln>
        </p:spPr>
        <p:txBody>
          <a:bodyPr wrap="square" lIns="90000" tIns="118800" rIns="90000" bIns="118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(no disipan energía)</a:t>
            </a:r>
          </a:p>
        </p:txBody>
      </p:sp>
      <p:sp>
        <p:nvSpPr>
          <p:cNvPr id="2" name="Text Box 7">
            <a:extLst>
              <a:ext uri="{FF2B5EF4-FFF2-40B4-BE49-F238E27FC236}">
                <a16:creationId xmlns:a16="http://schemas.microsoft.com/office/drawing/2014/main" id="{6E15219E-64C8-8E6D-CFCE-365FFFDF26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5793" y="351626"/>
            <a:ext cx="6306844" cy="134791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wrap="square" lIns="90000" tIns="118800" rIns="90000" bIns="118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>
                <a:latin typeface="Arial" panose="020B0604020202020204" pitchFamily="34" charset="0"/>
              </a:rPr>
              <a:t>Conductores que para cualquier par (campo aplicado, temperatura), por debajo de cierta relación entre B</a:t>
            </a:r>
            <a:r>
              <a:rPr lang="es-ES" sz="2400" baseline="-25000">
                <a:latin typeface="Arial" panose="020B0604020202020204" pitchFamily="34" charset="0"/>
              </a:rPr>
              <a:t>apl</a:t>
            </a:r>
            <a:r>
              <a:rPr lang="es-ES" sz="2400">
                <a:latin typeface="Arial" panose="020B0604020202020204" pitchFamily="34" charset="0"/>
              </a:rPr>
              <a:t> y T, tienen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resistencia nula</a:t>
            </a:r>
          </a:p>
        </p:txBody>
      </p:sp>
    </p:spTree>
    <p:extLst>
      <p:ext uri="{BB962C8B-B14F-4D97-AF65-F5344CB8AC3E}">
        <p14:creationId xmlns:p14="http://schemas.microsoft.com/office/powerpoint/2010/main" val="1845677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/>
      <p:bldP spid="2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uadroTexto 5"/>
          <p:cNvSpPr txBox="1">
            <a:spLocks noChangeArrowheads="1"/>
          </p:cNvSpPr>
          <p:nvPr/>
        </p:nvSpPr>
        <p:spPr bwMode="auto">
          <a:xfrm>
            <a:off x="1270985" y="374600"/>
            <a:ext cx="9095759" cy="31727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08000" tIns="108000" rIns="108000" bIns="1080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 Por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ahora las </a:t>
            </a: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temperaturas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a las que los materiales que se sabe que tienen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comportamiento superconductor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lo manifiestan son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bajas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respecto a las ordinarias. Al principio era a algunos Kelvin y se usaba helio líquido como refrigerante (</a:t>
            </a:r>
            <a:r>
              <a:rPr lang="es-ES" sz="2400" dirty="0" err="1">
                <a:latin typeface="Arial" panose="020B0604020202020204" pitchFamily="34" charset="0"/>
                <a:sym typeface="Symbol" panose="05050102010706020507" pitchFamily="18" charset="2"/>
              </a:rPr>
              <a:t>T</a:t>
            </a:r>
            <a:r>
              <a:rPr lang="es-ES" sz="2400" baseline="-25000" dirty="0" err="1">
                <a:latin typeface="Arial" panose="020B0604020202020204" pitchFamily="34" charset="0"/>
                <a:sym typeface="Symbol" panose="05050102010706020507" pitchFamily="18" charset="2"/>
              </a:rPr>
              <a:t>ebullición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= 4 K). En un momento dado se superaron los 90 K (-183 </a:t>
            </a:r>
            <a:r>
              <a:rPr lang="es-ES" sz="2400" dirty="0" err="1">
                <a:latin typeface="Arial" panose="020B0604020202020204" pitchFamily="34" charset="0"/>
                <a:sym typeface="Symbol" panose="05050102010706020507" pitchFamily="18" charset="2"/>
              </a:rPr>
              <a:t>ºC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) y eso permitió usar nitrógeno líquido (77 K), que es mucho más barato de producir y de más fácil manejo. Hoy se conocen materiales superconductores a unos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200 K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(-73 </a:t>
            </a:r>
            <a:r>
              <a:rPr lang="es-ES" sz="2400" dirty="0" err="1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ºC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), pero a muy alta presión</a:t>
            </a:r>
            <a:endParaRPr lang="es-ES" sz="2400" dirty="0">
              <a:solidFill>
                <a:srgbClr val="3333FF"/>
              </a:solidFill>
              <a:latin typeface="Arial" panose="020B0604020202020204" pitchFamily="34" charset="0"/>
            </a:endParaRPr>
          </a:p>
        </p:txBody>
      </p:sp>
      <p:sp>
        <p:nvSpPr>
          <p:cNvPr id="4" name="CuadroTexto 5">
            <a:extLst>
              <a:ext uri="{FF2B5EF4-FFF2-40B4-BE49-F238E27FC236}">
                <a16:creationId xmlns:a16="http://schemas.microsoft.com/office/drawing/2014/main" id="{E4868305-35CD-4ABF-8AA7-4DE01703F8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0985" y="3696971"/>
            <a:ext cx="9099756" cy="31727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08000" tIns="108000" rIns="108000" bIns="1080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 En un superconductor los electrones, debido a la polarización local que crean en el material que atrae a otros, se mueven en parejas llamadas </a:t>
            </a: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pares de Cooper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. En las colisiones de estos pares con el material no se cede, o gana, energía, no se disipa. Por ello, se le asocia a un superconductor una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resistencia nula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(P=R</a:t>
            </a:r>
            <a:r>
              <a:rPr lang="es-ES" sz="240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sz="2400" baseline="30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=0). Ahora bien, la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conductividad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, o la </a:t>
            </a:r>
            <a:r>
              <a:rPr lang="es-ES" sz="240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I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que circula en un superconductor al aplicarle una V (</a:t>
            </a:r>
            <a:r>
              <a:rPr lang="es-ES" sz="240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I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= V/R), son grandes, pero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no 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. Las colisiones y la concentración de portadores las limitan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FNT_2012_TEMA1_1">
  <a:themeElements>
    <a:clrScheme name="FNT_2012_TEMA1_1 1">
      <a:dk1>
        <a:srgbClr val="000000"/>
      </a:dk1>
      <a:lt1>
        <a:srgbClr val="FEFDE3"/>
      </a:lt1>
      <a:dk2>
        <a:srgbClr val="221304"/>
      </a:dk2>
      <a:lt2>
        <a:srgbClr val="CBBD83"/>
      </a:lt2>
      <a:accent1>
        <a:srgbClr val="A1BD69"/>
      </a:accent1>
      <a:accent2>
        <a:srgbClr val="3694B6"/>
      </a:accent2>
      <a:accent3>
        <a:srgbClr val="FEFEEF"/>
      </a:accent3>
      <a:accent4>
        <a:srgbClr val="000000"/>
      </a:accent4>
      <a:accent5>
        <a:srgbClr val="CDDBB9"/>
      </a:accent5>
      <a:accent6>
        <a:srgbClr val="3086A5"/>
      </a:accent6>
      <a:hlink>
        <a:srgbClr val="660066"/>
      </a:hlink>
      <a:folHlink>
        <a:srgbClr val="666699"/>
      </a:folHlink>
    </a:clrScheme>
    <a:fontScheme name="FNT_2012_TEMA1_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lg" len="lg"/>
        </a:ln>
        <a:effectLst/>
      </a:spPr>
      <a:bodyPr vert="horz" wrap="none" lIns="90000" tIns="82800" rIns="90000" bIns="82800" numCol="1" anchor="t" anchorCtr="1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s-ES" sz="20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lg" len="lg"/>
        </a:ln>
        <a:effectLst/>
      </a:spPr>
      <a:bodyPr vert="horz" wrap="none" lIns="90000" tIns="82800" rIns="90000" bIns="82800" numCol="1" anchor="t" anchorCtr="1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s-ES" sz="20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FNT_2012_TEMA1_1 1">
        <a:dk1>
          <a:srgbClr val="000000"/>
        </a:dk1>
        <a:lt1>
          <a:srgbClr val="FEFDE3"/>
        </a:lt1>
        <a:dk2>
          <a:srgbClr val="221304"/>
        </a:dk2>
        <a:lt2>
          <a:srgbClr val="CBBD83"/>
        </a:lt2>
        <a:accent1>
          <a:srgbClr val="A1BD69"/>
        </a:accent1>
        <a:accent2>
          <a:srgbClr val="3694B6"/>
        </a:accent2>
        <a:accent3>
          <a:srgbClr val="FEFEEF"/>
        </a:accent3>
        <a:accent4>
          <a:srgbClr val="000000"/>
        </a:accent4>
        <a:accent5>
          <a:srgbClr val="CDDBB9"/>
        </a:accent5>
        <a:accent6>
          <a:srgbClr val="3086A5"/>
        </a:accent6>
        <a:hlink>
          <a:srgbClr val="6600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NT_2012_TEMA1_1 2">
        <a:dk1>
          <a:srgbClr val="000000"/>
        </a:dk1>
        <a:lt1>
          <a:srgbClr val="FFFFFF"/>
        </a:lt1>
        <a:dk2>
          <a:srgbClr val="221304"/>
        </a:dk2>
        <a:lt2>
          <a:srgbClr val="CBBD83"/>
        </a:lt2>
        <a:accent1>
          <a:srgbClr val="A1BD69"/>
        </a:accent1>
        <a:accent2>
          <a:srgbClr val="3694B6"/>
        </a:accent2>
        <a:accent3>
          <a:srgbClr val="FFFFFF"/>
        </a:accent3>
        <a:accent4>
          <a:srgbClr val="000000"/>
        </a:accent4>
        <a:accent5>
          <a:srgbClr val="CDDBB9"/>
        </a:accent5>
        <a:accent6>
          <a:srgbClr val="3086A5"/>
        </a:accent6>
        <a:hlink>
          <a:srgbClr val="6600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NT_2012_TEMA1_1 3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FNT_2012_TEMA1_1</Template>
  <TotalTime>17067</TotalTime>
  <Words>2980</Words>
  <Application>Microsoft Office PowerPoint</Application>
  <PresentationFormat>Personalizado</PresentationFormat>
  <Paragraphs>489</Paragraphs>
  <Slides>24</Slides>
  <Notes>23</Notes>
  <HiddenSlides>0</HiddenSlides>
  <MMClips>0</MMClips>
  <ScaleCrop>false</ScaleCrop>
  <HeadingPairs>
    <vt:vector size="8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31" baseType="lpstr">
      <vt:lpstr>Arial</vt:lpstr>
      <vt:lpstr>Comic Sans MS</vt:lpstr>
      <vt:lpstr>Symbol</vt:lpstr>
      <vt:lpstr>Times New Roman</vt:lpstr>
      <vt:lpstr>Trebuchet MS</vt:lpstr>
      <vt:lpstr>FNT_2012_TEMA1_1</vt:lpstr>
      <vt:lpstr>Ecuación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DFA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FÍSICA</dc:creator>
  <cp:lastModifiedBy>KIKE</cp:lastModifiedBy>
  <cp:revision>2430</cp:revision>
  <dcterms:created xsi:type="dcterms:W3CDTF">2012-02-20T13:06:36Z</dcterms:created>
  <dcterms:modified xsi:type="dcterms:W3CDTF">2024-12-03T18:24:05Z</dcterms:modified>
</cp:coreProperties>
</file>