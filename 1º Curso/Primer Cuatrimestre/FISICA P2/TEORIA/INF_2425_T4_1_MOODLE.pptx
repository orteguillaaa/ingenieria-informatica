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0"/>
  </p:notesMasterIdLst>
  <p:handoutMasterIdLst>
    <p:handoutMasterId r:id="rId21"/>
  </p:handoutMasterIdLst>
  <p:sldIdLst>
    <p:sldId id="483" r:id="rId2"/>
    <p:sldId id="484" r:id="rId3"/>
    <p:sldId id="485" r:id="rId4"/>
    <p:sldId id="538" r:id="rId5"/>
    <p:sldId id="488" r:id="rId6"/>
    <p:sldId id="515" r:id="rId7"/>
    <p:sldId id="540" r:id="rId8"/>
    <p:sldId id="541" r:id="rId9"/>
    <p:sldId id="489" r:id="rId10"/>
    <p:sldId id="517" r:id="rId11"/>
    <p:sldId id="546" r:id="rId12"/>
    <p:sldId id="528" r:id="rId13"/>
    <p:sldId id="537" r:id="rId14"/>
    <p:sldId id="490" r:id="rId15"/>
    <p:sldId id="545" r:id="rId16"/>
    <p:sldId id="544" r:id="rId17"/>
    <p:sldId id="536" r:id="rId18"/>
    <p:sldId id="327" r:id="rId19"/>
  </p:sldIdLst>
  <p:sldSz cx="10801350" cy="7200900"/>
  <p:notesSz cx="6815138" cy="9942513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6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FFFF99"/>
    <a:srgbClr val="008000"/>
    <a:srgbClr val="CC0000"/>
    <a:srgbClr val="CCFFCC"/>
    <a:srgbClr val="FFFFFF"/>
    <a:srgbClr val="CC6600"/>
    <a:srgbClr val="777777"/>
    <a:srgbClr val="C0C0C0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82" autoAdjust="0"/>
    <p:restoredTop sz="96283" autoAdjust="0"/>
  </p:normalViewPr>
  <p:slideViewPr>
    <p:cSldViewPr snapToGrid="0" showGuides="1">
      <p:cViewPr varScale="1">
        <p:scale>
          <a:sx n="103" d="100"/>
          <a:sy n="103" d="100"/>
        </p:scale>
        <p:origin x="1428" y="108"/>
      </p:cViewPr>
      <p:guideLst>
        <p:guide orient="horz" pos="2268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BC7EDF2A-0FAD-440C-B1D1-E5F86710954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78947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09600" y="746125"/>
            <a:ext cx="55943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4400"/>
            <a:ext cx="5453062" cy="44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78252CD-5405-452F-82DA-A6F0A74E541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90656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81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E0306DC-052A-49A2-9AC6-2A635F6F65DF}" type="slidenum">
              <a:rPr lang="es-ES" smtClean="0"/>
              <a:pPr>
                <a:spcBef>
                  <a:spcPct val="0"/>
                </a:spcBef>
              </a:pPr>
              <a:t>1</a:t>
            </a:fld>
            <a:endParaRPr lang="es-ES"/>
          </a:p>
        </p:txBody>
      </p:sp>
      <p:sp>
        <p:nvSpPr>
          <p:cNvPr id="81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927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CD748B-B17D-43D9-990A-14B0D0CC9FA0}" type="slidenum">
              <a:rPr lang="es-ES" smtClean="0"/>
              <a:pPr>
                <a:spcBef>
                  <a:spcPct val="0"/>
                </a:spcBef>
              </a:pPr>
              <a:t>2</a:t>
            </a:fld>
            <a:endParaRPr lang="es-ES"/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418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55B2381-6DDB-4468-97EA-F583FFEC7E81}" type="slidenum">
              <a:rPr lang="es-ES" smtClean="0"/>
              <a:pPr>
                <a:spcBef>
                  <a:spcPct val="0"/>
                </a:spcBef>
              </a:pPr>
              <a:t>3</a:t>
            </a:fld>
            <a:endParaRPr lang="es-ES"/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894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55B2381-6DDB-4468-97EA-F583FFEC7E81}" type="slidenum">
              <a:rPr lang="es-ES" smtClean="0"/>
              <a:pPr>
                <a:spcBef>
                  <a:spcPct val="0"/>
                </a:spcBef>
              </a:pPr>
              <a:t>4</a:t>
            </a:fld>
            <a:endParaRPr lang="es-ES"/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485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84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B15D923-06F3-476C-B0A5-2437647DE282}" type="slidenum">
              <a:rPr lang="es-ES" smtClean="0"/>
              <a:pPr>
                <a:spcBef>
                  <a:spcPct val="0"/>
                </a:spcBef>
              </a:pPr>
              <a:t>5</a:t>
            </a:fld>
            <a:endParaRPr lang="es-ES"/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479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84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B15D923-06F3-476C-B0A5-2437647DE282}" type="slidenum">
              <a:rPr lang="es-ES" smtClean="0"/>
              <a:pPr>
                <a:spcBef>
                  <a:spcPct val="0"/>
                </a:spcBef>
              </a:pPr>
              <a:t>6</a:t>
            </a:fld>
            <a:endParaRPr lang="es-ES"/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0258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84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B15D923-06F3-476C-B0A5-2437647DE282}" type="slidenum">
              <a:rPr lang="es-ES" smtClean="0"/>
              <a:pPr>
                <a:spcBef>
                  <a:spcPct val="0"/>
                </a:spcBef>
              </a:pPr>
              <a:t>7</a:t>
            </a:fld>
            <a:endParaRPr lang="es-ES"/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535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84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B15D923-06F3-476C-B0A5-2437647DE282}" type="slidenum">
              <a:rPr lang="es-ES" smtClean="0"/>
              <a:pPr>
                <a:spcBef>
                  <a:spcPct val="0"/>
                </a:spcBef>
              </a:pPr>
              <a:t>8</a:t>
            </a:fld>
            <a:endParaRPr lang="es-ES"/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1738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04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918400D-B0C8-48BA-9738-8A80B7DE904B}" type="slidenum">
              <a:rPr lang="es-ES" smtClean="0"/>
              <a:pPr>
                <a:spcBef>
                  <a:spcPct val="0"/>
                </a:spcBef>
              </a:pPr>
              <a:t>9</a:t>
            </a:fld>
            <a:endParaRPr lang="es-ES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9351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04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918400D-B0C8-48BA-9738-8A80B7DE904B}" type="slidenum">
              <a:rPr lang="es-ES" smtClean="0"/>
              <a:pPr>
                <a:spcBef>
                  <a:spcPct val="0"/>
                </a:spcBef>
              </a:pPr>
              <a:t>10</a:t>
            </a:fld>
            <a:endParaRPr lang="es-ES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1646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04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918400D-B0C8-48BA-9738-8A80B7DE904B}" type="slidenum">
              <a:rPr lang="es-ES" smtClean="0"/>
              <a:pPr>
                <a:spcBef>
                  <a:spcPct val="0"/>
                </a:spcBef>
              </a:pPr>
              <a:t>11</a:t>
            </a:fld>
            <a:endParaRPr lang="es-ES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0037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04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918400D-B0C8-48BA-9738-8A80B7DE904B}" type="slidenum">
              <a:rPr lang="es-ES" smtClean="0"/>
              <a:pPr>
                <a:spcBef>
                  <a:spcPct val="0"/>
                </a:spcBef>
              </a:pPr>
              <a:t>12</a:t>
            </a:fld>
            <a:endParaRPr lang="es-ES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1014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04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918400D-B0C8-48BA-9738-8A80B7DE904B}" type="slidenum">
              <a:rPr lang="es-ES" smtClean="0"/>
              <a:pPr>
                <a:spcBef>
                  <a:spcPct val="0"/>
                </a:spcBef>
              </a:pPr>
              <a:t>13</a:t>
            </a:fld>
            <a:endParaRPr lang="es-ES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4771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25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D44850B-6769-47AC-945D-9113F9F0BDFE}" type="slidenum">
              <a:rPr lang="es-ES" smtClean="0"/>
              <a:pPr>
                <a:spcBef>
                  <a:spcPct val="0"/>
                </a:spcBef>
              </a:pPr>
              <a:t>14</a:t>
            </a:fld>
            <a:endParaRPr lang="es-ES"/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7304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25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D44850B-6769-47AC-945D-9113F9F0BDFE}" type="slidenum">
              <a:rPr lang="es-ES" smtClean="0"/>
              <a:pPr>
                <a:spcBef>
                  <a:spcPct val="0"/>
                </a:spcBef>
              </a:pPr>
              <a:t>15</a:t>
            </a:fld>
            <a:endParaRPr lang="es-ES"/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9930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45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4740D28-8757-440F-9120-11D1F5FEEBC4}" type="slidenum">
              <a:rPr lang="es-ES" smtClean="0"/>
              <a:pPr>
                <a:spcBef>
                  <a:spcPct val="0"/>
                </a:spcBef>
              </a:pPr>
              <a:t>16</a:t>
            </a:fld>
            <a:endParaRPr lang="es-ES"/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5174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45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4740D28-8757-440F-9120-11D1F5FEEBC4}" type="slidenum">
              <a:rPr lang="es-ES" smtClean="0"/>
              <a:pPr>
                <a:spcBef>
                  <a:spcPct val="0"/>
                </a:spcBef>
              </a:pPr>
              <a:t>17</a:t>
            </a:fld>
            <a:endParaRPr lang="es-ES"/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034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6" descr="Canvas"/>
          <p:cNvSpPr>
            <a:spLocks noChangeArrowheads="1"/>
          </p:cNvSpPr>
          <p:nvPr/>
        </p:nvSpPr>
        <p:spPr bwMode="white">
          <a:xfrm>
            <a:off x="623888" y="211138"/>
            <a:ext cx="9920287" cy="67913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1027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53975"/>
            <a:ext cx="1395413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28" descr="Canvas"/>
          <p:cNvSpPr>
            <a:spLocks noChangeArrowheads="1"/>
          </p:cNvSpPr>
          <p:nvPr/>
        </p:nvSpPr>
        <p:spPr bwMode="white">
          <a:xfrm>
            <a:off x="704850" y="4337050"/>
            <a:ext cx="1230313" cy="4794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Picture 1029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4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079500" y="2160588"/>
            <a:ext cx="9121775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94215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920875" y="4079875"/>
            <a:ext cx="7559675" cy="18605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dt" sz="quarter" idx="10"/>
          </p:nvPr>
        </p:nvSpPr>
        <p:spPr>
          <a:xfrm>
            <a:off x="1281113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0838" y="6400800"/>
            <a:ext cx="3421062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12138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FF1018-7615-4CF6-A392-A79958EB6E6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2361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C4E82E-E04D-4DD3-99F9-E8C4DCFC162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6585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2488" y="4627563"/>
            <a:ext cx="9182100" cy="143033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52488" y="3052763"/>
            <a:ext cx="9182100" cy="15748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3AF0D7-7975-4339-B5ED-65C6789F092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1666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60475" y="1839913"/>
            <a:ext cx="4424363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837238" y="1839913"/>
            <a:ext cx="4424362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936CF5-6ECD-44AF-AAE9-D6051D32D06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2844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8925"/>
            <a:ext cx="9721850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9750" y="1611313"/>
            <a:ext cx="4772025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39750" y="2284413"/>
            <a:ext cx="4772025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486400" y="1611313"/>
            <a:ext cx="4775200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486400" y="2284413"/>
            <a:ext cx="4775200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3A740-EBEA-4B74-93C1-79710ECC9C7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4608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EB05E5-E9FA-4F28-9571-E815F3637F5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6615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696EFB-2202-4B1C-B001-6C5000F83DC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4441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7338"/>
            <a:ext cx="3554413" cy="1219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22750" y="287338"/>
            <a:ext cx="6038850" cy="61452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39750" y="1506538"/>
            <a:ext cx="3554413" cy="49260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8D1C8A-881C-4967-83D9-2DE64CEBC2D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9881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17725" y="5040313"/>
            <a:ext cx="6480175" cy="59531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117725" y="642938"/>
            <a:ext cx="6480175" cy="43211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117725" y="5635625"/>
            <a:ext cx="6480175" cy="8445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920519-24B3-4461-B609-99C644BB31C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0482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49A5AE-9286-4980-B798-5C5D2B87FCD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5591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012113" y="400050"/>
            <a:ext cx="2249487" cy="57610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60475" y="400050"/>
            <a:ext cx="6599238" cy="57610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A25F6B-5A51-48E3-B2E1-3BEF4363598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8066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1260475" y="400050"/>
            <a:ext cx="9001125" cy="57610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775F0C-343C-4BC0-BBB6-4D7C0CD1401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984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906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720725" y="239713"/>
            <a:ext cx="9731375" cy="6710362"/>
          </a:xfrm>
          <a:prstGeom prst="rect">
            <a:avLst/>
          </a:prstGeom>
          <a:solidFill>
            <a:srgbClr val="EDE7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ltGray">
          <a:xfrm>
            <a:off x="1200150" y="1679575"/>
            <a:ext cx="906145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ES"/>
          </a:p>
        </p:txBody>
      </p:sp>
      <p:pic>
        <p:nvPicPr>
          <p:cNvPr id="1028" name="Picture 4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"/>
          <a:stretch>
            <a:fillRect/>
          </a:stretch>
        </p:blipFill>
        <p:spPr bwMode="ltGray">
          <a:xfrm>
            <a:off x="0" y="53975"/>
            <a:ext cx="1395413" cy="425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400050"/>
            <a:ext cx="9001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60475" y="1839913"/>
            <a:ext cx="9001125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319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98563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78288" y="6411913"/>
            <a:ext cx="3421062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29588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41D0915-F606-409C-92D4-30700CB16EB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0" r:id="rId1"/>
    <p:sldLayoutId id="2147483949" r:id="rId2"/>
    <p:sldLayoutId id="2147483950" r:id="rId3"/>
    <p:sldLayoutId id="2147483951" r:id="rId4"/>
    <p:sldLayoutId id="2147483952" r:id="rId5"/>
    <p:sldLayoutId id="2147483953" r:id="rId6"/>
    <p:sldLayoutId id="2147483954" r:id="rId7"/>
    <p:sldLayoutId id="2147483955" r:id="rId8"/>
    <p:sldLayoutId id="2147483956" r:id="rId9"/>
    <p:sldLayoutId id="2147483957" r:id="rId10"/>
    <p:sldLayoutId id="2147483958" r:id="rId11"/>
    <p:sldLayoutId id="2147483959" r:id="rId12"/>
  </p:sldLayoutIdLst>
  <p:txStyles>
    <p:titleStyle>
      <a:lvl1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2pPr>
      <a:lvl3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3pPr>
      <a:lvl4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4pPr>
      <a:lvl5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5pPr>
      <a:lvl6pPr marL="4572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6pPr>
      <a:lvl7pPr marL="9144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7pPr>
      <a:lvl8pPr marL="13716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8pPr>
      <a:lvl9pPr marL="18288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9pPr>
    </p:titleStyle>
    <p:bodyStyle>
      <a:lvl1pPr marL="385763" indent="-385763" algn="l" defTabSz="1028700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36613" indent="-322263" algn="l" defTabSz="1028700" rtl="0" eaLnBrk="0" fontAlgn="base" hangingPunct="0">
        <a:spcBef>
          <a:spcPct val="2000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</a:defRPr>
      </a:lvl2pPr>
      <a:lvl3pPr marL="1285875" indent="-257175" algn="l" defTabSz="1028700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800225" indent="-257175" algn="l" defTabSz="1028700" rtl="0" eaLnBrk="0" fontAlgn="base" hangingPunct="0">
        <a:spcBef>
          <a:spcPct val="20000"/>
        </a:spcBef>
        <a:spcAft>
          <a:spcPct val="0"/>
        </a:spcAft>
        <a:buChar char="–"/>
        <a:defRPr sz="2300">
          <a:solidFill>
            <a:schemeClr val="tx1"/>
          </a:solidFill>
          <a:latin typeface="+mn-lt"/>
        </a:defRPr>
      </a:lvl4pPr>
      <a:lvl5pPr marL="2314575" indent="-257175" algn="l" defTabSz="1028700" rtl="0" eaLnBrk="0" fontAlgn="base" hangingPunct="0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5pPr>
      <a:lvl6pPr marL="27717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6pPr>
      <a:lvl7pPr marL="32289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7pPr>
      <a:lvl8pPr marL="36861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8pPr>
      <a:lvl9pPr marL="41433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8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0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19"/>
          <p:cNvGrpSpPr>
            <a:grpSpLocks/>
          </p:cNvGrpSpPr>
          <p:nvPr/>
        </p:nvGrpSpPr>
        <p:grpSpPr bwMode="auto">
          <a:xfrm>
            <a:off x="2582863" y="2298700"/>
            <a:ext cx="6370637" cy="2963863"/>
            <a:chOff x="1627" y="1448"/>
            <a:chExt cx="4013" cy="1867"/>
          </a:xfrm>
        </p:grpSpPr>
        <p:sp>
          <p:nvSpPr>
            <p:cNvPr id="7180" name="Text Box 2"/>
            <p:cNvSpPr txBox="1">
              <a:spLocks noChangeArrowheads="1"/>
            </p:cNvSpPr>
            <p:nvPr/>
          </p:nvSpPr>
          <p:spPr bwMode="auto">
            <a:xfrm>
              <a:off x="1627" y="1965"/>
              <a:ext cx="4013" cy="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Comic Sans MS" panose="030F0702030302020204" pitchFamily="66" charset="0"/>
                </a:rPr>
                <a:t>CORRIENTE ELÉCTRICA</a:t>
              </a:r>
            </a:p>
            <a:p>
              <a:pPr algn="ctr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Comic Sans MS" panose="030F0702030302020204" pitchFamily="66" charset="0"/>
                </a:rPr>
                <a:t>CIRCUITOS DE CORRIENTE CONTINUA</a:t>
              </a:r>
            </a:p>
          </p:txBody>
        </p:sp>
        <p:sp>
          <p:nvSpPr>
            <p:cNvPr id="7181" name="Text Box 3"/>
            <p:cNvSpPr txBox="1">
              <a:spLocks noChangeArrowheads="1"/>
            </p:cNvSpPr>
            <p:nvPr/>
          </p:nvSpPr>
          <p:spPr bwMode="auto">
            <a:xfrm>
              <a:off x="3339" y="3027"/>
              <a:ext cx="588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Comic Sans MS" panose="030F0702030302020204" pitchFamily="66" charset="0"/>
                </a:rPr>
                <a:t>(1/3)</a:t>
              </a:r>
            </a:p>
          </p:txBody>
        </p:sp>
        <p:sp>
          <p:nvSpPr>
            <p:cNvPr id="7182" name="Text Box 4"/>
            <p:cNvSpPr txBox="1">
              <a:spLocks noChangeArrowheads="1"/>
            </p:cNvSpPr>
            <p:nvPr/>
          </p:nvSpPr>
          <p:spPr bwMode="auto">
            <a:xfrm>
              <a:off x="3191" y="1448"/>
              <a:ext cx="880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Comic Sans MS" panose="030F0702030302020204" pitchFamily="66" charset="0"/>
                </a:rPr>
                <a:t>TEMA 4</a:t>
              </a:r>
            </a:p>
          </p:txBody>
        </p:sp>
      </p:grpSp>
      <p:grpSp>
        <p:nvGrpSpPr>
          <p:cNvPr id="11" name="Group 21"/>
          <p:cNvGrpSpPr>
            <a:grpSpLocks/>
          </p:cNvGrpSpPr>
          <p:nvPr/>
        </p:nvGrpSpPr>
        <p:grpSpPr bwMode="auto">
          <a:xfrm>
            <a:off x="7872880" y="4769841"/>
            <a:ext cx="2574925" cy="2143125"/>
            <a:chOff x="4896" y="2935"/>
            <a:chExt cx="1622" cy="1350"/>
          </a:xfrm>
        </p:grpSpPr>
        <p:sp>
          <p:nvSpPr>
            <p:cNvPr id="12" name="AutoShape 1056"/>
            <p:cNvSpPr>
              <a:spLocks noChangeArrowheads="1"/>
            </p:cNvSpPr>
            <p:nvPr/>
          </p:nvSpPr>
          <p:spPr bwMode="auto">
            <a:xfrm>
              <a:off x="4896" y="2935"/>
              <a:ext cx="1622" cy="1350"/>
            </a:xfrm>
            <a:prstGeom prst="foldedCorner">
              <a:avLst>
                <a:gd name="adj" fmla="val 12500"/>
              </a:avLst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13" name="Text Box 1057"/>
            <p:cNvSpPr txBox="1">
              <a:spLocks noChangeArrowheads="1"/>
            </p:cNvSpPr>
            <p:nvPr/>
          </p:nvSpPr>
          <p:spPr bwMode="auto">
            <a:xfrm>
              <a:off x="5044" y="3079"/>
              <a:ext cx="1330" cy="523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Trebuchet MS" panose="020B0603020202020204" pitchFamily="34" charset="0"/>
                </a:rPr>
                <a:t>BOLETÍN DE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Trebuchet MS" panose="020B0603020202020204" pitchFamily="34" charset="0"/>
                </a:rPr>
                <a:t>PROBLEMAS</a:t>
              </a:r>
            </a:p>
          </p:txBody>
        </p:sp>
        <p:sp>
          <p:nvSpPr>
            <p:cNvPr id="14" name="Text Box 1058"/>
            <p:cNvSpPr txBox="1">
              <a:spLocks noChangeArrowheads="1"/>
            </p:cNvSpPr>
            <p:nvPr/>
          </p:nvSpPr>
          <p:spPr bwMode="auto">
            <a:xfrm>
              <a:off x="5498" y="3537"/>
              <a:ext cx="399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4800">
                  <a:solidFill>
                    <a:srgbClr val="3333FF"/>
                  </a:solidFill>
                  <a:latin typeface="Trebuchet MS" panose="020B0603020202020204" pitchFamily="34" charset="0"/>
                  <a:sym typeface="Wingdings" panose="05000000000000000000" pitchFamily="2" charset="2"/>
                </a:rPr>
                <a:t></a:t>
              </a:r>
            </a:p>
          </p:txBody>
        </p:sp>
        <p:sp>
          <p:nvSpPr>
            <p:cNvPr id="20" name="Text Box 1062"/>
            <p:cNvSpPr txBox="1">
              <a:spLocks noChangeArrowheads="1"/>
            </p:cNvSpPr>
            <p:nvPr/>
          </p:nvSpPr>
          <p:spPr bwMode="auto">
            <a:xfrm>
              <a:off x="5267" y="3951"/>
              <a:ext cx="8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Trebuchet MS" panose="020B0603020202020204" pitchFamily="34" charset="0"/>
                </a:rPr>
                <a:t>En Moodle</a:t>
              </a:r>
            </a:p>
          </p:txBody>
        </p:sp>
      </p:grpSp>
      <p:grpSp>
        <p:nvGrpSpPr>
          <p:cNvPr id="7" name="Group 23">
            <a:extLst>
              <a:ext uri="{FF2B5EF4-FFF2-40B4-BE49-F238E27FC236}">
                <a16:creationId xmlns:a16="http://schemas.microsoft.com/office/drawing/2014/main" id="{AF419307-6CFA-4023-8137-D8B42E218ED5}"/>
              </a:ext>
            </a:extLst>
          </p:cNvPr>
          <p:cNvGrpSpPr>
            <a:grpSpLocks/>
          </p:cNvGrpSpPr>
          <p:nvPr/>
        </p:nvGrpSpPr>
        <p:grpSpPr bwMode="auto">
          <a:xfrm>
            <a:off x="7237879" y="306751"/>
            <a:ext cx="3209926" cy="2143125"/>
            <a:chOff x="4896" y="276"/>
            <a:chExt cx="2022" cy="1350"/>
          </a:xfrm>
        </p:grpSpPr>
        <p:sp>
          <p:nvSpPr>
            <p:cNvPr id="8" name="AutoShape 1067">
              <a:extLst>
                <a:ext uri="{FF2B5EF4-FFF2-40B4-BE49-F238E27FC236}">
                  <a16:creationId xmlns:a16="http://schemas.microsoft.com/office/drawing/2014/main" id="{D3C51848-73AA-E66A-7AFC-594D1A3DE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276"/>
              <a:ext cx="2022" cy="1350"/>
            </a:xfrm>
            <a:prstGeom prst="foldedCorner">
              <a:avLst>
                <a:gd name="adj" fmla="val 12500"/>
              </a:avLst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" name="Text Box 1068">
              <a:extLst>
                <a:ext uri="{FF2B5EF4-FFF2-40B4-BE49-F238E27FC236}">
                  <a16:creationId xmlns:a16="http://schemas.microsoft.com/office/drawing/2014/main" id="{D44A5910-8E9B-647C-9509-306F52891F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6" y="372"/>
              <a:ext cx="1786" cy="523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 dirty="0">
                  <a:latin typeface="Trebuchet MS" panose="020B0603020202020204" pitchFamily="34" charset="0"/>
                </a:rPr>
                <a:t>PRÁCTICA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Trebuchet MS" panose="020B0603020202020204" pitchFamily="34" charset="0"/>
                </a:rPr>
                <a:t>2</a:t>
              </a:r>
              <a:endParaRPr lang="es-ES" sz="2400" b="1" dirty="0">
                <a:latin typeface="Trebuchet MS" panose="020B0603020202020204" pitchFamily="34" charset="0"/>
              </a:endParaRPr>
            </a:p>
          </p:txBody>
        </p:sp>
        <p:sp>
          <p:nvSpPr>
            <p:cNvPr id="10" name="Text Box 1069">
              <a:extLst>
                <a:ext uri="{FF2B5EF4-FFF2-40B4-BE49-F238E27FC236}">
                  <a16:creationId xmlns:a16="http://schemas.microsoft.com/office/drawing/2014/main" id="{490BDE6C-3639-83EB-A10B-E200B35734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6" y="966"/>
              <a:ext cx="1786" cy="25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solidFill>
                    <a:srgbClr val="FFFFFF"/>
                  </a:solidFill>
                  <a:latin typeface="Trebuchet MS" panose="020B0603020202020204" pitchFamily="34" charset="0"/>
                </a:rPr>
                <a:t>04/11 a 08/11</a:t>
              </a:r>
              <a:endParaRPr lang="es-ES" sz="2400" b="1" dirty="0">
                <a:solidFill>
                  <a:srgbClr val="FFFFFF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15" name="Text Box 1062">
              <a:extLst>
                <a:ext uri="{FF2B5EF4-FFF2-40B4-BE49-F238E27FC236}">
                  <a16:creationId xmlns:a16="http://schemas.microsoft.com/office/drawing/2014/main" id="{D4BB659A-03C3-559B-0B06-A1CB23CA41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9" y="1241"/>
              <a:ext cx="8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Trebuchet MS" panose="020B0603020202020204" pitchFamily="34" charset="0"/>
                </a:rPr>
                <a:t>Boletín en Moodle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1748590B-2C86-4E05-8125-441FEFB20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8232" y="5220104"/>
            <a:ext cx="627062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3105897-6000-4AC6-8060-FBC602F67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6505" y="4103066"/>
            <a:ext cx="627062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224" name="Rectangle 25"/>
          <p:cNvSpPr>
            <a:spLocks noChangeArrowheads="1"/>
          </p:cNvSpPr>
          <p:nvPr/>
        </p:nvSpPr>
        <p:spPr bwMode="auto">
          <a:xfrm>
            <a:off x="2238223" y="2288170"/>
            <a:ext cx="5580000" cy="761391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8690580" y="1674808"/>
            <a:ext cx="2059960" cy="1253402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T1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31/11/24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T2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30/11/24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T3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30/11/24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</p:txBody>
      </p:sp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1504830" y="3377909"/>
            <a:ext cx="627062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1504830" y="2292803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1509713" y="588963"/>
            <a:ext cx="8520112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 dirty="0">
                <a:solidFill>
                  <a:srgbClr val="CC0000"/>
                </a:solidFill>
                <a:latin typeface="Arial" panose="020B0604020202020204" pitchFamily="34" charset="0"/>
              </a:rPr>
              <a:t>TEMA 4: CORRIENTE ELÉCTRICA.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 dirty="0">
                <a:solidFill>
                  <a:srgbClr val="CC0000"/>
                </a:solidFill>
                <a:latin typeface="Arial" panose="020B0604020202020204" pitchFamily="34" charset="0"/>
              </a:rPr>
              <a:t>               CIRCUITOS DE CORRIENTE CONTINUA</a:t>
            </a:r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1482605" y="2235653"/>
            <a:ext cx="708025" cy="3424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4.1.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4.2.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4.3.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4.4.</a:t>
            </a:r>
          </a:p>
        </p:txBody>
      </p:sp>
      <p:sp>
        <p:nvSpPr>
          <p:cNvPr id="9223" name="Rectangle 7"/>
          <p:cNvSpPr>
            <a:spLocks noChangeArrowheads="1"/>
          </p:cNvSpPr>
          <p:nvPr/>
        </p:nvSpPr>
        <p:spPr bwMode="auto">
          <a:xfrm>
            <a:off x="2231905" y="2235653"/>
            <a:ext cx="7957124" cy="453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Corriente Eléctrica.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Intensidad y Densidad de Corriente.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Ley de Ohm: Conductividad y Resistencia Eléctricas.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Potencia en Corriente Continua: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FEM, FCEM y Ley de Joule.</a:t>
            </a:r>
            <a:endParaRPr lang="es-ES" sz="28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Circuitos de </a:t>
            </a:r>
            <a:r>
              <a:rPr lang="es-ES" sz="2400" b="1">
                <a:latin typeface="Arial" panose="020B0604020202020204" pitchFamily="34" charset="0"/>
              </a:rPr>
              <a:t>Corriente Continua. </a:t>
            </a:r>
            <a:r>
              <a:rPr lang="es-ES" sz="2400" b="1" dirty="0">
                <a:latin typeface="Arial" panose="020B0604020202020204" pitchFamily="34" charset="0"/>
              </a:rPr>
              <a:t>Leyes de Kirchhoff. Asociación de Resistencias </a:t>
            </a:r>
            <a:r>
              <a:rPr lang="es-ES" sz="2400" b="1">
                <a:latin typeface="Arial" panose="020B0604020202020204" pitchFamily="34" charset="0"/>
              </a:rPr>
              <a:t>o Conductancias: </a:t>
            </a:r>
            <a:r>
              <a:rPr lang="es-ES" sz="2400" b="1" dirty="0">
                <a:latin typeface="Arial" panose="020B0604020202020204" pitchFamily="34" charset="0"/>
              </a:rPr>
              <a:t>Asociación en Serie. Asociación en Paralelo. Transformaciones Estrella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s-ES" sz="2400" b="1" dirty="0">
                <a:latin typeface="Arial" panose="020B0604020202020204" pitchFamily="34" charset="0"/>
              </a:rPr>
              <a:t>Triángulo.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4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7"/>
          <p:cNvSpPr>
            <a:spLocks noChangeArrowheads="1"/>
          </p:cNvSpPr>
          <p:nvPr/>
        </p:nvSpPr>
        <p:spPr bwMode="auto">
          <a:xfrm>
            <a:off x="1294032" y="381354"/>
            <a:ext cx="852011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4.1.1 CORRIENTE ELÉCTRICA</a:t>
            </a:r>
          </a:p>
        </p:txBody>
      </p:sp>
      <p:sp>
        <p:nvSpPr>
          <p:cNvPr id="489500" name="Text Box 28"/>
          <p:cNvSpPr txBox="1">
            <a:spLocks noChangeArrowheads="1"/>
          </p:cNvSpPr>
          <p:nvPr/>
        </p:nvSpPr>
        <p:spPr bwMode="auto">
          <a:xfrm>
            <a:off x="1776845" y="1015226"/>
            <a:ext cx="7959437" cy="13479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118800" rIns="90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3333FF"/>
                </a:solidFill>
                <a:latin typeface="Arial" panose="020B0604020202020204" pitchFamily="34" charset="0"/>
              </a:rPr>
              <a:t>Movimiento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 b="1">
                <a:solidFill>
                  <a:srgbClr val="3333FF"/>
                </a:solidFill>
                <a:latin typeface="Arial" panose="020B0604020202020204" pitchFamily="34" charset="0"/>
              </a:rPr>
              <a:t>colectivo</a:t>
            </a:r>
            <a:r>
              <a:rPr lang="es-ES" sz="2400">
                <a:latin typeface="Arial" panose="020B0604020202020204" pitchFamily="34" charset="0"/>
              </a:rPr>
              <a:t> de electrones, o iones, entre dos puntos de un conductor, por la existencia de un campo eléctrico en la región entre dichos puntos</a:t>
            </a:r>
          </a:p>
        </p:txBody>
      </p:sp>
      <p:sp>
        <p:nvSpPr>
          <p:cNvPr id="9261" name="Text Box 31"/>
          <p:cNvSpPr txBox="1">
            <a:spLocks noChangeArrowheads="1"/>
          </p:cNvSpPr>
          <p:nvPr/>
        </p:nvSpPr>
        <p:spPr bwMode="auto">
          <a:xfrm>
            <a:off x="1474204" y="4548282"/>
            <a:ext cx="7659405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Los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electrones se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mueven en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la dirección del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campo, en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sentido contrario al campo</a:t>
            </a:r>
          </a:p>
        </p:txBody>
      </p:sp>
      <p:grpSp>
        <p:nvGrpSpPr>
          <p:cNvPr id="9290" name="Group 74"/>
          <p:cNvGrpSpPr>
            <a:grpSpLocks/>
          </p:cNvGrpSpPr>
          <p:nvPr/>
        </p:nvGrpSpPr>
        <p:grpSpPr bwMode="auto">
          <a:xfrm>
            <a:off x="4793601" y="5860298"/>
            <a:ext cx="1976438" cy="590550"/>
            <a:chOff x="4003" y="2353"/>
            <a:chExt cx="1245" cy="372"/>
          </a:xfrm>
        </p:grpSpPr>
        <p:sp>
          <p:nvSpPr>
            <p:cNvPr id="11311" name="Rectangle 30"/>
            <p:cNvSpPr>
              <a:spLocks noChangeArrowheads="1"/>
            </p:cNvSpPr>
            <p:nvPr/>
          </p:nvSpPr>
          <p:spPr bwMode="auto">
            <a:xfrm>
              <a:off x="4003" y="2353"/>
              <a:ext cx="1245" cy="372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1312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0915128"/>
                </p:ext>
              </p:extLst>
            </p:nvPr>
          </p:nvGraphicFramePr>
          <p:xfrm>
            <a:off x="4086" y="2388"/>
            <a:ext cx="1125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888614" imgH="241195" progId="Equation.3">
                    <p:embed/>
                  </p:oleObj>
                </mc:Choice>
                <mc:Fallback>
                  <p:oleObj name="Ecuación" r:id="rId3" imgW="888614" imgH="241195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6" y="2388"/>
                          <a:ext cx="1125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9505" name="Text Box 33"/>
          <p:cNvSpPr txBox="1">
            <a:spLocks noChangeArrowheads="1"/>
          </p:cNvSpPr>
          <p:nvPr/>
        </p:nvSpPr>
        <p:spPr bwMode="auto">
          <a:xfrm>
            <a:off x="1455492" y="2710592"/>
            <a:ext cx="8447044" cy="164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Symbol" panose="05050102010706020507" pitchFamily="18" charset="2"/>
              <a:buChar char="·"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latin typeface="Arial" panose="020B0604020202020204" pitchFamily="34" charset="0"/>
              </a:rPr>
              <a:t>Si nos ceñimos a un </a:t>
            </a: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sólido</a:t>
            </a:r>
            <a:r>
              <a:rPr lang="es-ES" sz="2400">
                <a:latin typeface="Arial" panose="020B0604020202020204" pitchFamily="34" charset="0"/>
              </a:rPr>
              <a:t>, serían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sólo electrones los que participan y solamente los que pueden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desplazarse por todo el conductor: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los de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las capas más externas de los átomos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(suele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ser un electrón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por átomo)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7" name="Grupo 6"/>
          <p:cNvGrpSpPr/>
          <p:nvPr/>
        </p:nvGrpSpPr>
        <p:grpSpPr>
          <a:xfrm>
            <a:off x="7293272" y="5650612"/>
            <a:ext cx="1080426" cy="663708"/>
            <a:chOff x="8840951" y="3894049"/>
            <a:chExt cx="1080426" cy="663708"/>
          </a:xfrm>
        </p:grpSpPr>
        <p:pic>
          <p:nvPicPr>
            <p:cNvPr id="75" name="Picture 256" descr="Image2"/>
            <p:cNvPicPr preferRelativeResize="0"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4214" y="4313395"/>
              <a:ext cx="256627" cy="244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CuadroTexto 3"/>
            <p:cNvSpPr txBox="1"/>
            <p:nvPr/>
          </p:nvSpPr>
          <p:spPr>
            <a:xfrm>
              <a:off x="9531527" y="3894049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400" b="1">
                  <a:solidFill>
                    <a:srgbClr val="FF0000"/>
                  </a:solidFill>
                </a:rPr>
                <a:t>E</a:t>
              </a:r>
            </a:p>
          </p:txBody>
        </p:sp>
        <p:cxnSp>
          <p:nvCxnSpPr>
            <p:cNvPr id="6" name="Conector recto de flecha 5"/>
            <p:cNvCxnSpPr/>
            <p:nvPr/>
          </p:nvCxnSpPr>
          <p:spPr bwMode="auto">
            <a:xfrm>
              <a:off x="9467051" y="4420008"/>
              <a:ext cx="414283" cy="0"/>
            </a:xfrm>
            <a:prstGeom prst="straightConnector1">
              <a:avLst/>
            </a:prstGeom>
            <a:noFill/>
            <a:ln w="349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79" name="Conector recto de flecha 78"/>
            <p:cNvCxnSpPr/>
            <p:nvPr/>
          </p:nvCxnSpPr>
          <p:spPr bwMode="auto">
            <a:xfrm flipH="1">
              <a:off x="8840951" y="4435576"/>
              <a:ext cx="414283" cy="0"/>
            </a:xfrm>
            <a:prstGeom prst="straightConnector1">
              <a:avLst/>
            </a:prstGeom>
            <a:noFill/>
            <a:ln w="34925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80" name="CuadroTexto 79"/>
            <p:cNvSpPr txBox="1"/>
            <p:nvPr/>
          </p:nvSpPr>
          <p:spPr>
            <a:xfrm>
              <a:off x="8840951" y="3894049"/>
              <a:ext cx="3722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400" b="1">
                  <a:solidFill>
                    <a:srgbClr val="3333FF"/>
                  </a:solidFill>
                </a:rPr>
                <a:t>F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89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9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9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500" grpId="0" animBg="1"/>
      <p:bldP spid="9261" grpId="0"/>
      <p:bldP spid="48950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3">
            <a:extLst>
              <a:ext uri="{FF2B5EF4-FFF2-40B4-BE49-F238E27FC236}">
                <a16:creationId xmlns:a16="http://schemas.microsoft.com/office/drawing/2014/main" id="{D6C0ADD1-C3C5-4129-86BD-384DDBBA1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5899" y="5477551"/>
            <a:ext cx="8593281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La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corriente cesa alcanzado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el </a:t>
            </a:r>
            <a:r>
              <a:rPr lang="es-ES" sz="2400" b="1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equilibrio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cuando el campo se anula en el conductor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9" name="Text Box 4">
            <a:extLst>
              <a:ext uri="{FF2B5EF4-FFF2-40B4-BE49-F238E27FC236}">
                <a16:creationId xmlns:a16="http://schemas.microsoft.com/office/drawing/2014/main" id="{C3E8C226-404F-4552-81CA-D99F2010E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3164" y="3894677"/>
            <a:ext cx="8666016" cy="127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Se habla, entonces, de </a:t>
            </a:r>
            <a:r>
              <a:rPr lang="es-ES" sz="2400" b="1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portadores de carga </a:t>
            </a:r>
            <a:r>
              <a:rPr lang="es-ES" sz="2400" b="1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negativa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: los electrones movilizados,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y de </a:t>
            </a:r>
            <a:r>
              <a:rPr lang="es-ES" sz="2400" b="1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portadores de carga </a:t>
            </a:r>
            <a:r>
              <a:rPr lang="es-ES" sz="2400" b="1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positiva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: las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partículas ficticias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que se supone que se mueven</a:t>
            </a:r>
            <a:endParaRPr lang="es-ES" sz="2400" dirty="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sp>
        <p:nvSpPr>
          <p:cNvPr id="6" name="Text Box 34">
            <a:extLst>
              <a:ext uri="{FF2B5EF4-FFF2-40B4-BE49-F238E27FC236}">
                <a16:creationId xmlns:a16="http://schemas.microsoft.com/office/drawing/2014/main" id="{3AD3EC95-41AF-8D36-B55E-A79E0F3EC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3164" y="728927"/>
            <a:ext cx="8666016" cy="164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Symbol" panose="05050102010706020507" pitchFamily="18" charset="2"/>
              <a:buChar char="·"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No obstante, por </a:t>
            </a: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tradición histórica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(se decía que pasaba Q</a:t>
            </a:r>
            <a:r>
              <a:rPr lang="es-ES" sz="2400" baseline="300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de seda a vidrio al frotarlos -Tema 1-),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se supone que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se mueven partículas como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el e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pero con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carga positiva,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+e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y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por tanto, en el sentido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de 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Text Box 34">
            <a:extLst>
              <a:ext uri="{FF2B5EF4-FFF2-40B4-BE49-F238E27FC236}">
                <a16:creationId xmlns:a16="http://schemas.microsoft.com/office/drawing/2014/main" id="{D2A28BA3-CD4A-AC47-4399-92A2E1D4CE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3164" y="2681134"/>
            <a:ext cx="8666016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Symbol" panose="05050102010706020507" pitchFamily="18" charset="2"/>
              <a:buChar char="·"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Se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hace porque es más cómodo trabajar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con carga positiva y porque no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se cae en contradicción al explicar los fenómenos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216722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  <p:bldP spid="6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1" name="AutoShape 3"/>
          <p:cNvSpPr>
            <a:spLocks noChangeArrowheads="1"/>
          </p:cNvSpPr>
          <p:nvPr/>
        </p:nvSpPr>
        <p:spPr bwMode="auto">
          <a:xfrm>
            <a:off x="3708264" y="1453226"/>
            <a:ext cx="4119563" cy="2228850"/>
          </a:xfrm>
          <a:prstGeom prst="foldedCorner">
            <a:avLst>
              <a:gd name="adj" fmla="val 9134"/>
            </a:avLst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rot="10800000"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900606" y="1586386"/>
            <a:ext cx="3633787" cy="1884362"/>
            <a:chOff x="2509" y="2854"/>
            <a:chExt cx="2289" cy="1387"/>
          </a:xfrm>
        </p:grpSpPr>
        <p:sp>
          <p:nvSpPr>
            <p:cNvPr id="17448" name="Freeform 5"/>
            <p:cNvSpPr>
              <a:spLocks/>
            </p:cNvSpPr>
            <p:nvPr/>
          </p:nvSpPr>
          <p:spPr bwMode="auto">
            <a:xfrm>
              <a:off x="2509" y="2863"/>
              <a:ext cx="2289" cy="1378"/>
            </a:xfrm>
            <a:custGeom>
              <a:avLst/>
              <a:gdLst>
                <a:gd name="T0" fmla="*/ 0 w 2289"/>
                <a:gd name="T1" fmla="*/ 0 h 1378"/>
                <a:gd name="T2" fmla="*/ 7 w 2289"/>
                <a:gd name="T3" fmla="*/ 1378 h 1378"/>
                <a:gd name="T4" fmla="*/ 2289 w 2289"/>
                <a:gd name="T5" fmla="*/ 1378 h 1378"/>
                <a:gd name="T6" fmla="*/ 2282 w 2289"/>
                <a:gd name="T7" fmla="*/ 8 h 1378"/>
                <a:gd name="T8" fmla="*/ 1349 w 2289"/>
                <a:gd name="T9" fmla="*/ 8 h 1378"/>
                <a:gd name="T10" fmla="*/ 1349 w 2289"/>
                <a:gd name="T11" fmla="*/ 1327 h 1378"/>
                <a:gd name="T12" fmla="*/ 459 w 2289"/>
                <a:gd name="T13" fmla="*/ 1327 h 1378"/>
                <a:gd name="T14" fmla="*/ 459 w 2289"/>
                <a:gd name="T15" fmla="*/ 8 h 1378"/>
                <a:gd name="T16" fmla="*/ 0 w 2289"/>
                <a:gd name="T17" fmla="*/ 0 h 13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289"/>
                <a:gd name="T28" fmla="*/ 0 h 1378"/>
                <a:gd name="T29" fmla="*/ 2289 w 2289"/>
                <a:gd name="T30" fmla="*/ 1378 h 137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289" h="1378">
                  <a:moveTo>
                    <a:pt x="0" y="0"/>
                  </a:moveTo>
                  <a:lnTo>
                    <a:pt x="7" y="1378"/>
                  </a:lnTo>
                  <a:lnTo>
                    <a:pt x="2289" y="1378"/>
                  </a:lnTo>
                  <a:lnTo>
                    <a:pt x="2282" y="8"/>
                  </a:lnTo>
                  <a:lnTo>
                    <a:pt x="1349" y="8"/>
                  </a:lnTo>
                  <a:lnTo>
                    <a:pt x="1349" y="1327"/>
                  </a:lnTo>
                  <a:lnTo>
                    <a:pt x="459" y="1327"/>
                  </a:lnTo>
                  <a:lnTo>
                    <a:pt x="459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w="25400">
              <a:solidFill>
                <a:srgbClr val="008000"/>
              </a:solidFill>
              <a:round/>
              <a:headEnd/>
              <a:tailEnd type="none" w="lg" len="lg"/>
            </a:ln>
          </p:spPr>
          <p:txBody>
            <a:bodyPr wrap="none" lIns="90000" tIns="46800" rIns="90000" bIns="46800"/>
            <a:lstStyle/>
            <a:p>
              <a:endParaRPr lang="es-ES"/>
            </a:p>
          </p:txBody>
        </p:sp>
        <p:sp>
          <p:nvSpPr>
            <p:cNvPr id="17449" name="Rectangle 6"/>
            <p:cNvSpPr>
              <a:spLocks noChangeArrowheads="1"/>
            </p:cNvSpPr>
            <p:nvPr/>
          </p:nvSpPr>
          <p:spPr bwMode="auto">
            <a:xfrm>
              <a:off x="2522" y="2854"/>
              <a:ext cx="438" cy="328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50" name="Rectangle 7"/>
            <p:cNvSpPr>
              <a:spLocks noChangeArrowheads="1"/>
            </p:cNvSpPr>
            <p:nvPr/>
          </p:nvSpPr>
          <p:spPr bwMode="auto">
            <a:xfrm>
              <a:off x="3874" y="2867"/>
              <a:ext cx="905" cy="897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7446" name="Line 9"/>
          <p:cNvSpPr>
            <a:spLocks noChangeShapeType="1"/>
          </p:cNvSpPr>
          <p:nvPr/>
        </p:nvSpPr>
        <p:spPr bwMode="auto">
          <a:xfrm flipV="1">
            <a:off x="3647877" y="2578494"/>
            <a:ext cx="4197354" cy="0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82800" rIns="90000" bIns="82800"/>
          <a:lstStyle/>
          <a:p>
            <a:endParaRPr lang="es-ES"/>
          </a:p>
        </p:txBody>
      </p:sp>
      <p:sp>
        <p:nvSpPr>
          <p:cNvPr id="17447" name="Text Box 10"/>
          <p:cNvSpPr txBox="1">
            <a:spLocks noChangeArrowheads="1"/>
          </p:cNvSpPr>
          <p:nvPr/>
        </p:nvSpPr>
        <p:spPr bwMode="auto">
          <a:xfrm>
            <a:off x="2000572" y="5971556"/>
            <a:ext cx="7536802" cy="5147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Cesa al alcanzar el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equilibrio</a:t>
            </a:r>
            <a:r>
              <a:rPr lang="es-ES" sz="2400" dirty="0">
                <a:latin typeface="Arial" panose="020B0604020202020204" pitchFamily="34" charset="0"/>
              </a:rPr>
              <a:t> (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s-ES" sz="2400" dirty="0">
                <a:latin typeface="Arial" panose="020B0604020202020204" pitchFamily="34" charset="0"/>
              </a:rPr>
              <a:t>p = 0, o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s-ES" sz="2400" dirty="0">
                <a:latin typeface="Arial" panose="020B0604020202020204" pitchFamily="34" charset="0"/>
              </a:rPr>
              <a:t>h = 0)</a:t>
            </a:r>
          </a:p>
        </p:txBody>
      </p:sp>
      <p:grpSp>
        <p:nvGrpSpPr>
          <p:cNvPr id="17436" name="Group 29"/>
          <p:cNvGrpSpPr>
            <a:grpSpLocks/>
          </p:cNvGrpSpPr>
          <p:nvPr/>
        </p:nvGrpSpPr>
        <p:grpSpPr bwMode="auto">
          <a:xfrm>
            <a:off x="4603868" y="3139058"/>
            <a:ext cx="1408113" cy="798513"/>
            <a:chOff x="3215" y="1937"/>
            <a:chExt cx="887" cy="503"/>
          </a:xfrm>
        </p:grpSpPr>
        <p:sp>
          <p:nvSpPr>
            <p:cNvPr id="17438" name="Text Box 30"/>
            <p:cNvSpPr txBox="1">
              <a:spLocks noChangeArrowheads="1"/>
            </p:cNvSpPr>
            <p:nvPr/>
          </p:nvSpPr>
          <p:spPr bwMode="auto">
            <a:xfrm>
              <a:off x="3215" y="1937"/>
              <a:ext cx="887" cy="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54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40000"/>
                </a:lnSpc>
                <a:spcBef>
                  <a:spcPct val="50000"/>
                </a:spcBef>
                <a:buFontTx/>
                <a:buNone/>
              </a:pPr>
              <a:endParaRPr lang="es-ES" sz="2400">
                <a:solidFill>
                  <a:srgbClr val="008000"/>
                </a:solidFill>
                <a:latin typeface="Arial" panose="020B0604020202020204" pitchFamily="34" charset="0"/>
              </a:endParaRPr>
            </a:p>
            <a:p>
              <a:pPr algn="ctr" eaLnBrk="1" hangingPunct="1">
                <a:lnSpc>
                  <a:spcPct val="50000"/>
                </a:lnSpc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corriente</a:t>
              </a:r>
            </a:p>
          </p:txBody>
        </p:sp>
        <p:sp>
          <p:nvSpPr>
            <p:cNvPr id="17439" name="Line 31"/>
            <p:cNvSpPr>
              <a:spLocks noChangeShapeType="1"/>
            </p:cNvSpPr>
            <p:nvPr/>
          </p:nvSpPr>
          <p:spPr bwMode="auto">
            <a:xfrm>
              <a:off x="3431" y="2021"/>
              <a:ext cx="458" cy="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</p:grpSp>
      <p:sp>
        <p:nvSpPr>
          <p:cNvPr id="17437" name="Text Box 32"/>
          <p:cNvSpPr txBox="1">
            <a:spLocks noChangeArrowheads="1"/>
          </p:cNvSpPr>
          <p:nvPr/>
        </p:nvSpPr>
        <p:spPr bwMode="auto">
          <a:xfrm>
            <a:off x="2005958" y="4084279"/>
            <a:ext cx="7536802" cy="8840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Hay corriente: un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 movimiento colectivo </a:t>
            </a:r>
            <a:r>
              <a:rPr lang="es-ES" sz="2400">
                <a:latin typeface="Arial" panose="020B0604020202020204" pitchFamily="34" charset="0"/>
              </a:rPr>
              <a:t>de agua por la diferencia de presión (de altura)</a:t>
            </a:r>
          </a:p>
        </p:txBody>
      </p:sp>
      <p:sp>
        <p:nvSpPr>
          <p:cNvPr id="15378" name="Text Box 39"/>
          <p:cNvSpPr txBox="1">
            <a:spLocks noChangeArrowheads="1"/>
          </p:cNvSpPr>
          <p:nvPr/>
        </p:nvSpPr>
        <p:spPr bwMode="auto">
          <a:xfrm>
            <a:off x="3289544" y="368606"/>
            <a:ext cx="4969630" cy="46166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/>
              <a:t>TIPOS BÁSICOS DE CORRIENTE</a:t>
            </a:r>
          </a:p>
        </p:txBody>
      </p:sp>
      <p:sp>
        <p:nvSpPr>
          <p:cNvPr id="42" name="Text Box 10"/>
          <p:cNvSpPr txBox="1">
            <a:spLocks noChangeArrowheads="1"/>
          </p:cNvSpPr>
          <p:nvPr/>
        </p:nvSpPr>
        <p:spPr bwMode="auto">
          <a:xfrm>
            <a:off x="2000572" y="5204569"/>
            <a:ext cx="7536802" cy="5147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Disminuye a medida que baja la diferencia de presión</a:t>
            </a:r>
            <a:endParaRPr lang="es-ES" sz="24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36" name="Text Box 35"/>
          <p:cNvSpPr txBox="1">
            <a:spLocks noChangeArrowheads="1"/>
          </p:cNvSpPr>
          <p:nvPr/>
        </p:nvSpPr>
        <p:spPr bwMode="auto">
          <a:xfrm>
            <a:off x="3801515" y="760073"/>
            <a:ext cx="3950418" cy="536549"/>
          </a:xfrm>
          <a:prstGeom prst="rect">
            <a:avLst/>
          </a:prstGeom>
          <a:noFill/>
          <a:ln>
            <a:noFill/>
          </a:ln>
        </p:spPr>
        <p:txBody>
          <a:bodyPr wrap="non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(usando un símil hidráulico)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49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7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5" dur="500"/>
                                        <p:tgtEl>
                                          <p:spTgt spid="17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571" grpId="0" animBg="1"/>
      <p:bldP spid="17446" grpId="0" animBg="1"/>
      <p:bldP spid="17447" grpId="0" animBg="1"/>
      <p:bldP spid="17437" grpId="0" animBg="1"/>
      <p:bldP spid="15378" grpId="0" animBg="1"/>
      <p:bldP spid="42" grpId="0" animBg="1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AutoShape 3">
            <a:extLst>
              <a:ext uri="{FF2B5EF4-FFF2-40B4-BE49-F238E27FC236}">
                <a16:creationId xmlns:a16="http://schemas.microsoft.com/office/drawing/2014/main" id="{A3DC21EB-46A0-4546-917F-3897427FE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264" y="1453226"/>
            <a:ext cx="4119563" cy="2228850"/>
          </a:xfrm>
          <a:prstGeom prst="foldedCorner">
            <a:avLst>
              <a:gd name="adj" fmla="val 9134"/>
            </a:avLst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rot="10800000"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42" name="Group 4">
            <a:extLst>
              <a:ext uri="{FF2B5EF4-FFF2-40B4-BE49-F238E27FC236}">
                <a16:creationId xmlns:a16="http://schemas.microsoft.com/office/drawing/2014/main" id="{37A2D62B-22D2-465C-83F4-8B2689B9B033}"/>
              </a:ext>
            </a:extLst>
          </p:cNvPr>
          <p:cNvGrpSpPr>
            <a:grpSpLocks/>
          </p:cNvGrpSpPr>
          <p:nvPr/>
        </p:nvGrpSpPr>
        <p:grpSpPr bwMode="auto">
          <a:xfrm>
            <a:off x="3900606" y="1586386"/>
            <a:ext cx="3633787" cy="1884362"/>
            <a:chOff x="2509" y="2854"/>
            <a:chExt cx="2289" cy="1387"/>
          </a:xfrm>
        </p:grpSpPr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5FD53BF9-BDE6-4C77-BF4F-9D4F0D697D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9" y="2863"/>
              <a:ext cx="2289" cy="1378"/>
            </a:xfrm>
            <a:custGeom>
              <a:avLst/>
              <a:gdLst>
                <a:gd name="T0" fmla="*/ 0 w 2289"/>
                <a:gd name="T1" fmla="*/ 0 h 1378"/>
                <a:gd name="T2" fmla="*/ 7 w 2289"/>
                <a:gd name="T3" fmla="*/ 1378 h 1378"/>
                <a:gd name="T4" fmla="*/ 2289 w 2289"/>
                <a:gd name="T5" fmla="*/ 1378 h 1378"/>
                <a:gd name="T6" fmla="*/ 2282 w 2289"/>
                <a:gd name="T7" fmla="*/ 8 h 1378"/>
                <a:gd name="T8" fmla="*/ 1349 w 2289"/>
                <a:gd name="T9" fmla="*/ 8 h 1378"/>
                <a:gd name="T10" fmla="*/ 1349 w 2289"/>
                <a:gd name="T11" fmla="*/ 1327 h 1378"/>
                <a:gd name="T12" fmla="*/ 459 w 2289"/>
                <a:gd name="T13" fmla="*/ 1327 h 1378"/>
                <a:gd name="T14" fmla="*/ 459 w 2289"/>
                <a:gd name="T15" fmla="*/ 8 h 1378"/>
                <a:gd name="T16" fmla="*/ 0 w 2289"/>
                <a:gd name="T17" fmla="*/ 0 h 13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289"/>
                <a:gd name="T28" fmla="*/ 0 h 1378"/>
                <a:gd name="T29" fmla="*/ 2289 w 2289"/>
                <a:gd name="T30" fmla="*/ 1378 h 137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289" h="1378">
                  <a:moveTo>
                    <a:pt x="0" y="0"/>
                  </a:moveTo>
                  <a:lnTo>
                    <a:pt x="7" y="1378"/>
                  </a:lnTo>
                  <a:lnTo>
                    <a:pt x="2289" y="1378"/>
                  </a:lnTo>
                  <a:lnTo>
                    <a:pt x="2282" y="8"/>
                  </a:lnTo>
                  <a:lnTo>
                    <a:pt x="1349" y="8"/>
                  </a:lnTo>
                  <a:lnTo>
                    <a:pt x="1349" y="1327"/>
                  </a:lnTo>
                  <a:lnTo>
                    <a:pt x="459" y="1327"/>
                  </a:lnTo>
                  <a:lnTo>
                    <a:pt x="459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w="25400">
              <a:solidFill>
                <a:srgbClr val="008000"/>
              </a:solidFill>
              <a:round/>
              <a:headEnd/>
              <a:tailEnd type="none" w="lg" len="lg"/>
            </a:ln>
          </p:spPr>
          <p:txBody>
            <a:bodyPr wrap="none" lIns="90000" tIns="46800" rIns="90000" bIns="46800"/>
            <a:lstStyle/>
            <a:p>
              <a:endParaRPr lang="es-ES"/>
            </a:p>
          </p:txBody>
        </p:sp>
        <p:sp>
          <p:nvSpPr>
            <p:cNvPr id="46" name="Rectangle 6">
              <a:extLst>
                <a:ext uri="{FF2B5EF4-FFF2-40B4-BE49-F238E27FC236}">
                  <a16:creationId xmlns:a16="http://schemas.microsoft.com/office/drawing/2014/main" id="{1BFC2B9F-63BB-4700-BE8A-6EB7AFD9E6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2" y="2854"/>
              <a:ext cx="438" cy="328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" name="Rectangle 7">
              <a:extLst>
                <a:ext uri="{FF2B5EF4-FFF2-40B4-BE49-F238E27FC236}">
                  <a16:creationId xmlns:a16="http://schemas.microsoft.com/office/drawing/2014/main" id="{71DEEE49-20B7-4D33-B9C1-16C952CC1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4" y="2867"/>
              <a:ext cx="905" cy="897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2" name="Group 13"/>
          <p:cNvGrpSpPr>
            <a:grpSpLocks/>
          </p:cNvGrpSpPr>
          <p:nvPr/>
        </p:nvGrpSpPr>
        <p:grpSpPr bwMode="auto">
          <a:xfrm>
            <a:off x="4372933" y="1558001"/>
            <a:ext cx="2293094" cy="1570038"/>
            <a:chOff x="2930" y="1159"/>
            <a:chExt cx="1332" cy="989"/>
          </a:xfrm>
        </p:grpSpPr>
        <p:sp>
          <p:nvSpPr>
            <p:cNvPr id="23" name="Oval 14"/>
            <p:cNvSpPr>
              <a:spLocks noChangeArrowheads="1"/>
            </p:cNvSpPr>
            <p:nvPr/>
          </p:nvSpPr>
          <p:spPr bwMode="auto">
            <a:xfrm>
              <a:off x="3372" y="1159"/>
              <a:ext cx="344" cy="384"/>
            </a:xfrm>
            <a:prstGeom prst="ellipse">
              <a:avLst/>
            </a:prstGeom>
            <a:solidFill>
              <a:srgbClr val="969696"/>
            </a:solidFill>
            <a:ln w="12700" algn="ctr">
              <a:solidFill>
                <a:srgbClr val="969696"/>
              </a:solidFill>
              <a:round/>
              <a:headEnd/>
              <a:tailEnd type="none" w="lg" len="lg"/>
            </a:ln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24" name="Group 15"/>
            <p:cNvGrpSpPr>
              <a:grpSpLocks/>
            </p:cNvGrpSpPr>
            <p:nvPr/>
          </p:nvGrpSpPr>
          <p:grpSpPr bwMode="auto">
            <a:xfrm>
              <a:off x="2930" y="1354"/>
              <a:ext cx="1332" cy="794"/>
              <a:chOff x="2934" y="1354"/>
              <a:chExt cx="1332" cy="794"/>
            </a:xfrm>
          </p:grpSpPr>
          <p:sp>
            <p:nvSpPr>
              <p:cNvPr id="25" name="Freeform 16"/>
              <p:cNvSpPr>
                <a:spLocks/>
              </p:cNvSpPr>
              <p:nvPr/>
            </p:nvSpPr>
            <p:spPr bwMode="auto">
              <a:xfrm>
                <a:off x="2934" y="1354"/>
                <a:ext cx="516" cy="794"/>
              </a:xfrm>
              <a:custGeom>
                <a:avLst/>
                <a:gdLst>
                  <a:gd name="T0" fmla="*/ 312 w 312"/>
                  <a:gd name="T1" fmla="*/ 0 h 320"/>
                  <a:gd name="T2" fmla="*/ 0 w 312"/>
                  <a:gd name="T3" fmla="*/ 0 h 320"/>
                  <a:gd name="T4" fmla="*/ 0 w 312"/>
                  <a:gd name="T5" fmla="*/ 320 h 320"/>
                  <a:gd name="T6" fmla="*/ 0 60000 65536"/>
                  <a:gd name="T7" fmla="*/ 0 60000 65536"/>
                  <a:gd name="T8" fmla="*/ 0 60000 65536"/>
                  <a:gd name="T9" fmla="*/ 0 w 312"/>
                  <a:gd name="T10" fmla="*/ 0 h 320"/>
                  <a:gd name="T11" fmla="*/ 312 w 312"/>
                  <a:gd name="T12" fmla="*/ 320 h 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" h="320">
                    <a:moveTo>
                      <a:pt x="312" y="0"/>
                    </a:moveTo>
                    <a:lnTo>
                      <a:pt x="0" y="0"/>
                    </a:lnTo>
                    <a:lnTo>
                      <a:pt x="0" y="320"/>
                    </a:lnTo>
                  </a:path>
                </a:pathLst>
              </a:custGeom>
              <a:noFill/>
              <a:ln w="76200">
                <a:solidFill>
                  <a:srgbClr val="969696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0000" tIns="82800" rIns="90000" bIns="82800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26" name="Freeform 17"/>
              <p:cNvSpPr>
                <a:spLocks/>
              </p:cNvSpPr>
              <p:nvPr/>
            </p:nvSpPr>
            <p:spPr bwMode="auto">
              <a:xfrm flipH="1">
                <a:off x="3706" y="1354"/>
                <a:ext cx="560" cy="794"/>
              </a:xfrm>
              <a:custGeom>
                <a:avLst/>
                <a:gdLst>
                  <a:gd name="T0" fmla="*/ 1686878 w 312"/>
                  <a:gd name="T1" fmla="*/ 0 h 320"/>
                  <a:gd name="T2" fmla="*/ 0 w 312"/>
                  <a:gd name="T3" fmla="*/ 0 h 320"/>
                  <a:gd name="T4" fmla="*/ 0 w 312"/>
                  <a:gd name="T5" fmla="*/ 2147483646 h 320"/>
                  <a:gd name="T6" fmla="*/ 0 60000 65536"/>
                  <a:gd name="T7" fmla="*/ 0 60000 65536"/>
                  <a:gd name="T8" fmla="*/ 0 60000 65536"/>
                  <a:gd name="T9" fmla="*/ 0 w 312"/>
                  <a:gd name="T10" fmla="*/ 0 h 320"/>
                  <a:gd name="T11" fmla="*/ 312 w 312"/>
                  <a:gd name="T12" fmla="*/ 320 h 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" h="320">
                    <a:moveTo>
                      <a:pt x="312" y="0"/>
                    </a:moveTo>
                    <a:lnTo>
                      <a:pt x="0" y="0"/>
                    </a:lnTo>
                    <a:lnTo>
                      <a:pt x="0" y="320"/>
                    </a:lnTo>
                  </a:path>
                </a:pathLst>
              </a:custGeom>
              <a:noFill/>
              <a:ln w="76200">
                <a:solidFill>
                  <a:srgbClr val="969696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0000" tIns="82800" rIns="90000" bIns="82800">
                <a:spAutoFit/>
              </a:bodyPr>
              <a:lstStyle/>
              <a:p>
                <a:endParaRPr lang="es-ES"/>
              </a:p>
            </p:txBody>
          </p:sp>
        </p:grpSp>
      </p:grpSp>
      <p:sp>
        <p:nvSpPr>
          <p:cNvPr id="33" name="Text Box 24"/>
          <p:cNvSpPr txBox="1">
            <a:spLocks noChangeArrowheads="1"/>
          </p:cNvSpPr>
          <p:nvPr/>
        </p:nvSpPr>
        <p:spPr bwMode="auto">
          <a:xfrm>
            <a:off x="1746504" y="349259"/>
            <a:ext cx="8041900" cy="9058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Se </a:t>
            </a:r>
            <a:r>
              <a:rPr lang="es-ES" sz="2400">
                <a:latin typeface="Arial" panose="020B0604020202020204" pitchFamily="34" charset="0"/>
              </a:rPr>
              <a:t>puede tener una corriente permanentemente en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un solo sentido, si se crea una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s-ES" sz="2400" dirty="0">
                <a:latin typeface="Arial" panose="020B0604020202020204" pitchFamily="34" charset="0"/>
              </a:rPr>
              <a:t>p (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s-ES" sz="2400">
                <a:latin typeface="Arial" panose="020B0604020202020204" pitchFamily="34" charset="0"/>
              </a:rPr>
              <a:t>h) con </a:t>
            </a:r>
            <a:r>
              <a:rPr lang="es-ES" sz="2400" dirty="0">
                <a:latin typeface="Arial" panose="020B0604020202020204" pitchFamily="34" charset="0"/>
              </a:rPr>
              <a:t>una </a:t>
            </a:r>
            <a:r>
              <a:rPr lang="es-ES" sz="2400" b="1" dirty="0">
                <a:solidFill>
                  <a:srgbClr val="3333FF"/>
                </a:solidFill>
                <a:latin typeface="Arial" panose="020B0604020202020204" pitchFamily="34" charset="0"/>
              </a:rPr>
              <a:t>bomba</a:t>
            </a:r>
          </a:p>
        </p:txBody>
      </p:sp>
      <p:sp>
        <p:nvSpPr>
          <p:cNvPr id="48" name="Line 9">
            <a:extLst>
              <a:ext uri="{FF2B5EF4-FFF2-40B4-BE49-F238E27FC236}">
                <a16:creationId xmlns:a16="http://schemas.microsoft.com/office/drawing/2014/main" id="{99A4F1FC-04C2-4453-9B11-20966C0250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7877" y="2578494"/>
            <a:ext cx="4197354" cy="0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82800" rIns="90000" bIns="82800"/>
          <a:lstStyle/>
          <a:p>
            <a:endParaRPr lang="es-ES"/>
          </a:p>
        </p:txBody>
      </p:sp>
      <p:grpSp>
        <p:nvGrpSpPr>
          <p:cNvPr id="49" name="Group 29">
            <a:extLst>
              <a:ext uri="{FF2B5EF4-FFF2-40B4-BE49-F238E27FC236}">
                <a16:creationId xmlns:a16="http://schemas.microsoft.com/office/drawing/2014/main" id="{47EEFA10-03E4-4E6D-BE11-102831F48B47}"/>
              </a:ext>
            </a:extLst>
          </p:cNvPr>
          <p:cNvGrpSpPr>
            <a:grpSpLocks/>
          </p:cNvGrpSpPr>
          <p:nvPr/>
        </p:nvGrpSpPr>
        <p:grpSpPr bwMode="auto">
          <a:xfrm>
            <a:off x="4603868" y="3139058"/>
            <a:ext cx="1408113" cy="798513"/>
            <a:chOff x="3215" y="1937"/>
            <a:chExt cx="887" cy="503"/>
          </a:xfrm>
        </p:grpSpPr>
        <p:sp>
          <p:nvSpPr>
            <p:cNvPr id="50" name="Text Box 30">
              <a:extLst>
                <a:ext uri="{FF2B5EF4-FFF2-40B4-BE49-F238E27FC236}">
                  <a16:creationId xmlns:a16="http://schemas.microsoft.com/office/drawing/2014/main" id="{BA0839A7-6999-4225-9439-6C4FA24A57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5" y="1937"/>
              <a:ext cx="887" cy="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54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40000"/>
                </a:lnSpc>
                <a:spcBef>
                  <a:spcPct val="50000"/>
                </a:spcBef>
                <a:buFontTx/>
                <a:buNone/>
              </a:pPr>
              <a:endParaRPr lang="es-ES" sz="2400">
                <a:solidFill>
                  <a:srgbClr val="008000"/>
                </a:solidFill>
                <a:latin typeface="Arial" panose="020B0604020202020204" pitchFamily="34" charset="0"/>
              </a:endParaRPr>
            </a:p>
            <a:p>
              <a:pPr algn="ctr" eaLnBrk="1" hangingPunct="1">
                <a:lnSpc>
                  <a:spcPct val="50000"/>
                </a:lnSpc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corriente</a:t>
              </a:r>
            </a:p>
          </p:txBody>
        </p:sp>
        <p:sp>
          <p:nvSpPr>
            <p:cNvPr id="51" name="Line 31">
              <a:extLst>
                <a:ext uri="{FF2B5EF4-FFF2-40B4-BE49-F238E27FC236}">
                  <a16:creationId xmlns:a16="http://schemas.microsoft.com/office/drawing/2014/main" id="{60593C1E-3691-4456-AA4F-761A6271A7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1" y="2021"/>
              <a:ext cx="458" cy="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</p:grpSp>
      <p:grpSp>
        <p:nvGrpSpPr>
          <p:cNvPr id="30" name="Grupo 29"/>
          <p:cNvGrpSpPr>
            <a:grpSpLocks/>
          </p:cNvGrpSpPr>
          <p:nvPr/>
        </p:nvGrpSpPr>
        <p:grpSpPr bwMode="auto">
          <a:xfrm>
            <a:off x="4658382" y="2251730"/>
            <a:ext cx="1368724" cy="607593"/>
            <a:chOff x="2504851" y="2012304"/>
            <a:chExt cx="1368725" cy="607982"/>
          </a:xfrm>
        </p:grpSpPr>
        <p:sp>
          <p:nvSpPr>
            <p:cNvPr id="32" name="Text Box 30"/>
            <p:cNvSpPr txBox="1">
              <a:spLocks noChangeArrowheads="1"/>
            </p:cNvSpPr>
            <p:nvPr/>
          </p:nvSpPr>
          <p:spPr bwMode="auto">
            <a:xfrm>
              <a:off x="2504851" y="2081289"/>
              <a:ext cx="1368725" cy="538997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154800" rIns="90000" bIns="118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ts val="2000"/>
                </a:lnSpc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corriente</a:t>
              </a:r>
              <a:endParaRPr lang="es-ES" sz="2400" dirty="0">
                <a:solidFill>
                  <a:srgbClr val="3333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 flipH="1">
              <a:off x="2815426" y="2012304"/>
              <a:ext cx="727075" cy="0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>
                <a:solidFill>
                  <a:srgbClr val="3333FF"/>
                </a:solidFill>
              </a:endParaRPr>
            </a:p>
          </p:txBody>
        </p:sp>
      </p:grpSp>
      <p:sp>
        <p:nvSpPr>
          <p:cNvPr id="28" name="Text Box 21">
            <a:extLst>
              <a:ext uri="{FF2B5EF4-FFF2-40B4-BE49-F238E27FC236}">
                <a16:creationId xmlns:a16="http://schemas.microsoft.com/office/drawing/2014/main" id="{819D4EEB-B0E3-4BDC-B8C2-263397042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58" y="4326218"/>
            <a:ext cx="4392847" cy="536549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RÉGIMEN PERMANENTE</a:t>
            </a:r>
          </a:p>
        </p:txBody>
      </p:sp>
      <p:sp>
        <p:nvSpPr>
          <p:cNvPr id="29" name="Text Box 23">
            <a:extLst>
              <a:ext uri="{FF2B5EF4-FFF2-40B4-BE49-F238E27FC236}">
                <a16:creationId xmlns:a16="http://schemas.microsoft.com/office/drawing/2014/main" id="{17579F2D-24A0-4903-9105-F42E7AA3B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8265" y="4976252"/>
            <a:ext cx="4380139" cy="9058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El sistema permanece en él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si la bomba está ON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37" name="Text Box 76">
            <a:extLst>
              <a:ext uri="{FF2B5EF4-FFF2-40B4-BE49-F238E27FC236}">
                <a16:creationId xmlns:a16="http://schemas.microsoft.com/office/drawing/2014/main" id="{E71E5492-8F6E-4029-A155-31783162D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554" y="4318446"/>
            <a:ext cx="3495579" cy="53654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s-ES" sz="2400" dirty="0"/>
              <a:t>Se dice que se tiene un:</a:t>
            </a:r>
          </a:p>
        </p:txBody>
      </p:sp>
    </p:spTree>
    <p:extLst>
      <p:ext uri="{BB962C8B-B14F-4D97-AF65-F5344CB8AC3E}">
        <p14:creationId xmlns:p14="http://schemas.microsoft.com/office/powerpoint/2010/main" val="692888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28" grpId="0" animBg="1"/>
      <p:bldP spid="29" grpId="0" animBg="1"/>
      <p:bldP spid="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AutoShape 3">
            <a:extLst>
              <a:ext uri="{FF2B5EF4-FFF2-40B4-BE49-F238E27FC236}">
                <a16:creationId xmlns:a16="http://schemas.microsoft.com/office/drawing/2014/main" id="{A3DC21EB-46A0-4546-917F-3897427FE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264" y="1453226"/>
            <a:ext cx="4119563" cy="2228850"/>
          </a:xfrm>
          <a:prstGeom prst="foldedCorner">
            <a:avLst>
              <a:gd name="adj" fmla="val 9134"/>
            </a:avLst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rot="10800000"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42" name="Group 4">
            <a:extLst>
              <a:ext uri="{FF2B5EF4-FFF2-40B4-BE49-F238E27FC236}">
                <a16:creationId xmlns:a16="http://schemas.microsoft.com/office/drawing/2014/main" id="{37A2D62B-22D2-465C-83F4-8B2689B9B033}"/>
              </a:ext>
            </a:extLst>
          </p:cNvPr>
          <p:cNvGrpSpPr>
            <a:grpSpLocks/>
          </p:cNvGrpSpPr>
          <p:nvPr/>
        </p:nvGrpSpPr>
        <p:grpSpPr bwMode="auto">
          <a:xfrm>
            <a:off x="3900606" y="1586386"/>
            <a:ext cx="3633787" cy="1884362"/>
            <a:chOff x="2509" y="2854"/>
            <a:chExt cx="2289" cy="1387"/>
          </a:xfrm>
        </p:grpSpPr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5FD53BF9-BDE6-4C77-BF4F-9D4F0D697D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9" y="2863"/>
              <a:ext cx="2289" cy="1378"/>
            </a:xfrm>
            <a:custGeom>
              <a:avLst/>
              <a:gdLst>
                <a:gd name="T0" fmla="*/ 0 w 2289"/>
                <a:gd name="T1" fmla="*/ 0 h 1378"/>
                <a:gd name="T2" fmla="*/ 7 w 2289"/>
                <a:gd name="T3" fmla="*/ 1378 h 1378"/>
                <a:gd name="T4" fmla="*/ 2289 w 2289"/>
                <a:gd name="T5" fmla="*/ 1378 h 1378"/>
                <a:gd name="T6" fmla="*/ 2282 w 2289"/>
                <a:gd name="T7" fmla="*/ 8 h 1378"/>
                <a:gd name="T8" fmla="*/ 1349 w 2289"/>
                <a:gd name="T9" fmla="*/ 8 h 1378"/>
                <a:gd name="T10" fmla="*/ 1349 w 2289"/>
                <a:gd name="T11" fmla="*/ 1327 h 1378"/>
                <a:gd name="T12" fmla="*/ 459 w 2289"/>
                <a:gd name="T13" fmla="*/ 1327 h 1378"/>
                <a:gd name="T14" fmla="*/ 459 w 2289"/>
                <a:gd name="T15" fmla="*/ 8 h 1378"/>
                <a:gd name="T16" fmla="*/ 0 w 2289"/>
                <a:gd name="T17" fmla="*/ 0 h 13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289"/>
                <a:gd name="T28" fmla="*/ 0 h 1378"/>
                <a:gd name="T29" fmla="*/ 2289 w 2289"/>
                <a:gd name="T30" fmla="*/ 1378 h 137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289" h="1378">
                  <a:moveTo>
                    <a:pt x="0" y="0"/>
                  </a:moveTo>
                  <a:lnTo>
                    <a:pt x="7" y="1378"/>
                  </a:lnTo>
                  <a:lnTo>
                    <a:pt x="2289" y="1378"/>
                  </a:lnTo>
                  <a:lnTo>
                    <a:pt x="2282" y="8"/>
                  </a:lnTo>
                  <a:lnTo>
                    <a:pt x="1349" y="8"/>
                  </a:lnTo>
                  <a:lnTo>
                    <a:pt x="1349" y="1327"/>
                  </a:lnTo>
                  <a:lnTo>
                    <a:pt x="459" y="1327"/>
                  </a:lnTo>
                  <a:lnTo>
                    <a:pt x="459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w="25400">
              <a:solidFill>
                <a:srgbClr val="008000"/>
              </a:solidFill>
              <a:round/>
              <a:headEnd/>
              <a:tailEnd type="none" w="lg" len="lg"/>
            </a:ln>
          </p:spPr>
          <p:txBody>
            <a:bodyPr wrap="none" lIns="90000" tIns="46800" rIns="90000" bIns="46800"/>
            <a:lstStyle/>
            <a:p>
              <a:endParaRPr lang="es-ES"/>
            </a:p>
          </p:txBody>
        </p:sp>
        <p:sp>
          <p:nvSpPr>
            <p:cNvPr id="46" name="Rectangle 6">
              <a:extLst>
                <a:ext uri="{FF2B5EF4-FFF2-40B4-BE49-F238E27FC236}">
                  <a16:creationId xmlns:a16="http://schemas.microsoft.com/office/drawing/2014/main" id="{1BFC2B9F-63BB-4700-BE8A-6EB7AFD9E6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2" y="2854"/>
              <a:ext cx="438" cy="328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" name="Rectangle 7">
              <a:extLst>
                <a:ext uri="{FF2B5EF4-FFF2-40B4-BE49-F238E27FC236}">
                  <a16:creationId xmlns:a16="http://schemas.microsoft.com/office/drawing/2014/main" id="{71DEEE49-20B7-4D33-B9C1-16C952CC1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4" y="2867"/>
              <a:ext cx="905" cy="897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2" name="Group 13"/>
          <p:cNvGrpSpPr>
            <a:grpSpLocks/>
          </p:cNvGrpSpPr>
          <p:nvPr/>
        </p:nvGrpSpPr>
        <p:grpSpPr bwMode="auto">
          <a:xfrm>
            <a:off x="4372933" y="1558001"/>
            <a:ext cx="2293094" cy="1570038"/>
            <a:chOff x="2930" y="1159"/>
            <a:chExt cx="1332" cy="989"/>
          </a:xfrm>
        </p:grpSpPr>
        <p:sp>
          <p:nvSpPr>
            <p:cNvPr id="23" name="Oval 14"/>
            <p:cNvSpPr>
              <a:spLocks noChangeArrowheads="1"/>
            </p:cNvSpPr>
            <p:nvPr/>
          </p:nvSpPr>
          <p:spPr bwMode="auto">
            <a:xfrm>
              <a:off x="3372" y="1159"/>
              <a:ext cx="344" cy="384"/>
            </a:xfrm>
            <a:prstGeom prst="ellipse">
              <a:avLst/>
            </a:prstGeom>
            <a:solidFill>
              <a:srgbClr val="969696"/>
            </a:solidFill>
            <a:ln w="12700" algn="ctr">
              <a:solidFill>
                <a:srgbClr val="969696"/>
              </a:solidFill>
              <a:round/>
              <a:headEnd/>
              <a:tailEnd type="none" w="lg" len="lg"/>
            </a:ln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24" name="Group 15"/>
            <p:cNvGrpSpPr>
              <a:grpSpLocks/>
            </p:cNvGrpSpPr>
            <p:nvPr/>
          </p:nvGrpSpPr>
          <p:grpSpPr bwMode="auto">
            <a:xfrm>
              <a:off x="2930" y="1354"/>
              <a:ext cx="1332" cy="794"/>
              <a:chOff x="2934" y="1354"/>
              <a:chExt cx="1332" cy="794"/>
            </a:xfrm>
          </p:grpSpPr>
          <p:sp>
            <p:nvSpPr>
              <p:cNvPr id="25" name="Freeform 16"/>
              <p:cNvSpPr>
                <a:spLocks/>
              </p:cNvSpPr>
              <p:nvPr/>
            </p:nvSpPr>
            <p:spPr bwMode="auto">
              <a:xfrm>
                <a:off x="2934" y="1354"/>
                <a:ext cx="516" cy="794"/>
              </a:xfrm>
              <a:custGeom>
                <a:avLst/>
                <a:gdLst>
                  <a:gd name="T0" fmla="*/ 312 w 312"/>
                  <a:gd name="T1" fmla="*/ 0 h 320"/>
                  <a:gd name="T2" fmla="*/ 0 w 312"/>
                  <a:gd name="T3" fmla="*/ 0 h 320"/>
                  <a:gd name="T4" fmla="*/ 0 w 312"/>
                  <a:gd name="T5" fmla="*/ 320 h 320"/>
                  <a:gd name="T6" fmla="*/ 0 60000 65536"/>
                  <a:gd name="T7" fmla="*/ 0 60000 65536"/>
                  <a:gd name="T8" fmla="*/ 0 60000 65536"/>
                  <a:gd name="T9" fmla="*/ 0 w 312"/>
                  <a:gd name="T10" fmla="*/ 0 h 320"/>
                  <a:gd name="T11" fmla="*/ 312 w 312"/>
                  <a:gd name="T12" fmla="*/ 320 h 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" h="320">
                    <a:moveTo>
                      <a:pt x="312" y="0"/>
                    </a:moveTo>
                    <a:lnTo>
                      <a:pt x="0" y="0"/>
                    </a:lnTo>
                    <a:lnTo>
                      <a:pt x="0" y="320"/>
                    </a:lnTo>
                  </a:path>
                </a:pathLst>
              </a:custGeom>
              <a:noFill/>
              <a:ln w="76200">
                <a:solidFill>
                  <a:srgbClr val="969696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0000" tIns="82800" rIns="90000" bIns="82800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26" name="Freeform 17"/>
              <p:cNvSpPr>
                <a:spLocks/>
              </p:cNvSpPr>
              <p:nvPr/>
            </p:nvSpPr>
            <p:spPr bwMode="auto">
              <a:xfrm flipH="1">
                <a:off x="3706" y="1354"/>
                <a:ext cx="560" cy="794"/>
              </a:xfrm>
              <a:custGeom>
                <a:avLst/>
                <a:gdLst>
                  <a:gd name="T0" fmla="*/ 1686878 w 312"/>
                  <a:gd name="T1" fmla="*/ 0 h 320"/>
                  <a:gd name="T2" fmla="*/ 0 w 312"/>
                  <a:gd name="T3" fmla="*/ 0 h 320"/>
                  <a:gd name="T4" fmla="*/ 0 w 312"/>
                  <a:gd name="T5" fmla="*/ 2147483646 h 320"/>
                  <a:gd name="T6" fmla="*/ 0 60000 65536"/>
                  <a:gd name="T7" fmla="*/ 0 60000 65536"/>
                  <a:gd name="T8" fmla="*/ 0 60000 65536"/>
                  <a:gd name="T9" fmla="*/ 0 w 312"/>
                  <a:gd name="T10" fmla="*/ 0 h 320"/>
                  <a:gd name="T11" fmla="*/ 312 w 312"/>
                  <a:gd name="T12" fmla="*/ 320 h 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" h="320">
                    <a:moveTo>
                      <a:pt x="312" y="0"/>
                    </a:moveTo>
                    <a:lnTo>
                      <a:pt x="0" y="0"/>
                    </a:lnTo>
                    <a:lnTo>
                      <a:pt x="0" y="320"/>
                    </a:lnTo>
                  </a:path>
                </a:pathLst>
              </a:custGeom>
              <a:noFill/>
              <a:ln w="76200">
                <a:solidFill>
                  <a:srgbClr val="969696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0000" tIns="82800" rIns="90000" bIns="82800">
                <a:spAutoFit/>
              </a:bodyPr>
              <a:lstStyle/>
              <a:p>
                <a:endParaRPr lang="es-ES"/>
              </a:p>
            </p:txBody>
          </p:sp>
        </p:grpSp>
      </p:grpSp>
      <p:sp>
        <p:nvSpPr>
          <p:cNvPr id="48" name="Line 9">
            <a:extLst>
              <a:ext uri="{FF2B5EF4-FFF2-40B4-BE49-F238E27FC236}">
                <a16:creationId xmlns:a16="http://schemas.microsoft.com/office/drawing/2014/main" id="{99A4F1FC-04C2-4453-9B11-20966C0250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7877" y="2578494"/>
            <a:ext cx="4197354" cy="0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82800" rIns="90000" bIns="82800"/>
          <a:lstStyle/>
          <a:p>
            <a:endParaRPr lang="es-ES"/>
          </a:p>
        </p:txBody>
      </p:sp>
      <p:grpSp>
        <p:nvGrpSpPr>
          <p:cNvPr id="49" name="Group 29">
            <a:extLst>
              <a:ext uri="{FF2B5EF4-FFF2-40B4-BE49-F238E27FC236}">
                <a16:creationId xmlns:a16="http://schemas.microsoft.com/office/drawing/2014/main" id="{47EEFA10-03E4-4E6D-BE11-102831F48B47}"/>
              </a:ext>
            </a:extLst>
          </p:cNvPr>
          <p:cNvGrpSpPr>
            <a:grpSpLocks/>
          </p:cNvGrpSpPr>
          <p:nvPr/>
        </p:nvGrpSpPr>
        <p:grpSpPr bwMode="auto">
          <a:xfrm>
            <a:off x="4603868" y="3139058"/>
            <a:ext cx="1408113" cy="798513"/>
            <a:chOff x="3215" y="1937"/>
            <a:chExt cx="887" cy="503"/>
          </a:xfrm>
        </p:grpSpPr>
        <p:sp>
          <p:nvSpPr>
            <p:cNvPr id="50" name="Text Box 30">
              <a:extLst>
                <a:ext uri="{FF2B5EF4-FFF2-40B4-BE49-F238E27FC236}">
                  <a16:creationId xmlns:a16="http://schemas.microsoft.com/office/drawing/2014/main" id="{BA0839A7-6999-4225-9439-6C4FA24A57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5" y="1937"/>
              <a:ext cx="887" cy="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54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40000"/>
                </a:lnSpc>
                <a:spcBef>
                  <a:spcPct val="50000"/>
                </a:spcBef>
                <a:buFontTx/>
                <a:buNone/>
              </a:pPr>
              <a:endParaRPr lang="es-ES" sz="2400">
                <a:solidFill>
                  <a:srgbClr val="008000"/>
                </a:solidFill>
                <a:latin typeface="Arial" panose="020B0604020202020204" pitchFamily="34" charset="0"/>
              </a:endParaRPr>
            </a:p>
            <a:p>
              <a:pPr algn="ctr" eaLnBrk="1" hangingPunct="1">
                <a:lnSpc>
                  <a:spcPct val="50000"/>
                </a:lnSpc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corriente</a:t>
              </a:r>
            </a:p>
          </p:txBody>
        </p:sp>
        <p:sp>
          <p:nvSpPr>
            <p:cNvPr id="51" name="Line 31">
              <a:extLst>
                <a:ext uri="{FF2B5EF4-FFF2-40B4-BE49-F238E27FC236}">
                  <a16:creationId xmlns:a16="http://schemas.microsoft.com/office/drawing/2014/main" id="{60593C1E-3691-4456-AA4F-761A6271A7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1" y="2021"/>
              <a:ext cx="458" cy="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</p:grpSp>
      <p:grpSp>
        <p:nvGrpSpPr>
          <p:cNvPr id="30" name="Grupo 29"/>
          <p:cNvGrpSpPr>
            <a:grpSpLocks/>
          </p:cNvGrpSpPr>
          <p:nvPr/>
        </p:nvGrpSpPr>
        <p:grpSpPr bwMode="auto">
          <a:xfrm>
            <a:off x="4658382" y="2251730"/>
            <a:ext cx="1368724" cy="607593"/>
            <a:chOff x="2504851" y="2012304"/>
            <a:chExt cx="1368725" cy="607982"/>
          </a:xfrm>
        </p:grpSpPr>
        <p:sp>
          <p:nvSpPr>
            <p:cNvPr id="32" name="Text Box 30"/>
            <p:cNvSpPr txBox="1">
              <a:spLocks noChangeArrowheads="1"/>
            </p:cNvSpPr>
            <p:nvPr/>
          </p:nvSpPr>
          <p:spPr bwMode="auto">
            <a:xfrm>
              <a:off x="2504851" y="2081289"/>
              <a:ext cx="1368725" cy="538997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154800" rIns="90000" bIns="118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ts val="2000"/>
                </a:lnSpc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corriente</a:t>
              </a:r>
              <a:endParaRPr lang="es-ES" sz="2400" dirty="0">
                <a:solidFill>
                  <a:srgbClr val="3333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 flipH="1">
              <a:off x="2815426" y="2012304"/>
              <a:ext cx="727075" cy="0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>
                <a:solidFill>
                  <a:srgbClr val="3333FF"/>
                </a:solidFill>
              </a:endParaRPr>
            </a:p>
          </p:txBody>
        </p:sp>
      </p:grpSp>
      <p:sp>
        <p:nvSpPr>
          <p:cNvPr id="28" name="Text Box 20">
            <a:extLst>
              <a:ext uri="{FF2B5EF4-FFF2-40B4-BE49-F238E27FC236}">
                <a16:creationId xmlns:a16="http://schemas.microsoft.com/office/drawing/2014/main" id="{34BD86B4-2E8B-4D3D-AEFD-FB277AD67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8986" y="4354814"/>
            <a:ext cx="4375213" cy="536549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ESTADO ESTACIONARIO</a:t>
            </a:r>
          </a:p>
        </p:txBody>
      </p:sp>
      <p:sp>
        <p:nvSpPr>
          <p:cNvPr id="37" name="Text Box 22">
            <a:extLst>
              <a:ext uri="{FF2B5EF4-FFF2-40B4-BE49-F238E27FC236}">
                <a16:creationId xmlns:a16="http://schemas.microsoft.com/office/drawing/2014/main" id="{4AC10763-B67F-47D3-BB41-BA370B735E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8986" y="4975305"/>
            <a:ext cx="4375213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El sistema se “estaciona” en él</a:t>
            </a:r>
          </a:p>
        </p:txBody>
      </p:sp>
      <p:sp>
        <p:nvSpPr>
          <p:cNvPr id="41" name="Text Box 34">
            <a:extLst>
              <a:ext uri="{FF2B5EF4-FFF2-40B4-BE49-F238E27FC236}">
                <a16:creationId xmlns:a16="http://schemas.microsoft.com/office/drawing/2014/main" id="{98637EA2-0D79-4433-9053-46AADB369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8679" y="5863941"/>
            <a:ext cx="7425092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No se habla de equilibrio, porque hay corriente</a:t>
            </a:r>
          </a:p>
        </p:txBody>
      </p:sp>
      <p:sp>
        <p:nvSpPr>
          <p:cNvPr id="43" name="Text Box 76">
            <a:extLst>
              <a:ext uri="{FF2B5EF4-FFF2-40B4-BE49-F238E27FC236}">
                <a16:creationId xmlns:a16="http://schemas.microsoft.com/office/drawing/2014/main" id="{36BC40FF-83ED-4FE2-B9C4-A6CEFD5D8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8240" y="4330870"/>
            <a:ext cx="3075627" cy="53654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s-ES" sz="2400">
                <a:solidFill>
                  <a:schemeClr val="tx1"/>
                </a:solidFill>
              </a:rPr>
              <a:t>Se habla además de: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34" name="Text Box 19">
            <a:extLst>
              <a:ext uri="{FF2B5EF4-FFF2-40B4-BE49-F238E27FC236}">
                <a16:creationId xmlns:a16="http://schemas.microsoft.com/office/drawing/2014/main" id="{A2D4713B-1BBC-4228-95C5-55A412C6E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1040" y="346899"/>
            <a:ext cx="8622790" cy="9058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Si la corriente de la bomba es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constante</a:t>
            </a:r>
            <a:r>
              <a:rPr lang="es-ES" sz="2400">
                <a:latin typeface="Arial" panose="020B0604020202020204" pitchFamily="34" charset="0"/>
              </a:rPr>
              <a:t>, se alcanza cierta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s-ES" sz="2400">
                <a:latin typeface="Arial" panose="020B0604020202020204" pitchFamily="34" charset="0"/>
              </a:rPr>
              <a:t>p y una corriente igual en el sistema: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se congela su evolución</a:t>
            </a:r>
            <a:endParaRPr lang="es-ES" sz="240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836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7" grpId="0" animBg="1"/>
      <p:bldP spid="41" grpId="0"/>
      <p:bldP spid="43" grpId="0" animBg="1"/>
      <p:bldP spid="3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AutoShape 3">
            <a:extLst>
              <a:ext uri="{FF2B5EF4-FFF2-40B4-BE49-F238E27FC236}">
                <a16:creationId xmlns:a16="http://schemas.microsoft.com/office/drawing/2014/main" id="{A3DC21EB-46A0-4546-917F-3897427FE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264" y="1453226"/>
            <a:ext cx="4119563" cy="2228850"/>
          </a:xfrm>
          <a:prstGeom prst="foldedCorner">
            <a:avLst>
              <a:gd name="adj" fmla="val 9134"/>
            </a:avLst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rot="10800000"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42" name="Group 4">
            <a:extLst>
              <a:ext uri="{FF2B5EF4-FFF2-40B4-BE49-F238E27FC236}">
                <a16:creationId xmlns:a16="http://schemas.microsoft.com/office/drawing/2014/main" id="{37A2D62B-22D2-465C-83F4-8B2689B9B033}"/>
              </a:ext>
            </a:extLst>
          </p:cNvPr>
          <p:cNvGrpSpPr>
            <a:grpSpLocks/>
          </p:cNvGrpSpPr>
          <p:nvPr/>
        </p:nvGrpSpPr>
        <p:grpSpPr bwMode="auto">
          <a:xfrm>
            <a:off x="3900606" y="1586386"/>
            <a:ext cx="3633787" cy="1884362"/>
            <a:chOff x="2509" y="2854"/>
            <a:chExt cx="2289" cy="1387"/>
          </a:xfrm>
        </p:grpSpPr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5FD53BF9-BDE6-4C77-BF4F-9D4F0D697D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9" y="2863"/>
              <a:ext cx="2289" cy="1378"/>
            </a:xfrm>
            <a:custGeom>
              <a:avLst/>
              <a:gdLst>
                <a:gd name="T0" fmla="*/ 0 w 2289"/>
                <a:gd name="T1" fmla="*/ 0 h 1378"/>
                <a:gd name="T2" fmla="*/ 7 w 2289"/>
                <a:gd name="T3" fmla="*/ 1378 h 1378"/>
                <a:gd name="T4" fmla="*/ 2289 w 2289"/>
                <a:gd name="T5" fmla="*/ 1378 h 1378"/>
                <a:gd name="T6" fmla="*/ 2282 w 2289"/>
                <a:gd name="T7" fmla="*/ 8 h 1378"/>
                <a:gd name="T8" fmla="*/ 1349 w 2289"/>
                <a:gd name="T9" fmla="*/ 8 h 1378"/>
                <a:gd name="T10" fmla="*/ 1349 w 2289"/>
                <a:gd name="T11" fmla="*/ 1327 h 1378"/>
                <a:gd name="T12" fmla="*/ 459 w 2289"/>
                <a:gd name="T13" fmla="*/ 1327 h 1378"/>
                <a:gd name="T14" fmla="*/ 459 w 2289"/>
                <a:gd name="T15" fmla="*/ 8 h 1378"/>
                <a:gd name="T16" fmla="*/ 0 w 2289"/>
                <a:gd name="T17" fmla="*/ 0 h 13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289"/>
                <a:gd name="T28" fmla="*/ 0 h 1378"/>
                <a:gd name="T29" fmla="*/ 2289 w 2289"/>
                <a:gd name="T30" fmla="*/ 1378 h 137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289" h="1378">
                  <a:moveTo>
                    <a:pt x="0" y="0"/>
                  </a:moveTo>
                  <a:lnTo>
                    <a:pt x="7" y="1378"/>
                  </a:lnTo>
                  <a:lnTo>
                    <a:pt x="2289" y="1378"/>
                  </a:lnTo>
                  <a:lnTo>
                    <a:pt x="2282" y="8"/>
                  </a:lnTo>
                  <a:lnTo>
                    <a:pt x="1349" y="8"/>
                  </a:lnTo>
                  <a:lnTo>
                    <a:pt x="1349" y="1327"/>
                  </a:lnTo>
                  <a:lnTo>
                    <a:pt x="459" y="1327"/>
                  </a:lnTo>
                  <a:lnTo>
                    <a:pt x="459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w="25400">
              <a:solidFill>
                <a:srgbClr val="008000"/>
              </a:solidFill>
              <a:round/>
              <a:headEnd/>
              <a:tailEnd type="none" w="lg" len="lg"/>
            </a:ln>
          </p:spPr>
          <p:txBody>
            <a:bodyPr wrap="none" lIns="90000" tIns="46800" rIns="90000" bIns="46800"/>
            <a:lstStyle/>
            <a:p>
              <a:endParaRPr lang="es-ES"/>
            </a:p>
          </p:txBody>
        </p:sp>
        <p:sp>
          <p:nvSpPr>
            <p:cNvPr id="46" name="Rectangle 6">
              <a:extLst>
                <a:ext uri="{FF2B5EF4-FFF2-40B4-BE49-F238E27FC236}">
                  <a16:creationId xmlns:a16="http://schemas.microsoft.com/office/drawing/2014/main" id="{1BFC2B9F-63BB-4700-BE8A-6EB7AFD9E6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2" y="2854"/>
              <a:ext cx="438" cy="328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" name="Rectangle 7">
              <a:extLst>
                <a:ext uri="{FF2B5EF4-FFF2-40B4-BE49-F238E27FC236}">
                  <a16:creationId xmlns:a16="http://schemas.microsoft.com/office/drawing/2014/main" id="{71DEEE49-20B7-4D33-B9C1-16C952CC1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4" y="2867"/>
              <a:ext cx="905" cy="897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2" name="Group 13"/>
          <p:cNvGrpSpPr>
            <a:grpSpLocks/>
          </p:cNvGrpSpPr>
          <p:nvPr/>
        </p:nvGrpSpPr>
        <p:grpSpPr bwMode="auto">
          <a:xfrm>
            <a:off x="4372933" y="1558001"/>
            <a:ext cx="2293094" cy="1570038"/>
            <a:chOff x="2930" y="1159"/>
            <a:chExt cx="1332" cy="989"/>
          </a:xfrm>
        </p:grpSpPr>
        <p:sp>
          <p:nvSpPr>
            <p:cNvPr id="23" name="Oval 14"/>
            <p:cNvSpPr>
              <a:spLocks noChangeArrowheads="1"/>
            </p:cNvSpPr>
            <p:nvPr/>
          </p:nvSpPr>
          <p:spPr bwMode="auto">
            <a:xfrm>
              <a:off x="3372" y="1159"/>
              <a:ext cx="344" cy="384"/>
            </a:xfrm>
            <a:prstGeom prst="ellipse">
              <a:avLst/>
            </a:prstGeom>
            <a:solidFill>
              <a:srgbClr val="969696"/>
            </a:solidFill>
            <a:ln w="12700" algn="ctr">
              <a:solidFill>
                <a:srgbClr val="969696"/>
              </a:solidFill>
              <a:round/>
              <a:headEnd/>
              <a:tailEnd type="none" w="lg" len="lg"/>
            </a:ln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24" name="Group 15"/>
            <p:cNvGrpSpPr>
              <a:grpSpLocks/>
            </p:cNvGrpSpPr>
            <p:nvPr/>
          </p:nvGrpSpPr>
          <p:grpSpPr bwMode="auto">
            <a:xfrm>
              <a:off x="2930" y="1354"/>
              <a:ext cx="1332" cy="794"/>
              <a:chOff x="2934" y="1354"/>
              <a:chExt cx="1332" cy="794"/>
            </a:xfrm>
          </p:grpSpPr>
          <p:sp>
            <p:nvSpPr>
              <p:cNvPr id="25" name="Freeform 16"/>
              <p:cNvSpPr>
                <a:spLocks/>
              </p:cNvSpPr>
              <p:nvPr/>
            </p:nvSpPr>
            <p:spPr bwMode="auto">
              <a:xfrm>
                <a:off x="2934" y="1354"/>
                <a:ext cx="516" cy="794"/>
              </a:xfrm>
              <a:custGeom>
                <a:avLst/>
                <a:gdLst>
                  <a:gd name="T0" fmla="*/ 312 w 312"/>
                  <a:gd name="T1" fmla="*/ 0 h 320"/>
                  <a:gd name="T2" fmla="*/ 0 w 312"/>
                  <a:gd name="T3" fmla="*/ 0 h 320"/>
                  <a:gd name="T4" fmla="*/ 0 w 312"/>
                  <a:gd name="T5" fmla="*/ 320 h 320"/>
                  <a:gd name="T6" fmla="*/ 0 60000 65536"/>
                  <a:gd name="T7" fmla="*/ 0 60000 65536"/>
                  <a:gd name="T8" fmla="*/ 0 60000 65536"/>
                  <a:gd name="T9" fmla="*/ 0 w 312"/>
                  <a:gd name="T10" fmla="*/ 0 h 320"/>
                  <a:gd name="T11" fmla="*/ 312 w 312"/>
                  <a:gd name="T12" fmla="*/ 320 h 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" h="320">
                    <a:moveTo>
                      <a:pt x="312" y="0"/>
                    </a:moveTo>
                    <a:lnTo>
                      <a:pt x="0" y="0"/>
                    </a:lnTo>
                    <a:lnTo>
                      <a:pt x="0" y="320"/>
                    </a:lnTo>
                  </a:path>
                </a:pathLst>
              </a:custGeom>
              <a:noFill/>
              <a:ln w="76200">
                <a:solidFill>
                  <a:srgbClr val="969696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0000" tIns="82800" rIns="90000" bIns="82800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26" name="Freeform 17"/>
              <p:cNvSpPr>
                <a:spLocks/>
              </p:cNvSpPr>
              <p:nvPr/>
            </p:nvSpPr>
            <p:spPr bwMode="auto">
              <a:xfrm flipH="1">
                <a:off x="3706" y="1354"/>
                <a:ext cx="560" cy="794"/>
              </a:xfrm>
              <a:custGeom>
                <a:avLst/>
                <a:gdLst>
                  <a:gd name="T0" fmla="*/ 1686878 w 312"/>
                  <a:gd name="T1" fmla="*/ 0 h 320"/>
                  <a:gd name="T2" fmla="*/ 0 w 312"/>
                  <a:gd name="T3" fmla="*/ 0 h 320"/>
                  <a:gd name="T4" fmla="*/ 0 w 312"/>
                  <a:gd name="T5" fmla="*/ 2147483646 h 320"/>
                  <a:gd name="T6" fmla="*/ 0 60000 65536"/>
                  <a:gd name="T7" fmla="*/ 0 60000 65536"/>
                  <a:gd name="T8" fmla="*/ 0 60000 65536"/>
                  <a:gd name="T9" fmla="*/ 0 w 312"/>
                  <a:gd name="T10" fmla="*/ 0 h 320"/>
                  <a:gd name="T11" fmla="*/ 312 w 312"/>
                  <a:gd name="T12" fmla="*/ 320 h 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" h="320">
                    <a:moveTo>
                      <a:pt x="312" y="0"/>
                    </a:moveTo>
                    <a:lnTo>
                      <a:pt x="0" y="0"/>
                    </a:lnTo>
                    <a:lnTo>
                      <a:pt x="0" y="320"/>
                    </a:lnTo>
                  </a:path>
                </a:pathLst>
              </a:custGeom>
              <a:noFill/>
              <a:ln w="76200">
                <a:solidFill>
                  <a:srgbClr val="969696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0000" tIns="82800" rIns="90000" bIns="82800">
                <a:spAutoFit/>
              </a:bodyPr>
              <a:lstStyle/>
              <a:p>
                <a:endParaRPr lang="es-ES"/>
              </a:p>
            </p:txBody>
          </p:sp>
        </p:grpSp>
      </p:grpSp>
      <p:sp>
        <p:nvSpPr>
          <p:cNvPr id="48" name="Line 9">
            <a:extLst>
              <a:ext uri="{FF2B5EF4-FFF2-40B4-BE49-F238E27FC236}">
                <a16:creationId xmlns:a16="http://schemas.microsoft.com/office/drawing/2014/main" id="{99A4F1FC-04C2-4453-9B11-20966C0250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7877" y="2578494"/>
            <a:ext cx="4197354" cy="0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82800" rIns="90000" bIns="82800"/>
          <a:lstStyle/>
          <a:p>
            <a:endParaRPr lang="es-ES"/>
          </a:p>
        </p:txBody>
      </p:sp>
      <p:grpSp>
        <p:nvGrpSpPr>
          <p:cNvPr id="49" name="Group 29">
            <a:extLst>
              <a:ext uri="{FF2B5EF4-FFF2-40B4-BE49-F238E27FC236}">
                <a16:creationId xmlns:a16="http://schemas.microsoft.com/office/drawing/2014/main" id="{47EEFA10-03E4-4E6D-BE11-102831F48B47}"/>
              </a:ext>
            </a:extLst>
          </p:cNvPr>
          <p:cNvGrpSpPr>
            <a:grpSpLocks/>
          </p:cNvGrpSpPr>
          <p:nvPr/>
        </p:nvGrpSpPr>
        <p:grpSpPr bwMode="auto">
          <a:xfrm>
            <a:off x="4603868" y="3139058"/>
            <a:ext cx="1408113" cy="798513"/>
            <a:chOff x="3215" y="1937"/>
            <a:chExt cx="887" cy="503"/>
          </a:xfrm>
        </p:grpSpPr>
        <p:sp>
          <p:nvSpPr>
            <p:cNvPr id="50" name="Text Box 30">
              <a:extLst>
                <a:ext uri="{FF2B5EF4-FFF2-40B4-BE49-F238E27FC236}">
                  <a16:creationId xmlns:a16="http://schemas.microsoft.com/office/drawing/2014/main" id="{BA0839A7-6999-4225-9439-6C4FA24A57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5" y="1937"/>
              <a:ext cx="887" cy="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54800" rIns="90000" bIns="118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40000"/>
                </a:lnSpc>
                <a:spcBef>
                  <a:spcPct val="50000"/>
                </a:spcBef>
                <a:buFontTx/>
                <a:buNone/>
              </a:pPr>
              <a:endParaRPr lang="es-ES" sz="2400">
                <a:solidFill>
                  <a:srgbClr val="008000"/>
                </a:solidFill>
                <a:latin typeface="Arial" panose="020B0604020202020204" pitchFamily="34" charset="0"/>
              </a:endParaRPr>
            </a:p>
            <a:p>
              <a:pPr algn="ctr" eaLnBrk="1" hangingPunct="1">
                <a:lnSpc>
                  <a:spcPct val="50000"/>
                </a:lnSpc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corriente</a:t>
              </a:r>
            </a:p>
          </p:txBody>
        </p:sp>
        <p:sp>
          <p:nvSpPr>
            <p:cNvPr id="51" name="Line 31">
              <a:extLst>
                <a:ext uri="{FF2B5EF4-FFF2-40B4-BE49-F238E27FC236}">
                  <a16:creationId xmlns:a16="http://schemas.microsoft.com/office/drawing/2014/main" id="{60593C1E-3691-4456-AA4F-761A6271A7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1" y="2021"/>
              <a:ext cx="458" cy="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</p:grpSp>
      <p:grpSp>
        <p:nvGrpSpPr>
          <p:cNvPr id="30" name="Grupo 29"/>
          <p:cNvGrpSpPr>
            <a:grpSpLocks/>
          </p:cNvGrpSpPr>
          <p:nvPr/>
        </p:nvGrpSpPr>
        <p:grpSpPr bwMode="auto">
          <a:xfrm>
            <a:off x="4658382" y="2251730"/>
            <a:ext cx="1368724" cy="607593"/>
            <a:chOff x="2504851" y="2012304"/>
            <a:chExt cx="1368725" cy="607982"/>
          </a:xfrm>
        </p:grpSpPr>
        <p:sp>
          <p:nvSpPr>
            <p:cNvPr id="32" name="Text Box 30"/>
            <p:cNvSpPr txBox="1">
              <a:spLocks noChangeArrowheads="1"/>
            </p:cNvSpPr>
            <p:nvPr/>
          </p:nvSpPr>
          <p:spPr bwMode="auto">
            <a:xfrm>
              <a:off x="2504851" y="2081289"/>
              <a:ext cx="1368725" cy="538997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154800" rIns="90000" bIns="118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ts val="2000"/>
                </a:lnSpc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corriente</a:t>
              </a:r>
              <a:endParaRPr lang="es-ES" sz="2400" dirty="0">
                <a:solidFill>
                  <a:srgbClr val="3333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 flipH="1">
              <a:off x="2815426" y="2012304"/>
              <a:ext cx="727075" cy="0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>
                <a:solidFill>
                  <a:srgbClr val="3333FF"/>
                </a:solidFill>
              </a:endParaRPr>
            </a:p>
          </p:txBody>
        </p:sp>
      </p:grpSp>
      <p:sp>
        <p:nvSpPr>
          <p:cNvPr id="33" name="Text Box 21">
            <a:extLst>
              <a:ext uri="{FF2B5EF4-FFF2-40B4-BE49-F238E27FC236}">
                <a16:creationId xmlns:a16="http://schemas.microsoft.com/office/drawing/2014/main" id="{3AFC4C60-E576-4959-A4E5-F31B26791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2961" y="451588"/>
            <a:ext cx="4674582" cy="536549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CORRIENTE CONTINUA (CC)</a:t>
            </a:r>
          </a:p>
        </p:txBody>
      </p:sp>
      <p:sp>
        <p:nvSpPr>
          <p:cNvPr id="34" name="Text Box 23">
            <a:extLst>
              <a:ext uri="{FF2B5EF4-FFF2-40B4-BE49-F238E27FC236}">
                <a16:creationId xmlns:a16="http://schemas.microsoft.com/office/drawing/2014/main" id="{091374C3-9DE7-47C4-8675-AFBF6B8E6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6829" y="4035962"/>
            <a:ext cx="6716467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Una corriente continuamente en un solo sentido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35" name="Text Box 42">
            <a:extLst>
              <a:ext uri="{FF2B5EF4-FFF2-40B4-BE49-F238E27FC236}">
                <a16:creationId xmlns:a16="http://schemas.microsoft.com/office/drawing/2014/main" id="{84567D51-8B06-4354-97EE-AC7DC1DC9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075" y="465196"/>
            <a:ext cx="3386725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Direct Current  -DC-</a:t>
            </a:r>
          </a:p>
        </p:txBody>
      </p:sp>
      <p:sp>
        <p:nvSpPr>
          <p:cNvPr id="44" name="Text Box 23">
            <a:extLst>
              <a:ext uri="{FF2B5EF4-FFF2-40B4-BE49-F238E27FC236}">
                <a16:creationId xmlns:a16="http://schemas.microsoft.com/office/drawing/2014/main" id="{72905E38-D7CE-415A-B525-7D372E5FD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3920" y="5534703"/>
            <a:ext cx="9352722" cy="1275213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216000" tIns="82800" rIns="216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Si la corriente se corta, aunque sea por un instante, y se resta-blece en el mismo sentido, de manera intermitente y periódica, con un valor usualmente cte., se habla de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corriente pulsada (- - -)</a:t>
            </a:r>
            <a:endParaRPr lang="es-ES" sz="240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grpSp>
        <p:nvGrpSpPr>
          <p:cNvPr id="52" name="Grupo 51">
            <a:extLst>
              <a:ext uri="{FF2B5EF4-FFF2-40B4-BE49-F238E27FC236}">
                <a16:creationId xmlns:a16="http://schemas.microsoft.com/office/drawing/2014/main" id="{204340E2-A276-4E38-869E-32560F6408A1}"/>
              </a:ext>
            </a:extLst>
          </p:cNvPr>
          <p:cNvGrpSpPr/>
          <p:nvPr/>
        </p:nvGrpSpPr>
        <p:grpSpPr>
          <a:xfrm>
            <a:off x="1375972" y="4762989"/>
            <a:ext cx="6707324" cy="536549"/>
            <a:chOff x="1380809" y="4932170"/>
            <a:chExt cx="7214135" cy="536549"/>
          </a:xfrm>
        </p:grpSpPr>
        <p:sp>
          <p:nvSpPr>
            <p:cNvPr id="53" name="Text Box 23">
              <a:extLst>
                <a:ext uri="{FF2B5EF4-FFF2-40B4-BE49-F238E27FC236}">
                  <a16:creationId xmlns:a16="http://schemas.microsoft.com/office/drawing/2014/main" id="{F72F461E-1321-467D-8305-2FDC059E72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0809" y="4932170"/>
              <a:ext cx="7214135" cy="53654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Hoy en día se suele considerar </a:t>
              </a: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constante (   )</a:t>
              </a:r>
              <a:endParaRPr lang="es-ES" sz="2400" dirty="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6C011EB9-FC3C-4B77-A5E9-7C04AF43856B}"/>
                </a:ext>
              </a:extLst>
            </p:cNvPr>
            <p:cNvCxnSpPr/>
            <p:nvPr/>
          </p:nvCxnSpPr>
          <p:spPr bwMode="auto">
            <a:xfrm>
              <a:off x="7916162" y="5227984"/>
              <a:ext cx="262394" cy="0"/>
            </a:xfrm>
            <a:prstGeom prst="line">
              <a:avLst/>
            </a:prstGeom>
            <a:noFill/>
            <a:ln w="285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110733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/>
      <p:bldP spid="4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F09A520-23F6-4A10-B498-AE0F1B23D14E}"/>
              </a:ext>
            </a:extLst>
          </p:cNvPr>
          <p:cNvSpPr/>
          <p:nvPr/>
        </p:nvSpPr>
        <p:spPr bwMode="auto">
          <a:xfrm>
            <a:off x="1408865" y="3278002"/>
            <a:ext cx="3810001" cy="19255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pic>
        <p:nvPicPr>
          <p:cNvPr id="17410" name="Picture 5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206624" y="1379222"/>
            <a:ext cx="19018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pic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1685924" y="1664973"/>
            <a:ext cx="2962275" cy="987425"/>
            <a:chOff x="992" y="1334"/>
            <a:chExt cx="1866" cy="622"/>
          </a:xfrm>
        </p:grpSpPr>
        <p:sp>
          <p:nvSpPr>
            <p:cNvPr id="19492" name="Line 10"/>
            <p:cNvSpPr>
              <a:spLocks noChangeShapeType="1"/>
            </p:cNvSpPr>
            <p:nvPr/>
          </p:nvSpPr>
          <p:spPr bwMode="auto">
            <a:xfrm>
              <a:off x="2487" y="1334"/>
              <a:ext cx="36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s-ES"/>
            </a:p>
          </p:txBody>
        </p:sp>
        <p:sp>
          <p:nvSpPr>
            <p:cNvPr id="19493" name="Line 11"/>
            <p:cNvSpPr>
              <a:spLocks noChangeShapeType="1"/>
            </p:cNvSpPr>
            <p:nvPr/>
          </p:nvSpPr>
          <p:spPr bwMode="auto">
            <a:xfrm>
              <a:off x="1009" y="1353"/>
              <a:ext cx="319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s-ES"/>
            </a:p>
          </p:txBody>
        </p:sp>
        <p:sp>
          <p:nvSpPr>
            <p:cNvPr id="19494" name="Line 12"/>
            <p:cNvSpPr>
              <a:spLocks noChangeShapeType="1"/>
            </p:cNvSpPr>
            <p:nvPr/>
          </p:nvSpPr>
          <p:spPr bwMode="auto">
            <a:xfrm>
              <a:off x="992" y="1344"/>
              <a:ext cx="0" cy="61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s-ES"/>
            </a:p>
          </p:txBody>
        </p:sp>
        <p:sp>
          <p:nvSpPr>
            <p:cNvPr id="19495" name="Line 13"/>
            <p:cNvSpPr>
              <a:spLocks noChangeShapeType="1"/>
            </p:cNvSpPr>
            <p:nvPr/>
          </p:nvSpPr>
          <p:spPr bwMode="auto">
            <a:xfrm>
              <a:off x="2856" y="1342"/>
              <a:ext cx="0" cy="61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s-ES"/>
            </a:p>
          </p:txBody>
        </p:sp>
        <p:sp>
          <p:nvSpPr>
            <p:cNvPr id="19496" name="Line 14"/>
            <p:cNvSpPr>
              <a:spLocks noChangeShapeType="1"/>
            </p:cNvSpPr>
            <p:nvPr/>
          </p:nvSpPr>
          <p:spPr bwMode="auto">
            <a:xfrm>
              <a:off x="998" y="1950"/>
              <a:ext cx="186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s-ES"/>
            </a:p>
          </p:txBody>
        </p:sp>
      </p:grpSp>
      <p:sp>
        <p:nvSpPr>
          <p:cNvPr id="495624" name="Text Box 8"/>
          <p:cNvSpPr txBox="1">
            <a:spLocks noChangeArrowheads="1"/>
          </p:cNvSpPr>
          <p:nvPr/>
        </p:nvSpPr>
        <p:spPr bwMode="auto">
          <a:xfrm>
            <a:off x="1452321" y="291010"/>
            <a:ext cx="6380297" cy="905881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RÉGIMEN PERMANENTE CONTINUO o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CORRIENTE CONTINUA </a:t>
            </a: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(CC -DC-)</a:t>
            </a:r>
            <a:endParaRPr lang="es-ES" sz="24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95644" name="Text Box 28"/>
          <p:cNvSpPr txBox="1">
            <a:spLocks noChangeArrowheads="1"/>
          </p:cNvSpPr>
          <p:nvPr/>
        </p:nvSpPr>
        <p:spPr bwMode="auto">
          <a:xfrm>
            <a:off x="5400675" y="1301323"/>
            <a:ext cx="4945338" cy="20138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Mientras haya reactivos, la </a:t>
            </a:r>
            <a:r>
              <a:rPr lang="es-ES" sz="2400" dirty="0">
                <a:latin typeface="Arial" panose="020B0604020202020204" pitchFamily="34" charset="0"/>
              </a:rPr>
              <a:t>pila </a:t>
            </a:r>
            <a:r>
              <a:rPr lang="es-ES" sz="2400">
                <a:latin typeface="Arial" panose="020B0604020202020204" pitchFamily="34" charset="0"/>
              </a:rPr>
              <a:t>restaura </a:t>
            </a:r>
            <a:r>
              <a:rPr lang="es-ES" sz="2400" u="sng">
                <a:latin typeface="Arial" panose="020B0604020202020204" pitchFamily="34" charset="0"/>
              </a:rPr>
              <a:t>permanentemente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los excesos de carga, el campo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y la ddp en pila y en cable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(como la </a:t>
            </a:r>
            <a:r>
              <a:rPr lang="es-ES" sz="2400" dirty="0">
                <a:latin typeface="Arial" panose="020B0604020202020204" pitchFamily="34" charset="0"/>
              </a:rPr>
              <a:t>bomba)</a:t>
            </a:r>
          </a:p>
        </p:txBody>
      </p:sp>
      <p:sp>
        <p:nvSpPr>
          <p:cNvPr id="19485" name="Text Box 38"/>
          <p:cNvSpPr txBox="1">
            <a:spLocks noChangeArrowheads="1"/>
          </p:cNvSpPr>
          <p:nvPr/>
        </p:nvSpPr>
        <p:spPr bwMode="auto">
          <a:xfrm>
            <a:off x="2546350" y="2663931"/>
            <a:ext cx="1236534" cy="474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3333FF"/>
                </a:solidFill>
                <a:latin typeface="Arial" panose="020B0604020202020204" pitchFamily="34" charset="0"/>
              </a:rPr>
              <a:t>Corriente</a:t>
            </a:r>
            <a:endParaRPr lang="es-ES" sz="20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grpSp>
        <p:nvGrpSpPr>
          <p:cNvPr id="15412" name="Group 52"/>
          <p:cNvGrpSpPr>
            <a:grpSpLocks/>
          </p:cNvGrpSpPr>
          <p:nvPr/>
        </p:nvGrpSpPr>
        <p:grpSpPr bwMode="auto">
          <a:xfrm>
            <a:off x="6511474" y="3338397"/>
            <a:ext cx="3089275" cy="798514"/>
            <a:chOff x="4106" y="1211"/>
            <a:chExt cx="1946" cy="503"/>
          </a:xfrm>
        </p:grpSpPr>
        <p:sp>
          <p:nvSpPr>
            <p:cNvPr id="19482" name="Text Box 30"/>
            <p:cNvSpPr txBox="1">
              <a:spLocks noChangeArrowheads="1"/>
            </p:cNvSpPr>
            <p:nvPr/>
          </p:nvSpPr>
          <p:spPr bwMode="auto">
            <a:xfrm>
              <a:off x="4106" y="1376"/>
              <a:ext cx="1946" cy="33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latin typeface="Arial" panose="020B0604020202020204" pitchFamily="34" charset="0"/>
                </a:rPr>
                <a:t>Corriente constante</a:t>
              </a:r>
            </a:p>
          </p:txBody>
        </p:sp>
        <p:sp>
          <p:nvSpPr>
            <p:cNvPr id="19483" name="AutoShape 53"/>
            <p:cNvSpPr>
              <a:spLocks noChangeArrowheads="1"/>
            </p:cNvSpPr>
            <p:nvPr/>
          </p:nvSpPr>
          <p:spPr bwMode="auto">
            <a:xfrm>
              <a:off x="4930" y="1211"/>
              <a:ext cx="277" cy="141"/>
            </a:xfrm>
            <a:prstGeom prst="downArrow">
              <a:avLst>
                <a:gd name="adj1" fmla="val 50148"/>
                <a:gd name="adj2" fmla="val 53181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0" name="Group 64"/>
          <p:cNvGrpSpPr>
            <a:grpSpLocks/>
          </p:cNvGrpSpPr>
          <p:nvPr/>
        </p:nvGrpSpPr>
        <p:grpSpPr bwMode="auto">
          <a:xfrm>
            <a:off x="2098674" y="1620527"/>
            <a:ext cx="2235200" cy="944565"/>
            <a:chOff x="1224" y="1307"/>
            <a:chExt cx="1408" cy="595"/>
          </a:xfrm>
        </p:grpSpPr>
        <p:sp>
          <p:nvSpPr>
            <p:cNvPr id="19479" name="Text Box 26"/>
            <p:cNvSpPr txBox="1">
              <a:spLocks noChangeArrowheads="1"/>
            </p:cNvSpPr>
            <p:nvPr/>
          </p:nvSpPr>
          <p:spPr bwMode="auto">
            <a:xfrm>
              <a:off x="2350" y="1338"/>
              <a:ext cx="282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dirty="0">
                  <a:solidFill>
                    <a:srgbClr val="3333FF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9480" name="Text Box 27"/>
            <p:cNvSpPr txBox="1">
              <a:spLocks noChangeArrowheads="1"/>
            </p:cNvSpPr>
            <p:nvPr/>
          </p:nvSpPr>
          <p:spPr bwMode="auto">
            <a:xfrm>
              <a:off x="1224" y="1307"/>
              <a:ext cx="210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>
                  <a:solidFill>
                    <a:srgbClr val="3333FF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19481" name="Text Box 33"/>
            <p:cNvSpPr txBox="1">
              <a:spLocks noChangeArrowheads="1"/>
            </p:cNvSpPr>
            <p:nvPr/>
          </p:nvSpPr>
          <p:spPr bwMode="auto">
            <a:xfrm>
              <a:off x="1534" y="1474"/>
              <a:ext cx="743" cy="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ts val="2000"/>
                </a:lnSpc>
                <a:spcBef>
                  <a:spcPct val="0"/>
                </a:spcBef>
                <a:buFontTx/>
                <a:buNone/>
              </a:pPr>
              <a:r>
                <a:rPr lang="es-ES" sz="2000" dirty="0">
                  <a:solidFill>
                    <a:srgbClr val="3333FF"/>
                  </a:solidFill>
                  <a:latin typeface="Arial" panose="020B0604020202020204" pitchFamily="34" charset="0"/>
                </a:rPr>
                <a:t>Excesos</a:t>
              </a:r>
            </a:p>
            <a:p>
              <a:pPr eaLnBrk="1" hangingPunct="1">
                <a:lnSpc>
                  <a:spcPts val="2000"/>
                </a:lnSpc>
                <a:spcBef>
                  <a:spcPct val="0"/>
                </a:spcBef>
                <a:buFontTx/>
                <a:buNone/>
              </a:pPr>
              <a:r>
                <a:rPr lang="es-ES" sz="2000" dirty="0">
                  <a:solidFill>
                    <a:srgbClr val="3333FF"/>
                  </a:solidFill>
                  <a:latin typeface="Arial" panose="020B0604020202020204" pitchFamily="34" charset="0"/>
                </a:rPr>
                <a:t>de carga</a:t>
              </a:r>
            </a:p>
          </p:txBody>
        </p:sp>
      </p:grpSp>
      <p:sp>
        <p:nvSpPr>
          <p:cNvPr id="19477" name="Text Box 41"/>
          <p:cNvSpPr txBox="1">
            <a:spLocks noChangeArrowheads="1"/>
          </p:cNvSpPr>
          <p:nvPr/>
        </p:nvSpPr>
        <p:spPr bwMode="auto">
          <a:xfrm>
            <a:off x="6150733" y="5952794"/>
            <a:ext cx="3810000" cy="536570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ESTADO ESTACIONARIO</a:t>
            </a:r>
          </a:p>
        </p:txBody>
      </p:sp>
      <p:sp>
        <p:nvSpPr>
          <p:cNvPr id="19478" name="Text Box 42"/>
          <p:cNvSpPr txBox="1">
            <a:spLocks noChangeArrowheads="1"/>
          </p:cNvSpPr>
          <p:nvPr/>
        </p:nvSpPr>
        <p:spPr bwMode="auto">
          <a:xfrm>
            <a:off x="6298924" y="6418663"/>
            <a:ext cx="3522663" cy="536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(no depende del tiempo)</a:t>
            </a:r>
          </a:p>
        </p:txBody>
      </p:sp>
      <p:sp>
        <p:nvSpPr>
          <p:cNvPr id="15418" name="AutoShape 53"/>
          <p:cNvSpPr>
            <a:spLocks noChangeArrowheads="1"/>
          </p:cNvSpPr>
          <p:nvPr/>
        </p:nvSpPr>
        <p:spPr bwMode="auto">
          <a:xfrm rot="10800000" flipV="1">
            <a:off x="7841857" y="5593640"/>
            <a:ext cx="439737" cy="279649"/>
          </a:xfrm>
          <a:prstGeom prst="downArrow">
            <a:avLst>
              <a:gd name="adj1" fmla="val 50185"/>
              <a:gd name="adj2" fmla="val 47661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rot="10800000" vert="eaVert"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9" name="Text Box 28"/>
          <p:cNvSpPr txBox="1">
            <a:spLocks noChangeArrowheads="1"/>
          </p:cNvSpPr>
          <p:nvPr/>
        </p:nvSpPr>
        <p:spPr bwMode="auto">
          <a:xfrm>
            <a:off x="5756269" y="4213652"/>
            <a:ext cx="4579805" cy="127521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</a:rPr>
              <a:t>Una recta </a:t>
            </a:r>
            <a:r>
              <a:rPr lang="es-ES" sz="2400">
                <a:latin typeface="Arial" panose="020B0604020202020204" pitchFamily="34" charset="0"/>
              </a:rPr>
              <a:t>horizontal (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s-ES" sz="2400">
                <a:latin typeface="Arial" panose="020B0604020202020204" pitchFamily="34" charset="0"/>
              </a:rPr>
              <a:t>)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en </a:t>
            </a:r>
            <a:r>
              <a:rPr lang="es-ES" sz="2400" dirty="0">
                <a:latin typeface="Arial" panose="020B0604020202020204" pitchFamily="34" charset="0"/>
              </a:rPr>
              <a:t>una </a:t>
            </a:r>
            <a:r>
              <a:rPr lang="es-ES" sz="2400">
                <a:latin typeface="Arial" panose="020B0604020202020204" pitchFamily="34" charset="0"/>
              </a:rPr>
              <a:t>gráfica frente al tiempo de </a:t>
            </a:r>
            <a:r>
              <a:rPr lang="es-ES" sz="2400" dirty="0">
                <a:latin typeface="Arial" panose="020B0604020202020204" pitchFamily="34" charset="0"/>
              </a:rPr>
              <a:t>la corriente, </a:t>
            </a:r>
            <a:r>
              <a:rPr lang="es-ES" sz="2400">
                <a:latin typeface="Comic Sans MS" panose="030F0702030302020204" pitchFamily="66" charset="0"/>
              </a:rPr>
              <a:t>I</a:t>
            </a:r>
            <a:r>
              <a:rPr lang="es-ES" sz="2400">
                <a:latin typeface="Arial" panose="020B0604020202020204" pitchFamily="34" charset="0"/>
              </a:rPr>
              <a:t>, o </a:t>
            </a:r>
            <a:r>
              <a:rPr lang="es-ES" sz="2400" dirty="0">
                <a:latin typeface="Arial" panose="020B0604020202020204" pitchFamily="34" charset="0"/>
              </a:rPr>
              <a:t>de la </a:t>
            </a:r>
            <a:r>
              <a:rPr lang="es-ES" sz="2400" dirty="0" err="1">
                <a:latin typeface="Arial" panose="020B0604020202020204" pitchFamily="34" charset="0"/>
              </a:rPr>
              <a:t>ddp</a:t>
            </a:r>
            <a:r>
              <a:rPr lang="es-ES" sz="2400">
                <a:latin typeface="Arial" panose="020B0604020202020204" pitchFamily="34" charset="0"/>
              </a:rPr>
              <a:t>, V</a:t>
            </a:r>
            <a:endParaRPr lang="es-ES" sz="2400" dirty="0">
              <a:latin typeface="Arial" panose="020B0604020202020204" pitchFamily="34" charset="0"/>
            </a:endParaRPr>
          </a:p>
        </p:txBody>
      </p:sp>
      <p:grpSp>
        <p:nvGrpSpPr>
          <p:cNvPr id="15" name="Grupo 14"/>
          <p:cNvGrpSpPr/>
          <p:nvPr/>
        </p:nvGrpSpPr>
        <p:grpSpPr>
          <a:xfrm>
            <a:off x="1687332" y="3432236"/>
            <a:ext cx="3327359" cy="1603865"/>
            <a:chOff x="1991139" y="2600257"/>
            <a:chExt cx="3327359" cy="1603865"/>
          </a:xfrm>
        </p:grpSpPr>
        <p:cxnSp>
          <p:nvCxnSpPr>
            <p:cNvPr id="7" name="Conector recto de flecha 6"/>
            <p:cNvCxnSpPr/>
            <p:nvPr/>
          </p:nvCxnSpPr>
          <p:spPr bwMode="auto">
            <a:xfrm flipV="1">
              <a:off x="1991139" y="2785850"/>
              <a:ext cx="0" cy="1107902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9" name="Conector recto de flecha 8"/>
            <p:cNvCxnSpPr/>
            <p:nvPr/>
          </p:nvCxnSpPr>
          <p:spPr bwMode="auto">
            <a:xfrm>
              <a:off x="1991354" y="3902174"/>
              <a:ext cx="3056479" cy="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sp>
          <p:nvSpPr>
            <p:cNvPr id="11" name="CuadroTexto 10"/>
            <p:cNvSpPr txBox="1"/>
            <p:nvPr/>
          </p:nvSpPr>
          <p:spPr>
            <a:xfrm>
              <a:off x="2008356" y="2600257"/>
              <a:ext cx="8980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400" dirty="0">
                  <a:latin typeface="Comic Sans MS" panose="030F0702030302020204" pitchFamily="66" charset="0"/>
                </a:rPr>
                <a:t>V o I</a:t>
              </a:r>
            </a:p>
          </p:txBody>
        </p:sp>
        <p:sp>
          <p:nvSpPr>
            <p:cNvPr id="12" name="CuadroTexto 11"/>
            <p:cNvSpPr txBox="1"/>
            <p:nvPr/>
          </p:nvSpPr>
          <p:spPr>
            <a:xfrm>
              <a:off x="5048872" y="3742457"/>
              <a:ext cx="2696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400"/>
                <a:t>t</a:t>
              </a:r>
            </a:p>
          </p:txBody>
        </p:sp>
        <p:cxnSp>
          <p:nvCxnSpPr>
            <p:cNvPr id="14" name="Conector recto 13"/>
            <p:cNvCxnSpPr/>
            <p:nvPr/>
          </p:nvCxnSpPr>
          <p:spPr bwMode="auto">
            <a:xfrm>
              <a:off x="1992906" y="3382509"/>
              <a:ext cx="3049200" cy="0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</p:cxn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3FB6F99F-2F01-492E-BF70-B010FB842D22}"/>
              </a:ext>
            </a:extLst>
          </p:cNvPr>
          <p:cNvGrpSpPr/>
          <p:nvPr/>
        </p:nvGrpSpPr>
        <p:grpSpPr>
          <a:xfrm>
            <a:off x="1560455" y="1558609"/>
            <a:ext cx="3217695" cy="1207706"/>
            <a:chOff x="1560455" y="592968"/>
            <a:chExt cx="3217695" cy="1207706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72E22321-96B3-425B-A4D3-B7D898E04B26}"/>
                </a:ext>
              </a:extLst>
            </p:cNvPr>
            <p:cNvGrpSpPr/>
            <p:nvPr/>
          </p:nvGrpSpPr>
          <p:grpSpPr>
            <a:xfrm>
              <a:off x="1743074" y="592968"/>
              <a:ext cx="473076" cy="252413"/>
              <a:chOff x="1743074" y="701120"/>
              <a:chExt cx="473076" cy="252413"/>
            </a:xfrm>
          </p:grpSpPr>
          <p:sp>
            <p:nvSpPr>
              <p:cNvPr id="19486" name="Line 20"/>
              <p:cNvSpPr>
                <a:spLocks noChangeShapeType="1"/>
              </p:cNvSpPr>
              <p:nvPr/>
            </p:nvSpPr>
            <p:spPr bwMode="auto">
              <a:xfrm flipV="1">
                <a:off x="1973262" y="836472"/>
                <a:ext cx="242888" cy="0"/>
              </a:xfrm>
              <a:prstGeom prst="line">
                <a:avLst/>
              </a:prstGeom>
              <a:noFill/>
              <a:ln w="12700">
                <a:solidFill>
                  <a:srgbClr val="3333FF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s-ES"/>
              </a:p>
            </p:txBody>
          </p:sp>
          <p:pic>
            <p:nvPicPr>
              <p:cNvPr id="19487" name="Picture 21" descr="Image1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43074" y="701120"/>
                <a:ext cx="252413" cy="2524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C11FCB3B-1200-478D-B615-EFD67521C688}"/>
                </a:ext>
              </a:extLst>
            </p:cNvPr>
            <p:cNvGrpSpPr/>
            <p:nvPr/>
          </p:nvGrpSpPr>
          <p:grpSpPr>
            <a:xfrm>
              <a:off x="4105274" y="592968"/>
              <a:ext cx="479426" cy="252413"/>
              <a:chOff x="4105274" y="701120"/>
              <a:chExt cx="479426" cy="252413"/>
            </a:xfrm>
          </p:grpSpPr>
          <p:sp>
            <p:nvSpPr>
              <p:cNvPr id="19488" name="Line 23"/>
              <p:cNvSpPr>
                <a:spLocks noChangeShapeType="1"/>
              </p:cNvSpPr>
              <p:nvPr/>
            </p:nvSpPr>
            <p:spPr bwMode="auto">
              <a:xfrm flipV="1">
                <a:off x="4341812" y="805146"/>
                <a:ext cx="242888" cy="0"/>
              </a:xfrm>
              <a:prstGeom prst="line">
                <a:avLst/>
              </a:prstGeom>
              <a:noFill/>
              <a:ln w="12700">
                <a:solidFill>
                  <a:srgbClr val="3333FF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s-ES" dirty="0"/>
              </a:p>
            </p:txBody>
          </p:sp>
          <p:pic>
            <p:nvPicPr>
              <p:cNvPr id="19489" name="Picture 24" descr="Image1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05274" y="701120"/>
                <a:ext cx="252413" cy="2524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9484" name="Line 37"/>
            <p:cNvSpPr>
              <a:spLocks noChangeShapeType="1"/>
            </p:cNvSpPr>
            <p:nvPr/>
          </p:nvSpPr>
          <p:spPr bwMode="auto">
            <a:xfrm flipH="1" flipV="1">
              <a:off x="3052762" y="1678854"/>
              <a:ext cx="242888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s-ES"/>
            </a:p>
          </p:txBody>
        </p:sp>
        <p:sp>
          <p:nvSpPr>
            <p:cNvPr id="40" name="Line 23">
              <a:extLst>
                <a:ext uri="{FF2B5EF4-FFF2-40B4-BE49-F238E27FC236}">
                  <a16:creationId xmlns:a16="http://schemas.microsoft.com/office/drawing/2014/main" id="{690216A6-2350-4FA8-8BD9-B8FBF2646A9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4521117" y="1424109"/>
              <a:ext cx="242888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s-ES" dirty="0"/>
            </a:p>
          </p:txBody>
        </p:sp>
        <p:sp>
          <p:nvSpPr>
            <p:cNvPr id="44" name="Line 23">
              <a:extLst>
                <a:ext uri="{FF2B5EF4-FFF2-40B4-BE49-F238E27FC236}">
                  <a16:creationId xmlns:a16="http://schemas.microsoft.com/office/drawing/2014/main" id="{9FB0558E-DDF6-4930-A8C3-296B1CCD10E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1560445" y="1247741"/>
              <a:ext cx="242888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s-ES" dirty="0"/>
            </a:p>
          </p:txBody>
        </p:sp>
        <p:pic>
          <p:nvPicPr>
            <p:cNvPr id="45" name="Picture 24" descr="Image1">
              <a:extLst>
                <a:ext uri="{FF2B5EF4-FFF2-40B4-BE49-F238E27FC236}">
                  <a16:creationId xmlns:a16="http://schemas.microsoft.com/office/drawing/2014/main" id="{C4AAD098-7DD0-4B93-9C2F-27AB622DC8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737" y="1097915"/>
              <a:ext cx="252413" cy="252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6" name="Picture 24" descr="Image1">
              <a:extLst>
                <a:ext uri="{FF2B5EF4-FFF2-40B4-BE49-F238E27FC236}">
                  <a16:creationId xmlns:a16="http://schemas.microsoft.com/office/drawing/2014/main" id="{8517A638-E31A-4D72-8EA1-BFC8BBB490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0455" y="1353890"/>
              <a:ext cx="252413" cy="252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7" name="Picture 24" descr="Image1">
              <a:extLst>
                <a:ext uri="{FF2B5EF4-FFF2-40B4-BE49-F238E27FC236}">
                  <a16:creationId xmlns:a16="http://schemas.microsoft.com/office/drawing/2014/main" id="{B03B9EAA-785F-4B0B-9319-B157A0A3AE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0583" y="1548261"/>
              <a:ext cx="252413" cy="252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91AD587B-FD5C-4C45-911D-491F83922D1E}"/>
              </a:ext>
            </a:extLst>
          </p:cNvPr>
          <p:cNvGrpSpPr/>
          <p:nvPr/>
        </p:nvGrpSpPr>
        <p:grpSpPr>
          <a:xfrm>
            <a:off x="1418804" y="5340633"/>
            <a:ext cx="3810001" cy="1446707"/>
            <a:chOff x="1349231" y="5645212"/>
            <a:chExt cx="3810001" cy="1446707"/>
          </a:xfrm>
        </p:grpSpPr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949730D8-430A-45F9-9FBF-9D861DF39F22}"/>
                </a:ext>
              </a:extLst>
            </p:cNvPr>
            <p:cNvSpPr/>
            <p:nvPr/>
          </p:nvSpPr>
          <p:spPr bwMode="auto">
            <a:xfrm>
              <a:off x="1349231" y="5645212"/>
              <a:ext cx="3810001" cy="1446707"/>
            </a:xfrm>
            <a:prstGeom prst="rect">
              <a:avLst/>
            </a:prstGeom>
            <a:solidFill>
              <a:srgbClr val="FFFF99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49" name="Text Box 42">
              <a:extLst>
                <a:ext uri="{FF2B5EF4-FFF2-40B4-BE49-F238E27FC236}">
                  <a16:creationId xmlns:a16="http://schemas.microsoft.com/office/drawing/2014/main" id="{10E887B2-B8C9-432B-B1AA-2029CA5138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1270" y="5660760"/>
              <a:ext cx="1991549" cy="1398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</a:rPr>
                <a:t>Corr. pulsada:</a:t>
              </a: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</a:rPr>
                <a:t>Triangular</a:t>
              </a: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</a:rPr>
                <a:t>Diente de sierra</a:t>
              </a: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</a:rPr>
                <a:t>Cuadrada</a:t>
              </a:r>
            </a:p>
          </p:txBody>
        </p:sp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A649A389-87FA-4D0A-9DB4-7F894091C307}"/>
                </a:ext>
              </a:extLst>
            </p:cNvPr>
            <p:cNvGrpSpPr/>
            <p:nvPr/>
          </p:nvGrpSpPr>
          <p:grpSpPr>
            <a:xfrm>
              <a:off x="1618733" y="5664881"/>
              <a:ext cx="1577187" cy="1340561"/>
              <a:chOff x="2140224" y="2570131"/>
              <a:chExt cx="1577187" cy="1340561"/>
            </a:xfrm>
          </p:grpSpPr>
          <p:cxnSp>
            <p:nvCxnSpPr>
              <p:cNvPr id="52" name="Conector recto de flecha 51">
                <a:extLst>
                  <a:ext uri="{FF2B5EF4-FFF2-40B4-BE49-F238E27FC236}">
                    <a16:creationId xmlns:a16="http://schemas.microsoft.com/office/drawing/2014/main" id="{6832614C-AD33-430C-8A14-B9D5F9A8EE53}"/>
                  </a:ext>
                </a:extLst>
              </p:cNvPr>
              <p:cNvCxnSpPr/>
              <p:nvPr/>
            </p:nvCxnSpPr>
            <p:spPr bwMode="auto">
              <a:xfrm flipV="1">
                <a:off x="2140224" y="2570131"/>
                <a:ext cx="0" cy="1340561"/>
              </a:xfrm>
              <a:prstGeom prst="straightConnector1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cxnSp>
            <p:nvCxnSpPr>
              <p:cNvPr id="53" name="Conector recto de flecha 52">
                <a:extLst>
                  <a:ext uri="{FF2B5EF4-FFF2-40B4-BE49-F238E27FC236}">
                    <a16:creationId xmlns:a16="http://schemas.microsoft.com/office/drawing/2014/main" id="{686735A6-7F3E-445F-B01A-8341E49C7670}"/>
                  </a:ext>
                </a:extLst>
              </p:cNvPr>
              <p:cNvCxnSpPr/>
              <p:nvPr/>
            </p:nvCxnSpPr>
            <p:spPr bwMode="auto">
              <a:xfrm>
                <a:off x="2148955" y="3902174"/>
                <a:ext cx="1568456" cy="0"/>
              </a:xfrm>
              <a:prstGeom prst="straightConnector1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</p:grpSp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4B5A6938-38C6-41A5-8746-399D12CD2524}"/>
                </a:ext>
              </a:extLst>
            </p:cNvPr>
            <p:cNvGrpSpPr/>
            <p:nvPr/>
          </p:nvGrpSpPr>
          <p:grpSpPr>
            <a:xfrm>
              <a:off x="1646680" y="6036139"/>
              <a:ext cx="945636" cy="206563"/>
              <a:chOff x="1785826" y="5519345"/>
              <a:chExt cx="945636" cy="266156"/>
            </a:xfrm>
          </p:grpSpPr>
          <p:grpSp>
            <p:nvGrpSpPr>
              <p:cNvPr id="13" name="Grupo 12">
                <a:extLst>
                  <a:ext uri="{FF2B5EF4-FFF2-40B4-BE49-F238E27FC236}">
                    <a16:creationId xmlns:a16="http://schemas.microsoft.com/office/drawing/2014/main" id="{FFA94DFB-3A42-407F-AA60-B528831DE8E6}"/>
                  </a:ext>
                </a:extLst>
              </p:cNvPr>
              <p:cNvGrpSpPr/>
              <p:nvPr/>
            </p:nvGrpSpPr>
            <p:grpSpPr>
              <a:xfrm>
                <a:off x="1785826" y="5519345"/>
                <a:ext cx="312848" cy="249588"/>
                <a:chOff x="1785824" y="5034321"/>
                <a:chExt cx="1447753" cy="734612"/>
              </a:xfrm>
            </p:grpSpPr>
            <p:cxnSp>
              <p:nvCxnSpPr>
                <p:cNvPr id="57" name="Conector recto 56">
                  <a:extLst>
                    <a:ext uri="{FF2B5EF4-FFF2-40B4-BE49-F238E27FC236}">
                      <a16:creationId xmlns:a16="http://schemas.microsoft.com/office/drawing/2014/main" id="{A80089C5-226E-4C41-8B05-03C505F1E05F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1785824" y="5050851"/>
                  <a:ext cx="728776" cy="718082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lg" len="lg"/>
                </a:ln>
                <a:effectLst/>
              </p:spPr>
            </p:cxnSp>
            <p:cxnSp>
              <p:nvCxnSpPr>
                <p:cNvPr id="58" name="Conector recto 57">
                  <a:extLst>
                    <a:ext uri="{FF2B5EF4-FFF2-40B4-BE49-F238E27FC236}">
                      <a16:creationId xmlns:a16="http://schemas.microsoft.com/office/drawing/2014/main" id="{9A5D4F66-460C-4C9B-8273-0804CFAF2ED0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 flipV="1">
                  <a:off x="2504801" y="5034321"/>
                  <a:ext cx="728776" cy="718082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lg" len="lg"/>
                </a:ln>
                <a:effectLst/>
              </p:spPr>
            </p:cxnSp>
          </p:grpSp>
          <p:grpSp>
            <p:nvGrpSpPr>
              <p:cNvPr id="59" name="Grupo 58">
                <a:extLst>
                  <a:ext uri="{FF2B5EF4-FFF2-40B4-BE49-F238E27FC236}">
                    <a16:creationId xmlns:a16="http://schemas.microsoft.com/office/drawing/2014/main" id="{C47A135C-595D-4454-8108-0F0EF57B899B}"/>
                  </a:ext>
                </a:extLst>
              </p:cNvPr>
              <p:cNvGrpSpPr/>
              <p:nvPr/>
            </p:nvGrpSpPr>
            <p:grpSpPr>
              <a:xfrm>
                <a:off x="2097250" y="5532599"/>
                <a:ext cx="312848" cy="249588"/>
                <a:chOff x="1785824" y="5034321"/>
                <a:chExt cx="1447753" cy="734612"/>
              </a:xfrm>
            </p:grpSpPr>
            <p:cxnSp>
              <p:nvCxnSpPr>
                <p:cNvPr id="60" name="Conector recto 59">
                  <a:extLst>
                    <a:ext uri="{FF2B5EF4-FFF2-40B4-BE49-F238E27FC236}">
                      <a16:creationId xmlns:a16="http://schemas.microsoft.com/office/drawing/2014/main" id="{1BDDEC74-6E0C-44DA-AB21-A2F437393514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1785824" y="5050851"/>
                  <a:ext cx="728776" cy="718082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lg" len="lg"/>
                </a:ln>
                <a:effectLst/>
              </p:spPr>
            </p:cxnSp>
            <p:cxnSp>
              <p:nvCxnSpPr>
                <p:cNvPr id="61" name="Conector recto 60">
                  <a:extLst>
                    <a:ext uri="{FF2B5EF4-FFF2-40B4-BE49-F238E27FC236}">
                      <a16:creationId xmlns:a16="http://schemas.microsoft.com/office/drawing/2014/main" id="{BDF37568-651B-4F63-9846-8A230B7781D4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 flipV="1">
                  <a:off x="2504801" y="5034321"/>
                  <a:ext cx="728776" cy="718082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lg" len="lg"/>
                </a:ln>
                <a:effectLst/>
              </p:spPr>
            </p:cxnSp>
          </p:grpSp>
          <p:grpSp>
            <p:nvGrpSpPr>
              <p:cNvPr id="62" name="Grupo 61">
                <a:extLst>
                  <a:ext uri="{FF2B5EF4-FFF2-40B4-BE49-F238E27FC236}">
                    <a16:creationId xmlns:a16="http://schemas.microsoft.com/office/drawing/2014/main" id="{A8D14E11-F725-458D-A9D2-40080C38AD18}"/>
                  </a:ext>
                </a:extLst>
              </p:cNvPr>
              <p:cNvGrpSpPr/>
              <p:nvPr/>
            </p:nvGrpSpPr>
            <p:grpSpPr>
              <a:xfrm>
                <a:off x="2418614" y="5535913"/>
                <a:ext cx="312848" cy="249588"/>
                <a:chOff x="1785824" y="5034321"/>
                <a:chExt cx="1447753" cy="734612"/>
              </a:xfrm>
            </p:grpSpPr>
            <p:cxnSp>
              <p:nvCxnSpPr>
                <p:cNvPr id="63" name="Conector recto 62">
                  <a:extLst>
                    <a:ext uri="{FF2B5EF4-FFF2-40B4-BE49-F238E27FC236}">
                      <a16:creationId xmlns:a16="http://schemas.microsoft.com/office/drawing/2014/main" id="{2521E7C1-7E75-4387-9976-B6A0D703C38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1785824" y="5050851"/>
                  <a:ext cx="728776" cy="718082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lg" len="lg"/>
                </a:ln>
                <a:effectLst/>
              </p:spPr>
            </p:cxnSp>
            <p:cxnSp>
              <p:nvCxnSpPr>
                <p:cNvPr id="64" name="Conector recto 63">
                  <a:extLst>
                    <a:ext uri="{FF2B5EF4-FFF2-40B4-BE49-F238E27FC236}">
                      <a16:creationId xmlns:a16="http://schemas.microsoft.com/office/drawing/2014/main" id="{9242AF03-7C19-4E51-8483-C140D5E29F64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 flipV="1">
                  <a:off x="2504801" y="5034321"/>
                  <a:ext cx="728776" cy="718082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lg" len="lg"/>
                </a:ln>
                <a:effectLst/>
              </p:spPr>
            </p:cxnSp>
          </p:grpSp>
        </p:grp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9DC1BAAA-8EC8-49D5-8409-0720E87A2D1E}"/>
                </a:ext>
              </a:extLst>
            </p:cNvPr>
            <p:cNvGrpSpPr/>
            <p:nvPr/>
          </p:nvGrpSpPr>
          <p:grpSpPr>
            <a:xfrm>
              <a:off x="1636923" y="6355635"/>
              <a:ext cx="904455" cy="225050"/>
              <a:chOff x="2752907" y="5253478"/>
              <a:chExt cx="904455" cy="225050"/>
            </a:xfrm>
          </p:grpSpPr>
          <p:grpSp>
            <p:nvGrpSpPr>
              <p:cNvPr id="18" name="Grupo 17">
                <a:extLst>
                  <a:ext uri="{FF2B5EF4-FFF2-40B4-BE49-F238E27FC236}">
                    <a16:creationId xmlns:a16="http://schemas.microsoft.com/office/drawing/2014/main" id="{E6A2E9FE-956F-4B33-941D-741DCE215E49}"/>
                  </a:ext>
                </a:extLst>
              </p:cNvPr>
              <p:cNvGrpSpPr/>
              <p:nvPr/>
            </p:nvGrpSpPr>
            <p:grpSpPr>
              <a:xfrm>
                <a:off x="2752907" y="5260102"/>
                <a:ext cx="311424" cy="191918"/>
                <a:chOff x="2752907" y="5260102"/>
                <a:chExt cx="311424" cy="191918"/>
              </a:xfrm>
            </p:grpSpPr>
            <p:cxnSp>
              <p:nvCxnSpPr>
                <p:cNvPr id="74" name="Conector recto 73">
                  <a:extLst>
                    <a:ext uri="{FF2B5EF4-FFF2-40B4-BE49-F238E27FC236}">
                      <a16:creationId xmlns:a16="http://schemas.microsoft.com/office/drawing/2014/main" id="{0459AAD7-6CEC-4CBC-B073-F7437B155627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752907" y="5260102"/>
                  <a:ext cx="311424" cy="179060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lg" len="lg"/>
                </a:ln>
                <a:effectLst/>
              </p:spPr>
            </p:cxnSp>
            <p:cxnSp>
              <p:nvCxnSpPr>
                <p:cNvPr id="70" name="Conector recto 69">
                  <a:extLst>
                    <a:ext uri="{FF2B5EF4-FFF2-40B4-BE49-F238E27FC236}">
                      <a16:creationId xmlns:a16="http://schemas.microsoft.com/office/drawing/2014/main" id="{25FCF0C1-42BE-42CE-AB12-A58AD3FBFAC4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3057706" y="5262674"/>
                  <a:ext cx="0" cy="189346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rgbClr val="FF0000"/>
                  </a:solidFill>
                  <a:prstDash val="sysDot"/>
                  <a:round/>
                  <a:headEnd type="none" w="med" len="med"/>
                  <a:tailEnd type="none" w="lg" len="lg"/>
                </a:ln>
                <a:effectLst/>
              </p:spPr>
            </p:cxnSp>
          </p:grpSp>
          <p:grpSp>
            <p:nvGrpSpPr>
              <p:cNvPr id="78" name="Grupo 77">
                <a:extLst>
                  <a:ext uri="{FF2B5EF4-FFF2-40B4-BE49-F238E27FC236}">
                    <a16:creationId xmlns:a16="http://schemas.microsoft.com/office/drawing/2014/main" id="{CFED9C3B-CAC2-421E-ACD2-07F7004FB884}"/>
                  </a:ext>
                </a:extLst>
              </p:cNvPr>
              <p:cNvGrpSpPr/>
              <p:nvPr/>
            </p:nvGrpSpPr>
            <p:grpSpPr>
              <a:xfrm>
                <a:off x="3064331" y="5253478"/>
                <a:ext cx="311424" cy="191918"/>
                <a:chOff x="2752907" y="5260102"/>
                <a:chExt cx="311424" cy="191918"/>
              </a:xfrm>
            </p:grpSpPr>
            <p:cxnSp>
              <p:nvCxnSpPr>
                <p:cNvPr id="79" name="Conector recto 78">
                  <a:extLst>
                    <a:ext uri="{FF2B5EF4-FFF2-40B4-BE49-F238E27FC236}">
                      <a16:creationId xmlns:a16="http://schemas.microsoft.com/office/drawing/2014/main" id="{34691659-CC81-466A-BBF2-6BE50CC8E74E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752907" y="5260102"/>
                  <a:ext cx="311424" cy="179060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lg" len="lg"/>
                </a:ln>
                <a:effectLst/>
              </p:spPr>
            </p:cxnSp>
            <p:cxnSp>
              <p:nvCxnSpPr>
                <p:cNvPr id="80" name="Conector recto 79">
                  <a:extLst>
                    <a:ext uri="{FF2B5EF4-FFF2-40B4-BE49-F238E27FC236}">
                      <a16:creationId xmlns:a16="http://schemas.microsoft.com/office/drawing/2014/main" id="{88EAD05B-9DC3-43B8-89CE-0567335C9202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3057706" y="5262674"/>
                  <a:ext cx="0" cy="189346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rgbClr val="FF0000"/>
                  </a:solidFill>
                  <a:prstDash val="sysDot"/>
                  <a:round/>
                  <a:headEnd type="none" w="med" len="med"/>
                  <a:tailEnd type="none" w="lg" len="lg"/>
                </a:ln>
                <a:effectLst/>
              </p:spPr>
            </p:cxnSp>
          </p:grpSp>
          <p:grpSp>
            <p:nvGrpSpPr>
              <p:cNvPr id="81" name="Grupo 80">
                <a:extLst>
                  <a:ext uri="{FF2B5EF4-FFF2-40B4-BE49-F238E27FC236}">
                    <a16:creationId xmlns:a16="http://schemas.microsoft.com/office/drawing/2014/main" id="{ADB9B59D-5134-41C3-8434-78A5B536637E}"/>
                  </a:ext>
                </a:extLst>
              </p:cNvPr>
              <p:cNvGrpSpPr/>
              <p:nvPr/>
            </p:nvGrpSpPr>
            <p:grpSpPr>
              <a:xfrm>
                <a:off x="3345938" y="5286610"/>
                <a:ext cx="311424" cy="191918"/>
                <a:chOff x="2752907" y="5260102"/>
                <a:chExt cx="311424" cy="191918"/>
              </a:xfrm>
            </p:grpSpPr>
            <p:cxnSp>
              <p:nvCxnSpPr>
                <p:cNvPr id="82" name="Conector recto 81">
                  <a:extLst>
                    <a:ext uri="{FF2B5EF4-FFF2-40B4-BE49-F238E27FC236}">
                      <a16:creationId xmlns:a16="http://schemas.microsoft.com/office/drawing/2014/main" id="{8595F143-4292-4958-8B16-335C368BC28F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752907" y="5260102"/>
                  <a:ext cx="311424" cy="179060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lg" len="lg"/>
                </a:ln>
                <a:effectLst/>
              </p:spPr>
            </p:cxnSp>
            <p:cxnSp>
              <p:nvCxnSpPr>
                <p:cNvPr id="83" name="Conector recto 82">
                  <a:extLst>
                    <a:ext uri="{FF2B5EF4-FFF2-40B4-BE49-F238E27FC236}">
                      <a16:creationId xmlns:a16="http://schemas.microsoft.com/office/drawing/2014/main" id="{08EE1DC2-73AD-4EDE-A776-2E47EE038C1E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3057706" y="5262674"/>
                  <a:ext cx="0" cy="189346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rgbClr val="FF0000"/>
                  </a:solidFill>
                  <a:prstDash val="sysDot"/>
                  <a:round/>
                  <a:headEnd type="none" w="med" len="med"/>
                  <a:tailEnd type="none" w="lg" len="lg"/>
                </a:ln>
                <a:effectLst/>
              </p:spPr>
            </p:cxnSp>
          </p:grpSp>
        </p:grpSp>
        <p:cxnSp>
          <p:nvCxnSpPr>
            <p:cNvPr id="93" name="Conector recto 92">
              <a:extLst>
                <a:ext uri="{FF2B5EF4-FFF2-40B4-BE49-F238E27FC236}">
                  <a16:creationId xmlns:a16="http://schemas.microsoft.com/office/drawing/2014/main" id="{9C188F66-AAF7-4D75-A503-08F0FE2A273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652134" y="6753922"/>
              <a:ext cx="294545" cy="0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</p:cxnSp>
        <p:cxnSp>
          <p:nvCxnSpPr>
            <p:cNvPr id="94" name="Conector recto 93">
              <a:extLst>
                <a:ext uri="{FF2B5EF4-FFF2-40B4-BE49-F238E27FC236}">
                  <a16:creationId xmlns:a16="http://schemas.microsoft.com/office/drawing/2014/main" id="{A3277A0F-69BF-4556-8EA4-B83EF111BF0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942205" y="6786311"/>
              <a:ext cx="0" cy="189346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none" w="lg" len="lg"/>
            </a:ln>
            <a:effectLst/>
          </p:spPr>
        </p:cxnSp>
        <p:cxnSp>
          <p:nvCxnSpPr>
            <p:cNvPr id="91" name="Conector recto 90">
              <a:extLst>
                <a:ext uri="{FF2B5EF4-FFF2-40B4-BE49-F238E27FC236}">
                  <a16:creationId xmlns:a16="http://schemas.microsoft.com/office/drawing/2014/main" id="{5772B4BD-3AF5-45C8-9880-C9A8EC2C848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938891" y="6995773"/>
              <a:ext cx="324000" cy="0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</p:cxnSp>
        <p:cxnSp>
          <p:nvCxnSpPr>
            <p:cNvPr id="92" name="Conector recto 91">
              <a:extLst>
                <a:ext uri="{FF2B5EF4-FFF2-40B4-BE49-F238E27FC236}">
                  <a16:creationId xmlns:a16="http://schemas.microsoft.com/office/drawing/2014/main" id="{F9F97657-C181-4029-A1BB-01B4070721D4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253629" y="6779687"/>
              <a:ext cx="0" cy="189346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none" w="lg" len="lg"/>
            </a:ln>
            <a:effectLst/>
          </p:spPr>
        </p:cxnSp>
        <p:cxnSp>
          <p:nvCxnSpPr>
            <p:cNvPr id="95" name="Conector recto 94">
              <a:extLst>
                <a:ext uri="{FF2B5EF4-FFF2-40B4-BE49-F238E27FC236}">
                  <a16:creationId xmlns:a16="http://schemas.microsoft.com/office/drawing/2014/main" id="{5AF81DC5-10DF-49CD-A50C-5810F06F84B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251797" y="6757237"/>
              <a:ext cx="294545" cy="0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</p:cxnSp>
        <p:cxnSp>
          <p:nvCxnSpPr>
            <p:cNvPr id="96" name="Conector recto 95">
              <a:extLst>
                <a:ext uri="{FF2B5EF4-FFF2-40B4-BE49-F238E27FC236}">
                  <a16:creationId xmlns:a16="http://schemas.microsoft.com/office/drawing/2014/main" id="{EAD904F5-1A55-4641-ABE7-B779BF98AE14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627464" y="6769747"/>
              <a:ext cx="0" cy="189346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none" w="lg" len="lg"/>
            </a:ln>
            <a:effectLst/>
          </p:spPr>
        </p:cxnSp>
        <p:cxnSp>
          <p:nvCxnSpPr>
            <p:cNvPr id="97" name="Conector recto 96">
              <a:extLst>
                <a:ext uri="{FF2B5EF4-FFF2-40B4-BE49-F238E27FC236}">
                  <a16:creationId xmlns:a16="http://schemas.microsoft.com/office/drawing/2014/main" id="{BB571CA9-B136-43D0-BE98-01D4648C073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535241" y="6783001"/>
              <a:ext cx="0" cy="189346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none" w="lg" len="lg"/>
            </a:ln>
            <a:effectLst/>
          </p:spPr>
        </p:cxnSp>
      </p:grpSp>
      <p:sp>
        <p:nvSpPr>
          <p:cNvPr id="84" name="Text Box 30">
            <a:extLst>
              <a:ext uri="{FF2B5EF4-FFF2-40B4-BE49-F238E27FC236}">
                <a16:creationId xmlns:a16="http://schemas.microsoft.com/office/drawing/2014/main" id="{2CFFC16D-B0B4-48B9-85C0-6651EB53BD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4106" y="465736"/>
            <a:ext cx="1637284" cy="536549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Práctica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9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9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95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5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19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95624" grpId="0" animBg="1"/>
      <p:bldP spid="495644" grpId="0" animBg="1"/>
      <p:bldP spid="19485" grpId="0"/>
      <p:bldP spid="19477" grpId="0" animBg="1"/>
      <p:bldP spid="19478" grpId="0"/>
      <p:bldP spid="15418" grpId="0" animBg="1"/>
      <p:bldP spid="39" grpId="0" animBg="1"/>
      <p:bldP spid="8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59" name="Text Box 43"/>
          <p:cNvSpPr txBox="1">
            <a:spLocks noChangeArrowheads="1"/>
          </p:cNvSpPr>
          <p:nvPr/>
        </p:nvSpPr>
        <p:spPr bwMode="auto">
          <a:xfrm>
            <a:off x="1208575" y="453810"/>
            <a:ext cx="7122054" cy="536549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RÉG. </a:t>
            </a: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TRANSITORIO </a:t>
            </a: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o CORR. </a:t>
            </a: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TRANSITORIA</a:t>
            </a:r>
          </a:p>
        </p:txBody>
      </p:sp>
      <p:sp>
        <p:nvSpPr>
          <p:cNvPr id="15385" name="Text Box 50"/>
          <p:cNvSpPr txBox="1">
            <a:spLocks noChangeArrowheads="1"/>
          </p:cNvSpPr>
          <p:nvPr/>
        </p:nvSpPr>
        <p:spPr bwMode="auto">
          <a:xfrm>
            <a:off x="1727199" y="1382653"/>
            <a:ext cx="8096457" cy="12752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16000" tIns="82800" rIns="216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Se refiere a una situación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no permanente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donde las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magnitudes “transitan”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(varían en el tiempo sin repetirse)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antes de alcanzar el </a:t>
            </a:r>
            <a:r>
              <a:rPr lang="es-ES" sz="2400" u="sng" dirty="0">
                <a:solidFill>
                  <a:srgbClr val="000000"/>
                </a:solidFill>
                <a:latin typeface="Arial" panose="020B0604020202020204" pitchFamily="34" charset="0"/>
              </a:rPr>
              <a:t>régimen continuo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o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el </a:t>
            </a:r>
            <a:r>
              <a:rPr lang="es-ES" sz="2400" u="sng">
                <a:solidFill>
                  <a:srgbClr val="000000"/>
                </a:solidFill>
                <a:latin typeface="Arial" panose="020B0604020202020204" pitchFamily="34" charset="0"/>
              </a:rPr>
              <a:t>equilibrio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Box 30">
            <a:extLst>
              <a:ext uri="{FF2B5EF4-FFF2-40B4-BE49-F238E27FC236}">
                <a16:creationId xmlns:a16="http://schemas.microsoft.com/office/drawing/2014/main" id="{B34B7783-4DDE-4D81-97E9-A19095BF0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382" y="455084"/>
            <a:ext cx="1637284" cy="536549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Práctica 2</a:t>
            </a:r>
          </a:p>
        </p:txBody>
      </p:sp>
      <p:sp>
        <p:nvSpPr>
          <p:cNvPr id="2" name="Text Box 50">
            <a:extLst>
              <a:ext uri="{FF2B5EF4-FFF2-40B4-BE49-F238E27FC236}">
                <a16:creationId xmlns:a16="http://schemas.microsoft.com/office/drawing/2014/main" id="{388F40FE-E90B-68E7-1D0D-B6ABD97BC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472794"/>
            <a:ext cx="6929120" cy="1275213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216000" tIns="82800" rIns="216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En el símil ocurre, respectivamente, mientras</a:t>
            </a:r>
          </a:p>
          <a:p>
            <a:pPr algn="ctr"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la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corriente del sistema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iguala a la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de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la bomba,</a:t>
            </a:r>
          </a:p>
          <a:p>
            <a:pPr algn="ctr"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y tras parar la bomba o si no se tiene bomba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FDF9D57B-C8C9-3877-5621-8E6DD874E0AB}"/>
              </a:ext>
            </a:extLst>
          </p:cNvPr>
          <p:cNvGrpSpPr/>
          <p:nvPr/>
        </p:nvGrpSpPr>
        <p:grpSpPr>
          <a:xfrm>
            <a:off x="3661189" y="2895946"/>
            <a:ext cx="4197354" cy="2484345"/>
            <a:chOff x="3640869" y="2895946"/>
            <a:chExt cx="4197354" cy="2484345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0776704E-9123-437E-C4FE-A7C0DCBF5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1256" y="2895946"/>
              <a:ext cx="4119563" cy="2228850"/>
            </a:xfrm>
            <a:prstGeom prst="foldedCorner">
              <a:avLst>
                <a:gd name="adj" fmla="val 9134"/>
              </a:avLst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rot="10800000"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9AA856FA-1F0F-CF39-47EA-D74A3E88E5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93598" y="3029106"/>
              <a:ext cx="3633787" cy="1884362"/>
              <a:chOff x="2509" y="2854"/>
              <a:chExt cx="2289" cy="1387"/>
            </a:xfrm>
          </p:grpSpPr>
          <p:sp>
            <p:nvSpPr>
              <p:cNvPr id="10" name="Freeform 5">
                <a:extLst>
                  <a:ext uri="{FF2B5EF4-FFF2-40B4-BE49-F238E27FC236}">
                    <a16:creationId xmlns:a16="http://schemas.microsoft.com/office/drawing/2014/main" id="{10893BB4-BC2E-C961-409E-FAB7C90641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9" y="2863"/>
                <a:ext cx="2289" cy="1378"/>
              </a:xfrm>
              <a:custGeom>
                <a:avLst/>
                <a:gdLst>
                  <a:gd name="T0" fmla="*/ 0 w 2289"/>
                  <a:gd name="T1" fmla="*/ 0 h 1378"/>
                  <a:gd name="T2" fmla="*/ 7 w 2289"/>
                  <a:gd name="T3" fmla="*/ 1378 h 1378"/>
                  <a:gd name="T4" fmla="*/ 2289 w 2289"/>
                  <a:gd name="T5" fmla="*/ 1378 h 1378"/>
                  <a:gd name="T6" fmla="*/ 2282 w 2289"/>
                  <a:gd name="T7" fmla="*/ 8 h 1378"/>
                  <a:gd name="T8" fmla="*/ 1349 w 2289"/>
                  <a:gd name="T9" fmla="*/ 8 h 1378"/>
                  <a:gd name="T10" fmla="*/ 1349 w 2289"/>
                  <a:gd name="T11" fmla="*/ 1327 h 1378"/>
                  <a:gd name="T12" fmla="*/ 459 w 2289"/>
                  <a:gd name="T13" fmla="*/ 1327 h 1378"/>
                  <a:gd name="T14" fmla="*/ 459 w 2289"/>
                  <a:gd name="T15" fmla="*/ 8 h 1378"/>
                  <a:gd name="T16" fmla="*/ 0 w 2289"/>
                  <a:gd name="T17" fmla="*/ 0 h 137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289"/>
                  <a:gd name="T28" fmla="*/ 0 h 1378"/>
                  <a:gd name="T29" fmla="*/ 2289 w 2289"/>
                  <a:gd name="T30" fmla="*/ 1378 h 137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289" h="1378">
                    <a:moveTo>
                      <a:pt x="0" y="0"/>
                    </a:moveTo>
                    <a:lnTo>
                      <a:pt x="7" y="1378"/>
                    </a:lnTo>
                    <a:lnTo>
                      <a:pt x="2289" y="1378"/>
                    </a:lnTo>
                    <a:lnTo>
                      <a:pt x="2282" y="8"/>
                    </a:lnTo>
                    <a:lnTo>
                      <a:pt x="1349" y="8"/>
                    </a:lnTo>
                    <a:lnTo>
                      <a:pt x="1349" y="1327"/>
                    </a:lnTo>
                    <a:lnTo>
                      <a:pt x="459" y="1327"/>
                    </a:lnTo>
                    <a:lnTo>
                      <a:pt x="459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CCFF"/>
              </a:solidFill>
              <a:ln w="25400">
                <a:solidFill>
                  <a:srgbClr val="008000"/>
                </a:solidFill>
                <a:round/>
                <a:headEnd/>
                <a:tailEnd type="none" w="lg" len="lg"/>
              </a:ln>
            </p:spPr>
            <p:txBody>
              <a:bodyPr wrap="none" lIns="90000" tIns="46800" rIns="90000" bIns="46800"/>
              <a:lstStyle/>
              <a:p>
                <a:endParaRPr lang="es-ES"/>
              </a:p>
            </p:txBody>
          </p:sp>
          <p:sp>
            <p:nvSpPr>
              <p:cNvPr id="11" name="Rectangle 6">
                <a:extLst>
                  <a:ext uri="{FF2B5EF4-FFF2-40B4-BE49-F238E27FC236}">
                    <a16:creationId xmlns:a16="http://schemas.microsoft.com/office/drawing/2014/main" id="{A40E6ABB-C97D-67D3-CA87-478AE2C8A0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22" y="2854"/>
                <a:ext cx="438" cy="328"/>
              </a:xfrm>
              <a:prstGeom prst="rect">
                <a:avLst/>
              </a:prstGeom>
              <a:solidFill>
                <a:srgbClr val="EDE7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2" name="Rectangle 7">
                <a:extLst>
                  <a:ext uri="{FF2B5EF4-FFF2-40B4-BE49-F238E27FC236}">
                    <a16:creationId xmlns:a16="http://schemas.microsoft.com/office/drawing/2014/main" id="{F7C16647-1576-37DF-7836-806F485E4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4" y="2867"/>
                <a:ext cx="905" cy="897"/>
              </a:xfrm>
              <a:prstGeom prst="rect">
                <a:avLst/>
              </a:prstGeom>
              <a:solidFill>
                <a:srgbClr val="EDE7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8E1F30A4-FB6E-CEE2-E106-B7551C4053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5925" y="3000721"/>
              <a:ext cx="2293094" cy="1570038"/>
              <a:chOff x="2930" y="1159"/>
              <a:chExt cx="1332" cy="989"/>
            </a:xfrm>
          </p:grpSpPr>
          <p:sp>
            <p:nvSpPr>
              <p:cNvPr id="14" name="Oval 14">
                <a:extLst>
                  <a:ext uri="{FF2B5EF4-FFF2-40B4-BE49-F238E27FC236}">
                    <a16:creationId xmlns:a16="http://schemas.microsoft.com/office/drawing/2014/main" id="{D52D0A4D-C5BF-DC1D-B007-41657B14B4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2" y="1159"/>
                <a:ext cx="344" cy="384"/>
              </a:xfrm>
              <a:prstGeom prst="ellipse">
                <a:avLst/>
              </a:prstGeom>
              <a:solidFill>
                <a:srgbClr val="969696"/>
              </a:solidFill>
              <a:ln w="12700" algn="ctr">
                <a:solidFill>
                  <a:srgbClr val="969696"/>
                </a:solidFill>
                <a:round/>
                <a:headEnd/>
                <a:tailEnd type="none" w="lg" len="lg"/>
              </a:ln>
            </p:spPr>
            <p:txBody>
              <a:bodyPr lIns="90000" tIns="82800" rIns="90000" bIns="82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15" name="Group 15">
                <a:extLst>
                  <a:ext uri="{FF2B5EF4-FFF2-40B4-BE49-F238E27FC236}">
                    <a16:creationId xmlns:a16="http://schemas.microsoft.com/office/drawing/2014/main" id="{ADCCB3FA-2090-03BB-CFCD-3D7A889754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0" y="1354"/>
                <a:ext cx="1332" cy="794"/>
                <a:chOff x="2934" y="1354"/>
                <a:chExt cx="1332" cy="794"/>
              </a:xfrm>
            </p:grpSpPr>
            <p:sp>
              <p:nvSpPr>
                <p:cNvPr id="16" name="Freeform 16">
                  <a:extLst>
                    <a:ext uri="{FF2B5EF4-FFF2-40B4-BE49-F238E27FC236}">
                      <a16:creationId xmlns:a16="http://schemas.microsoft.com/office/drawing/2014/main" id="{F2B0D456-EB1B-8FDB-BA04-5AD22B7EE8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34" y="1354"/>
                  <a:ext cx="516" cy="794"/>
                </a:xfrm>
                <a:custGeom>
                  <a:avLst/>
                  <a:gdLst>
                    <a:gd name="T0" fmla="*/ 312 w 312"/>
                    <a:gd name="T1" fmla="*/ 0 h 320"/>
                    <a:gd name="T2" fmla="*/ 0 w 312"/>
                    <a:gd name="T3" fmla="*/ 0 h 320"/>
                    <a:gd name="T4" fmla="*/ 0 w 312"/>
                    <a:gd name="T5" fmla="*/ 320 h 320"/>
                    <a:gd name="T6" fmla="*/ 0 60000 65536"/>
                    <a:gd name="T7" fmla="*/ 0 60000 65536"/>
                    <a:gd name="T8" fmla="*/ 0 60000 65536"/>
                    <a:gd name="T9" fmla="*/ 0 w 312"/>
                    <a:gd name="T10" fmla="*/ 0 h 320"/>
                    <a:gd name="T11" fmla="*/ 312 w 312"/>
                    <a:gd name="T12" fmla="*/ 320 h 3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12" h="320">
                      <a:moveTo>
                        <a:pt x="312" y="0"/>
                      </a:moveTo>
                      <a:lnTo>
                        <a:pt x="0" y="0"/>
                      </a:lnTo>
                      <a:lnTo>
                        <a:pt x="0" y="320"/>
                      </a:lnTo>
                    </a:path>
                  </a:pathLst>
                </a:custGeom>
                <a:noFill/>
                <a:ln w="76200">
                  <a:solidFill>
                    <a:srgbClr val="969696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0000" tIns="82800" rIns="90000" bIns="82800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7" name="Freeform 17">
                  <a:extLst>
                    <a:ext uri="{FF2B5EF4-FFF2-40B4-BE49-F238E27FC236}">
                      <a16:creationId xmlns:a16="http://schemas.microsoft.com/office/drawing/2014/main" id="{E4F7EF6A-FFBD-C60B-C220-9687262DF8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06" y="1354"/>
                  <a:ext cx="560" cy="794"/>
                </a:xfrm>
                <a:custGeom>
                  <a:avLst/>
                  <a:gdLst>
                    <a:gd name="T0" fmla="*/ 1686878 w 312"/>
                    <a:gd name="T1" fmla="*/ 0 h 320"/>
                    <a:gd name="T2" fmla="*/ 0 w 312"/>
                    <a:gd name="T3" fmla="*/ 0 h 320"/>
                    <a:gd name="T4" fmla="*/ 0 w 312"/>
                    <a:gd name="T5" fmla="*/ 2147483646 h 320"/>
                    <a:gd name="T6" fmla="*/ 0 60000 65536"/>
                    <a:gd name="T7" fmla="*/ 0 60000 65536"/>
                    <a:gd name="T8" fmla="*/ 0 60000 65536"/>
                    <a:gd name="T9" fmla="*/ 0 w 312"/>
                    <a:gd name="T10" fmla="*/ 0 h 320"/>
                    <a:gd name="T11" fmla="*/ 312 w 312"/>
                    <a:gd name="T12" fmla="*/ 320 h 3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12" h="320">
                      <a:moveTo>
                        <a:pt x="312" y="0"/>
                      </a:moveTo>
                      <a:lnTo>
                        <a:pt x="0" y="0"/>
                      </a:lnTo>
                      <a:lnTo>
                        <a:pt x="0" y="320"/>
                      </a:lnTo>
                    </a:path>
                  </a:pathLst>
                </a:custGeom>
                <a:noFill/>
                <a:ln w="76200">
                  <a:solidFill>
                    <a:srgbClr val="969696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0000" tIns="82800" rIns="90000" bIns="82800">
                  <a:spAutoFit/>
                </a:bodyPr>
                <a:lstStyle/>
                <a:p>
                  <a:endParaRPr lang="es-ES"/>
                </a:p>
              </p:txBody>
            </p:sp>
          </p:grpSp>
        </p:grpSp>
        <p:sp>
          <p:nvSpPr>
            <p:cNvPr id="18" name="Line 9">
              <a:extLst>
                <a:ext uri="{FF2B5EF4-FFF2-40B4-BE49-F238E27FC236}">
                  <a16:creationId xmlns:a16="http://schemas.microsoft.com/office/drawing/2014/main" id="{97D5A753-D2C4-7985-F30F-CFF4B8F096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0869" y="4021214"/>
              <a:ext cx="4197354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s-ES"/>
            </a:p>
          </p:txBody>
        </p:sp>
        <p:grpSp>
          <p:nvGrpSpPr>
            <p:cNvPr id="19" name="Group 29">
              <a:extLst>
                <a:ext uri="{FF2B5EF4-FFF2-40B4-BE49-F238E27FC236}">
                  <a16:creationId xmlns:a16="http://schemas.microsoft.com/office/drawing/2014/main" id="{D0DA9522-31CE-F5A0-1CD8-E3230F92FE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6860" y="4581778"/>
              <a:ext cx="1408113" cy="798513"/>
              <a:chOff x="3215" y="1937"/>
              <a:chExt cx="887" cy="503"/>
            </a:xfrm>
          </p:grpSpPr>
          <p:sp>
            <p:nvSpPr>
              <p:cNvPr id="20" name="Text Box 30">
                <a:extLst>
                  <a:ext uri="{FF2B5EF4-FFF2-40B4-BE49-F238E27FC236}">
                    <a16:creationId xmlns:a16="http://schemas.microsoft.com/office/drawing/2014/main" id="{C19450A2-A7E7-BE94-E75C-9D6A61065D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15" y="1937"/>
                <a:ext cx="887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54800" rIns="90000" bIns="118800" anchor="ctr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40000"/>
                  </a:lnSpc>
                  <a:spcBef>
                    <a:spcPct val="50000"/>
                  </a:spcBef>
                  <a:buFontTx/>
                  <a:buNone/>
                </a:pPr>
                <a:endParaRPr lang="es-ES" sz="2400">
                  <a:solidFill>
                    <a:srgbClr val="008000"/>
                  </a:solidFill>
                  <a:latin typeface="Arial" panose="020B0604020202020204" pitchFamily="34" charset="0"/>
                </a:endParaRPr>
              </a:p>
              <a:p>
                <a:pPr algn="ctr" eaLnBrk="1" hangingPunct="1">
                  <a:lnSpc>
                    <a:spcPct val="5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8000"/>
                    </a:solidFill>
                    <a:latin typeface="Arial" panose="020B0604020202020204" pitchFamily="34" charset="0"/>
                  </a:rPr>
                  <a:t>corriente</a:t>
                </a:r>
              </a:p>
            </p:txBody>
          </p:sp>
          <p:sp>
            <p:nvSpPr>
              <p:cNvPr id="21" name="Line 31">
                <a:extLst>
                  <a:ext uri="{FF2B5EF4-FFF2-40B4-BE49-F238E27FC236}">
                    <a16:creationId xmlns:a16="http://schemas.microsoft.com/office/drawing/2014/main" id="{C45124C1-7539-23D2-B0B3-E928DE2DF6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1" y="2021"/>
                <a:ext cx="458" cy="0"/>
              </a:xfrm>
              <a:prstGeom prst="line">
                <a:avLst/>
              </a:prstGeom>
              <a:noFill/>
              <a:ln w="76200">
                <a:solidFill>
                  <a:srgbClr val="008000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s-ES"/>
              </a:p>
            </p:txBody>
          </p:sp>
        </p:grpSp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5992DDA1-6223-1664-E916-BCCC8C547E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1374" y="3694450"/>
              <a:ext cx="1368724" cy="607593"/>
              <a:chOff x="2504851" y="2012304"/>
              <a:chExt cx="1368725" cy="607982"/>
            </a:xfrm>
          </p:grpSpPr>
          <p:sp>
            <p:nvSpPr>
              <p:cNvPr id="23" name="Text Box 30">
                <a:extLst>
                  <a:ext uri="{FF2B5EF4-FFF2-40B4-BE49-F238E27FC236}">
                    <a16:creationId xmlns:a16="http://schemas.microsoft.com/office/drawing/2014/main" id="{1F86FF55-1430-466A-1D21-0434CD6EFF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04851" y="2081289"/>
                <a:ext cx="1368725" cy="538997"/>
              </a:xfrm>
              <a:prstGeom prst="rect">
                <a:avLst/>
              </a:pr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square" lIns="90000" tIns="154800" rIns="90000" bIns="118800" anchor="ctr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ts val="2000"/>
                  </a:lnSpc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solidFill>
                      <a:srgbClr val="3333FF"/>
                    </a:solidFill>
                    <a:latin typeface="Arial" panose="020B0604020202020204" pitchFamily="34" charset="0"/>
                  </a:rPr>
                  <a:t>corriente</a:t>
                </a:r>
                <a:endParaRPr lang="es-ES" sz="2400" dirty="0">
                  <a:solidFill>
                    <a:srgbClr val="3333FF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" name="Line 31">
                <a:extLst>
                  <a:ext uri="{FF2B5EF4-FFF2-40B4-BE49-F238E27FC236}">
                    <a16:creationId xmlns:a16="http://schemas.microsoft.com/office/drawing/2014/main" id="{F1D480B8-2A8C-C285-7348-050AF70786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15426" y="2012304"/>
                <a:ext cx="727075" cy="0"/>
              </a:xfrm>
              <a:prstGeom prst="line">
                <a:avLst/>
              </a:prstGeom>
              <a:noFill/>
              <a:ln w="76200">
                <a:solidFill>
                  <a:srgbClr val="3333FF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s-ES">
                  <a:solidFill>
                    <a:srgbClr val="3333F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00064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95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5659" grpId="0" animBg="1"/>
      <p:bldP spid="15385" grpId="0" animBg="1"/>
      <p:bldP spid="7" grpId="0" animBg="1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4">
            <a:extLst>
              <a:ext uri="{FF2B5EF4-FFF2-40B4-BE49-F238E27FC236}">
                <a16:creationId xmlns:a16="http://schemas.microsoft.com/office/drawing/2014/main" id="{809177B9-FA93-40C5-9C6C-CAD6A6C05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032" y="3951023"/>
            <a:ext cx="8309288" cy="27525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0000" tIns="82800" rIns="18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Lo habitual es aplicar una </a:t>
            </a:r>
            <a:r>
              <a:rPr lang="es-ES" sz="2400" dirty="0" err="1">
                <a:latin typeface="Arial" panose="020B0604020202020204" pitchFamily="34" charset="0"/>
              </a:rPr>
              <a:t>ddp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que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varía de forma sinusoidal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(como un seno o un coseno)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entre dos valores iguales de signo contrario (en torno al cero)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-enchufe-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. Con ello se tiene una caída de potencial, V, en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cada sentido,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durante la mitad del tiempo, que genera una</a:t>
            </a:r>
            <a:r>
              <a:rPr lang="es-ES" sz="2400" dirty="0">
                <a:latin typeface="Arial" panose="020B0604020202020204" pitchFamily="34" charset="0"/>
              </a:rPr>
              <a:t> corriente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,</a:t>
            </a:r>
            <a:r>
              <a:rPr lang="es-ES" sz="2400" dirty="0">
                <a:latin typeface="Comic Sans MS" panose="030F0702030302020204" pitchFamily="66" charset="0"/>
              </a:rPr>
              <a:t> I,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circulando </a:t>
            </a:r>
            <a:r>
              <a:rPr lang="es-ES" sz="2400" u="sng" dirty="0">
                <a:solidFill>
                  <a:srgbClr val="000000"/>
                </a:solidFill>
                <a:latin typeface="Arial" panose="020B0604020202020204" pitchFamily="34" charset="0"/>
              </a:rPr>
              <a:t>alternativamente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en ambos,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la mitad del tiempo y variando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sinusoidalmente (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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6" name="Text Box 45">
            <a:extLst>
              <a:ext uri="{FF2B5EF4-FFF2-40B4-BE49-F238E27FC236}">
                <a16:creationId xmlns:a16="http://schemas.microsoft.com/office/drawing/2014/main" id="{4BA26E34-4DE0-43EB-AE64-9B7899B02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9252" y="445237"/>
            <a:ext cx="7318929" cy="536549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RÉG. PERMA. </a:t>
            </a: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ALTERNO </a:t>
            </a: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o CORR. ALTERNA (CA)</a:t>
            </a:r>
            <a:endParaRPr lang="es-ES" sz="24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 Box 44">
            <a:extLst>
              <a:ext uri="{FF2B5EF4-FFF2-40B4-BE49-F238E27FC236}">
                <a16:creationId xmlns:a16="http://schemas.microsoft.com/office/drawing/2014/main" id="{D12D2B71-3F5A-4FFB-8353-3C3C2DAEA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032" y="1897286"/>
            <a:ext cx="8309288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0000" tIns="82800" rIns="18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Si la corriente circula </a:t>
            </a:r>
            <a:r>
              <a:rPr lang="es-ES" sz="2400" u="sng" dirty="0">
                <a:solidFill>
                  <a:srgbClr val="000000"/>
                </a:solidFill>
                <a:latin typeface="Arial" panose="020B0604020202020204" pitchFamily="34" charset="0"/>
              </a:rPr>
              <a:t>alternativamente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en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ambos sentidos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 Box 30">
            <a:extLst>
              <a:ext uri="{FF2B5EF4-FFF2-40B4-BE49-F238E27FC236}">
                <a16:creationId xmlns:a16="http://schemas.microsoft.com/office/drawing/2014/main" id="{4779EF70-C88A-4FA3-89D2-6D572D5D1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0102" y="441038"/>
            <a:ext cx="1637284" cy="536549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Práctica 4</a:t>
            </a:r>
          </a:p>
        </p:txBody>
      </p:sp>
      <p:sp>
        <p:nvSpPr>
          <p:cNvPr id="2" name="Text Box 42">
            <a:extLst>
              <a:ext uri="{FF2B5EF4-FFF2-40B4-BE49-F238E27FC236}">
                <a16:creationId xmlns:a16="http://schemas.microsoft.com/office/drawing/2014/main" id="{B4C5006B-C5D6-0BB8-D667-78B20EF32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9068" y="1082098"/>
            <a:ext cx="3039913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s-ES" sz="2400" dirty="0" err="1">
                <a:solidFill>
                  <a:srgbClr val="FF0000"/>
                </a:solidFill>
                <a:latin typeface="Arial" panose="020B0604020202020204" pitchFamily="34" charset="0"/>
              </a:rPr>
              <a:t>Altern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Arial" panose="020B0604020202020204" pitchFamily="34" charset="0"/>
              </a:rPr>
              <a:t>Current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 -AC-)</a:t>
            </a:r>
          </a:p>
        </p:txBody>
      </p:sp>
      <p:sp>
        <p:nvSpPr>
          <p:cNvPr id="3" name="Text Box 44">
            <a:extLst>
              <a:ext uri="{FF2B5EF4-FFF2-40B4-BE49-F238E27FC236}">
                <a16:creationId xmlns:a16="http://schemas.microsoft.com/office/drawing/2014/main" id="{51D3F80C-666E-C1F1-ED6D-3ACA95F19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718" y="2692154"/>
            <a:ext cx="5902960" cy="905881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80000" tIns="82800" rIns="18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En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el símil se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consigue variando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el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sentido de la corriente de la bomba</a:t>
            </a:r>
          </a:p>
        </p:txBody>
      </p:sp>
    </p:spTree>
    <p:extLst>
      <p:ext uri="{BB962C8B-B14F-4D97-AF65-F5344CB8AC3E}">
        <p14:creationId xmlns:p14="http://schemas.microsoft.com/office/powerpoint/2010/main" val="1570553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2" grpId="0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057C47A2-E3BD-43FC-97F6-EA53A31380B2}"/>
              </a:ext>
            </a:extLst>
          </p:cNvPr>
          <p:cNvSpPr/>
          <p:nvPr/>
        </p:nvSpPr>
        <p:spPr bwMode="auto">
          <a:xfrm>
            <a:off x="1570189" y="320701"/>
            <a:ext cx="4191001" cy="256293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9477" name="Text Box 41"/>
          <p:cNvSpPr txBox="1">
            <a:spLocks noChangeArrowheads="1"/>
          </p:cNvSpPr>
          <p:nvPr/>
        </p:nvSpPr>
        <p:spPr bwMode="auto">
          <a:xfrm>
            <a:off x="6842218" y="1226307"/>
            <a:ext cx="2802193" cy="905881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ESTADO "ESTACIONARIO"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19478" name="Text Box 42"/>
          <p:cNvSpPr txBox="1">
            <a:spLocks noChangeArrowheads="1"/>
          </p:cNvSpPr>
          <p:nvPr/>
        </p:nvSpPr>
        <p:spPr bwMode="auto">
          <a:xfrm>
            <a:off x="6473754" y="2107731"/>
            <a:ext cx="3539120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(no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depende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del tiempo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en tanto que se repite)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9476" name="AutoShape 53"/>
          <p:cNvSpPr>
            <a:spLocks noChangeArrowheads="1"/>
          </p:cNvSpPr>
          <p:nvPr/>
        </p:nvSpPr>
        <p:spPr bwMode="auto">
          <a:xfrm rot="16200000" flipH="1">
            <a:off x="6051506" y="1522726"/>
            <a:ext cx="483712" cy="326546"/>
          </a:xfrm>
          <a:prstGeom prst="downArrow">
            <a:avLst>
              <a:gd name="adj1" fmla="val 50148"/>
              <a:gd name="adj2" fmla="val 53181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rot="10800000"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7" name="Grupo 6"/>
          <p:cNvGrpSpPr/>
          <p:nvPr/>
        </p:nvGrpSpPr>
        <p:grpSpPr>
          <a:xfrm>
            <a:off x="1606260" y="505681"/>
            <a:ext cx="4099794" cy="2111349"/>
            <a:chOff x="3667730" y="2678102"/>
            <a:chExt cx="4099794" cy="2111349"/>
          </a:xfrm>
        </p:grpSpPr>
        <p:grpSp>
          <p:nvGrpSpPr>
            <p:cNvPr id="38" name="Grupo 37"/>
            <p:cNvGrpSpPr/>
            <p:nvPr/>
          </p:nvGrpSpPr>
          <p:grpSpPr>
            <a:xfrm>
              <a:off x="3667730" y="2678102"/>
              <a:ext cx="4099794" cy="2111349"/>
              <a:chOff x="1149131" y="2721871"/>
              <a:chExt cx="4099794" cy="2111349"/>
            </a:xfrm>
          </p:grpSpPr>
          <p:cxnSp>
            <p:nvCxnSpPr>
              <p:cNvPr id="40" name="Conector recto de flecha 39"/>
              <p:cNvCxnSpPr/>
              <p:nvPr/>
            </p:nvCxnSpPr>
            <p:spPr bwMode="auto">
              <a:xfrm flipV="1">
                <a:off x="2140224" y="2870504"/>
                <a:ext cx="0" cy="1962716"/>
              </a:xfrm>
              <a:prstGeom prst="straightConnector1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cxnSp>
            <p:nvCxnSpPr>
              <p:cNvPr id="41" name="Conector recto de flecha 40"/>
              <p:cNvCxnSpPr/>
              <p:nvPr/>
            </p:nvCxnSpPr>
            <p:spPr bwMode="auto">
              <a:xfrm>
                <a:off x="2140224" y="3910282"/>
                <a:ext cx="2778617" cy="0"/>
              </a:xfrm>
              <a:prstGeom prst="straightConnector1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sp>
            <p:nvSpPr>
              <p:cNvPr id="42" name="CuadroTexto 41"/>
              <p:cNvSpPr txBox="1"/>
              <p:nvPr/>
            </p:nvSpPr>
            <p:spPr>
              <a:xfrm>
                <a:off x="1149131" y="2721871"/>
                <a:ext cx="89800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2400">
                    <a:latin typeface="Comic Sans MS" panose="030F0702030302020204" pitchFamily="66" charset="0"/>
                  </a:rPr>
                  <a:t>V o I</a:t>
                </a:r>
              </a:p>
            </p:txBody>
          </p:sp>
          <p:sp>
            <p:nvSpPr>
              <p:cNvPr id="43" name="CuadroTexto 42"/>
              <p:cNvSpPr txBox="1"/>
              <p:nvPr/>
            </p:nvSpPr>
            <p:spPr>
              <a:xfrm>
                <a:off x="4979299" y="3621359"/>
                <a:ext cx="269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2400"/>
                  <a:t>t</a:t>
                </a:r>
              </a:p>
            </p:txBody>
          </p:sp>
        </p:grpSp>
        <p:sp>
          <p:nvSpPr>
            <p:cNvPr id="6" name="Forma libre 5"/>
            <p:cNvSpPr/>
            <p:nvPr/>
          </p:nvSpPr>
          <p:spPr bwMode="auto">
            <a:xfrm>
              <a:off x="4666593" y="2992168"/>
              <a:ext cx="2133600" cy="1732505"/>
            </a:xfrm>
            <a:custGeom>
              <a:avLst/>
              <a:gdLst>
                <a:gd name="connsiteX0" fmla="*/ 0 w 2133600"/>
                <a:gd name="connsiteY0" fmla="*/ 865130 h 1732505"/>
                <a:gd name="connsiteX1" fmla="*/ 704193 w 2133600"/>
                <a:gd name="connsiteY1" fmla="*/ 24302 h 1732505"/>
                <a:gd name="connsiteX2" fmla="*/ 1502979 w 2133600"/>
                <a:gd name="connsiteY2" fmla="*/ 1705957 h 1732505"/>
                <a:gd name="connsiteX3" fmla="*/ 2133600 w 2133600"/>
                <a:gd name="connsiteY3" fmla="*/ 896661 h 1732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33600" h="1732505">
                  <a:moveTo>
                    <a:pt x="0" y="865130"/>
                  </a:moveTo>
                  <a:cubicBezTo>
                    <a:pt x="226848" y="374647"/>
                    <a:pt x="453697" y="-115836"/>
                    <a:pt x="704193" y="24302"/>
                  </a:cubicBezTo>
                  <a:cubicBezTo>
                    <a:pt x="954689" y="164440"/>
                    <a:pt x="1264745" y="1560564"/>
                    <a:pt x="1502979" y="1705957"/>
                  </a:cubicBezTo>
                  <a:cubicBezTo>
                    <a:pt x="1741214" y="1851350"/>
                    <a:pt x="1937407" y="1374005"/>
                    <a:pt x="2133600" y="896661"/>
                  </a:cubicBezTo>
                </a:path>
              </a:pathLst>
            </a:cu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47" name="Text Box 42"/>
          <p:cNvSpPr txBox="1">
            <a:spLocks noChangeArrowheads="1"/>
          </p:cNvSpPr>
          <p:nvPr/>
        </p:nvSpPr>
        <p:spPr bwMode="auto">
          <a:xfrm>
            <a:off x="6112454" y="3110329"/>
            <a:ext cx="4179626" cy="127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(permanece mientras se esté conectado a un enchufe y la compañía suministre V)</a:t>
            </a:r>
          </a:p>
        </p:txBody>
      </p:sp>
      <p:sp>
        <p:nvSpPr>
          <p:cNvPr id="15" name="Text Box 44">
            <a:extLst>
              <a:ext uri="{FF2B5EF4-FFF2-40B4-BE49-F238E27FC236}">
                <a16:creationId xmlns:a16="http://schemas.microsoft.com/office/drawing/2014/main" id="{8D58BD40-A38F-4C86-8CAE-186EDF81D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2023" y="4677019"/>
            <a:ext cx="9051359" cy="2013877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80000" tIns="82800" rIns="18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En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un </a:t>
            </a:r>
            <a:r>
              <a:rPr lang="es-ES" sz="2400" b="1" dirty="0">
                <a:latin typeface="Arial" panose="020B0604020202020204" pitchFamily="34" charset="0"/>
              </a:rPr>
              <a:t>enchufe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, aparte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de la conexión a la tierra de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la insta-lación, </a:t>
            </a:r>
            <a:r>
              <a:rPr lang="es-ES" sz="2400" b="1">
                <a:solidFill>
                  <a:srgbClr val="008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tierra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(cable verde-amarillo), si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la hay, suele haber 2 terminales,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el </a:t>
            </a:r>
            <a:r>
              <a:rPr lang="es-ES" sz="2400" b="1">
                <a:solidFill>
                  <a:srgbClr val="3333FF"/>
                </a:solidFill>
                <a:latin typeface="Arial" panose="020B0604020202020204" pitchFamily="34" charset="0"/>
              </a:rPr>
              <a:t>neutro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(cable azul),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conectado a la tierra de la red eléctrica, y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la </a:t>
            </a:r>
            <a:r>
              <a:rPr lang="es-ES" sz="2400" b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fase </a:t>
            </a:r>
            <a:r>
              <a:rPr lang="es-ES" sz="2400">
                <a:latin typeface="Arial" panose="020B0604020202020204" pitchFamily="34" charset="0"/>
              </a:rPr>
              <a:t>(cable marrón, negro o gris)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V, la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ddp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se obtiene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variando el potencial de la fase respecto al del neutro</a:t>
            </a:r>
          </a:p>
        </p:txBody>
      </p:sp>
      <p:sp>
        <p:nvSpPr>
          <p:cNvPr id="3" name="Text Box 21">
            <a:extLst>
              <a:ext uri="{FF2B5EF4-FFF2-40B4-BE49-F238E27FC236}">
                <a16:creationId xmlns:a16="http://schemas.microsoft.com/office/drawing/2014/main" id="{62D3D4E6-9FCD-77D0-101A-816D2D98B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9105" y="3460895"/>
            <a:ext cx="4392847" cy="536549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RÉGIMEN PERMANENTE</a:t>
            </a:r>
          </a:p>
        </p:txBody>
      </p:sp>
      <p:sp>
        <p:nvSpPr>
          <p:cNvPr id="4" name="AutoShape 53">
            <a:extLst>
              <a:ext uri="{FF2B5EF4-FFF2-40B4-BE49-F238E27FC236}">
                <a16:creationId xmlns:a16="http://schemas.microsoft.com/office/drawing/2014/main" id="{884C2891-2477-E079-845E-083D1935C50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404633" y="3034549"/>
            <a:ext cx="483712" cy="326546"/>
          </a:xfrm>
          <a:prstGeom prst="downArrow">
            <a:avLst>
              <a:gd name="adj1" fmla="val 50148"/>
              <a:gd name="adj2" fmla="val 53181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rot="10800000"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677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477" grpId="0" animBg="1"/>
      <p:bldP spid="19478" grpId="0"/>
      <p:bldP spid="19476" grpId="0" animBg="1"/>
      <p:bldP spid="47" grpId="0"/>
      <p:bldP spid="15" grpId="0" animBg="1"/>
      <p:bldP spid="3" grpId="0" animBg="1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6DEA7BF-C70A-4CF1-AFDD-15C9588395C3}"/>
              </a:ext>
            </a:extLst>
          </p:cNvPr>
          <p:cNvGrpSpPr/>
          <p:nvPr/>
        </p:nvGrpSpPr>
        <p:grpSpPr>
          <a:xfrm>
            <a:off x="1267857" y="4452306"/>
            <a:ext cx="9303831" cy="2013877"/>
            <a:chOff x="1157687" y="4842077"/>
            <a:chExt cx="9303831" cy="2013877"/>
          </a:xfrm>
        </p:grpSpPr>
        <p:sp>
          <p:nvSpPr>
            <p:cNvPr id="19" name="Text Box 44">
              <a:extLst>
                <a:ext uri="{FF2B5EF4-FFF2-40B4-BE49-F238E27FC236}">
                  <a16:creationId xmlns:a16="http://schemas.microsoft.com/office/drawing/2014/main" id="{9D97DCC2-9066-423E-890D-6203AA612E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7687" y="4842077"/>
              <a:ext cx="9303831" cy="2013877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</p:spPr>
          <p:txBody>
            <a:bodyPr wrap="square" lIns="180000" tIns="82800" rIns="18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Se pueden suministrar hasta </a:t>
              </a:r>
              <a:r>
                <a:rPr lang="es-ES" sz="24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</a:rPr>
                <a:t>tres fases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, desfasadas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, atrasadas o adelantadas (el seno o el coseno), 120º entre sí. Si se usa una, o las tres por separado, el sistema o dispositivo es </a:t>
              </a:r>
              <a:r>
                <a:rPr lang="es-ES" sz="2400" b="1" dirty="0">
                  <a:latin typeface="Arial" panose="020B0604020202020204" pitchFamily="34" charset="0"/>
                </a:rPr>
                <a:t>monofásico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, si se usan las tres, </a:t>
              </a:r>
              <a:r>
                <a:rPr lang="es-ES" sz="2400" b="1" dirty="0">
                  <a:latin typeface="Arial" panose="020B0604020202020204" pitchFamily="34" charset="0"/>
                </a:rPr>
                <a:t>trifásico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. Si se usan 2 fases como fase y neutro, la V, la </a:t>
              </a:r>
              <a:r>
                <a:rPr lang="es-ES" sz="240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ddp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, se multiplica por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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3 </a:t>
              </a: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(220 </a:t>
              </a: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V </a:t>
              </a: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 </a:t>
              </a: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3 </a:t>
              </a: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</a:t>
              </a: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380 V)</a:t>
              </a:r>
              <a:endParaRPr lang="es-ES" sz="2400" dirty="0">
                <a:solidFill>
                  <a:srgbClr val="3333FF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8C726A76-F9D6-4CDB-B6FD-02E3F0BDF952}"/>
                </a:ext>
              </a:extLst>
            </p:cNvPr>
            <p:cNvCxnSpPr/>
            <p:nvPr/>
          </p:nvCxnSpPr>
          <p:spPr bwMode="auto">
            <a:xfrm>
              <a:off x="5461875" y="6409432"/>
              <a:ext cx="197019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EAF0C3CE-4B00-41C0-8B53-610C592D64E1}"/>
                </a:ext>
              </a:extLst>
            </p:cNvPr>
            <p:cNvCxnSpPr/>
            <p:nvPr/>
          </p:nvCxnSpPr>
          <p:spPr bwMode="auto">
            <a:xfrm>
              <a:off x="7105601" y="6393171"/>
              <a:ext cx="197019" cy="0"/>
            </a:xfrm>
            <a:prstGeom prst="line">
              <a:avLst/>
            </a:prstGeom>
            <a:noFill/>
            <a:ln w="1270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</p:cxnSp>
      </p:grpSp>
      <p:sp>
        <p:nvSpPr>
          <p:cNvPr id="3" name="Rectángulo 2">
            <a:extLst>
              <a:ext uri="{FF2B5EF4-FFF2-40B4-BE49-F238E27FC236}">
                <a16:creationId xmlns:a16="http://schemas.microsoft.com/office/drawing/2014/main" id="{DCB4622F-9C37-F5A3-E236-FB59D306E71D}"/>
              </a:ext>
            </a:extLst>
          </p:cNvPr>
          <p:cNvSpPr/>
          <p:nvPr/>
        </p:nvSpPr>
        <p:spPr bwMode="auto">
          <a:xfrm>
            <a:off x="1570189" y="320701"/>
            <a:ext cx="4191001" cy="256293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4" name="Text Box 41">
            <a:extLst>
              <a:ext uri="{FF2B5EF4-FFF2-40B4-BE49-F238E27FC236}">
                <a16:creationId xmlns:a16="http://schemas.microsoft.com/office/drawing/2014/main" id="{DF8BC0E8-5A80-A5CA-8F51-6BE85F56C7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218" y="1226307"/>
            <a:ext cx="2802193" cy="905881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ESTADO "ESTACIONARIO"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5" name="Text Box 42">
            <a:extLst>
              <a:ext uri="{FF2B5EF4-FFF2-40B4-BE49-F238E27FC236}">
                <a16:creationId xmlns:a16="http://schemas.microsoft.com/office/drawing/2014/main" id="{6CA7B409-38BD-74DA-586D-A394CD82B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3754" y="2107731"/>
            <a:ext cx="3539120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(no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depende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del tiempo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en tanto que se repite)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8" name="AutoShape 53">
            <a:extLst>
              <a:ext uri="{FF2B5EF4-FFF2-40B4-BE49-F238E27FC236}">
                <a16:creationId xmlns:a16="http://schemas.microsoft.com/office/drawing/2014/main" id="{1B88BC0D-1BA1-B263-E788-164E522EEAC1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6051506" y="1522726"/>
            <a:ext cx="483712" cy="326546"/>
          </a:xfrm>
          <a:prstGeom prst="downArrow">
            <a:avLst>
              <a:gd name="adj1" fmla="val 50148"/>
              <a:gd name="adj2" fmla="val 53181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rot="10800000"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622019F6-AB78-707B-02CF-CD426159D347}"/>
              </a:ext>
            </a:extLst>
          </p:cNvPr>
          <p:cNvGrpSpPr/>
          <p:nvPr/>
        </p:nvGrpSpPr>
        <p:grpSpPr>
          <a:xfrm>
            <a:off x="1606260" y="505681"/>
            <a:ext cx="4099794" cy="2111349"/>
            <a:chOff x="3667730" y="2678102"/>
            <a:chExt cx="4099794" cy="2111349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5C06C038-B0F9-2696-89A5-9351E724F999}"/>
                </a:ext>
              </a:extLst>
            </p:cNvPr>
            <p:cNvGrpSpPr/>
            <p:nvPr/>
          </p:nvGrpSpPr>
          <p:grpSpPr>
            <a:xfrm>
              <a:off x="3667730" y="2678102"/>
              <a:ext cx="4099794" cy="2111349"/>
              <a:chOff x="1149131" y="2721871"/>
              <a:chExt cx="4099794" cy="2111349"/>
            </a:xfrm>
          </p:grpSpPr>
          <p:cxnSp>
            <p:nvCxnSpPr>
              <p:cNvPr id="12" name="Conector recto de flecha 11">
                <a:extLst>
                  <a:ext uri="{FF2B5EF4-FFF2-40B4-BE49-F238E27FC236}">
                    <a16:creationId xmlns:a16="http://schemas.microsoft.com/office/drawing/2014/main" id="{0D7DC2DD-E5C4-E5F3-C4B0-FC7AC20361DE}"/>
                  </a:ext>
                </a:extLst>
              </p:cNvPr>
              <p:cNvCxnSpPr/>
              <p:nvPr/>
            </p:nvCxnSpPr>
            <p:spPr bwMode="auto">
              <a:xfrm flipV="1">
                <a:off x="2140224" y="2870504"/>
                <a:ext cx="0" cy="1962716"/>
              </a:xfrm>
              <a:prstGeom prst="straightConnector1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cxnSp>
            <p:nvCxnSpPr>
              <p:cNvPr id="13" name="Conector recto de flecha 12">
                <a:extLst>
                  <a:ext uri="{FF2B5EF4-FFF2-40B4-BE49-F238E27FC236}">
                    <a16:creationId xmlns:a16="http://schemas.microsoft.com/office/drawing/2014/main" id="{C49FE810-C942-B265-957B-01209F70C034}"/>
                  </a:ext>
                </a:extLst>
              </p:cNvPr>
              <p:cNvCxnSpPr/>
              <p:nvPr/>
            </p:nvCxnSpPr>
            <p:spPr bwMode="auto">
              <a:xfrm>
                <a:off x="2140224" y="3910282"/>
                <a:ext cx="2778617" cy="0"/>
              </a:xfrm>
              <a:prstGeom prst="straightConnector1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012D9A34-770D-881D-CFBC-FA903AF48963}"/>
                  </a:ext>
                </a:extLst>
              </p:cNvPr>
              <p:cNvSpPr txBox="1"/>
              <p:nvPr/>
            </p:nvSpPr>
            <p:spPr>
              <a:xfrm>
                <a:off x="1149131" y="2721871"/>
                <a:ext cx="89800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2400">
                    <a:latin typeface="Comic Sans MS" panose="030F0702030302020204" pitchFamily="66" charset="0"/>
                  </a:rPr>
                  <a:t>V o I</a:t>
                </a:r>
              </a:p>
            </p:txBody>
          </p:sp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8D79DF48-1503-3E90-9D3A-2A609CEE1481}"/>
                  </a:ext>
                </a:extLst>
              </p:cNvPr>
              <p:cNvSpPr txBox="1"/>
              <p:nvPr/>
            </p:nvSpPr>
            <p:spPr>
              <a:xfrm>
                <a:off x="4979299" y="3621359"/>
                <a:ext cx="269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2400"/>
                  <a:t>t</a:t>
                </a:r>
              </a:p>
            </p:txBody>
          </p:sp>
        </p:grpSp>
        <p:sp>
          <p:nvSpPr>
            <p:cNvPr id="11" name="Forma libre 5">
              <a:extLst>
                <a:ext uri="{FF2B5EF4-FFF2-40B4-BE49-F238E27FC236}">
                  <a16:creationId xmlns:a16="http://schemas.microsoft.com/office/drawing/2014/main" id="{0E85FCAB-9772-0208-3A33-D402D1422CCB}"/>
                </a:ext>
              </a:extLst>
            </p:cNvPr>
            <p:cNvSpPr/>
            <p:nvPr/>
          </p:nvSpPr>
          <p:spPr bwMode="auto">
            <a:xfrm>
              <a:off x="4666593" y="2992168"/>
              <a:ext cx="2133600" cy="1732505"/>
            </a:xfrm>
            <a:custGeom>
              <a:avLst/>
              <a:gdLst>
                <a:gd name="connsiteX0" fmla="*/ 0 w 2133600"/>
                <a:gd name="connsiteY0" fmla="*/ 865130 h 1732505"/>
                <a:gd name="connsiteX1" fmla="*/ 704193 w 2133600"/>
                <a:gd name="connsiteY1" fmla="*/ 24302 h 1732505"/>
                <a:gd name="connsiteX2" fmla="*/ 1502979 w 2133600"/>
                <a:gd name="connsiteY2" fmla="*/ 1705957 h 1732505"/>
                <a:gd name="connsiteX3" fmla="*/ 2133600 w 2133600"/>
                <a:gd name="connsiteY3" fmla="*/ 896661 h 1732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33600" h="1732505">
                  <a:moveTo>
                    <a:pt x="0" y="865130"/>
                  </a:moveTo>
                  <a:cubicBezTo>
                    <a:pt x="226848" y="374647"/>
                    <a:pt x="453697" y="-115836"/>
                    <a:pt x="704193" y="24302"/>
                  </a:cubicBezTo>
                  <a:cubicBezTo>
                    <a:pt x="954689" y="164440"/>
                    <a:pt x="1264745" y="1560564"/>
                    <a:pt x="1502979" y="1705957"/>
                  </a:cubicBezTo>
                  <a:cubicBezTo>
                    <a:pt x="1741214" y="1851350"/>
                    <a:pt x="1937407" y="1374005"/>
                    <a:pt x="2133600" y="896661"/>
                  </a:cubicBezTo>
                </a:path>
              </a:pathLst>
            </a:cu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3" name="Text Box 42">
            <a:extLst>
              <a:ext uri="{FF2B5EF4-FFF2-40B4-BE49-F238E27FC236}">
                <a16:creationId xmlns:a16="http://schemas.microsoft.com/office/drawing/2014/main" id="{F54794F6-0256-1013-0187-83AFC8AED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2454" y="3110329"/>
            <a:ext cx="4179626" cy="127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(permanece mientras se esté conectado a un enchufe y la compañía suministre V)</a:t>
            </a:r>
          </a:p>
        </p:txBody>
      </p:sp>
      <p:sp>
        <p:nvSpPr>
          <p:cNvPr id="24" name="Text Box 21">
            <a:extLst>
              <a:ext uri="{FF2B5EF4-FFF2-40B4-BE49-F238E27FC236}">
                <a16:creationId xmlns:a16="http://schemas.microsoft.com/office/drawing/2014/main" id="{2B9FC3C2-5A30-5ECC-DA8F-85DC703D0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9105" y="3460895"/>
            <a:ext cx="4392847" cy="536549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RÉGIMEN PERMANENTE</a:t>
            </a:r>
          </a:p>
        </p:txBody>
      </p:sp>
      <p:sp>
        <p:nvSpPr>
          <p:cNvPr id="25" name="AutoShape 53">
            <a:extLst>
              <a:ext uri="{FF2B5EF4-FFF2-40B4-BE49-F238E27FC236}">
                <a16:creationId xmlns:a16="http://schemas.microsoft.com/office/drawing/2014/main" id="{7F584945-4F5B-10DE-BCF5-105C4B71AE3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404633" y="3034549"/>
            <a:ext cx="483712" cy="326546"/>
          </a:xfrm>
          <a:prstGeom prst="downArrow">
            <a:avLst>
              <a:gd name="adj1" fmla="val 50148"/>
              <a:gd name="adj2" fmla="val 53181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rot="10800000"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6" name="Text Box 42">
            <a:extLst>
              <a:ext uri="{FF2B5EF4-FFF2-40B4-BE49-F238E27FC236}">
                <a16:creationId xmlns:a16="http://schemas.microsoft.com/office/drawing/2014/main" id="{AD2A03CD-2842-6B8A-CCDD-5E3368775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9425" y="6447335"/>
            <a:ext cx="8206968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(Ahora V</a:t>
            </a:r>
            <a:r>
              <a:rPr lang="es-ES" sz="2400" baseline="-25000">
                <a:solidFill>
                  <a:srgbClr val="FF0000"/>
                </a:solidFill>
                <a:latin typeface="Arial" panose="020B0604020202020204" pitchFamily="34" charset="0"/>
              </a:rPr>
              <a:t>EFICAZ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 es en Europa 240 V, inicialmente fue 125 V)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717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1255713" y="377398"/>
            <a:ext cx="7327178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4.1.2 INTENSIDAD Y DENSIDAD DE CORRIENTE</a:t>
            </a:r>
            <a:endParaRPr lang="es-ES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4936590" y="4690647"/>
            <a:ext cx="1676400" cy="1336675"/>
            <a:chOff x="5336" y="1776"/>
            <a:chExt cx="1056" cy="842"/>
          </a:xfrm>
        </p:grpSpPr>
        <p:sp>
          <p:nvSpPr>
            <p:cNvPr id="21526" name="Rectangle 8"/>
            <p:cNvSpPr>
              <a:spLocks noChangeArrowheads="1"/>
            </p:cNvSpPr>
            <p:nvPr/>
          </p:nvSpPr>
          <p:spPr bwMode="auto">
            <a:xfrm>
              <a:off x="5336" y="1776"/>
              <a:ext cx="1056" cy="842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21527" name="Object 9"/>
            <p:cNvGraphicFramePr>
              <a:graphicFrameLocks noChangeAspect="1"/>
            </p:cNvGraphicFramePr>
            <p:nvPr/>
          </p:nvGraphicFramePr>
          <p:xfrm>
            <a:off x="5458" y="1856"/>
            <a:ext cx="815" cy="6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469696" imgH="393529" progId="Equation.3">
                    <p:embed/>
                  </p:oleObj>
                </mc:Choice>
                <mc:Fallback>
                  <p:oleObj name="Ecuación" r:id="rId3" imgW="469696" imgH="393529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58" y="1856"/>
                          <a:ext cx="815" cy="6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7674" name="Text Box 10"/>
          <p:cNvSpPr txBox="1">
            <a:spLocks noChangeArrowheads="1"/>
          </p:cNvSpPr>
          <p:nvPr/>
        </p:nvSpPr>
        <p:spPr bwMode="auto">
          <a:xfrm>
            <a:off x="1365711" y="977355"/>
            <a:ext cx="8829959" cy="536549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Caracterización de una corriente eléctrica a nivel macroscópico</a:t>
            </a:r>
          </a:p>
        </p:txBody>
      </p:sp>
      <p:sp>
        <p:nvSpPr>
          <p:cNvPr id="21524" name="Text Box 5"/>
          <p:cNvSpPr txBox="1">
            <a:spLocks noChangeArrowheads="1"/>
          </p:cNvSpPr>
          <p:nvPr/>
        </p:nvSpPr>
        <p:spPr bwMode="auto">
          <a:xfrm>
            <a:off x="1991473" y="1770063"/>
            <a:ext cx="7578013" cy="536549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INTENSIDAD </a:t>
            </a: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</a:t>
            </a: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DE CORRIENTE</a:t>
            </a: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 o CORRIENTE</a:t>
            </a:r>
            <a:endParaRPr lang="es-ES" sz="2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1525" name="Text Box 6"/>
          <p:cNvSpPr txBox="1">
            <a:spLocks noChangeArrowheads="1"/>
          </p:cNvSpPr>
          <p:nvPr/>
        </p:nvSpPr>
        <p:spPr bwMode="auto">
          <a:xfrm>
            <a:off x="1991473" y="2387763"/>
            <a:ext cx="7578013" cy="905881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Cantidad de carga eléctrica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positiva</a:t>
            </a:r>
            <a:r>
              <a:rPr lang="es-ES" sz="2400">
                <a:latin typeface="Arial" panose="020B0604020202020204" pitchFamily="34" charset="0"/>
              </a:rPr>
              <a:t> que fluye a través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de una sección de conductor por unidad de tiempo</a:t>
            </a:r>
          </a:p>
        </p:txBody>
      </p:sp>
      <p:grpSp>
        <p:nvGrpSpPr>
          <p:cNvPr id="6" name="Grupo 5"/>
          <p:cNvGrpSpPr>
            <a:grpSpLocks/>
          </p:cNvGrpSpPr>
          <p:nvPr/>
        </p:nvGrpSpPr>
        <p:grpSpPr bwMode="auto">
          <a:xfrm>
            <a:off x="3349030" y="3218617"/>
            <a:ext cx="6019800" cy="1130656"/>
            <a:chOff x="2706245" y="3200684"/>
            <a:chExt cx="6019801" cy="1129778"/>
          </a:xfrm>
        </p:grpSpPr>
        <p:grpSp>
          <p:nvGrpSpPr>
            <p:cNvPr id="21518" name="Group 22"/>
            <p:cNvGrpSpPr>
              <a:grpSpLocks/>
            </p:cNvGrpSpPr>
            <p:nvPr/>
          </p:nvGrpSpPr>
          <p:grpSpPr bwMode="auto">
            <a:xfrm>
              <a:off x="2706245" y="3201745"/>
              <a:ext cx="6019801" cy="1128717"/>
              <a:chOff x="1722" y="2221"/>
              <a:chExt cx="3792" cy="711"/>
            </a:xfrm>
          </p:grpSpPr>
          <p:sp>
            <p:nvSpPr>
              <p:cNvPr id="21520" name="Text Box 20"/>
              <p:cNvSpPr txBox="1">
                <a:spLocks noChangeArrowheads="1"/>
              </p:cNvSpPr>
              <p:nvPr/>
            </p:nvSpPr>
            <p:spPr bwMode="auto">
              <a:xfrm>
                <a:off x="1722" y="2362"/>
                <a:ext cx="3792" cy="5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squar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2400">
                    <a:solidFill>
                      <a:srgbClr val="3333FF"/>
                    </a:solidFill>
                  </a:rPr>
                  <a:t>Debe ser una </a:t>
                </a:r>
                <a:r>
                  <a:rPr lang="es-ES" sz="2400" dirty="0">
                    <a:solidFill>
                      <a:srgbClr val="3333FF"/>
                    </a:solidFill>
                  </a:rPr>
                  <a:t>superficie que parta en dos al conductor y que crucen todas las cargas</a:t>
                </a:r>
              </a:p>
            </p:txBody>
          </p:sp>
          <p:sp>
            <p:nvSpPr>
              <p:cNvPr id="21521" name="Line 21"/>
              <p:cNvSpPr>
                <a:spLocks noChangeShapeType="1"/>
              </p:cNvSpPr>
              <p:nvPr/>
            </p:nvSpPr>
            <p:spPr bwMode="auto">
              <a:xfrm>
                <a:off x="2046" y="2221"/>
                <a:ext cx="0" cy="181"/>
              </a:xfrm>
              <a:prstGeom prst="line">
                <a:avLst/>
              </a:prstGeom>
              <a:noFill/>
              <a:ln w="38100">
                <a:solidFill>
                  <a:srgbClr val="3333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s-ES"/>
              </a:p>
            </p:txBody>
          </p:sp>
        </p:grpSp>
        <p:cxnSp>
          <p:nvCxnSpPr>
            <p:cNvPr id="21519" name="Conector recto 4"/>
            <p:cNvCxnSpPr>
              <a:cxnSpLocks noChangeShapeType="1"/>
            </p:cNvCxnSpPr>
            <p:nvPr/>
          </p:nvCxnSpPr>
          <p:spPr bwMode="auto">
            <a:xfrm>
              <a:off x="2774296" y="3200684"/>
              <a:ext cx="962522" cy="0"/>
            </a:xfrm>
            <a:prstGeom prst="line">
              <a:avLst/>
            </a:prstGeom>
            <a:noFill/>
            <a:ln w="38100" algn="ctr">
              <a:solidFill>
                <a:srgbClr val="3333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" name="Grupo 1"/>
          <p:cNvGrpSpPr/>
          <p:nvPr/>
        </p:nvGrpSpPr>
        <p:grpSpPr>
          <a:xfrm>
            <a:off x="6424079" y="4783327"/>
            <a:ext cx="3771591" cy="1275213"/>
            <a:chOff x="6493652" y="4742231"/>
            <a:chExt cx="3771591" cy="1275213"/>
          </a:xfrm>
        </p:grpSpPr>
        <p:sp>
          <p:nvSpPr>
            <p:cNvPr id="21522" name="Text Box 26"/>
            <p:cNvSpPr txBox="1">
              <a:spLocks noChangeArrowheads="1"/>
            </p:cNvSpPr>
            <p:nvPr/>
          </p:nvSpPr>
          <p:spPr bwMode="auto">
            <a:xfrm>
              <a:off x="7125248" y="4742231"/>
              <a:ext cx="3139995" cy="1275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>
                  <a:solidFill>
                    <a:srgbClr val="3333FF"/>
                  </a:solidFill>
                </a:rPr>
                <a:t>Carga </a:t>
              </a:r>
              <a:r>
                <a:rPr lang="es-ES" sz="2400" dirty="0">
                  <a:solidFill>
                    <a:srgbClr val="3333FF"/>
                  </a:solidFill>
                </a:rPr>
                <a:t>positiva</a:t>
              </a:r>
            </a:p>
            <a:p>
              <a:r>
                <a:rPr lang="es-ES" sz="2400" dirty="0">
                  <a:solidFill>
                    <a:srgbClr val="3333FF"/>
                  </a:solidFill>
                </a:rPr>
                <a:t>que cruza</a:t>
              </a:r>
            </a:p>
            <a:p>
              <a:r>
                <a:rPr lang="es-ES" sz="2400" dirty="0">
                  <a:solidFill>
                    <a:srgbClr val="3333FF"/>
                  </a:solidFill>
                </a:rPr>
                <a:t>la sección en </a:t>
              </a:r>
              <a:r>
                <a:rPr lang="es-ES" sz="2400" dirty="0" err="1">
                  <a:solidFill>
                    <a:srgbClr val="3333FF"/>
                  </a:solidFill>
                </a:rPr>
                <a:t>dt</a:t>
              </a:r>
              <a:endParaRPr lang="es-ES" sz="2400" dirty="0">
                <a:solidFill>
                  <a:srgbClr val="3333FF"/>
                </a:solidFill>
              </a:endParaRPr>
            </a:p>
          </p:txBody>
        </p:sp>
        <p:cxnSp>
          <p:nvCxnSpPr>
            <p:cNvPr id="7" name="Conector recto de flecha 6"/>
            <p:cNvCxnSpPr>
              <a:cxnSpLocks/>
            </p:cNvCxnSpPr>
            <p:nvPr/>
          </p:nvCxnSpPr>
          <p:spPr bwMode="auto">
            <a:xfrm>
              <a:off x="6493652" y="5043837"/>
              <a:ext cx="612000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</p:grpSp>
      <p:sp>
        <p:nvSpPr>
          <p:cNvPr id="17" name="Text Box 42"/>
          <p:cNvSpPr txBox="1">
            <a:spLocks noChangeArrowheads="1"/>
          </p:cNvSpPr>
          <p:nvPr/>
        </p:nvSpPr>
        <p:spPr bwMode="auto">
          <a:xfrm>
            <a:off x="3119798" y="6220886"/>
            <a:ext cx="528571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(En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el caso del agua se llama caudal)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9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674" grpId="0" animBg="1"/>
      <p:bldP spid="21524" grpId="0" animBg="1"/>
      <p:bldP spid="21525" grpId="0" animBg="1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75" name="Text Box 11"/>
          <p:cNvSpPr txBox="1">
            <a:spLocks noChangeArrowheads="1"/>
          </p:cNvSpPr>
          <p:nvPr/>
        </p:nvSpPr>
        <p:spPr bwMode="auto">
          <a:xfrm>
            <a:off x="3301075" y="735049"/>
            <a:ext cx="6531253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Magnitud escalar y positiva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s-ES" sz="2400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dQ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&gt; 0 y </a:t>
            </a:r>
            <a:r>
              <a:rPr lang="es-ES" sz="2400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dt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&gt; 0)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97676" name="Text Box 12"/>
          <p:cNvSpPr txBox="1">
            <a:spLocks noChangeArrowheads="1"/>
          </p:cNvSpPr>
          <p:nvPr/>
        </p:nvSpPr>
        <p:spPr bwMode="auto">
          <a:xfrm>
            <a:off x="3299014" y="1830358"/>
            <a:ext cx="3111357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Amperio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: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 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C / s</a:t>
            </a:r>
            <a:endParaRPr lang="es-ES" sz="2400" dirty="0">
              <a:solidFill>
                <a:srgbClr val="0099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97677" name="Text Box 13"/>
          <p:cNvSpPr txBox="1">
            <a:spLocks noChangeArrowheads="1"/>
          </p:cNvSpPr>
          <p:nvPr/>
        </p:nvSpPr>
        <p:spPr bwMode="auto">
          <a:xfrm>
            <a:off x="3303565" y="2794310"/>
            <a:ext cx="5471667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Con corriente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continua (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constante):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aphicFrame>
        <p:nvGraphicFramePr>
          <p:cNvPr id="497678" name="Object 14"/>
          <p:cNvGraphicFramePr>
            <a:graphicFrameLocks noChangeAspect="1"/>
          </p:cNvGraphicFramePr>
          <p:nvPr/>
        </p:nvGraphicFramePr>
        <p:xfrm>
          <a:off x="3766505" y="3663806"/>
          <a:ext cx="1544637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596880" imgH="393480" progId="Equation.3">
                  <p:embed/>
                </p:oleObj>
              </mc:Choice>
              <mc:Fallback>
                <p:oleObj name="Ecuación" r:id="rId3" imgW="596880" imgH="393480" progId="Equation.3">
                  <p:embed/>
                  <p:pic>
                    <p:nvPicPr>
                      <p:cNvPr id="49767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6505" y="3663806"/>
                        <a:ext cx="1544637" cy="101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2" name="Text Box 24"/>
          <p:cNvSpPr txBox="1">
            <a:spLocks noChangeArrowheads="1"/>
          </p:cNvSpPr>
          <p:nvPr/>
        </p:nvSpPr>
        <p:spPr bwMode="auto">
          <a:xfrm>
            <a:off x="1394277" y="1832187"/>
            <a:ext cx="1676400" cy="536549"/>
          </a:xfrm>
          <a:prstGeom prst="rect">
            <a:avLst/>
          </a:prstGeom>
          <a:solidFill>
            <a:srgbClr val="9933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>
                <a:solidFill>
                  <a:srgbClr val="FFFFFF"/>
                </a:solidFill>
              </a:rPr>
              <a:t>UNIDAD</a:t>
            </a:r>
          </a:p>
        </p:txBody>
      </p:sp>
      <p:sp>
        <p:nvSpPr>
          <p:cNvPr id="2" name="Text Box 12"/>
          <p:cNvSpPr txBox="1">
            <a:spLocks noChangeArrowheads="1"/>
          </p:cNvSpPr>
          <p:nvPr/>
        </p:nvSpPr>
        <p:spPr bwMode="auto">
          <a:xfrm>
            <a:off x="1401711" y="4772477"/>
            <a:ext cx="8739817" cy="2064769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44000" tIns="108000" rIns="144000" bIns="108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En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baterías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la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energía almacenada que es Q,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se indica con la carga total Q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que movilizará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 batería al trabajar para mantener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su ddp ejerciendo un trabajo por unidad de carga , su fem (que coincide en valor con dicha ddp).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se expresa en: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Ah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(amperios-hora)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. Con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20 mAh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si 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= 1 mA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, dura 20 h</a:t>
            </a:r>
          </a:p>
        </p:txBody>
      </p:sp>
      <p:grpSp>
        <p:nvGrpSpPr>
          <p:cNvPr id="24" name="Group 7"/>
          <p:cNvGrpSpPr>
            <a:grpSpLocks/>
          </p:cNvGrpSpPr>
          <p:nvPr/>
        </p:nvGrpSpPr>
        <p:grpSpPr bwMode="auto">
          <a:xfrm>
            <a:off x="1394277" y="349254"/>
            <a:ext cx="1676400" cy="1336675"/>
            <a:chOff x="5336" y="1776"/>
            <a:chExt cx="1056" cy="842"/>
          </a:xfrm>
        </p:grpSpPr>
        <p:sp>
          <p:nvSpPr>
            <p:cNvPr id="25" name="Rectangle 8"/>
            <p:cNvSpPr>
              <a:spLocks noChangeArrowheads="1"/>
            </p:cNvSpPr>
            <p:nvPr/>
          </p:nvSpPr>
          <p:spPr bwMode="auto">
            <a:xfrm>
              <a:off x="5336" y="1776"/>
              <a:ext cx="1056" cy="842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26" name="Object 9"/>
            <p:cNvGraphicFramePr>
              <a:graphicFrameLocks noChangeAspect="1"/>
            </p:cNvGraphicFramePr>
            <p:nvPr/>
          </p:nvGraphicFramePr>
          <p:xfrm>
            <a:off x="5458" y="1856"/>
            <a:ext cx="815" cy="6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469696" imgH="393529" progId="Equation.3">
                    <p:embed/>
                  </p:oleObj>
                </mc:Choice>
                <mc:Fallback>
                  <p:oleObj name="Ecuación" r:id="rId5" imgW="469696" imgH="393529" progId="Equation.3">
                    <p:embed/>
                    <p:pic>
                      <p:nvPicPr>
                        <p:cNvPr id="26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58" y="1856"/>
                          <a:ext cx="815" cy="6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upo 4"/>
          <p:cNvGrpSpPr/>
          <p:nvPr/>
        </p:nvGrpSpPr>
        <p:grpSpPr>
          <a:xfrm>
            <a:off x="5421670" y="3760927"/>
            <a:ext cx="2068129" cy="788034"/>
            <a:chOff x="7822105" y="4594526"/>
            <a:chExt cx="2068129" cy="788034"/>
          </a:xfrm>
        </p:grpSpPr>
        <p:sp>
          <p:nvSpPr>
            <p:cNvPr id="4" name="Rectángulo 3"/>
            <p:cNvSpPr/>
            <p:nvPr/>
          </p:nvSpPr>
          <p:spPr bwMode="auto">
            <a:xfrm>
              <a:off x="8418786" y="4594526"/>
              <a:ext cx="1471448" cy="788034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aphicFrame>
          <p:nvGraphicFramePr>
            <p:cNvPr id="18" name="Object 14"/>
            <p:cNvGraphicFramePr>
              <a:graphicFrameLocks noChangeAspect="1"/>
            </p:cNvGraphicFramePr>
            <p:nvPr/>
          </p:nvGraphicFramePr>
          <p:xfrm>
            <a:off x="7822105" y="4747911"/>
            <a:ext cx="1841500" cy="523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711000" imgH="203040" progId="Equation.3">
                    <p:embed/>
                  </p:oleObj>
                </mc:Choice>
                <mc:Fallback>
                  <p:oleObj name="Ecuación" r:id="rId7" imgW="711000" imgH="203040" progId="Equation.3">
                    <p:embed/>
                    <p:pic>
                      <p:nvPicPr>
                        <p:cNvPr id="18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22105" y="4747911"/>
                          <a:ext cx="1841500" cy="523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Text Box 26"/>
          <p:cNvSpPr txBox="1">
            <a:spLocks noChangeArrowheads="1"/>
          </p:cNvSpPr>
          <p:nvPr/>
        </p:nvSpPr>
        <p:spPr bwMode="auto">
          <a:xfrm>
            <a:off x="7872668" y="3349054"/>
            <a:ext cx="2405205" cy="1275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olidFill>
                  <a:srgbClr val="3333FF"/>
                </a:solidFill>
              </a:rPr>
              <a:t>carga total que cruza la sección durante t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627E904A-023C-42B4-8F0D-024F45C422DF}"/>
              </a:ext>
            </a:extLst>
          </p:cNvPr>
          <p:cNvGrpSpPr/>
          <p:nvPr/>
        </p:nvGrpSpPr>
        <p:grpSpPr>
          <a:xfrm>
            <a:off x="5256409" y="3605296"/>
            <a:ext cx="2575777" cy="183837"/>
            <a:chOff x="5396530" y="3996784"/>
            <a:chExt cx="2575777" cy="183837"/>
          </a:xfrm>
        </p:grpSpPr>
        <p:cxnSp>
          <p:nvCxnSpPr>
            <p:cNvPr id="29" name="Conector recto de flecha 28"/>
            <p:cNvCxnSpPr>
              <a:cxnSpLocks/>
            </p:cNvCxnSpPr>
            <p:nvPr/>
          </p:nvCxnSpPr>
          <p:spPr bwMode="auto">
            <a:xfrm flipH="1">
              <a:off x="5396530" y="3996784"/>
              <a:ext cx="307777" cy="183837"/>
            </a:xfrm>
            <a:prstGeom prst="straightConnector1">
              <a:avLst/>
            </a:prstGeom>
            <a:noFill/>
            <a:ln w="3810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AE440719-CDF0-433C-9680-4788204EBA0E}"/>
                </a:ext>
              </a:extLst>
            </p:cNvPr>
            <p:cNvCxnSpPr/>
            <p:nvPr/>
          </p:nvCxnSpPr>
          <p:spPr bwMode="auto">
            <a:xfrm flipH="1">
              <a:off x="5704307" y="3996784"/>
              <a:ext cx="2268000" cy="0"/>
            </a:xfrm>
            <a:prstGeom prst="line">
              <a:avLst/>
            </a:prstGeom>
            <a:noFill/>
            <a:ln w="28575" cap="flat" cmpd="sng" algn="ctr">
              <a:solidFill>
                <a:srgbClr val="3333FF"/>
              </a:solidFill>
              <a:prstDash val="solid"/>
              <a:round/>
              <a:headEnd type="triangle" w="med" len="lg"/>
              <a:tailEnd type="none" w="med" len="med"/>
            </a:ln>
            <a:effectLst/>
          </p:spPr>
        </p:cxnSp>
      </p:grpSp>
      <p:sp>
        <p:nvSpPr>
          <p:cNvPr id="21" name="Text Box 12">
            <a:extLst>
              <a:ext uri="{FF2B5EF4-FFF2-40B4-BE49-F238E27FC236}">
                <a16:creationId xmlns:a16="http://schemas.microsoft.com/office/drawing/2014/main" id="{D963B0B3-9CA3-4576-9D92-0D14E6833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3252" y="1819915"/>
            <a:ext cx="4185999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99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(en honor a </a:t>
            </a:r>
            <a:r>
              <a:rPr lang="es-ES" sz="2400" dirty="0" err="1">
                <a:solidFill>
                  <a:srgbClr val="0099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Ampère</a:t>
            </a:r>
            <a:r>
              <a:rPr lang="es-ES" sz="2400" dirty="0">
                <a:solidFill>
                  <a:srgbClr val="0099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; 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99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en inglés: “ampere” o “</a:t>
            </a:r>
            <a:r>
              <a:rPr lang="es-ES" sz="2400" dirty="0" err="1">
                <a:solidFill>
                  <a:srgbClr val="0099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amp</a:t>
            </a:r>
            <a:r>
              <a:rPr lang="es-ES" sz="2400" dirty="0">
                <a:solidFill>
                  <a:srgbClr val="0099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”)</a:t>
            </a:r>
          </a:p>
        </p:txBody>
      </p:sp>
    </p:spTree>
    <p:extLst>
      <p:ext uri="{BB962C8B-B14F-4D97-AF65-F5344CB8AC3E}">
        <p14:creationId xmlns:p14="http://schemas.microsoft.com/office/powerpoint/2010/main" val="252771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97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97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97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97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497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97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97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675" grpId="0"/>
      <p:bldP spid="497676" grpId="0"/>
      <p:bldP spid="497677" grpId="0"/>
      <p:bldP spid="17432" grpId="0" animBg="1"/>
      <p:bldP spid="2" grpId="0" animBg="1"/>
      <p:bldP spid="28" grpId="0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17" name="Group 61"/>
          <p:cNvGrpSpPr>
            <a:grpSpLocks/>
          </p:cNvGrpSpPr>
          <p:nvPr/>
        </p:nvGrpSpPr>
        <p:grpSpPr bwMode="auto">
          <a:xfrm>
            <a:off x="2173199" y="3347504"/>
            <a:ext cx="5365749" cy="1447800"/>
            <a:chOff x="3413" y="1319"/>
            <a:chExt cx="3380" cy="912"/>
          </a:xfrm>
        </p:grpSpPr>
        <p:sp>
          <p:nvSpPr>
            <p:cNvPr id="23588" name="Rectangle 8"/>
            <p:cNvSpPr>
              <a:spLocks noChangeArrowheads="1"/>
            </p:cNvSpPr>
            <p:nvPr/>
          </p:nvSpPr>
          <p:spPr bwMode="auto">
            <a:xfrm>
              <a:off x="3413" y="1319"/>
              <a:ext cx="3380" cy="912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23589" name="Object 9"/>
            <p:cNvGraphicFramePr>
              <a:graphicFrameLocks noChangeAspect="1"/>
            </p:cNvGraphicFramePr>
            <p:nvPr/>
          </p:nvGraphicFramePr>
          <p:xfrm>
            <a:off x="3579" y="1419"/>
            <a:ext cx="3031" cy="7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765300" imgH="431800" progId="Equation.3">
                    <p:embed/>
                  </p:oleObj>
                </mc:Choice>
                <mc:Fallback>
                  <p:oleObj name="Ecuación" r:id="rId3" imgW="1765300" imgH="431800" progId="Equation.3">
                    <p:embed/>
                    <p:pic>
                      <p:nvPicPr>
                        <p:cNvPr id="23589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9" y="1419"/>
                          <a:ext cx="3031" cy="7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586" name="Text Box 5"/>
          <p:cNvSpPr txBox="1">
            <a:spLocks noChangeArrowheads="1"/>
          </p:cNvSpPr>
          <p:nvPr/>
        </p:nvSpPr>
        <p:spPr bwMode="auto">
          <a:xfrm>
            <a:off x="3683382" y="1043257"/>
            <a:ext cx="4184650" cy="536575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DENSIDAD DE CORRIENTE</a:t>
            </a:r>
          </a:p>
        </p:txBody>
      </p:sp>
      <p:sp>
        <p:nvSpPr>
          <p:cNvPr id="23587" name="Text Box 6"/>
          <p:cNvSpPr txBox="1">
            <a:spLocks noChangeArrowheads="1"/>
          </p:cNvSpPr>
          <p:nvPr/>
        </p:nvSpPr>
        <p:spPr bwMode="auto">
          <a:xfrm>
            <a:off x="2181070" y="1699519"/>
            <a:ext cx="7199236" cy="905881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Intensidad de corriente por unidad de superficie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perpendicular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al campo aplicado (a la corriente)</a:t>
            </a:r>
          </a:p>
        </p:txBody>
      </p:sp>
      <p:sp>
        <p:nvSpPr>
          <p:cNvPr id="21515" name="Text Box 10"/>
          <p:cNvSpPr txBox="1">
            <a:spLocks noChangeArrowheads="1"/>
          </p:cNvSpPr>
          <p:nvPr/>
        </p:nvSpPr>
        <p:spPr bwMode="auto">
          <a:xfrm>
            <a:off x="1411642" y="349849"/>
            <a:ext cx="8727367" cy="536549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Caracterización de una corriente eléctrica a nivel microscópico</a:t>
            </a:r>
          </a:p>
        </p:txBody>
      </p:sp>
      <p:grpSp>
        <p:nvGrpSpPr>
          <p:cNvPr id="5" name="Grupo 4"/>
          <p:cNvGrpSpPr/>
          <p:nvPr/>
        </p:nvGrpSpPr>
        <p:grpSpPr>
          <a:xfrm>
            <a:off x="2129293" y="4640640"/>
            <a:ext cx="3370536" cy="1651982"/>
            <a:chOff x="-3273464" y="4983291"/>
            <a:chExt cx="3370536" cy="1651982"/>
          </a:xfrm>
        </p:grpSpPr>
        <p:sp>
          <p:nvSpPr>
            <p:cNvPr id="44" name="54 CuadroTexto"/>
            <p:cNvSpPr txBox="1">
              <a:spLocks noChangeArrowheads="1"/>
            </p:cNvSpPr>
            <p:nvPr/>
          </p:nvSpPr>
          <p:spPr bwMode="auto">
            <a:xfrm>
              <a:off x="-3273464" y="5804276"/>
              <a:ext cx="3370536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</a:pPr>
              <a:r>
                <a:rPr lang="es-ES" sz="2400" dirty="0">
                  <a:solidFill>
                    <a:srgbClr val="3333FF"/>
                  </a:solidFill>
                </a:rPr>
                <a:t>Proyección (“sombra”)</a:t>
              </a:r>
            </a:p>
            <a:p>
              <a:pPr algn="ctr" eaLnBrk="1" hangingPunct="1">
                <a:spcBef>
                  <a:spcPts val="0"/>
                </a:spcBef>
              </a:pPr>
              <a:r>
                <a:rPr lang="es-ES" sz="2400" dirty="0">
                  <a:solidFill>
                    <a:srgbClr val="3333FF"/>
                  </a:solidFill>
                </a:rPr>
                <a:t>de </a:t>
              </a:r>
              <a:r>
                <a:rPr lang="es-ES" sz="2400" dirty="0" err="1">
                  <a:solidFill>
                    <a:srgbClr val="3333FF"/>
                  </a:solidFill>
                </a:rPr>
                <a:t>dS</a:t>
              </a:r>
              <a:r>
                <a:rPr lang="es-ES" sz="2400" dirty="0">
                  <a:solidFill>
                    <a:srgbClr val="3333FF"/>
                  </a:solidFill>
                </a:rPr>
                <a:t> sobre plano </a:t>
              </a:r>
              <a:r>
                <a:rPr lang="es-ES" sz="2400" dirty="0">
                  <a:solidFill>
                    <a:srgbClr val="3333FF"/>
                  </a:solidFill>
                  <a:sym typeface="Symbol" panose="05050102010706020507" pitchFamily="18" charset="2"/>
                </a:rPr>
                <a:t> </a:t>
              </a:r>
              <a:r>
                <a:rPr lang="es-ES" sz="2400" b="1" dirty="0">
                  <a:solidFill>
                    <a:srgbClr val="3333FF"/>
                  </a:solidFill>
                  <a:sym typeface="Symbol" panose="05050102010706020507" pitchFamily="18" charset="2"/>
                </a:rPr>
                <a:t>E</a:t>
              </a:r>
              <a:endParaRPr lang="es-ES" sz="2400" b="1" dirty="0">
                <a:solidFill>
                  <a:srgbClr val="3333FF"/>
                </a:solidFill>
              </a:endParaRPr>
            </a:p>
          </p:txBody>
        </p:sp>
        <p:sp>
          <p:nvSpPr>
            <p:cNvPr id="45" name="Line 54"/>
            <p:cNvSpPr>
              <a:spLocks noChangeShapeType="1"/>
            </p:cNvSpPr>
            <p:nvPr/>
          </p:nvSpPr>
          <p:spPr bwMode="auto">
            <a:xfrm flipH="1">
              <a:off x="-1965555" y="4983291"/>
              <a:ext cx="7768" cy="772488"/>
            </a:xfrm>
            <a:prstGeom prst="line">
              <a:avLst/>
            </a:prstGeom>
            <a:noFill/>
            <a:ln w="31750">
              <a:solidFill>
                <a:srgbClr val="3333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s-ES" sz="2400"/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831657CF-1835-5399-CC44-18EFD8D29764}"/>
              </a:ext>
            </a:extLst>
          </p:cNvPr>
          <p:cNvGrpSpPr/>
          <p:nvPr/>
        </p:nvGrpSpPr>
        <p:grpSpPr>
          <a:xfrm>
            <a:off x="5742069" y="4947323"/>
            <a:ext cx="1989428" cy="1800000"/>
            <a:chOff x="5742069" y="4947323"/>
            <a:chExt cx="1989428" cy="1800000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A15F1F05-5E3C-B59B-1DF7-17FFC03AF66C}"/>
                </a:ext>
              </a:extLst>
            </p:cNvPr>
            <p:cNvSpPr/>
            <p:nvPr/>
          </p:nvSpPr>
          <p:spPr bwMode="auto">
            <a:xfrm>
              <a:off x="5742069" y="4947323"/>
              <a:ext cx="1800000" cy="180000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non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effectLst/>
                <a:latin typeface="Arial" charset="0"/>
              </a:endParaRPr>
            </a:p>
          </p:txBody>
        </p: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1C6B2376-A6A8-4B44-BC8B-EF92C5BAE38F}"/>
                </a:ext>
              </a:extLst>
            </p:cNvPr>
            <p:cNvGrpSpPr/>
            <p:nvPr/>
          </p:nvGrpSpPr>
          <p:grpSpPr>
            <a:xfrm>
              <a:off x="5838629" y="5055654"/>
              <a:ext cx="1892868" cy="1611930"/>
              <a:chOff x="8585435" y="3947037"/>
              <a:chExt cx="1892868" cy="1611930"/>
            </a:xfrm>
          </p:grpSpPr>
          <p:cxnSp>
            <p:nvCxnSpPr>
              <p:cNvPr id="33" name="Conector recto 32">
                <a:extLst>
                  <a:ext uri="{FF2B5EF4-FFF2-40B4-BE49-F238E27FC236}">
                    <a16:creationId xmlns:a16="http://schemas.microsoft.com/office/drawing/2014/main" id="{93F74B0C-0ADB-445F-8563-8737747F315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16200000">
                <a:off x="8715723" y="4498646"/>
                <a:ext cx="1103218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ysDash"/>
                <a:round/>
                <a:headEnd type="none" w="med" len="med"/>
                <a:tailEnd type="none" w="lg" len="lg"/>
              </a:ln>
              <a:effectLst/>
            </p:spPr>
          </p:cxnSp>
          <p:sp>
            <p:nvSpPr>
              <p:cNvPr id="23" name="Text Box 36">
                <a:extLst>
                  <a:ext uri="{FF2B5EF4-FFF2-40B4-BE49-F238E27FC236}">
                    <a16:creationId xmlns:a16="http://schemas.microsoft.com/office/drawing/2014/main" id="{F34BE37C-5B21-495A-BBA4-6D87AACF28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55726" y="4714641"/>
                <a:ext cx="1822577" cy="844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squar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 dirty="0" err="1">
                    <a:solidFill>
                      <a:srgbClr val="3333FF"/>
                    </a:solidFill>
                    <a:latin typeface="Arial" panose="020B0604020202020204" pitchFamily="34" charset="0"/>
                  </a:rPr>
                  <a:t>dS</a:t>
                </a:r>
                <a:endParaRPr lang="es-ES" sz="2400" dirty="0">
                  <a:solidFill>
                    <a:srgbClr val="3333FF"/>
                  </a:solidFill>
                  <a:latin typeface="Arial" panose="020B0604020202020204" pitchFamily="34" charset="0"/>
                </a:endParaRPr>
              </a:p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000" dirty="0">
                    <a:solidFill>
                      <a:srgbClr val="3333FF"/>
                    </a:solidFill>
                    <a:latin typeface="Arial" panose="020B0604020202020204" pitchFamily="34" charset="0"/>
                  </a:rPr>
                  <a:t>(de perfil)</a:t>
                </a:r>
              </a:p>
            </p:txBody>
          </p:sp>
          <p:sp>
            <p:nvSpPr>
              <p:cNvPr id="24" name="Line 33">
                <a:extLst>
                  <a:ext uri="{FF2B5EF4-FFF2-40B4-BE49-F238E27FC236}">
                    <a16:creationId xmlns:a16="http://schemas.microsoft.com/office/drawing/2014/main" id="{55F88023-2057-41DB-B2F0-3E603C4086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051991" y="4338167"/>
                <a:ext cx="444500" cy="43180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s-ES" dirty="0"/>
              </a:p>
            </p:txBody>
          </p:sp>
          <p:sp>
            <p:nvSpPr>
              <p:cNvPr id="25" name="Line 32">
                <a:extLst>
                  <a:ext uri="{FF2B5EF4-FFF2-40B4-BE49-F238E27FC236}">
                    <a16:creationId xmlns:a16="http://schemas.microsoft.com/office/drawing/2014/main" id="{71FDD368-5369-4A5D-A942-D23E991CDD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64191" y="4325698"/>
                <a:ext cx="0" cy="469903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26" name="Text Box 35">
                <a:extLst>
                  <a:ext uri="{FF2B5EF4-FFF2-40B4-BE49-F238E27FC236}">
                    <a16:creationId xmlns:a16="http://schemas.microsoft.com/office/drawing/2014/main" id="{DE91B0DA-8C89-43D1-AFC9-3E925F56CD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85435" y="4055074"/>
                <a:ext cx="693116" cy="5365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 err="1">
                    <a:solidFill>
                      <a:srgbClr val="3333FF"/>
                    </a:solidFill>
                    <a:latin typeface="Arial" panose="020B0604020202020204" pitchFamily="34" charset="0"/>
                  </a:rPr>
                  <a:t>dS</a:t>
                </a:r>
                <a:r>
                  <a:rPr lang="es-ES" sz="2400" baseline="-25000" dirty="0">
                    <a:solidFill>
                      <a:srgbClr val="3333FF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</a:t>
                </a:r>
                <a:endParaRPr lang="es-ES" sz="2400" dirty="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27" name="Line 50">
                <a:extLst>
                  <a:ext uri="{FF2B5EF4-FFF2-40B4-BE49-F238E27FC236}">
                    <a16:creationId xmlns:a16="http://schemas.microsoft.com/office/drawing/2014/main" id="{C39C8F78-C553-4A8D-8235-ADFC5F400A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83717" y="4557308"/>
                <a:ext cx="215900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28" name="Text Box 51">
                <a:extLst>
                  <a:ext uri="{FF2B5EF4-FFF2-40B4-BE49-F238E27FC236}">
                    <a16:creationId xmlns:a16="http://schemas.microsoft.com/office/drawing/2014/main" id="{8A202AA1-B38B-446A-83AC-20AA137A67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61455" y="4268382"/>
                <a:ext cx="387349" cy="5365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29" name="Line 52">
                <a:extLst>
                  <a:ext uri="{FF2B5EF4-FFF2-40B4-BE49-F238E27FC236}">
                    <a16:creationId xmlns:a16="http://schemas.microsoft.com/office/drawing/2014/main" id="{8A8EFD04-CE58-48C1-8D43-57C12E5735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58292" y="4360457"/>
                <a:ext cx="179387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>
                <a:spAutoFit/>
              </a:bodyPr>
              <a:lstStyle/>
              <a:p>
                <a:endParaRPr lang="es-ES"/>
              </a:p>
            </p:txBody>
          </p:sp>
          <p:cxnSp>
            <p:nvCxnSpPr>
              <p:cNvPr id="10" name="Conector recto 9">
                <a:extLst>
                  <a:ext uri="{FF2B5EF4-FFF2-40B4-BE49-F238E27FC236}">
                    <a16:creationId xmlns:a16="http://schemas.microsoft.com/office/drawing/2014/main" id="{A0414068-03CE-467E-87C5-049B6D624E84}"/>
                  </a:ext>
                </a:extLst>
              </p:cNvPr>
              <p:cNvCxnSpPr/>
              <p:nvPr/>
            </p:nvCxnSpPr>
            <p:spPr bwMode="auto">
              <a:xfrm>
                <a:off x="9229818" y="4335972"/>
                <a:ext cx="386671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lg" len="lg"/>
              </a:ln>
              <a:effectLst/>
            </p:spPr>
          </p:cxnSp>
          <p:cxnSp>
            <p:nvCxnSpPr>
              <p:cNvPr id="32" name="Conector recto 31">
                <a:extLst>
                  <a:ext uri="{FF2B5EF4-FFF2-40B4-BE49-F238E27FC236}">
                    <a16:creationId xmlns:a16="http://schemas.microsoft.com/office/drawing/2014/main" id="{62FF5EB5-B92A-42F7-8656-A169F841933C}"/>
                  </a:ext>
                </a:extLst>
              </p:cNvPr>
              <p:cNvCxnSpPr/>
              <p:nvPr/>
            </p:nvCxnSpPr>
            <p:spPr bwMode="auto">
              <a:xfrm>
                <a:off x="8940433" y="4776044"/>
                <a:ext cx="386671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lg" len="lg"/>
              </a:ln>
              <a:effectLst/>
            </p:spPr>
          </p:cxnSp>
        </p:grp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288C220E-6B6E-433E-AC35-10C4EF395D36}"/>
              </a:ext>
            </a:extLst>
          </p:cNvPr>
          <p:cNvGrpSpPr/>
          <p:nvPr/>
        </p:nvGrpSpPr>
        <p:grpSpPr>
          <a:xfrm>
            <a:off x="7391216" y="3853717"/>
            <a:ext cx="2937110" cy="3046988"/>
            <a:chOff x="4312704" y="3559154"/>
            <a:chExt cx="2937110" cy="3046988"/>
          </a:xfrm>
        </p:grpSpPr>
        <p:sp>
          <p:nvSpPr>
            <p:cNvPr id="34" name="54 CuadroTexto">
              <a:extLst>
                <a:ext uri="{FF2B5EF4-FFF2-40B4-BE49-F238E27FC236}">
                  <a16:creationId xmlns:a16="http://schemas.microsoft.com/office/drawing/2014/main" id="{BB6E1866-8D8A-4D44-BBCD-DC25A3BEBD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5765" y="3559154"/>
              <a:ext cx="2454049" cy="3046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</a:pPr>
              <a:r>
                <a:rPr lang="es-ES" sz="2400" dirty="0">
                  <a:solidFill>
                    <a:srgbClr val="3333FF"/>
                  </a:solidFill>
                </a:rPr>
                <a:t>Se </a:t>
              </a:r>
              <a:r>
                <a:rPr lang="es-ES" sz="2400">
                  <a:solidFill>
                    <a:srgbClr val="3333FF"/>
                  </a:solidFill>
                </a:rPr>
                <a:t>le da</a:t>
              </a:r>
            </a:p>
            <a:p>
              <a:pPr algn="ctr" eaLnBrk="1" hangingPunct="1">
                <a:spcBef>
                  <a:spcPts val="0"/>
                </a:spcBef>
              </a:pPr>
              <a:r>
                <a:rPr lang="es-ES" sz="2400">
                  <a:solidFill>
                    <a:srgbClr val="3333FF"/>
                  </a:solidFill>
                </a:rPr>
                <a:t>la dirección y</a:t>
              </a:r>
            </a:p>
            <a:p>
              <a:pPr algn="ctr" eaLnBrk="1" hangingPunct="1">
                <a:spcBef>
                  <a:spcPts val="0"/>
                </a:spcBef>
              </a:pPr>
              <a:r>
                <a:rPr lang="es-ES" sz="2400">
                  <a:solidFill>
                    <a:srgbClr val="3333FF"/>
                  </a:solidFill>
                </a:rPr>
                <a:t>sentido de </a:t>
              </a:r>
              <a:r>
                <a:rPr lang="es-ES" sz="2400" b="1">
                  <a:solidFill>
                    <a:srgbClr val="3333FF"/>
                  </a:solidFill>
                </a:rPr>
                <a:t>E</a:t>
              </a:r>
            </a:p>
            <a:p>
              <a:pPr algn="ctr" eaLnBrk="1" hangingPunct="1">
                <a:spcBef>
                  <a:spcPts val="0"/>
                </a:spcBef>
              </a:pPr>
              <a:r>
                <a:rPr lang="es-ES" sz="2400">
                  <a:solidFill>
                    <a:srgbClr val="3333FF"/>
                  </a:solidFill>
                </a:rPr>
                <a:t>(j es &gt; 0).</a:t>
              </a:r>
            </a:p>
            <a:p>
              <a:pPr algn="ctr" eaLnBrk="1" hangingPunct="1">
                <a:spcBef>
                  <a:spcPts val="0"/>
                </a:spcBef>
              </a:pPr>
              <a:r>
                <a:rPr lang="es-ES" sz="2400">
                  <a:solidFill>
                    <a:srgbClr val="3333FF"/>
                  </a:solidFill>
                </a:rPr>
                <a:t>Es decir,</a:t>
              </a:r>
            </a:p>
            <a:p>
              <a:pPr algn="ctr" eaLnBrk="1" hangingPunct="1">
                <a:spcBef>
                  <a:spcPts val="0"/>
                </a:spcBef>
              </a:pPr>
              <a:r>
                <a:rPr lang="es-ES" sz="2400">
                  <a:solidFill>
                    <a:srgbClr val="3333FF"/>
                  </a:solidFill>
                </a:rPr>
                <a:t>los de la corriente</a:t>
              </a:r>
            </a:p>
            <a:p>
              <a:pPr algn="ctr" eaLnBrk="1" hangingPunct="1">
                <a:spcBef>
                  <a:spcPts val="0"/>
                </a:spcBef>
              </a:pPr>
              <a:r>
                <a:rPr lang="es-ES" sz="2400">
                  <a:solidFill>
                    <a:srgbClr val="3333FF"/>
                  </a:solidFill>
                </a:rPr>
                <a:t>en el punto</a:t>
              </a:r>
              <a:endParaRPr lang="es-ES" sz="2400" b="1" dirty="0">
                <a:solidFill>
                  <a:srgbClr val="3333FF"/>
                </a:solidFill>
              </a:endParaRPr>
            </a:p>
          </p:txBody>
        </p:sp>
        <p:sp>
          <p:nvSpPr>
            <p:cNvPr id="35" name="Line 54">
              <a:extLst>
                <a:ext uri="{FF2B5EF4-FFF2-40B4-BE49-F238E27FC236}">
                  <a16:creationId xmlns:a16="http://schemas.microsoft.com/office/drawing/2014/main" id="{FF5C9E54-66A8-49E9-BA57-B0F0ACD30C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2704" y="3781079"/>
              <a:ext cx="900000" cy="0"/>
            </a:xfrm>
            <a:prstGeom prst="line">
              <a:avLst/>
            </a:prstGeom>
            <a:noFill/>
            <a:ln w="31750">
              <a:solidFill>
                <a:srgbClr val="3333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s-ES" sz="2400"/>
            </a:p>
          </p:txBody>
        </p:sp>
      </p:grpSp>
      <p:grpSp>
        <p:nvGrpSpPr>
          <p:cNvPr id="2" name="Grupo 1"/>
          <p:cNvGrpSpPr>
            <a:grpSpLocks/>
          </p:cNvGrpSpPr>
          <p:nvPr/>
        </p:nvGrpSpPr>
        <p:grpSpPr bwMode="auto">
          <a:xfrm>
            <a:off x="5642262" y="2869642"/>
            <a:ext cx="3948830" cy="730805"/>
            <a:chOff x="8500812" y="1836655"/>
            <a:chExt cx="3246538" cy="730804"/>
          </a:xfrm>
        </p:grpSpPr>
        <p:sp>
          <p:nvSpPr>
            <p:cNvPr id="23569" name="54 CuadroTexto"/>
            <p:cNvSpPr txBox="1">
              <a:spLocks noChangeArrowheads="1"/>
            </p:cNvSpPr>
            <p:nvPr/>
          </p:nvSpPr>
          <p:spPr bwMode="auto">
            <a:xfrm>
              <a:off x="8862856" y="1836655"/>
              <a:ext cx="2884494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</a:pPr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>
                  <a:solidFill>
                    <a:srgbClr val="3333FF"/>
                  </a:solidFill>
                </a:rPr>
                <a:t> a </a:t>
              </a:r>
              <a:r>
                <a:rPr lang="es-ES" sz="2400" dirty="0">
                  <a:solidFill>
                    <a:srgbClr val="3333FF"/>
                  </a:solidFill>
                </a:rPr>
                <a:t>través de un punto</a:t>
              </a:r>
              <a:endParaRPr lang="es-ES" sz="2400" b="1" dirty="0">
                <a:solidFill>
                  <a:srgbClr val="3333FF"/>
                </a:solidFill>
              </a:endParaRPr>
            </a:p>
          </p:txBody>
        </p:sp>
        <p:sp>
          <p:nvSpPr>
            <p:cNvPr id="23568" name="Line 54"/>
            <p:cNvSpPr>
              <a:spLocks noChangeShapeType="1"/>
            </p:cNvSpPr>
            <p:nvPr/>
          </p:nvSpPr>
          <p:spPr bwMode="auto">
            <a:xfrm flipV="1">
              <a:off x="8500812" y="2234776"/>
              <a:ext cx="453306" cy="332683"/>
            </a:xfrm>
            <a:prstGeom prst="line">
              <a:avLst/>
            </a:prstGeom>
            <a:noFill/>
            <a:ln w="31750">
              <a:solidFill>
                <a:srgbClr val="3333FF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s-E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86" grpId="0" animBg="1"/>
      <p:bldP spid="23587" grpId="0" animBg="1"/>
      <p:bldP spid="215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61">
            <a:extLst>
              <a:ext uri="{FF2B5EF4-FFF2-40B4-BE49-F238E27FC236}">
                <a16:creationId xmlns:a16="http://schemas.microsoft.com/office/drawing/2014/main" id="{3F9523FA-BC65-4EAB-AFED-0224BFB40711}"/>
              </a:ext>
            </a:extLst>
          </p:cNvPr>
          <p:cNvGrpSpPr>
            <a:grpSpLocks/>
          </p:cNvGrpSpPr>
          <p:nvPr/>
        </p:nvGrpSpPr>
        <p:grpSpPr bwMode="auto">
          <a:xfrm>
            <a:off x="1442760" y="411214"/>
            <a:ext cx="5022849" cy="1447800"/>
            <a:chOff x="3372" y="1319"/>
            <a:chExt cx="3164" cy="912"/>
          </a:xfrm>
        </p:grpSpPr>
        <p:sp>
          <p:nvSpPr>
            <p:cNvPr id="24" name="Rectangle 8">
              <a:extLst>
                <a:ext uri="{FF2B5EF4-FFF2-40B4-BE49-F238E27FC236}">
                  <a16:creationId xmlns:a16="http://schemas.microsoft.com/office/drawing/2014/main" id="{F63FB638-9D84-44E3-981D-61A33D6BEA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2" y="1319"/>
              <a:ext cx="3164" cy="912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25" name="Object 9">
              <a:extLst>
                <a:ext uri="{FF2B5EF4-FFF2-40B4-BE49-F238E27FC236}">
                  <a16:creationId xmlns:a16="http://schemas.microsoft.com/office/drawing/2014/main" id="{D4A570FD-0241-4C77-9921-AD543966D6C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47" y="1419"/>
            <a:ext cx="3031" cy="7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765300" imgH="431800" progId="Equation.3">
                    <p:embed/>
                  </p:oleObj>
                </mc:Choice>
                <mc:Fallback>
                  <p:oleObj name="Ecuación" r:id="rId3" imgW="1765300" imgH="431800" progId="Equation.3">
                    <p:embed/>
                    <p:pic>
                      <p:nvPicPr>
                        <p:cNvPr id="23589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7" y="1419"/>
                          <a:ext cx="3031" cy="7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Text Box 11">
            <a:extLst>
              <a:ext uri="{FF2B5EF4-FFF2-40B4-BE49-F238E27FC236}">
                <a16:creationId xmlns:a16="http://schemas.microsoft.com/office/drawing/2014/main" id="{A8C97030-210A-4CBE-82B0-A7A76C5F1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0172" y="2195296"/>
            <a:ext cx="6912722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Magnitud vectorial, con j positiva y unidad A/m</a:t>
            </a:r>
            <a:r>
              <a:rPr lang="es-ES" sz="2400" baseline="30000" dirty="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                                             </a:t>
            </a:r>
          </a:p>
        </p:txBody>
      </p:sp>
      <p:sp>
        <p:nvSpPr>
          <p:cNvPr id="27" name="Text Box 14">
            <a:extLst>
              <a:ext uri="{FF2B5EF4-FFF2-40B4-BE49-F238E27FC236}">
                <a16:creationId xmlns:a16="http://schemas.microsoft.com/office/drawing/2014/main" id="{D3384B12-213E-47B8-93D5-E599DE7BF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8269" y="4331692"/>
            <a:ext cx="7632991" cy="956773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180000" tIns="108000" rIns="180000" bIns="108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Se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define en cada punto para una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superficie  a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 porque su valor dependería de la elegida, si no se fija</a:t>
            </a:r>
          </a:p>
        </p:txBody>
      </p:sp>
      <p:sp>
        <p:nvSpPr>
          <p:cNvPr id="28" name="Text Box 57">
            <a:extLst>
              <a:ext uri="{FF2B5EF4-FFF2-40B4-BE49-F238E27FC236}">
                <a16:creationId xmlns:a16="http://schemas.microsoft.com/office/drawing/2014/main" id="{318E7E5D-9745-4732-BE69-488532093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4644" y="5881322"/>
            <a:ext cx="1744686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I/S</a:t>
            </a:r>
            <a:r>
              <a:rPr lang="es-ES" sz="2400" baseline="-25000" dirty="0">
                <a:solidFill>
                  <a:srgbClr val="008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</a:t>
            </a:r>
            <a:r>
              <a:rPr lang="es-ES" sz="2400" dirty="0">
                <a:solidFill>
                  <a:srgbClr val="008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 I/S</a:t>
            </a:r>
          </a:p>
        </p:txBody>
      </p:sp>
      <p:graphicFrame>
        <p:nvGraphicFramePr>
          <p:cNvPr id="29" name="Object 13">
            <a:extLst>
              <a:ext uri="{FF2B5EF4-FFF2-40B4-BE49-F238E27FC236}">
                <a16:creationId xmlns:a16="http://schemas.microsoft.com/office/drawing/2014/main" id="{28056A71-DA09-4CAE-A258-DE5485FFFF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2138824"/>
              </p:ext>
            </p:extLst>
          </p:nvPr>
        </p:nvGraphicFramePr>
        <p:xfrm>
          <a:off x="5975010" y="2907860"/>
          <a:ext cx="1086168" cy="1084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431613" imgH="431613" progId="Equation.3">
                  <p:embed/>
                </p:oleObj>
              </mc:Choice>
              <mc:Fallback>
                <p:oleObj name="Ecuación" r:id="rId5" imgW="431613" imgH="431613" progId="Equation.3">
                  <p:embed/>
                  <p:pic>
                    <p:nvPicPr>
                      <p:cNvPr id="1947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5010" y="2907860"/>
                        <a:ext cx="1086168" cy="108442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Group 62">
            <a:extLst>
              <a:ext uri="{FF2B5EF4-FFF2-40B4-BE49-F238E27FC236}">
                <a16:creationId xmlns:a16="http://schemas.microsoft.com/office/drawing/2014/main" id="{3343E24C-DE63-4FDF-965E-D0A8700BEAED}"/>
              </a:ext>
            </a:extLst>
          </p:cNvPr>
          <p:cNvGrpSpPr>
            <a:grpSpLocks/>
          </p:cNvGrpSpPr>
          <p:nvPr/>
        </p:nvGrpSpPr>
        <p:grpSpPr bwMode="auto">
          <a:xfrm>
            <a:off x="1353975" y="3106647"/>
            <a:ext cx="4518029" cy="860424"/>
            <a:chOff x="794" y="3162"/>
            <a:chExt cx="2846" cy="542"/>
          </a:xfrm>
        </p:grpSpPr>
        <p:sp>
          <p:nvSpPr>
            <p:cNvPr id="31" name="Text Box 12">
              <a:extLst>
                <a:ext uri="{FF2B5EF4-FFF2-40B4-BE49-F238E27FC236}">
                  <a16:creationId xmlns:a16="http://schemas.microsoft.com/office/drawing/2014/main" id="{270DAE75-BFA0-4929-8448-1F6D687E82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" y="3162"/>
              <a:ext cx="2555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 Con corriente homogénea:</a:t>
              </a:r>
            </a:p>
          </p:txBody>
        </p:sp>
        <p:sp>
          <p:nvSpPr>
            <p:cNvPr id="32" name="Text Box 44">
              <a:extLst>
                <a:ext uri="{FF2B5EF4-FFF2-40B4-BE49-F238E27FC236}">
                  <a16:creationId xmlns:a16="http://schemas.microsoft.com/office/drawing/2014/main" id="{2BDD67C0-1F4B-425F-B098-43C1B65FDE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4" y="3366"/>
              <a:ext cx="2746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rgbClr val="FF0000"/>
                  </a:solidFill>
                </a:rPr>
                <a:t>(con igual valor de j en toda S)</a:t>
              </a:r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DADAB344-2367-45E1-9DD2-E1F07196A948}"/>
              </a:ext>
            </a:extLst>
          </p:cNvPr>
          <p:cNvGrpSpPr/>
          <p:nvPr/>
        </p:nvGrpSpPr>
        <p:grpSpPr>
          <a:xfrm>
            <a:off x="2418171" y="5464138"/>
            <a:ext cx="3270414" cy="1020033"/>
            <a:chOff x="7059745" y="5546572"/>
            <a:chExt cx="3270414" cy="1020033"/>
          </a:xfrm>
        </p:grpSpPr>
        <p:sp>
          <p:nvSpPr>
            <p:cNvPr id="34" name="Rectangle 29">
              <a:extLst>
                <a:ext uri="{FF2B5EF4-FFF2-40B4-BE49-F238E27FC236}">
                  <a16:creationId xmlns:a16="http://schemas.microsoft.com/office/drawing/2014/main" id="{CD543090-C8D1-4025-8E25-B97D64F88A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5476" y="6043436"/>
              <a:ext cx="3214683" cy="471490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" name="Text Box 34">
              <a:extLst>
                <a:ext uri="{FF2B5EF4-FFF2-40B4-BE49-F238E27FC236}">
                  <a16:creationId xmlns:a16="http://schemas.microsoft.com/office/drawing/2014/main" id="{1166685D-EBC4-4C3E-A0A8-7ABA6575F0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9745" y="5546572"/>
              <a:ext cx="919139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cable</a:t>
              </a:r>
              <a:endParaRPr lang="es-ES" sz="2400" dirty="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" name="Text Box 36">
              <a:extLst>
                <a:ext uri="{FF2B5EF4-FFF2-40B4-BE49-F238E27FC236}">
                  <a16:creationId xmlns:a16="http://schemas.microsoft.com/office/drawing/2014/main" id="{6CCACAF0-0194-47D7-821F-24A4916E72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01686" y="5966736"/>
              <a:ext cx="455612" cy="536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S</a:t>
              </a:r>
            </a:p>
          </p:txBody>
        </p:sp>
        <p:sp>
          <p:nvSpPr>
            <p:cNvPr id="59" name="Line 33">
              <a:extLst>
                <a:ext uri="{FF2B5EF4-FFF2-40B4-BE49-F238E27FC236}">
                  <a16:creationId xmlns:a16="http://schemas.microsoft.com/office/drawing/2014/main" id="{E93BA4A2-86BA-4E91-9B52-665773A26A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21489" y="6068505"/>
              <a:ext cx="444500" cy="4318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s-ES" dirty="0"/>
            </a:p>
          </p:txBody>
        </p:sp>
        <p:sp>
          <p:nvSpPr>
            <p:cNvPr id="36" name="Line 30">
              <a:extLst>
                <a:ext uri="{FF2B5EF4-FFF2-40B4-BE49-F238E27FC236}">
                  <a16:creationId xmlns:a16="http://schemas.microsoft.com/office/drawing/2014/main" id="{8822E72F-82AB-47E6-B974-AC5EB8247A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39124" y="6291087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s-ES"/>
            </a:p>
          </p:txBody>
        </p:sp>
        <p:sp>
          <p:nvSpPr>
            <p:cNvPr id="37" name="Text Box 31">
              <a:extLst>
                <a:ext uri="{FF2B5EF4-FFF2-40B4-BE49-F238E27FC236}">
                  <a16:creationId xmlns:a16="http://schemas.microsoft.com/office/drawing/2014/main" id="{22A53E3D-1144-4EE3-A6E9-85ABD45D3D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0982" y="6007013"/>
              <a:ext cx="989671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 err="1">
                  <a:latin typeface="Comic Sans MS" panose="030F0702030302020204" pitchFamily="66" charset="0"/>
                </a:rPr>
                <a:t>I</a:t>
              </a:r>
              <a:r>
                <a:rPr lang="es-ES" sz="2400" baseline="-25000" dirty="0" err="1">
                  <a:latin typeface="Comic Sans MS" panose="030F0702030302020204" pitchFamily="66" charset="0"/>
                </a:rPr>
                <a:t>Homog</a:t>
              </a:r>
              <a:endParaRPr lang="es-ES" sz="2400" baseline="-25000" dirty="0">
                <a:latin typeface="Comic Sans MS" panose="030F0702030302020204" pitchFamily="66" charset="0"/>
              </a:endParaRPr>
            </a:p>
          </p:txBody>
        </p:sp>
        <p:sp>
          <p:nvSpPr>
            <p:cNvPr id="38" name="Line 32">
              <a:extLst>
                <a:ext uri="{FF2B5EF4-FFF2-40B4-BE49-F238E27FC236}">
                  <a16:creationId xmlns:a16="http://schemas.microsoft.com/office/drawing/2014/main" id="{B9D37F58-29EA-4866-B252-26EB09CFE6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40564" y="6059781"/>
              <a:ext cx="0" cy="46990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s-ES"/>
            </a:p>
          </p:txBody>
        </p:sp>
        <p:sp>
          <p:nvSpPr>
            <p:cNvPr id="39" name="Text Box 35">
              <a:extLst>
                <a:ext uri="{FF2B5EF4-FFF2-40B4-BE49-F238E27FC236}">
                  <a16:creationId xmlns:a16="http://schemas.microsoft.com/office/drawing/2014/main" id="{8AB0E8E8-6A23-4255-932D-9C9679EBD1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19714" y="5965619"/>
              <a:ext cx="522287" cy="5365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S</a:t>
              </a:r>
              <a:r>
                <a:rPr lang="es-ES" sz="2400" baseline="-25000" dirty="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</a:t>
              </a:r>
              <a:endPara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41" name="Line 50">
              <a:extLst>
                <a:ext uri="{FF2B5EF4-FFF2-40B4-BE49-F238E27FC236}">
                  <a16:creationId xmlns:a16="http://schemas.microsoft.com/office/drawing/2014/main" id="{2D87D694-0F08-475F-B3D0-EDD244AECA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40325" y="6318953"/>
              <a:ext cx="215900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s-ES"/>
            </a:p>
          </p:txBody>
        </p:sp>
        <p:sp>
          <p:nvSpPr>
            <p:cNvPr id="42" name="Text Box 51">
              <a:extLst>
                <a:ext uri="{FF2B5EF4-FFF2-40B4-BE49-F238E27FC236}">
                  <a16:creationId xmlns:a16="http://schemas.microsoft.com/office/drawing/2014/main" id="{AF1BCF98-75B5-4EA3-9895-575992783B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8063" y="6030027"/>
              <a:ext cx="387349" cy="5365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46" name="Line 52">
              <a:extLst>
                <a:ext uri="{FF2B5EF4-FFF2-40B4-BE49-F238E27FC236}">
                  <a16:creationId xmlns:a16="http://schemas.microsoft.com/office/drawing/2014/main" id="{7CA4ED4E-0F75-40A2-B8EA-B74F2E5646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14900" y="6122102"/>
              <a:ext cx="179387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s-ES"/>
            </a:p>
          </p:txBody>
        </p:sp>
        <p:sp>
          <p:nvSpPr>
            <p:cNvPr id="47" name="Line 54">
              <a:extLst>
                <a:ext uri="{FF2B5EF4-FFF2-40B4-BE49-F238E27FC236}">
                  <a16:creationId xmlns:a16="http://schemas.microsoft.com/office/drawing/2014/main" id="{75D712ED-5B73-4C04-8085-2DE12AF9BD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45638" y="6043436"/>
              <a:ext cx="316388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s-ES"/>
            </a:p>
          </p:txBody>
        </p:sp>
        <p:sp>
          <p:nvSpPr>
            <p:cNvPr id="48" name="Line 55">
              <a:extLst>
                <a:ext uri="{FF2B5EF4-FFF2-40B4-BE49-F238E27FC236}">
                  <a16:creationId xmlns:a16="http://schemas.microsoft.com/office/drawing/2014/main" id="{88DEEEAB-64C1-491A-AB9B-3A6747D0F9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45638" y="6503814"/>
              <a:ext cx="3184521" cy="95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s-ES"/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137CC2F1-7D29-4359-BDB4-293EE0306196}"/>
              </a:ext>
            </a:extLst>
          </p:cNvPr>
          <p:cNvGrpSpPr/>
          <p:nvPr/>
        </p:nvGrpSpPr>
        <p:grpSpPr>
          <a:xfrm>
            <a:off x="6905809" y="579520"/>
            <a:ext cx="3209626" cy="1137048"/>
            <a:chOff x="3582073" y="5657987"/>
            <a:chExt cx="3209626" cy="1137048"/>
          </a:xfrm>
        </p:grpSpPr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84456436-7C39-4D39-9796-6B95C9FAC38E}"/>
                </a:ext>
              </a:extLst>
            </p:cNvPr>
            <p:cNvGrpSpPr/>
            <p:nvPr/>
          </p:nvGrpSpPr>
          <p:grpSpPr>
            <a:xfrm>
              <a:off x="3582073" y="5657987"/>
              <a:ext cx="3209626" cy="1137048"/>
              <a:chOff x="7283900" y="1049662"/>
              <a:chExt cx="3209626" cy="1137048"/>
            </a:xfrm>
          </p:grpSpPr>
          <p:grpSp>
            <p:nvGrpSpPr>
              <p:cNvPr id="63" name="Grupo 62">
                <a:extLst>
                  <a:ext uri="{FF2B5EF4-FFF2-40B4-BE49-F238E27FC236}">
                    <a16:creationId xmlns:a16="http://schemas.microsoft.com/office/drawing/2014/main" id="{D0AF3DEC-78B6-49F0-8E96-82E2CB8FC6CA}"/>
                  </a:ext>
                </a:extLst>
              </p:cNvPr>
              <p:cNvGrpSpPr/>
              <p:nvPr/>
            </p:nvGrpSpPr>
            <p:grpSpPr>
              <a:xfrm>
                <a:off x="7283900" y="1049662"/>
                <a:ext cx="3209626" cy="1137048"/>
                <a:chOff x="7283900" y="1049662"/>
                <a:chExt cx="3209626" cy="1137048"/>
              </a:xfrm>
            </p:grpSpPr>
            <p:sp>
              <p:nvSpPr>
                <p:cNvPr id="65" name="Rectángulo 64">
                  <a:extLst>
                    <a:ext uri="{FF2B5EF4-FFF2-40B4-BE49-F238E27FC236}">
                      <a16:creationId xmlns:a16="http://schemas.microsoft.com/office/drawing/2014/main" id="{F29F33DE-0399-4AB5-81FB-A58A8C952B59}"/>
                    </a:ext>
                  </a:extLst>
                </p:cNvPr>
                <p:cNvSpPr/>
                <p:nvPr/>
              </p:nvSpPr>
              <p:spPr bwMode="auto">
                <a:xfrm>
                  <a:off x="7283900" y="1049662"/>
                  <a:ext cx="3209626" cy="113704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lg" len="lg"/>
                </a:ln>
                <a:effectLst/>
              </p:spPr>
              <p:txBody>
                <a:bodyPr vert="horz" wrap="square" lIns="90000" tIns="82800" rIns="90000" bIns="8280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s-ES" sz="20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6" name="CuadroTexto 65">
                      <a:extLst>
                        <a:ext uri="{FF2B5EF4-FFF2-40B4-BE49-F238E27FC236}">
                          <a16:creationId xmlns:a16="http://schemas.microsoft.com/office/drawing/2014/main" id="{C47549DE-7B44-4DDE-A728-7C65D676D6A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04332" y="1149839"/>
                      <a:ext cx="3167944" cy="96872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s-E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nary>
                              <m:naryPr>
                                <m:limLoc m:val="undOvr"/>
                                <m:subHide m:val="on"/>
                                <m:supHide m:val="on"/>
                                <m:ctrlPr>
                                  <a:rPr lang="es-E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𝑑𝐼</m:t>
                                </m:r>
                              </m:e>
                            </m:nary>
                            <m:r>
                              <a:rPr lang="es-E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nary>
                              <m:naryPr>
                                <m:limLoc m:val="undOvr"/>
                                <m:subHide m:val="on"/>
                                <m:supHide m:val="on"/>
                                <m:ctrlPr>
                                  <a:rPr lang="es-E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s-E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s-E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s-E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𝑑𝑆</m:t>
                                    </m:r>
                                  </m:e>
                                  <m:sub>
                                    <m:r>
                                      <a:rPr lang="es-E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⊥</m:t>
                                    </m:r>
                                  </m:sub>
                                </m:sSub>
                              </m:e>
                            </m:nary>
                          </m:oMath>
                        </m:oMathPara>
                      </a14:m>
                      <a:endParaRPr lang="es-ES" sz="2400" dirty="0"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" name="CuadroTexto 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304332" y="1149839"/>
                      <a:ext cx="3167944" cy="968727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E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0FFC12A7-67F2-45C4-B3F0-C4329842A034}"/>
                  </a:ext>
                </a:extLst>
              </p:cNvPr>
              <p:cNvSpPr txBox="1"/>
              <p:nvPr/>
            </p:nvSpPr>
            <p:spPr>
              <a:xfrm>
                <a:off x="8187770" y="1780012"/>
                <a:ext cx="32092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600"/>
                  <a:t>S</a:t>
                </a:r>
              </a:p>
            </p:txBody>
          </p:sp>
        </p:grp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5C82C348-9510-471E-9E84-B484FF84F384}"/>
                </a:ext>
              </a:extLst>
            </p:cNvPr>
            <p:cNvSpPr txBox="1"/>
            <p:nvPr/>
          </p:nvSpPr>
          <p:spPr>
            <a:xfrm>
              <a:off x="5484253" y="6394739"/>
              <a:ext cx="3209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dirty="0"/>
                <a:t>S</a:t>
              </a:r>
            </a:p>
          </p:txBody>
        </p:sp>
      </p:grpSp>
      <p:sp>
        <p:nvSpPr>
          <p:cNvPr id="67" name="Flecha derecha 2">
            <a:extLst>
              <a:ext uri="{FF2B5EF4-FFF2-40B4-BE49-F238E27FC236}">
                <a16:creationId xmlns:a16="http://schemas.microsoft.com/office/drawing/2014/main" id="{CC8161EE-4939-460F-8759-5B1565DD5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921" y="5914783"/>
            <a:ext cx="517781" cy="53246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1458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 animBg="1"/>
      <p:bldP spid="28" grpId="0"/>
      <p:bldP spid="6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FNT_2012_TEMA1_1">
  <a:themeElements>
    <a:clrScheme name="FNT_2012_TEMA1_1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FNT_2012_TEMA1_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  <a:effectLst/>
      </a:spPr>
      <a:bodyPr vert="horz" wrap="none" lIns="90000" tIns="82800" rIns="90000" bIns="82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  <a:effectLst/>
      </a:spPr>
      <a:bodyPr vert="horz" wrap="none" lIns="90000" tIns="82800" rIns="90000" bIns="82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NT_2012_TEMA1_1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FNT_2012_TEMA1_1</Template>
  <TotalTime>11348</TotalTime>
  <Words>1596</Words>
  <Application>Microsoft Office PowerPoint</Application>
  <PresentationFormat>Personalizado</PresentationFormat>
  <Paragraphs>232</Paragraphs>
  <Slides>18</Slides>
  <Notes>17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6" baseType="lpstr">
      <vt:lpstr>Arial</vt:lpstr>
      <vt:lpstr>Cambria Math</vt:lpstr>
      <vt:lpstr>Comic Sans MS</vt:lpstr>
      <vt:lpstr>Symbol</vt:lpstr>
      <vt:lpstr>Times New Roman</vt:lpstr>
      <vt:lpstr>Trebuchet MS</vt:lpstr>
      <vt:lpstr>FNT_2012_TEMA1_1</vt:lpstr>
      <vt:lpstr>Ecuación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FÍSICA</dc:creator>
  <cp:lastModifiedBy>Jose Enrique Martin Dominguez</cp:lastModifiedBy>
  <cp:revision>1738</cp:revision>
  <dcterms:created xsi:type="dcterms:W3CDTF">2012-02-20T13:06:36Z</dcterms:created>
  <dcterms:modified xsi:type="dcterms:W3CDTF">2024-11-03T21:34:57Z</dcterms:modified>
</cp:coreProperties>
</file>