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424" r:id="rId2"/>
    <p:sldId id="393" r:id="rId3"/>
    <p:sldId id="336" r:id="rId4"/>
    <p:sldId id="469" r:id="rId5"/>
    <p:sldId id="468" r:id="rId6"/>
    <p:sldId id="470" r:id="rId7"/>
    <p:sldId id="456" r:id="rId8"/>
    <p:sldId id="475" r:id="rId9"/>
    <p:sldId id="450" r:id="rId10"/>
    <p:sldId id="417" r:id="rId11"/>
    <p:sldId id="425" r:id="rId12"/>
    <p:sldId id="418" r:id="rId13"/>
    <p:sldId id="476" r:id="rId14"/>
    <p:sldId id="473" r:id="rId15"/>
    <p:sldId id="460" r:id="rId16"/>
    <p:sldId id="419" r:id="rId17"/>
    <p:sldId id="477" r:id="rId18"/>
    <p:sldId id="478" r:id="rId19"/>
    <p:sldId id="421" r:id="rId20"/>
    <p:sldId id="422" r:id="rId21"/>
    <p:sldId id="327" r:id="rId22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7E3"/>
    <a:srgbClr val="FFFFFF"/>
    <a:srgbClr val="666699"/>
    <a:srgbClr val="FFFF99"/>
    <a:srgbClr val="99CCFF"/>
    <a:srgbClr val="3333FF"/>
    <a:srgbClr val="CCFFCC"/>
    <a:srgbClr val="008000"/>
    <a:srgbClr val="D60093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7530" autoAdjust="0"/>
  </p:normalViewPr>
  <p:slideViewPr>
    <p:cSldViewPr snapToGrid="0" showGuides="1">
      <p:cViewPr varScale="1">
        <p:scale>
          <a:sx n="90" d="100"/>
          <a:sy n="90" d="100"/>
        </p:scale>
        <p:origin x="1116" y="72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22DCA8A-0DD5-418A-88BB-0F80018B1A0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782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0CDFD43-5EAB-4E99-A013-F77B86C61F8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10187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8C65996-03C3-4899-A848-F4352DABB45D}" type="slidenum">
              <a:rPr lang="es-ES"/>
              <a:pPr algn="r" eaLnBrk="1" hangingPunct="1"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88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093FAE9-B307-472E-A54D-C89DBC7CDBB8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75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32A159-CC07-4894-A91B-73238183B00C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640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D9A1A9-3C5B-47D5-AE49-DCE2C3A7EFB3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886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D9A1A9-3C5B-47D5-AE49-DCE2C3A7EFB3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642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D9A1A9-3C5B-47D5-AE49-DCE2C3A7EFB3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74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A0F5BBD-A0FB-4FC5-B3C5-272B85A6B311}" type="slidenum">
              <a:rPr lang="es-ES"/>
              <a:pPr algn="r" eaLnBrk="1" hangingPunct="1"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1">
              <a:latin typeface="Arial" panose="020B0604020202020204" pitchFamily="34" charset="0"/>
            </a:endParaRPr>
          </a:p>
          <a:p>
            <a:pPr eaLnBrk="1" hangingPunct="1"/>
            <a:endParaRPr lang="en-US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472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A0F5BBD-A0FB-4FC5-B3C5-272B85A6B311}" type="slidenum">
              <a:rPr lang="es-ES"/>
              <a:pPr algn="r" eaLnBrk="1" hangingPunct="1"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646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A0F5BBD-A0FB-4FC5-B3C5-272B85A6B311}" type="slidenum">
              <a:rPr lang="es-ES"/>
              <a:pPr algn="r" eaLnBrk="1" hangingPunct="1"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070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FFD9574-35F8-458D-8E6D-D04D9D3EBBF5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1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804E1E-FB20-4BFD-8530-C79508007F7F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76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7ACC37-8281-41CD-A74C-320EDF8C9899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057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7ACC37-8281-41CD-A74C-320EDF8C9899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843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7ACC37-8281-41CD-A74C-320EDF8C9899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30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7ACC37-8281-41CD-A74C-320EDF8C9899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910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BF2BDD-499A-405A-AC82-FC85C2DD9BAA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66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1B035CC-D887-4F64-A905-FC218436E0EA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73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1B035CC-D887-4F64-A905-FC218436E0EA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009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3C9155-DC2D-48BB-A6FE-F421D385E629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54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97C268-8564-498B-8BB2-E8452473272B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5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9A041-E9B2-4B3D-9AE6-ED87591C118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25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622E6-59D5-40B3-B61B-ABFBB176862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73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DAB494-B441-42FD-BD35-94DA890C4C2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981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901C1-1078-46A9-9EF4-CD8E1D74084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09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1ACF-777A-4BB5-B2AA-F38BDAB358B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095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583DC-882E-4941-82F2-F00EE9A14E9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47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49D83-B4B2-4876-9ECE-8B92D59C99B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636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C09B0-0287-4601-BF90-D99D3BB84D3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945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10281-2E24-440D-A0F6-9650B01D744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86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30517-435F-470E-B0A1-604A666EFC9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278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A4EDA-6AB5-4A30-A9B9-5E4B31CE4F5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9501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9CF0F-B6CA-419F-A0A1-260C29EC4FD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988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2D6EDAC-99D4-495C-87B2-C08DC1113A4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33.png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1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0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9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10" Type="http://schemas.openxmlformats.org/officeDocument/2006/relationships/image" Target="../media/image9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13.png"/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5.wmf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32.wmf"/><Relationship Id="rId3" Type="http://schemas.openxmlformats.org/officeDocument/2006/relationships/image" Target="../media/image13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4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1624013" y="3221038"/>
            <a:ext cx="8239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CARGA ELÉCTRICA Y MATERIA. CAMPO ELÉCTRICO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278438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(4/5)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1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6310314" y="5021133"/>
            <a:ext cx="4360864" cy="1867709"/>
            <a:chOff x="6310314" y="5021133"/>
            <a:chExt cx="4360864" cy="1867709"/>
          </a:xfrm>
        </p:grpSpPr>
        <p:grpSp>
          <p:nvGrpSpPr>
            <p:cNvPr id="20" name="Grupo 19"/>
            <p:cNvGrpSpPr/>
            <p:nvPr/>
          </p:nvGrpSpPr>
          <p:grpSpPr>
            <a:xfrm>
              <a:off x="6310314" y="5021133"/>
              <a:ext cx="4360864" cy="1865782"/>
              <a:chOff x="6310314" y="5021133"/>
              <a:chExt cx="4360864" cy="1865782"/>
            </a:xfrm>
          </p:grpSpPr>
          <p:grpSp>
            <p:nvGrpSpPr>
              <p:cNvPr id="21" name="Group 14"/>
              <p:cNvGrpSpPr>
                <a:grpSpLocks/>
              </p:cNvGrpSpPr>
              <p:nvPr/>
            </p:nvGrpSpPr>
            <p:grpSpPr bwMode="auto">
              <a:xfrm>
                <a:off x="6310314" y="5021133"/>
                <a:ext cx="4360864" cy="1865313"/>
                <a:chOff x="3975" y="3030"/>
                <a:chExt cx="2747" cy="1175"/>
              </a:xfrm>
            </p:grpSpPr>
            <p:sp>
              <p:nvSpPr>
                <p:cNvPr id="24" name="AutoShape 1056"/>
                <p:cNvSpPr>
                  <a:spLocks noChangeArrowheads="1"/>
                </p:cNvSpPr>
                <p:nvPr/>
              </p:nvSpPr>
              <p:spPr bwMode="auto">
                <a:xfrm>
                  <a:off x="3975" y="3030"/>
                  <a:ext cx="2747" cy="1175"/>
                </a:xfrm>
                <a:prstGeom prst="foldedCorner">
                  <a:avLst>
                    <a:gd name="adj" fmla="val 12500"/>
                  </a:avLst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Trebuchet MS" panose="020B0603020202020204" pitchFamily="34" charset="0"/>
                  </a:endParaRPr>
                </a:p>
              </p:txBody>
            </p:sp>
            <p:sp>
              <p:nvSpPr>
                <p:cNvPr id="25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4070" y="3120"/>
                  <a:ext cx="2561" cy="523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 b="1">
                      <a:latin typeface="Trebuchet MS" panose="020B0603020202020204" pitchFamily="34" charset="0"/>
                    </a:rPr>
                    <a:t>PROBLEMA PROPUESTO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 b="1">
                      <a:latin typeface="Trebuchet MS" panose="020B0603020202020204" pitchFamily="34" charset="0"/>
                    </a:rPr>
                    <a:t>(1ª SESIÓN DE PROBLEMAS)</a:t>
                  </a:r>
                </a:p>
              </p:txBody>
            </p:sp>
            <p:sp>
              <p:nvSpPr>
                <p:cNvPr id="26" name="Text Box 1058"/>
                <p:cNvSpPr txBox="1">
                  <a:spLocks noChangeArrowheads="1"/>
                </p:cNvSpPr>
                <p:nvPr/>
              </p:nvSpPr>
              <p:spPr bwMode="auto">
                <a:xfrm>
                  <a:off x="4110" y="3767"/>
                  <a:ext cx="950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8000" tIns="72000" rIns="108000" bIns="72000" anchor="ctr" anchorCtr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FF0000"/>
                      </a:solidFill>
                      <a:latin typeface="Trebuchet MS" panose="020B0603020202020204" pitchFamily="34" charset="0"/>
                      <a:sym typeface="Wingdings" panose="05000000000000000000" pitchFamily="2" charset="2"/>
                    </a:rPr>
                    <a:t>Problema</a:t>
                  </a:r>
                  <a:endParaRPr lang="es-ES" sz="48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endParaRPr>
                </a:p>
              </p:txBody>
            </p:sp>
            <p:sp>
              <p:nvSpPr>
                <p:cNvPr id="27" name="Text Box 1062"/>
                <p:cNvSpPr txBox="1">
                  <a:spLocks noChangeArrowheads="1"/>
                </p:cNvSpPr>
                <p:nvPr/>
              </p:nvSpPr>
              <p:spPr bwMode="auto">
                <a:xfrm>
                  <a:off x="5528" y="3767"/>
                  <a:ext cx="753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8000" tIns="72000" rIns="108000" bIns="72000" anchor="ctr" anchorCtr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FF"/>
                      </a:solidFill>
                      <a:latin typeface="Trebuchet MS" panose="020B0603020202020204" pitchFamily="34" charset="0"/>
                    </a:rPr>
                    <a:t>Boletín</a:t>
                  </a:r>
                </a:p>
              </p:txBody>
            </p:sp>
          </p:grpSp>
          <p:sp>
            <p:nvSpPr>
              <p:cNvPr id="22" name="Text Box 1058"/>
              <p:cNvSpPr txBox="1">
                <a:spLocks noChangeArrowheads="1"/>
              </p:cNvSpPr>
              <p:nvPr/>
            </p:nvSpPr>
            <p:spPr bwMode="auto">
              <a:xfrm>
                <a:off x="7903294" y="6053737"/>
                <a:ext cx="729985" cy="833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48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</a:t>
                </a:r>
              </a:p>
            </p:txBody>
          </p:sp>
          <p:sp>
            <p:nvSpPr>
              <p:cNvPr id="23" name="Text Box 1058"/>
              <p:cNvSpPr txBox="1">
                <a:spLocks noChangeArrowheads="1"/>
              </p:cNvSpPr>
              <p:nvPr/>
            </p:nvSpPr>
            <p:spPr bwMode="auto">
              <a:xfrm>
                <a:off x="9836895" y="6053737"/>
                <a:ext cx="729985" cy="833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4800">
                    <a:solidFill>
                      <a:srgbClr val="0000FF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</a:t>
                </a:r>
              </a:p>
            </p:txBody>
          </p:sp>
        </p:grpSp>
        <p:sp>
          <p:nvSpPr>
            <p:cNvPr id="28" name="Text Box 1058"/>
            <p:cNvSpPr txBox="1">
              <a:spLocks noChangeArrowheads="1"/>
            </p:cNvSpPr>
            <p:nvPr/>
          </p:nvSpPr>
          <p:spPr bwMode="auto">
            <a:xfrm>
              <a:off x="8211321" y="6055664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</a:t>
              </a:r>
            </a:p>
          </p:txBody>
        </p:sp>
      </p:grpSp>
      <p:grpSp>
        <p:nvGrpSpPr>
          <p:cNvPr id="3" name="Group 23">
            <a:extLst>
              <a:ext uri="{FF2B5EF4-FFF2-40B4-BE49-F238E27FC236}">
                <a16:creationId xmlns:a16="http://schemas.microsoft.com/office/drawing/2014/main" id="{9FC93DF6-F5F5-B124-12BC-6EF41785688F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8463"/>
            <a:ext cx="2571750" cy="2395538"/>
            <a:chOff x="4896" y="276"/>
            <a:chExt cx="1620" cy="1509"/>
          </a:xfrm>
        </p:grpSpPr>
        <p:sp>
          <p:nvSpPr>
            <p:cNvPr id="4" name="AutoShape 1067">
              <a:extLst>
                <a:ext uri="{FF2B5EF4-FFF2-40B4-BE49-F238E27FC236}">
                  <a16:creationId xmlns:a16="http://schemas.microsoft.com/office/drawing/2014/main" id="{040772BA-0157-FB15-9F09-1FCC0EEDF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1620" cy="1509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Text Box 1068">
              <a:extLst>
                <a:ext uri="{FF2B5EF4-FFF2-40B4-BE49-F238E27FC236}">
                  <a16:creationId xmlns:a16="http://schemas.microsoft.com/office/drawing/2014/main" id="{F316185D-5DC4-385B-2303-26D2FABF2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415"/>
              <a:ext cx="133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GRUPOS DE PRÁCTICAS</a:t>
              </a:r>
            </a:p>
          </p:txBody>
        </p:sp>
        <p:sp>
          <p:nvSpPr>
            <p:cNvPr id="6" name="Text Box 1069">
              <a:extLst>
                <a:ext uri="{FF2B5EF4-FFF2-40B4-BE49-F238E27FC236}">
                  <a16:creationId xmlns:a16="http://schemas.microsoft.com/office/drawing/2014/main" id="{D4553097-0EB8-6B1D-C160-1F46F84B4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994"/>
              <a:ext cx="1336" cy="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HAY QUE APUNTARSE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7" name="Text Box 1062">
              <a:extLst>
                <a:ext uri="{FF2B5EF4-FFF2-40B4-BE49-F238E27FC236}">
                  <a16:creationId xmlns:a16="http://schemas.microsoft.com/office/drawing/2014/main" id="{697F7D55-9316-8C03-7EB5-350EF133D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" y="1457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>
            <a:extLst>
              <a:ext uri="{FF2B5EF4-FFF2-40B4-BE49-F238E27FC236}">
                <a16:creationId xmlns:a16="http://schemas.microsoft.com/office/drawing/2014/main" id="{DC4565CC-2F47-5791-96F4-E01C18C04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6" y="4930686"/>
            <a:ext cx="6668902" cy="36945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115" name="Rectangle 15"/>
          <p:cNvSpPr>
            <a:spLocks noChangeArrowheads="1"/>
          </p:cNvSpPr>
          <p:nvPr/>
        </p:nvSpPr>
        <p:spPr bwMode="auto">
          <a:xfrm>
            <a:off x="2542335" y="5347188"/>
            <a:ext cx="2678251" cy="36253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825625" y="60420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1825625" y="347980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1825625" y="45815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1825625" y="200025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5"/>
          <p:cNvSpPr>
            <a:spLocks noChangeArrowheads="1"/>
          </p:cNvSpPr>
          <p:nvPr/>
        </p:nvSpPr>
        <p:spPr bwMode="auto">
          <a:xfrm>
            <a:off x="1443038" y="566738"/>
            <a:ext cx="74469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1: CARGA ELÉCTRICA Y MATERIA.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CAMPO ELÉCTRICO</a:t>
            </a:r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1781175" y="1974850"/>
            <a:ext cx="70802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1.4.</a:t>
            </a:r>
          </a:p>
        </p:txBody>
      </p:sp>
      <p:sp>
        <p:nvSpPr>
          <p:cNvPr id="7178" name="Rectangle 7"/>
          <p:cNvSpPr>
            <a:spLocks noChangeArrowheads="1"/>
          </p:cNvSpPr>
          <p:nvPr/>
        </p:nvSpPr>
        <p:spPr bwMode="auto">
          <a:xfrm>
            <a:off x="2586038" y="1982788"/>
            <a:ext cx="7850187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Cuantización y Conservación.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Puntual y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Ley de Coulomb.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Principio de Superposición.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Campos debidos a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latin typeface="Arial" panose="020B0604020202020204" pitchFamily="34" charset="0"/>
              </a:rPr>
              <a:t>Líneas de Campo.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Conductores y Aislantes.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Cargas Inducidas.</a:t>
            </a:r>
            <a:endParaRPr lang="es-ES" sz="2000" b="1">
              <a:latin typeface="Arial" panose="020B0604020202020204" pitchFamily="34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8788552" y="319806"/>
            <a:ext cx="157425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02/10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01/10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30/09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7115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288710" y="496888"/>
            <a:ext cx="89011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1.3.2. CAMPOS DEBIDOS A DISTRIBUCIONES DE CARGA</a:t>
            </a:r>
          </a:p>
        </p:txBody>
      </p:sp>
      <p:grpSp>
        <p:nvGrpSpPr>
          <p:cNvPr id="3105" name="Group 33"/>
          <p:cNvGrpSpPr>
            <a:grpSpLocks/>
          </p:cNvGrpSpPr>
          <p:nvPr/>
        </p:nvGrpSpPr>
        <p:grpSpPr bwMode="auto">
          <a:xfrm>
            <a:off x="1754204" y="1074222"/>
            <a:ext cx="8245463" cy="473075"/>
            <a:chOff x="723" y="1057"/>
            <a:chExt cx="5194" cy="298"/>
          </a:xfrm>
        </p:grpSpPr>
        <p:sp>
          <p:nvSpPr>
            <p:cNvPr id="2" name="Text Box 4"/>
            <p:cNvSpPr txBox="1">
              <a:spLocks noChangeArrowheads="1"/>
            </p:cNvSpPr>
            <p:nvPr/>
          </p:nvSpPr>
          <p:spPr bwMode="auto">
            <a:xfrm>
              <a:off x="723" y="1057"/>
              <a:ext cx="1895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Distribución Discreta</a:t>
              </a:r>
            </a:p>
          </p:txBody>
        </p:sp>
        <p:sp>
          <p:nvSpPr>
            <p:cNvPr id="23590" name="Text Box 5"/>
            <p:cNvSpPr txBox="1">
              <a:spLocks noChangeArrowheads="1"/>
            </p:cNvSpPr>
            <p:nvPr/>
          </p:nvSpPr>
          <p:spPr bwMode="auto">
            <a:xfrm>
              <a:off x="3957" y="1063"/>
              <a:ext cx="1960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Distribución Continua</a:t>
              </a:r>
            </a:p>
          </p:txBody>
        </p:sp>
      </p:grpSp>
      <p:graphicFrame>
        <p:nvGraphicFramePr>
          <p:cNvPr id="23587" name="Object 6"/>
          <p:cNvGraphicFramePr>
            <a:graphicFrameLocks noChangeAspect="1"/>
          </p:cNvGraphicFramePr>
          <p:nvPr/>
        </p:nvGraphicFramePr>
        <p:xfrm>
          <a:off x="1314570" y="1833454"/>
          <a:ext cx="3873501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663560" imgH="444240" progId="Equation.3">
                  <p:embed/>
                </p:oleObj>
              </mc:Choice>
              <mc:Fallback>
                <p:oleObj name="Ecuación" r:id="rId3" imgW="1663560" imgH="444240" progId="Equation.3">
                  <p:embed/>
                  <p:pic>
                    <p:nvPicPr>
                      <p:cNvPr id="2358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570" y="1833454"/>
                        <a:ext cx="3873501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8" name="Object 7"/>
          <p:cNvGraphicFramePr>
            <a:graphicFrameLocks noChangeAspect="1"/>
          </p:cNvGraphicFramePr>
          <p:nvPr/>
        </p:nvGraphicFramePr>
        <p:xfrm>
          <a:off x="6615410" y="1863617"/>
          <a:ext cx="3636964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498320" imgH="393480" progId="Equation.3">
                  <p:embed/>
                </p:oleObj>
              </mc:Choice>
              <mc:Fallback>
                <p:oleObj name="Ecuación" r:id="rId5" imgW="1498320" imgH="393480" progId="Equation.3">
                  <p:embed/>
                  <p:pic>
                    <p:nvPicPr>
                      <p:cNvPr id="2358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410" y="1863617"/>
                        <a:ext cx="3636964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1360123" y="3440260"/>
            <a:ext cx="3671889" cy="1185864"/>
            <a:chOff x="1001" y="2461"/>
            <a:chExt cx="2313" cy="747"/>
          </a:xfrm>
        </p:grpSpPr>
        <p:sp>
          <p:nvSpPr>
            <p:cNvPr id="23591" name="Rectangle 12"/>
            <p:cNvSpPr>
              <a:spLocks noChangeArrowheads="1"/>
            </p:cNvSpPr>
            <p:nvPr/>
          </p:nvSpPr>
          <p:spPr bwMode="auto">
            <a:xfrm>
              <a:off x="1001" y="2461"/>
              <a:ext cx="2313" cy="747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3584" name="Object 10"/>
            <p:cNvGraphicFramePr>
              <a:graphicFrameLocks noChangeAspect="1"/>
            </p:cNvGraphicFramePr>
            <p:nvPr/>
          </p:nvGraphicFramePr>
          <p:xfrm>
            <a:off x="1021" y="2521"/>
            <a:ext cx="1639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117440" imgH="444240" progId="Equation.3">
                    <p:embed/>
                  </p:oleObj>
                </mc:Choice>
                <mc:Fallback>
                  <p:oleObj name="Ecuación" r:id="rId7" imgW="1117440" imgH="444240" progId="Equation.3">
                    <p:embed/>
                    <p:pic>
                      <p:nvPicPr>
                        <p:cNvPr id="2358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1" y="2521"/>
                          <a:ext cx="1639" cy="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675236" y="3468553"/>
            <a:ext cx="3500438" cy="1185864"/>
            <a:chOff x="3789" y="3134"/>
            <a:chExt cx="2205" cy="747"/>
          </a:xfrm>
        </p:grpSpPr>
        <p:sp>
          <p:nvSpPr>
            <p:cNvPr id="23589" name="Rectangle 13"/>
            <p:cNvSpPr>
              <a:spLocks noChangeArrowheads="1"/>
            </p:cNvSpPr>
            <p:nvPr/>
          </p:nvSpPr>
          <p:spPr bwMode="auto">
            <a:xfrm>
              <a:off x="3789" y="3134"/>
              <a:ext cx="2205" cy="747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3582" name="Object 11"/>
            <p:cNvGraphicFramePr>
              <a:graphicFrameLocks noChangeAspect="1"/>
            </p:cNvGraphicFramePr>
            <p:nvPr/>
          </p:nvGraphicFramePr>
          <p:xfrm>
            <a:off x="3810" y="3213"/>
            <a:ext cx="1553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015920" imgH="393480" progId="Equation.3">
                    <p:embed/>
                  </p:oleObj>
                </mc:Choice>
                <mc:Fallback>
                  <p:oleObj name="Ecuación" r:id="rId9" imgW="1015920" imgH="393480" progId="Equation.3">
                    <p:embed/>
                    <p:pic>
                      <p:nvPicPr>
                        <p:cNvPr id="2358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" y="3213"/>
                          <a:ext cx="1553" cy="6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9758" name="Object 14"/>
          <p:cNvGraphicFramePr>
            <a:graphicFrameLocks noChangeAspect="1"/>
          </p:cNvGraphicFramePr>
          <p:nvPr/>
        </p:nvGraphicFramePr>
        <p:xfrm>
          <a:off x="3902379" y="3603465"/>
          <a:ext cx="1210935" cy="89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583920" imgH="431640" progId="Equation.3">
                  <p:embed/>
                </p:oleObj>
              </mc:Choice>
              <mc:Fallback>
                <p:oleObj name="Ecuación" r:id="rId11" imgW="583920" imgH="431640" progId="Equation.3">
                  <p:embed/>
                  <p:pic>
                    <p:nvPicPr>
                      <p:cNvPr id="15975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379" y="3603465"/>
                        <a:ext cx="1210935" cy="895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9" name="Object 15"/>
          <p:cNvGraphicFramePr>
            <a:graphicFrameLocks noChangeAspect="1"/>
          </p:cNvGraphicFramePr>
          <p:nvPr/>
        </p:nvGraphicFramePr>
        <p:xfrm>
          <a:off x="9104904" y="3770798"/>
          <a:ext cx="11414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507960" imgH="279360" progId="Equation.3">
                  <p:embed/>
                </p:oleObj>
              </mc:Choice>
              <mc:Fallback>
                <p:oleObj name="Ecuación" r:id="rId13" imgW="507960" imgH="279360" progId="Equation.3">
                  <p:embed/>
                  <p:pic>
                    <p:nvPicPr>
                      <p:cNvPr id="1597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4904" y="3770798"/>
                        <a:ext cx="11414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0" name="Text Box 25"/>
          <p:cNvSpPr txBox="1">
            <a:spLocks noChangeArrowheads="1"/>
          </p:cNvSpPr>
          <p:nvPr/>
        </p:nvSpPr>
        <p:spPr bwMode="auto">
          <a:xfrm>
            <a:off x="1810369" y="5947679"/>
            <a:ext cx="7976359" cy="514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campo eléctrico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verifica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Principio de Superposición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3572" name="Rectangle 26"/>
          <p:cNvSpPr>
            <a:spLocks noChangeArrowheads="1"/>
          </p:cNvSpPr>
          <p:nvPr/>
        </p:nvSpPr>
        <p:spPr bwMode="auto">
          <a:xfrm>
            <a:off x="2589894" y="3520298"/>
            <a:ext cx="1308103" cy="1017585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73" name="Rectangle 27"/>
          <p:cNvSpPr>
            <a:spLocks noChangeArrowheads="1"/>
          </p:cNvSpPr>
          <p:nvPr/>
        </p:nvSpPr>
        <p:spPr bwMode="auto">
          <a:xfrm>
            <a:off x="7711180" y="3534585"/>
            <a:ext cx="1368428" cy="1017585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74" name="Text Box 29"/>
          <p:cNvSpPr txBox="1">
            <a:spLocks noChangeArrowheads="1"/>
          </p:cNvSpPr>
          <p:nvPr/>
        </p:nvSpPr>
        <p:spPr bwMode="auto">
          <a:xfrm>
            <a:off x="3799210" y="4704299"/>
            <a:ext cx="4035434" cy="1201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Campo creado por cada carga puntual donde está q,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P</a:t>
            </a:r>
            <a:r>
              <a:rPr lang="es-ES" sz="2400">
                <a:solidFill>
                  <a:srgbClr val="EDE7E3"/>
                </a:solidFill>
                <a:latin typeface="Arial" panose="020B0604020202020204" pitchFamily="34" charset="0"/>
              </a:rPr>
              <a:t>,</a:t>
            </a:r>
            <a:r>
              <a:rPr lang="es-ES" sz="2400" baseline="-25000">
                <a:solidFill>
                  <a:srgbClr val="EDE7E3"/>
                </a:solidFill>
                <a:latin typeface="Arial" panose="020B0604020202020204" pitchFamily="34" charset="0"/>
              </a:rPr>
              <a:t> </a:t>
            </a:r>
            <a:r>
              <a:rPr lang="es-ES" sz="2400" u="sng">
                <a:solidFill>
                  <a:srgbClr val="EDE7E3"/>
                </a:solidFill>
                <a:latin typeface="Arial" panose="020B0604020202020204" pitchFamily="34" charset="0"/>
              </a:rPr>
              <a:t>por separado</a:t>
            </a:r>
            <a:endParaRPr lang="es-ES" sz="2400" u="sng" dirty="0">
              <a:solidFill>
                <a:srgbClr val="EDE7E3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FB43689-F64D-4938-B751-E7237ADA5503}"/>
              </a:ext>
            </a:extLst>
          </p:cNvPr>
          <p:cNvGrpSpPr/>
          <p:nvPr/>
        </p:nvGrpSpPr>
        <p:grpSpPr>
          <a:xfrm>
            <a:off x="3201165" y="4539988"/>
            <a:ext cx="5125660" cy="407318"/>
            <a:chOff x="3174627" y="4652480"/>
            <a:chExt cx="5125660" cy="407318"/>
          </a:xfrm>
        </p:grpSpPr>
        <p:sp>
          <p:nvSpPr>
            <p:cNvPr id="23575" name="Line 46"/>
            <p:cNvSpPr>
              <a:spLocks noChangeShapeType="1"/>
            </p:cNvSpPr>
            <p:nvPr/>
          </p:nvSpPr>
          <p:spPr bwMode="auto">
            <a:xfrm flipH="1">
              <a:off x="3183620" y="4652480"/>
              <a:ext cx="4763" cy="40731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576" name="Line 47"/>
            <p:cNvSpPr>
              <a:spLocks noChangeShapeType="1"/>
            </p:cNvSpPr>
            <p:nvPr/>
          </p:nvSpPr>
          <p:spPr bwMode="auto">
            <a:xfrm flipH="1">
              <a:off x="8289219" y="4688645"/>
              <a:ext cx="0" cy="332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cxnSp>
          <p:nvCxnSpPr>
            <p:cNvPr id="23570" name="Conector recto 5"/>
            <p:cNvCxnSpPr>
              <a:cxnSpLocks noChangeShapeType="1"/>
            </p:cNvCxnSpPr>
            <p:nvPr/>
          </p:nvCxnSpPr>
          <p:spPr bwMode="auto">
            <a:xfrm flipV="1">
              <a:off x="3174627" y="5053014"/>
              <a:ext cx="637877" cy="4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1" name="Conector recto 48"/>
            <p:cNvCxnSpPr>
              <a:cxnSpLocks noChangeShapeType="1"/>
            </p:cNvCxnSpPr>
            <p:nvPr/>
          </p:nvCxnSpPr>
          <p:spPr bwMode="auto">
            <a:xfrm>
              <a:off x="7739054" y="5032920"/>
              <a:ext cx="561233" cy="1766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Forma libre 2"/>
          <p:cNvSpPr/>
          <p:nvPr/>
        </p:nvSpPr>
        <p:spPr bwMode="auto">
          <a:xfrm>
            <a:off x="3190003" y="1709577"/>
            <a:ext cx="1292994" cy="310139"/>
          </a:xfrm>
          <a:custGeom>
            <a:avLst/>
            <a:gdLst>
              <a:gd name="connsiteX0" fmla="*/ 1331753 w 1331753"/>
              <a:gd name="connsiteY0" fmla="*/ 259897 h 310139"/>
              <a:gd name="connsiteX1" fmla="*/ 789142 w 1331753"/>
              <a:gd name="connsiteY1" fmla="*/ 18737 h 310139"/>
              <a:gd name="connsiteX2" fmla="*/ 115902 w 1331753"/>
              <a:gd name="connsiteY2" fmla="*/ 48882 h 310139"/>
              <a:gd name="connsiteX3" fmla="*/ 5371 w 1331753"/>
              <a:gd name="connsiteY3" fmla="*/ 310139 h 31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1753" h="310139">
                <a:moveTo>
                  <a:pt x="1331753" y="259897"/>
                </a:moveTo>
                <a:cubicBezTo>
                  <a:pt x="1161768" y="156901"/>
                  <a:pt x="991784" y="53906"/>
                  <a:pt x="789142" y="18737"/>
                </a:cubicBezTo>
                <a:cubicBezTo>
                  <a:pt x="586500" y="-16432"/>
                  <a:pt x="246530" y="315"/>
                  <a:pt x="115902" y="48882"/>
                </a:cubicBezTo>
                <a:cubicBezTo>
                  <a:pt x="-14726" y="97449"/>
                  <a:pt x="-4678" y="203794"/>
                  <a:pt x="5371" y="310139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3" name="Forma libre 32"/>
          <p:cNvSpPr/>
          <p:nvPr/>
        </p:nvSpPr>
        <p:spPr bwMode="auto">
          <a:xfrm>
            <a:off x="8296254" y="1711250"/>
            <a:ext cx="1292994" cy="310139"/>
          </a:xfrm>
          <a:custGeom>
            <a:avLst/>
            <a:gdLst>
              <a:gd name="connsiteX0" fmla="*/ 1331753 w 1331753"/>
              <a:gd name="connsiteY0" fmla="*/ 259897 h 310139"/>
              <a:gd name="connsiteX1" fmla="*/ 789142 w 1331753"/>
              <a:gd name="connsiteY1" fmla="*/ 18737 h 310139"/>
              <a:gd name="connsiteX2" fmla="*/ 115902 w 1331753"/>
              <a:gd name="connsiteY2" fmla="*/ 48882 h 310139"/>
              <a:gd name="connsiteX3" fmla="*/ 5371 w 1331753"/>
              <a:gd name="connsiteY3" fmla="*/ 310139 h 31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1753" h="310139">
                <a:moveTo>
                  <a:pt x="1331753" y="259897"/>
                </a:moveTo>
                <a:cubicBezTo>
                  <a:pt x="1161768" y="156901"/>
                  <a:pt x="991784" y="53906"/>
                  <a:pt x="789142" y="18737"/>
                </a:cubicBezTo>
                <a:cubicBezTo>
                  <a:pt x="586500" y="-16432"/>
                  <a:pt x="246530" y="315"/>
                  <a:pt x="115902" y="48882"/>
                </a:cubicBezTo>
                <a:cubicBezTo>
                  <a:pt x="-14726" y="97449"/>
                  <a:pt x="-4678" y="203794"/>
                  <a:pt x="5371" y="310139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449591DA-C100-444C-B118-4664864E01E3}"/>
              </a:ext>
            </a:extLst>
          </p:cNvPr>
          <p:cNvSpPr/>
          <p:nvPr/>
        </p:nvSpPr>
        <p:spPr bwMode="auto">
          <a:xfrm>
            <a:off x="5221376" y="2344917"/>
            <a:ext cx="432079" cy="1728000"/>
          </a:xfrm>
          <a:custGeom>
            <a:avLst/>
            <a:gdLst>
              <a:gd name="connsiteX0" fmla="*/ 0 w 432079"/>
              <a:gd name="connsiteY0" fmla="*/ 0 h 2069960"/>
              <a:gd name="connsiteX1" fmla="*/ 432079 w 432079"/>
              <a:gd name="connsiteY1" fmla="*/ 0 h 2069960"/>
              <a:gd name="connsiteX2" fmla="*/ 422031 w 432079"/>
              <a:gd name="connsiteY2" fmla="*/ 2069960 h 2069960"/>
              <a:gd name="connsiteX3" fmla="*/ 0 w 432079"/>
              <a:gd name="connsiteY3" fmla="*/ 2069960 h 206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79" h="2069960">
                <a:moveTo>
                  <a:pt x="0" y="0"/>
                </a:moveTo>
                <a:lnTo>
                  <a:pt x="432079" y="0"/>
                </a:lnTo>
                <a:cubicBezTo>
                  <a:pt x="428730" y="689987"/>
                  <a:pt x="425380" y="1379973"/>
                  <a:pt x="422031" y="2069960"/>
                </a:cubicBezTo>
                <a:lnTo>
                  <a:pt x="0" y="2069960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F70ED22F-098A-4F10-AF79-0BA3E4510311}"/>
              </a:ext>
            </a:extLst>
          </p:cNvPr>
          <p:cNvSpPr/>
          <p:nvPr/>
        </p:nvSpPr>
        <p:spPr bwMode="auto">
          <a:xfrm flipH="1">
            <a:off x="5960347" y="2346594"/>
            <a:ext cx="432079" cy="1728000"/>
          </a:xfrm>
          <a:custGeom>
            <a:avLst/>
            <a:gdLst>
              <a:gd name="connsiteX0" fmla="*/ 0 w 432079"/>
              <a:gd name="connsiteY0" fmla="*/ 0 h 2069960"/>
              <a:gd name="connsiteX1" fmla="*/ 432079 w 432079"/>
              <a:gd name="connsiteY1" fmla="*/ 0 h 2069960"/>
              <a:gd name="connsiteX2" fmla="*/ 422031 w 432079"/>
              <a:gd name="connsiteY2" fmla="*/ 2069960 h 2069960"/>
              <a:gd name="connsiteX3" fmla="*/ 0 w 432079"/>
              <a:gd name="connsiteY3" fmla="*/ 2069960 h 206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79" h="2069960">
                <a:moveTo>
                  <a:pt x="0" y="0"/>
                </a:moveTo>
                <a:lnTo>
                  <a:pt x="432079" y="0"/>
                </a:lnTo>
                <a:cubicBezTo>
                  <a:pt x="428730" y="689987"/>
                  <a:pt x="425380" y="1379973"/>
                  <a:pt x="422031" y="2069960"/>
                </a:cubicBezTo>
                <a:lnTo>
                  <a:pt x="0" y="2069960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5160963" y="2614613"/>
            <a:ext cx="1318953" cy="1161592"/>
            <a:chOff x="966140" y="4043238"/>
            <a:chExt cx="1318953" cy="1161592"/>
          </a:xfrm>
        </p:grpSpPr>
        <p:sp>
          <p:nvSpPr>
            <p:cNvPr id="11" name="Rectangle 43"/>
            <p:cNvSpPr>
              <a:spLocks noChangeArrowheads="1"/>
            </p:cNvSpPr>
            <p:nvPr/>
          </p:nvSpPr>
          <p:spPr bwMode="auto">
            <a:xfrm>
              <a:off x="971214" y="4057543"/>
              <a:ext cx="1313879" cy="11472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179"/>
                <p:cNvSpPr txBox="1"/>
                <p:nvPr/>
              </p:nvSpPr>
              <p:spPr bwMode="auto">
                <a:xfrm>
                  <a:off x="966140" y="4043238"/>
                  <a:ext cx="1313879" cy="11160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s-E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es-E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es-E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s-ES" sz="2400"/>
                </a:p>
              </p:txBody>
            </p:sp>
          </mc:Choice>
          <mc:Fallback xmlns="">
            <p:sp>
              <p:nvSpPr>
                <p:cNvPr id="12" name="Object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6140" y="4043238"/>
                  <a:ext cx="1313879" cy="111601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 Box 29">
            <a:extLst>
              <a:ext uri="{FF2B5EF4-FFF2-40B4-BE49-F238E27FC236}">
                <a16:creationId xmlns:a16="http://schemas.microsoft.com/office/drawing/2014/main" id="{399F1D64-2D85-47AC-B686-CC1C330F2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370" y="6472882"/>
            <a:ext cx="797635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Algo esperable al ser una "fuerza" por unidad de carga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814D27F4-477E-FA96-D544-9A4719C2C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338" y="5431718"/>
            <a:ext cx="403543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,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u="sng" dirty="0">
                <a:solidFill>
                  <a:srgbClr val="FF0000"/>
                </a:solidFill>
                <a:latin typeface="Arial" panose="020B0604020202020204" pitchFamily="34" charset="0"/>
              </a:rPr>
              <a:t>por separado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3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0" grpId="0" animBg="1"/>
      <p:bldP spid="23572" grpId="0" animBg="1"/>
      <p:bldP spid="23573" grpId="0" animBg="1"/>
      <p:bldP spid="23574" grpId="0"/>
      <p:bldP spid="3" grpId="0" animBg="1"/>
      <p:bldP spid="33" grpId="0" animBg="1"/>
      <p:bldP spid="8" grpId="0" animBg="1"/>
      <p:bldP spid="35" grpId="0" animBg="1"/>
      <p:bldP spid="3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1288843" y="495094"/>
            <a:ext cx="88677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569" tIns="49785" rIns="99569" bIns="49785" anchor="ctr"/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1.3.3. CAMPO ELÉCTRICO: LÍNEAS DE CAMPO</a:t>
            </a:r>
          </a:p>
        </p:txBody>
      </p: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7791382" y="1905473"/>
            <a:ext cx="1054100" cy="911225"/>
            <a:chOff x="4756" y="1349"/>
            <a:chExt cx="664" cy="574"/>
          </a:xfrm>
        </p:grpSpPr>
        <p:sp>
          <p:nvSpPr>
            <p:cNvPr id="33821" name="Line 27"/>
            <p:cNvSpPr>
              <a:spLocks noChangeShapeType="1"/>
            </p:cNvSpPr>
            <p:nvPr/>
          </p:nvSpPr>
          <p:spPr bwMode="auto">
            <a:xfrm flipH="1">
              <a:off x="4756" y="1923"/>
              <a:ext cx="66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3822" name="Object 28"/>
            <p:cNvGraphicFramePr>
              <a:graphicFrameLocks noChangeAspect="1"/>
            </p:cNvGraphicFramePr>
            <p:nvPr/>
          </p:nvGraphicFramePr>
          <p:xfrm>
            <a:off x="5024" y="1349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579" imgH="177646" progId="Equation.3">
                    <p:embed/>
                  </p:oleObj>
                </mc:Choice>
                <mc:Fallback>
                  <p:oleObj name="Ecuación" r:id="rId3" imgW="139579" imgH="177646" progId="Equation.3">
                    <p:embed/>
                    <p:pic>
                      <p:nvPicPr>
                        <p:cNvPr id="3382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349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upo 2"/>
          <p:cNvGrpSpPr/>
          <p:nvPr/>
        </p:nvGrpSpPr>
        <p:grpSpPr>
          <a:xfrm>
            <a:off x="9312228" y="2049302"/>
            <a:ext cx="560366" cy="764221"/>
            <a:chOff x="4836860" y="1910717"/>
            <a:chExt cx="560366" cy="764221"/>
          </a:xfrm>
        </p:grpSpPr>
        <p:sp>
          <p:nvSpPr>
            <p:cNvPr id="33" name="Line 62"/>
            <p:cNvSpPr>
              <a:spLocks noChangeShapeType="1"/>
            </p:cNvSpPr>
            <p:nvPr/>
          </p:nvSpPr>
          <p:spPr bwMode="auto">
            <a:xfrm>
              <a:off x="4857476" y="2674938"/>
              <a:ext cx="539750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4" name="Object 63"/>
            <p:cNvGraphicFramePr>
              <a:graphicFrameLocks noChangeAspect="1"/>
            </p:cNvGraphicFramePr>
            <p:nvPr/>
          </p:nvGraphicFramePr>
          <p:xfrm>
            <a:off x="4836860" y="1910717"/>
            <a:ext cx="418523" cy="586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26720" imgH="177480" progId="Equation.3">
                    <p:embed/>
                  </p:oleObj>
                </mc:Choice>
                <mc:Fallback>
                  <p:oleObj name="Ecuación" r:id="rId5" imgW="126720" imgH="177480" progId="Equation.3">
                    <p:embed/>
                    <p:pic>
                      <p:nvPicPr>
                        <p:cNvPr id="34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860" y="1910717"/>
                          <a:ext cx="418523" cy="586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6139599" y="1695890"/>
            <a:ext cx="4143375" cy="2216150"/>
            <a:chOff x="3787" y="1199"/>
            <a:chExt cx="2610" cy="1396"/>
          </a:xfrm>
        </p:grpSpPr>
        <p:sp>
          <p:nvSpPr>
            <p:cNvPr id="33823" name="Rectangle 2"/>
            <p:cNvSpPr>
              <a:spLocks noChangeArrowheads="1"/>
            </p:cNvSpPr>
            <p:nvPr/>
          </p:nvSpPr>
          <p:spPr bwMode="auto">
            <a:xfrm>
              <a:off x="3787" y="1199"/>
              <a:ext cx="2610" cy="1396"/>
            </a:xfrm>
            <a:prstGeom prst="rect">
              <a:avLst/>
            </a:prstGeom>
            <a:noFill/>
            <a:ln w="38100" algn="ctr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24" name="Text Box 19"/>
            <p:cNvSpPr txBox="1">
              <a:spLocks noChangeArrowheads="1"/>
            </p:cNvSpPr>
            <p:nvPr/>
          </p:nvSpPr>
          <p:spPr bwMode="auto">
            <a:xfrm>
              <a:off x="3882" y="2219"/>
              <a:ext cx="8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ESPACIO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6D15C0F-2931-4848-9D3A-14A2F7A2BDD7}"/>
              </a:ext>
            </a:extLst>
          </p:cNvPr>
          <p:cNvGrpSpPr/>
          <p:nvPr/>
        </p:nvGrpSpPr>
        <p:grpSpPr>
          <a:xfrm>
            <a:off x="1430735" y="4753396"/>
            <a:ext cx="3413125" cy="1373187"/>
            <a:chOff x="1430735" y="3913408"/>
            <a:chExt cx="3413125" cy="1373187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F9E3E9E8-CD38-4BE8-B63F-8702C3231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735" y="3913408"/>
              <a:ext cx="3413125" cy="137318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D02F7FFE-0922-4EC8-8867-DE8D63CDA831}"/>
                    </a:ext>
                  </a:extLst>
                </p:cNvPr>
                <p:cNvSpPr txBox="1"/>
                <p:nvPr/>
              </p:nvSpPr>
              <p:spPr>
                <a:xfrm>
                  <a:off x="1790463" y="4197854"/>
                  <a:ext cx="2874748" cy="7949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acc>
                      <m:r>
                        <a:rPr lang="es-E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ctrlPr>
                            <a:rPr lang="es-E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Qq</m:t>
                          </m:r>
                        </m:num>
                        <m:den>
                          <m:sSup>
                            <m:sSupPr>
                              <m:ctrlPr>
                                <a:rPr lang="es-ES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3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s-ES" sz="3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s-E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acc>
                    </m:oMath>
                  </a14:m>
                  <a:r>
                    <a:rPr lang="es-ES" sz="3600" dirty="0">
                      <a:solidFill>
                        <a:schemeClr val="tx1"/>
                      </a:solidFill>
                      <a:latin typeface="+mj-lt"/>
                    </a:rPr>
                    <a:t>  </a:t>
                  </a:r>
                  <a:endParaRPr lang="es-ES" sz="40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D02F7FFE-0922-4EC8-8867-DE8D63CDA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0463" y="4197854"/>
                  <a:ext cx="2874748" cy="794961"/>
                </a:xfrm>
                <a:prstGeom prst="rect">
                  <a:avLst/>
                </a:prstGeom>
                <a:blipFill>
                  <a:blip r:embed="rId8"/>
                  <a:stretch>
                    <a:fillRect l="-21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08AD87B-E8A6-44FA-944F-88B379EC32A0}"/>
              </a:ext>
            </a:extLst>
          </p:cNvPr>
          <p:cNvGrpSpPr/>
          <p:nvPr/>
        </p:nvGrpSpPr>
        <p:grpSpPr>
          <a:xfrm>
            <a:off x="4997224" y="4557216"/>
            <a:ext cx="1557500" cy="2345097"/>
            <a:chOff x="4829609" y="4649911"/>
            <a:chExt cx="1557500" cy="2345097"/>
          </a:xfrm>
        </p:grpSpPr>
        <p:sp>
          <p:nvSpPr>
            <p:cNvPr id="33812" name="Text Box 78"/>
            <p:cNvSpPr txBox="1">
              <a:spLocks noChangeArrowheads="1"/>
            </p:cNvSpPr>
            <p:nvPr/>
          </p:nvSpPr>
          <p:spPr bwMode="auto">
            <a:xfrm>
              <a:off x="4829609" y="5517680"/>
              <a:ext cx="1557500" cy="147732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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Y una fuerza 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por unidad de carga</a:t>
              </a:r>
            </a:p>
          </p:txBody>
        </p:sp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87545494-7422-4F5E-82C7-B2598730AC2C}"/>
                </a:ext>
              </a:extLst>
            </p:cNvPr>
            <p:cNvSpPr/>
            <p:nvPr/>
          </p:nvSpPr>
          <p:spPr bwMode="auto">
            <a:xfrm>
              <a:off x="5208998" y="4649911"/>
              <a:ext cx="797039" cy="794961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3" name="Text Box 77">
            <a:extLst>
              <a:ext uri="{FF2B5EF4-FFF2-40B4-BE49-F238E27FC236}">
                <a16:creationId xmlns:a16="http://schemas.microsoft.com/office/drawing/2014/main" id="{5FA77767-DFF5-4883-AEDC-FD2D60643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710" y="5827171"/>
            <a:ext cx="3413125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Campo Eléctrico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E6BC344-31B7-44BB-B991-86C862F42878}"/>
              </a:ext>
            </a:extLst>
          </p:cNvPr>
          <p:cNvGrpSpPr/>
          <p:nvPr/>
        </p:nvGrpSpPr>
        <p:grpSpPr>
          <a:xfrm>
            <a:off x="6786710" y="4337792"/>
            <a:ext cx="3413125" cy="1373188"/>
            <a:chOff x="6542151" y="3912475"/>
            <a:chExt cx="3413125" cy="1373188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172EC174-A378-48B7-85C1-239CDD6E9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2151" y="3912475"/>
              <a:ext cx="3413125" cy="13731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9" name="Object 44">
              <a:extLst>
                <a:ext uri="{FF2B5EF4-FFF2-40B4-BE49-F238E27FC236}">
                  <a16:creationId xmlns:a16="http://schemas.microsoft.com/office/drawing/2014/main" id="{07F44C04-F24D-4973-8F84-0AF0759573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29589" y="3958981"/>
            <a:ext cx="2016125" cy="1279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698400" imgH="444240" progId="Equation.3">
                    <p:embed/>
                  </p:oleObj>
                </mc:Choice>
                <mc:Fallback>
                  <p:oleObj name="Ecuación" r:id="rId9" imgW="698400" imgH="444240" progId="Equation.3">
                    <p:embed/>
                    <p:pic>
                      <p:nvPicPr>
                        <p:cNvPr id="59" name="Object 44">
                          <a:extLst>
                            <a:ext uri="{FF2B5EF4-FFF2-40B4-BE49-F238E27FC236}">
                              <a16:creationId xmlns:a16="http://schemas.microsoft.com/office/drawing/2014/main" id="{07F44C04-F24D-4973-8F84-0AF0759573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9589" y="3958981"/>
                          <a:ext cx="2016125" cy="1279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44">
              <a:extLst>
                <a:ext uri="{FF2B5EF4-FFF2-40B4-BE49-F238E27FC236}">
                  <a16:creationId xmlns:a16="http://schemas.microsoft.com/office/drawing/2014/main" id="{283C924D-CD8E-4860-B638-F03FDB59F1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69042" y="4206163"/>
            <a:ext cx="769937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266400" imgH="203040" progId="Equation.3">
                    <p:embed/>
                  </p:oleObj>
                </mc:Choice>
                <mc:Fallback>
                  <p:oleObj name="Ecuación" r:id="rId11" imgW="266400" imgH="203040" progId="Equation.3">
                    <p:embed/>
                    <p:pic>
                      <p:nvPicPr>
                        <p:cNvPr id="60" name="Object 44">
                          <a:extLst>
                            <a:ext uri="{FF2B5EF4-FFF2-40B4-BE49-F238E27FC236}">
                              <a16:creationId xmlns:a16="http://schemas.microsoft.com/office/drawing/2014/main" id="{283C924D-CD8E-4860-B638-F03FDB59F1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9042" y="4206163"/>
                          <a:ext cx="769937" cy="584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Group 7">
            <a:extLst>
              <a:ext uri="{FF2B5EF4-FFF2-40B4-BE49-F238E27FC236}">
                <a16:creationId xmlns:a16="http://schemas.microsoft.com/office/drawing/2014/main" id="{F7DAD5BB-19EB-4A76-AC0A-A177BE39F4F4}"/>
              </a:ext>
            </a:extLst>
          </p:cNvPr>
          <p:cNvGrpSpPr>
            <a:grpSpLocks/>
          </p:cNvGrpSpPr>
          <p:nvPr/>
        </p:nvGrpSpPr>
        <p:grpSpPr bwMode="auto">
          <a:xfrm>
            <a:off x="6761928" y="1984907"/>
            <a:ext cx="457200" cy="1046163"/>
            <a:chOff x="4051" y="1389"/>
            <a:chExt cx="288" cy="659"/>
          </a:xfrm>
        </p:grpSpPr>
        <p:pic>
          <p:nvPicPr>
            <p:cNvPr id="62" name="Picture 8">
              <a:extLst>
                <a:ext uri="{FF2B5EF4-FFF2-40B4-BE49-F238E27FC236}">
                  <a16:creationId xmlns:a16="http://schemas.microsoft.com/office/drawing/2014/main" id="{9BD85A2A-25FB-439B-AF78-3051700B1F2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7" y="177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" name="Text Box 9">
              <a:extLst>
                <a:ext uri="{FF2B5EF4-FFF2-40B4-BE49-F238E27FC236}">
                  <a16:creationId xmlns:a16="http://schemas.microsoft.com/office/drawing/2014/main" id="{AE8E4377-6100-43BB-8193-64AD759B8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38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65" name="Group 10">
            <a:extLst>
              <a:ext uri="{FF2B5EF4-FFF2-40B4-BE49-F238E27FC236}">
                <a16:creationId xmlns:a16="http://schemas.microsoft.com/office/drawing/2014/main" id="{31FEAA92-A527-4CE0-B350-936CCBFDE4C5}"/>
              </a:ext>
            </a:extLst>
          </p:cNvPr>
          <p:cNvGrpSpPr>
            <a:grpSpLocks/>
          </p:cNvGrpSpPr>
          <p:nvPr/>
        </p:nvGrpSpPr>
        <p:grpSpPr bwMode="auto">
          <a:xfrm>
            <a:off x="8852584" y="2606949"/>
            <a:ext cx="449263" cy="954088"/>
            <a:chOff x="5424" y="1787"/>
            <a:chExt cx="283" cy="601"/>
          </a:xfrm>
        </p:grpSpPr>
        <p:pic>
          <p:nvPicPr>
            <p:cNvPr id="66" name="Picture 11">
              <a:extLst>
                <a:ext uri="{FF2B5EF4-FFF2-40B4-BE49-F238E27FC236}">
                  <a16:creationId xmlns:a16="http://schemas.microsoft.com/office/drawing/2014/main" id="{DAA86888-E6CC-46F4-A431-4C8A174F1A1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4" y="1787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Text Box 12">
              <a:extLst>
                <a:ext uri="{FF2B5EF4-FFF2-40B4-BE49-F238E27FC236}">
                  <a16:creationId xmlns:a16="http://schemas.microsoft.com/office/drawing/2014/main" id="{BB3EE70B-387A-4727-B6B0-B99EC7940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9" y="2061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68" name="Group 45">
            <a:extLst>
              <a:ext uri="{FF2B5EF4-FFF2-40B4-BE49-F238E27FC236}">
                <a16:creationId xmlns:a16="http://schemas.microsoft.com/office/drawing/2014/main" id="{12CD6EA2-521A-4038-BA31-845CB39C9517}"/>
              </a:ext>
            </a:extLst>
          </p:cNvPr>
          <p:cNvGrpSpPr>
            <a:grpSpLocks/>
          </p:cNvGrpSpPr>
          <p:nvPr/>
        </p:nvGrpSpPr>
        <p:grpSpPr bwMode="auto">
          <a:xfrm>
            <a:off x="9341535" y="2822055"/>
            <a:ext cx="919165" cy="866776"/>
            <a:chOff x="5879" y="1972"/>
            <a:chExt cx="579" cy="546"/>
          </a:xfrm>
        </p:grpSpPr>
        <p:sp>
          <p:nvSpPr>
            <p:cNvPr id="69" name="Line 5">
              <a:extLst>
                <a:ext uri="{FF2B5EF4-FFF2-40B4-BE49-F238E27FC236}">
                  <a16:creationId xmlns:a16="http://schemas.microsoft.com/office/drawing/2014/main" id="{0B294EA6-E0CC-44E5-97FA-D036792EA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9" y="1972"/>
              <a:ext cx="547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70" name="Object 6">
              <a:extLst>
                <a:ext uri="{FF2B5EF4-FFF2-40B4-BE49-F238E27FC236}">
                  <a16:creationId xmlns:a16="http://schemas.microsoft.com/office/drawing/2014/main" id="{7F1964B3-EB02-433F-95ED-D62E8BE834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07" y="2071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5" imgW="139579" imgH="177646" progId="Equation.3">
                    <p:embed/>
                  </p:oleObj>
                </mc:Choice>
                <mc:Fallback>
                  <p:oleObj name="Ecuación" r:id="rId15" imgW="139579" imgH="177646" progId="Equation.3">
                    <p:embed/>
                    <p:pic>
                      <p:nvPicPr>
                        <p:cNvPr id="70" name="Object 6">
                          <a:extLst>
                            <a:ext uri="{FF2B5EF4-FFF2-40B4-BE49-F238E27FC236}">
                              <a16:creationId xmlns:a16="http://schemas.microsoft.com/office/drawing/2014/main" id="{7F1964B3-EB02-433F-95ED-D62E8BE834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7" y="2071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68">
            <a:extLst>
              <a:ext uri="{FF2B5EF4-FFF2-40B4-BE49-F238E27FC236}">
                <a16:creationId xmlns:a16="http://schemas.microsoft.com/office/drawing/2014/main" id="{343AD5AC-7B04-44FC-A526-9F4692764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709" y="2770081"/>
            <a:ext cx="477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  <a:sym typeface="Wingdings" panose="05000000000000000000" pitchFamily="2" charset="2"/>
              </a:rPr>
              <a:t> Consideramos u</a:t>
            </a:r>
            <a:r>
              <a:rPr lang="es-ES" sz="2800">
                <a:latin typeface="Arial" panose="020B0604020202020204" pitchFamily="34" charset="0"/>
              </a:rPr>
              <a:t>na Q</a:t>
            </a:r>
            <a:endParaRPr lang="es-ES" sz="2800" dirty="0">
              <a:latin typeface="Arial" panose="020B0604020202020204" pitchFamily="34" charset="0"/>
            </a:endParaRPr>
          </a:p>
        </p:txBody>
      </p:sp>
      <p:sp>
        <p:nvSpPr>
          <p:cNvPr id="7" name="Text Box 65">
            <a:extLst>
              <a:ext uri="{FF2B5EF4-FFF2-40B4-BE49-F238E27FC236}">
                <a16:creationId xmlns:a16="http://schemas.microsoft.com/office/drawing/2014/main" id="{86DB87B7-515B-4DCF-8E3F-F7FE0EAD7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709" y="3305840"/>
            <a:ext cx="477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  <a:sym typeface="Wingdings" panose="05000000000000000000" pitchFamily="2" charset="2"/>
              </a:rPr>
              <a:t> Consideramos o</a:t>
            </a:r>
            <a:r>
              <a:rPr lang="es-ES" sz="2800">
                <a:latin typeface="Arial" panose="020B0604020202020204" pitchFamily="34" charset="0"/>
              </a:rPr>
              <a:t>tra q</a:t>
            </a:r>
            <a:endParaRPr lang="es-ES" sz="2800" dirty="0">
              <a:latin typeface="Arial" panose="020B0604020202020204" pitchFamily="34" charset="0"/>
            </a:endParaRPr>
          </a:p>
        </p:txBody>
      </p:sp>
      <p:sp>
        <p:nvSpPr>
          <p:cNvPr id="8" name="Text Box 65">
            <a:extLst>
              <a:ext uri="{FF2B5EF4-FFF2-40B4-BE49-F238E27FC236}">
                <a16:creationId xmlns:a16="http://schemas.microsoft.com/office/drawing/2014/main" id="{0D750D37-4950-4003-8AD0-E6BC1B0BE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709" y="3905597"/>
            <a:ext cx="477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 </a:t>
            </a: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Se ejercen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una fuerza</a:t>
            </a:r>
          </a:p>
        </p:txBody>
      </p:sp>
      <p:sp>
        <p:nvSpPr>
          <p:cNvPr id="37" name="Text Box 43">
            <a:extLst>
              <a:ext uri="{FF2B5EF4-FFF2-40B4-BE49-F238E27FC236}">
                <a16:creationId xmlns:a16="http://schemas.microsoft.com/office/drawing/2014/main" id="{DC675F9A-240B-4E12-915E-8D8873E37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557" y="1146964"/>
            <a:ext cx="4049364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Hemos introducido el campo INDIRECTAMENTE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950D154-2CDC-4D48-AB8D-F6C1CB57CDB0}"/>
              </a:ext>
            </a:extLst>
          </p:cNvPr>
          <p:cNvGrpSpPr/>
          <p:nvPr/>
        </p:nvGrpSpPr>
        <p:grpSpPr>
          <a:xfrm>
            <a:off x="1798657" y="2024709"/>
            <a:ext cx="3448855" cy="712101"/>
            <a:chOff x="1798657" y="2024709"/>
            <a:chExt cx="3448855" cy="712101"/>
          </a:xfrm>
        </p:grpSpPr>
        <p:graphicFrame>
          <p:nvGraphicFramePr>
            <p:cNvPr id="38" name="Object 28">
              <a:extLst>
                <a:ext uri="{FF2B5EF4-FFF2-40B4-BE49-F238E27FC236}">
                  <a16:creationId xmlns:a16="http://schemas.microsoft.com/office/drawing/2014/main" id="{1A6C7D46-B9DA-428F-A87D-17BE3A4BF5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903017"/>
                </p:ext>
              </p:extLst>
            </p:nvPr>
          </p:nvGraphicFramePr>
          <p:xfrm>
            <a:off x="3677618" y="2027197"/>
            <a:ext cx="557213" cy="709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579" imgH="177646" progId="Equation.3">
                    <p:embed/>
                  </p:oleObj>
                </mc:Choice>
                <mc:Fallback>
                  <p:oleObj name="Ecuación" r:id="rId3" imgW="139579" imgH="177646" progId="Equation.3">
                    <p:embed/>
                    <p:pic>
                      <p:nvPicPr>
                        <p:cNvPr id="3382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7618" y="2027197"/>
                          <a:ext cx="557213" cy="709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6">
              <a:extLst>
                <a:ext uri="{FF2B5EF4-FFF2-40B4-BE49-F238E27FC236}">
                  <a16:creationId xmlns:a16="http://schemas.microsoft.com/office/drawing/2014/main" id="{20E92989-E74F-46C0-B3F1-78912F8765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5216030"/>
                </p:ext>
              </p:extLst>
            </p:nvPr>
          </p:nvGraphicFramePr>
          <p:xfrm>
            <a:off x="4690298" y="2024709"/>
            <a:ext cx="557214" cy="709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5" imgW="139579" imgH="177646" progId="Equation.3">
                    <p:embed/>
                  </p:oleObj>
                </mc:Choice>
                <mc:Fallback>
                  <p:oleObj name="Ecuación" r:id="rId15" imgW="139579" imgH="177646" progId="Equation.3">
                    <p:embed/>
                    <p:pic>
                      <p:nvPicPr>
                        <p:cNvPr id="70" name="Object 6">
                          <a:extLst>
                            <a:ext uri="{FF2B5EF4-FFF2-40B4-BE49-F238E27FC236}">
                              <a16:creationId xmlns:a16="http://schemas.microsoft.com/office/drawing/2014/main" id="{7F1964B3-EB02-433F-95ED-D62E8BE834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0298" y="2024709"/>
                          <a:ext cx="557214" cy="709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9">
              <a:extLst>
                <a:ext uri="{FF2B5EF4-FFF2-40B4-BE49-F238E27FC236}">
                  <a16:creationId xmlns:a16="http://schemas.microsoft.com/office/drawing/2014/main" id="{5051A11A-4CEA-4951-B0C8-DC8EFF5CA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8657" y="2165666"/>
              <a:ext cx="457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42" name="Text Box 12">
              <a:extLst>
                <a:ext uri="{FF2B5EF4-FFF2-40B4-BE49-F238E27FC236}">
                  <a16:creationId xmlns:a16="http://schemas.microsoft.com/office/drawing/2014/main" id="{29526D15-9721-47FD-A881-6A9EE389E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921" y="2170848"/>
              <a:ext cx="37941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43" name="Text Box 9">
              <a:extLst>
                <a:ext uri="{FF2B5EF4-FFF2-40B4-BE49-F238E27FC236}">
                  <a16:creationId xmlns:a16="http://schemas.microsoft.com/office/drawing/2014/main" id="{8E0E86AC-B181-4CB1-948E-4D46BF455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339" y="2128120"/>
              <a:ext cx="457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Text Box 9">
              <a:extLst>
                <a:ext uri="{FF2B5EF4-FFF2-40B4-BE49-F238E27FC236}">
                  <a16:creationId xmlns:a16="http://schemas.microsoft.com/office/drawing/2014/main" id="{A6DA4AC6-E8B3-4195-B968-594B656F2A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8476" y="2140985"/>
              <a:ext cx="457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Text Box 9">
              <a:extLst>
                <a:ext uri="{FF2B5EF4-FFF2-40B4-BE49-F238E27FC236}">
                  <a16:creationId xmlns:a16="http://schemas.microsoft.com/office/drawing/2014/main" id="{7A665C7B-61FB-4D99-8B81-1137D7B55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1634" y="2160848"/>
              <a:ext cx="457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444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4" grpId="0"/>
      <p:bldP spid="7" grpId="0"/>
      <p:bldP spid="8" grpId="0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D58C1D52-9850-4883-97D2-AAB2B98B472C}"/>
              </a:ext>
            </a:extLst>
          </p:cNvPr>
          <p:cNvGrpSpPr/>
          <p:nvPr/>
        </p:nvGrpSpPr>
        <p:grpSpPr>
          <a:xfrm>
            <a:off x="6542152" y="3556186"/>
            <a:ext cx="3413125" cy="1373187"/>
            <a:chOff x="6398316" y="4307746"/>
            <a:chExt cx="3413125" cy="1373187"/>
          </a:xfrm>
        </p:grpSpPr>
        <p:grpSp>
          <p:nvGrpSpPr>
            <p:cNvPr id="49196" name="Group 44"/>
            <p:cNvGrpSpPr>
              <a:grpSpLocks/>
            </p:cNvGrpSpPr>
            <p:nvPr/>
          </p:nvGrpSpPr>
          <p:grpSpPr bwMode="auto">
            <a:xfrm>
              <a:off x="6398316" y="4307746"/>
              <a:ext cx="3413125" cy="1373187"/>
              <a:chOff x="7035" y="2400"/>
              <a:chExt cx="2150" cy="865"/>
            </a:xfrm>
          </p:grpSpPr>
          <p:sp>
            <p:nvSpPr>
              <p:cNvPr id="2" name="Rectangle 46"/>
              <p:cNvSpPr>
                <a:spLocks noChangeArrowheads="1"/>
              </p:cNvSpPr>
              <p:nvPr/>
            </p:nvSpPr>
            <p:spPr bwMode="auto">
              <a:xfrm>
                <a:off x="7035" y="2400"/>
                <a:ext cx="2150" cy="86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3814" name="Object 72"/>
              <p:cNvGraphicFramePr>
                <a:graphicFrameLocks noChangeAspect="1"/>
              </p:cNvGraphicFramePr>
              <p:nvPr/>
            </p:nvGraphicFramePr>
            <p:xfrm>
              <a:off x="7614" y="2480"/>
              <a:ext cx="1431" cy="7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838080" imgH="419040" progId="Equation.3">
                      <p:embed/>
                    </p:oleObj>
                  </mc:Choice>
                  <mc:Fallback>
                    <p:oleObj name="Ecuación" r:id="rId3" imgW="838080" imgH="419040" progId="Equation.3">
                      <p:embed/>
                      <p:pic>
                        <p:nvPicPr>
                          <p:cNvPr id="33814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14" y="2480"/>
                            <a:ext cx="1431" cy="7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" name="Object 72"/>
            <p:cNvGraphicFramePr>
              <a:graphicFrameLocks noChangeAspect="1"/>
            </p:cNvGraphicFramePr>
            <p:nvPr/>
          </p:nvGraphicFramePr>
          <p:xfrm>
            <a:off x="6627663" y="4774276"/>
            <a:ext cx="652463" cy="549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41200" imgH="203040" progId="Equation.3">
                    <p:embed/>
                  </p:oleObj>
                </mc:Choice>
                <mc:Fallback>
                  <p:oleObj name="Ecuación" r:id="rId5" imgW="241200" imgH="203040" progId="Equation.3">
                    <p:embed/>
                    <p:pic>
                      <p:nvPicPr>
                        <p:cNvPr id="35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7663" y="4774276"/>
                          <a:ext cx="652463" cy="549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8062684" y="1405741"/>
            <a:ext cx="1054100" cy="911225"/>
            <a:chOff x="4756" y="1349"/>
            <a:chExt cx="664" cy="574"/>
          </a:xfrm>
        </p:grpSpPr>
        <p:sp>
          <p:nvSpPr>
            <p:cNvPr id="33821" name="Line 27"/>
            <p:cNvSpPr>
              <a:spLocks noChangeShapeType="1"/>
            </p:cNvSpPr>
            <p:nvPr/>
          </p:nvSpPr>
          <p:spPr bwMode="auto">
            <a:xfrm flipH="1">
              <a:off x="4756" y="1923"/>
              <a:ext cx="66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3822" name="Object 28"/>
            <p:cNvGraphicFramePr>
              <a:graphicFrameLocks noChangeAspect="1"/>
            </p:cNvGraphicFramePr>
            <p:nvPr/>
          </p:nvGraphicFramePr>
          <p:xfrm>
            <a:off x="5024" y="1349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39579" imgH="177646" progId="Equation.3">
                    <p:embed/>
                  </p:oleObj>
                </mc:Choice>
                <mc:Fallback>
                  <p:oleObj name="Ecuación" r:id="rId7" imgW="139579" imgH="177646" progId="Equation.3">
                    <p:embed/>
                    <p:pic>
                      <p:nvPicPr>
                        <p:cNvPr id="3382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349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8467496" y="2313791"/>
            <a:ext cx="646113" cy="928687"/>
            <a:chOff x="5019" y="1919"/>
            <a:chExt cx="407" cy="585"/>
          </a:xfrm>
        </p:grpSpPr>
        <p:sp>
          <p:nvSpPr>
            <p:cNvPr id="33819" name="Line 62"/>
            <p:cNvSpPr>
              <a:spLocks noChangeShapeType="1"/>
            </p:cNvSpPr>
            <p:nvPr/>
          </p:nvSpPr>
          <p:spPr bwMode="auto">
            <a:xfrm flipH="1">
              <a:off x="5086" y="1919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3820" name="Object 63"/>
            <p:cNvGraphicFramePr>
              <a:graphicFrameLocks noChangeAspect="1"/>
            </p:cNvGraphicFramePr>
            <p:nvPr/>
          </p:nvGraphicFramePr>
          <p:xfrm>
            <a:off x="5019" y="2025"/>
            <a:ext cx="319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26890" imgH="190335" progId="Equation.3">
                    <p:embed/>
                  </p:oleObj>
                </mc:Choice>
                <mc:Fallback>
                  <p:oleObj name="Ecuación" r:id="rId9" imgW="126890" imgH="190335" progId="Equation.3">
                    <p:embed/>
                    <p:pic>
                      <p:nvPicPr>
                        <p:cNvPr id="3382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9" y="2025"/>
                          <a:ext cx="319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9126309" y="2151866"/>
            <a:ext cx="477837" cy="917575"/>
            <a:chOff x="5832" y="1820"/>
            <a:chExt cx="301" cy="578"/>
          </a:xfrm>
        </p:grpSpPr>
        <p:sp>
          <p:nvSpPr>
            <p:cNvPr id="33817" name="Text Box 65"/>
            <p:cNvSpPr txBox="1">
              <a:spLocks noChangeArrowheads="1"/>
            </p:cNvSpPr>
            <p:nvPr/>
          </p:nvSpPr>
          <p:spPr bwMode="auto">
            <a:xfrm>
              <a:off x="5832" y="2071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33818" name="Oval 66"/>
            <p:cNvSpPr>
              <a:spLocks noChangeArrowheads="1"/>
            </p:cNvSpPr>
            <p:nvPr/>
          </p:nvSpPr>
          <p:spPr bwMode="auto">
            <a:xfrm>
              <a:off x="5875" y="1820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2222A9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67"/>
          <p:cNvGrpSpPr>
            <a:grpSpLocks/>
          </p:cNvGrpSpPr>
          <p:nvPr/>
        </p:nvGrpSpPr>
        <p:grpSpPr bwMode="auto">
          <a:xfrm>
            <a:off x="6742849" y="1486703"/>
            <a:ext cx="477837" cy="1028700"/>
            <a:chOff x="4332" y="1382"/>
            <a:chExt cx="301" cy="648"/>
          </a:xfrm>
        </p:grpSpPr>
        <p:sp>
          <p:nvSpPr>
            <p:cNvPr id="33815" name="Text Box 68"/>
            <p:cNvSpPr txBox="1">
              <a:spLocks noChangeArrowheads="1"/>
            </p:cNvSpPr>
            <p:nvPr/>
          </p:nvSpPr>
          <p:spPr bwMode="auto">
            <a:xfrm>
              <a:off x="4332" y="1382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33816" name="Oval 69"/>
            <p:cNvSpPr>
              <a:spLocks noChangeArrowheads="1"/>
            </p:cNvSpPr>
            <p:nvPr/>
          </p:nvSpPr>
          <p:spPr bwMode="auto">
            <a:xfrm>
              <a:off x="4364" y="1803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2222A9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9583530" y="1549570"/>
            <a:ext cx="560366" cy="764221"/>
            <a:chOff x="4836860" y="1910717"/>
            <a:chExt cx="560366" cy="764221"/>
          </a:xfrm>
        </p:grpSpPr>
        <p:sp>
          <p:nvSpPr>
            <p:cNvPr id="33" name="Line 62"/>
            <p:cNvSpPr>
              <a:spLocks noChangeShapeType="1"/>
            </p:cNvSpPr>
            <p:nvPr/>
          </p:nvSpPr>
          <p:spPr bwMode="auto">
            <a:xfrm>
              <a:off x="4857476" y="2674938"/>
              <a:ext cx="539750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4" name="Object 63"/>
            <p:cNvGraphicFramePr>
              <a:graphicFrameLocks noChangeAspect="1"/>
            </p:cNvGraphicFramePr>
            <p:nvPr/>
          </p:nvGraphicFramePr>
          <p:xfrm>
            <a:off x="4836860" y="1910717"/>
            <a:ext cx="418523" cy="586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126720" imgH="177480" progId="Equation.3">
                    <p:embed/>
                  </p:oleObj>
                </mc:Choice>
                <mc:Fallback>
                  <p:oleObj name="Ecuación" r:id="rId11" imgW="126720" imgH="177480" progId="Equation.3">
                    <p:embed/>
                    <p:pic>
                      <p:nvPicPr>
                        <p:cNvPr id="34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860" y="1910717"/>
                          <a:ext cx="418523" cy="586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6139599" y="1089828"/>
            <a:ext cx="4143375" cy="2216150"/>
            <a:chOff x="3787" y="1199"/>
            <a:chExt cx="2610" cy="1396"/>
          </a:xfrm>
        </p:grpSpPr>
        <p:sp>
          <p:nvSpPr>
            <p:cNvPr id="33823" name="Rectangle 2"/>
            <p:cNvSpPr>
              <a:spLocks noChangeArrowheads="1"/>
            </p:cNvSpPr>
            <p:nvPr/>
          </p:nvSpPr>
          <p:spPr bwMode="auto">
            <a:xfrm>
              <a:off x="3787" y="1199"/>
              <a:ext cx="2610" cy="1396"/>
            </a:xfrm>
            <a:prstGeom prst="rect">
              <a:avLst/>
            </a:prstGeom>
            <a:noFill/>
            <a:ln w="38100" algn="ctr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24" name="Text Box 19"/>
            <p:cNvSpPr txBox="1">
              <a:spLocks noChangeArrowheads="1"/>
            </p:cNvSpPr>
            <p:nvPr/>
          </p:nvSpPr>
          <p:spPr bwMode="auto">
            <a:xfrm>
              <a:off x="3882" y="2219"/>
              <a:ext cx="8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ESPACIO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C5237A1-D5B1-4B26-B2C6-BD29D61ED299}"/>
              </a:ext>
            </a:extLst>
          </p:cNvPr>
          <p:cNvGrpSpPr/>
          <p:nvPr/>
        </p:nvGrpSpPr>
        <p:grpSpPr>
          <a:xfrm>
            <a:off x="1430735" y="4104800"/>
            <a:ext cx="3413125" cy="1373187"/>
            <a:chOff x="1461557" y="4314095"/>
            <a:chExt cx="3413125" cy="1373187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F9E3E9E8-CD38-4BE8-B63F-8702C3231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1557" y="4314095"/>
              <a:ext cx="3413125" cy="137318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D02F7FFE-0922-4EC8-8867-DE8D63CDA831}"/>
                    </a:ext>
                  </a:extLst>
                </p:cNvPr>
                <p:cNvSpPr txBox="1"/>
                <p:nvPr/>
              </p:nvSpPr>
              <p:spPr>
                <a:xfrm>
                  <a:off x="1821285" y="4598541"/>
                  <a:ext cx="2874748" cy="7949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acc>
                      <m:r>
                        <a:rPr lang="es-E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s-E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f>
                        <m:fPr>
                          <m:ctrlPr>
                            <a:rPr lang="es-E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Mm</m:t>
                          </m:r>
                        </m:num>
                        <m:den>
                          <m:sSup>
                            <m:sSupPr>
                              <m:ctrlPr>
                                <a:rPr lang="es-ES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3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s-ES" sz="3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s-E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acc>
                    </m:oMath>
                  </a14:m>
                  <a:r>
                    <a:rPr lang="es-ES" sz="3600" dirty="0">
                      <a:solidFill>
                        <a:schemeClr val="tx1"/>
                      </a:solidFill>
                      <a:latin typeface="+mj-lt"/>
                    </a:rPr>
                    <a:t>  </a:t>
                  </a:r>
                  <a:endParaRPr lang="es-ES" sz="40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D02F7FFE-0922-4EC8-8867-DE8D63CDA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1285" y="4598541"/>
                  <a:ext cx="2874748" cy="794961"/>
                </a:xfrm>
                <a:prstGeom prst="rect">
                  <a:avLst/>
                </a:prstGeom>
                <a:blipFill>
                  <a:blip r:embed="rId14"/>
                  <a:stretch>
                    <a:fillRect l="-21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08AD87B-E8A6-44FA-944F-88B379EC32A0}"/>
              </a:ext>
            </a:extLst>
          </p:cNvPr>
          <p:cNvGrpSpPr/>
          <p:nvPr/>
        </p:nvGrpSpPr>
        <p:grpSpPr>
          <a:xfrm>
            <a:off x="4912678" y="3908622"/>
            <a:ext cx="1557500" cy="2282293"/>
            <a:chOff x="4840760" y="4649911"/>
            <a:chExt cx="1557500" cy="2282293"/>
          </a:xfrm>
        </p:grpSpPr>
        <p:sp>
          <p:nvSpPr>
            <p:cNvPr id="33812" name="Text Box 78"/>
            <p:cNvSpPr txBox="1">
              <a:spLocks noChangeArrowheads="1"/>
            </p:cNvSpPr>
            <p:nvPr/>
          </p:nvSpPr>
          <p:spPr bwMode="auto">
            <a:xfrm>
              <a:off x="4840760" y="5454876"/>
              <a:ext cx="1557500" cy="147732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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Y una fuerza 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por unidad de masa</a:t>
              </a:r>
            </a:p>
          </p:txBody>
        </p:sp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87545494-7422-4F5E-82C7-B2598730AC2C}"/>
                </a:ext>
              </a:extLst>
            </p:cNvPr>
            <p:cNvSpPr/>
            <p:nvPr/>
          </p:nvSpPr>
          <p:spPr bwMode="auto">
            <a:xfrm>
              <a:off x="5208998" y="4649911"/>
              <a:ext cx="797039" cy="794961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3" name="Text Box 77">
            <a:extLst>
              <a:ext uri="{FF2B5EF4-FFF2-40B4-BE49-F238E27FC236}">
                <a16:creationId xmlns:a16="http://schemas.microsoft.com/office/drawing/2014/main" id="{5FA77767-DFF5-4883-AEDC-FD2D60643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151" y="5140074"/>
            <a:ext cx="3413125" cy="1622734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Gravedad 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Campo Gravitatorio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(o Aceleración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de la Gravedad)</a:t>
            </a:r>
          </a:p>
        </p:txBody>
      </p:sp>
      <p:sp>
        <p:nvSpPr>
          <p:cNvPr id="54" name="Text Box 83">
            <a:extLst>
              <a:ext uri="{FF2B5EF4-FFF2-40B4-BE49-F238E27FC236}">
                <a16:creationId xmlns:a16="http://schemas.microsoft.com/office/drawing/2014/main" id="{8D29A066-1AC9-4018-83EF-F4B742BB9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889" y="563413"/>
            <a:ext cx="4720342" cy="88290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caso gravitatorio </a:t>
            </a:r>
            <a:r>
              <a:rPr lang="es-ES" sz="2400">
                <a:latin typeface="Arial" panose="020B0604020202020204" pitchFamily="34" charset="0"/>
              </a:rPr>
              <a:t>el campo se puede introducir igual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sp>
        <p:nvSpPr>
          <p:cNvPr id="55" name="Flecha: a la derecha 54">
            <a:extLst>
              <a:ext uri="{FF2B5EF4-FFF2-40B4-BE49-F238E27FC236}">
                <a16:creationId xmlns:a16="http://schemas.microsoft.com/office/drawing/2014/main" id="{1DFF28E6-8235-4EFD-AF9B-BAEA930A8761}"/>
              </a:ext>
            </a:extLst>
          </p:cNvPr>
          <p:cNvSpPr/>
          <p:nvPr/>
        </p:nvSpPr>
        <p:spPr bwMode="auto">
          <a:xfrm rot="5400000">
            <a:off x="3078251" y="3215381"/>
            <a:ext cx="409006" cy="794961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8F461A3-F2ED-484B-A592-1FB2622E7CD0}"/>
              </a:ext>
            </a:extLst>
          </p:cNvPr>
          <p:cNvGrpSpPr/>
          <p:nvPr/>
        </p:nvGrpSpPr>
        <p:grpSpPr>
          <a:xfrm>
            <a:off x="2452867" y="1705294"/>
            <a:ext cx="1045691" cy="461665"/>
            <a:chOff x="2312179" y="1705294"/>
            <a:chExt cx="1045691" cy="461665"/>
          </a:xfrm>
        </p:grpSpPr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E35DE7D3-8A74-4E47-908F-7EA24CA5E796}"/>
                </a:ext>
              </a:extLst>
            </p:cNvPr>
            <p:cNvSpPr txBox="1"/>
            <p:nvPr/>
          </p:nvSpPr>
          <p:spPr>
            <a:xfrm>
              <a:off x="2916724" y="1705294"/>
              <a:ext cx="441146" cy="461665"/>
            </a:xfrm>
            <a:prstGeom prst="rect">
              <a:avLst/>
            </a:prstGeom>
            <a:solidFill>
              <a:srgbClr val="99CCFF"/>
            </a:solidFill>
          </p:spPr>
          <p:txBody>
            <a:bodyPr wrap="none" rtlCol="0" anchor="ctr" anchorCtr="0">
              <a:spAutoFit/>
            </a:bodyPr>
            <a:lstStyle/>
            <a:p>
              <a:r>
                <a:rPr lang="es-ES" sz="240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59" name="Text Box 78">
              <a:extLst>
                <a:ext uri="{FF2B5EF4-FFF2-40B4-BE49-F238E27FC236}">
                  <a16:creationId xmlns:a16="http://schemas.microsoft.com/office/drawing/2014/main" id="{D2CB8434-BE47-4705-875B-5894A94C3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179" y="1751460"/>
              <a:ext cx="581402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Wingdings" panose="05000000000000000000" pitchFamily="2" charset="2"/>
                </a:rPr>
                <a:t>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1F2AC45-0612-458D-873C-12D293ACE4B5}"/>
              </a:ext>
            </a:extLst>
          </p:cNvPr>
          <p:cNvGrpSpPr/>
          <p:nvPr/>
        </p:nvGrpSpPr>
        <p:grpSpPr>
          <a:xfrm>
            <a:off x="2452975" y="2293251"/>
            <a:ext cx="1222490" cy="1000971"/>
            <a:chOff x="2312287" y="2293251"/>
            <a:chExt cx="1222490" cy="1000971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FCD961C0-C9AB-4441-B881-F1010EF6FB16}"/>
                </a:ext>
              </a:extLst>
            </p:cNvPr>
            <p:cNvGrpSpPr/>
            <p:nvPr/>
          </p:nvGrpSpPr>
          <p:grpSpPr>
            <a:xfrm>
              <a:off x="2739816" y="2293251"/>
              <a:ext cx="794961" cy="1000971"/>
              <a:chOff x="2739816" y="2293251"/>
              <a:chExt cx="794961" cy="1000971"/>
            </a:xfrm>
          </p:grpSpPr>
          <p:sp>
            <p:nvSpPr>
              <p:cNvPr id="57" name="Flecha: a la derecha 56">
                <a:extLst>
                  <a:ext uri="{FF2B5EF4-FFF2-40B4-BE49-F238E27FC236}">
                    <a16:creationId xmlns:a16="http://schemas.microsoft.com/office/drawing/2014/main" id="{D026634A-C827-4A57-AE1F-B9B0B6CC961B}"/>
                  </a:ext>
                </a:extLst>
              </p:cNvPr>
              <p:cNvSpPr/>
              <p:nvPr/>
            </p:nvSpPr>
            <p:spPr bwMode="auto">
              <a:xfrm rot="5400000">
                <a:off x="2932794" y="2100273"/>
                <a:ext cx="409006" cy="794961"/>
              </a:xfrm>
              <a:prstGeom prst="rightArrow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FF3C4A07-1B73-44A9-BB56-B05B8B1AE4C1}"/>
                  </a:ext>
                </a:extLst>
              </p:cNvPr>
              <p:cNvSpPr txBox="1"/>
              <p:nvPr/>
            </p:nvSpPr>
            <p:spPr>
              <a:xfrm>
                <a:off x="2916724" y="2832557"/>
                <a:ext cx="441146" cy="461665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s-ES" sz="2400">
                    <a:solidFill>
                      <a:schemeClr val="tx1"/>
                    </a:solidFill>
                  </a:rPr>
                  <a:t>m</a:t>
                </a:r>
              </a:p>
            </p:txBody>
          </p:sp>
        </p:grpSp>
        <p:sp>
          <p:nvSpPr>
            <p:cNvPr id="60" name="Text Box 78">
              <a:extLst>
                <a:ext uri="{FF2B5EF4-FFF2-40B4-BE49-F238E27FC236}">
                  <a16:creationId xmlns:a16="http://schemas.microsoft.com/office/drawing/2014/main" id="{9B08D949-4658-47FB-A001-AD732724A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287" y="2886249"/>
              <a:ext cx="581402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Wingdings" panose="05000000000000000000" pitchFamily="2" charset="2"/>
                </a:rPr>
                <a:t>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</p:grpSp>
      <p:sp>
        <p:nvSpPr>
          <p:cNvPr id="61" name="Text Box 78">
            <a:extLst>
              <a:ext uri="{FF2B5EF4-FFF2-40B4-BE49-F238E27FC236}">
                <a16:creationId xmlns:a16="http://schemas.microsoft.com/office/drawing/2014/main" id="{2440AD48-85DF-4188-81A2-629AB55B9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277" y="4609141"/>
            <a:ext cx="581402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54" grpId="0" animBg="1"/>
      <p:bldP spid="55" grpId="0" animBg="1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Box 82">
            <a:extLst>
              <a:ext uri="{FF2B5EF4-FFF2-40B4-BE49-F238E27FC236}">
                <a16:creationId xmlns:a16="http://schemas.microsoft.com/office/drawing/2014/main" id="{381A5537-4669-4FEE-B134-2F1A7C0FE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727" y="1694183"/>
            <a:ext cx="6124446" cy="125340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</a:t>
            </a:r>
            <a:r>
              <a:rPr lang="es-ES" sz="2400" b="1">
                <a:latin typeface="Arial" panose="020B0604020202020204" pitchFamily="34" charset="0"/>
              </a:rPr>
              <a:t>cambia</a:t>
            </a:r>
            <a:r>
              <a:rPr lang="es-ES" sz="2400">
                <a:latin typeface="Arial" panose="020B0604020202020204" pitchFamily="34" charset="0"/>
              </a:rPr>
              <a:t> Q (o M), la </a:t>
            </a:r>
            <a:r>
              <a:rPr lang="es-ES" sz="2400" b="1">
                <a:latin typeface="Arial" panose="020B0604020202020204" pitchFamily="34" charset="0"/>
              </a:rPr>
              <a:t>fuente </a:t>
            </a:r>
            <a:r>
              <a:rPr lang="es-ES" sz="2400" dirty="0">
                <a:latin typeface="Arial" panose="020B0604020202020204" pitchFamily="34" charset="0"/>
              </a:rPr>
              <a:t>del </a:t>
            </a:r>
            <a:r>
              <a:rPr lang="es-ES" sz="2400">
                <a:latin typeface="Arial" panose="020B0604020202020204" pitchFamily="34" charset="0"/>
              </a:rPr>
              <a:t>campo,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, y</a:t>
            </a:r>
            <a:r>
              <a:rPr lang="es-ES" sz="2400" b="1">
                <a:latin typeface="Arial" panose="020B0604020202020204" pitchFamily="34" charset="0"/>
              </a:rPr>
              <a:t> 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(o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cambian </a:t>
            </a:r>
            <a:r>
              <a:rPr lang="es-ES" sz="2000" b="1">
                <a:latin typeface="Arial" panose="020B0604020202020204" pitchFamily="34" charset="0"/>
              </a:rPr>
              <a:t>AUTOMÁTICAMENTE</a:t>
            </a:r>
            <a:r>
              <a:rPr lang="es-ES" sz="2400">
                <a:latin typeface="Arial" panose="020B0604020202020204" pitchFamily="34" charset="0"/>
              </a:rPr>
              <a:t>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independientemente </a:t>
            </a:r>
            <a:r>
              <a:rPr lang="es-ES" sz="2400" dirty="0">
                <a:latin typeface="Arial" panose="020B0604020202020204" pitchFamily="34" charset="0"/>
              </a:rPr>
              <a:t>de donde </a:t>
            </a:r>
            <a:r>
              <a:rPr lang="es-ES" sz="2400">
                <a:latin typeface="Arial" panose="020B0604020202020204" pitchFamily="34" charset="0"/>
              </a:rPr>
              <a:t>esté q (o m)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2" name="CuadroTexto 9">
            <a:extLst>
              <a:ext uri="{FF2B5EF4-FFF2-40B4-BE49-F238E27FC236}">
                <a16:creationId xmlns:a16="http://schemas.microsoft.com/office/drawing/2014/main" id="{89AF5F71-A2A1-4026-A51D-FA83F36AB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727" y="3158704"/>
            <a:ext cx="6124446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Si en la Naturaleza ocurriese esto,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se diría que habría </a:t>
            </a:r>
            <a:r>
              <a:rPr lang="es-ES" sz="2400" b="1">
                <a:solidFill>
                  <a:schemeClr val="tx1"/>
                </a:solidFill>
              </a:rPr>
              <a:t>acciones a distancia</a:t>
            </a:r>
            <a:endParaRPr lang="es-ES" sz="2400">
              <a:solidFill>
                <a:schemeClr val="tx1"/>
              </a:solidFill>
            </a:endParaRPr>
          </a:p>
        </p:txBody>
      </p:sp>
      <p:sp>
        <p:nvSpPr>
          <p:cNvPr id="74" name="Text Box 83">
            <a:extLst>
              <a:ext uri="{FF2B5EF4-FFF2-40B4-BE49-F238E27FC236}">
                <a16:creationId xmlns:a16="http://schemas.microsoft.com/office/drawing/2014/main" id="{D8BA9316-8FFC-4EE9-9E3F-6A41227FA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492" y="4331833"/>
            <a:ext cx="8890357" cy="88290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Sin embargo, no es así, porque en el espacio el </a:t>
            </a:r>
            <a:r>
              <a:rPr lang="es-ES" sz="2400" dirty="0">
                <a:latin typeface="Arial" panose="020B0604020202020204" pitchFamily="34" charset="0"/>
              </a:rPr>
              <a:t>tiempo para comunicar </a:t>
            </a:r>
            <a:r>
              <a:rPr lang="es-ES" sz="2400">
                <a:latin typeface="Arial" panose="020B0604020202020204" pitchFamily="34" charset="0"/>
              </a:rPr>
              <a:t>un cambio </a:t>
            </a:r>
            <a:r>
              <a:rPr lang="es-ES" sz="2400" dirty="0">
                <a:latin typeface="Arial" panose="020B0604020202020204" pitchFamily="34" charset="0"/>
              </a:rPr>
              <a:t>no es cero</a:t>
            </a:r>
            <a:r>
              <a:rPr lang="es-ES" sz="2400">
                <a:latin typeface="Arial" panose="020B0604020202020204" pitchFamily="34" charset="0"/>
              </a:rPr>
              <a:t>, hay </a:t>
            </a:r>
            <a:r>
              <a:rPr lang="es-ES" sz="2400" dirty="0">
                <a:latin typeface="Arial" panose="020B0604020202020204" pitchFamily="34" charset="0"/>
              </a:rPr>
              <a:t>una </a:t>
            </a:r>
            <a:r>
              <a:rPr lang="es-ES" sz="2400">
                <a:latin typeface="Arial" panose="020B0604020202020204" pitchFamily="34" charset="0"/>
              </a:rPr>
              <a:t>velocidad máxima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 Box 83">
            <a:extLst>
              <a:ext uri="{FF2B5EF4-FFF2-40B4-BE49-F238E27FC236}">
                <a16:creationId xmlns:a16="http://schemas.microsoft.com/office/drawing/2014/main" id="{F6B113A4-260E-4ACC-A566-DB1EFF0C5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895" y="5541981"/>
            <a:ext cx="2856566" cy="477805"/>
          </a:xfrm>
          <a:prstGeom prst="rect">
            <a:avLst/>
          </a:prstGeom>
          <a:solidFill>
            <a:srgbClr val="D60093"/>
          </a:solidFill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 = 300 000 km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/s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" name="Text Box 84">
            <a:extLst>
              <a:ext uri="{FF2B5EF4-FFF2-40B4-BE49-F238E27FC236}">
                <a16:creationId xmlns:a16="http://schemas.microsoft.com/office/drawing/2014/main" id="{8E97E197-CA5F-4C47-AC63-5C44014D2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492" y="6280195"/>
            <a:ext cx="8890357" cy="45191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lIns="54000" tIns="46800" rIns="54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notarlo, el retraso, hace falta considerar grandes distancias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8" name="Text Box 43">
            <a:extLst>
              <a:ext uri="{FF2B5EF4-FFF2-40B4-BE49-F238E27FC236}">
                <a16:creationId xmlns:a16="http://schemas.microsoft.com/office/drawing/2014/main" id="{CAE59EB1-20DB-46C7-8821-E63856FD9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317" y="565604"/>
            <a:ext cx="7624055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Esta forma de introducir indirectamente el campo 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correcta </a:t>
            </a:r>
            <a:r>
              <a:rPr lang="es-ES" sz="2400" dirty="0">
                <a:latin typeface="Arial" panose="020B0604020202020204" pitchFamily="34" charset="0"/>
              </a:rPr>
              <a:t>matemáticamente, pero no refleja la realidad</a:t>
            </a:r>
          </a:p>
        </p:txBody>
      </p:sp>
      <p:sp>
        <p:nvSpPr>
          <p:cNvPr id="92" name="Text Box 84">
            <a:extLst>
              <a:ext uri="{FF2B5EF4-FFF2-40B4-BE49-F238E27FC236}">
                <a16:creationId xmlns:a16="http://schemas.microsoft.com/office/drawing/2014/main" id="{871B0543-0467-491A-AAEA-12CC14469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503" y="5525133"/>
            <a:ext cx="3271085" cy="49710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lIns="54000" tIns="46800" rIns="54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de la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luz en el vacío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63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2" grpId="0" animBg="1"/>
      <p:bldP spid="74" grpId="0" animBg="1"/>
      <p:bldP spid="76" grpId="0" animBg="1"/>
      <p:bldP spid="77" grpId="0" animBg="1"/>
      <p:bldP spid="78" grpId="0" animBg="1"/>
      <p:bldP spid="9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">
            <a:extLst>
              <a:ext uri="{FF2B5EF4-FFF2-40B4-BE49-F238E27FC236}">
                <a16:creationId xmlns:a16="http://schemas.microsoft.com/office/drawing/2014/main" id="{7395909E-28A8-4851-A31E-693DC4445CFB}"/>
              </a:ext>
            </a:extLst>
          </p:cNvPr>
          <p:cNvGrpSpPr>
            <a:grpSpLocks/>
          </p:cNvGrpSpPr>
          <p:nvPr/>
        </p:nvGrpSpPr>
        <p:grpSpPr bwMode="auto">
          <a:xfrm>
            <a:off x="9124983" y="2142533"/>
            <a:ext cx="976317" cy="822327"/>
            <a:chOff x="5588" y="1924"/>
            <a:chExt cx="615" cy="518"/>
          </a:xfrm>
        </p:grpSpPr>
        <p:sp>
          <p:nvSpPr>
            <p:cNvPr id="51" name="Line 5">
              <a:extLst>
                <a:ext uri="{FF2B5EF4-FFF2-40B4-BE49-F238E27FC236}">
                  <a16:creationId xmlns:a16="http://schemas.microsoft.com/office/drawing/2014/main" id="{FA33CBB5-EECD-4255-A15E-1F6265A98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8" y="1924"/>
              <a:ext cx="551" cy="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52" name="Object 6">
              <a:extLst>
                <a:ext uri="{FF2B5EF4-FFF2-40B4-BE49-F238E27FC236}">
                  <a16:creationId xmlns:a16="http://schemas.microsoft.com/office/drawing/2014/main" id="{DBBDAA20-4549-49C5-92F8-85C4A0F7C0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52" y="1995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579" imgH="177646" progId="Equation.3">
                    <p:embed/>
                  </p:oleObj>
                </mc:Choice>
                <mc:Fallback>
                  <p:oleObj name="Ecuación" r:id="rId3" imgW="139579" imgH="177646" progId="Equation.3">
                    <p:embed/>
                    <p:pic>
                      <p:nvPicPr>
                        <p:cNvPr id="52" name="Object 6">
                          <a:extLst>
                            <a:ext uri="{FF2B5EF4-FFF2-40B4-BE49-F238E27FC236}">
                              <a16:creationId xmlns:a16="http://schemas.microsoft.com/office/drawing/2014/main" id="{DBBDAA20-4549-49C5-92F8-85C4A0F7C0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2" y="1995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E3E93FC-8DF9-41FD-84F3-A190B5A3530E}"/>
              </a:ext>
            </a:extLst>
          </p:cNvPr>
          <p:cNvGrpSpPr/>
          <p:nvPr/>
        </p:nvGrpSpPr>
        <p:grpSpPr>
          <a:xfrm>
            <a:off x="5911186" y="6050110"/>
            <a:ext cx="2443424" cy="812262"/>
            <a:chOff x="5824184" y="6050110"/>
            <a:chExt cx="2443424" cy="812262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500F198-0DF5-4BE9-8AE8-6FDE2AC2350D}"/>
                </a:ext>
              </a:extLst>
            </p:cNvPr>
            <p:cNvGrpSpPr/>
            <p:nvPr/>
          </p:nvGrpSpPr>
          <p:grpSpPr>
            <a:xfrm>
              <a:off x="5824184" y="6050110"/>
              <a:ext cx="2443424" cy="812262"/>
              <a:chOff x="5824184" y="6050110"/>
              <a:chExt cx="2443424" cy="812262"/>
            </a:xfrm>
          </p:grpSpPr>
          <p:grpSp>
            <p:nvGrpSpPr>
              <p:cNvPr id="29734" name="Group 38"/>
              <p:cNvGrpSpPr>
                <a:grpSpLocks/>
              </p:cNvGrpSpPr>
              <p:nvPr/>
            </p:nvGrpSpPr>
            <p:grpSpPr bwMode="auto">
              <a:xfrm>
                <a:off x="5860958" y="6052185"/>
                <a:ext cx="2406650" cy="803275"/>
                <a:chOff x="4783" y="3014"/>
                <a:chExt cx="1516" cy="506"/>
              </a:xfrm>
            </p:grpSpPr>
            <p:sp>
              <p:nvSpPr>
                <p:cNvPr id="37915" name="Rectangle 49"/>
                <p:cNvSpPr>
                  <a:spLocks noChangeArrowheads="1"/>
                </p:cNvSpPr>
                <p:nvPr/>
              </p:nvSpPr>
              <p:spPr bwMode="auto">
                <a:xfrm>
                  <a:off x="5286" y="3014"/>
                  <a:ext cx="1013" cy="506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  <a:defRPr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14" name="AutoShape 62"/>
                <p:cNvSpPr>
                  <a:spLocks noChangeArrowheads="1"/>
                </p:cNvSpPr>
                <p:nvPr/>
              </p:nvSpPr>
              <p:spPr bwMode="auto">
                <a:xfrm>
                  <a:off x="4783" y="3065"/>
                  <a:ext cx="397" cy="404"/>
                </a:xfrm>
                <a:prstGeom prst="rightArrow">
                  <a:avLst>
                    <a:gd name="adj1" fmla="val 55556"/>
                    <a:gd name="adj2" fmla="val 49333"/>
                  </a:avLst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32E34CF0-1B53-4FF3-B045-FD525292B694}"/>
                  </a:ext>
                </a:extLst>
              </p:cNvPr>
              <p:cNvCxnSpPr/>
              <p:nvPr/>
            </p:nvCxnSpPr>
            <p:spPr bwMode="auto">
              <a:xfrm>
                <a:off x="5824184" y="6050110"/>
                <a:ext cx="0" cy="812262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aphicFrame>
          <p:nvGraphicFramePr>
            <p:cNvPr id="58" name="Object 55">
              <a:extLst>
                <a:ext uri="{FF2B5EF4-FFF2-40B4-BE49-F238E27FC236}">
                  <a16:creationId xmlns:a16="http://schemas.microsoft.com/office/drawing/2014/main" id="{AB9ADE89-DC3E-4D39-888F-0DD1925451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81567" y="6087031"/>
            <a:ext cx="1425575" cy="752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457200" imgH="241300" progId="Equation.3">
                    <p:embed/>
                  </p:oleObj>
                </mc:Choice>
                <mc:Fallback>
                  <p:oleObj name="Ecuación" r:id="rId5" imgW="457200" imgH="241300" progId="Equation.3">
                    <p:embed/>
                    <p:pic>
                      <p:nvPicPr>
                        <p:cNvPr id="58" name="Object 55">
                          <a:extLst>
                            <a:ext uri="{FF2B5EF4-FFF2-40B4-BE49-F238E27FC236}">
                              <a16:creationId xmlns:a16="http://schemas.microsoft.com/office/drawing/2014/main" id="{AB9ADE89-DC3E-4D39-888F-0DD1925451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1567" y="6087031"/>
                          <a:ext cx="1425575" cy="752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7904690" y="1236999"/>
            <a:ext cx="1106488" cy="911225"/>
            <a:chOff x="4678" y="1349"/>
            <a:chExt cx="697" cy="574"/>
          </a:xfrm>
        </p:grpSpPr>
        <p:sp>
          <p:nvSpPr>
            <p:cNvPr id="37926" name="Line 27"/>
            <p:cNvSpPr>
              <a:spLocks noChangeShapeType="1"/>
            </p:cNvSpPr>
            <p:nvPr/>
          </p:nvSpPr>
          <p:spPr bwMode="auto">
            <a:xfrm flipH="1">
              <a:off x="4678" y="1923"/>
              <a:ext cx="66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7927" name="Object 28"/>
            <p:cNvGraphicFramePr>
              <a:graphicFrameLocks noChangeAspect="1"/>
            </p:cNvGraphicFramePr>
            <p:nvPr/>
          </p:nvGraphicFramePr>
          <p:xfrm>
            <a:off x="5024" y="1349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39579" imgH="177646" progId="Equation.3">
                    <p:embed/>
                  </p:oleObj>
                </mc:Choice>
                <mc:Fallback>
                  <p:oleObj name="Ecuación" r:id="rId7" imgW="139579" imgH="177646" progId="Equation.3">
                    <p:embed/>
                    <p:pic>
                      <p:nvPicPr>
                        <p:cNvPr id="37927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349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upo 1"/>
          <p:cNvGrpSpPr/>
          <p:nvPr/>
        </p:nvGrpSpPr>
        <p:grpSpPr>
          <a:xfrm>
            <a:off x="6011116" y="929024"/>
            <a:ext cx="4248000" cy="2211387"/>
            <a:chOff x="6001068" y="959168"/>
            <a:chExt cx="4248000" cy="2211387"/>
          </a:xfrm>
        </p:grpSpPr>
        <p:sp>
          <p:nvSpPr>
            <p:cNvPr id="37894" name="Rectangle 2"/>
            <p:cNvSpPr>
              <a:spLocks noChangeArrowheads="1"/>
            </p:cNvSpPr>
            <p:nvPr/>
          </p:nvSpPr>
          <p:spPr bwMode="auto">
            <a:xfrm>
              <a:off x="6001068" y="959168"/>
              <a:ext cx="4248000" cy="2211387"/>
            </a:xfrm>
            <a:prstGeom prst="rect">
              <a:avLst/>
            </a:prstGeom>
            <a:noFill/>
            <a:ln w="38100" algn="ctr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897" name="Text Box 19"/>
            <p:cNvSpPr txBox="1">
              <a:spLocks noChangeArrowheads="1"/>
            </p:cNvSpPr>
            <p:nvPr/>
          </p:nvSpPr>
          <p:spPr bwMode="auto">
            <a:xfrm>
              <a:off x="6046581" y="2669766"/>
              <a:ext cx="1526293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ESPACIO</a:t>
              </a:r>
            </a:p>
          </p:txBody>
        </p:sp>
      </p:grpSp>
      <p:sp>
        <p:nvSpPr>
          <p:cNvPr id="282683" name="Text Box 59"/>
          <p:cNvSpPr txBox="1">
            <a:spLocks noChangeArrowheads="1"/>
          </p:cNvSpPr>
          <p:nvPr/>
        </p:nvSpPr>
        <p:spPr bwMode="auto">
          <a:xfrm>
            <a:off x="1123071" y="2108347"/>
            <a:ext cx="4437062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La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FUENTE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una carga Q,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altera 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espacio</a:t>
            </a:r>
          </a:p>
        </p:txBody>
      </p:sp>
      <p:sp>
        <p:nvSpPr>
          <p:cNvPr id="282685" name="Text Box 61"/>
          <p:cNvSpPr txBox="1">
            <a:spLocks noChangeArrowheads="1"/>
          </p:cNvSpPr>
          <p:nvPr/>
        </p:nvSpPr>
        <p:spPr bwMode="auto">
          <a:xfrm>
            <a:off x="1128587" y="4737078"/>
            <a:ext cx="4914246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Se dice que la fuente establece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un </a:t>
            </a:r>
            <a:r>
              <a:rPr lang="es-ES" sz="2400" b="1" dirty="0">
                <a:latin typeface="Arial" panose="020B0604020202020204" pitchFamily="34" charset="0"/>
              </a:rPr>
              <a:t>CAMPO VECTORIAL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(un campo lleno de vectores)</a:t>
            </a:r>
          </a:p>
        </p:txBody>
      </p:sp>
      <p:sp>
        <p:nvSpPr>
          <p:cNvPr id="282688" name="Text Box 64"/>
          <p:cNvSpPr txBox="1">
            <a:spLocks noChangeArrowheads="1"/>
          </p:cNvSpPr>
          <p:nvPr/>
        </p:nvSpPr>
        <p:spPr bwMode="auto">
          <a:xfrm>
            <a:off x="1128587" y="6014198"/>
            <a:ext cx="4801638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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Una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partícula en P con </a:t>
            </a:r>
            <a:r>
              <a:rPr lang="es-ES" sz="2400">
                <a:latin typeface="Arial" panose="020B0604020202020204" pitchFamily="34" charset="0"/>
              </a:rPr>
              <a:t>carga q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 </a:t>
            </a:r>
            <a:r>
              <a:rPr lang="es-ES" sz="2400">
                <a:latin typeface="Arial" panose="020B0604020202020204" pitchFamily="34" charset="0"/>
              </a:rPr>
              <a:t>“siente”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y sufre una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FUERZA</a:t>
            </a:r>
          </a:p>
        </p:txBody>
      </p:sp>
      <p:sp>
        <p:nvSpPr>
          <p:cNvPr id="282690" name="Text Box 66"/>
          <p:cNvSpPr txBox="1">
            <a:spLocks noChangeArrowheads="1"/>
          </p:cNvSpPr>
          <p:nvPr/>
        </p:nvSpPr>
        <p:spPr bwMode="auto">
          <a:xfrm>
            <a:off x="1128587" y="3052630"/>
            <a:ext cx="4728285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 El 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fecto se caracteriza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asociando a cada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punto P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del espacio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 valor de una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MAGNITUD VECTORIAL</a:t>
            </a:r>
          </a:p>
        </p:txBody>
      </p:sp>
      <p:sp>
        <p:nvSpPr>
          <p:cNvPr id="37911" name="CuadroTexto 1"/>
          <p:cNvSpPr txBox="1">
            <a:spLocks noChangeArrowheads="1"/>
          </p:cNvSpPr>
          <p:nvPr/>
        </p:nvSpPr>
        <p:spPr bwMode="auto">
          <a:xfrm>
            <a:off x="6723448" y="4663721"/>
            <a:ext cx="3470688" cy="120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Lo que tiene la partícula que causa que sienta  la alteración</a:t>
            </a:r>
          </a:p>
        </p:txBody>
      </p:sp>
      <p:cxnSp>
        <p:nvCxnSpPr>
          <p:cNvPr id="37912" name="Conector recto de flecha 3"/>
          <p:cNvCxnSpPr>
            <a:cxnSpLocks noChangeShapeType="1"/>
          </p:cNvCxnSpPr>
          <p:nvPr/>
        </p:nvCxnSpPr>
        <p:spPr bwMode="auto">
          <a:xfrm flipV="1">
            <a:off x="7822043" y="5897001"/>
            <a:ext cx="132483" cy="393969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8256510" y="5831639"/>
            <a:ext cx="2324389" cy="1200329"/>
            <a:chOff x="8060929" y="6064299"/>
            <a:chExt cx="2325677" cy="1199931"/>
          </a:xfrm>
        </p:grpSpPr>
        <p:sp>
          <p:nvSpPr>
            <p:cNvPr id="37909" name="CuadroTexto 4"/>
            <p:cNvSpPr txBox="1">
              <a:spLocks noChangeArrowheads="1"/>
            </p:cNvSpPr>
            <p:nvPr/>
          </p:nvSpPr>
          <p:spPr bwMode="auto">
            <a:xfrm>
              <a:off x="8371608" y="6064299"/>
              <a:ext cx="2014998" cy="1199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Lo que caracteriza      la alteración</a:t>
              </a:r>
            </a:p>
          </p:txBody>
        </p:sp>
        <p:cxnSp>
          <p:nvCxnSpPr>
            <p:cNvPr id="37910" name="Conector recto de flecha 12"/>
            <p:cNvCxnSpPr>
              <a:cxnSpLocks noChangeShapeType="1"/>
            </p:cNvCxnSpPr>
            <p:nvPr/>
          </p:nvCxnSpPr>
          <p:spPr bwMode="auto">
            <a:xfrm>
              <a:off x="8060929" y="6706272"/>
              <a:ext cx="378874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6" name="Object 35">
            <a:extLst>
              <a:ext uri="{FF2B5EF4-FFF2-40B4-BE49-F238E27FC236}">
                <a16:creationId xmlns:a16="http://schemas.microsoft.com/office/drawing/2014/main" id="{33D54D2A-9558-40EB-8736-0F650DA13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8113" y="1253584"/>
          <a:ext cx="43084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218671" imgH="215806" progId="Equation.3">
                  <p:embed/>
                </p:oleObj>
              </mc:Choice>
              <mc:Fallback>
                <p:oleObj name="Ecuación" r:id="rId9" imgW="1218671" imgH="215806" progId="Equation.3">
                  <p:embed/>
                  <p:pic>
                    <p:nvPicPr>
                      <p:cNvPr id="46" name="Object 35">
                        <a:extLst>
                          <a:ext uri="{FF2B5EF4-FFF2-40B4-BE49-F238E27FC236}">
                            <a16:creationId xmlns:a16="http://schemas.microsoft.com/office/drawing/2014/main" id="{33D54D2A-9558-40EB-8736-0F650DA13B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1253584"/>
                        <a:ext cx="43084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10">
            <a:extLst>
              <a:ext uri="{FF2B5EF4-FFF2-40B4-BE49-F238E27FC236}">
                <a16:creationId xmlns:a16="http://schemas.microsoft.com/office/drawing/2014/main" id="{F8B9A35E-3C4E-4B38-BFCE-6EE9521BAD1E}"/>
              </a:ext>
            </a:extLst>
          </p:cNvPr>
          <p:cNvGrpSpPr>
            <a:grpSpLocks/>
          </p:cNvGrpSpPr>
          <p:nvPr/>
        </p:nvGrpSpPr>
        <p:grpSpPr bwMode="auto">
          <a:xfrm>
            <a:off x="8896350" y="1947265"/>
            <a:ext cx="449263" cy="954087"/>
            <a:chOff x="5424" y="1787"/>
            <a:chExt cx="283" cy="601"/>
          </a:xfrm>
        </p:grpSpPr>
        <p:pic>
          <p:nvPicPr>
            <p:cNvPr id="48" name="Picture 11">
              <a:extLst>
                <a:ext uri="{FF2B5EF4-FFF2-40B4-BE49-F238E27FC236}">
                  <a16:creationId xmlns:a16="http://schemas.microsoft.com/office/drawing/2014/main" id="{A5C8E472-6BD5-4C76-AD37-3A0A569D5C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4" y="1787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239585FE-B918-4233-990B-651F313D2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9" y="2061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53" name="Group 7">
            <a:extLst>
              <a:ext uri="{FF2B5EF4-FFF2-40B4-BE49-F238E27FC236}">
                <a16:creationId xmlns:a16="http://schemas.microsoft.com/office/drawing/2014/main" id="{6F9530CE-9C7D-40CE-B059-7797F65DB78D}"/>
              </a:ext>
            </a:extLst>
          </p:cNvPr>
          <p:cNvGrpSpPr>
            <a:grpSpLocks/>
          </p:cNvGrpSpPr>
          <p:nvPr/>
        </p:nvGrpSpPr>
        <p:grpSpPr bwMode="auto">
          <a:xfrm>
            <a:off x="6684963" y="1304327"/>
            <a:ext cx="457200" cy="1046163"/>
            <a:chOff x="4051" y="1389"/>
            <a:chExt cx="288" cy="659"/>
          </a:xfrm>
        </p:grpSpPr>
        <p:pic>
          <p:nvPicPr>
            <p:cNvPr id="54" name="Picture 8">
              <a:extLst>
                <a:ext uri="{FF2B5EF4-FFF2-40B4-BE49-F238E27FC236}">
                  <a16:creationId xmlns:a16="http://schemas.microsoft.com/office/drawing/2014/main" id="{50BCE2F4-C4DC-4C4E-8C0F-6B2EFB395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7" y="177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74B31F10-A42B-4BB8-887D-E0D70A22F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38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51257" name="Group 57"/>
          <p:cNvGrpSpPr>
            <a:grpSpLocks/>
          </p:cNvGrpSpPr>
          <p:nvPr/>
        </p:nvGrpSpPr>
        <p:grpSpPr bwMode="auto">
          <a:xfrm>
            <a:off x="9062638" y="1604255"/>
            <a:ext cx="541338" cy="598488"/>
            <a:chOff x="5848" y="1640"/>
            <a:chExt cx="341" cy="377"/>
          </a:xfrm>
        </p:grpSpPr>
        <p:sp>
          <p:nvSpPr>
            <p:cNvPr id="37920" name="Oval 77"/>
            <p:cNvSpPr>
              <a:spLocks noChangeArrowheads="1"/>
            </p:cNvSpPr>
            <p:nvPr/>
          </p:nvSpPr>
          <p:spPr bwMode="auto">
            <a:xfrm>
              <a:off x="5848" y="1949"/>
              <a:ext cx="68" cy="68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1" name="Text Box 56"/>
            <p:cNvSpPr txBox="1">
              <a:spLocks noChangeArrowheads="1"/>
            </p:cNvSpPr>
            <p:nvPr/>
          </p:nvSpPr>
          <p:spPr bwMode="auto">
            <a:xfrm>
              <a:off x="5947" y="1640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A6B4369F-2C99-4BFB-9FB9-D3D181568184}"/>
              </a:ext>
            </a:extLst>
          </p:cNvPr>
          <p:cNvGrpSpPr/>
          <p:nvPr/>
        </p:nvGrpSpPr>
        <p:grpSpPr>
          <a:xfrm>
            <a:off x="5907306" y="3207881"/>
            <a:ext cx="2882138" cy="1308156"/>
            <a:chOff x="5820304" y="3147721"/>
            <a:chExt cx="2882138" cy="1308156"/>
          </a:xfrm>
        </p:grpSpPr>
        <p:grpSp>
          <p:nvGrpSpPr>
            <p:cNvPr id="29733" name="Group 37"/>
            <p:cNvGrpSpPr>
              <a:grpSpLocks/>
            </p:cNvGrpSpPr>
            <p:nvPr/>
          </p:nvGrpSpPr>
          <p:grpSpPr bwMode="auto">
            <a:xfrm>
              <a:off x="5843223" y="3546735"/>
              <a:ext cx="2859219" cy="833438"/>
              <a:chOff x="3234" y="2933"/>
              <a:chExt cx="1791" cy="525"/>
            </a:xfrm>
          </p:grpSpPr>
          <p:sp>
            <p:nvSpPr>
              <p:cNvPr id="37917" name="Text Box 69"/>
              <p:cNvSpPr txBox="1">
                <a:spLocks noChangeArrowheads="1"/>
              </p:cNvSpPr>
              <p:nvPr/>
            </p:nvSpPr>
            <p:spPr bwMode="auto">
              <a:xfrm>
                <a:off x="3758" y="2933"/>
                <a:ext cx="1267" cy="525"/>
              </a:xfrm>
              <a:prstGeom prst="rect">
                <a:avLst/>
              </a:prstGeom>
              <a:solidFill>
                <a:srgbClr val="666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Campo Eléctrico</a:t>
                </a:r>
              </a:p>
            </p:txBody>
          </p:sp>
          <p:sp>
            <p:nvSpPr>
              <p:cNvPr id="37919" name="AutoShape 61"/>
              <p:cNvSpPr>
                <a:spLocks noChangeArrowheads="1"/>
              </p:cNvSpPr>
              <p:nvPr/>
            </p:nvSpPr>
            <p:spPr bwMode="auto">
              <a:xfrm>
                <a:off x="3234" y="3002"/>
                <a:ext cx="412" cy="404"/>
              </a:xfrm>
              <a:prstGeom prst="rightArrow">
                <a:avLst>
                  <a:gd name="adj1" fmla="val 55556"/>
                  <a:gd name="adj2" fmla="val 49333"/>
                </a:avLst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9AE4AE9A-CF82-427B-8473-CEF0301405BF}"/>
                </a:ext>
              </a:extLst>
            </p:cNvPr>
            <p:cNvCxnSpPr/>
            <p:nvPr/>
          </p:nvCxnSpPr>
          <p:spPr bwMode="auto">
            <a:xfrm>
              <a:off x="5820304" y="3147721"/>
              <a:ext cx="0" cy="1308156"/>
            </a:xfrm>
            <a:prstGeom prst="line">
              <a:avLst/>
            </a:prstGeom>
            <a:noFill/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56" name="Object 6">
            <a:extLst>
              <a:ext uri="{FF2B5EF4-FFF2-40B4-BE49-F238E27FC236}">
                <a16:creationId xmlns:a16="http://schemas.microsoft.com/office/drawing/2014/main" id="{B93F99A0-20C8-40FF-A9FD-DDE73F266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15479"/>
              </p:ext>
            </p:extLst>
          </p:nvPr>
        </p:nvGraphicFramePr>
        <p:xfrm>
          <a:off x="9164047" y="3669435"/>
          <a:ext cx="557215" cy="709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139579" imgH="177646" progId="Equation.3">
                  <p:embed/>
                </p:oleObj>
              </mc:Choice>
              <mc:Fallback>
                <p:oleObj name="Ecuación" r:id="rId13" imgW="139579" imgH="177646" progId="Equation.3">
                  <p:embed/>
                  <p:pic>
                    <p:nvPicPr>
                      <p:cNvPr id="56" name="Object 6">
                        <a:extLst>
                          <a:ext uri="{FF2B5EF4-FFF2-40B4-BE49-F238E27FC236}">
                            <a16:creationId xmlns:a16="http://schemas.microsoft.com/office/drawing/2014/main" id="{B93F99A0-20C8-40FF-A9FD-DDE73F266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4047" y="3669435"/>
                        <a:ext cx="557215" cy="70961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36">
            <a:extLst>
              <a:ext uri="{FF2B5EF4-FFF2-40B4-BE49-F238E27FC236}">
                <a16:creationId xmlns:a16="http://schemas.microsoft.com/office/drawing/2014/main" id="{7C8CAAD7-E2AC-46DF-A866-0A316A491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462" y="425578"/>
            <a:ext cx="4104000" cy="612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INTRODUCCIÓN </a:t>
            </a:r>
            <a:r>
              <a:rPr lang="es-ES" sz="2400" dirty="0">
                <a:latin typeface="Arial" panose="020B0604020202020204" pitchFamily="34" charset="0"/>
              </a:rPr>
              <a:t>DIRECTA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57" name="Text Box 17">
            <a:extLst>
              <a:ext uri="{FF2B5EF4-FFF2-40B4-BE49-F238E27FC236}">
                <a16:creationId xmlns:a16="http://schemas.microsoft.com/office/drawing/2014/main" id="{A20E1802-AFDC-4477-AC02-1A1CBCE4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684" y="444107"/>
            <a:ext cx="4284000" cy="61200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ACCIÓN POR </a:t>
            </a:r>
            <a:r>
              <a:rPr lang="en-US" sz="2400">
                <a:latin typeface="Arial" panose="020B0604020202020204" pitchFamily="34" charset="0"/>
              </a:rPr>
              <a:t>«</a:t>
            </a:r>
            <a:r>
              <a:rPr lang="es-ES" sz="2400">
                <a:latin typeface="Arial" panose="020B0604020202020204" pitchFamily="34" charset="0"/>
              </a:rPr>
              <a:t>CONTACTO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411806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83" grpId="0"/>
      <p:bldP spid="282685" grpId="0"/>
      <p:bldP spid="282688" grpId="0"/>
      <p:bldP spid="282690" grpId="0"/>
      <p:bldP spid="37911" grpId="0"/>
      <p:bldP spid="45" grpId="0" animBg="1"/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13" name="Group 72"/>
          <p:cNvGrpSpPr>
            <a:grpSpLocks/>
          </p:cNvGrpSpPr>
          <p:nvPr/>
        </p:nvGrpSpPr>
        <p:grpSpPr bwMode="auto">
          <a:xfrm>
            <a:off x="5135001" y="5738181"/>
            <a:ext cx="1619250" cy="803275"/>
            <a:chOff x="1105" y="2699"/>
            <a:chExt cx="1020" cy="506"/>
          </a:xfrm>
        </p:grpSpPr>
        <p:sp>
          <p:nvSpPr>
            <p:cNvPr id="37915" name="Rectangle 49"/>
            <p:cNvSpPr>
              <a:spLocks noChangeArrowheads="1"/>
            </p:cNvSpPr>
            <p:nvPr/>
          </p:nvSpPr>
          <p:spPr bwMode="auto">
            <a:xfrm>
              <a:off x="1105" y="2699"/>
              <a:ext cx="1013" cy="50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7916" name="Object 50"/>
            <p:cNvGraphicFramePr>
              <a:graphicFrameLocks noChangeAspect="1"/>
            </p:cNvGraphicFramePr>
            <p:nvPr/>
          </p:nvGraphicFramePr>
          <p:xfrm>
            <a:off x="1186" y="2711"/>
            <a:ext cx="939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82391" imgH="241195" progId="Equation.3">
                    <p:embed/>
                  </p:oleObj>
                </mc:Choice>
                <mc:Fallback>
                  <p:oleObj name="Ecuación" r:id="rId3" imgW="482391" imgH="241195" progId="Equation.3">
                    <p:embed/>
                    <p:pic>
                      <p:nvPicPr>
                        <p:cNvPr id="37916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6" y="2711"/>
                          <a:ext cx="939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18" name="Object 38"/>
          <p:cNvGraphicFramePr>
            <a:graphicFrameLocks noChangeAspect="1"/>
          </p:cNvGraphicFramePr>
          <p:nvPr/>
        </p:nvGraphicFramePr>
        <p:xfrm>
          <a:off x="1417170" y="1747634"/>
          <a:ext cx="42211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193800" imgH="215900" progId="Equation.3">
                  <p:embed/>
                </p:oleObj>
              </mc:Choice>
              <mc:Fallback>
                <p:oleObj name="Ecuación" r:id="rId5" imgW="1193800" imgH="215900" progId="Equation.3">
                  <p:embed/>
                  <p:pic>
                    <p:nvPicPr>
                      <p:cNvPr id="5121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170" y="1747634"/>
                        <a:ext cx="42211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8444437" y="2154574"/>
            <a:ext cx="833437" cy="928687"/>
            <a:chOff x="5019" y="1919"/>
            <a:chExt cx="525" cy="585"/>
          </a:xfrm>
        </p:grpSpPr>
        <p:sp>
          <p:nvSpPr>
            <p:cNvPr id="37928" name="Line 62"/>
            <p:cNvSpPr>
              <a:spLocks noChangeShapeType="1"/>
            </p:cNvSpPr>
            <p:nvPr/>
          </p:nvSpPr>
          <p:spPr bwMode="auto">
            <a:xfrm flipH="1">
              <a:off x="5110" y="1919"/>
              <a:ext cx="434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7929" name="Object 63"/>
            <p:cNvGraphicFramePr>
              <a:graphicFrameLocks noChangeAspect="1"/>
            </p:cNvGraphicFramePr>
            <p:nvPr/>
          </p:nvGraphicFramePr>
          <p:xfrm>
            <a:off x="5019" y="2025"/>
            <a:ext cx="319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6890" imgH="190335" progId="Equation.3">
                    <p:embed/>
                  </p:oleObj>
                </mc:Choice>
                <mc:Fallback>
                  <p:oleObj name="Ecuación" r:id="rId7" imgW="126890" imgH="190335" progId="Equation.3">
                    <p:embed/>
                    <p:pic>
                      <p:nvPicPr>
                        <p:cNvPr id="37929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9" y="2025"/>
                          <a:ext cx="319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8094393" y="1252080"/>
            <a:ext cx="1054100" cy="911225"/>
            <a:chOff x="4792" y="1349"/>
            <a:chExt cx="664" cy="574"/>
          </a:xfrm>
        </p:grpSpPr>
        <p:sp>
          <p:nvSpPr>
            <p:cNvPr id="37926" name="Line 27"/>
            <p:cNvSpPr>
              <a:spLocks noChangeShapeType="1"/>
            </p:cNvSpPr>
            <p:nvPr/>
          </p:nvSpPr>
          <p:spPr bwMode="auto">
            <a:xfrm flipH="1">
              <a:off x="4792" y="1923"/>
              <a:ext cx="66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7927" name="Object 28"/>
            <p:cNvGraphicFramePr>
              <a:graphicFrameLocks noChangeAspect="1"/>
            </p:cNvGraphicFramePr>
            <p:nvPr/>
          </p:nvGraphicFramePr>
          <p:xfrm>
            <a:off x="5024" y="1349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39579" imgH="177646" progId="Equation.3">
                    <p:embed/>
                  </p:oleObj>
                </mc:Choice>
                <mc:Fallback>
                  <p:oleObj name="Ecuación" r:id="rId9" imgW="139579" imgH="177646" progId="Equation.3">
                    <p:embed/>
                    <p:pic>
                      <p:nvPicPr>
                        <p:cNvPr id="37927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349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9092136" y="1983124"/>
            <a:ext cx="477837" cy="917575"/>
            <a:chOff x="5832" y="1820"/>
            <a:chExt cx="301" cy="578"/>
          </a:xfrm>
        </p:grpSpPr>
        <p:sp>
          <p:nvSpPr>
            <p:cNvPr id="37924" name="Text Box 65"/>
            <p:cNvSpPr txBox="1">
              <a:spLocks noChangeArrowheads="1"/>
            </p:cNvSpPr>
            <p:nvPr/>
          </p:nvSpPr>
          <p:spPr bwMode="auto">
            <a:xfrm>
              <a:off x="5832" y="2071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37925" name="Oval 66"/>
            <p:cNvSpPr>
              <a:spLocks noChangeArrowheads="1"/>
            </p:cNvSpPr>
            <p:nvPr/>
          </p:nvSpPr>
          <p:spPr bwMode="auto">
            <a:xfrm>
              <a:off x="5875" y="1820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2222A9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67"/>
          <p:cNvGrpSpPr>
            <a:grpSpLocks/>
          </p:cNvGrpSpPr>
          <p:nvPr/>
        </p:nvGrpSpPr>
        <p:grpSpPr bwMode="auto">
          <a:xfrm>
            <a:off x="6770258" y="1317961"/>
            <a:ext cx="477838" cy="1028700"/>
            <a:chOff x="4331" y="1382"/>
            <a:chExt cx="301" cy="648"/>
          </a:xfrm>
        </p:grpSpPr>
        <p:sp>
          <p:nvSpPr>
            <p:cNvPr id="37922" name="Text Box 68"/>
            <p:cNvSpPr txBox="1">
              <a:spLocks noChangeArrowheads="1"/>
            </p:cNvSpPr>
            <p:nvPr/>
          </p:nvSpPr>
          <p:spPr bwMode="auto">
            <a:xfrm>
              <a:off x="4331" y="1382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37923" name="Oval 69"/>
            <p:cNvSpPr>
              <a:spLocks noChangeArrowheads="1"/>
            </p:cNvSpPr>
            <p:nvPr/>
          </p:nvSpPr>
          <p:spPr bwMode="auto">
            <a:xfrm>
              <a:off x="4364" y="1803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2222A9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2641" name="Text Box 17"/>
          <p:cNvSpPr txBox="1">
            <a:spLocks noChangeArrowheads="1"/>
          </p:cNvSpPr>
          <p:nvPr/>
        </p:nvSpPr>
        <p:spPr bwMode="auto">
          <a:xfrm>
            <a:off x="5990684" y="444107"/>
            <a:ext cx="4284000" cy="61200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ACCIÓN POR </a:t>
            </a:r>
            <a:r>
              <a:rPr lang="en-US" sz="2400">
                <a:latin typeface="Arial" panose="020B0604020202020204" pitchFamily="34" charset="0"/>
              </a:rPr>
              <a:t>«</a:t>
            </a:r>
            <a:r>
              <a:rPr lang="es-ES" sz="2400">
                <a:latin typeface="Arial" panose="020B0604020202020204" pitchFamily="34" charset="0"/>
              </a:rPr>
              <a:t>CONTACTO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6011116" y="929024"/>
            <a:ext cx="4248000" cy="2211387"/>
            <a:chOff x="6001068" y="959168"/>
            <a:chExt cx="4248000" cy="2211387"/>
          </a:xfrm>
        </p:grpSpPr>
        <p:sp>
          <p:nvSpPr>
            <p:cNvPr id="37894" name="Rectangle 2"/>
            <p:cNvSpPr>
              <a:spLocks noChangeArrowheads="1"/>
            </p:cNvSpPr>
            <p:nvPr/>
          </p:nvSpPr>
          <p:spPr bwMode="auto">
            <a:xfrm>
              <a:off x="6001068" y="959168"/>
              <a:ext cx="4248000" cy="2211387"/>
            </a:xfrm>
            <a:prstGeom prst="rect">
              <a:avLst/>
            </a:prstGeom>
            <a:noFill/>
            <a:ln w="38100" algn="ctr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897" name="Text Box 19"/>
            <p:cNvSpPr txBox="1">
              <a:spLocks noChangeArrowheads="1"/>
            </p:cNvSpPr>
            <p:nvPr/>
          </p:nvSpPr>
          <p:spPr bwMode="auto">
            <a:xfrm>
              <a:off x="6046581" y="2669766"/>
              <a:ext cx="1526293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ESPACIO</a:t>
              </a:r>
            </a:p>
          </p:txBody>
        </p:sp>
      </p:grpSp>
      <p:grpSp>
        <p:nvGrpSpPr>
          <p:cNvPr id="51257" name="Group 57"/>
          <p:cNvGrpSpPr>
            <a:grpSpLocks/>
          </p:cNvGrpSpPr>
          <p:nvPr/>
        </p:nvGrpSpPr>
        <p:grpSpPr bwMode="auto">
          <a:xfrm>
            <a:off x="9293750" y="1624351"/>
            <a:ext cx="541338" cy="598488"/>
            <a:chOff x="5848" y="1640"/>
            <a:chExt cx="341" cy="377"/>
          </a:xfrm>
        </p:grpSpPr>
        <p:sp>
          <p:nvSpPr>
            <p:cNvPr id="37920" name="Oval 77"/>
            <p:cNvSpPr>
              <a:spLocks noChangeArrowheads="1"/>
            </p:cNvSpPr>
            <p:nvPr/>
          </p:nvSpPr>
          <p:spPr bwMode="auto">
            <a:xfrm>
              <a:off x="5848" y="1949"/>
              <a:ext cx="68" cy="68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1" name="Text Box 56"/>
            <p:cNvSpPr txBox="1">
              <a:spLocks noChangeArrowheads="1"/>
            </p:cNvSpPr>
            <p:nvPr/>
          </p:nvSpPr>
          <p:spPr bwMode="auto">
            <a:xfrm>
              <a:off x="5947" y="1640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37911" name="CuadroTexto 1"/>
          <p:cNvSpPr txBox="1">
            <a:spLocks noChangeArrowheads="1"/>
          </p:cNvSpPr>
          <p:nvPr/>
        </p:nvSpPr>
        <p:spPr bwMode="auto">
          <a:xfrm>
            <a:off x="6397340" y="4264036"/>
            <a:ext cx="3470688" cy="1200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Lo que tiene la partícula que causa que sienta  la alteración</a:t>
            </a:r>
          </a:p>
        </p:txBody>
      </p:sp>
      <p:cxnSp>
        <p:nvCxnSpPr>
          <p:cNvPr id="37912" name="Conector recto de flecha 3"/>
          <p:cNvCxnSpPr>
            <a:cxnSpLocks noChangeShapeType="1"/>
          </p:cNvCxnSpPr>
          <p:nvPr/>
        </p:nvCxnSpPr>
        <p:spPr bwMode="auto">
          <a:xfrm flipV="1">
            <a:off x="6259573" y="5249693"/>
            <a:ext cx="450468" cy="70359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6681134" y="5538901"/>
            <a:ext cx="2490312" cy="1200329"/>
            <a:chOff x="8097046" y="6085557"/>
            <a:chExt cx="2491693" cy="1199931"/>
          </a:xfrm>
        </p:grpSpPr>
        <p:sp>
          <p:nvSpPr>
            <p:cNvPr id="37909" name="CuadroTexto 4"/>
            <p:cNvSpPr txBox="1">
              <a:spLocks noChangeArrowheads="1"/>
            </p:cNvSpPr>
            <p:nvPr/>
          </p:nvSpPr>
          <p:spPr bwMode="auto">
            <a:xfrm>
              <a:off x="8573741" y="6085557"/>
              <a:ext cx="2014998" cy="1199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Lo que caracteriza      la alteración</a:t>
              </a:r>
            </a:p>
          </p:txBody>
        </p:sp>
        <p:cxnSp>
          <p:nvCxnSpPr>
            <p:cNvPr id="37910" name="Conector recto de flecha 12"/>
            <p:cNvCxnSpPr>
              <a:cxnSpLocks noChangeShapeType="1"/>
            </p:cNvCxnSpPr>
            <p:nvPr/>
          </p:nvCxnSpPr>
          <p:spPr bwMode="auto">
            <a:xfrm>
              <a:off x="8097046" y="6706272"/>
              <a:ext cx="378874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37918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896553"/>
              </p:ext>
            </p:extLst>
          </p:nvPr>
        </p:nvGraphicFramePr>
        <p:xfrm>
          <a:off x="2730216" y="3674397"/>
          <a:ext cx="43902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126890" imgH="190335" progId="Equation.3">
                  <p:embed/>
                </p:oleObj>
              </mc:Choice>
              <mc:Fallback>
                <p:oleObj name="Ecuación" r:id="rId11" imgW="126890" imgH="190335" progId="Equation.3">
                  <p:embed/>
                  <p:pic>
                    <p:nvPicPr>
                      <p:cNvPr id="37918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216" y="3674397"/>
                        <a:ext cx="439020" cy="6540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7" name="Text Box 69"/>
          <p:cNvSpPr txBox="1">
            <a:spLocks noChangeArrowheads="1"/>
          </p:cNvSpPr>
          <p:nvPr/>
        </p:nvSpPr>
        <p:spPr bwMode="auto">
          <a:xfrm>
            <a:off x="3374055" y="3604843"/>
            <a:ext cx="2022686" cy="8334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Campo Gravitatorio</a:t>
            </a:r>
          </a:p>
        </p:txBody>
      </p:sp>
      <p:sp>
        <p:nvSpPr>
          <p:cNvPr id="45" name="Text Box 83">
            <a:extLst>
              <a:ext uri="{FF2B5EF4-FFF2-40B4-BE49-F238E27FC236}">
                <a16:creationId xmlns:a16="http://schemas.microsoft.com/office/drawing/2014/main" id="{88707EDA-E9F8-45A4-A671-42966C051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71" y="579640"/>
            <a:ext cx="3588840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Lo mismo se tiene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caso gravitatorio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78">
            <a:extLst>
              <a:ext uri="{FF2B5EF4-FFF2-40B4-BE49-F238E27FC236}">
                <a16:creationId xmlns:a16="http://schemas.microsoft.com/office/drawing/2014/main" id="{60459422-AA26-92FE-C39D-4358DCE89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170" y="2695593"/>
            <a:ext cx="581402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78">
            <a:extLst>
              <a:ext uri="{FF2B5EF4-FFF2-40B4-BE49-F238E27FC236}">
                <a16:creationId xmlns:a16="http://schemas.microsoft.com/office/drawing/2014/main" id="{7D902C38-B511-5BE2-E584-1E5E28812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598" y="2695593"/>
            <a:ext cx="581402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78">
            <a:extLst>
              <a:ext uri="{FF2B5EF4-FFF2-40B4-BE49-F238E27FC236}">
                <a16:creationId xmlns:a16="http://schemas.microsoft.com/office/drawing/2014/main" id="{48016202-D065-F359-D76E-5660DB42F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355" y="2695593"/>
            <a:ext cx="581402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78">
            <a:extLst>
              <a:ext uri="{FF2B5EF4-FFF2-40B4-BE49-F238E27FC236}">
                <a16:creationId xmlns:a16="http://schemas.microsoft.com/office/drawing/2014/main" id="{9B496AE8-DCE6-E1AB-A0B0-4740B09DD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9315" y="2695593"/>
            <a:ext cx="581402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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92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1" grpId="0"/>
      <p:bldP spid="37917" grpId="0" animBg="1"/>
      <p:bldP spid="45" grpId="0" animBg="1"/>
      <p:bldP spid="3" grpId="0"/>
      <p:bldP spid="4" grpId="0"/>
      <p:bldP spid="5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4">
            <a:extLst>
              <a:ext uri="{FF2B5EF4-FFF2-40B4-BE49-F238E27FC236}">
                <a16:creationId xmlns:a16="http://schemas.microsoft.com/office/drawing/2014/main" id="{6DFB5BBA-D03C-4A31-BAA7-7E8E55701F2A}"/>
              </a:ext>
            </a:extLst>
          </p:cNvPr>
          <p:cNvGrpSpPr>
            <a:grpSpLocks/>
          </p:cNvGrpSpPr>
          <p:nvPr/>
        </p:nvGrpSpPr>
        <p:grpSpPr bwMode="auto">
          <a:xfrm>
            <a:off x="9124983" y="2142533"/>
            <a:ext cx="976317" cy="822327"/>
            <a:chOff x="5588" y="1924"/>
            <a:chExt cx="615" cy="518"/>
          </a:xfrm>
        </p:grpSpPr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2200BCAB-9BD2-4213-86E1-F69084B28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8" y="1924"/>
              <a:ext cx="551" cy="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33" name="Object 6">
              <a:extLst>
                <a:ext uri="{FF2B5EF4-FFF2-40B4-BE49-F238E27FC236}">
                  <a16:creationId xmlns:a16="http://schemas.microsoft.com/office/drawing/2014/main" id="{54E7867F-E12F-4FA9-975B-68DDA9554F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52" y="1995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579" imgH="177646" progId="Equation.3">
                    <p:embed/>
                  </p:oleObj>
                </mc:Choice>
                <mc:Fallback>
                  <p:oleObj name="Ecuación" r:id="rId3" imgW="139579" imgH="177646" progId="Equation.3">
                    <p:embed/>
                    <p:pic>
                      <p:nvPicPr>
                        <p:cNvPr id="33" name="Object 6">
                          <a:extLst>
                            <a:ext uri="{FF2B5EF4-FFF2-40B4-BE49-F238E27FC236}">
                              <a16:creationId xmlns:a16="http://schemas.microsoft.com/office/drawing/2014/main" id="{54E7867F-E12F-4FA9-975B-68DDA9554F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2" y="1995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2641" name="Text Box 17"/>
          <p:cNvSpPr txBox="1">
            <a:spLocks noChangeArrowheads="1"/>
          </p:cNvSpPr>
          <p:nvPr/>
        </p:nvSpPr>
        <p:spPr bwMode="auto">
          <a:xfrm>
            <a:off x="5990684" y="444107"/>
            <a:ext cx="4284000" cy="61200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ACCIÓN POR </a:t>
            </a:r>
            <a:r>
              <a:rPr lang="en-US" sz="2400">
                <a:latin typeface="Arial" panose="020B0604020202020204" pitchFamily="34" charset="0"/>
              </a:rPr>
              <a:t>«</a:t>
            </a:r>
            <a:r>
              <a:rPr lang="es-ES" sz="2400">
                <a:latin typeface="Arial" panose="020B0604020202020204" pitchFamily="34" charset="0"/>
              </a:rPr>
              <a:t>CONTACTO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6011116" y="929024"/>
            <a:ext cx="4248000" cy="2211387"/>
            <a:chOff x="6001068" y="959168"/>
            <a:chExt cx="4248000" cy="2211387"/>
          </a:xfrm>
        </p:grpSpPr>
        <p:sp>
          <p:nvSpPr>
            <p:cNvPr id="37894" name="Rectangle 2"/>
            <p:cNvSpPr>
              <a:spLocks noChangeArrowheads="1"/>
            </p:cNvSpPr>
            <p:nvPr/>
          </p:nvSpPr>
          <p:spPr bwMode="auto">
            <a:xfrm>
              <a:off x="6001068" y="959168"/>
              <a:ext cx="4248000" cy="2211387"/>
            </a:xfrm>
            <a:prstGeom prst="rect">
              <a:avLst/>
            </a:prstGeom>
            <a:noFill/>
            <a:ln w="38100" algn="ctr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897" name="Text Box 19"/>
            <p:cNvSpPr txBox="1">
              <a:spLocks noChangeArrowheads="1"/>
            </p:cNvSpPr>
            <p:nvPr/>
          </p:nvSpPr>
          <p:spPr bwMode="auto">
            <a:xfrm>
              <a:off x="6046581" y="2669766"/>
              <a:ext cx="1526293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ESPACIO</a:t>
              </a:r>
            </a:p>
          </p:txBody>
        </p:sp>
      </p:grpSp>
      <p:sp>
        <p:nvSpPr>
          <p:cNvPr id="29706" name="Text Box 36"/>
          <p:cNvSpPr txBox="1">
            <a:spLocks noChangeArrowheads="1"/>
          </p:cNvSpPr>
          <p:nvPr/>
        </p:nvSpPr>
        <p:spPr bwMode="auto">
          <a:xfrm>
            <a:off x="1451462" y="425578"/>
            <a:ext cx="4104000" cy="612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INTRODUCCIÓN </a:t>
            </a:r>
            <a:r>
              <a:rPr lang="es-ES" sz="2400" dirty="0">
                <a:latin typeface="Arial" panose="020B0604020202020204" pitchFamily="34" charset="0"/>
              </a:rPr>
              <a:t>DIRECTA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grpSp>
        <p:nvGrpSpPr>
          <p:cNvPr id="47" name="Group 10">
            <a:extLst>
              <a:ext uri="{FF2B5EF4-FFF2-40B4-BE49-F238E27FC236}">
                <a16:creationId xmlns:a16="http://schemas.microsoft.com/office/drawing/2014/main" id="{F8B9A35E-3C4E-4B38-BFCE-6EE9521BAD1E}"/>
              </a:ext>
            </a:extLst>
          </p:cNvPr>
          <p:cNvGrpSpPr>
            <a:grpSpLocks/>
          </p:cNvGrpSpPr>
          <p:nvPr/>
        </p:nvGrpSpPr>
        <p:grpSpPr bwMode="auto">
          <a:xfrm>
            <a:off x="8896350" y="1947265"/>
            <a:ext cx="449263" cy="954087"/>
            <a:chOff x="5424" y="1787"/>
            <a:chExt cx="283" cy="601"/>
          </a:xfrm>
        </p:grpSpPr>
        <p:pic>
          <p:nvPicPr>
            <p:cNvPr id="48" name="Picture 11">
              <a:extLst>
                <a:ext uri="{FF2B5EF4-FFF2-40B4-BE49-F238E27FC236}">
                  <a16:creationId xmlns:a16="http://schemas.microsoft.com/office/drawing/2014/main" id="{A5C8E472-6BD5-4C76-AD37-3A0A569D5C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4" y="1787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239585FE-B918-4233-990B-651F313D2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9" y="2061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53" name="Group 7">
            <a:extLst>
              <a:ext uri="{FF2B5EF4-FFF2-40B4-BE49-F238E27FC236}">
                <a16:creationId xmlns:a16="http://schemas.microsoft.com/office/drawing/2014/main" id="{6F9530CE-9C7D-40CE-B059-7797F65DB78D}"/>
              </a:ext>
            </a:extLst>
          </p:cNvPr>
          <p:cNvGrpSpPr>
            <a:grpSpLocks/>
          </p:cNvGrpSpPr>
          <p:nvPr/>
        </p:nvGrpSpPr>
        <p:grpSpPr bwMode="auto">
          <a:xfrm>
            <a:off x="6684963" y="1304327"/>
            <a:ext cx="457200" cy="1046163"/>
            <a:chOff x="4051" y="1389"/>
            <a:chExt cx="288" cy="659"/>
          </a:xfrm>
        </p:grpSpPr>
        <p:pic>
          <p:nvPicPr>
            <p:cNvPr id="54" name="Picture 8">
              <a:extLst>
                <a:ext uri="{FF2B5EF4-FFF2-40B4-BE49-F238E27FC236}">
                  <a16:creationId xmlns:a16="http://schemas.microsoft.com/office/drawing/2014/main" id="{50BCE2F4-C4DC-4C4E-8C0F-6B2EFB395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7" y="177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74B31F10-A42B-4BB8-887D-E0D70A22F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38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51257" name="Group 57"/>
          <p:cNvGrpSpPr>
            <a:grpSpLocks/>
          </p:cNvGrpSpPr>
          <p:nvPr/>
        </p:nvGrpSpPr>
        <p:grpSpPr bwMode="auto">
          <a:xfrm>
            <a:off x="9062638" y="1604255"/>
            <a:ext cx="541338" cy="598488"/>
            <a:chOff x="5848" y="1640"/>
            <a:chExt cx="341" cy="377"/>
          </a:xfrm>
        </p:grpSpPr>
        <p:sp>
          <p:nvSpPr>
            <p:cNvPr id="37920" name="Oval 77"/>
            <p:cNvSpPr>
              <a:spLocks noChangeArrowheads="1"/>
            </p:cNvSpPr>
            <p:nvPr/>
          </p:nvSpPr>
          <p:spPr bwMode="auto">
            <a:xfrm>
              <a:off x="5848" y="1949"/>
              <a:ext cx="68" cy="68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1" name="Text Box 56"/>
            <p:cNvSpPr txBox="1">
              <a:spLocks noChangeArrowheads="1"/>
            </p:cNvSpPr>
            <p:nvPr/>
          </p:nvSpPr>
          <p:spPr bwMode="auto">
            <a:xfrm>
              <a:off x="5947" y="1640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57" name="Text Box 65">
            <a:extLst>
              <a:ext uri="{FF2B5EF4-FFF2-40B4-BE49-F238E27FC236}">
                <a16:creationId xmlns:a16="http://schemas.microsoft.com/office/drawing/2014/main" id="{2CA29641-66CF-453A-B2E2-F8D4350C8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462" y="2626251"/>
            <a:ext cx="4104000" cy="31945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 </a:t>
            </a:r>
            <a:r>
              <a:rPr lang="es-ES" sz="2400" b="1" dirty="0">
                <a:latin typeface="Arial" panose="020B0604020202020204" pitchFamily="34" charset="0"/>
              </a:rPr>
              <a:t>cambio</a:t>
            </a:r>
            <a:r>
              <a:rPr lang="es-ES" sz="2400" dirty="0">
                <a:latin typeface="Arial" panose="020B0604020202020204" pitchFamily="34" charset="0"/>
              </a:rPr>
              <a:t> en la </a:t>
            </a:r>
            <a:r>
              <a:rPr lang="es-ES" sz="2400" b="1" dirty="0">
                <a:latin typeface="Arial" panose="020B0604020202020204" pitchFamily="34" charset="0"/>
              </a:rPr>
              <a:t>FUENTE</a:t>
            </a:r>
            <a:r>
              <a:rPr lang="es-ES" sz="2400" dirty="0">
                <a:latin typeface="Arial" panose="020B0604020202020204" pitchFamily="34" charset="0"/>
              </a:rPr>
              <a:t> (en Q o M) se transmite a una velocidad igual a c.       Cuando alcance el punto donde está q o m, cambiará la alteración producida, con ello, el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o el </a:t>
            </a:r>
            <a:r>
              <a:rPr lang="es-ES" sz="2400" b="1" dirty="0">
                <a:latin typeface="Arial" panose="020B0604020202020204" pitchFamily="34" charset="0"/>
              </a:rPr>
              <a:t>g </a:t>
            </a:r>
            <a:r>
              <a:rPr lang="es-ES" sz="2400" dirty="0">
                <a:latin typeface="Arial" panose="020B0604020202020204" pitchFamily="34" charset="0"/>
              </a:rPr>
              <a:t>que sienten,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y por tanto, la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que sufren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59" name="Text Box 81">
            <a:extLst>
              <a:ext uri="{FF2B5EF4-FFF2-40B4-BE49-F238E27FC236}">
                <a16:creationId xmlns:a16="http://schemas.microsoft.com/office/drawing/2014/main" id="{45E41165-CF07-4329-B362-E84545D7C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463" y="1235275"/>
            <a:ext cx="4104000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ESTE MODELO SE AJUSTA MEJOR A LA REALIDAD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61" name="Text Box 60">
            <a:extLst>
              <a:ext uri="{FF2B5EF4-FFF2-40B4-BE49-F238E27FC236}">
                <a16:creationId xmlns:a16="http://schemas.microsoft.com/office/drawing/2014/main" id="{C2C8A274-923B-4B69-81C3-CE5F0ECD2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2469" y="4273562"/>
            <a:ext cx="2781064" cy="90588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INTENSIDAD DEL CAMPO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ED11972-8A39-4A1F-A753-C253864AB9E2}"/>
              </a:ext>
            </a:extLst>
          </p:cNvPr>
          <p:cNvGrpSpPr/>
          <p:nvPr/>
        </p:nvGrpSpPr>
        <p:grpSpPr>
          <a:xfrm>
            <a:off x="6117467" y="3469793"/>
            <a:ext cx="1291117" cy="785170"/>
            <a:chOff x="6311600" y="3862942"/>
            <a:chExt cx="1291117" cy="785170"/>
          </a:xfrm>
        </p:grpSpPr>
        <p:graphicFrame>
          <p:nvGraphicFramePr>
            <p:cNvPr id="62" name="Object 63">
              <a:extLst>
                <a:ext uri="{FF2B5EF4-FFF2-40B4-BE49-F238E27FC236}">
                  <a16:creationId xmlns:a16="http://schemas.microsoft.com/office/drawing/2014/main" id="{DDD3AE22-7C8F-45C9-A3A7-FC3E3F0536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11600" y="3862942"/>
            <a:ext cx="1291117" cy="785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520474" imgH="317362" progId="Equation.3">
                    <p:embed/>
                  </p:oleObj>
                </mc:Choice>
                <mc:Fallback>
                  <p:oleObj name="Ecuación" r:id="rId7" imgW="520474" imgH="317362" progId="Equation.3">
                    <p:embed/>
                    <p:pic>
                      <p:nvPicPr>
                        <p:cNvPr id="62" name="Object 63">
                          <a:extLst>
                            <a:ext uri="{FF2B5EF4-FFF2-40B4-BE49-F238E27FC236}">
                              <a16:creationId xmlns:a16="http://schemas.microsoft.com/office/drawing/2014/main" id="{DDD3AE22-7C8F-45C9-A3A7-FC3E3F0536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1600" y="3862942"/>
                          <a:ext cx="1291117" cy="785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Text Box 63">
              <a:extLst>
                <a:ext uri="{FF2B5EF4-FFF2-40B4-BE49-F238E27FC236}">
                  <a16:creationId xmlns:a16="http://schemas.microsoft.com/office/drawing/2014/main" id="{719E42C8-E684-4AC1-B5E9-562C64604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1442" y="4043064"/>
              <a:ext cx="322383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64" name="CuadroTexto 2">
            <a:extLst>
              <a:ext uri="{FF2B5EF4-FFF2-40B4-BE49-F238E27FC236}">
                <a16:creationId xmlns:a16="http://schemas.microsoft.com/office/drawing/2014/main" id="{D33B785E-535F-407A-9E2B-536C0ADE4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9363" y="5272195"/>
            <a:ext cx="4089752" cy="156966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Se les </a:t>
            </a:r>
            <a:r>
              <a:rPr lang="es-ES" sz="2400">
                <a:solidFill>
                  <a:schemeClr val="tx1"/>
                </a:solidFill>
              </a:rPr>
              <a:t>llama así porque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dan </a:t>
            </a:r>
            <a:r>
              <a:rPr lang="es-ES" sz="2400" dirty="0">
                <a:solidFill>
                  <a:schemeClr val="tx1"/>
                </a:solidFill>
              </a:rPr>
              <a:t>idea </a:t>
            </a:r>
            <a:r>
              <a:rPr lang="es-ES" sz="2400">
                <a:solidFill>
                  <a:schemeClr val="tx1"/>
                </a:solidFill>
              </a:rPr>
              <a:t>de la intensidad de la alteración producida por Q o M en un punto P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5760D160-379B-4735-8034-6A2A77287C2D}"/>
              </a:ext>
            </a:extLst>
          </p:cNvPr>
          <p:cNvSpPr/>
          <p:nvPr/>
        </p:nvSpPr>
        <p:spPr bwMode="auto">
          <a:xfrm>
            <a:off x="3051545" y="2219933"/>
            <a:ext cx="861237" cy="324097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34" name="Group 26">
            <a:extLst>
              <a:ext uri="{FF2B5EF4-FFF2-40B4-BE49-F238E27FC236}">
                <a16:creationId xmlns:a16="http://schemas.microsoft.com/office/drawing/2014/main" id="{5C271E0F-FA0D-431D-B72D-F4E246AF7298}"/>
              </a:ext>
            </a:extLst>
          </p:cNvPr>
          <p:cNvGrpSpPr>
            <a:grpSpLocks/>
          </p:cNvGrpSpPr>
          <p:nvPr/>
        </p:nvGrpSpPr>
        <p:grpSpPr bwMode="auto">
          <a:xfrm>
            <a:off x="7904690" y="1236999"/>
            <a:ext cx="1106488" cy="911225"/>
            <a:chOff x="4678" y="1349"/>
            <a:chExt cx="697" cy="574"/>
          </a:xfrm>
        </p:grpSpPr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98DA8E92-3633-4DED-8044-CCCE81E0E4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8" y="1923"/>
              <a:ext cx="66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36" name="Object 28">
              <a:extLst>
                <a:ext uri="{FF2B5EF4-FFF2-40B4-BE49-F238E27FC236}">
                  <a16:creationId xmlns:a16="http://schemas.microsoft.com/office/drawing/2014/main" id="{CA32EDA4-88D9-4276-85C1-DFFECB7289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4" y="1349"/>
            <a:ext cx="35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39579" imgH="177646" progId="Equation.3">
                    <p:embed/>
                  </p:oleObj>
                </mc:Choice>
                <mc:Fallback>
                  <p:oleObj name="Ecuación" r:id="rId9" imgW="139579" imgH="177646" progId="Equation.3">
                    <p:embed/>
                    <p:pic>
                      <p:nvPicPr>
                        <p:cNvPr id="36" name="Object 28">
                          <a:extLst>
                            <a:ext uri="{FF2B5EF4-FFF2-40B4-BE49-F238E27FC236}">
                              <a16:creationId xmlns:a16="http://schemas.microsoft.com/office/drawing/2014/main" id="{CA32EDA4-88D9-4276-85C1-DFFECB7289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349"/>
                          <a:ext cx="35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84">
            <a:extLst>
              <a:ext uri="{FF2B5EF4-FFF2-40B4-BE49-F238E27FC236}">
                <a16:creationId xmlns:a16="http://schemas.microsoft.com/office/drawing/2014/main" id="{F0987A4C-4A58-43EE-B4BA-3E8510656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625" y="3637334"/>
            <a:ext cx="2856223" cy="451916"/>
          </a:xfrm>
          <a:prstGeom prst="rect">
            <a:avLst/>
          </a:prstGeom>
          <a:noFill/>
          <a:ln>
            <a:noFill/>
          </a:ln>
        </p:spPr>
        <p:txBody>
          <a:bodyPr lIns="54000" tIns="46800" rIns="54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conocen como:</a:t>
            </a:r>
          </a:p>
        </p:txBody>
      </p:sp>
      <p:sp>
        <p:nvSpPr>
          <p:cNvPr id="4" name="Text Box 65">
            <a:extLst>
              <a:ext uri="{FF2B5EF4-FFF2-40B4-BE49-F238E27FC236}">
                <a16:creationId xmlns:a16="http://schemas.microsoft.com/office/drawing/2014/main" id="{EC4C2158-4D81-40A3-FCE3-EDC8392DB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5960" y="5905052"/>
            <a:ext cx="2792921" cy="9785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NO HAY CAMBIO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AUTOMÁTICO</a:t>
            </a:r>
          </a:p>
        </p:txBody>
      </p:sp>
    </p:spTree>
    <p:extLst>
      <p:ext uri="{BB962C8B-B14F-4D97-AF65-F5344CB8AC3E}">
        <p14:creationId xmlns:p14="http://schemas.microsoft.com/office/powerpoint/2010/main" val="194590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61" grpId="0" animBg="1"/>
      <p:bldP spid="64" grpId="0" animBg="1"/>
      <p:bldP spid="7" grpId="0" animBg="1"/>
      <p:bldP spid="37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438" y="5754479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8" y="5790992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1" name="Group 7"/>
          <p:cNvGrpSpPr>
            <a:grpSpLocks/>
          </p:cNvGrpSpPr>
          <p:nvPr/>
        </p:nvGrpSpPr>
        <p:grpSpPr bwMode="auto">
          <a:xfrm>
            <a:off x="1924050" y="3616117"/>
            <a:ext cx="3251200" cy="333375"/>
            <a:chOff x="1225" y="2029"/>
            <a:chExt cx="2048" cy="210"/>
          </a:xfrm>
        </p:grpSpPr>
        <p:sp>
          <p:nvSpPr>
            <p:cNvPr id="9264" name="Line 8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65" name="Line 9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66" name="Line 10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67" name="Line 11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68" name="Line 12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69" name="Line 13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0" name="Line 14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1" name="Line 15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2" name="Line 16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3" name="Line 17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4" name="Line 18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5" name="Line 19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6" name="Line 20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7" name="Line 21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8" name="Line 22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9" name="Line 23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0" name="Line 24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1" name="Line 25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2" name="Line 26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3" name="Line 27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4" name="Line 28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5" name="Line 29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6" name="Line 30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7" name="Line 31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8" name="Line 32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9" name="Line 33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90" name="Line 34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91" name="Line 35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92" name="Line 36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93" name="Line 37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94" name="Line 38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9222" name="Line 39"/>
          <p:cNvSpPr>
            <a:spLocks noChangeShapeType="1"/>
          </p:cNvSpPr>
          <p:nvPr/>
        </p:nvSpPr>
        <p:spPr bwMode="auto">
          <a:xfrm flipH="1">
            <a:off x="2503488" y="4001879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9223" name="Line 40"/>
          <p:cNvSpPr>
            <a:spLocks noChangeShapeType="1"/>
          </p:cNvSpPr>
          <p:nvPr/>
        </p:nvSpPr>
        <p:spPr bwMode="auto">
          <a:xfrm>
            <a:off x="3587750" y="3998704"/>
            <a:ext cx="1068388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9224" name="Text Box 41"/>
          <p:cNvSpPr txBox="1">
            <a:spLocks noChangeArrowheads="1"/>
          </p:cNvSpPr>
          <p:nvPr/>
        </p:nvSpPr>
        <p:spPr bwMode="auto">
          <a:xfrm>
            <a:off x="4179888" y="4351764"/>
            <a:ext cx="87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 = 1m</a:t>
            </a:r>
          </a:p>
        </p:txBody>
      </p:sp>
      <p:sp>
        <p:nvSpPr>
          <p:cNvPr id="9225" name="Text Box 42"/>
          <p:cNvSpPr txBox="1">
            <a:spLocks noChangeArrowheads="1"/>
          </p:cNvSpPr>
          <p:nvPr/>
        </p:nvSpPr>
        <p:spPr bwMode="auto">
          <a:xfrm>
            <a:off x="2025650" y="4339064"/>
            <a:ext cx="877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 = 1m</a:t>
            </a:r>
          </a:p>
        </p:txBody>
      </p:sp>
      <p:sp>
        <p:nvSpPr>
          <p:cNvPr id="9226" name="Line 43"/>
          <p:cNvSpPr>
            <a:spLocks noChangeShapeType="1"/>
          </p:cNvSpPr>
          <p:nvPr/>
        </p:nvSpPr>
        <p:spPr bwMode="auto">
          <a:xfrm>
            <a:off x="3581400" y="3618392"/>
            <a:ext cx="11113" cy="3100388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9227" name="Text Box 44"/>
          <p:cNvSpPr txBox="1">
            <a:spLocks noChangeArrowheads="1"/>
          </p:cNvSpPr>
          <p:nvPr/>
        </p:nvSpPr>
        <p:spPr bwMode="auto">
          <a:xfrm>
            <a:off x="3576638" y="5163277"/>
            <a:ext cx="974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= 30º</a:t>
            </a:r>
          </a:p>
        </p:txBody>
      </p:sp>
      <p:sp>
        <p:nvSpPr>
          <p:cNvPr id="9228" name="Text Box 45"/>
          <p:cNvSpPr txBox="1">
            <a:spLocks noChangeArrowheads="1"/>
          </p:cNvSpPr>
          <p:nvPr/>
        </p:nvSpPr>
        <p:spPr bwMode="auto">
          <a:xfrm>
            <a:off x="2432820" y="5164664"/>
            <a:ext cx="974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= 30º</a:t>
            </a:r>
          </a:p>
        </p:txBody>
      </p:sp>
      <p:sp>
        <p:nvSpPr>
          <p:cNvPr id="9229" name="Text Box 46"/>
          <p:cNvSpPr txBox="1">
            <a:spLocks noChangeArrowheads="1"/>
          </p:cNvSpPr>
          <p:nvPr/>
        </p:nvSpPr>
        <p:spPr bwMode="auto">
          <a:xfrm>
            <a:off x="1204441" y="2605096"/>
            <a:ext cx="437584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</a:rPr>
              <a:t>Dato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 g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=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9,81 m/s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       </a:t>
            </a:r>
            <a:r>
              <a:rPr lang="es-ES" sz="2400" dirty="0">
                <a:latin typeface="Arial" panose="020B0604020202020204" pitchFamily="34" charset="0"/>
              </a:rPr>
              <a:t>(promedio en superficie)</a:t>
            </a:r>
          </a:p>
        </p:txBody>
      </p:sp>
      <p:sp>
        <p:nvSpPr>
          <p:cNvPr id="9230" name="Freeform 47"/>
          <p:cNvSpPr>
            <a:spLocks/>
          </p:cNvSpPr>
          <p:nvPr/>
        </p:nvSpPr>
        <p:spPr bwMode="auto">
          <a:xfrm>
            <a:off x="3090863" y="4854367"/>
            <a:ext cx="496887" cy="174625"/>
          </a:xfrm>
          <a:custGeom>
            <a:avLst/>
            <a:gdLst>
              <a:gd name="T0" fmla="*/ 0 w 313"/>
              <a:gd name="T1" fmla="*/ 0 h 110"/>
              <a:gd name="T2" fmla="*/ 2147483646 w 313"/>
              <a:gd name="T3" fmla="*/ 2147483646 h 110"/>
              <a:gd name="T4" fmla="*/ 2147483646 w 313"/>
              <a:gd name="T5" fmla="*/ 2147483646 h 110"/>
              <a:gd name="T6" fmla="*/ 0 60000 65536"/>
              <a:gd name="T7" fmla="*/ 0 60000 65536"/>
              <a:gd name="T8" fmla="*/ 0 60000 65536"/>
              <a:gd name="T9" fmla="*/ 0 w 313"/>
              <a:gd name="T10" fmla="*/ 0 h 110"/>
              <a:gd name="T11" fmla="*/ 313 w 313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110">
                <a:moveTo>
                  <a:pt x="0" y="0"/>
                </a:moveTo>
                <a:cubicBezTo>
                  <a:pt x="28" y="27"/>
                  <a:pt x="57" y="55"/>
                  <a:pt x="109" y="73"/>
                </a:cubicBezTo>
                <a:cubicBezTo>
                  <a:pt x="161" y="91"/>
                  <a:pt x="237" y="100"/>
                  <a:pt x="313" y="11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arrow" w="lg" len="lg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9231" name="Freeform 48"/>
          <p:cNvSpPr>
            <a:spLocks/>
          </p:cNvSpPr>
          <p:nvPr/>
        </p:nvSpPr>
        <p:spPr bwMode="auto">
          <a:xfrm flipH="1">
            <a:off x="3584575" y="4859129"/>
            <a:ext cx="496888" cy="174625"/>
          </a:xfrm>
          <a:custGeom>
            <a:avLst/>
            <a:gdLst>
              <a:gd name="T0" fmla="*/ 0 w 313"/>
              <a:gd name="T1" fmla="*/ 0 h 110"/>
              <a:gd name="T2" fmla="*/ 2147483646 w 313"/>
              <a:gd name="T3" fmla="*/ 2147483646 h 110"/>
              <a:gd name="T4" fmla="*/ 2147483646 w 313"/>
              <a:gd name="T5" fmla="*/ 2147483646 h 110"/>
              <a:gd name="T6" fmla="*/ 0 60000 65536"/>
              <a:gd name="T7" fmla="*/ 0 60000 65536"/>
              <a:gd name="T8" fmla="*/ 0 60000 65536"/>
              <a:gd name="T9" fmla="*/ 0 w 313"/>
              <a:gd name="T10" fmla="*/ 0 h 110"/>
              <a:gd name="T11" fmla="*/ 313 w 313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110">
                <a:moveTo>
                  <a:pt x="0" y="0"/>
                </a:moveTo>
                <a:cubicBezTo>
                  <a:pt x="28" y="27"/>
                  <a:pt x="57" y="55"/>
                  <a:pt x="109" y="73"/>
                </a:cubicBezTo>
                <a:cubicBezTo>
                  <a:pt x="161" y="91"/>
                  <a:pt x="237" y="100"/>
                  <a:pt x="313" y="11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arrow" w="lg" len="lg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53316" name="Group 68"/>
          <p:cNvGrpSpPr>
            <a:grpSpLocks/>
          </p:cNvGrpSpPr>
          <p:nvPr/>
        </p:nvGrpSpPr>
        <p:grpSpPr bwMode="auto">
          <a:xfrm>
            <a:off x="7073900" y="4055745"/>
            <a:ext cx="2003425" cy="1258888"/>
            <a:chOff x="4380" y="2247"/>
            <a:chExt cx="1262" cy="793"/>
          </a:xfrm>
        </p:grpSpPr>
        <p:grpSp>
          <p:nvGrpSpPr>
            <p:cNvPr id="9260" name="Group 49"/>
            <p:cNvGrpSpPr>
              <a:grpSpLocks/>
            </p:cNvGrpSpPr>
            <p:nvPr/>
          </p:nvGrpSpPr>
          <p:grpSpPr bwMode="auto">
            <a:xfrm>
              <a:off x="4380" y="2530"/>
              <a:ext cx="1262" cy="510"/>
              <a:chOff x="4356" y="2610"/>
              <a:chExt cx="1262" cy="510"/>
            </a:xfrm>
          </p:grpSpPr>
          <p:sp>
            <p:nvSpPr>
              <p:cNvPr id="9262" name="Rectangle 50"/>
              <p:cNvSpPr>
                <a:spLocks noChangeArrowheads="1"/>
              </p:cNvSpPr>
              <p:nvPr/>
            </p:nvSpPr>
            <p:spPr bwMode="auto">
              <a:xfrm>
                <a:off x="4356" y="2610"/>
                <a:ext cx="1262" cy="510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9263" name="Object 51"/>
              <p:cNvGraphicFramePr>
                <a:graphicFrameLocks noChangeAspect="1"/>
              </p:cNvGraphicFramePr>
              <p:nvPr/>
            </p:nvGraphicFramePr>
            <p:xfrm>
              <a:off x="4503" y="2652"/>
              <a:ext cx="941" cy="4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583693" imgH="266469" progId="Equation.3">
                      <p:embed/>
                    </p:oleObj>
                  </mc:Choice>
                  <mc:Fallback>
                    <p:oleObj name="Ecuación" r:id="rId4" imgW="583693" imgH="266469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3" y="2652"/>
                            <a:ext cx="941" cy="4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61" name="AutoShape 60"/>
            <p:cNvSpPr>
              <a:spLocks noChangeArrowheads="1"/>
            </p:cNvSpPr>
            <p:nvPr/>
          </p:nvSpPr>
          <p:spPr bwMode="auto">
            <a:xfrm>
              <a:off x="4648" y="2247"/>
              <a:ext cx="728" cy="184"/>
            </a:xfrm>
            <a:prstGeom prst="downArrow">
              <a:avLst>
                <a:gd name="adj1" fmla="val 52194"/>
                <a:gd name="adj2" fmla="val 5543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258" name="Text Box 56"/>
          <p:cNvSpPr txBox="1">
            <a:spLocks noChangeArrowheads="1"/>
          </p:cNvSpPr>
          <p:nvPr/>
        </p:nvSpPr>
        <p:spPr bwMode="auto">
          <a:xfrm>
            <a:off x="6179186" y="2766717"/>
            <a:ext cx="3908425" cy="53657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CARGAS EN EQUILIBRIO</a:t>
            </a:r>
          </a:p>
        </p:txBody>
      </p:sp>
      <p:sp>
        <p:nvSpPr>
          <p:cNvPr id="9259" name="Text Box 62"/>
          <p:cNvSpPr txBox="1">
            <a:spLocks noChangeArrowheads="1"/>
          </p:cNvSpPr>
          <p:nvPr/>
        </p:nvSpPr>
        <p:spPr bwMode="auto">
          <a:xfrm>
            <a:off x="5817236" y="3363178"/>
            <a:ext cx="45450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(quietas respecto al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sist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. de ref.)</a:t>
            </a:r>
          </a:p>
        </p:txBody>
      </p:sp>
      <p:sp>
        <p:nvSpPr>
          <p:cNvPr id="247875" name="Text Box 67"/>
          <p:cNvSpPr txBox="1">
            <a:spLocks noChangeArrowheads="1"/>
          </p:cNvSpPr>
          <p:nvPr/>
        </p:nvSpPr>
        <p:spPr bwMode="auto">
          <a:xfrm>
            <a:off x="9178608" y="4285615"/>
            <a:ext cx="1211262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sobre cada carga</a:t>
            </a:r>
          </a:p>
        </p:txBody>
      </p:sp>
      <p:sp>
        <p:nvSpPr>
          <p:cNvPr id="53323" name="Text Box 75"/>
          <p:cNvSpPr txBox="1">
            <a:spLocks noChangeArrowheads="1"/>
          </p:cNvSpPr>
          <p:nvPr/>
        </p:nvSpPr>
        <p:spPr bwMode="auto">
          <a:xfrm>
            <a:off x="5591175" y="5665507"/>
            <a:ext cx="5043666" cy="46384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 debe verificar por componentes: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B4F9414-D0F5-44DE-B5ED-8C788EE960B3}"/>
              </a:ext>
            </a:extLst>
          </p:cNvPr>
          <p:cNvGrpSpPr/>
          <p:nvPr/>
        </p:nvGrpSpPr>
        <p:grpSpPr>
          <a:xfrm>
            <a:off x="5867476" y="6204265"/>
            <a:ext cx="4377582" cy="616454"/>
            <a:chOff x="5867476" y="6204265"/>
            <a:chExt cx="4377582" cy="616454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5A2E329-3F0A-409B-B842-FDA1DB5E2A38}"/>
                </a:ext>
              </a:extLst>
            </p:cNvPr>
            <p:cNvSpPr/>
            <p:nvPr/>
          </p:nvSpPr>
          <p:spPr bwMode="auto">
            <a:xfrm>
              <a:off x="5867476" y="6204265"/>
              <a:ext cx="4377582" cy="61645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3330" name="Group 82"/>
            <p:cNvGrpSpPr>
              <a:grpSpLocks/>
            </p:cNvGrpSpPr>
            <p:nvPr/>
          </p:nvGrpSpPr>
          <p:grpSpPr bwMode="auto">
            <a:xfrm>
              <a:off x="5956300" y="6284109"/>
              <a:ext cx="4157663" cy="490538"/>
              <a:chOff x="3812" y="3908"/>
              <a:chExt cx="2619" cy="309"/>
            </a:xfrm>
          </p:grpSpPr>
          <p:grpSp>
            <p:nvGrpSpPr>
              <p:cNvPr id="9246" name="Group 79"/>
              <p:cNvGrpSpPr>
                <a:grpSpLocks/>
              </p:cNvGrpSpPr>
              <p:nvPr/>
            </p:nvGrpSpPr>
            <p:grpSpPr bwMode="auto">
              <a:xfrm>
                <a:off x="3812" y="3908"/>
                <a:ext cx="840" cy="308"/>
                <a:chOff x="3840" y="3899"/>
                <a:chExt cx="840" cy="308"/>
              </a:xfrm>
            </p:grpSpPr>
            <p:graphicFrame>
              <p:nvGraphicFramePr>
                <p:cNvPr id="9255" name="Object 53"/>
                <p:cNvGraphicFramePr>
                  <a:graphicFrameLocks noChangeAspect="1"/>
                </p:cNvGraphicFramePr>
                <p:nvPr/>
              </p:nvGraphicFramePr>
              <p:xfrm>
                <a:off x="3840" y="3899"/>
                <a:ext cx="840" cy="3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6" imgW="520474" imgH="190417" progId="Equation.3">
                        <p:embed/>
                      </p:oleObj>
                    </mc:Choice>
                    <mc:Fallback>
                      <p:oleObj name="Ecuación" r:id="rId6" imgW="520474" imgH="190417" progId="Equation.3">
                        <p:embed/>
                        <p:pic>
                          <p:nvPicPr>
                            <p:cNvPr id="0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40" y="3899"/>
                              <a:ext cx="840" cy="3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56" name="Line 69"/>
                <p:cNvSpPr>
                  <a:spLocks noChangeShapeType="1"/>
                </p:cNvSpPr>
                <p:nvPr/>
              </p:nvSpPr>
              <p:spPr bwMode="auto">
                <a:xfrm>
                  <a:off x="4101" y="3927"/>
                  <a:ext cx="1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9257" name="Line 70"/>
                <p:cNvSpPr>
                  <a:spLocks noChangeShapeType="1"/>
                </p:cNvSpPr>
                <p:nvPr/>
              </p:nvSpPr>
              <p:spPr bwMode="auto">
                <a:xfrm>
                  <a:off x="4475" y="3930"/>
                  <a:ext cx="1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grpSp>
            <p:nvGrpSpPr>
              <p:cNvPr id="2" name="Group 80"/>
              <p:cNvGrpSpPr>
                <a:grpSpLocks/>
              </p:cNvGrpSpPr>
              <p:nvPr/>
            </p:nvGrpSpPr>
            <p:grpSpPr bwMode="auto">
              <a:xfrm>
                <a:off x="4752" y="3909"/>
                <a:ext cx="819" cy="308"/>
                <a:chOff x="4753" y="3918"/>
                <a:chExt cx="819" cy="308"/>
              </a:xfrm>
            </p:grpSpPr>
            <p:graphicFrame>
              <p:nvGraphicFramePr>
                <p:cNvPr id="9252" name="Object 54"/>
                <p:cNvGraphicFramePr>
                  <a:graphicFrameLocks noChangeAspect="1"/>
                </p:cNvGraphicFramePr>
                <p:nvPr/>
              </p:nvGraphicFramePr>
              <p:xfrm>
                <a:off x="4753" y="3918"/>
                <a:ext cx="819" cy="3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8" imgW="508000" imgH="190500" progId="Equation.3">
                        <p:embed/>
                      </p:oleObj>
                    </mc:Choice>
                    <mc:Fallback>
                      <p:oleObj name="Ecuación" r:id="rId8" imgW="508000" imgH="190500" progId="Equation.3">
                        <p:embed/>
                        <p:pic>
                          <p:nvPicPr>
                            <p:cNvPr id="0" name="Object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53" y="3918"/>
                              <a:ext cx="819" cy="3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53" name="Line 71"/>
                <p:cNvSpPr>
                  <a:spLocks noChangeShapeType="1"/>
                </p:cNvSpPr>
                <p:nvPr/>
              </p:nvSpPr>
              <p:spPr bwMode="auto">
                <a:xfrm>
                  <a:off x="5009" y="3950"/>
                  <a:ext cx="1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9254" name="Line 72"/>
                <p:cNvSpPr>
                  <a:spLocks noChangeShapeType="1"/>
                </p:cNvSpPr>
                <p:nvPr/>
              </p:nvSpPr>
              <p:spPr bwMode="auto">
                <a:xfrm>
                  <a:off x="5383" y="3953"/>
                  <a:ext cx="1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grpSp>
            <p:nvGrpSpPr>
              <p:cNvPr id="3" name="Group 81"/>
              <p:cNvGrpSpPr>
                <a:grpSpLocks/>
              </p:cNvGrpSpPr>
              <p:nvPr/>
            </p:nvGrpSpPr>
            <p:grpSpPr bwMode="auto">
              <a:xfrm>
                <a:off x="5672" y="3928"/>
                <a:ext cx="759" cy="268"/>
                <a:chOff x="5700" y="3919"/>
                <a:chExt cx="759" cy="268"/>
              </a:xfrm>
            </p:grpSpPr>
            <p:graphicFrame>
              <p:nvGraphicFramePr>
                <p:cNvPr id="9249" name="Object 54"/>
                <p:cNvGraphicFramePr>
                  <a:graphicFrameLocks noChangeAspect="1"/>
                </p:cNvGraphicFramePr>
                <p:nvPr/>
              </p:nvGraphicFramePr>
              <p:xfrm>
                <a:off x="5700" y="3919"/>
                <a:ext cx="759" cy="2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10" imgW="685800" imgH="241300" progId="Equation.3">
                        <p:embed/>
                      </p:oleObj>
                    </mc:Choice>
                    <mc:Fallback>
                      <p:oleObj name="Ecuación" r:id="rId10" imgW="685800" imgH="241300" progId="Equation.3">
                        <p:embed/>
                        <p:pic>
                          <p:nvPicPr>
                            <p:cNvPr id="0" name="Object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00" y="3919"/>
                              <a:ext cx="759" cy="26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50" name="Line 77"/>
                <p:cNvSpPr>
                  <a:spLocks noChangeShapeType="1"/>
                </p:cNvSpPr>
                <p:nvPr/>
              </p:nvSpPr>
              <p:spPr bwMode="auto">
                <a:xfrm>
                  <a:off x="5933" y="3935"/>
                  <a:ext cx="1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9251" name="Line 78"/>
                <p:cNvSpPr>
                  <a:spLocks noChangeShapeType="1"/>
                </p:cNvSpPr>
                <p:nvPr/>
              </p:nvSpPr>
              <p:spPr bwMode="auto">
                <a:xfrm>
                  <a:off x="6307" y="3938"/>
                  <a:ext cx="1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</p:grpSp>
      </p:grpSp>
      <p:sp>
        <p:nvSpPr>
          <p:cNvPr id="9237" name="Line 83"/>
          <p:cNvSpPr>
            <a:spLocks noChangeShapeType="1"/>
          </p:cNvSpPr>
          <p:nvPr/>
        </p:nvSpPr>
        <p:spPr bwMode="auto">
          <a:xfrm flipV="1">
            <a:off x="1673225" y="5454650"/>
            <a:ext cx="0" cy="11096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9238" name="Line 84"/>
          <p:cNvSpPr>
            <a:spLocks noChangeShapeType="1"/>
          </p:cNvSpPr>
          <p:nvPr/>
        </p:nvSpPr>
        <p:spPr bwMode="auto">
          <a:xfrm>
            <a:off x="1662113" y="6553200"/>
            <a:ext cx="782637" cy="0"/>
          </a:xfrm>
          <a:prstGeom prst="line">
            <a:avLst/>
          </a:prstGeom>
          <a:noFill/>
          <a:ln w="25400">
            <a:solidFill>
              <a:srgbClr val="3333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9239" name="Text Box 85"/>
          <p:cNvSpPr txBox="1">
            <a:spLocks noChangeArrowheads="1"/>
          </p:cNvSpPr>
          <p:nvPr/>
        </p:nvSpPr>
        <p:spPr bwMode="auto">
          <a:xfrm>
            <a:off x="2430463" y="6346825"/>
            <a:ext cx="38694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240" name="Text Box 86"/>
          <p:cNvSpPr txBox="1">
            <a:spLocks noChangeArrowheads="1"/>
          </p:cNvSpPr>
          <p:nvPr/>
        </p:nvSpPr>
        <p:spPr bwMode="auto">
          <a:xfrm>
            <a:off x="1503363" y="4973638"/>
            <a:ext cx="38694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241" name="Oval 87"/>
          <p:cNvSpPr>
            <a:spLocks noChangeArrowheads="1"/>
          </p:cNvSpPr>
          <p:nvPr/>
        </p:nvSpPr>
        <p:spPr bwMode="auto">
          <a:xfrm>
            <a:off x="1617663" y="6488113"/>
            <a:ext cx="107950" cy="107950"/>
          </a:xfrm>
          <a:prstGeom prst="ellipse">
            <a:avLst/>
          </a:prstGeom>
          <a:solidFill>
            <a:srgbClr val="3333FF"/>
          </a:solidFill>
          <a:ln w="12700" algn="ctr">
            <a:solidFill>
              <a:srgbClr val="3333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42" name="Text Box 88"/>
          <p:cNvSpPr txBox="1">
            <a:spLocks noChangeArrowheads="1"/>
          </p:cNvSpPr>
          <p:nvPr/>
        </p:nvSpPr>
        <p:spPr bwMode="auto">
          <a:xfrm>
            <a:off x="1304925" y="6456363"/>
            <a:ext cx="36931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Z</a:t>
            </a:r>
          </a:p>
        </p:txBody>
      </p:sp>
      <p:sp>
        <p:nvSpPr>
          <p:cNvPr id="9244" name="Text Box 84"/>
          <p:cNvSpPr txBox="1">
            <a:spLocks noChangeArrowheads="1"/>
          </p:cNvSpPr>
          <p:nvPr/>
        </p:nvSpPr>
        <p:spPr bwMode="auto">
          <a:xfrm>
            <a:off x="1175657" y="625093"/>
            <a:ext cx="9288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s-ES" sz="2400" dirty="0">
                <a:solidFill>
                  <a:schemeClr val="tx1"/>
                </a:solidFill>
              </a:rPr>
              <a:t>Las esferas de la figura poseen la misma carga q, la misma masa m (10 </a:t>
            </a:r>
            <a:r>
              <a:rPr lang="es-ES" sz="2400">
                <a:solidFill>
                  <a:schemeClr val="tx1"/>
                </a:solidFill>
              </a:rPr>
              <a:t>g), </a:t>
            </a:r>
            <a:r>
              <a:rPr lang="es-ES" sz="2400" dirty="0">
                <a:solidFill>
                  <a:schemeClr val="tx1"/>
                </a:solidFill>
              </a:rPr>
              <a:t>son muy pequeñas (</a:t>
            </a:r>
            <a:r>
              <a:rPr lang="es-ES" sz="2400">
                <a:solidFill>
                  <a:schemeClr val="tx1"/>
                </a:solidFill>
              </a:rPr>
              <a:t>puntuales) y están en equilibrio. Calcular: </a:t>
            </a:r>
            <a:r>
              <a:rPr lang="es-ES" sz="2400" dirty="0">
                <a:solidFill>
                  <a:schemeClr val="tx1"/>
                </a:solidFill>
              </a:rPr>
              <a:t>a) la tensión de </a:t>
            </a:r>
            <a:r>
              <a:rPr lang="es-ES" sz="2400">
                <a:solidFill>
                  <a:schemeClr val="tx1"/>
                </a:solidFill>
              </a:rPr>
              <a:t>los hilos, </a:t>
            </a:r>
            <a:r>
              <a:rPr lang="es-ES" sz="2400" dirty="0">
                <a:solidFill>
                  <a:schemeClr val="tx1"/>
                </a:solidFill>
              </a:rPr>
              <a:t>y b</a:t>
            </a:r>
            <a:r>
              <a:rPr lang="es-ES" sz="2400">
                <a:solidFill>
                  <a:schemeClr val="tx1"/>
                </a:solidFill>
              </a:rPr>
              <a:t>) la carga de las esferas.</a:t>
            </a:r>
          </a:p>
          <a:p>
            <a:pPr algn="just"/>
            <a:r>
              <a:rPr lang="es-ES" sz="2400">
                <a:solidFill>
                  <a:schemeClr val="tx1"/>
                </a:solidFill>
              </a:rPr>
              <a:t>Y si </a:t>
            </a:r>
            <a:r>
              <a:rPr lang="es-ES" sz="2400" dirty="0">
                <a:solidFill>
                  <a:schemeClr val="tx1"/>
                </a:solidFill>
              </a:rPr>
              <a:t>se retira una esfera: c) la velocidad de la </a:t>
            </a:r>
            <a:r>
              <a:rPr lang="es-ES" sz="2400">
                <a:solidFill>
                  <a:schemeClr val="tx1"/>
                </a:solidFill>
              </a:rPr>
              <a:t>otra al </a:t>
            </a:r>
            <a:r>
              <a:rPr lang="es-ES" sz="2400" dirty="0">
                <a:solidFill>
                  <a:schemeClr val="tx1"/>
                </a:solidFill>
              </a:rPr>
              <a:t>paso por </a:t>
            </a:r>
            <a:r>
              <a:rPr lang="es-ES" sz="2400">
                <a:solidFill>
                  <a:schemeClr val="tx1"/>
                </a:solidFill>
              </a:rPr>
              <a:t>la vertical, </a:t>
            </a:r>
            <a:r>
              <a:rPr lang="es-ES" sz="2400" dirty="0">
                <a:solidFill>
                  <a:schemeClr val="tx1"/>
                </a:solidFill>
              </a:rPr>
              <a:t>y d) el campo eléctrico necesario para que no se mueva.</a:t>
            </a:r>
          </a:p>
        </p:txBody>
      </p:sp>
      <p:sp>
        <p:nvSpPr>
          <p:cNvPr id="9245" name="Text Box 44"/>
          <p:cNvSpPr txBox="1">
            <a:spLocks noChangeArrowheads="1"/>
          </p:cNvSpPr>
          <p:nvPr/>
        </p:nvSpPr>
        <p:spPr bwMode="auto">
          <a:xfrm>
            <a:off x="3735042" y="115426"/>
            <a:ext cx="4070153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1 - PROBLEMA 9</a:t>
            </a:r>
          </a:p>
        </p:txBody>
      </p:sp>
      <p:sp>
        <p:nvSpPr>
          <p:cNvPr id="78" name="Text Box 62">
            <a:extLst>
              <a:ext uri="{FF2B5EF4-FFF2-40B4-BE49-F238E27FC236}">
                <a16:creationId xmlns:a16="http://schemas.microsoft.com/office/drawing/2014/main" id="{354DF759-31BD-48B2-857F-4AA786A78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564" y="6254004"/>
            <a:ext cx="72228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: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f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8" grpId="0" animBg="1"/>
      <p:bldP spid="9259" grpId="0"/>
      <p:bldP spid="247875" grpId="0"/>
      <p:bldP spid="533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/>
          <p:cNvSpPr txBox="1"/>
          <p:nvPr/>
        </p:nvSpPr>
        <p:spPr>
          <a:xfrm>
            <a:off x="278765" y="1717968"/>
            <a:ext cx="5392420" cy="1398808"/>
          </a:xfrm>
          <a:prstGeom prst="rect">
            <a:avLst/>
          </a:prstGeom>
          <a:solidFill>
            <a:srgbClr val="CCFFCC"/>
          </a:solidFill>
        </p:spPr>
        <p:txBody>
          <a:bodyPr wrap="square" lIns="144000" tIns="144000" rIns="144000" bIns="144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just">
              <a:defRPr/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 </a:t>
            </a:r>
            <a:r>
              <a:rPr lang="es-ES" sz="2400" dirty="0">
                <a:solidFill>
                  <a:schemeClr val="tx1"/>
                </a:solidFill>
              </a:rPr>
              <a:t>Los hilos tienen la misma </a:t>
            </a:r>
            <a:r>
              <a:rPr lang="es-ES" sz="2400" dirty="0">
                <a:solidFill>
                  <a:srgbClr val="3333FF"/>
                </a:solidFill>
              </a:rPr>
              <a:t>tensión</a:t>
            </a:r>
            <a:r>
              <a:rPr lang="es-ES" sz="2400" dirty="0">
                <a:solidFill>
                  <a:schemeClr val="tx1"/>
                </a:solidFill>
              </a:rPr>
              <a:t> por simetría: si se gira 180º respecto a ese eje vertical todo queda igual</a:t>
            </a:r>
          </a:p>
        </p:txBody>
      </p:sp>
      <p:sp>
        <p:nvSpPr>
          <p:cNvPr id="2" name="CuadroTexto 16"/>
          <p:cNvSpPr txBox="1"/>
          <p:nvPr/>
        </p:nvSpPr>
        <p:spPr>
          <a:xfrm>
            <a:off x="5936070" y="1702322"/>
            <a:ext cx="4392840" cy="2137472"/>
          </a:xfrm>
          <a:prstGeom prst="rect">
            <a:avLst/>
          </a:prstGeom>
          <a:solidFill>
            <a:srgbClr val="CCFFCC"/>
          </a:solidFill>
        </p:spPr>
        <p:txBody>
          <a:bodyPr wrap="square" lIns="144000" tIns="144000" rIns="144000" bIns="144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just">
              <a:defRPr/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 </a:t>
            </a: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>
                <a:solidFill>
                  <a:srgbClr val="3333FF"/>
                </a:solidFill>
              </a:rPr>
              <a:t>fuerza gravitatoria </a:t>
            </a:r>
            <a:r>
              <a:rPr lang="es-ES" sz="2400">
                <a:solidFill>
                  <a:schemeClr val="tx1"/>
                </a:solidFill>
              </a:rPr>
              <a:t>que ejerce una esfera sobre otra la supondremos despreciable respecto a la </a:t>
            </a:r>
            <a:r>
              <a:rPr lang="es-ES" sz="2400">
                <a:solidFill>
                  <a:srgbClr val="3333FF"/>
                </a:solidFill>
              </a:rPr>
              <a:t>eléctrica</a:t>
            </a:r>
            <a:endParaRPr lang="es-ES" sz="24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s-ES" sz="2400"/>
              <a:t>(sale sobre 10</a:t>
            </a:r>
            <a:r>
              <a:rPr lang="es-ES" sz="2400" baseline="30000"/>
              <a:t>13</a:t>
            </a:r>
            <a:r>
              <a:rPr lang="es-ES" sz="2400"/>
              <a:t> veces menor)</a:t>
            </a:r>
            <a:endParaRPr lang="es-ES" sz="2400" dirty="0"/>
          </a:p>
        </p:txBody>
      </p:sp>
      <p:sp>
        <p:nvSpPr>
          <p:cNvPr id="3" name="CuadroTexto 16"/>
          <p:cNvSpPr txBox="1"/>
          <p:nvPr/>
        </p:nvSpPr>
        <p:spPr>
          <a:xfrm>
            <a:off x="5955348" y="4031788"/>
            <a:ext cx="4373562" cy="2862519"/>
          </a:xfrm>
          <a:prstGeom prst="rect">
            <a:avLst/>
          </a:prstGeom>
          <a:solidFill>
            <a:srgbClr val="CCFFCC"/>
          </a:solidFill>
        </p:spPr>
        <p:txBody>
          <a:bodyPr lIns="144000" tIns="144000" rIns="144000" bIns="144000" anchor="ctr" anchorCtr="1">
            <a:no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just">
              <a:defRPr/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 </a:t>
            </a:r>
            <a:r>
              <a:rPr lang="es-ES" sz="2400">
                <a:solidFill>
                  <a:srgbClr val="3333FF"/>
                </a:solidFill>
              </a:rPr>
              <a:t>La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rgbClr val="3333FF"/>
                </a:solidFill>
              </a:rPr>
              <a:t>Tierra</a:t>
            </a:r>
            <a:r>
              <a:rPr lang="es-ES" sz="2400" dirty="0">
                <a:solidFill>
                  <a:schemeClr val="tx1"/>
                </a:solidFill>
              </a:rPr>
              <a:t> supondremos que ejerce fuerza gravitatoria, pero no fuerza eléctrica. La consideraremos neutra con la misma posición promedio de Q</a:t>
            </a:r>
            <a:r>
              <a:rPr lang="es-ES" sz="2400" baseline="30000" dirty="0">
                <a:solidFill>
                  <a:schemeClr val="tx1"/>
                </a:solidFill>
              </a:rPr>
              <a:t>+</a:t>
            </a:r>
            <a:r>
              <a:rPr lang="es-ES" sz="2400" dirty="0">
                <a:solidFill>
                  <a:schemeClr val="tx1"/>
                </a:solidFill>
              </a:rPr>
              <a:t> y Q</a:t>
            </a:r>
            <a:r>
              <a:rPr lang="es-ES" sz="2400" baseline="30000" dirty="0">
                <a:solidFill>
                  <a:schemeClr val="tx1"/>
                </a:solidFill>
              </a:rPr>
              <a:t>-</a:t>
            </a:r>
            <a:r>
              <a:rPr lang="es-ES" sz="2400" dirty="0">
                <a:solidFill>
                  <a:schemeClr val="tx1"/>
                </a:solidFill>
              </a:rPr>
              <a:t>, es decir, como si fuese una carga puntual nula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D57F26B-E6A2-40ED-B814-1975025F770A}"/>
              </a:ext>
            </a:extLst>
          </p:cNvPr>
          <p:cNvGrpSpPr/>
          <p:nvPr/>
        </p:nvGrpSpPr>
        <p:grpSpPr>
          <a:xfrm>
            <a:off x="5951334" y="632478"/>
            <a:ext cx="4377582" cy="616454"/>
            <a:chOff x="5951328" y="587322"/>
            <a:chExt cx="4377582" cy="616454"/>
          </a:xfrm>
        </p:grpSpPr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3295AB8E-36D2-49A0-990F-0F1F867AAD9F}"/>
                </a:ext>
              </a:extLst>
            </p:cNvPr>
            <p:cNvSpPr/>
            <p:nvPr/>
          </p:nvSpPr>
          <p:spPr bwMode="auto">
            <a:xfrm>
              <a:off x="5951328" y="587322"/>
              <a:ext cx="4377582" cy="61645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8" name="Group 82"/>
            <p:cNvGrpSpPr>
              <a:grpSpLocks/>
            </p:cNvGrpSpPr>
            <p:nvPr/>
          </p:nvGrpSpPr>
          <p:grpSpPr bwMode="auto">
            <a:xfrm>
              <a:off x="6063297" y="665730"/>
              <a:ext cx="4157663" cy="490538"/>
              <a:chOff x="3812" y="3908"/>
              <a:chExt cx="2619" cy="309"/>
            </a:xfrm>
          </p:grpSpPr>
          <p:graphicFrame>
            <p:nvGraphicFramePr>
              <p:cNvPr id="78" name="Object 53"/>
              <p:cNvGraphicFramePr>
                <a:graphicFrameLocks noChangeAspect="1"/>
              </p:cNvGraphicFramePr>
              <p:nvPr/>
            </p:nvGraphicFramePr>
            <p:xfrm>
              <a:off x="3812" y="3908"/>
              <a:ext cx="840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520474" imgH="190417" progId="Equation.3">
                      <p:embed/>
                    </p:oleObj>
                  </mc:Choice>
                  <mc:Fallback>
                    <p:oleObj name="Ecuación" r:id="rId3" imgW="520474" imgH="19041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2" y="3908"/>
                            <a:ext cx="840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54"/>
              <p:cNvGraphicFramePr>
                <a:graphicFrameLocks noChangeAspect="1"/>
              </p:cNvGraphicFramePr>
              <p:nvPr/>
            </p:nvGraphicFramePr>
            <p:xfrm>
              <a:off x="4752" y="3909"/>
              <a:ext cx="819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508000" imgH="190500" progId="Equation.3">
                      <p:embed/>
                    </p:oleObj>
                  </mc:Choice>
                  <mc:Fallback>
                    <p:oleObj name="Ecuación" r:id="rId5" imgW="508000" imgH="1905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3909"/>
                            <a:ext cx="819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54"/>
              <p:cNvGraphicFramePr>
                <a:graphicFrameLocks noChangeAspect="1"/>
              </p:cNvGraphicFramePr>
              <p:nvPr/>
            </p:nvGraphicFramePr>
            <p:xfrm>
              <a:off x="5672" y="3928"/>
              <a:ext cx="759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685800" imgH="241300" progId="Equation.3">
                      <p:embed/>
                    </p:oleObj>
                  </mc:Choice>
                  <mc:Fallback>
                    <p:oleObj name="Ecuación" r:id="rId7" imgW="6858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72" y="3928"/>
                            <a:ext cx="759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2" name="Text Box 59"/>
          <p:cNvSpPr txBox="1">
            <a:spLocks noChangeArrowheads="1"/>
          </p:cNvSpPr>
          <p:nvPr/>
        </p:nvSpPr>
        <p:spPr bwMode="auto">
          <a:xfrm>
            <a:off x="278766" y="403389"/>
            <a:ext cx="5387200" cy="102947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44000" rIns="144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En cada dimensión se pueden quitar las flechas y trabajar con números</a:t>
            </a:r>
          </a:p>
        </p:txBody>
      </p:sp>
      <p:pic>
        <p:nvPicPr>
          <p:cNvPr id="71" name="Picture 2"/>
          <p:cNvPicPr preferRelativeResize="0"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438" y="5754479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3"/>
          <p:cNvPicPr preferRelativeResize="0"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8" y="5790992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" name="Group 7"/>
          <p:cNvGrpSpPr>
            <a:grpSpLocks/>
          </p:cNvGrpSpPr>
          <p:nvPr/>
        </p:nvGrpSpPr>
        <p:grpSpPr bwMode="auto">
          <a:xfrm>
            <a:off x="1924050" y="3616117"/>
            <a:ext cx="3251200" cy="333375"/>
            <a:chOff x="1225" y="2029"/>
            <a:chExt cx="2048" cy="210"/>
          </a:xfrm>
        </p:grpSpPr>
        <p:sp>
          <p:nvSpPr>
            <p:cNvPr id="76" name="Line 8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77" name="Line 9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79" name="Line 10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0" name="Line 11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1" name="Line 12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3" name="Line 13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4" name="Line 14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5" name="Line 15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6" name="Line 16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7" name="Line 17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8" name="Line 18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9" name="Line 19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0" name="Line 20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1" name="Line 21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" name="Line 22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3" name="Line 23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4" name="Line 24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5" name="Line 25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6" name="Line 26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7" name="Line 27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8" name="Line 28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9" name="Line 29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0" name="Line 30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1" name="Line 31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2" name="Line 32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3" name="Line 33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4" name="Line 34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5" name="Line 35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6" name="Line 36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7" name="Line 37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08" name="Line 38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09" name="Line 39"/>
          <p:cNvSpPr>
            <a:spLocks noChangeShapeType="1"/>
          </p:cNvSpPr>
          <p:nvPr/>
        </p:nvSpPr>
        <p:spPr bwMode="auto">
          <a:xfrm flipH="1">
            <a:off x="2503488" y="4001879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10" name="Line 40"/>
          <p:cNvSpPr>
            <a:spLocks noChangeShapeType="1"/>
          </p:cNvSpPr>
          <p:nvPr/>
        </p:nvSpPr>
        <p:spPr bwMode="auto">
          <a:xfrm>
            <a:off x="3587750" y="3998704"/>
            <a:ext cx="1068388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11" name="Text Box 41"/>
          <p:cNvSpPr txBox="1">
            <a:spLocks noChangeArrowheads="1"/>
          </p:cNvSpPr>
          <p:nvPr/>
        </p:nvSpPr>
        <p:spPr bwMode="auto">
          <a:xfrm>
            <a:off x="4179888" y="4351764"/>
            <a:ext cx="87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 = 1m</a:t>
            </a:r>
          </a:p>
        </p:txBody>
      </p:sp>
      <p:sp>
        <p:nvSpPr>
          <p:cNvPr id="112" name="Text Box 42"/>
          <p:cNvSpPr txBox="1">
            <a:spLocks noChangeArrowheads="1"/>
          </p:cNvSpPr>
          <p:nvPr/>
        </p:nvSpPr>
        <p:spPr bwMode="auto">
          <a:xfrm>
            <a:off x="2025650" y="4339064"/>
            <a:ext cx="877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 = 1m</a:t>
            </a:r>
          </a:p>
        </p:txBody>
      </p:sp>
      <p:sp>
        <p:nvSpPr>
          <p:cNvPr id="113" name="Line 43"/>
          <p:cNvSpPr>
            <a:spLocks noChangeShapeType="1"/>
          </p:cNvSpPr>
          <p:nvPr/>
        </p:nvSpPr>
        <p:spPr bwMode="auto">
          <a:xfrm>
            <a:off x="3581400" y="3618392"/>
            <a:ext cx="11113" cy="3100388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14" name="Text Box 44"/>
          <p:cNvSpPr txBox="1">
            <a:spLocks noChangeArrowheads="1"/>
          </p:cNvSpPr>
          <p:nvPr/>
        </p:nvSpPr>
        <p:spPr bwMode="auto">
          <a:xfrm>
            <a:off x="3576638" y="5163277"/>
            <a:ext cx="974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= 30º</a:t>
            </a:r>
          </a:p>
        </p:txBody>
      </p:sp>
      <p:sp>
        <p:nvSpPr>
          <p:cNvPr id="115" name="Text Box 45"/>
          <p:cNvSpPr txBox="1">
            <a:spLocks noChangeArrowheads="1"/>
          </p:cNvSpPr>
          <p:nvPr/>
        </p:nvSpPr>
        <p:spPr bwMode="auto">
          <a:xfrm>
            <a:off x="2432820" y="5164664"/>
            <a:ext cx="974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= 30º</a:t>
            </a:r>
          </a:p>
        </p:txBody>
      </p:sp>
      <p:sp>
        <p:nvSpPr>
          <p:cNvPr id="116" name="Freeform 47"/>
          <p:cNvSpPr>
            <a:spLocks/>
          </p:cNvSpPr>
          <p:nvPr/>
        </p:nvSpPr>
        <p:spPr bwMode="auto">
          <a:xfrm>
            <a:off x="3090863" y="4854367"/>
            <a:ext cx="496887" cy="174625"/>
          </a:xfrm>
          <a:custGeom>
            <a:avLst/>
            <a:gdLst>
              <a:gd name="T0" fmla="*/ 0 w 313"/>
              <a:gd name="T1" fmla="*/ 0 h 110"/>
              <a:gd name="T2" fmla="*/ 2147483646 w 313"/>
              <a:gd name="T3" fmla="*/ 2147483646 h 110"/>
              <a:gd name="T4" fmla="*/ 2147483646 w 313"/>
              <a:gd name="T5" fmla="*/ 2147483646 h 110"/>
              <a:gd name="T6" fmla="*/ 0 60000 65536"/>
              <a:gd name="T7" fmla="*/ 0 60000 65536"/>
              <a:gd name="T8" fmla="*/ 0 60000 65536"/>
              <a:gd name="T9" fmla="*/ 0 w 313"/>
              <a:gd name="T10" fmla="*/ 0 h 110"/>
              <a:gd name="T11" fmla="*/ 313 w 313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110">
                <a:moveTo>
                  <a:pt x="0" y="0"/>
                </a:moveTo>
                <a:cubicBezTo>
                  <a:pt x="28" y="27"/>
                  <a:pt x="57" y="55"/>
                  <a:pt x="109" y="73"/>
                </a:cubicBezTo>
                <a:cubicBezTo>
                  <a:pt x="161" y="91"/>
                  <a:pt x="237" y="100"/>
                  <a:pt x="313" y="11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arrow" w="lg" len="lg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17" name="Freeform 48"/>
          <p:cNvSpPr>
            <a:spLocks/>
          </p:cNvSpPr>
          <p:nvPr/>
        </p:nvSpPr>
        <p:spPr bwMode="auto">
          <a:xfrm flipH="1">
            <a:off x="3584575" y="4859129"/>
            <a:ext cx="496888" cy="174625"/>
          </a:xfrm>
          <a:custGeom>
            <a:avLst/>
            <a:gdLst>
              <a:gd name="T0" fmla="*/ 0 w 313"/>
              <a:gd name="T1" fmla="*/ 0 h 110"/>
              <a:gd name="T2" fmla="*/ 2147483646 w 313"/>
              <a:gd name="T3" fmla="*/ 2147483646 h 110"/>
              <a:gd name="T4" fmla="*/ 2147483646 w 313"/>
              <a:gd name="T5" fmla="*/ 2147483646 h 110"/>
              <a:gd name="T6" fmla="*/ 0 60000 65536"/>
              <a:gd name="T7" fmla="*/ 0 60000 65536"/>
              <a:gd name="T8" fmla="*/ 0 60000 65536"/>
              <a:gd name="T9" fmla="*/ 0 w 313"/>
              <a:gd name="T10" fmla="*/ 0 h 110"/>
              <a:gd name="T11" fmla="*/ 313 w 313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110">
                <a:moveTo>
                  <a:pt x="0" y="0"/>
                </a:moveTo>
                <a:cubicBezTo>
                  <a:pt x="28" y="27"/>
                  <a:pt x="57" y="55"/>
                  <a:pt x="109" y="73"/>
                </a:cubicBezTo>
                <a:cubicBezTo>
                  <a:pt x="161" y="91"/>
                  <a:pt x="237" y="100"/>
                  <a:pt x="313" y="11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arrow" w="lg" len="lg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18" name="Line 83"/>
          <p:cNvSpPr>
            <a:spLocks noChangeShapeType="1"/>
          </p:cNvSpPr>
          <p:nvPr/>
        </p:nvSpPr>
        <p:spPr bwMode="auto">
          <a:xfrm flipV="1">
            <a:off x="1673225" y="5454650"/>
            <a:ext cx="0" cy="11096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19" name="Line 84"/>
          <p:cNvSpPr>
            <a:spLocks noChangeShapeType="1"/>
          </p:cNvSpPr>
          <p:nvPr/>
        </p:nvSpPr>
        <p:spPr bwMode="auto">
          <a:xfrm>
            <a:off x="1662113" y="6553200"/>
            <a:ext cx="782637" cy="0"/>
          </a:xfrm>
          <a:prstGeom prst="line">
            <a:avLst/>
          </a:prstGeom>
          <a:noFill/>
          <a:ln w="25400">
            <a:solidFill>
              <a:srgbClr val="3333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20" name="Text Box 85"/>
          <p:cNvSpPr txBox="1">
            <a:spLocks noChangeArrowheads="1"/>
          </p:cNvSpPr>
          <p:nvPr/>
        </p:nvSpPr>
        <p:spPr bwMode="auto">
          <a:xfrm>
            <a:off x="2430463" y="6346825"/>
            <a:ext cx="38694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21" name="Text Box 86"/>
          <p:cNvSpPr txBox="1">
            <a:spLocks noChangeArrowheads="1"/>
          </p:cNvSpPr>
          <p:nvPr/>
        </p:nvSpPr>
        <p:spPr bwMode="auto">
          <a:xfrm>
            <a:off x="1503363" y="4973638"/>
            <a:ext cx="38694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22" name="Oval 87"/>
          <p:cNvSpPr>
            <a:spLocks noChangeArrowheads="1"/>
          </p:cNvSpPr>
          <p:nvPr/>
        </p:nvSpPr>
        <p:spPr bwMode="auto">
          <a:xfrm>
            <a:off x="1617663" y="6488113"/>
            <a:ext cx="107950" cy="107950"/>
          </a:xfrm>
          <a:prstGeom prst="ellipse">
            <a:avLst/>
          </a:prstGeom>
          <a:solidFill>
            <a:srgbClr val="3333FF"/>
          </a:solidFill>
          <a:ln w="12700" algn="ctr">
            <a:solidFill>
              <a:srgbClr val="3333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3" name="Text Box 88"/>
          <p:cNvSpPr txBox="1">
            <a:spLocks noChangeArrowheads="1"/>
          </p:cNvSpPr>
          <p:nvPr/>
        </p:nvSpPr>
        <p:spPr bwMode="auto">
          <a:xfrm>
            <a:off x="1304925" y="6456363"/>
            <a:ext cx="36931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Z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8011210-1463-48A8-BD4A-41B6E8C65334}"/>
              </a:ext>
            </a:extLst>
          </p:cNvPr>
          <p:cNvGrpSpPr/>
          <p:nvPr/>
        </p:nvGrpSpPr>
        <p:grpSpPr>
          <a:xfrm>
            <a:off x="1235577" y="3039658"/>
            <a:ext cx="2260098" cy="463847"/>
            <a:chOff x="559906" y="2886493"/>
            <a:chExt cx="2830994" cy="614990"/>
          </a:xfrm>
        </p:grpSpPr>
        <p:cxnSp>
          <p:nvCxnSpPr>
            <p:cNvPr id="5" name="Conector recto de flecha 4"/>
            <p:cNvCxnSpPr>
              <a:cxnSpLocks/>
            </p:cNvCxnSpPr>
            <p:nvPr/>
          </p:nvCxnSpPr>
          <p:spPr bwMode="auto">
            <a:xfrm>
              <a:off x="2385861" y="2886493"/>
              <a:ext cx="1005039" cy="61499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29" name="Conector recto de flecha 128">
              <a:extLst>
                <a:ext uri="{FF2B5EF4-FFF2-40B4-BE49-F238E27FC236}">
                  <a16:creationId xmlns:a16="http://schemas.microsoft.com/office/drawing/2014/main" id="{4611355B-E96E-4269-A71A-6CEB403A32F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9906" y="2886493"/>
              <a:ext cx="1825955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3" grpId="0" animBg="1"/>
      <p:bldP spid="8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9" name="Group 8"/>
          <p:cNvGrpSpPr>
            <a:grpSpLocks/>
          </p:cNvGrpSpPr>
          <p:nvPr/>
        </p:nvGrpSpPr>
        <p:grpSpPr bwMode="auto">
          <a:xfrm>
            <a:off x="1795219" y="396545"/>
            <a:ext cx="3251200" cy="333375"/>
            <a:chOff x="1225" y="2029"/>
            <a:chExt cx="2048" cy="210"/>
          </a:xfrm>
        </p:grpSpPr>
        <p:sp>
          <p:nvSpPr>
            <p:cNvPr id="13408" name="Line 9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09" name="Line 10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0" name="Line 11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1" name="Line 12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2" name="Line 13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3" name="Line 14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4" name="Line 15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5" name="Line 16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6" name="Line 17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7" name="Line 18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8" name="Line 19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9" name="Line 20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0" name="Line 21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1" name="Line 22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2" name="Line 23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3" name="Line 24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4" name="Line 25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5" name="Line 26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6" name="Line 27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7" name="Line 28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8" name="Line 29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9" name="Line 30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0" name="Line 31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1" name="Line 32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2" name="Line 33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3" name="Line 34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4" name="Line 35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5" name="Line 36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6" name="Line 37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7" name="Line 38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8" name="Line 39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13321" name="Line 41"/>
          <p:cNvSpPr>
            <a:spLocks noChangeShapeType="1"/>
          </p:cNvSpPr>
          <p:nvPr/>
        </p:nvSpPr>
        <p:spPr bwMode="auto">
          <a:xfrm>
            <a:off x="3438282" y="741032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13324" name="Line 44"/>
          <p:cNvSpPr>
            <a:spLocks noChangeShapeType="1"/>
          </p:cNvSpPr>
          <p:nvPr/>
        </p:nvSpPr>
        <p:spPr bwMode="auto">
          <a:xfrm flipH="1">
            <a:off x="3420819" y="358445"/>
            <a:ext cx="0" cy="310515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13328" name="Text Box 48"/>
          <p:cNvSpPr txBox="1">
            <a:spLocks noChangeArrowheads="1"/>
          </p:cNvSpPr>
          <p:nvPr/>
        </p:nvSpPr>
        <p:spPr bwMode="auto">
          <a:xfrm>
            <a:off x="1146396" y="485775"/>
            <a:ext cx="45587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a)</a:t>
            </a:r>
          </a:p>
        </p:txBody>
      </p:sp>
      <p:pic>
        <p:nvPicPr>
          <p:cNvPr id="249908" name="Picture 5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61" y="2522168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9909" name="Object 5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89086253"/>
              </p:ext>
            </p:extLst>
          </p:nvPr>
        </p:nvGraphicFramePr>
        <p:xfrm>
          <a:off x="7561988" y="3192491"/>
          <a:ext cx="15621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31613" imgH="215806" progId="Equation.3">
                  <p:embed/>
                </p:oleObj>
              </mc:Choice>
              <mc:Fallback>
                <p:oleObj name="Ecuación" r:id="rId4" imgW="431613" imgH="215806" progId="Equation.3">
                  <p:embed/>
                  <p:pic>
                    <p:nvPicPr>
                      <p:cNvPr id="0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3192491"/>
                        <a:ext cx="1562100" cy="7810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4819192" y="2150693"/>
            <a:ext cx="1271588" cy="579437"/>
            <a:chOff x="4962" y="1197"/>
            <a:chExt cx="801" cy="365"/>
          </a:xfrm>
        </p:grpSpPr>
        <p:sp>
          <p:nvSpPr>
            <p:cNvPr id="13400" name="Line 61"/>
            <p:cNvSpPr>
              <a:spLocks noChangeShapeType="1"/>
            </p:cNvSpPr>
            <p:nvPr/>
          </p:nvSpPr>
          <p:spPr bwMode="auto">
            <a:xfrm rot="16200000" flipH="1">
              <a:off x="5302" y="1222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01" name="Text Box 62"/>
            <p:cNvSpPr txBox="1">
              <a:spLocks noChangeArrowheads="1"/>
            </p:cNvSpPr>
            <p:nvPr/>
          </p:nvSpPr>
          <p:spPr bwMode="auto">
            <a:xfrm>
              <a:off x="5532" y="1197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3402" name="Line 63"/>
            <p:cNvSpPr>
              <a:spLocks noChangeShapeType="1"/>
            </p:cNvSpPr>
            <p:nvPr/>
          </p:nvSpPr>
          <p:spPr bwMode="auto">
            <a:xfrm flipV="1">
              <a:off x="5588" y="122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aphicFrame>
        <p:nvGraphicFramePr>
          <p:cNvPr id="249920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644790"/>
              </p:ext>
            </p:extLst>
          </p:nvPr>
        </p:nvGraphicFramePr>
        <p:xfrm>
          <a:off x="7561988" y="2108002"/>
          <a:ext cx="1562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18918" imgH="215806" progId="Equation.3">
                  <p:embed/>
                </p:oleObj>
              </mc:Choice>
              <mc:Fallback>
                <p:oleObj name="Ecuación" r:id="rId6" imgW="418918" imgH="215806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2108002"/>
                        <a:ext cx="1562100" cy="80486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4782740" y="2133230"/>
            <a:ext cx="723907" cy="595313"/>
            <a:chOff x="4939" y="1186"/>
            <a:chExt cx="456" cy="375"/>
          </a:xfrm>
        </p:grpSpPr>
        <p:sp>
          <p:nvSpPr>
            <p:cNvPr id="13397" name="Line 66"/>
            <p:cNvSpPr>
              <a:spLocks noChangeShapeType="1"/>
            </p:cNvSpPr>
            <p:nvPr/>
          </p:nvSpPr>
          <p:spPr bwMode="auto">
            <a:xfrm rot="5400000" flipH="1" flipV="1">
              <a:off x="5097" y="1403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13398" name="Text Box 67"/>
            <p:cNvSpPr txBox="1">
              <a:spLocks noChangeArrowheads="1"/>
            </p:cNvSpPr>
            <p:nvPr/>
          </p:nvSpPr>
          <p:spPr bwMode="auto">
            <a:xfrm>
              <a:off x="5153" y="1186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3399" name="Line 68"/>
            <p:cNvSpPr>
              <a:spLocks noChangeShapeType="1"/>
            </p:cNvSpPr>
            <p:nvPr/>
          </p:nvSpPr>
          <p:spPr bwMode="auto">
            <a:xfrm flipV="1">
              <a:off x="5214" y="122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4039732" y="3026993"/>
            <a:ext cx="523875" cy="1079500"/>
            <a:chOff x="4471" y="2199"/>
            <a:chExt cx="330" cy="680"/>
          </a:xfrm>
        </p:grpSpPr>
        <p:sp>
          <p:nvSpPr>
            <p:cNvPr id="13394" name="Text Box 70"/>
            <p:cNvSpPr txBox="1">
              <a:spLocks noChangeArrowheads="1"/>
            </p:cNvSpPr>
            <p:nvPr/>
          </p:nvSpPr>
          <p:spPr bwMode="auto">
            <a:xfrm>
              <a:off x="4471" y="2588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13395" name="Line 71"/>
            <p:cNvSpPr>
              <a:spLocks noChangeShapeType="1"/>
            </p:cNvSpPr>
            <p:nvPr/>
          </p:nvSpPr>
          <p:spPr bwMode="auto">
            <a:xfrm flipV="1">
              <a:off x="4497" y="2611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96" name="Line 72"/>
            <p:cNvSpPr>
              <a:spLocks noChangeShapeType="1"/>
            </p:cNvSpPr>
            <p:nvPr/>
          </p:nvSpPr>
          <p:spPr bwMode="auto">
            <a:xfrm flipH="1">
              <a:off x="4801" y="2199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4048649" y="2938275"/>
            <a:ext cx="509591" cy="673106"/>
            <a:chOff x="4884" y="2115"/>
            <a:chExt cx="321" cy="424"/>
          </a:xfrm>
        </p:grpSpPr>
        <p:sp>
          <p:nvSpPr>
            <p:cNvPr id="13391" name="Line 74"/>
            <p:cNvSpPr>
              <a:spLocks noChangeShapeType="1"/>
            </p:cNvSpPr>
            <p:nvPr/>
          </p:nvSpPr>
          <p:spPr bwMode="auto">
            <a:xfrm rot="10800000" flipH="1" flipV="1">
              <a:off x="5205" y="2115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13392" name="Text Box 75"/>
            <p:cNvSpPr txBox="1">
              <a:spLocks noChangeArrowheads="1"/>
            </p:cNvSpPr>
            <p:nvPr/>
          </p:nvSpPr>
          <p:spPr bwMode="auto">
            <a:xfrm>
              <a:off x="4884" y="2251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3393" name="Line 76"/>
            <p:cNvSpPr>
              <a:spLocks noChangeShapeType="1"/>
            </p:cNvSpPr>
            <p:nvPr/>
          </p:nvSpPr>
          <p:spPr bwMode="auto">
            <a:xfrm flipV="1">
              <a:off x="4943" y="2325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98422" name="Text Box 118"/>
          <p:cNvSpPr txBox="1">
            <a:spLocks noChangeArrowheads="1"/>
          </p:cNvSpPr>
          <p:nvPr/>
        </p:nvSpPr>
        <p:spPr bwMode="auto">
          <a:xfrm>
            <a:off x="4750188" y="3649594"/>
            <a:ext cx="8867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Peso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4716189" y="2115808"/>
            <a:ext cx="357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21" name="CuadroTexto 120"/>
          <p:cNvSpPr txBox="1">
            <a:spLocks noChangeArrowheads="1"/>
          </p:cNvSpPr>
          <p:nvPr/>
        </p:nvSpPr>
        <p:spPr bwMode="auto">
          <a:xfrm>
            <a:off x="4012382" y="2808151"/>
            <a:ext cx="441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15" name="Text Box 118">
            <a:extLst>
              <a:ext uri="{FF2B5EF4-FFF2-40B4-BE49-F238E27FC236}">
                <a16:creationId xmlns:a16="http://schemas.microsoft.com/office/drawing/2014/main" id="{4A210593-E3C5-4B1E-82D1-B09A3DA4A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39" y="2924006"/>
            <a:ext cx="1135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 err="1">
                <a:solidFill>
                  <a:srgbClr val="3333FF"/>
                </a:solidFill>
              </a:rPr>
              <a:t>F</a:t>
            </a:r>
            <a:r>
              <a:rPr lang="es-ES" sz="2400" baseline="-25000" dirty="0" err="1">
                <a:solidFill>
                  <a:srgbClr val="3333FF"/>
                </a:solidFill>
              </a:rPr>
              <a:t>eléctrica</a:t>
            </a:r>
            <a:endParaRPr lang="es-ES" sz="2400" baseline="-25000" dirty="0">
              <a:solidFill>
                <a:srgbClr val="3333FF"/>
              </a:solidFill>
            </a:endParaRPr>
          </a:p>
        </p:txBody>
      </p:sp>
      <p:pic>
        <p:nvPicPr>
          <p:cNvPr id="120" name="Picture 4">
            <a:extLst>
              <a:ext uri="{FF2B5EF4-FFF2-40B4-BE49-F238E27FC236}">
                <a16:creationId xmlns:a16="http://schemas.microsoft.com/office/drawing/2014/main" id="{38EC986B-9F0C-4B2D-824A-1F73EF22B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394" y="2534415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Line 37">
            <a:extLst>
              <a:ext uri="{FF2B5EF4-FFF2-40B4-BE49-F238E27FC236}">
                <a16:creationId xmlns:a16="http://schemas.microsoft.com/office/drawing/2014/main" id="{CA13052A-6D4D-43EA-8F72-D10FE1624A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0500" y="711667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113" name="Text Box 114">
            <a:extLst>
              <a:ext uri="{FF2B5EF4-FFF2-40B4-BE49-F238E27FC236}">
                <a16:creationId xmlns:a16="http://schemas.microsoft.com/office/drawing/2014/main" id="{006027A3-6588-4A0F-93BB-68924BEDB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220" y="4499176"/>
            <a:ext cx="7890196" cy="83317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La particula siente la alteración introducida por la Tierra, caracterizada por la gravedad y sufre una fuerza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18" name="Text Box 84">
            <a:extLst>
              <a:ext uri="{FF2B5EF4-FFF2-40B4-BE49-F238E27FC236}">
                <a16:creationId xmlns:a16="http://schemas.microsoft.com/office/drawing/2014/main" id="{14DE5936-AB36-42F1-8302-046810E7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735" y="485775"/>
            <a:ext cx="744412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" name="Text Box 114">
            <a:extLst>
              <a:ext uri="{FF2B5EF4-FFF2-40B4-BE49-F238E27FC236}">
                <a16:creationId xmlns:a16="http://schemas.microsoft.com/office/drawing/2014/main" id="{59402E58-3B29-7502-AF4B-58F9526C1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219" y="5701366"/>
            <a:ext cx="7890197" cy="83317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La particula siente la alteración introducida por la otra, caracterizada por el campo eléctrico y sufre una fuerza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9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22" grpId="0"/>
      <p:bldP spid="3" grpId="0"/>
      <p:bldP spid="121" grpId="0"/>
      <p:bldP spid="115" grpId="0"/>
      <p:bldP spid="113" grpId="0" animBg="1"/>
      <p:bldP spid="118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9" name="Group 8"/>
          <p:cNvGrpSpPr>
            <a:grpSpLocks/>
          </p:cNvGrpSpPr>
          <p:nvPr/>
        </p:nvGrpSpPr>
        <p:grpSpPr bwMode="auto">
          <a:xfrm>
            <a:off x="1795219" y="396545"/>
            <a:ext cx="3251200" cy="333375"/>
            <a:chOff x="1225" y="2029"/>
            <a:chExt cx="2048" cy="210"/>
          </a:xfrm>
        </p:grpSpPr>
        <p:sp>
          <p:nvSpPr>
            <p:cNvPr id="13408" name="Line 9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09" name="Line 10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0" name="Line 11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1" name="Line 12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2" name="Line 13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3" name="Line 14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4" name="Line 15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5" name="Line 16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6" name="Line 17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7" name="Line 18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8" name="Line 19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9" name="Line 20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0" name="Line 21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1" name="Line 22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2" name="Line 23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3" name="Line 24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4" name="Line 25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5" name="Line 26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6" name="Line 27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7" name="Line 28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8" name="Line 29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9" name="Line 30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0" name="Line 31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1" name="Line 32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2" name="Line 33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3" name="Line 34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4" name="Line 35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5" name="Line 36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6" name="Line 37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7" name="Line 38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8" name="Line 39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13321" name="Line 41"/>
          <p:cNvSpPr>
            <a:spLocks noChangeShapeType="1"/>
          </p:cNvSpPr>
          <p:nvPr/>
        </p:nvSpPr>
        <p:spPr bwMode="auto">
          <a:xfrm>
            <a:off x="3438282" y="741032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13324" name="Line 44"/>
          <p:cNvSpPr>
            <a:spLocks noChangeShapeType="1"/>
          </p:cNvSpPr>
          <p:nvPr/>
        </p:nvSpPr>
        <p:spPr bwMode="auto">
          <a:xfrm flipH="1">
            <a:off x="3420819" y="358445"/>
            <a:ext cx="0" cy="310515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13328" name="Text Box 48"/>
          <p:cNvSpPr txBox="1">
            <a:spLocks noChangeArrowheads="1"/>
          </p:cNvSpPr>
          <p:nvPr/>
        </p:nvSpPr>
        <p:spPr bwMode="auto">
          <a:xfrm>
            <a:off x="1146396" y="485775"/>
            <a:ext cx="45587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a)</a:t>
            </a:r>
          </a:p>
        </p:txBody>
      </p:sp>
      <p:pic>
        <p:nvPicPr>
          <p:cNvPr id="249908" name="Picture 5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61" y="2522168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9909" name="Object 53"/>
          <p:cNvGraphicFramePr>
            <a:graphicFrameLocks noGrp="1" noChangeAspect="1"/>
          </p:cNvGraphicFramePr>
          <p:nvPr>
            <p:ph idx="4294967295"/>
          </p:nvPr>
        </p:nvGraphicFramePr>
        <p:xfrm>
          <a:off x="7561988" y="3192491"/>
          <a:ext cx="15621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31613" imgH="215806" progId="Equation.3">
                  <p:embed/>
                </p:oleObj>
              </mc:Choice>
              <mc:Fallback>
                <p:oleObj name="Ecuación" r:id="rId4" imgW="431613" imgH="215806" progId="Equation.3">
                  <p:embed/>
                  <p:pic>
                    <p:nvPicPr>
                      <p:cNvPr id="249909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3192491"/>
                        <a:ext cx="1562100" cy="7810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3953295" y="1259751"/>
            <a:ext cx="509588" cy="1235075"/>
            <a:chOff x="4403" y="629"/>
            <a:chExt cx="321" cy="778"/>
          </a:xfrm>
        </p:grpSpPr>
        <p:sp>
          <p:nvSpPr>
            <p:cNvPr id="13403" name="Line 57"/>
            <p:cNvSpPr>
              <a:spLocks noChangeShapeType="1"/>
            </p:cNvSpPr>
            <p:nvPr/>
          </p:nvSpPr>
          <p:spPr bwMode="auto">
            <a:xfrm flipH="1" flipV="1">
              <a:off x="4410" y="882"/>
              <a:ext cx="314" cy="52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 dirty="0"/>
            </a:p>
          </p:txBody>
        </p:sp>
        <p:sp>
          <p:nvSpPr>
            <p:cNvPr id="13404" name="Text Box 58"/>
            <p:cNvSpPr txBox="1">
              <a:spLocks noChangeArrowheads="1"/>
            </p:cNvSpPr>
            <p:nvPr/>
          </p:nvSpPr>
          <p:spPr bwMode="auto">
            <a:xfrm>
              <a:off x="4403" y="629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3405" name="Line 59"/>
            <p:cNvSpPr>
              <a:spLocks noChangeShapeType="1"/>
            </p:cNvSpPr>
            <p:nvPr/>
          </p:nvSpPr>
          <p:spPr bwMode="auto">
            <a:xfrm flipV="1">
              <a:off x="4467" y="66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4819192" y="2150693"/>
            <a:ext cx="1271588" cy="579437"/>
            <a:chOff x="4962" y="1197"/>
            <a:chExt cx="801" cy="365"/>
          </a:xfrm>
        </p:grpSpPr>
        <p:sp>
          <p:nvSpPr>
            <p:cNvPr id="13400" name="Line 61"/>
            <p:cNvSpPr>
              <a:spLocks noChangeShapeType="1"/>
            </p:cNvSpPr>
            <p:nvPr/>
          </p:nvSpPr>
          <p:spPr bwMode="auto">
            <a:xfrm rot="16200000" flipH="1">
              <a:off x="5302" y="1222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01" name="Text Box 62"/>
            <p:cNvSpPr txBox="1">
              <a:spLocks noChangeArrowheads="1"/>
            </p:cNvSpPr>
            <p:nvPr/>
          </p:nvSpPr>
          <p:spPr bwMode="auto">
            <a:xfrm>
              <a:off x="5532" y="1197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3402" name="Line 63"/>
            <p:cNvSpPr>
              <a:spLocks noChangeShapeType="1"/>
            </p:cNvSpPr>
            <p:nvPr/>
          </p:nvSpPr>
          <p:spPr bwMode="auto">
            <a:xfrm flipV="1">
              <a:off x="5588" y="122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aphicFrame>
        <p:nvGraphicFramePr>
          <p:cNvPr id="249920" name="Object 64"/>
          <p:cNvGraphicFramePr>
            <a:graphicFrameLocks noChangeAspect="1"/>
          </p:cNvGraphicFramePr>
          <p:nvPr/>
        </p:nvGraphicFramePr>
        <p:xfrm>
          <a:off x="7561988" y="2108002"/>
          <a:ext cx="1562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18918" imgH="215806" progId="Equation.3">
                  <p:embed/>
                </p:oleObj>
              </mc:Choice>
              <mc:Fallback>
                <p:oleObj name="Ecuación" r:id="rId6" imgW="418918" imgH="215806" progId="Equation.3">
                  <p:embed/>
                  <p:pic>
                    <p:nvPicPr>
                      <p:cNvPr id="24992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2108002"/>
                        <a:ext cx="1562100" cy="80486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4782740" y="2133230"/>
            <a:ext cx="723907" cy="595313"/>
            <a:chOff x="4939" y="1186"/>
            <a:chExt cx="456" cy="375"/>
          </a:xfrm>
        </p:grpSpPr>
        <p:sp>
          <p:nvSpPr>
            <p:cNvPr id="13397" name="Line 66"/>
            <p:cNvSpPr>
              <a:spLocks noChangeShapeType="1"/>
            </p:cNvSpPr>
            <p:nvPr/>
          </p:nvSpPr>
          <p:spPr bwMode="auto">
            <a:xfrm rot="5400000" flipH="1" flipV="1">
              <a:off x="5097" y="1403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13398" name="Text Box 67"/>
            <p:cNvSpPr txBox="1">
              <a:spLocks noChangeArrowheads="1"/>
            </p:cNvSpPr>
            <p:nvPr/>
          </p:nvSpPr>
          <p:spPr bwMode="auto">
            <a:xfrm>
              <a:off x="5153" y="1186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3399" name="Line 68"/>
            <p:cNvSpPr>
              <a:spLocks noChangeShapeType="1"/>
            </p:cNvSpPr>
            <p:nvPr/>
          </p:nvSpPr>
          <p:spPr bwMode="auto">
            <a:xfrm flipV="1">
              <a:off x="5214" y="122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4039732" y="3026993"/>
            <a:ext cx="523875" cy="1079500"/>
            <a:chOff x="4471" y="2199"/>
            <a:chExt cx="330" cy="680"/>
          </a:xfrm>
        </p:grpSpPr>
        <p:sp>
          <p:nvSpPr>
            <p:cNvPr id="13394" name="Text Box 70"/>
            <p:cNvSpPr txBox="1">
              <a:spLocks noChangeArrowheads="1"/>
            </p:cNvSpPr>
            <p:nvPr/>
          </p:nvSpPr>
          <p:spPr bwMode="auto">
            <a:xfrm>
              <a:off x="4471" y="2588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13395" name="Line 71"/>
            <p:cNvSpPr>
              <a:spLocks noChangeShapeType="1"/>
            </p:cNvSpPr>
            <p:nvPr/>
          </p:nvSpPr>
          <p:spPr bwMode="auto">
            <a:xfrm flipV="1">
              <a:off x="4497" y="2611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96" name="Line 72"/>
            <p:cNvSpPr>
              <a:spLocks noChangeShapeType="1"/>
            </p:cNvSpPr>
            <p:nvPr/>
          </p:nvSpPr>
          <p:spPr bwMode="auto">
            <a:xfrm flipH="1">
              <a:off x="4801" y="2199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4048649" y="2938275"/>
            <a:ext cx="509591" cy="673106"/>
            <a:chOff x="4884" y="2115"/>
            <a:chExt cx="321" cy="424"/>
          </a:xfrm>
        </p:grpSpPr>
        <p:sp>
          <p:nvSpPr>
            <p:cNvPr id="13391" name="Line 74"/>
            <p:cNvSpPr>
              <a:spLocks noChangeShapeType="1"/>
            </p:cNvSpPr>
            <p:nvPr/>
          </p:nvSpPr>
          <p:spPr bwMode="auto">
            <a:xfrm rot="10800000" flipH="1" flipV="1">
              <a:off x="5205" y="2115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13392" name="Text Box 75"/>
            <p:cNvSpPr txBox="1">
              <a:spLocks noChangeArrowheads="1"/>
            </p:cNvSpPr>
            <p:nvPr/>
          </p:nvSpPr>
          <p:spPr bwMode="auto">
            <a:xfrm>
              <a:off x="4884" y="2251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3393" name="Line 76"/>
            <p:cNvSpPr>
              <a:spLocks noChangeShapeType="1"/>
            </p:cNvSpPr>
            <p:nvPr/>
          </p:nvSpPr>
          <p:spPr bwMode="auto">
            <a:xfrm flipV="1">
              <a:off x="4943" y="2325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98422" name="Text Box 118"/>
          <p:cNvSpPr txBox="1">
            <a:spLocks noChangeArrowheads="1"/>
          </p:cNvSpPr>
          <p:nvPr/>
        </p:nvSpPr>
        <p:spPr bwMode="auto">
          <a:xfrm>
            <a:off x="4750188" y="3649594"/>
            <a:ext cx="8867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Peso</a:t>
            </a:r>
          </a:p>
        </p:txBody>
      </p:sp>
      <p:sp>
        <p:nvSpPr>
          <p:cNvPr id="98423" name="Text Box 119"/>
          <p:cNvSpPr txBox="1">
            <a:spLocks noChangeArrowheads="1"/>
          </p:cNvSpPr>
          <p:nvPr/>
        </p:nvSpPr>
        <p:spPr bwMode="auto">
          <a:xfrm>
            <a:off x="4564398" y="1263778"/>
            <a:ext cx="1331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Tensión</a:t>
            </a:r>
            <a:r>
              <a:rPr lang="es-ES" sz="2400" dirty="0">
                <a:solidFill>
                  <a:srgbClr val="0099FF"/>
                </a:solidFill>
              </a:rPr>
              <a:t> 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4716189" y="2115808"/>
            <a:ext cx="357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21" name="CuadroTexto 120"/>
          <p:cNvSpPr txBox="1">
            <a:spLocks noChangeArrowheads="1"/>
          </p:cNvSpPr>
          <p:nvPr/>
        </p:nvSpPr>
        <p:spPr bwMode="auto">
          <a:xfrm>
            <a:off x="4012382" y="2808151"/>
            <a:ext cx="441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15" name="Text Box 118">
            <a:extLst>
              <a:ext uri="{FF2B5EF4-FFF2-40B4-BE49-F238E27FC236}">
                <a16:creationId xmlns:a16="http://schemas.microsoft.com/office/drawing/2014/main" id="{4A210593-E3C5-4B1E-82D1-B09A3DA4A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39" y="2924006"/>
            <a:ext cx="1135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 err="1">
                <a:solidFill>
                  <a:srgbClr val="3333FF"/>
                </a:solidFill>
              </a:rPr>
              <a:t>F</a:t>
            </a:r>
            <a:r>
              <a:rPr lang="es-ES" sz="2400" baseline="-25000" dirty="0" err="1">
                <a:solidFill>
                  <a:srgbClr val="3333FF"/>
                </a:solidFill>
              </a:rPr>
              <a:t>eléctrica</a:t>
            </a:r>
            <a:endParaRPr lang="es-ES" sz="2400" baseline="-25000" dirty="0">
              <a:solidFill>
                <a:srgbClr val="3333FF"/>
              </a:solidFill>
            </a:endParaRPr>
          </a:p>
        </p:txBody>
      </p:sp>
      <p:pic>
        <p:nvPicPr>
          <p:cNvPr id="120" name="Picture 4">
            <a:extLst>
              <a:ext uri="{FF2B5EF4-FFF2-40B4-BE49-F238E27FC236}">
                <a16:creationId xmlns:a16="http://schemas.microsoft.com/office/drawing/2014/main" id="{38EC986B-9F0C-4B2D-824A-1F73EF22B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394" y="2534415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Line 37">
            <a:extLst>
              <a:ext uri="{FF2B5EF4-FFF2-40B4-BE49-F238E27FC236}">
                <a16:creationId xmlns:a16="http://schemas.microsoft.com/office/drawing/2014/main" id="{CA13052A-6D4D-43EA-8F72-D10FE1624A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0500" y="711667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113" name="Text Box 114">
            <a:extLst>
              <a:ext uri="{FF2B5EF4-FFF2-40B4-BE49-F238E27FC236}">
                <a16:creationId xmlns:a16="http://schemas.microsoft.com/office/drawing/2014/main" id="{006027A3-6588-4A0F-93BB-68924BEDB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358" y="4330728"/>
            <a:ext cx="5743521" cy="83317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Hilo y carga </a:t>
            </a:r>
            <a:r>
              <a:rPr lang="es-ES" sz="2400" dirty="0">
                <a:latin typeface="Arial" panose="020B0604020202020204" pitchFamily="34" charset="0"/>
              </a:rPr>
              <a:t>se ejercen una fuerza igual pero de </a:t>
            </a:r>
            <a:r>
              <a:rPr lang="es-ES" sz="2400">
                <a:latin typeface="Arial" panose="020B0604020202020204" pitchFamily="34" charset="0"/>
              </a:rPr>
              <a:t>sentido contrario: La tensión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18" name="Text Box 84">
            <a:extLst>
              <a:ext uri="{FF2B5EF4-FFF2-40B4-BE49-F238E27FC236}">
                <a16:creationId xmlns:a16="http://schemas.microsoft.com/office/drawing/2014/main" id="{14DE5936-AB36-42F1-8302-046810E7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735" y="485775"/>
            <a:ext cx="744412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Text Box 114">
            <a:extLst>
              <a:ext uri="{FF2B5EF4-FFF2-40B4-BE49-F238E27FC236}">
                <a16:creationId xmlns:a16="http://schemas.microsoft.com/office/drawing/2014/main" id="{507BCF71-4F32-10D5-0041-3590E5C73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486" y="5304657"/>
            <a:ext cx="6781668" cy="463846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Hilo y techo también: El </a:t>
            </a:r>
            <a:r>
              <a:rPr lang="es-ES" sz="2400" dirty="0">
                <a:latin typeface="Arial" panose="020B0604020202020204" pitchFamily="34" charset="0"/>
              </a:rPr>
              <a:t>hilo </a:t>
            </a:r>
            <a:r>
              <a:rPr lang="es-ES" sz="2400">
                <a:latin typeface="Arial" panose="020B0604020202020204" pitchFamily="34" charset="0"/>
              </a:rPr>
              <a:t>está "tensionado"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1" name="Text Box 114">
            <a:extLst>
              <a:ext uri="{FF2B5EF4-FFF2-40B4-BE49-F238E27FC236}">
                <a16:creationId xmlns:a16="http://schemas.microsoft.com/office/drawing/2014/main" id="{59402E58-3B29-7502-AF4B-58F9526C1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273" y="5895269"/>
            <a:ext cx="9080205" cy="120251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Si el hilo no se mueve, las fuerzas sobre el hilo son iguales y sólo contribuyen a tender a estirarlo. Suponemos que las fuerzas de cohesión del hilo compensan esa tendencia y no se estira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23" grpId="0"/>
      <p:bldP spid="113" grpId="0" animBg="1"/>
      <p:bldP spid="14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2C8C01FC-D055-4B89-9B25-BA8AAA11A109}"/>
              </a:ext>
            </a:extLst>
          </p:cNvPr>
          <p:cNvGrpSpPr/>
          <p:nvPr/>
        </p:nvGrpSpPr>
        <p:grpSpPr>
          <a:xfrm>
            <a:off x="3072576" y="4593165"/>
            <a:ext cx="5095267" cy="598972"/>
            <a:chOff x="3072576" y="4667846"/>
            <a:chExt cx="5095267" cy="598972"/>
          </a:xfrm>
        </p:grpSpPr>
        <p:cxnSp>
          <p:nvCxnSpPr>
            <p:cNvPr id="116" name="Conector recto de flecha 115">
              <a:extLst>
                <a:ext uri="{FF2B5EF4-FFF2-40B4-BE49-F238E27FC236}">
                  <a16:creationId xmlns:a16="http://schemas.microsoft.com/office/drawing/2014/main" id="{1E23CE89-E6F4-4597-9E2C-8F0D454DBE5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5618439" y="2121983"/>
              <a:ext cx="0" cy="5091725"/>
            </a:xfrm>
            <a:prstGeom prst="straightConnector1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17" name="Conector recto de flecha 116">
              <a:extLst>
                <a:ext uri="{FF2B5EF4-FFF2-40B4-BE49-F238E27FC236}">
                  <a16:creationId xmlns:a16="http://schemas.microsoft.com/office/drawing/2014/main" id="{263F9582-681D-4C22-B429-14397F431BC2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5621981" y="2720955"/>
              <a:ext cx="0" cy="5091725"/>
            </a:xfrm>
            <a:prstGeom prst="straightConnector1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425586" y="774370"/>
            <a:ext cx="1181102" cy="1982788"/>
            <a:chOff x="2252" y="797"/>
            <a:chExt cx="744" cy="1249"/>
          </a:xfrm>
        </p:grpSpPr>
        <p:sp>
          <p:nvSpPr>
            <p:cNvPr id="13439" name="AutoShape 3"/>
            <p:cNvSpPr>
              <a:spLocks noChangeArrowheads="1"/>
            </p:cNvSpPr>
            <p:nvPr/>
          </p:nvSpPr>
          <p:spPr bwMode="auto">
            <a:xfrm>
              <a:off x="2267" y="797"/>
              <a:ext cx="729" cy="1240"/>
            </a:xfrm>
            <a:prstGeom prst="rtTriangle">
              <a:avLst/>
            </a:prstGeom>
            <a:solidFill>
              <a:schemeClr val="bg1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40" name="Rectangle 4"/>
            <p:cNvSpPr>
              <a:spLocks noChangeArrowheads="1"/>
            </p:cNvSpPr>
            <p:nvPr/>
          </p:nvSpPr>
          <p:spPr bwMode="auto">
            <a:xfrm>
              <a:off x="2252" y="1933"/>
              <a:ext cx="113" cy="11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9861" name="AutoShape 5"/>
          <p:cNvSpPr>
            <a:spLocks noChangeArrowheads="1"/>
          </p:cNvSpPr>
          <p:nvPr/>
        </p:nvSpPr>
        <p:spPr bwMode="auto">
          <a:xfrm>
            <a:off x="3964290" y="1706193"/>
            <a:ext cx="612775" cy="1054100"/>
          </a:xfrm>
          <a:prstGeom prst="rtTriangle">
            <a:avLst/>
          </a:prstGeom>
          <a:solidFill>
            <a:srgbClr val="CCFFCC"/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319" name="Group 8"/>
          <p:cNvGrpSpPr>
            <a:grpSpLocks/>
          </p:cNvGrpSpPr>
          <p:nvPr/>
        </p:nvGrpSpPr>
        <p:grpSpPr bwMode="auto">
          <a:xfrm>
            <a:off x="1795219" y="396545"/>
            <a:ext cx="3251200" cy="333375"/>
            <a:chOff x="1225" y="2029"/>
            <a:chExt cx="2048" cy="210"/>
          </a:xfrm>
        </p:grpSpPr>
        <p:sp>
          <p:nvSpPr>
            <p:cNvPr id="13408" name="Line 9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09" name="Line 10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0" name="Line 11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1" name="Line 12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2" name="Line 13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3" name="Line 14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4" name="Line 15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5" name="Line 16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6" name="Line 17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7" name="Line 18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8" name="Line 19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19" name="Line 20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0" name="Line 21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1" name="Line 22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2" name="Line 23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3" name="Line 24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4" name="Line 25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5" name="Line 26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6" name="Line 27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7" name="Line 28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8" name="Line 29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29" name="Line 30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0" name="Line 31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1" name="Line 32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2" name="Line 33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3" name="Line 34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4" name="Line 35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5" name="Line 36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6" name="Line 37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7" name="Line 38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38" name="Line 39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13321" name="Line 41"/>
          <p:cNvSpPr>
            <a:spLocks noChangeShapeType="1"/>
          </p:cNvSpPr>
          <p:nvPr/>
        </p:nvSpPr>
        <p:spPr bwMode="auto">
          <a:xfrm>
            <a:off x="3438282" y="741032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13324" name="Line 44"/>
          <p:cNvSpPr>
            <a:spLocks noChangeShapeType="1"/>
          </p:cNvSpPr>
          <p:nvPr/>
        </p:nvSpPr>
        <p:spPr bwMode="auto">
          <a:xfrm flipH="1">
            <a:off x="3420819" y="358445"/>
            <a:ext cx="0" cy="310515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3311061" y="1422030"/>
            <a:ext cx="2811462" cy="2595563"/>
            <a:chOff x="3985" y="654"/>
            <a:chExt cx="1771" cy="1635"/>
          </a:xfrm>
        </p:grpSpPr>
        <p:sp>
          <p:nvSpPr>
            <p:cNvPr id="13406" name="Line 50"/>
            <p:cNvSpPr>
              <a:spLocks noChangeShapeType="1"/>
            </p:cNvSpPr>
            <p:nvPr/>
          </p:nvSpPr>
          <p:spPr bwMode="auto">
            <a:xfrm rot="18000000">
              <a:off x="4348" y="601"/>
              <a:ext cx="1045" cy="17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solidFill>
                  <a:schemeClr val="tx1"/>
                </a:solidFill>
              </a:endParaRPr>
            </a:p>
          </p:txBody>
        </p:sp>
        <p:sp>
          <p:nvSpPr>
            <p:cNvPr id="13407" name="Line 51"/>
            <p:cNvSpPr>
              <a:spLocks noChangeShapeType="1"/>
            </p:cNvSpPr>
            <p:nvPr/>
          </p:nvSpPr>
          <p:spPr bwMode="auto">
            <a:xfrm rot="19800000" flipV="1">
              <a:off x="4293" y="654"/>
              <a:ext cx="958" cy="1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solidFill>
                  <a:schemeClr val="tx1"/>
                </a:solidFill>
              </a:endParaRPr>
            </a:p>
          </p:txBody>
        </p:sp>
      </p:grpSp>
      <p:pic>
        <p:nvPicPr>
          <p:cNvPr id="249908" name="Picture 5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61" y="2522168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9909" name="Object 53"/>
          <p:cNvGraphicFramePr>
            <a:graphicFrameLocks noGrp="1" noChangeAspect="1"/>
          </p:cNvGraphicFramePr>
          <p:nvPr>
            <p:ph idx="4294967295"/>
          </p:nvPr>
        </p:nvGraphicFramePr>
        <p:xfrm>
          <a:off x="7561988" y="3192491"/>
          <a:ext cx="15621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31613" imgH="215806" progId="Equation.3">
                  <p:embed/>
                </p:oleObj>
              </mc:Choice>
              <mc:Fallback>
                <p:oleObj name="Ecuación" r:id="rId4" imgW="431613" imgH="215806" progId="Equation.3">
                  <p:embed/>
                  <p:pic>
                    <p:nvPicPr>
                      <p:cNvPr id="249909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3192491"/>
                        <a:ext cx="1562100" cy="7810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3953295" y="1259751"/>
            <a:ext cx="509588" cy="1235075"/>
            <a:chOff x="4403" y="629"/>
            <a:chExt cx="321" cy="778"/>
          </a:xfrm>
        </p:grpSpPr>
        <p:sp>
          <p:nvSpPr>
            <p:cNvPr id="13403" name="Line 57"/>
            <p:cNvSpPr>
              <a:spLocks noChangeShapeType="1"/>
            </p:cNvSpPr>
            <p:nvPr/>
          </p:nvSpPr>
          <p:spPr bwMode="auto">
            <a:xfrm flipH="1" flipV="1">
              <a:off x="4410" y="882"/>
              <a:ext cx="314" cy="52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 dirty="0"/>
            </a:p>
          </p:txBody>
        </p:sp>
        <p:sp>
          <p:nvSpPr>
            <p:cNvPr id="13404" name="Text Box 58"/>
            <p:cNvSpPr txBox="1">
              <a:spLocks noChangeArrowheads="1"/>
            </p:cNvSpPr>
            <p:nvPr/>
          </p:nvSpPr>
          <p:spPr bwMode="auto">
            <a:xfrm>
              <a:off x="4403" y="629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3405" name="Line 59"/>
            <p:cNvSpPr>
              <a:spLocks noChangeShapeType="1"/>
            </p:cNvSpPr>
            <p:nvPr/>
          </p:nvSpPr>
          <p:spPr bwMode="auto">
            <a:xfrm flipV="1">
              <a:off x="4467" y="66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4819192" y="2150693"/>
            <a:ext cx="1271588" cy="579437"/>
            <a:chOff x="4962" y="1197"/>
            <a:chExt cx="801" cy="365"/>
          </a:xfrm>
        </p:grpSpPr>
        <p:sp>
          <p:nvSpPr>
            <p:cNvPr id="13400" name="Line 61"/>
            <p:cNvSpPr>
              <a:spLocks noChangeShapeType="1"/>
            </p:cNvSpPr>
            <p:nvPr/>
          </p:nvSpPr>
          <p:spPr bwMode="auto">
            <a:xfrm rot="16200000" flipH="1">
              <a:off x="5302" y="1222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401" name="Text Box 62"/>
            <p:cNvSpPr txBox="1">
              <a:spLocks noChangeArrowheads="1"/>
            </p:cNvSpPr>
            <p:nvPr/>
          </p:nvSpPr>
          <p:spPr bwMode="auto">
            <a:xfrm>
              <a:off x="5532" y="1197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3402" name="Line 63"/>
            <p:cNvSpPr>
              <a:spLocks noChangeShapeType="1"/>
            </p:cNvSpPr>
            <p:nvPr/>
          </p:nvSpPr>
          <p:spPr bwMode="auto">
            <a:xfrm flipV="1">
              <a:off x="5588" y="122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aphicFrame>
        <p:nvGraphicFramePr>
          <p:cNvPr id="249920" name="Object 64"/>
          <p:cNvGraphicFramePr>
            <a:graphicFrameLocks noChangeAspect="1"/>
          </p:cNvGraphicFramePr>
          <p:nvPr/>
        </p:nvGraphicFramePr>
        <p:xfrm>
          <a:off x="7561988" y="2108002"/>
          <a:ext cx="1562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18918" imgH="215806" progId="Equation.3">
                  <p:embed/>
                </p:oleObj>
              </mc:Choice>
              <mc:Fallback>
                <p:oleObj name="Ecuación" r:id="rId6" imgW="418918" imgH="215806" progId="Equation.3">
                  <p:embed/>
                  <p:pic>
                    <p:nvPicPr>
                      <p:cNvPr id="24992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2108002"/>
                        <a:ext cx="1562100" cy="80486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4782740" y="2133230"/>
            <a:ext cx="723907" cy="595313"/>
            <a:chOff x="4939" y="1186"/>
            <a:chExt cx="456" cy="375"/>
          </a:xfrm>
        </p:grpSpPr>
        <p:sp>
          <p:nvSpPr>
            <p:cNvPr id="13397" name="Line 66"/>
            <p:cNvSpPr>
              <a:spLocks noChangeShapeType="1"/>
            </p:cNvSpPr>
            <p:nvPr/>
          </p:nvSpPr>
          <p:spPr bwMode="auto">
            <a:xfrm rot="5400000" flipH="1" flipV="1">
              <a:off x="5097" y="1403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13398" name="Text Box 67"/>
            <p:cNvSpPr txBox="1">
              <a:spLocks noChangeArrowheads="1"/>
            </p:cNvSpPr>
            <p:nvPr/>
          </p:nvSpPr>
          <p:spPr bwMode="auto">
            <a:xfrm>
              <a:off x="5153" y="1186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3399" name="Line 68"/>
            <p:cNvSpPr>
              <a:spLocks noChangeShapeType="1"/>
            </p:cNvSpPr>
            <p:nvPr/>
          </p:nvSpPr>
          <p:spPr bwMode="auto">
            <a:xfrm flipV="1">
              <a:off x="5214" y="122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4039732" y="3026993"/>
            <a:ext cx="523875" cy="1079500"/>
            <a:chOff x="4471" y="2199"/>
            <a:chExt cx="330" cy="680"/>
          </a:xfrm>
        </p:grpSpPr>
        <p:sp>
          <p:nvSpPr>
            <p:cNvPr id="13394" name="Text Box 70"/>
            <p:cNvSpPr txBox="1">
              <a:spLocks noChangeArrowheads="1"/>
            </p:cNvSpPr>
            <p:nvPr/>
          </p:nvSpPr>
          <p:spPr bwMode="auto">
            <a:xfrm>
              <a:off x="4471" y="2588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13395" name="Line 71"/>
            <p:cNvSpPr>
              <a:spLocks noChangeShapeType="1"/>
            </p:cNvSpPr>
            <p:nvPr/>
          </p:nvSpPr>
          <p:spPr bwMode="auto">
            <a:xfrm flipV="1">
              <a:off x="4497" y="2611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96" name="Line 72"/>
            <p:cNvSpPr>
              <a:spLocks noChangeShapeType="1"/>
            </p:cNvSpPr>
            <p:nvPr/>
          </p:nvSpPr>
          <p:spPr bwMode="auto">
            <a:xfrm flipH="1">
              <a:off x="4801" y="2199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4048649" y="2938275"/>
            <a:ext cx="509591" cy="673106"/>
            <a:chOff x="4884" y="2115"/>
            <a:chExt cx="321" cy="424"/>
          </a:xfrm>
        </p:grpSpPr>
        <p:sp>
          <p:nvSpPr>
            <p:cNvPr id="13391" name="Line 74"/>
            <p:cNvSpPr>
              <a:spLocks noChangeShapeType="1"/>
            </p:cNvSpPr>
            <p:nvPr/>
          </p:nvSpPr>
          <p:spPr bwMode="auto">
            <a:xfrm rot="10800000" flipH="1" flipV="1">
              <a:off x="5205" y="2115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13392" name="Text Box 75"/>
            <p:cNvSpPr txBox="1">
              <a:spLocks noChangeArrowheads="1"/>
            </p:cNvSpPr>
            <p:nvPr/>
          </p:nvSpPr>
          <p:spPr bwMode="auto">
            <a:xfrm>
              <a:off x="4884" y="2251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3393" name="Line 76"/>
            <p:cNvSpPr>
              <a:spLocks noChangeShapeType="1"/>
            </p:cNvSpPr>
            <p:nvPr/>
          </p:nvSpPr>
          <p:spPr bwMode="auto">
            <a:xfrm flipV="1">
              <a:off x="4943" y="2325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3949236" y="1695080"/>
            <a:ext cx="573087" cy="1008063"/>
            <a:chOff x="4414" y="910"/>
            <a:chExt cx="361" cy="635"/>
          </a:xfrm>
        </p:grpSpPr>
        <p:sp>
          <p:nvSpPr>
            <p:cNvPr id="13389" name="Line 78"/>
            <p:cNvSpPr>
              <a:spLocks noChangeShapeType="1"/>
            </p:cNvSpPr>
            <p:nvPr/>
          </p:nvSpPr>
          <p:spPr bwMode="auto">
            <a:xfrm>
              <a:off x="4432" y="910"/>
              <a:ext cx="3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90" name="Line 79"/>
            <p:cNvSpPr>
              <a:spLocks noChangeShapeType="1"/>
            </p:cNvSpPr>
            <p:nvPr/>
          </p:nvSpPr>
          <p:spPr bwMode="auto">
            <a:xfrm rot="5400000">
              <a:off x="4096" y="1228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11" name="Group 80"/>
          <p:cNvGrpSpPr>
            <a:grpSpLocks/>
          </p:cNvGrpSpPr>
          <p:nvPr/>
        </p:nvGrpSpPr>
        <p:grpSpPr bwMode="auto">
          <a:xfrm>
            <a:off x="3912723" y="2176093"/>
            <a:ext cx="409575" cy="457200"/>
            <a:chOff x="3881" y="1063"/>
            <a:chExt cx="258" cy="288"/>
          </a:xfrm>
        </p:grpSpPr>
        <p:sp>
          <p:nvSpPr>
            <p:cNvPr id="13387" name="Text Box 81"/>
            <p:cNvSpPr txBox="1">
              <a:spLocks noChangeArrowheads="1"/>
            </p:cNvSpPr>
            <p:nvPr/>
          </p:nvSpPr>
          <p:spPr bwMode="auto">
            <a:xfrm>
              <a:off x="3925" y="1063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13388" name="Freeform 82"/>
            <p:cNvSpPr>
              <a:spLocks/>
            </p:cNvSpPr>
            <p:nvPr/>
          </p:nvSpPr>
          <p:spPr bwMode="auto">
            <a:xfrm rot="-2437814">
              <a:off x="3881" y="1077"/>
              <a:ext cx="207" cy="65"/>
            </a:xfrm>
            <a:custGeom>
              <a:avLst/>
              <a:gdLst>
                <a:gd name="T0" fmla="*/ 0 w 313"/>
                <a:gd name="T1" fmla="*/ 0 h 110"/>
                <a:gd name="T2" fmla="*/ 1 w 313"/>
                <a:gd name="T3" fmla="*/ 1 h 110"/>
                <a:gd name="T4" fmla="*/ 1 w 313"/>
                <a:gd name="T5" fmla="*/ 1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13383" name="Text Box 84"/>
          <p:cNvSpPr txBox="1">
            <a:spLocks noChangeArrowheads="1"/>
          </p:cNvSpPr>
          <p:nvPr/>
        </p:nvSpPr>
        <p:spPr bwMode="auto">
          <a:xfrm>
            <a:off x="8380855" y="4315573"/>
            <a:ext cx="1911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 E = T sen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13381" name="Text Box 83"/>
          <p:cNvSpPr txBox="1">
            <a:spLocks noChangeArrowheads="1"/>
          </p:cNvSpPr>
          <p:nvPr/>
        </p:nvSpPr>
        <p:spPr bwMode="auto">
          <a:xfrm>
            <a:off x="8344343" y="4949148"/>
            <a:ext cx="1944688" cy="46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m g = T cos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grpSp>
        <p:nvGrpSpPr>
          <p:cNvPr id="16" name="Group 107"/>
          <p:cNvGrpSpPr>
            <a:grpSpLocks/>
          </p:cNvGrpSpPr>
          <p:nvPr/>
        </p:nvGrpSpPr>
        <p:grpSpPr bwMode="auto">
          <a:xfrm>
            <a:off x="3942886" y="1717305"/>
            <a:ext cx="623887" cy="1028700"/>
            <a:chOff x="4390" y="854"/>
            <a:chExt cx="393" cy="648"/>
          </a:xfrm>
        </p:grpSpPr>
        <p:sp>
          <p:nvSpPr>
            <p:cNvPr id="13377" name="Line 105"/>
            <p:cNvSpPr>
              <a:spLocks noChangeShapeType="1"/>
            </p:cNvSpPr>
            <p:nvPr/>
          </p:nvSpPr>
          <p:spPr bwMode="auto">
            <a:xfrm flipV="1">
              <a:off x="4783" y="854"/>
              <a:ext cx="0" cy="51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78" name="Line 106"/>
            <p:cNvSpPr>
              <a:spLocks noChangeShapeType="1"/>
            </p:cNvSpPr>
            <p:nvPr/>
          </p:nvSpPr>
          <p:spPr bwMode="auto">
            <a:xfrm rot="5400000">
              <a:off x="4526" y="1366"/>
              <a:ext cx="0" cy="27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55406" name="Text Box 110"/>
          <p:cNvSpPr txBox="1">
            <a:spLocks noChangeArrowheads="1"/>
          </p:cNvSpPr>
          <p:nvPr/>
        </p:nvSpPr>
        <p:spPr bwMode="auto">
          <a:xfrm>
            <a:off x="6354298" y="2539630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55407" name="Text Box 111"/>
          <p:cNvSpPr txBox="1">
            <a:spLocks noChangeArrowheads="1"/>
          </p:cNvSpPr>
          <p:nvPr/>
        </p:nvSpPr>
        <p:spPr bwMode="auto">
          <a:xfrm>
            <a:off x="4573123" y="955305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3372" name="Text Box 114"/>
          <p:cNvSpPr txBox="1">
            <a:spLocks noChangeArrowheads="1"/>
          </p:cNvSpPr>
          <p:nvPr/>
        </p:nvSpPr>
        <p:spPr bwMode="auto">
          <a:xfrm>
            <a:off x="3252996" y="4344147"/>
            <a:ext cx="4431051" cy="120251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Vamos a trabajar con módulos: La suma en un sentido debe ser igual a la suma en el otro</a:t>
            </a:r>
          </a:p>
        </p:txBody>
      </p:sp>
      <p:sp>
        <p:nvSpPr>
          <p:cNvPr id="98422" name="Text Box 118"/>
          <p:cNvSpPr txBox="1">
            <a:spLocks noChangeArrowheads="1"/>
          </p:cNvSpPr>
          <p:nvPr/>
        </p:nvSpPr>
        <p:spPr bwMode="auto">
          <a:xfrm>
            <a:off x="4750188" y="3649594"/>
            <a:ext cx="8867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Peso</a:t>
            </a:r>
          </a:p>
        </p:txBody>
      </p:sp>
      <p:sp>
        <p:nvSpPr>
          <p:cNvPr id="98423" name="Text Box 119"/>
          <p:cNvSpPr txBox="1">
            <a:spLocks noChangeArrowheads="1"/>
          </p:cNvSpPr>
          <p:nvPr/>
        </p:nvSpPr>
        <p:spPr bwMode="auto">
          <a:xfrm>
            <a:off x="4564398" y="1263778"/>
            <a:ext cx="1331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Tensión</a:t>
            </a:r>
            <a:r>
              <a:rPr lang="es-ES" sz="2400" dirty="0">
                <a:solidFill>
                  <a:srgbClr val="0099FF"/>
                </a:solidFill>
              </a:rPr>
              <a:t> 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4716189" y="2115808"/>
            <a:ext cx="357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21" name="CuadroTexto 120"/>
          <p:cNvSpPr txBox="1">
            <a:spLocks noChangeArrowheads="1"/>
          </p:cNvSpPr>
          <p:nvPr/>
        </p:nvSpPr>
        <p:spPr bwMode="auto">
          <a:xfrm>
            <a:off x="4012382" y="2808151"/>
            <a:ext cx="441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m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3DFB590-BF69-4570-A442-CD42616A6910}"/>
              </a:ext>
            </a:extLst>
          </p:cNvPr>
          <p:cNvGrpSpPr/>
          <p:nvPr/>
        </p:nvGrpSpPr>
        <p:grpSpPr>
          <a:xfrm>
            <a:off x="1255713" y="4334623"/>
            <a:ext cx="1700212" cy="1771822"/>
            <a:chOff x="1255713" y="4409304"/>
            <a:chExt cx="1700212" cy="1771822"/>
          </a:xfrm>
        </p:grpSpPr>
        <p:graphicFrame>
          <p:nvGraphicFramePr>
            <p:cNvPr id="249947" name="Object 91"/>
            <p:cNvGraphicFramePr>
              <a:graphicFrameLocks noChangeAspect="1"/>
            </p:cNvGraphicFramePr>
            <p:nvPr/>
          </p:nvGraphicFramePr>
          <p:xfrm>
            <a:off x="1636713" y="4409304"/>
            <a:ext cx="1319212" cy="490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685800" imgH="254000" progId="Equation.3">
                    <p:embed/>
                  </p:oleObj>
                </mc:Choice>
                <mc:Fallback>
                  <p:oleObj name="Ecuación" r:id="rId8" imgW="685800" imgH="254000" progId="Equation.3">
                    <p:embed/>
                    <p:pic>
                      <p:nvPicPr>
                        <p:cNvPr id="249947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6713" y="4409304"/>
                          <a:ext cx="1319212" cy="490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9948" name="Object 92"/>
            <p:cNvGraphicFramePr>
              <a:graphicFrameLocks noChangeAspect="1"/>
            </p:cNvGraphicFramePr>
            <p:nvPr/>
          </p:nvGraphicFramePr>
          <p:xfrm>
            <a:off x="1671638" y="5049233"/>
            <a:ext cx="1271587" cy="490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660113" imgH="253890" progId="Equation.3">
                    <p:embed/>
                  </p:oleObj>
                </mc:Choice>
                <mc:Fallback>
                  <p:oleObj name="Ecuación" r:id="rId10" imgW="660113" imgH="253890" progId="Equation.3">
                    <p:embed/>
                    <p:pic>
                      <p:nvPicPr>
                        <p:cNvPr id="249948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1638" y="5049233"/>
                          <a:ext cx="1271587" cy="490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62" name="Text Box 122"/>
            <p:cNvSpPr txBox="1">
              <a:spLocks noChangeArrowheads="1"/>
            </p:cNvSpPr>
            <p:nvPr/>
          </p:nvSpPr>
          <p:spPr bwMode="auto">
            <a:xfrm>
              <a:off x="1258888" y="4428354"/>
              <a:ext cx="322822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35963" name="Text Box 123"/>
            <p:cNvSpPr txBox="1">
              <a:spLocks noChangeArrowheads="1"/>
            </p:cNvSpPr>
            <p:nvPr/>
          </p:nvSpPr>
          <p:spPr bwMode="auto">
            <a:xfrm>
              <a:off x="1258888" y="5055583"/>
              <a:ext cx="322822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grpSp>
          <p:nvGrpSpPr>
            <p:cNvPr id="12" name="Grupo 11"/>
            <p:cNvGrpSpPr/>
            <p:nvPr/>
          </p:nvGrpSpPr>
          <p:grpSpPr>
            <a:xfrm>
              <a:off x="1255713" y="5693765"/>
              <a:ext cx="1685560" cy="487361"/>
              <a:chOff x="1255713" y="5257829"/>
              <a:chExt cx="1685560" cy="487361"/>
            </a:xfrm>
          </p:grpSpPr>
          <p:graphicFrame>
            <p:nvGraphicFramePr>
              <p:cNvPr id="13369" name="Object 92"/>
              <p:cNvGraphicFramePr>
                <a:graphicFrameLocks noChangeAspect="1"/>
              </p:cNvGraphicFramePr>
              <p:nvPr/>
            </p:nvGraphicFramePr>
            <p:xfrm>
              <a:off x="1670911" y="5257829"/>
              <a:ext cx="1270362" cy="4873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2" imgW="660113" imgH="253890" progId="Equation.3">
                      <p:embed/>
                    </p:oleObj>
                  </mc:Choice>
                  <mc:Fallback>
                    <p:oleObj name="Ecuación" r:id="rId12" imgW="660113" imgH="253890" progId="Equation.3">
                      <p:embed/>
                      <p:pic>
                        <p:nvPicPr>
                          <p:cNvPr id="13369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0911" y="5257829"/>
                            <a:ext cx="1270362" cy="4873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70" name="Text Box 123"/>
              <p:cNvSpPr txBox="1">
                <a:spLocks noChangeArrowheads="1"/>
              </p:cNvSpPr>
              <p:nvPr/>
            </p:nvSpPr>
            <p:spPr bwMode="auto">
              <a:xfrm>
                <a:off x="1255713" y="5264473"/>
                <a:ext cx="322822" cy="4638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</a:t>
                </a:r>
              </a:p>
            </p:txBody>
          </p:sp>
        </p:grpSp>
      </p:grpSp>
      <p:sp>
        <p:nvSpPr>
          <p:cNvPr id="13379" name="Text Box 100"/>
          <p:cNvSpPr txBox="1">
            <a:spLocks noChangeArrowheads="1"/>
          </p:cNvSpPr>
          <p:nvPr/>
        </p:nvSpPr>
        <p:spPr bwMode="auto">
          <a:xfrm>
            <a:off x="3251045" y="5637459"/>
            <a:ext cx="4431052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 por comodidad denotamos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módulo como componente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(</a:t>
            </a:r>
            <a:r>
              <a:rPr lang="es-ES" sz="2400" dirty="0">
                <a:latin typeface="Arial" panose="020B0604020202020204" pitchFamily="34" charset="0"/>
              </a:rPr>
              <a:t>T, F, P en vez de |</a:t>
            </a:r>
            <a:r>
              <a:rPr lang="es-ES" sz="2400" b="1" dirty="0">
                <a:latin typeface="Arial" panose="020B0604020202020204" pitchFamily="34" charset="0"/>
              </a:rPr>
              <a:t>T</a:t>
            </a:r>
            <a:r>
              <a:rPr lang="es-ES" sz="2400" dirty="0">
                <a:latin typeface="Arial" panose="020B0604020202020204" pitchFamily="34" charset="0"/>
              </a:rPr>
              <a:t>|, |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|, |</a:t>
            </a:r>
            <a:r>
              <a:rPr lang="es-ES" sz="2400" b="1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</a:rPr>
              <a:t>|)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8288780" y="4957126"/>
            <a:ext cx="2060575" cy="1117143"/>
            <a:chOff x="8288780" y="4521440"/>
            <a:chExt cx="2060575" cy="1117143"/>
          </a:xfrm>
        </p:grpSpPr>
        <p:sp>
          <p:nvSpPr>
            <p:cNvPr id="249941" name="Rectangle 85"/>
            <p:cNvSpPr>
              <a:spLocks noChangeArrowheads="1"/>
            </p:cNvSpPr>
            <p:nvPr/>
          </p:nvSpPr>
          <p:spPr bwMode="auto">
            <a:xfrm>
              <a:off x="8288780" y="4521440"/>
              <a:ext cx="2060575" cy="482600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5" name="Conector recto de flecha 134"/>
            <p:cNvCxnSpPr/>
            <p:nvPr/>
          </p:nvCxnSpPr>
          <p:spPr bwMode="auto">
            <a:xfrm>
              <a:off x="9398227" y="5121644"/>
              <a:ext cx="0" cy="516939"/>
            </a:xfrm>
            <a:prstGeom prst="straightConnector1">
              <a:avLst/>
            </a:prstGeom>
            <a:noFill/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137" name="Text Box 86"/>
          <p:cNvSpPr txBox="1">
            <a:spLocks noChangeArrowheads="1"/>
          </p:cNvSpPr>
          <p:nvPr/>
        </p:nvSpPr>
        <p:spPr bwMode="auto">
          <a:xfrm>
            <a:off x="8373272" y="6048195"/>
            <a:ext cx="21206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 = m g / cos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208959E-407E-4AB8-9AEF-9BA89FA98336}"/>
              </a:ext>
            </a:extLst>
          </p:cNvPr>
          <p:cNvGrpSpPr/>
          <p:nvPr/>
        </p:nvGrpSpPr>
        <p:grpSpPr>
          <a:xfrm>
            <a:off x="3435693" y="1414585"/>
            <a:ext cx="432944" cy="520504"/>
            <a:chOff x="3435693" y="1414585"/>
            <a:chExt cx="432944" cy="520504"/>
          </a:xfrm>
        </p:grpSpPr>
        <p:sp>
          <p:nvSpPr>
            <p:cNvPr id="13333" name="Freeform 55"/>
            <p:cNvSpPr>
              <a:spLocks/>
            </p:cNvSpPr>
            <p:nvPr/>
          </p:nvSpPr>
          <p:spPr bwMode="auto">
            <a:xfrm flipH="1">
              <a:off x="3435693" y="1414585"/>
              <a:ext cx="410650" cy="144318"/>
            </a:xfrm>
            <a:custGeom>
              <a:avLst/>
              <a:gdLst>
                <a:gd name="T0" fmla="*/ 0 w 313"/>
                <a:gd name="T1" fmla="*/ 0 h 110"/>
                <a:gd name="T2" fmla="*/ 2147483646 w 313"/>
                <a:gd name="T3" fmla="*/ 2147483646 h 110"/>
                <a:gd name="T4" fmla="*/ 2147483646 w 313"/>
                <a:gd name="T5" fmla="*/ 2147483646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12" name="Text Box 81">
              <a:extLst>
                <a:ext uri="{FF2B5EF4-FFF2-40B4-BE49-F238E27FC236}">
                  <a16:creationId xmlns:a16="http://schemas.microsoft.com/office/drawing/2014/main" id="{BF9D9864-FF9C-48D8-80BE-3118A3572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912" y="1477889"/>
              <a:ext cx="339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</p:grpSp>
      <p:sp>
        <p:nvSpPr>
          <p:cNvPr id="115" name="Text Box 118">
            <a:extLst>
              <a:ext uri="{FF2B5EF4-FFF2-40B4-BE49-F238E27FC236}">
                <a16:creationId xmlns:a16="http://schemas.microsoft.com/office/drawing/2014/main" id="{4A210593-E3C5-4B1E-82D1-B09A3DA4A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39" y="2924006"/>
            <a:ext cx="1135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 err="1">
                <a:solidFill>
                  <a:srgbClr val="3333FF"/>
                </a:solidFill>
              </a:rPr>
              <a:t>F</a:t>
            </a:r>
            <a:r>
              <a:rPr lang="es-ES" sz="2400" baseline="-25000" dirty="0" err="1">
                <a:solidFill>
                  <a:srgbClr val="3333FF"/>
                </a:solidFill>
              </a:rPr>
              <a:t>eléctrica</a:t>
            </a:r>
            <a:endParaRPr lang="es-ES" sz="2400" baseline="-25000" dirty="0">
              <a:solidFill>
                <a:srgbClr val="3333FF"/>
              </a:solidFill>
            </a:endParaRPr>
          </a:p>
        </p:txBody>
      </p:sp>
      <p:pic>
        <p:nvPicPr>
          <p:cNvPr id="120" name="Picture 4">
            <a:extLst>
              <a:ext uri="{FF2B5EF4-FFF2-40B4-BE49-F238E27FC236}">
                <a16:creationId xmlns:a16="http://schemas.microsoft.com/office/drawing/2014/main" id="{38EC986B-9F0C-4B2D-824A-1F73EF22B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394" y="2534415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Line 37">
            <a:extLst>
              <a:ext uri="{FF2B5EF4-FFF2-40B4-BE49-F238E27FC236}">
                <a16:creationId xmlns:a16="http://schemas.microsoft.com/office/drawing/2014/main" id="{CA13052A-6D4D-43EA-8F72-D10FE1624A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0500" y="711667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38D4DE47-AD8F-4C1F-9C45-05705C70CC90}"/>
              </a:ext>
            </a:extLst>
          </p:cNvPr>
          <p:cNvGrpSpPr>
            <a:grpSpLocks/>
          </p:cNvGrpSpPr>
          <p:nvPr/>
        </p:nvGrpSpPr>
        <p:grpSpPr bwMode="auto">
          <a:xfrm>
            <a:off x="4158786" y="1571159"/>
            <a:ext cx="419100" cy="574675"/>
            <a:chOff x="3824" y="780"/>
            <a:chExt cx="264" cy="362"/>
          </a:xfrm>
        </p:grpSpPr>
        <p:sp>
          <p:nvSpPr>
            <p:cNvPr id="109" name="Text Box 81">
              <a:extLst>
                <a:ext uri="{FF2B5EF4-FFF2-40B4-BE49-F238E27FC236}">
                  <a16:creationId xmlns:a16="http://schemas.microsoft.com/office/drawing/2014/main" id="{3D47A254-1035-429C-A5A3-CDF4E3EE4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4" y="780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02DBAD81-413D-477C-B522-D5F269BD91EF}"/>
                </a:ext>
              </a:extLst>
            </p:cNvPr>
            <p:cNvSpPr>
              <a:spLocks/>
            </p:cNvSpPr>
            <p:nvPr/>
          </p:nvSpPr>
          <p:spPr bwMode="auto">
            <a:xfrm rot="19162186" flipH="1" flipV="1">
              <a:off x="3881" y="1077"/>
              <a:ext cx="207" cy="65"/>
            </a:xfrm>
            <a:custGeom>
              <a:avLst/>
              <a:gdLst>
                <a:gd name="T0" fmla="*/ 0 w 313"/>
                <a:gd name="T1" fmla="*/ 0 h 110"/>
                <a:gd name="T2" fmla="*/ 1 w 313"/>
                <a:gd name="T3" fmla="*/ 1 h 110"/>
                <a:gd name="T4" fmla="*/ 1 w 313"/>
                <a:gd name="T5" fmla="*/ 1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14" name="Text Box 100">
            <a:extLst>
              <a:ext uri="{FF2B5EF4-FFF2-40B4-BE49-F238E27FC236}">
                <a16:creationId xmlns:a16="http://schemas.microsoft.com/office/drawing/2014/main" id="{56F56982-13F8-E31E-B19B-68D1BA8A6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5221" y="335795"/>
            <a:ext cx="4431052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Colocando así el sistema de referencia, 2 de las 3 fuerzas están ya descompuestas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24D6DDF-0BDA-E479-873D-4E5A4A701460}"/>
              </a:ext>
            </a:extLst>
          </p:cNvPr>
          <p:cNvGrpSpPr/>
          <p:nvPr/>
        </p:nvGrpSpPr>
        <p:grpSpPr>
          <a:xfrm>
            <a:off x="1007136" y="5546657"/>
            <a:ext cx="2477937" cy="1513852"/>
            <a:chOff x="1007136" y="5546657"/>
            <a:chExt cx="2477937" cy="1513852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912D9447-E2AA-471D-BED8-A5B6906E9903}"/>
                </a:ext>
              </a:extLst>
            </p:cNvPr>
            <p:cNvGrpSpPr/>
            <p:nvPr/>
          </p:nvGrpSpPr>
          <p:grpSpPr>
            <a:xfrm>
              <a:off x="1007136" y="6121963"/>
              <a:ext cx="2477937" cy="938546"/>
              <a:chOff x="1007136" y="6121963"/>
              <a:chExt cx="2477937" cy="938546"/>
            </a:xfrm>
          </p:grpSpPr>
          <p:sp>
            <p:nvSpPr>
              <p:cNvPr id="13367" name="Text Box 112"/>
              <p:cNvSpPr txBox="1">
                <a:spLocks noChangeArrowheads="1"/>
              </p:cNvSpPr>
              <p:nvPr/>
            </p:nvSpPr>
            <p:spPr bwMode="auto">
              <a:xfrm>
                <a:off x="1007136" y="6226846"/>
                <a:ext cx="2477937" cy="833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108000" tIns="108000" rIns="108000" bIns="108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2400"/>
                  </a:lnSpc>
                  <a:spcBef>
                    <a:spcPts val="0"/>
                  </a:spcBef>
                  <a:buFont typeface="Symbol" panose="05050102010706020507" pitchFamily="18" charset="2"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Obvio, no hay fuerzas en Z</a:t>
                </a:r>
              </a:p>
            </p:txBody>
          </p:sp>
          <p:cxnSp>
            <p:nvCxnSpPr>
              <p:cNvPr id="17" name="Conector recto de flecha 16">
                <a:extLst>
                  <a:ext uri="{FF2B5EF4-FFF2-40B4-BE49-F238E27FC236}">
                    <a16:creationId xmlns:a16="http://schemas.microsoft.com/office/drawing/2014/main" id="{7EF542EA-5421-43B9-9C3A-DE670F491ADA}"/>
                  </a:ext>
                </a:extLst>
              </p:cNvPr>
              <p:cNvCxnSpPr/>
              <p:nvPr/>
            </p:nvCxnSpPr>
            <p:spPr bwMode="auto">
              <a:xfrm>
                <a:off x="2209070" y="6121963"/>
                <a:ext cx="0" cy="248671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FE1E520-FCDE-A3FF-239F-6EA1449A7E8F}"/>
                </a:ext>
              </a:extLst>
            </p:cNvPr>
            <p:cNvSpPr/>
            <p:nvPr/>
          </p:nvSpPr>
          <p:spPr bwMode="auto">
            <a:xfrm>
              <a:off x="1626663" y="5546657"/>
              <a:ext cx="1271587" cy="575306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90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 animBg="1"/>
      <p:bldP spid="13383" grpId="0"/>
      <p:bldP spid="13381" grpId="0"/>
      <p:bldP spid="55406" grpId="0"/>
      <p:bldP spid="55407" grpId="0"/>
      <p:bldP spid="13372" grpId="0" animBg="1"/>
      <p:bldP spid="13379" grpId="0" animBg="1"/>
      <p:bldP spid="137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21">
            <a:extLst>
              <a:ext uri="{FF2B5EF4-FFF2-40B4-BE49-F238E27FC236}">
                <a16:creationId xmlns:a16="http://schemas.microsoft.com/office/drawing/2014/main" id="{31483190-923B-4402-BE72-9918F0247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023" y="4416578"/>
            <a:ext cx="581940" cy="463846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8" name="Text Box 86">
            <a:extLst>
              <a:ext uri="{FF2B5EF4-FFF2-40B4-BE49-F238E27FC236}">
                <a16:creationId xmlns:a16="http://schemas.microsoft.com/office/drawing/2014/main" id="{4F176679-2540-4645-8491-6D49A66DA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236" y="4389739"/>
            <a:ext cx="21206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 = m g / cos</a:t>
            </a:r>
          </a:p>
        </p:txBody>
      </p:sp>
      <p:grpSp>
        <p:nvGrpSpPr>
          <p:cNvPr id="109" name="Group 119">
            <a:extLst>
              <a:ext uri="{FF2B5EF4-FFF2-40B4-BE49-F238E27FC236}">
                <a16:creationId xmlns:a16="http://schemas.microsoft.com/office/drawing/2014/main" id="{9AD06F58-EBC1-4E1B-B3CA-64A949614AE5}"/>
              </a:ext>
            </a:extLst>
          </p:cNvPr>
          <p:cNvGrpSpPr>
            <a:grpSpLocks/>
          </p:cNvGrpSpPr>
          <p:nvPr/>
        </p:nvGrpSpPr>
        <p:grpSpPr bwMode="auto">
          <a:xfrm>
            <a:off x="4121823" y="4423076"/>
            <a:ext cx="4289425" cy="463550"/>
            <a:chOff x="3744" y="3295"/>
            <a:chExt cx="2702" cy="292"/>
          </a:xfrm>
        </p:grpSpPr>
        <p:sp>
          <p:nvSpPr>
            <p:cNvPr id="110" name="Text Box 88">
              <a:extLst>
                <a:ext uri="{FF2B5EF4-FFF2-40B4-BE49-F238E27FC236}">
                  <a16:creationId xmlns:a16="http://schemas.microsoft.com/office/drawing/2014/main" id="{FBAA8E65-4604-4C5F-8645-867752C71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295"/>
              <a:ext cx="270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10 10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3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k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g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9,81 m/s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/ (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3/2)</a:t>
              </a:r>
            </a:p>
          </p:txBody>
        </p:sp>
        <p:sp>
          <p:nvSpPr>
            <p:cNvPr id="111" name="Line 89">
              <a:extLst>
                <a:ext uri="{FF2B5EF4-FFF2-40B4-BE49-F238E27FC236}">
                  <a16:creationId xmlns:a16="http://schemas.microsoft.com/office/drawing/2014/main" id="{4436F2F7-C73A-46BD-88E3-91B3AE070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3" y="3333"/>
              <a:ext cx="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13" name="Text Box 90">
            <a:extLst>
              <a:ext uri="{FF2B5EF4-FFF2-40B4-BE49-F238E27FC236}">
                <a16:creationId xmlns:a16="http://schemas.microsoft.com/office/drawing/2014/main" id="{87862F78-79F7-4AE3-A1C5-ECFBE803E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487" y="5039762"/>
            <a:ext cx="1502248" cy="46384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0,113 N</a:t>
            </a:r>
          </a:p>
        </p:txBody>
      </p:sp>
      <p:sp>
        <p:nvSpPr>
          <p:cNvPr id="119" name="Rectangle 108">
            <a:extLst>
              <a:ext uri="{FF2B5EF4-FFF2-40B4-BE49-F238E27FC236}">
                <a16:creationId xmlns:a16="http://schemas.microsoft.com/office/drawing/2014/main" id="{2CA4A818-C208-423B-AA9D-1A3046ECF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999" y="4413583"/>
            <a:ext cx="701675" cy="47466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AB9F137-CDCB-45A1-8A82-86714C222D52}"/>
              </a:ext>
            </a:extLst>
          </p:cNvPr>
          <p:cNvGrpSpPr/>
          <p:nvPr/>
        </p:nvGrpSpPr>
        <p:grpSpPr>
          <a:xfrm>
            <a:off x="1910149" y="5063179"/>
            <a:ext cx="2232169" cy="1620000"/>
            <a:chOff x="2534617" y="5165919"/>
            <a:chExt cx="2232169" cy="1620000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DF610F39-BF45-4F7B-B097-988593E03BB1}"/>
                </a:ext>
              </a:extLst>
            </p:cNvPr>
            <p:cNvGrpSpPr/>
            <p:nvPr/>
          </p:nvGrpSpPr>
          <p:grpSpPr>
            <a:xfrm>
              <a:off x="2534617" y="5165919"/>
              <a:ext cx="2232169" cy="1620000"/>
              <a:chOff x="2534617" y="5165919"/>
              <a:chExt cx="2232169" cy="1620000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B1922E0-89F8-4566-B5C8-BF4F3077616A}"/>
                  </a:ext>
                </a:extLst>
              </p:cNvPr>
              <p:cNvSpPr/>
              <p:nvPr/>
            </p:nvSpPr>
            <p:spPr bwMode="auto">
              <a:xfrm>
                <a:off x="2534617" y="5165919"/>
                <a:ext cx="2232169" cy="1620000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5" name="Text Box 93">
                <a:extLst>
                  <a:ext uri="{FF2B5EF4-FFF2-40B4-BE49-F238E27FC236}">
                    <a16:creationId xmlns:a16="http://schemas.microsoft.com/office/drawing/2014/main" id="{E1926E6E-0AF0-4E97-8534-9A1F284C08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4850" y="5187185"/>
                <a:ext cx="1387216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 = 10 g</a:t>
                </a:r>
              </a:p>
            </p:txBody>
          </p:sp>
          <p:sp>
            <p:nvSpPr>
              <p:cNvPr id="106" name="Text Box 46">
                <a:extLst>
                  <a:ext uri="{FF2B5EF4-FFF2-40B4-BE49-F238E27FC236}">
                    <a16:creationId xmlns:a16="http://schemas.microsoft.com/office/drawing/2014/main" id="{D6E85568-E9D5-4D36-84DC-2B51F2D57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3378" y="5659224"/>
                <a:ext cx="2112011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g 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=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9,81 m/s</a:t>
                </a:r>
                <a:r>
                  <a:rPr lang="es-ES" sz="2400" baseline="30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</a:t>
                </a:r>
                <a:endParaRPr lang="es-E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0" name="Text Box 45">
              <a:extLst>
                <a:ext uri="{FF2B5EF4-FFF2-40B4-BE49-F238E27FC236}">
                  <a16:creationId xmlns:a16="http://schemas.microsoft.com/office/drawing/2014/main" id="{6BB8E255-1463-49FB-8D7E-B2FFC3454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507" y="6201888"/>
              <a:ext cx="974725" cy="433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 =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30º</a:t>
              </a:r>
            </a:p>
          </p:txBody>
        </p:sp>
      </p:grpSp>
      <p:sp>
        <p:nvSpPr>
          <p:cNvPr id="122" name="Text Box 99">
            <a:extLst>
              <a:ext uri="{FF2B5EF4-FFF2-40B4-BE49-F238E27FC236}">
                <a16:creationId xmlns:a16="http://schemas.microsoft.com/office/drawing/2014/main" id="{CBF2026B-E700-4C6E-916D-EA2BCD271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104" y="5990742"/>
            <a:ext cx="4430388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algn="ctr" eaLnBrk="1" hangingPunct="1">
              <a:spcBef>
                <a:spcPts val="0"/>
              </a:spcBef>
              <a:buFont typeface="Symbol" panose="05050102010706020507" pitchFamily="18" charset="2"/>
              <a:buChar char="Þ"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Redondear como máximo 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  a 3 cifras significativas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1D31A6F-F787-4834-A798-EACFBD0533D0}"/>
              </a:ext>
            </a:extLst>
          </p:cNvPr>
          <p:cNvSpPr txBox="1"/>
          <p:nvPr/>
        </p:nvSpPr>
        <p:spPr>
          <a:xfrm>
            <a:off x="8392198" y="4446196"/>
            <a:ext cx="1966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chemeClr val="tx1"/>
                </a:solidFill>
              </a:rPr>
              <a:t>= 0,113276...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93C9384-7C5C-4093-82FA-23D75E0E571B}"/>
              </a:ext>
            </a:extLst>
          </p:cNvPr>
          <p:cNvGrpSpPr/>
          <p:nvPr/>
        </p:nvGrpSpPr>
        <p:grpSpPr>
          <a:xfrm>
            <a:off x="4584419" y="4888248"/>
            <a:ext cx="3382045" cy="1116643"/>
            <a:chOff x="4584419" y="4888248"/>
            <a:chExt cx="3382045" cy="1116643"/>
          </a:xfrm>
        </p:grpSpPr>
        <p:sp>
          <p:nvSpPr>
            <p:cNvPr id="118" name="Text Box 99">
              <a:extLst>
                <a:ext uri="{FF2B5EF4-FFF2-40B4-BE49-F238E27FC236}">
                  <a16:creationId xmlns:a16="http://schemas.microsoft.com/office/drawing/2014/main" id="{803F2236-9827-44F8-8030-8C613F4C9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4419" y="5171713"/>
              <a:ext cx="338204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Valor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medio con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3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cifras significativas</a:t>
              </a:r>
            </a:p>
          </p:txBody>
        </p: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AE01E89F-1FF7-4990-ADDF-4C73075A1380}"/>
                </a:ext>
              </a:extLst>
            </p:cNvPr>
            <p:cNvCxnSpPr>
              <a:cxnSpLocks/>
              <a:stCxn id="119" idx="2"/>
            </p:cNvCxnSpPr>
            <p:nvPr/>
          </p:nvCxnSpPr>
          <p:spPr bwMode="auto">
            <a:xfrm flipH="1">
              <a:off x="6253836" y="4888248"/>
              <a:ext cx="1" cy="304495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grpSp>
        <p:nvGrpSpPr>
          <p:cNvPr id="112" name="Group 2">
            <a:extLst>
              <a:ext uri="{FF2B5EF4-FFF2-40B4-BE49-F238E27FC236}">
                <a16:creationId xmlns:a16="http://schemas.microsoft.com/office/drawing/2014/main" id="{5DD75856-ACCA-4AFE-9748-CFD55453AD87}"/>
              </a:ext>
            </a:extLst>
          </p:cNvPr>
          <p:cNvGrpSpPr>
            <a:grpSpLocks/>
          </p:cNvGrpSpPr>
          <p:nvPr/>
        </p:nvGrpSpPr>
        <p:grpSpPr bwMode="auto">
          <a:xfrm>
            <a:off x="3425586" y="774370"/>
            <a:ext cx="1181102" cy="1982788"/>
            <a:chOff x="2252" y="797"/>
            <a:chExt cx="744" cy="1249"/>
          </a:xfrm>
        </p:grpSpPr>
        <p:sp>
          <p:nvSpPr>
            <p:cNvPr id="114" name="AutoShape 3">
              <a:extLst>
                <a:ext uri="{FF2B5EF4-FFF2-40B4-BE49-F238E27FC236}">
                  <a16:creationId xmlns:a16="http://schemas.microsoft.com/office/drawing/2014/main" id="{75C816CD-BE2B-423D-B044-883C9455B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" y="797"/>
              <a:ext cx="729" cy="1240"/>
            </a:xfrm>
            <a:prstGeom prst="rtTriangle">
              <a:avLst/>
            </a:prstGeom>
            <a:solidFill>
              <a:schemeClr val="bg1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5" name="Rectangle 4">
              <a:extLst>
                <a:ext uri="{FF2B5EF4-FFF2-40B4-BE49-F238E27FC236}">
                  <a16:creationId xmlns:a16="http://schemas.microsoft.com/office/drawing/2014/main" id="{15D1AAF2-FFFC-4776-9072-CBD7672B5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" y="1933"/>
              <a:ext cx="113" cy="11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6" name="AutoShape 5">
            <a:extLst>
              <a:ext uri="{FF2B5EF4-FFF2-40B4-BE49-F238E27FC236}">
                <a16:creationId xmlns:a16="http://schemas.microsoft.com/office/drawing/2014/main" id="{77434214-5528-45EA-835D-BFFA05AAF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4290" y="1706193"/>
            <a:ext cx="612775" cy="1054100"/>
          </a:xfrm>
          <a:prstGeom prst="rtTriangle">
            <a:avLst/>
          </a:prstGeom>
          <a:solidFill>
            <a:srgbClr val="CCFFCC"/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21" name="Group 8">
            <a:extLst>
              <a:ext uri="{FF2B5EF4-FFF2-40B4-BE49-F238E27FC236}">
                <a16:creationId xmlns:a16="http://schemas.microsoft.com/office/drawing/2014/main" id="{04915391-F169-4A1D-AD01-D171DA07A694}"/>
              </a:ext>
            </a:extLst>
          </p:cNvPr>
          <p:cNvGrpSpPr>
            <a:grpSpLocks/>
          </p:cNvGrpSpPr>
          <p:nvPr/>
        </p:nvGrpSpPr>
        <p:grpSpPr bwMode="auto">
          <a:xfrm>
            <a:off x="1795219" y="396545"/>
            <a:ext cx="3251200" cy="333375"/>
            <a:chOff x="1225" y="2029"/>
            <a:chExt cx="2048" cy="210"/>
          </a:xfrm>
        </p:grpSpPr>
        <p:sp>
          <p:nvSpPr>
            <p:cNvPr id="124" name="Line 9">
              <a:extLst>
                <a:ext uri="{FF2B5EF4-FFF2-40B4-BE49-F238E27FC236}">
                  <a16:creationId xmlns:a16="http://schemas.microsoft.com/office/drawing/2014/main" id="{DE89804A-7E3C-4DBD-9B76-94CA538EA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25" name="Line 10">
              <a:extLst>
                <a:ext uri="{FF2B5EF4-FFF2-40B4-BE49-F238E27FC236}">
                  <a16:creationId xmlns:a16="http://schemas.microsoft.com/office/drawing/2014/main" id="{70974B89-5B39-4AA2-AA36-4C30F429A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26" name="Line 11">
              <a:extLst>
                <a:ext uri="{FF2B5EF4-FFF2-40B4-BE49-F238E27FC236}">
                  <a16:creationId xmlns:a16="http://schemas.microsoft.com/office/drawing/2014/main" id="{AEAA03CD-8E31-4802-9C58-1C02A9776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1" name="Line 12">
              <a:extLst>
                <a:ext uri="{FF2B5EF4-FFF2-40B4-BE49-F238E27FC236}">
                  <a16:creationId xmlns:a16="http://schemas.microsoft.com/office/drawing/2014/main" id="{4BC6916B-D921-453C-8F17-ED943491B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2" name="Line 13">
              <a:extLst>
                <a:ext uri="{FF2B5EF4-FFF2-40B4-BE49-F238E27FC236}">
                  <a16:creationId xmlns:a16="http://schemas.microsoft.com/office/drawing/2014/main" id="{5528965F-4708-4F0A-B63B-D9D747FA1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3" name="Line 14">
              <a:extLst>
                <a:ext uri="{FF2B5EF4-FFF2-40B4-BE49-F238E27FC236}">
                  <a16:creationId xmlns:a16="http://schemas.microsoft.com/office/drawing/2014/main" id="{E96D4D77-CA58-4C3C-BA8D-C5EA4762C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4" name="Line 15">
              <a:extLst>
                <a:ext uri="{FF2B5EF4-FFF2-40B4-BE49-F238E27FC236}">
                  <a16:creationId xmlns:a16="http://schemas.microsoft.com/office/drawing/2014/main" id="{BF4CBED8-12B4-4718-9956-D31662191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5" name="Line 16">
              <a:extLst>
                <a:ext uri="{FF2B5EF4-FFF2-40B4-BE49-F238E27FC236}">
                  <a16:creationId xmlns:a16="http://schemas.microsoft.com/office/drawing/2014/main" id="{A1F2B92B-7BE8-488A-BD34-AA28CF3DE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6" name="Line 17">
              <a:extLst>
                <a:ext uri="{FF2B5EF4-FFF2-40B4-BE49-F238E27FC236}">
                  <a16:creationId xmlns:a16="http://schemas.microsoft.com/office/drawing/2014/main" id="{334C35F6-00E4-439E-BF6E-F14B7CD1E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7" name="Line 18">
              <a:extLst>
                <a:ext uri="{FF2B5EF4-FFF2-40B4-BE49-F238E27FC236}">
                  <a16:creationId xmlns:a16="http://schemas.microsoft.com/office/drawing/2014/main" id="{6579C7E0-2488-4072-89A2-9F7972A1F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8" name="Line 19">
              <a:extLst>
                <a:ext uri="{FF2B5EF4-FFF2-40B4-BE49-F238E27FC236}">
                  <a16:creationId xmlns:a16="http://schemas.microsoft.com/office/drawing/2014/main" id="{D013878F-BEB9-44ED-A8F3-818497438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19" name="Line 20">
              <a:extLst>
                <a:ext uri="{FF2B5EF4-FFF2-40B4-BE49-F238E27FC236}">
                  <a16:creationId xmlns:a16="http://schemas.microsoft.com/office/drawing/2014/main" id="{B15E6B08-7490-4CB0-9453-BD1D78877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0" name="Line 21">
              <a:extLst>
                <a:ext uri="{FF2B5EF4-FFF2-40B4-BE49-F238E27FC236}">
                  <a16:creationId xmlns:a16="http://schemas.microsoft.com/office/drawing/2014/main" id="{BE7E0D80-3E78-49BC-A85C-3DC8B31B8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1" name="Line 22">
              <a:extLst>
                <a:ext uri="{FF2B5EF4-FFF2-40B4-BE49-F238E27FC236}">
                  <a16:creationId xmlns:a16="http://schemas.microsoft.com/office/drawing/2014/main" id="{69BD90B9-292B-4F0C-AC89-C05C52CC8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2" name="Line 23">
              <a:extLst>
                <a:ext uri="{FF2B5EF4-FFF2-40B4-BE49-F238E27FC236}">
                  <a16:creationId xmlns:a16="http://schemas.microsoft.com/office/drawing/2014/main" id="{D4AE8F14-104D-4E34-9D6C-6770A6635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3" name="Line 24">
              <a:extLst>
                <a:ext uri="{FF2B5EF4-FFF2-40B4-BE49-F238E27FC236}">
                  <a16:creationId xmlns:a16="http://schemas.microsoft.com/office/drawing/2014/main" id="{68921F22-A96C-4013-9F47-3094E79FA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4" name="Line 25">
              <a:extLst>
                <a:ext uri="{FF2B5EF4-FFF2-40B4-BE49-F238E27FC236}">
                  <a16:creationId xmlns:a16="http://schemas.microsoft.com/office/drawing/2014/main" id="{D3CA8A99-F7EB-4152-BE08-0492BADCD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5" name="Line 26">
              <a:extLst>
                <a:ext uri="{FF2B5EF4-FFF2-40B4-BE49-F238E27FC236}">
                  <a16:creationId xmlns:a16="http://schemas.microsoft.com/office/drawing/2014/main" id="{459DFD4F-D056-4914-A2ED-DAB9D459A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B331C175-A31B-48DF-8C10-6F2A7141D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7" name="Line 28">
              <a:extLst>
                <a:ext uri="{FF2B5EF4-FFF2-40B4-BE49-F238E27FC236}">
                  <a16:creationId xmlns:a16="http://schemas.microsoft.com/office/drawing/2014/main" id="{62B68ACB-382D-4432-99A7-5C8706DEA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8" name="Line 29">
              <a:extLst>
                <a:ext uri="{FF2B5EF4-FFF2-40B4-BE49-F238E27FC236}">
                  <a16:creationId xmlns:a16="http://schemas.microsoft.com/office/drawing/2014/main" id="{1066AFCF-4631-48D0-9FD2-703774969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29" name="Line 30">
              <a:extLst>
                <a:ext uri="{FF2B5EF4-FFF2-40B4-BE49-F238E27FC236}">
                  <a16:creationId xmlns:a16="http://schemas.microsoft.com/office/drawing/2014/main" id="{6AB888E2-8D37-4F04-BBDA-77CE394DA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0" name="Line 31">
              <a:extLst>
                <a:ext uri="{FF2B5EF4-FFF2-40B4-BE49-F238E27FC236}">
                  <a16:creationId xmlns:a16="http://schemas.microsoft.com/office/drawing/2014/main" id="{DB9DF425-6961-4489-8B58-261776505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1" name="Line 32">
              <a:extLst>
                <a:ext uri="{FF2B5EF4-FFF2-40B4-BE49-F238E27FC236}">
                  <a16:creationId xmlns:a16="http://schemas.microsoft.com/office/drawing/2014/main" id="{5EDAA66C-D3B5-4E5E-9A99-B732F8F0C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2" name="Line 33">
              <a:extLst>
                <a:ext uri="{FF2B5EF4-FFF2-40B4-BE49-F238E27FC236}">
                  <a16:creationId xmlns:a16="http://schemas.microsoft.com/office/drawing/2014/main" id="{CD6A3AB4-B030-4547-9B53-3FE48BF5A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3" name="Line 34">
              <a:extLst>
                <a:ext uri="{FF2B5EF4-FFF2-40B4-BE49-F238E27FC236}">
                  <a16:creationId xmlns:a16="http://schemas.microsoft.com/office/drawing/2014/main" id="{56C3D169-4DFB-446F-BFA2-6C3A6E804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4" name="Line 35">
              <a:extLst>
                <a:ext uri="{FF2B5EF4-FFF2-40B4-BE49-F238E27FC236}">
                  <a16:creationId xmlns:a16="http://schemas.microsoft.com/office/drawing/2014/main" id="{45A38E10-2F05-4259-A6E6-7D662706B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5" name="Line 36">
              <a:extLst>
                <a:ext uri="{FF2B5EF4-FFF2-40B4-BE49-F238E27FC236}">
                  <a16:creationId xmlns:a16="http://schemas.microsoft.com/office/drawing/2014/main" id="{E6F390AE-C553-457E-B85A-30761581C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6" name="Line 37">
              <a:extLst>
                <a:ext uri="{FF2B5EF4-FFF2-40B4-BE49-F238E27FC236}">
                  <a16:creationId xmlns:a16="http://schemas.microsoft.com/office/drawing/2014/main" id="{C6E6ADDE-CF85-4B6E-B750-14A13EAD7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7" name="Line 38">
              <a:extLst>
                <a:ext uri="{FF2B5EF4-FFF2-40B4-BE49-F238E27FC236}">
                  <a16:creationId xmlns:a16="http://schemas.microsoft.com/office/drawing/2014/main" id="{9CA75537-0CFB-4E84-B4F7-DC4B99201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38" name="Line 39">
              <a:extLst>
                <a:ext uri="{FF2B5EF4-FFF2-40B4-BE49-F238E27FC236}">
                  <a16:creationId xmlns:a16="http://schemas.microsoft.com/office/drawing/2014/main" id="{65C631F2-147A-463F-BCC5-03C1DA499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239" name="Line 41">
            <a:extLst>
              <a:ext uri="{FF2B5EF4-FFF2-40B4-BE49-F238E27FC236}">
                <a16:creationId xmlns:a16="http://schemas.microsoft.com/office/drawing/2014/main" id="{9CF5AF90-58E9-4529-B7AF-071BFE2EC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282" y="741032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240" name="Line 44">
            <a:extLst>
              <a:ext uri="{FF2B5EF4-FFF2-40B4-BE49-F238E27FC236}">
                <a16:creationId xmlns:a16="http://schemas.microsoft.com/office/drawing/2014/main" id="{2F272109-9626-4696-B539-6F62263B54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0819" y="358445"/>
            <a:ext cx="0" cy="310515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grpSp>
        <p:nvGrpSpPr>
          <p:cNvPr id="241" name="Group 103">
            <a:extLst>
              <a:ext uri="{FF2B5EF4-FFF2-40B4-BE49-F238E27FC236}">
                <a16:creationId xmlns:a16="http://schemas.microsoft.com/office/drawing/2014/main" id="{B48ABC06-E9FD-42AD-8DC7-580ACC7699FE}"/>
              </a:ext>
            </a:extLst>
          </p:cNvPr>
          <p:cNvGrpSpPr>
            <a:grpSpLocks/>
          </p:cNvGrpSpPr>
          <p:nvPr/>
        </p:nvGrpSpPr>
        <p:grpSpPr bwMode="auto">
          <a:xfrm>
            <a:off x="3311061" y="1422030"/>
            <a:ext cx="2811462" cy="2595563"/>
            <a:chOff x="3985" y="654"/>
            <a:chExt cx="1771" cy="1635"/>
          </a:xfrm>
        </p:grpSpPr>
        <p:sp>
          <p:nvSpPr>
            <p:cNvPr id="242" name="Line 50">
              <a:extLst>
                <a:ext uri="{FF2B5EF4-FFF2-40B4-BE49-F238E27FC236}">
                  <a16:creationId xmlns:a16="http://schemas.microsoft.com/office/drawing/2014/main" id="{4B072158-AC65-4C42-9B9A-9CCDC6F0A1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00">
              <a:off x="4348" y="601"/>
              <a:ext cx="1045" cy="17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solidFill>
                  <a:schemeClr val="tx1"/>
                </a:solidFill>
              </a:endParaRPr>
            </a:p>
          </p:txBody>
        </p:sp>
        <p:sp>
          <p:nvSpPr>
            <p:cNvPr id="243" name="Line 51">
              <a:extLst>
                <a:ext uri="{FF2B5EF4-FFF2-40B4-BE49-F238E27FC236}">
                  <a16:creationId xmlns:a16="http://schemas.microsoft.com/office/drawing/2014/main" id="{DA0201EA-A3DE-4E40-B3C2-1F68566C5C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0000" flipV="1">
              <a:off x="4293" y="654"/>
              <a:ext cx="958" cy="1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solidFill>
                  <a:schemeClr val="tx1"/>
                </a:solidFill>
              </a:endParaRPr>
            </a:p>
          </p:txBody>
        </p:sp>
      </p:grpSp>
      <p:pic>
        <p:nvPicPr>
          <p:cNvPr id="244" name="Picture 52">
            <a:extLst>
              <a:ext uri="{FF2B5EF4-FFF2-40B4-BE49-F238E27FC236}">
                <a16:creationId xmlns:a16="http://schemas.microsoft.com/office/drawing/2014/main" id="{98968B94-06BC-4394-847B-B3068A21FEF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61" y="2522168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5" name="Object 53">
            <a:extLst>
              <a:ext uri="{FF2B5EF4-FFF2-40B4-BE49-F238E27FC236}">
                <a16:creationId xmlns:a16="http://schemas.microsoft.com/office/drawing/2014/main" id="{72E41EC5-A2C7-422B-A1A6-3C590204C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192112"/>
              </p:ext>
            </p:extLst>
          </p:nvPr>
        </p:nvGraphicFramePr>
        <p:xfrm>
          <a:off x="7561988" y="3192491"/>
          <a:ext cx="15621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31613" imgH="215806" progId="Equation.3">
                  <p:embed/>
                </p:oleObj>
              </mc:Choice>
              <mc:Fallback>
                <p:oleObj name="Ecuación" r:id="rId4" imgW="431613" imgH="215806" progId="Equation.3">
                  <p:embed/>
                  <p:pic>
                    <p:nvPicPr>
                      <p:cNvPr id="249909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3192491"/>
                        <a:ext cx="1562100" cy="7810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" name="Group 56">
            <a:extLst>
              <a:ext uri="{FF2B5EF4-FFF2-40B4-BE49-F238E27FC236}">
                <a16:creationId xmlns:a16="http://schemas.microsoft.com/office/drawing/2014/main" id="{7083AC68-9326-48A1-A558-7B4CD2243077}"/>
              </a:ext>
            </a:extLst>
          </p:cNvPr>
          <p:cNvGrpSpPr>
            <a:grpSpLocks/>
          </p:cNvGrpSpPr>
          <p:nvPr/>
        </p:nvGrpSpPr>
        <p:grpSpPr bwMode="auto">
          <a:xfrm>
            <a:off x="3953295" y="1259751"/>
            <a:ext cx="509588" cy="1235075"/>
            <a:chOff x="4403" y="629"/>
            <a:chExt cx="321" cy="778"/>
          </a:xfrm>
        </p:grpSpPr>
        <p:sp>
          <p:nvSpPr>
            <p:cNvPr id="247" name="Line 57">
              <a:extLst>
                <a:ext uri="{FF2B5EF4-FFF2-40B4-BE49-F238E27FC236}">
                  <a16:creationId xmlns:a16="http://schemas.microsoft.com/office/drawing/2014/main" id="{6B9CCE8E-4821-4D6B-97E1-3B07B2A83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0" y="882"/>
              <a:ext cx="314" cy="52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 dirty="0"/>
            </a:p>
          </p:txBody>
        </p:sp>
        <p:sp>
          <p:nvSpPr>
            <p:cNvPr id="248" name="Text Box 58">
              <a:extLst>
                <a:ext uri="{FF2B5EF4-FFF2-40B4-BE49-F238E27FC236}">
                  <a16:creationId xmlns:a16="http://schemas.microsoft.com/office/drawing/2014/main" id="{58156D86-D697-482E-A374-5F8F8C794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3" y="629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49" name="Line 59">
              <a:extLst>
                <a:ext uri="{FF2B5EF4-FFF2-40B4-BE49-F238E27FC236}">
                  <a16:creationId xmlns:a16="http://schemas.microsoft.com/office/drawing/2014/main" id="{546E1F5D-6C41-455D-A9A9-2BC78E712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7" y="66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250" name="Group 60">
            <a:extLst>
              <a:ext uri="{FF2B5EF4-FFF2-40B4-BE49-F238E27FC236}">
                <a16:creationId xmlns:a16="http://schemas.microsoft.com/office/drawing/2014/main" id="{2F439A97-8E47-4B60-A5B9-AB3E69A34237}"/>
              </a:ext>
            </a:extLst>
          </p:cNvPr>
          <p:cNvGrpSpPr>
            <a:grpSpLocks/>
          </p:cNvGrpSpPr>
          <p:nvPr/>
        </p:nvGrpSpPr>
        <p:grpSpPr bwMode="auto">
          <a:xfrm>
            <a:off x="4819192" y="2150693"/>
            <a:ext cx="1271588" cy="579437"/>
            <a:chOff x="4962" y="1197"/>
            <a:chExt cx="801" cy="365"/>
          </a:xfrm>
        </p:grpSpPr>
        <p:sp>
          <p:nvSpPr>
            <p:cNvPr id="251" name="Line 61">
              <a:extLst>
                <a:ext uri="{FF2B5EF4-FFF2-40B4-BE49-F238E27FC236}">
                  <a16:creationId xmlns:a16="http://schemas.microsoft.com/office/drawing/2014/main" id="{3DB17456-8AD5-4F37-B3B7-DA718BBEB1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302" y="1222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52" name="Text Box 62">
              <a:extLst>
                <a:ext uri="{FF2B5EF4-FFF2-40B4-BE49-F238E27FC236}">
                  <a16:creationId xmlns:a16="http://schemas.microsoft.com/office/drawing/2014/main" id="{F38E1660-ED73-4ABF-8B44-143D558B8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2" y="1197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53" name="Line 63">
              <a:extLst>
                <a:ext uri="{FF2B5EF4-FFF2-40B4-BE49-F238E27FC236}">
                  <a16:creationId xmlns:a16="http://schemas.microsoft.com/office/drawing/2014/main" id="{1C9F2B22-F95A-4753-A92E-307CECD41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8" y="122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aphicFrame>
        <p:nvGraphicFramePr>
          <p:cNvPr id="254" name="Object 64">
            <a:extLst>
              <a:ext uri="{FF2B5EF4-FFF2-40B4-BE49-F238E27FC236}">
                <a16:creationId xmlns:a16="http://schemas.microsoft.com/office/drawing/2014/main" id="{C7AAA266-AB3B-46A1-A731-8EC2B75BD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491297"/>
              </p:ext>
            </p:extLst>
          </p:nvPr>
        </p:nvGraphicFramePr>
        <p:xfrm>
          <a:off x="7561988" y="2108002"/>
          <a:ext cx="1562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18918" imgH="215806" progId="Equation.3">
                  <p:embed/>
                </p:oleObj>
              </mc:Choice>
              <mc:Fallback>
                <p:oleObj name="Ecuación" r:id="rId6" imgW="418918" imgH="215806" progId="Equation.3">
                  <p:embed/>
                  <p:pic>
                    <p:nvPicPr>
                      <p:cNvPr id="24992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988" y="2108002"/>
                        <a:ext cx="1562100" cy="80486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5" name="Group 65">
            <a:extLst>
              <a:ext uri="{FF2B5EF4-FFF2-40B4-BE49-F238E27FC236}">
                <a16:creationId xmlns:a16="http://schemas.microsoft.com/office/drawing/2014/main" id="{42407332-CA36-4951-B24E-F19ED6A68C0A}"/>
              </a:ext>
            </a:extLst>
          </p:cNvPr>
          <p:cNvGrpSpPr>
            <a:grpSpLocks/>
          </p:cNvGrpSpPr>
          <p:nvPr/>
        </p:nvGrpSpPr>
        <p:grpSpPr bwMode="auto">
          <a:xfrm>
            <a:off x="4782740" y="2133230"/>
            <a:ext cx="723907" cy="595313"/>
            <a:chOff x="4939" y="1186"/>
            <a:chExt cx="456" cy="375"/>
          </a:xfrm>
        </p:grpSpPr>
        <p:sp>
          <p:nvSpPr>
            <p:cNvPr id="256" name="Line 66">
              <a:extLst>
                <a:ext uri="{FF2B5EF4-FFF2-40B4-BE49-F238E27FC236}">
                  <a16:creationId xmlns:a16="http://schemas.microsoft.com/office/drawing/2014/main" id="{CCA9C866-CD8F-4E37-956B-E68A37FBF1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5097" y="1403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257" name="Text Box 67">
              <a:extLst>
                <a:ext uri="{FF2B5EF4-FFF2-40B4-BE49-F238E27FC236}">
                  <a16:creationId xmlns:a16="http://schemas.microsoft.com/office/drawing/2014/main" id="{800777AD-0D57-48BB-8B55-72DBED4F4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3" y="1186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58" name="Line 68">
              <a:extLst>
                <a:ext uri="{FF2B5EF4-FFF2-40B4-BE49-F238E27FC236}">
                  <a16:creationId xmlns:a16="http://schemas.microsoft.com/office/drawing/2014/main" id="{4D55A5BC-01B8-4DA4-96A7-075A1EDFE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4" y="1222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259" name="Group 69">
            <a:extLst>
              <a:ext uri="{FF2B5EF4-FFF2-40B4-BE49-F238E27FC236}">
                <a16:creationId xmlns:a16="http://schemas.microsoft.com/office/drawing/2014/main" id="{131D2E0E-16B1-4134-A504-A9E008D55C64}"/>
              </a:ext>
            </a:extLst>
          </p:cNvPr>
          <p:cNvGrpSpPr>
            <a:grpSpLocks/>
          </p:cNvGrpSpPr>
          <p:nvPr/>
        </p:nvGrpSpPr>
        <p:grpSpPr bwMode="auto">
          <a:xfrm>
            <a:off x="4039732" y="3026993"/>
            <a:ext cx="523875" cy="1079500"/>
            <a:chOff x="4471" y="2199"/>
            <a:chExt cx="330" cy="680"/>
          </a:xfrm>
        </p:grpSpPr>
        <p:sp>
          <p:nvSpPr>
            <p:cNvPr id="260" name="Text Box 70">
              <a:extLst>
                <a:ext uri="{FF2B5EF4-FFF2-40B4-BE49-F238E27FC236}">
                  <a16:creationId xmlns:a16="http://schemas.microsoft.com/office/drawing/2014/main" id="{ED08A6FF-9F1F-4544-9B9A-8482D19DC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1" y="2588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261" name="Line 71">
              <a:extLst>
                <a:ext uri="{FF2B5EF4-FFF2-40B4-BE49-F238E27FC236}">
                  <a16:creationId xmlns:a16="http://schemas.microsoft.com/office/drawing/2014/main" id="{9313FC64-6B05-49DB-814E-957BB1BAA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7" y="2611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62" name="Line 72">
              <a:extLst>
                <a:ext uri="{FF2B5EF4-FFF2-40B4-BE49-F238E27FC236}">
                  <a16:creationId xmlns:a16="http://schemas.microsoft.com/office/drawing/2014/main" id="{4E1188E4-9E67-4110-A3E1-4FCBEF943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1" y="2199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263" name="Group 73">
            <a:extLst>
              <a:ext uri="{FF2B5EF4-FFF2-40B4-BE49-F238E27FC236}">
                <a16:creationId xmlns:a16="http://schemas.microsoft.com/office/drawing/2014/main" id="{10B088A0-1751-4183-9A3D-C58F152C25E9}"/>
              </a:ext>
            </a:extLst>
          </p:cNvPr>
          <p:cNvGrpSpPr>
            <a:grpSpLocks/>
          </p:cNvGrpSpPr>
          <p:nvPr/>
        </p:nvGrpSpPr>
        <p:grpSpPr bwMode="auto">
          <a:xfrm>
            <a:off x="4048649" y="2938285"/>
            <a:ext cx="509591" cy="673108"/>
            <a:chOff x="4884" y="2115"/>
            <a:chExt cx="321" cy="424"/>
          </a:xfrm>
        </p:grpSpPr>
        <p:sp>
          <p:nvSpPr>
            <p:cNvPr id="264" name="Line 74">
              <a:extLst>
                <a:ext uri="{FF2B5EF4-FFF2-40B4-BE49-F238E27FC236}">
                  <a16:creationId xmlns:a16="http://schemas.microsoft.com/office/drawing/2014/main" id="{9D711D7F-64FC-487F-B58E-E21F4C894A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5205" y="2115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265" name="Text Box 75">
              <a:extLst>
                <a:ext uri="{FF2B5EF4-FFF2-40B4-BE49-F238E27FC236}">
                  <a16:creationId xmlns:a16="http://schemas.microsoft.com/office/drawing/2014/main" id="{9F054289-121A-412B-B027-9D61C1836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4" y="2251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266" name="Line 76">
              <a:extLst>
                <a:ext uri="{FF2B5EF4-FFF2-40B4-BE49-F238E27FC236}">
                  <a16:creationId xmlns:a16="http://schemas.microsoft.com/office/drawing/2014/main" id="{5282691F-F535-498F-8541-2401F49F9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" y="2325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267" name="Group 77">
            <a:extLst>
              <a:ext uri="{FF2B5EF4-FFF2-40B4-BE49-F238E27FC236}">
                <a16:creationId xmlns:a16="http://schemas.microsoft.com/office/drawing/2014/main" id="{D74F45F3-8CAF-4F0B-B12F-EC3BE6AD38BC}"/>
              </a:ext>
            </a:extLst>
          </p:cNvPr>
          <p:cNvGrpSpPr>
            <a:grpSpLocks/>
          </p:cNvGrpSpPr>
          <p:nvPr/>
        </p:nvGrpSpPr>
        <p:grpSpPr bwMode="auto">
          <a:xfrm>
            <a:off x="3949236" y="1695080"/>
            <a:ext cx="573087" cy="1008063"/>
            <a:chOff x="4414" y="910"/>
            <a:chExt cx="361" cy="635"/>
          </a:xfrm>
        </p:grpSpPr>
        <p:sp>
          <p:nvSpPr>
            <p:cNvPr id="268" name="Line 78">
              <a:extLst>
                <a:ext uri="{FF2B5EF4-FFF2-40B4-BE49-F238E27FC236}">
                  <a16:creationId xmlns:a16="http://schemas.microsoft.com/office/drawing/2014/main" id="{7760F6E7-D608-45EB-BA69-9582E6072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2" y="910"/>
              <a:ext cx="3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69" name="Line 79">
              <a:extLst>
                <a:ext uri="{FF2B5EF4-FFF2-40B4-BE49-F238E27FC236}">
                  <a16:creationId xmlns:a16="http://schemas.microsoft.com/office/drawing/2014/main" id="{E6638CFE-EF70-4DE4-9BD7-7C1E647C64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96" y="1228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270" name="Group 80">
            <a:extLst>
              <a:ext uri="{FF2B5EF4-FFF2-40B4-BE49-F238E27FC236}">
                <a16:creationId xmlns:a16="http://schemas.microsoft.com/office/drawing/2014/main" id="{D41CA67B-B754-4920-A0CE-D914D52A01A2}"/>
              </a:ext>
            </a:extLst>
          </p:cNvPr>
          <p:cNvGrpSpPr>
            <a:grpSpLocks/>
          </p:cNvGrpSpPr>
          <p:nvPr/>
        </p:nvGrpSpPr>
        <p:grpSpPr bwMode="auto">
          <a:xfrm>
            <a:off x="3912723" y="2176093"/>
            <a:ext cx="409575" cy="457200"/>
            <a:chOff x="3881" y="1063"/>
            <a:chExt cx="258" cy="288"/>
          </a:xfrm>
        </p:grpSpPr>
        <p:sp>
          <p:nvSpPr>
            <p:cNvPr id="271" name="Text Box 81">
              <a:extLst>
                <a:ext uri="{FF2B5EF4-FFF2-40B4-BE49-F238E27FC236}">
                  <a16:creationId xmlns:a16="http://schemas.microsoft.com/office/drawing/2014/main" id="{37EEF0E7-6BF3-49A3-82FA-AD62451DF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1063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272" name="Freeform 82">
              <a:extLst>
                <a:ext uri="{FF2B5EF4-FFF2-40B4-BE49-F238E27FC236}">
                  <a16:creationId xmlns:a16="http://schemas.microsoft.com/office/drawing/2014/main" id="{8B779FDE-E102-4FC0-9194-36D7BF84801F}"/>
                </a:ext>
              </a:extLst>
            </p:cNvPr>
            <p:cNvSpPr>
              <a:spLocks/>
            </p:cNvSpPr>
            <p:nvPr/>
          </p:nvSpPr>
          <p:spPr bwMode="auto">
            <a:xfrm rot="-2437814">
              <a:off x="3881" y="1077"/>
              <a:ext cx="207" cy="65"/>
            </a:xfrm>
            <a:custGeom>
              <a:avLst/>
              <a:gdLst>
                <a:gd name="T0" fmla="*/ 0 w 313"/>
                <a:gd name="T1" fmla="*/ 0 h 110"/>
                <a:gd name="T2" fmla="*/ 1 w 313"/>
                <a:gd name="T3" fmla="*/ 1 h 110"/>
                <a:gd name="T4" fmla="*/ 1 w 313"/>
                <a:gd name="T5" fmla="*/ 1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273" name="Group 107">
            <a:extLst>
              <a:ext uri="{FF2B5EF4-FFF2-40B4-BE49-F238E27FC236}">
                <a16:creationId xmlns:a16="http://schemas.microsoft.com/office/drawing/2014/main" id="{DD2DF3CD-34F8-4A58-B68D-E5A3AEF1A26A}"/>
              </a:ext>
            </a:extLst>
          </p:cNvPr>
          <p:cNvGrpSpPr>
            <a:grpSpLocks/>
          </p:cNvGrpSpPr>
          <p:nvPr/>
        </p:nvGrpSpPr>
        <p:grpSpPr bwMode="auto">
          <a:xfrm>
            <a:off x="3942886" y="1717305"/>
            <a:ext cx="623887" cy="1028700"/>
            <a:chOff x="4390" y="854"/>
            <a:chExt cx="393" cy="648"/>
          </a:xfrm>
        </p:grpSpPr>
        <p:sp>
          <p:nvSpPr>
            <p:cNvPr id="274" name="Line 105">
              <a:extLst>
                <a:ext uri="{FF2B5EF4-FFF2-40B4-BE49-F238E27FC236}">
                  <a16:creationId xmlns:a16="http://schemas.microsoft.com/office/drawing/2014/main" id="{1F3FCE4C-CF35-4D66-BD8E-D67B61883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3" y="854"/>
              <a:ext cx="0" cy="51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75" name="Line 106">
              <a:extLst>
                <a:ext uri="{FF2B5EF4-FFF2-40B4-BE49-F238E27FC236}">
                  <a16:creationId xmlns:a16="http://schemas.microsoft.com/office/drawing/2014/main" id="{2D0E084D-2C10-4E50-BA83-D1EF497407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26" y="1366"/>
              <a:ext cx="0" cy="27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276" name="Text Box 110">
            <a:extLst>
              <a:ext uri="{FF2B5EF4-FFF2-40B4-BE49-F238E27FC236}">
                <a16:creationId xmlns:a16="http://schemas.microsoft.com/office/drawing/2014/main" id="{AED8B4D4-2477-43F5-9053-D0F37F5E4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298" y="2539630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277" name="Text Box 111">
            <a:extLst>
              <a:ext uri="{FF2B5EF4-FFF2-40B4-BE49-F238E27FC236}">
                <a16:creationId xmlns:a16="http://schemas.microsoft.com/office/drawing/2014/main" id="{16FBEF9C-AF16-4F0C-A9F6-17FE22985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123" y="955305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278" name="Text Box 118">
            <a:extLst>
              <a:ext uri="{FF2B5EF4-FFF2-40B4-BE49-F238E27FC236}">
                <a16:creationId xmlns:a16="http://schemas.microsoft.com/office/drawing/2014/main" id="{E29C6566-F3D2-4B1A-936A-2216DC56E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188" y="3649594"/>
            <a:ext cx="8867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Peso</a:t>
            </a:r>
          </a:p>
        </p:txBody>
      </p:sp>
      <p:sp>
        <p:nvSpPr>
          <p:cNvPr id="280" name="CuadroTexto 279">
            <a:extLst>
              <a:ext uri="{FF2B5EF4-FFF2-40B4-BE49-F238E27FC236}">
                <a16:creationId xmlns:a16="http://schemas.microsoft.com/office/drawing/2014/main" id="{CBCC266F-D872-4F06-AFB1-D3F81304E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189" y="2115808"/>
            <a:ext cx="357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81" name="CuadroTexto 280">
            <a:extLst>
              <a:ext uri="{FF2B5EF4-FFF2-40B4-BE49-F238E27FC236}">
                <a16:creationId xmlns:a16="http://schemas.microsoft.com/office/drawing/2014/main" id="{6DB530AB-B2C0-480C-9901-8F3DFBAC0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2382" y="2808151"/>
            <a:ext cx="441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m</a:t>
            </a:r>
          </a:p>
        </p:txBody>
      </p:sp>
      <p:grpSp>
        <p:nvGrpSpPr>
          <p:cNvPr id="282" name="Grupo 281">
            <a:extLst>
              <a:ext uri="{FF2B5EF4-FFF2-40B4-BE49-F238E27FC236}">
                <a16:creationId xmlns:a16="http://schemas.microsoft.com/office/drawing/2014/main" id="{1B9E5F32-87E7-4468-8B04-3C6B05567AD8}"/>
              </a:ext>
            </a:extLst>
          </p:cNvPr>
          <p:cNvGrpSpPr/>
          <p:nvPr/>
        </p:nvGrpSpPr>
        <p:grpSpPr>
          <a:xfrm>
            <a:off x="3435693" y="1414585"/>
            <a:ext cx="432944" cy="520504"/>
            <a:chOff x="3435693" y="1414585"/>
            <a:chExt cx="432944" cy="520504"/>
          </a:xfrm>
        </p:grpSpPr>
        <p:sp>
          <p:nvSpPr>
            <p:cNvPr id="283" name="Freeform 55">
              <a:extLst>
                <a:ext uri="{FF2B5EF4-FFF2-40B4-BE49-F238E27FC236}">
                  <a16:creationId xmlns:a16="http://schemas.microsoft.com/office/drawing/2014/main" id="{BBF9E2DB-359F-4464-9AB8-A48AA3844C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35693" y="1414585"/>
              <a:ext cx="410650" cy="144318"/>
            </a:xfrm>
            <a:custGeom>
              <a:avLst/>
              <a:gdLst>
                <a:gd name="T0" fmla="*/ 0 w 313"/>
                <a:gd name="T1" fmla="*/ 0 h 110"/>
                <a:gd name="T2" fmla="*/ 2147483646 w 313"/>
                <a:gd name="T3" fmla="*/ 2147483646 h 110"/>
                <a:gd name="T4" fmla="*/ 2147483646 w 313"/>
                <a:gd name="T5" fmla="*/ 2147483646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84" name="Text Box 81">
              <a:extLst>
                <a:ext uri="{FF2B5EF4-FFF2-40B4-BE49-F238E27FC236}">
                  <a16:creationId xmlns:a16="http://schemas.microsoft.com/office/drawing/2014/main" id="{AB61FB97-8D3E-4588-9CD5-6214C8703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912" y="1477889"/>
              <a:ext cx="339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</p:grpSp>
      <p:sp>
        <p:nvSpPr>
          <p:cNvPr id="285" name="Text Box 118">
            <a:extLst>
              <a:ext uri="{FF2B5EF4-FFF2-40B4-BE49-F238E27FC236}">
                <a16:creationId xmlns:a16="http://schemas.microsoft.com/office/drawing/2014/main" id="{8FDA5083-497C-4734-8F1C-86DC609A2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39" y="2924006"/>
            <a:ext cx="1135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 err="1">
                <a:solidFill>
                  <a:srgbClr val="3333FF"/>
                </a:solidFill>
              </a:rPr>
              <a:t>F</a:t>
            </a:r>
            <a:r>
              <a:rPr lang="es-ES" sz="2400" baseline="-25000" dirty="0" err="1">
                <a:solidFill>
                  <a:srgbClr val="3333FF"/>
                </a:solidFill>
              </a:rPr>
              <a:t>eléctrica</a:t>
            </a:r>
            <a:endParaRPr lang="es-ES" sz="2400" baseline="-25000" dirty="0">
              <a:solidFill>
                <a:srgbClr val="3333FF"/>
              </a:solidFill>
            </a:endParaRPr>
          </a:p>
        </p:txBody>
      </p:sp>
      <p:pic>
        <p:nvPicPr>
          <p:cNvPr id="286" name="Picture 4">
            <a:extLst>
              <a:ext uri="{FF2B5EF4-FFF2-40B4-BE49-F238E27FC236}">
                <a16:creationId xmlns:a16="http://schemas.microsoft.com/office/drawing/2014/main" id="{2F35E3D7-ECA5-422B-9AF3-38E1F240C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394" y="2534415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" name="Line 37">
            <a:extLst>
              <a:ext uri="{FF2B5EF4-FFF2-40B4-BE49-F238E27FC236}">
                <a16:creationId xmlns:a16="http://schemas.microsoft.com/office/drawing/2014/main" id="{2FF0C958-3C9E-49C7-A777-56E33D633D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0500" y="711667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288" name="Group 80">
            <a:extLst>
              <a:ext uri="{FF2B5EF4-FFF2-40B4-BE49-F238E27FC236}">
                <a16:creationId xmlns:a16="http://schemas.microsoft.com/office/drawing/2014/main" id="{8F843A79-436F-4FBE-952A-B67DE41CD205}"/>
              </a:ext>
            </a:extLst>
          </p:cNvPr>
          <p:cNvGrpSpPr>
            <a:grpSpLocks/>
          </p:cNvGrpSpPr>
          <p:nvPr/>
        </p:nvGrpSpPr>
        <p:grpSpPr bwMode="auto">
          <a:xfrm>
            <a:off x="4158786" y="1571159"/>
            <a:ext cx="419100" cy="574675"/>
            <a:chOff x="3824" y="780"/>
            <a:chExt cx="264" cy="362"/>
          </a:xfrm>
        </p:grpSpPr>
        <p:sp>
          <p:nvSpPr>
            <p:cNvPr id="289" name="Text Box 81">
              <a:extLst>
                <a:ext uri="{FF2B5EF4-FFF2-40B4-BE49-F238E27FC236}">
                  <a16:creationId xmlns:a16="http://schemas.microsoft.com/office/drawing/2014/main" id="{9DA0DA0C-1962-47A8-9321-6AB85A094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4" y="780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290" name="Freeform 82">
              <a:extLst>
                <a:ext uri="{FF2B5EF4-FFF2-40B4-BE49-F238E27FC236}">
                  <a16:creationId xmlns:a16="http://schemas.microsoft.com/office/drawing/2014/main" id="{E4D28D4E-488F-4E6C-B986-AC048A4418A6}"/>
                </a:ext>
              </a:extLst>
            </p:cNvPr>
            <p:cNvSpPr>
              <a:spLocks/>
            </p:cNvSpPr>
            <p:nvPr/>
          </p:nvSpPr>
          <p:spPr bwMode="auto">
            <a:xfrm rot="19162186" flipH="1" flipV="1">
              <a:off x="3881" y="1077"/>
              <a:ext cx="207" cy="65"/>
            </a:xfrm>
            <a:custGeom>
              <a:avLst/>
              <a:gdLst>
                <a:gd name="T0" fmla="*/ 0 w 313"/>
                <a:gd name="T1" fmla="*/ 0 h 110"/>
                <a:gd name="T2" fmla="*/ 1 w 313"/>
                <a:gd name="T3" fmla="*/ 1 h 110"/>
                <a:gd name="T4" fmla="*/ 1 w 313"/>
                <a:gd name="T5" fmla="*/ 1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2" name="Text Box 119">
            <a:extLst>
              <a:ext uri="{FF2B5EF4-FFF2-40B4-BE49-F238E27FC236}">
                <a16:creationId xmlns:a16="http://schemas.microsoft.com/office/drawing/2014/main" id="{6FDB0134-7C32-8F95-E755-73EDFFE41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398" y="1263778"/>
            <a:ext cx="1331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Tensión</a:t>
            </a:r>
            <a:r>
              <a:rPr lang="es-ES" sz="2400" dirty="0">
                <a:solidFill>
                  <a:srgbClr val="0099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22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13" grpId="0" animBg="1"/>
      <p:bldP spid="119" grpId="0" animBg="1"/>
      <p:bldP spid="122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1">
            <a:extLst>
              <a:ext uri="{FF2B5EF4-FFF2-40B4-BE49-F238E27FC236}">
                <a16:creationId xmlns:a16="http://schemas.microsoft.com/office/drawing/2014/main" id="{BF1A3DBF-2727-431E-AB84-C55762B87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12" y="3938583"/>
            <a:ext cx="361339" cy="463846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81" name="Group 2"/>
          <p:cNvGrpSpPr>
            <a:grpSpLocks/>
          </p:cNvGrpSpPr>
          <p:nvPr/>
        </p:nvGrpSpPr>
        <p:grpSpPr bwMode="auto">
          <a:xfrm>
            <a:off x="3467475" y="823365"/>
            <a:ext cx="1157287" cy="1981200"/>
            <a:chOff x="2267" y="797"/>
            <a:chExt cx="729" cy="1248"/>
          </a:xfrm>
        </p:grpSpPr>
        <p:sp>
          <p:nvSpPr>
            <p:cNvPr id="82" name="AutoShape 3"/>
            <p:cNvSpPr>
              <a:spLocks noChangeArrowheads="1"/>
            </p:cNvSpPr>
            <p:nvPr/>
          </p:nvSpPr>
          <p:spPr bwMode="auto">
            <a:xfrm>
              <a:off x="2267" y="797"/>
              <a:ext cx="729" cy="1240"/>
            </a:xfrm>
            <a:prstGeom prst="rtTriangle">
              <a:avLst/>
            </a:prstGeom>
            <a:solidFill>
              <a:schemeClr val="bg1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46" name="Rectangle 4"/>
            <p:cNvSpPr>
              <a:spLocks noChangeArrowheads="1"/>
            </p:cNvSpPr>
            <p:nvPr/>
          </p:nvSpPr>
          <p:spPr bwMode="auto">
            <a:xfrm>
              <a:off x="2267" y="1932"/>
              <a:ext cx="113" cy="11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51950" name="Text Box 46"/>
          <p:cNvSpPr txBox="1">
            <a:spLocks noChangeArrowheads="1"/>
          </p:cNvSpPr>
          <p:nvPr/>
        </p:nvSpPr>
        <p:spPr bwMode="auto">
          <a:xfrm>
            <a:off x="6493562" y="471238"/>
            <a:ext cx="191146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 E = T sen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251955" name="Text Box 51"/>
          <p:cNvSpPr txBox="1">
            <a:spLocks noChangeArrowheads="1"/>
          </p:cNvSpPr>
          <p:nvPr/>
        </p:nvSpPr>
        <p:spPr bwMode="auto">
          <a:xfrm>
            <a:off x="6743981" y="2055561"/>
            <a:ext cx="1669345" cy="463846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 = K q / r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1956" name="Text Box 52"/>
          <p:cNvSpPr txBox="1">
            <a:spLocks noChangeArrowheads="1"/>
          </p:cNvSpPr>
          <p:nvPr/>
        </p:nvSpPr>
        <p:spPr bwMode="auto">
          <a:xfrm>
            <a:off x="3432472" y="3887334"/>
            <a:ext cx="116901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sen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</a:t>
            </a: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3916042" y="3918938"/>
            <a:ext cx="831850" cy="822325"/>
            <a:chOff x="2287" y="3650"/>
            <a:chExt cx="524" cy="518"/>
          </a:xfrm>
        </p:grpSpPr>
        <p:sp>
          <p:nvSpPr>
            <p:cNvPr id="15410" name="Line 54"/>
            <p:cNvSpPr>
              <a:spLocks noChangeShapeType="1"/>
            </p:cNvSpPr>
            <p:nvPr/>
          </p:nvSpPr>
          <p:spPr bwMode="auto">
            <a:xfrm>
              <a:off x="2287" y="3650"/>
              <a:ext cx="284" cy="2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5411" name="Text Box 55"/>
            <p:cNvSpPr txBox="1">
              <a:spLocks noChangeArrowheads="1"/>
            </p:cNvSpPr>
            <p:nvPr/>
          </p:nvSpPr>
          <p:spPr bwMode="auto">
            <a:xfrm>
              <a:off x="2535" y="3876"/>
              <a:ext cx="27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½</a:t>
              </a:r>
            </a:p>
          </p:txBody>
        </p:sp>
      </p:grpSp>
      <p:sp>
        <p:nvSpPr>
          <p:cNvPr id="251960" name="Text Box 56"/>
          <p:cNvSpPr txBox="1">
            <a:spLocks noChangeArrowheads="1"/>
          </p:cNvSpPr>
          <p:nvPr/>
        </p:nvSpPr>
        <p:spPr bwMode="auto">
          <a:xfrm>
            <a:off x="6527909" y="3253306"/>
            <a:ext cx="249655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T sen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/ K</a:t>
            </a:r>
          </a:p>
        </p:txBody>
      </p:sp>
      <p:sp>
        <p:nvSpPr>
          <p:cNvPr id="251967" name="Text Box 63"/>
          <p:cNvSpPr txBox="1">
            <a:spLocks noChangeArrowheads="1"/>
          </p:cNvSpPr>
          <p:nvPr/>
        </p:nvSpPr>
        <p:spPr bwMode="auto">
          <a:xfrm>
            <a:off x="4468174" y="3909568"/>
            <a:ext cx="6175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L</a:t>
            </a:r>
          </a:p>
        </p:txBody>
      </p:sp>
      <p:sp>
        <p:nvSpPr>
          <p:cNvPr id="251971" name="Text Box 67"/>
          <p:cNvSpPr txBox="1">
            <a:spLocks noChangeArrowheads="1"/>
          </p:cNvSpPr>
          <p:nvPr/>
        </p:nvSpPr>
        <p:spPr bwMode="auto">
          <a:xfrm>
            <a:off x="1858425" y="4729893"/>
            <a:ext cx="3097473" cy="88407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 obvio</a:t>
            </a:r>
            <a:r>
              <a:rPr lang="es-ES" sz="2400" dirty="0">
                <a:latin typeface="Arial" panose="020B0604020202020204" pitchFamily="34" charset="0"/>
              </a:rPr>
              <a:t>, hay un triángulo equilátero</a:t>
            </a:r>
          </a:p>
        </p:txBody>
      </p:sp>
      <p:sp>
        <p:nvSpPr>
          <p:cNvPr id="100431" name="Text Box 79"/>
          <p:cNvSpPr txBox="1">
            <a:spLocks noChangeArrowheads="1"/>
          </p:cNvSpPr>
          <p:nvPr/>
        </p:nvSpPr>
        <p:spPr bwMode="auto">
          <a:xfrm>
            <a:off x="5206052" y="2041160"/>
            <a:ext cx="1476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 </a:t>
            </a:r>
            <a:r>
              <a:rPr lang="es-ES" sz="2400" dirty="0" err="1">
                <a:solidFill>
                  <a:srgbClr val="3333FF"/>
                </a:solidFill>
              </a:rPr>
              <a:t>E</a:t>
            </a:r>
            <a:r>
              <a:rPr lang="es-ES" sz="2400" baseline="-25000" dirty="0" err="1">
                <a:solidFill>
                  <a:srgbClr val="3333FF"/>
                </a:solidFill>
              </a:rPr>
              <a:t>Qpuntual</a:t>
            </a:r>
            <a:r>
              <a:rPr lang="es-ES" sz="2400" dirty="0">
                <a:solidFill>
                  <a:srgbClr val="3333FF"/>
                </a:solidFill>
              </a:rPr>
              <a:t> :</a:t>
            </a:r>
            <a:endParaRPr lang="es-ES" sz="2400" dirty="0">
              <a:solidFill>
                <a:srgbClr val="3333FF"/>
              </a:solidFill>
              <a:sym typeface="Symbol" panose="05050102010706020507" pitchFamily="18" charset="2"/>
            </a:endParaRP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531690" y="2616613"/>
            <a:ext cx="26971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 K q / r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T sen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1794250" y="402678"/>
            <a:ext cx="3251200" cy="3082755"/>
            <a:chOff x="1322117" y="1695282"/>
            <a:chExt cx="3251200" cy="3082755"/>
          </a:xfrm>
        </p:grpSpPr>
        <p:sp>
          <p:nvSpPr>
            <p:cNvPr id="15370" name="Line 41"/>
            <p:cNvSpPr>
              <a:spLocks noChangeShapeType="1"/>
            </p:cNvSpPr>
            <p:nvPr/>
          </p:nvSpPr>
          <p:spPr bwMode="auto">
            <a:xfrm>
              <a:off x="2958829" y="1784091"/>
              <a:ext cx="0" cy="299394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grpSp>
          <p:nvGrpSpPr>
            <p:cNvPr id="13" name="Grupo 12"/>
            <p:cNvGrpSpPr/>
            <p:nvPr/>
          </p:nvGrpSpPr>
          <p:grpSpPr>
            <a:xfrm>
              <a:off x="1322117" y="1695282"/>
              <a:ext cx="3251200" cy="2576512"/>
              <a:chOff x="1322117" y="1695282"/>
              <a:chExt cx="3251200" cy="2576512"/>
            </a:xfrm>
          </p:grpSpPr>
          <p:pic>
            <p:nvPicPr>
              <p:cNvPr id="15363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14504" y="3825707"/>
                <a:ext cx="439738" cy="4397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364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8017" y="3832057"/>
                <a:ext cx="439737" cy="4397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5365" name="Group 5"/>
              <p:cNvGrpSpPr>
                <a:grpSpLocks/>
              </p:cNvGrpSpPr>
              <p:nvPr/>
            </p:nvGrpSpPr>
            <p:grpSpPr bwMode="auto">
              <a:xfrm>
                <a:off x="1322117" y="1695282"/>
                <a:ext cx="3251200" cy="333375"/>
                <a:chOff x="1225" y="2029"/>
                <a:chExt cx="2048" cy="210"/>
              </a:xfrm>
            </p:grpSpPr>
            <p:sp>
              <p:nvSpPr>
                <p:cNvPr id="15414" name="Line 6"/>
                <p:cNvSpPr>
                  <a:spLocks noChangeShapeType="1"/>
                </p:cNvSpPr>
                <p:nvPr/>
              </p:nvSpPr>
              <p:spPr bwMode="auto">
                <a:xfrm>
                  <a:off x="1371" y="2236"/>
                  <a:ext cx="190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15" name="Line 7"/>
                <p:cNvSpPr>
                  <a:spLocks noChangeShapeType="1"/>
                </p:cNvSpPr>
                <p:nvPr/>
              </p:nvSpPr>
              <p:spPr bwMode="auto">
                <a:xfrm>
                  <a:off x="1225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16" name="Line 8"/>
                <p:cNvSpPr>
                  <a:spLocks noChangeShapeType="1"/>
                </p:cNvSpPr>
                <p:nvPr/>
              </p:nvSpPr>
              <p:spPr bwMode="auto">
                <a:xfrm>
                  <a:off x="1291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17" name="Line 9"/>
                <p:cNvSpPr>
                  <a:spLocks noChangeShapeType="1"/>
                </p:cNvSpPr>
                <p:nvPr/>
              </p:nvSpPr>
              <p:spPr bwMode="auto">
                <a:xfrm>
                  <a:off x="1357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18" name="Line 10"/>
                <p:cNvSpPr>
                  <a:spLocks noChangeShapeType="1"/>
                </p:cNvSpPr>
                <p:nvPr/>
              </p:nvSpPr>
              <p:spPr bwMode="auto">
                <a:xfrm>
                  <a:off x="1423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19" name="Line 11"/>
                <p:cNvSpPr>
                  <a:spLocks noChangeShapeType="1"/>
                </p:cNvSpPr>
                <p:nvPr/>
              </p:nvSpPr>
              <p:spPr bwMode="auto">
                <a:xfrm>
                  <a:off x="1489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0" name="Line 12"/>
                <p:cNvSpPr>
                  <a:spLocks noChangeShapeType="1"/>
                </p:cNvSpPr>
                <p:nvPr/>
              </p:nvSpPr>
              <p:spPr bwMode="auto">
                <a:xfrm>
                  <a:off x="1555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1" name="Line 13"/>
                <p:cNvSpPr>
                  <a:spLocks noChangeShapeType="1"/>
                </p:cNvSpPr>
                <p:nvPr/>
              </p:nvSpPr>
              <p:spPr bwMode="auto">
                <a:xfrm>
                  <a:off x="1621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2" name="Line 14"/>
                <p:cNvSpPr>
                  <a:spLocks noChangeShapeType="1"/>
                </p:cNvSpPr>
                <p:nvPr/>
              </p:nvSpPr>
              <p:spPr bwMode="auto">
                <a:xfrm>
                  <a:off x="1687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3" name="Line 15"/>
                <p:cNvSpPr>
                  <a:spLocks noChangeShapeType="1"/>
                </p:cNvSpPr>
                <p:nvPr/>
              </p:nvSpPr>
              <p:spPr bwMode="auto">
                <a:xfrm>
                  <a:off x="1753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4" name="Line 16"/>
                <p:cNvSpPr>
                  <a:spLocks noChangeShapeType="1"/>
                </p:cNvSpPr>
                <p:nvPr/>
              </p:nvSpPr>
              <p:spPr bwMode="auto">
                <a:xfrm>
                  <a:off x="1819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5" name="Line 17"/>
                <p:cNvSpPr>
                  <a:spLocks noChangeShapeType="1"/>
                </p:cNvSpPr>
                <p:nvPr/>
              </p:nvSpPr>
              <p:spPr bwMode="auto">
                <a:xfrm>
                  <a:off x="1885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6" name="Line 18"/>
                <p:cNvSpPr>
                  <a:spLocks noChangeShapeType="1"/>
                </p:cNvSpPr>
                <p:nvPr/>
              </p:nvSpPr>
              <p:spPr bwMode="auto">
                <a:xfrm>
                  <a:off x="1951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7" name="Line 19"/>
                <p:cNvSpPr>
                  <a:spLocks noChangeShapeType="1"/>
                </p:cNvSpPr>
                <p:nvPr/>
              </p:nvSpPr>
              <p:spPr bwMode="auto">
                <a:xfrm>
                  <a:off x="2017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8" name="Line 20"/>
                <p:cNvSpPr>
                  <a:spLocks noChangeShapeType="1"/>
                </p:cNvSpPr>
                <p:nvPr/>
              </p:nvSpPr>
              <p:spPr bwMode="auto">
                <a:xfrm>
                  <a:off x="2083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29" name="Line 21"/>
                <p:cNvSpPr>
                  <a:spLocks noChangeShapeType="1"/>
                </p:cNvSpPr>
                <p:nvPr/>
              </p:nvSpPr>
              <p:spPr bwMode="auto">
                <a:xfrm>
                  <a:off x="2149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0" name="Line 22"/>
                <p:cNvSpPr>
                  <a:spLocks noChangeShapeType="1"/>
                </p:cNvSpPr>
                <p:nvPr/>
              </p:nvSpPr>
              <p:spPr bwMode="auto">
                <a:xfrm>
                  <a:off x="2215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1" name="Line 23"/>
                <p:cNvSpPr>
                  <a:spLocks noChangeShapeType="1"/>
                </p:cNvSpPr>
                <p:nvPr/>
              </p:nvSpPr>
              <p:spPr bwMode="auto">
                <a:xfrm>
                  <a:off x="2281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2" name="Line 24"/>
                <p:cNvSpPr>
                  <a:spLocks noChangeShapeType="1"/>
                </p:cNvSpPr>
                <p:nvPr/>
              </p:nvSpPr>
              <p:spPr bwMode="auto">
                <a:xfrm>
                  <a:off x="2347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3" name="Line 25"/>
                <p:cNvSpPr>
                  <a:spLocks noChangeShapeType="1"/>
                </p:cNvSpPr>
                <p:nvPr/>
              </p:nvSpPr>
              <p:spPr bwMode="auto">
                <a:xfrm>
                  <a:off x="2413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4" name="Line 26"/>
                <p:cNvSpPr>
                  <a:spLocks noChangeShapeType="1"/>
                </p:cNvSpPr>
                <p:nvPr/>
              </p:nvSpPr>
              <p:spPr bwMode="auto">
                <a:xfrm>
                  <a:off x="2479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5" name="Line 27"/>
                <p:cNvSpPr>
                  <a:spLocks noChangeShapeType="1"/>
                </p:cNvSpPr>
                <p:nvPr/>
              </p:nvSpPr>
              <p:spPr bwMode="auto">
                <a:xfrm>
                  <a:off x="2545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6" name="Line 28"/>
                <p:cNvSpPr>
                  <a:spLocks noChangeShapeType="1"/>
                </p:cNvSpPr>
                <p:nvPr/>
              </p:nvSpPr>
              <p:spPr bwMode="auto">
                <a:xfrm>
                  <a:off x="2611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7" name="Line 29"/>
                <p:cNvSpPr>
                  <a:spLocks noChangeShapeType="1"/>
                </p:cNvSpPr>
                <p:nvPr/>
              </p:nvSpPr>
              <p:spPr bwMode="auto">
                <a:xfrm>
                  <a:off x="2677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8" name="Line 30"/>
                <p:cNvSpPr>
                  <a:spLocks noChangeShapeType="1"/>
                </p:cNvSpPr>
                <p:nvPr/>
              </p:nvSpPr>
              <p:spPr bwMode="auto">
                <a:xfrm>
                  <a:off x="2743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39" name="Line 31"/>
                <p:cNvSpPr>
                  <a:spLocks noChangeShapeType="1"/>
                </p:cNvSpPr>
                <p:nvPr/>
              </p:nvSpPr>
              <p:spPr bwMode="auto">
                <a:xfrm>
                  <a:off x="2809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40" name="Line 32"/>
                <p:cNvSpPr>
                  <a:spLocks noChangeShapeType="1"/>
                </p:cNvSpPr>
                <p:nvPr/>
              </p:nvSpPr>
              <p:spPr bwMode="auto">
                <a:xfrm>
                  <a:off x="2875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41" name="Line 33"/>
                <p:cNvSpPr>
                  <a:spLocks noChangeShapeType="1"/>
                </p:cNvSpPr>
                <p:nvPr/>
              </p:nvSpPr>
              <p:spPr bwMode="auto">
                <a:xfrm>
                  <a:off x="2941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42" name="Line 34"/>
                <p:cNvSpPr>
                  <a:spLocks noChangeShapeType="1"/>
                </p:cNvSpPr>
                <p:nvPr/>
              </p:nvSpPr>
              <p:spPr bwMode="auto">
                <a:xfrm>
                  <a:off x="3007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43" name="Line 35"/>
                <p:cNvSpPr>
                  <a:spLocks noChangeShapeType="1"/>
                </p:cNvSpPr>
                <p:nvPr/>
              </p:nvSpPr>
              <p:spPr bwMode="auto">
                <a:xfrm>
                  <a:off x="3073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15444" name="Line 36"/>
                <p:cNvSpPr>
                  <a:spLocks noChangeShapeType="1"/>
                </p:cNvSpPr>
                <p:nvPr/>
              </p:nvSpPr>
              <p:spPr bwMode="auto">
                <a:xfrm>
                  <a:off x="3139" y="2029"/>
                  <a:ext cx="134" cy="21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sp>
            <p:nvSpPr>
              <p:cNvPr id="15366" name="Line 37"/>
              <p:cNvSpPr>
                <a:spLocks noChangeShapeType="1"/>
              </p:cNvSpPr>
              <p:nvPr/>
            </p:nvSpPr>
            <p:spPr bwMode="auto">
              <a:xfrm flipH="1">
                <a:off x="1871392" y="2073107"/>
                <a:ext cx="1068387" cy="18288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15367" name="Line 38"/>
              <p:cNvSpPr>
                <a:spLocks noChangeShapeType="1"/>
              </p:cNvSpPr>
              <p:nvPr/>
            </p:nvSpPr>
            <p:spPr bwMode="auto">
              <a:xfrm>
                <a:off x="2965179" y="2039769"/>
                <a:ext cx="1068388" cy="18288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15368" name="Text Box 39"/>
              <p:cNvSpPr txBox="1">
                <a:spLocks noChangeArrowheads="1"/>
              </p:cNvSpPr>
              <p:nvPr/>
            </p:nvSpPr>
            <p:spPr bwMode="auto">
              <a:xfrm>
                <a:off x="3597004" y="2585869"/>
                <a:ext cx="353280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5369" name="Text Box 40"/>
              <p:cNvSpPr txBox="1">
                <a:spLocks noChangeArrowheads="1"/>
              </p:cNvSpPr>
              <p:nvPr/>
            </p:nvSpPr>
            <p:spPr bwMode="auto">
              <a:xfrm>
                <a:off x="1832230" y="2602353"/>
                <a:ext cx="353280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5371" name="Text Box 42"/>
              <p:cNvSpPr txBox="1">
                <a:spLocks noChangeArrowheads="1"/>
              </p:cNvSpPr>
              <p:nvPr/>
            </p:nvSpPr>
            <p:spPr bwMode="auto">
              <a:xfrm>
                <a:off x="3198618" y="3257846"/>
                <a:ext cx="342058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</a:t>
                </a:r>
              </a:p>
            </p:txBody>
          </p:sp>
          <p:sp>
            <p:nvSpPr>
              <p:cNvPr id="15372" name="Text Box 43"/>
              <p:cNvSpPr txBox="1">
                <a:spLocks noChangeArrowheads="1"/>
              </p:cNvSpPr>
              <p:nvPr/>
            </p:nvSpPr>
            <p:spPr bwMode="auto">
              <a:xfrm>
                <a:off x="2384990" y="3259441"/>
                <a:ext cx="342058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</a:t>
                </a:r>
              </a:p>
            </p:txBody>
          </p:sp>
          <p:sp>
            <p:nvSpPr>
              <p:cNvPr id="96" name="Freeform 55"/>
              <p:cNvSpPr>
                <a:spLocks/>
              </p:cNvSpPr>
              <p:nvPr/>
            </p:nvSpPr>
            <p:spPr bwMode="auto">
              <a:xfrm flipH="1">
                <a:off x="2947815" y="2911070"/>
                <a:ext cx="496887" cy="174625"/>
              </a:xfrm>
              <a:custGeom>
                <a:avLst/>
                <a:gdLst>
                  <a:gd name="T0" fmla="*/ 0 w 313"/>
                  <a:gd name="T1" fmla="*/ 0 h 110"/>
                  <a:gd name="T2" fmla="*/ 2147483646 w 313"/>
                  <a:gd name="T3" fmla="*/ 2147483646 h 110"/>
                  <a:gd name="T4" fmla="*/ 2147483646 w 313"/>
                  <a:gd name="T5" fmla="*/ 2147483646 h 110"/>
                  <a:gd name="T6" fmla="*/ 0 60000 65536"/>
                  <a:gd name="T7" fmla="*/ 0 60000 65536"/>
                  <a:gd name="T8" fmla="*/ 0 60000 65536"/>
                  <a:gd name="T9" fmla="*/ 0 w 313"/>
                  <a:gd name="T10" fmla="*/ 0 h 110"/>
                  <a:gd name="T11" fmla="*/ 313 w 313"/>
                  <a:gd name="T12" fmla="*/ 110 h 1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3" h="110">
                    <a:moveTo>
                      <a:pt x="0" y="0"/>
                    </a:moveTo>
                    <a:cubicBezTo>
                      <a:pt x="28" y="27"/>
                      <a:pt x="57" y="55"/>
                      <a:pt x="109" y="73"/>
                    </a:cubicBezTo>
                    <a:cubicBezTo>
                      <a:pt x="161" y="91"/>
                      <a:pt x="237" y="100"/>
                      <a:pt x="313" y="11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arrow" w="lg" len="lg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97" name="Freeform 55"/>
              <p:cNvSpPr>
                <a:spLocks/>
              </p:cNvSpPr>
              <p:nvPr/>
            </p:nvSpPr>
            <p:spPr bwMode="auto">
              <a:xfrm>
                <a:off x="2458188" y="2917552"/>
                <a:ext cx="496887" cy="174625"/>
              </a:xfrm>
              <a:custGeom>
                <a:avLst/>
                <a:gdLst>
                  <a:gd name="T0" fmla="*/ 0 w 313"/>
                  <a:gd name="T1" fmla="*/ 0 h 110"/>
                  <a:gd name="T2" fmla="*/ 2147483646 w 313"/>
                  <a:gd name="T3" fmla="*/ 2147483646 h 110"/>
                  <a:gd name="T4" fmla="*/ 2147483646 w 313"/>
                  <a:gd name="T5" fmla="*/ 2147483646 h 110"/>
                  <a:gd name="T6" fmla="*/ 0 60000 65536"/>
                  <a:gd name="T7" fmla="*/ 0 60000 65536"/>
                  <a:gd name="T8" fmla="*/ 0 60000 65536"/>
                  <a:gd name="T9" fmla="*/ 0 w 313"/>
                  <a:gd name="T10" fmla="*/ 0 h 110"/>
                  <a:gd name="T11" fmla="*/ 313 w 313"/>
                  <a:gd name="T12" fmla="*/ 110 h 1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3" h="110">
                    <a:moveTo>
                      <a:pt x="0" y="0"/>
                    </a:moveTo>
                    <a:cubicBezTo>
                      <a:pt x="28" y="27"/>
                      <a:pt x="57" y="55"/>
                      <a:pt x="109" y="73"/>
                    </a:cubicBezTo>
                    <a:cubicBezTo>
                      <a:pt x="161" y="91"/>
                      <a:pt x="237" y="100"/>
                      <a:pt x="313" y="11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arrow" w="lg" len="lg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</p:grp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2222875" y="2990303"/>
            <a:ext cx="2360612" cy="463550"/>
            <a:chOff x="1495" y="2079"/>
            <a:chExt cx="1487" cy="292"/>
          </a:xfrm>
        </p:grpSpPr>
        <p:sp>
          <p:nvSpPr>
            <p:cNvPr id="15412" name="Line 49"/>
            <p:cNvSpPr>
              <a:spLocks noChangeShapeType="1"/>
            </p:cNvSpPr>
            <p:nvPr/>
          </p:nvSpPr>
          <p:spPr bwMode="auto">
            <a:xfrm>
              <a:off x="1495" y="2214"/>
              <a:ext cx="14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5413" name="Text Box 50"/>
            <p:cNvSpPr txBox="1">
              <a:spLocks noChangeArrowheads="1"/>
            </p:cNvSpPr>
            <p:nvPr/>
          </p:nvSpPr>
          <p:spPr bwMode="auto">
            <a:xfrm>
              <a:off x="2177" y="2079"/>
              <a:ext cx="179" cy="292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88" name="Line 49"/>
          <p:cNvSpPr>
            <a:spLocks noChangeShapeType="1"/>
          </p:cNvSpPr>
          <p:nvPr/>
        </p:nvSpPr>
        <p:spPr bwMode="auto">
          <a:xfrm>
            <a:off x="3417257" y="3599853"/>
            <a:ext cx="11520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90" name="Text Box 48">
            <a:extLst>
              <a:ext uri="{FF2B5EF4-FFF2-40B4-BE49-F238E27FC236}">
                <a16:creationId xmlns:a16="http://schemas.microsoft.com/office/drawing/2014/main" id="{D9F1C5F7-FAD4-4B4E-88A5-EFBA0DB28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396" y="485775"/>
            <a:ext cx="45587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b)</a:t>
            </a:r>
          </a:p>
        </p:txBody>
      </p:sp>
      <p:grpSp>
        <p:nvGrpSpPr>
          <p:cNvPr id="91" name="Group 65">
            <a:extLst>
              <a:ext uri="{FF2B5EF4-FFF2-40B4-BE49-F238E27FC236}">
                <a16:creationId xmlns:a16="http://schemas.microsoft.com/office/drawing/2014/main" id="{F271D718-46E4-4CDF-B53A-DAE772A3DAE6}"/>
              </a:ext>
            </a:extLst>
          </p:cNvPr>
          <p:cNvGrpSpPr>
            <a:grpSpLocks/>
          </p:cNvGrpSpPr>
          <p:nvPr/>
        </p:nvGrpSpPr>
        <p:grpSpPr bwMode="auto">
          <a:xfrm>
            <a:off x="4815575" y="2739176"/>
            <a:ext cx="860432" cy="550863"/>
            <a:chOff x="4953" y="1561"/>
            <a:chExt cx="542" cy="347"/>
          </a:xfrm>
        </p:grpSpPr>
        <p:sp>
          <p:nvSpPr>
            <p:cNvPr id="92" name="Line 66">
              <a:extLst>
                <a:ext uri="{FF2B5EF4-FFF2-40B4-BE49-F238E27FC236}">
                  <a16:creationId xmlns:a16="http://schemas.microsoft.com/office/drawing/2014/main" id="{F3F7C863-2BFB-4DC0-90A0-D1E874C75E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5111" y="1403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93" name="Text Box 67">
              <a:extLst>
                <a:ext uri="{FF2B5EF4-FFF2-40B4-BE49-F238E27FC236}">
                  <a16:creationId xmlns:a16="http://schemas.microsoft.com/office/drawing/2014/main" id="{5F2D661E-2B86-4B85-8657-443F1E268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3" y="1620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94" name="Line 68">
              <a:extLst>
                <a:ext uri="{FF2B5EF4-FFF2-40B4-BE49-F238E27FC236}">
                  <a16:creationId xmlns:a16="http://schemas.microsoft.com/office/drawing/2014/main" id="{CBBFB9AE-F8E3-48AA-8A67-0F9F434E0D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8" y="1643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sp>
        <p:nvSpPr>
          <p:cNvPr id="10" name="Forma libre 9"/>
          <p:cNvSpPr/>
          <p:nvPr/>
        </p:nvSpPr>
        <p:spPr bwMode="auto">
          <a:xfrm flipH="1">
            <a:off x="9409703" y="1458473"/>
            <a:ext cx="515566" cy="1440000"/>
          </a:xfrm>
          <a:custGeom>
            <a:avLst/>
            <a:gdLst>
              <a:gd name="connsiteX0" fmla="*/ 175098 w 515566"/>
              <a:gd name="connsiteY0" fmla="*/ 0 h 1128409"/>
              <a:gd name="connsiteX1" fmla="*/ 0 w 515566"/>
              <a:gd name="connsiteY1" fmla="*/ 0 h 1128409"/>
              <a:gd name="connsiteX2" fmla="*/ 0 w 515566"/>
              <a:gd name="connsiteY2" fmla="*/ 1128409 h 1128409"/>
              <a:gd name="connsiteX3" fmla="*/ 515566 w 515566"/>
              <a:gd name="connsiteY3" fmla="*/ 1128409 h 112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566" h="1128409">
                <a:moveTo>
                  <a:pt x="175098" y="0"/>
                </a:moveTo>
                <a:lnTo>
                  <a:pt x="0" y="0"/>
                </a:lnTo>
                <a:lnTo>
                  <a:pt x="0" y="1128409"/>
                </a:lnTo>
                <a:lnTo>
                  <a:pt x="515566" y="1128409"/>
                </a:ln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9" name="Conector recto 8"/>
          <p:cNvCxnSpPr/>
          <p:nvPr/>
        </p:nvCxnSpPr>
        <p:spPr bwMode="auto">
          <a:xfrm flipH="1">
            <a:off x="9745801" y="640715"/>
            <a:ext cx="0" cy="1668193"/>
          </a:xfrm>
          <a:prstGeom prst="lin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9" name="Group 58">
            <a:extLst>
              <a:ext uri="{FF2B5EF4-FFF2-40B4-BE49-F238E27FC236}">
                <a16:creationId xmlns:a16="http://schemas.microsoft.com/office/drawing/2014/main" id="{6C95612E-47FD-4B6F-BE06-6F045A01B246}"/>
              </a:ext>
            </a:extLst>
          </p:cNvPr>
          <p:cNvGrpSpPr>
            <a:grpSpLocks/>
          </p:cNvGrpSpPr>
          <p:nvPr/>
        </p:nvGrpSpPr>
        <p:grpSpPr bwMode="auto">
          <a:xfrm>
            <a:off x="6637194" y="3915026"/>
            <a:ext cx="2500313" cy="463550"/>
            <a:chOff x="4073" y="3420"/>
            <a:chExt cx="1575" cy="292"/>
          </a:xfrm>
        </p:grpSpPr>
        <p:sp>
          <p:nvSpPr>
            <p:cNvPr id="100" name="Text Box 59">
              <a:extLst>
                <a:ext uri="{FF2B5EF4-FFF2-40B4-BE49-F238E27FC236}">
                  <a16:creationId xmlns:a16="http://schemas.microsoft.com/office/drawing/2014/main" id="{9D4F7F70-D341-4EFA-91A9-EF8EF5AAC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3" y="3420"/>
              <a:ext cx="15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q = LT sen / K</a:t>
              </a:r>
            </a:p>
          </p:txBody>
        </p:sp>
        <p:sp>
          <p:nvSpPr>
            <p:cNvPr id="101" name="Line 60">
              <a:extLst>
                <a:ext uri="{FF2B5EF4-FFF2-40B4-BE49-F238E27FC236}">
                  <a16:creationId xmlns:a16="http://schemas.microsoft.com/office/drawing/2014/main" id="{8F063B82-60F4-4F6D-A256-1BB1B397A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2" y="3454"/>
              <a:ext cx="9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02" name="Text Box 61">
            <a:extLst>
              <a:ext uri="{FF2B5EF4-FFF2-40B4-BE49-F238E27FC236}">
                <a16:creationId xmlns:a16="http://schemas.microsoft.com/office/drawing/2014/main" id="{FEC273C2-0B15-4BBB-8BD0-A2F197CFA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257" y="6632656"/>
            <a:ext cx="1567838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2,51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4419E94A-A20D-4EA1-8FA5-CE3D7D3BD09E}"/>
              </a:ext>
            </a:extLst>
          </p:cNvPr>
          <p:cNvGrpSpPr/>
          <p:nvPr/>
        </p:nvGrpSpPr>
        <p:grpSpPr>
          <a:xfrm>
            <a:off x="9086904" y="3925039"/>
            <a:ext cx="1436047" cy="833178"/>
            <a:chOff x="9267058" y="4715670"/>
            <a:chExt cx="1436047" cy="833178"/>
          </a:xfrm>
        </p:grpSpPr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id="{805D8FBF-B7D6-4BC2-ADD1-7FE959466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8542" y="4715670"/>
              <a:ext cx="944563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3 o 4 cifras</a:t>
              </a:r>
            </a:p>
          </p:txBody>
        </p:sp>
        <p:sp>
          <p:nvSpPr>
            <p:cNvPr id="105" name="Line 73">
              <a:extLst>
                <a:ext uri="{FF2B5EF4-FFF2-40B4-BE49-F238E27FC236}">
                  <a16:creationId xmlns:a16="http://schemas.microsoft.com/office/drawing/2014/main" id="{CE5362BB-CE92-4A91-8A07-F4FFF944F5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67058" y="4928678"/>
              <a:ext cx="440487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5D77DEC9-5BC7-476B-97DD-2AF7F2114AC6}"/>
              </a:ext>
            </a:extLst>
          </p:cNvPr>
          <p:cNvGrpSpPr/>
          <p:nvPr/>
        </p:nvGrpSpPr>
        <p:grpSpPr>
          <a:xfrm>
            <a:off x="7817005" y="4348935"/>
            <a:ext cx="1806277" cy="573803"/>
            <a:chOff x="7839510" y="5128933"/>
            <a:chExt cx="1806277" cy="573803"/>
          </a:xfrm>
        </p:grpSpPr>
        <p:sp>
          <p:nvSpPr>
            <p:cNvPr id="107" name="Text Box 69">
              <a:extLst>
                <a:ext uri="{FF2B5EF4-FFF2-40B4-BE49-F238E27FC236}">
                  <a16:creationId xmlns:a16="http://schemas.microsoft.com/office/drawing/2014/main" id="{9977A1E8-81A4-4233-846C-962E78231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1037" y="5239184"/>
              <a:ext cx="1174750" cy="463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3 cifras</a:t>
              </a:r>
            </a:p>
          </p:txBody>
        </p:sp>
        <p:sp>
          <p:nvSpPr>
            <p:cNvPr id="108" name="Line 74">
              <a:extLst>
                <a:ext uri="{FF2B5EF4-FFF2-40B4-BE49-F238E27FC236}">
                  <a16:creationId xmlns:a16="http://schemas.microsoft.com/office/drawing/2014/main" id="{380C19DF-2DF4-4C26-8D68-5F7E9C1FE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9510" y="5128933"/>
              <a:ext cx="605165" cy="2919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 dirty="0"/>
            </a:p>
          </p:txBody>
        </p:sp>
      </p:grpSp>
      <p:grpSp>
        <p:nvGrpSpPr>
          <p:cNvPr id="110" name="Group 78">
            <a:extLst>
              <a:ext uri="{FF2B5EF4-FFF2-40B4-BE49-F238E27FC236}">
                <a16:creationId xmlns:a16="http://schemas.microsoft.com/office/drawing/2014/main" id="{2FBD9D25-9270-42FA-A947-C567CF8BEB4C}"/>
              </a:ext>
            </a:extLst>
          </p:cNvPr>
          <p:cNvGrpSpPr>
            <a:grpSpLocks/>
          </p:cNvGrpSpPr>
          <p:nvPr/>
        </p:nvGrpSpPr>
        <p:grpSpPr bwMode="auto">
          <a:xfrm>
            <a:off x="5272398" y="4544605"/>
            <a:ext cx="1525588" cy="2170094"/>
            <a:chOff x="3413" y="2414"/>
            <a:chExt cx="961" cy="1367"/>
          </a:xfrm>
        </p:grpSpPr>
        <p:sp>
          <p:nvSpPr>
            <p:cNvPr id="111" name="Line 76">
              <a:extLst>
                <a:ext uri="{FF2B5EF4-FFF2-40B4-BE49-F238E27FC236}">
                  <a16:creationId xmlns:a16="http://schemas.microsoft.com/office/drawing/2014/main" id="{F2837248-9AE0-4C02-8587-3AD363445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4" y="2414"/>
              <a:ext cx="302" cy="935"/>
            </a:xfrm>
            <a:prstGeom prst="line">
              <a:avLst/>
            </a:prstGeom>
            <a:noFill/>
            <a:ln w="76200" cmpd="dbl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12" name="Text Box 77">
              <a:extLst>
                <a:ext uri="{FF2B5EF4-FFF2-40B4-BE49-F238E27FC236}">
                  <a16:creationId xmlns:a16="http://schemas.microsoft.com/office/drawing/2014/main" id="{254311F1-FDED-4F36-8847-06D8BFEF4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3" y="3489"/>
              <a:ext cx="96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3 cifras</a:t>
              </a:r>
            </a:p>
          </p:txBody>
        </p:sp>
      </p:grpSp>
      <p:sp>
        <p:nvSpPr>
          <p:cNvPr id="114" name="Text Box 68">
            <a:extLst>
              <a:ext uri="{FF2B5EF4-FFF2-40B4-BE49-F238E27FC236}">
                <a16:creationId xmlns:a16="http://schemas.microsoft.com/office/drawing/2014/main" id="{AE2B0037-8742-4F19-9F45-05E8DCECF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73" y="4896074"/>
            <a:ext cx="3641038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Sin error ni incertidumbre</a:t>
            </a:r>
          </a:p>
          <a:p>
            <a:pPr marL="342900" indent="-342900" eaLnBrk="1" hangingPunct="1">
              <a:spcBef>
                <a:spcPts val="0"/>
              </a:spcBef>
              <a:buFont typeface="Symbol" panose="05050102010706020507" pitchFamily="18" charset="2"/>
              <a:buChar char="Þ"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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cifras significativas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   (1,000...; 30,000...)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519BC87-E41E-4B33-AB68-EAD3A72A1C96}"/>
              </a:ext>
            </a:extLst>
          </p:cNvPr>
          <p:cNvGrpSpPr/>
          <p:nvPr/>
        </p:nvGrpSpPr>
        <p:grpSpPr>
          <a:xfrm>
            <a:off x="7198139" y="4348935"/>
            <a:ext cx="1097740" cy="547132"/>
            <a:chOff x="7186988" y="5140663"/>
            <a:chExt cx="1097740" cy="547132"/>
          </a:xfrm>
        </p:grpSpPr>
        <p:sp>
          <p:nvSpPr>
            <p:cNvPr id="115" name="Line 73">
              <a:extLst>
                <a:ext uri="{FF2B5EF4-FFF2-40B4-BE49-F238E27FC236}">
                  <a16:creationId xmlns:a16="http://schemas.microsoft.com/office/drawing/2014/main" id="{740EE130-7A74-4574-B677-6D0B493F8C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6988" y="5140663"/>
              <a:ext cx="126292" cy="523285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16" name="Line 73">
              <a:extLst>
                <a:ext uri="{FF2B5EF4-FFF2-40B4-BE49-F238E27FC236}">
                  <a16:creationId xmlns:a16="http://schemas.microsoft.com/office/drawing/2014/main" id="{5F6E0F70-33DA-424A-80CE-D6B81E117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13279" y="5140663"/>
              <a:ext cx="971449" cy="54713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noAutofit/>
            </a:bodyPr>
            <a:lstStyle/>
            <a:p>
              <a:endParaRPr lang="en-GB" sz="2400"/>
            </a:p>
          </p:txBody>
        </p: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CC09B356-3D46-4076-9270-68C0890717CF}"/>
              </a:ext>
            </a:extLst>
          </p:cNvPr>
          <p:cNvGrpSpPr/>
          <p:nvPr/>
        </p:nvGrpSpPr>
        <p:grpSpPr>
          <a:xfrm>
            <a:off x="1865593" y="5752616"/>
            <a:ext cx="3075082" cy="1069043"/>
            <a:chOff x="2534617" y="5165919"/>
            <a:chExt cx="3075082" cy="1069043"/>
          </a:xfrm>
        </p:grpSpPr>
        <p:grpSp>
          <p:nvGrpSpPr>
            <p:cNvPr id="120" name="Grupo 119">
              <a:extLst>
                <a:ext uri="{FF2B5EF4-FFF2-40B4-BE49-F238E27FC236}">
                  <a16:creationId xmlns:a16="http://schemas.microsoft.com/office/drawing/2014/main" id="{6ADC917F-FF66-4641-8186-6F545FB040C6}"/>
                </a:ext>
              </a:extLst>
            </p:cNvPr>
            <p:cNvGrpSpPr/>
            <p:nvPr/>
          </p:nvGrpSpPr>
          <p:grpSpPr>
            <a:xfrm>
              <a:off x="2534617" y="5165919"/>
              <a:ext cx="3075082" cy="1069043"/>
              <a:chOff x="2534617" y="5165919"/>
              <a:chExt cx="3075082" cy="1069043"/>
            </a:xfrm>
          </p:grpSpPr>
          <p:sp>
            <p:nvSpPr>
              <p:cNvPr id="122" name="Rectángulo 121">
                <a:extLst>
                  <a:ext uri="{FF2B5EF4-FFF2-40B4-BE49-F238E27FC236}">
                    <a16:creationId xmlns:a16="http://schemas.microsoft.com/office/drawing/2014/main" id="{4845B119-062E-4568-BBF9-482AF176A6A8}"/>
                  </a:ext>
                </a:extLst>
              </p:cNvPr>
              <p:cNvSpPr/>
              <p:nvPr/>
            </p:nvSpPr>
            <p:spPr bwMode="auto">
              <a:xfrm>
                <a:off x="2534617" y="5165919"/>
                <a:ext cx="3075082" cy="1069043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23" name="Text Box 93">
                <a:extLst>
                  <a:ext uri="{FF2B5EF4-FFF2-40B4-BE49-F238E27FC236}">
                    <a16:creationId xmlns:a16="http://schemas.microsoft.com/office/drawing/2014/main" id="{BB71F945-AB16-4A6C-9336-EA77B6E0FE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4850" y="5187185"/>
                <a:ext cx="1204282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L = 1 m</a:t>
                </a:r>
              </a:p>
            </p:txBody>
          </p:sp>
          <p:sp>
            <p:nvSpPr>
              <p:cNvPr id="124" name="Text Box 46">
                <a:extLst>
                  <a:ext uri="{FF2B5EF4-FFF2-40B4-BE49-F238E27FC236}">
                    <a16:creationId xmlns:a16="http://schemas.microsoft.com/office/drawing/2014/main" id="{D375370B-A6BC-49EC-BE5D-BAD6A19E9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1479" y="5712389"/>
                <a:ext cx="2915727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K </a:t>
                </a:r>
                <a:r>
                  <a:rPr lang="es-ES" sz="2400" dirty="0">
                    <a:latin typeface="Arial" panose="020B0604020202020204" pitchFamily="34" charset="0"/>
                    <a:sym typeface="Symbol" panose="05050102010706020507" pitchFamily="18" charset="2"/>
                  </a:rPr>
                  <a:t></a:t>
                </a:r>
                <a:r>
                  <a:rPr lang="es-ES" sz="2400" dirty="0">
                    <a:latin typeface="Arial" panose="020B0604020202020204" pitchFamily="34" charset="0"/>
                  </a:rPr>
                  <a:t> 9 10</a:t>
                </a:r>
                <a:r>
                  <a:rPr lang="es-ES" sz="2400" baseline="30000" dirty="0">
                    <a:latin typeface="Arial" panose="020B0604020202020204" pitchFamily="34" charset="0"/>
                  </a:rPr>
                  <a:t>9</a:t>
                </a:r>
                <a:r>
                  <a:rPr lang="es-ES" sz="2400" dirty="0">
                    <a:latin typeface="Arial" panose="020B0604020202020204" pitchFamily="34" charset="0"/>
                  </a:rPr>
                  <a:t> N C</a:t>
                </a:r>
                <a:r>
                  <a:rPr lang="es-ES" sz="2400" baseline="30000" dirty="0">
                    <a:latin typeface="Arial" panose="020B0604020202020204" pitchFamily="34" charset="0"/>
                    <a:sym typeface="Symbol" panose="05050102010706020507" pitchFamily="18" charset="2"/>
                  </a:rPr>
                  <a:t>2</a:t>
                </a:r>
                <a:r>
                  <a:rPr lang="es-ES" sz="2400" dirty="0">
                    <a:latin typeface="Arial" panose="020B0604020202020204" pitchFamily="34" charset="0"/>
                    <a:sym typeface="Symbol" panose="05050102010706020507" pitchFamily="18" charset="2"/>
                  </a:rPr>
                  <a:t> m</a:t>
                </a:r>
                <a:r>
                  <a:rPr lang="es-ES" sz="2400" baseline="30000" dirty="0">
                    <a:latin typeface="Arial" panose="020B0604020202020204" pitchFamily="34" charset="0"/>
                    <a:sym typeface="Symbol" panose="05050102010706020507" pitchFamily="18" charset="2"/>
                  </a:rPr>
                  <a:t>2</a:t>
                </a:r>
              </a:p>
            </p:txBody>
          </p:sp>
        </p:grpSp>
        <p:sp>
          <p:nvSpPr>
            <p:cNvPr id="121" name="Text Box 45">
              <a:extLst>
                <a:ext uri="{FF2B5EF4-FFF2-40B4-BE49-F238E27FC236}">
                  <a16:creationId xmlns:a16="http://schemas.microsoft.com/office/drawing/2014/main" id="{77A62EF3-4AEB-4675-89F2-D6AEB30DB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537" y="5205971"/>
              <a:ext cx="974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= 30º</a:t>
              </a:r>
            </a:p>
          </p:txBody>
        </p:sp>
      </p:grpSp>
      <p:sp>
        <p:nvSpPr>
          <p:cNvPr id="125" name="Text Box 61">
            <a:extLst>
              <a:ext uri="{FF2B5EF4-FFF2-40B4-BE49-F238E27FC236}">
                <a16:creationId xmlns:a16="http://schemas.microsoft.com/office/drawing/2014/main" id="{2440C5AD-B322-4791-B433-F706FDBE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185" y="6023180"/>
            <a:ext cx="2725206" cy="514738"/>
          </a:xfrm>
          <a:prstGeom prst="rect">
            <a:avLst/>
          </a:prstGeom>
          <a:noFill/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= 2,505549... 10</a:t>
            </a:r>
            <a:r>
              <a:rPr lang="es-ES" sz="2400" baseline="30000" dirty="0">
                <a:latin typeface="Arial" panose="020B0604020202020204" pitchFamily="34" charset="0"/>
              </a:rPr>
              <a:t>-6</a:t>
            </a:r>
            <a:endParaRPr lang="es-ES" sz="2400" baseline="30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9" name="Text Box 68">
            <a:extLst>
              <a:ext uri="{FF2B5EF4-FFF2-40B4-BE49-F238E27FC236}">
                <a16:creationId xmlns:a16="http://schemas.microsoft.com/office/drawing/2014/main" id="{2EFEB4D4-4924-40A5-9D92-CC55555AC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700" y="1165456"/>
            <a:ext cx="3678357" cy="83317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Hay 2 incógnitas.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Hace falta otra ecuación</a:t>
            </a:r>
          </a:p>
        </p:txBody>
      </p:sp>
      <p:sp>
        <p:nvSpPr>
          <p:cNvPr id="117" name="Text Box 84">
            <a:extLst>
              <a:ext uri="{FF2B5EF4-FFF2-40B4-BE49-F238E27FC236}">
                <a16:creationId xmlns:a16="http://schemas.microsoft.com/office/drawing/2014/main" id="{B0B9EE6C-47FC-4B00-A6A0-8AF0EB0EB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9885" y="499813"/>
            <a:ext cx="712352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¿q?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Line 73">
            <a:extLst>
              <a:ext uri="{FF2B5EF4-FFF2-40B4-BE49-F238E27FC236}">
                <a16:creationId xmlns:a16="http://schemas.microsoft.com/office/drawing/2014/main" id="{7D25BD6D-D579-048B-CD9B-B2D5C32D8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652" y="4147572"/>
            <a:ext cx="66681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030E7BD0-4E4B-21A8-D7B2-5BA6009E1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511" y="3874371"/>
            <a:ext cx="80532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2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1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5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251950" grpId="0"/>
      <p:bldP spid="251955" grpId="0"/>
      <p:bldP spid="251960" grpId="0"/>
      <p:bldP spid="251967" grpId="0"/>
      <p:bldP spid="251971" grpId="0" animBg="1"/>
      <p:bldP spid="100431" grpId="0"/>
      <p:bldP spid="80" grpId="0"/>
      <p:bldP spid="88" grpId="0" animBg="1"/>
      <p:bldP spid="10" grpId="0" animBg="1"/>
      <p:bldP spid="102" grpId="0" animBg="1"/>
      <p:bldP spid="114" grpId="0"/>
      <p:bldP spid="125" grpId="0"/>
      <p:bldP spid="109" grpId="0" animBg="1"/>
      <p:bldP spid="117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45"/>
          <p:cNvSpPr>
            <a:spLocks noChangeShapeType="1"/>
          </p:cNvSpPr>
          <p:nvPr/>
        </p:nvSpPr>
        <p:spPr bwMode="auto">
          <a:xfrm flipH="1">
            <a:off x="3449787" y="764365"/>
            <a:ext cx="0" cy="3959225"/>
          </a:xfrm>
          <a:prstGeom prst="line">
            <a:avLst/>
          </a:prstGeom>
          <a:noFill/>
          <a:ln w="25400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76824" y="2388378"/>
            <a:ext cx="1501775" cy="1646237"/>
            <a:chOff x="2454" y="1702"/>
            <a:chExt cx="946" cy="1037"/>
          </a:xfrm>
        </p:grpSpPr>
        <p:sp>
          <p:nvSpPr>
            <p:cNvPr id="17504" name="Line 4"/>
            <p:cNvSpPr>
              <a:spLocks noChangeShapeType="1"/>
            </p:cNvSpPr>
            <p:nvPr/>
          </p:nvSpPr>
          <p:spPr bwMode="auto">
            <a:xfrm rot="-5400000">
              <a:off x="2624" y="1532"/>
              <a:ext cx="506" cy="8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5" name="Line 5"/>
            <p:cNvSpPr>
              <a:spLocks noChangeShapeType="1"/>
            </p:cNvSpPr>
            <p:nvPr/>
          </p:nvSpPr>
          <p:spPr bwMode="auto">
            <a:xfrm>
              <a:off x="2982" y="2018"/>
              <a:ext cx="418" cy="72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pic>
        <p:nvPicPr>
          <p:cNvPr id="17412" name="Picture 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937" y="2524903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3" name="Group 8"/>
          <p:cNvGrpSpPr>
            <a:grpSpLocks/>
          </p:cNvGrpSpPr>
          <p:nvPr/>
        </p:nvGrpSpPr>
        <p:grpSpPr bwMode="auto">
          <a:xfrm>
            <a:off x="1803549" y="394478"/>
            <a:ext cx="3251200" cy="333375"/>
            <a:chOff x="1225" y="2029"/>
            <a:chExt cx="2048" cy="210"/>
          </a:xfrm>
        </p:grpSpPr>
        <p:sp>
          <p:nvSpPr>
            <p:cNvPr id="17473" name="Line 9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4" name="Line 10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5" name="Line 11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6" name="Line 12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7" name="Line 13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8" name="Line 14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9" name="Line 15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0" name="Line 16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1" name="Line 17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2" name="Line 18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3" name="Line 19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4" name="Line 20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5" name="Line 21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6" name="Line 22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7" name="Line 23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8" name="Line 24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9" name="Line 25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0" name="Line 26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1" name="Line 27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2" name="Line 28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3" name="Line 29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4" name="Line 30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5" name="Line 31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6" name="Line 32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7" name="Line 33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8" name="Line 34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9" name="Line 35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0" name="Line 36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1" name="Line 37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2" name="Line 38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3" name="Line 39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7414" name="Line 40"/>
          <p:cNvSpPr>
            <a:spLocks noChangeShapeType="1"/>
          </p:cNvSpPr>
          <p:nvPr/>
        </p:nvSpPr>
        <p:spPr bwMode="auto">
          <a:xfrm>
            <a:off x="3446612" y="738965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7415" name="Text Box 41"/>
          <p:cNvSpPr txBox="1">
            <a:spLocks noChangeArrowheads="1"/>
          </p:cNvSpPr>
          <p:nvPr/>
        </p:nvSpPr>
        <p:spPr bwMode="auto">
          <a:xfrm>
            <a:off x="4078437" y="1194578"/>
            <a:ext cx="87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pic>
        <p:nvPicPr>
          <p:cNvPr id="6" name="Picture 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249" y="2813828"/>
            <a:ext cx="43973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064149" y="3131328"/>
            <a:ext cx="1122363" cy="879475"/>
            <a:chOff x="2572" y="2170"/>
            <a:chExt cx="707" cy="554"/>
          </a:xfrm>
        </p:grpSpPr>
        <p:sp>
          <p:nvSpPr>
            <p:cNvPr id="17471" name="Line 51"/>
            <p:cNvSpPr>
              <a:spLocks noChangeShapeType="1"/>
            </p:cNvSpPr>
            <p:nvPr/>
          </p:nvSpPr>
          <p:spPr bwMode="auto">
            <a:xfrm flipV="1">
              <a:off x="2914" y="2469"/>
              <a:ext cx="365" cy="2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2" name="Line 52"/>
            <p:cNvSpPr>
              <a:spLocks noChangeShapeType="1"/>
            </p:cNvSpPr>
            <p:nvPr/>
          </p:nvSpPr>
          <p:spPr bwMode="auto">
            <a:xfrm flipH="1" flipV="1">
              <a:off x="2572" y="2170"/>
              <a:ext cx="320" cy="5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4030812" y="2848749"/>
            <a:ext cx="1109662" cy="788986"/>
            <a:chOff x="2551" y="1992"/>
            <a:chExt cx="699" cy="497"/>
          </a:xfrm>
        </p:grpSpPr>
        <p:sp>
          <p:nvSpPr>
            <p:cNvPr id="17469" name="Line 66"/>
            <p:cNvSpPr>
              <a:spLocks noChangeShapeType="1"/>
            </p:cNvSpPr>
            <p:nvPr/>
          </p:nvSpPr>
          <p:spPr bwMode="auto">
            <a:xfrm>
              <a:off x="2962" y="2016"/>
              <a:ext cx="288" cy="473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0" name="Line 67"/>
            <p:cNvSpPr>
              <a:spLocks noChangeShapeType="1"/>
            </p:cNvSpPr>
            <p:nvPr/>
          </p:nvSpPr>
          <p:spPr bwMode="auto">
            <a:xfrm flipH="1">
              <a:off x="2551" y="1992"/>
              <a:ext cx="249" cy="15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3987949" y="1743853"/>
            <a:ext cx="825500" cy="2354262"/>
            <a:chOff x="2524" y="1296"/>
            <a:chExt cx="520" cy="1483"/>
          </a:xfrm>
        </p:grpSpPr>
        <p:sp>
          <p:nvSpPr>
            <p:cNvPr id="17460" name="Line 49"/>
            <p:cNvSpPr>
              <a:spLocks noChangeShapeType="1"/>
            </p:cNvSpPr>
            <p:nvPr/>
          </p:nvSpPr>
          <p:spPr bwMode="auto">
            <a:xfrm flipV="1">
              <a:off x="2585" y="251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pSp>
          <p:nvGrpSpPr>
            <p:cNvPr id="17461" name="Group 91"/>
            <p:cNvGrpSpPr>
              <a:grpSpLocks/>
            </p:cNvGrpSpPr>
            <p:nvPr/>
          </p:nvGrpSpPr>
          <p:grpSpPr bwMode="auto">
            <a:xfrm>
              <a:off x="2524" y="1296"/>
              <a:ext cx="520" cy="1483"/>
              <a:chOff x="2524" y="1296"/>
              <a:chExt cx="520" cy="1483"/>
            </a:xfrm>
          </p:grpSpPr>
          <p:grpSp>
            <p:nvGrpSpPr>
              <p:cNvPr id="17462" name="Group 46"/>
              <p:cNvGrpSpPr>
                <a:grpSpLocks/>
              </p:cNvGrpSpPr>
              <p:nvPr/>
            </p:nvGrpSpPr>
            <p:grpSpPr bwMode="auto">
              <a:xfrm>
                <a:off x="2524" y="2025"/>
                <a:ext cx="399" cy="754"/>
                <a:chOff x="2524" y="2025"/>
                <a:chExt cx="399" cy="754"/>
              </a:xfrm>
            </p:grpSpPr>
            <p:sp>
              <p:nvSpPr>
                <p:cNvPr id="1746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2923" y="2025"/>
                  <a:ext cx="0" cy="680"/>
                </a:xfrm>
                <a:prstGeom prst="line">
                  <a:avLst/>
                </a:prstGeom>
                <a:noFill/>
                <a:ln w="76200">
                  <a:solidFill>
                    <a:srgbClr val="3333FF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/>
                </a:p>
              </p:txBody>
            </p:sp>
            <p:sp>
              <p:nvSpPr>
                <p:cNvPr id="17468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524" y="2491"/>
                  <a:ext cx="24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7463" name="Line 64"/>
              <p:cNvSpPr>
                <a:spLocks noChangeShapeType="1"/>
              </p:cNvSpPr>
              <p:nvPr/>
            </p:nvSpPr>
            <p:spPr bwMode="auto">
              <a:xfrm flipH="1" flipV="1">
                <a:off x="2531" y="1296"/>
                <a:ext cx="308" cy="494"/>
              </a:xfrm>
              <a:prstGeom prst="line">
                <a:avLst/>
              </a:prstGeom>
              <a:noFill/>
              <a:ln w="76200">
                <a:solidFill>
                  <a:srgbClr val="3333FF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grpSp>
            <p:nvGrpSpPr>
              <p:cNvPr id="17464" name="Group 68"/>
              <p:cNvGrpSpPr>
                <a:grpSpLocks/>
              </p:cNvGrpSpPr>
              <p:nvPr/>
            </p:nvGrpSpPr>
            <p:grpSpPr bwMode="auto">
              <a:xfrm>
                <a:off x="2813" y="1391"/>
                <a:ext cx="231" cy="288"/>
                <a:chOff x="2485" y="3861"/>
                <a:chExt cx="231" cy="288"/>
              </a:xfrm>
            </p:grpSpPr>
            <p:sp>
              <p:nvSpPr>
                <p:cNvPr id="17465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485" y="3861"/>
                  <a:ext cx="23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17466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536" y="3904"/>
                  <a:ext cx="13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3437087" y="1597803"/>
            <a:ext cx="3175" cy="2773363"/>
            <a:chOff x="2177" y="1198"/>
            <a:chExt cx="2" cy="1747"/>
          </a:xfrm>
        </p:grpSpPr>
        <p:sp>
          <p:nvSpPr>
            <p:cNvPr id="17458" name="Line 72"/>
            <p:cNvSpPr>
              <a:spLocks noChangeShapeType="1"/>
            </p:cNvSpPr>
            <p:nvPr/>
          </p:nvSpPr>
          <p:spPr bwMode="auto">
            <a:xfrm flipH="1">
              <a:off x="2177" y="2265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59" name="Line 73"/>
            <p:cNvSpPr>
              <a:spLocks noChangeShapeType="1"/>
            </p:cNvSpPr>
            <p:nvPr/>
          </p:nvSpPr>
          <p:spPr bwMode="auto">
            <a:xfrm flipH="1" flipV="1">
              <a:off x="2179" y="1198"/>
              <a:ext cx="0" cy="748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7425" name="Text Box 74"/>
          <p:cNvSpPr txBox="1">
            <a:spLocks noChangeArrowheads="1"/>
          </p:cNvSpPr>
          <p:nvPr/>
        </p:nvSpPr>
        <p:spPr bwMode="auto">
          <a:xfrm>
            <a:off x="2816713" y="4536737"/>
            <a:ext cx="1228642" cy="51473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Vertical</a:t>
            </a:r>
          </a:p>
        </p:txBody>
      </p:sp>
      <p:sp>
        <p:nvSpPr>
          <p:cNvPr id="254027" name="Text Box 75"/>
          <p:cNvSpPr txBox="1">
            <a:spLocks noChangeArrowheads="1"/>
          </p:cNvSpPr>
          <p:nvPr/>
        </p:nvSpPr>
        <p:spPr bwMode="auto">
          <a:xfrm>
            <a:off x="4966659" y="2624949"/>
            <a:ext cx="852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0</a:t>
            </a:r>
          </a:p>
        </p:txBody>
      </p:sp>
      <p:sp>
        <p:nvSpPr>
          <p:cNvPr id="254047" name="Text Box 95"/>
          <p:cNvSpPr txBox="1">
            <a:spLocks noChangeArrowheads="1"/>
          </p:cNvSpPr>
          <p:nvPr/>
        </p:nvSpPr>
        <p:spPr bwMode="auto">
          <a:xfrm>
            <a:off x="4737282" y="109853"/>
            <a:ext cx="5953296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Al retirar </a:t>
            </a:r>
            <a:r>
              <a:rPr lang="es-ES" sz="2400">
                <a:latin typeface="Arial" panose="020B0604020202020204" pitchFamily="34" charset="0"/>
              </a:rPr>
              <a:t>una carga, </a:t>
            </a:r>
            <a:r>
              <a:rPr lang="es-ES" sz="2400" dirty="0">
                <a:latin typeface="Arial" panose="020B0604020202020204" pitchFamily="34" charset="0"/>
              </a:rPr>
              <a:t>la otra deja </a:t>
            </a:r>
            <a:r>
              <a:rPr lang="es-ES" sz="2400">
                <a:latin typeface="Arial" panose="020B0604020202020204" pitchFamily="34" charset="0"/>
              </a:rPr>
              <a:t>de sufrir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latin typeface="Arial" panose="020B0604020202020204" pitchFamily="34" charset="0"/>
              </a:rPr>
              <a:t>fuerza que le ejerce. La acción del peso y la tensión </a:t>
            </a:r>
            <a:r>
              <a:rPr lang="es-ES" sz="2400">
                <a:latin typeface="Arial" panose="020B0604020202020204" pitchFamily="34" charset="0"/>
              </a:rPr>
              <a:t>sobre ella, </a:t>
            </a:r>
            <a:r>
              <a:rPr lang="es-ES" sz="2400" dirty="0">
                <a:latin typeface="Arial" panose="020B0604020202020204" pitchFamily="34" charset="0"/>
              </a:rPr>
              <a:t>hace que realice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 movimiento circular de radio 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CFF83E3-B7E4-4913-9251-F82390DEE956}"/>
              </a:ext>
            </a:extLst>
          </p:cNvPr>
          <p:cNvGrpSpPr/>
          <p:nvPr/>
        </p:nvGrpSpPr>
        <p:grpSpPr>
          <a:xfrm>
            <a:off x="2001097" y="742311"/>
            <a:ext cx="1463494" cy="2237708"/>
            <a:chOff x="757391" y="1049976"/>
            <a:chExt cx="1463494" cy="2237708"/>
          </a:xfrm>
        </p:grpSpPr>
        <p:pic>
          <p:nvPicPr>
            <p:cNvPr id="17449" name="Picture 106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391" y="2847946"/>
              <a:ext cx="439738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50" name="Line 107"/>
            <p:cNvSpPr>
              <a:spLocks noChangeShapeType="1"/>
            </p:cNvSpPr>
            <p:nvPr/>
          </p:nvSpPr>
          <p:spPr bwMode="auto">
            <a:xfrm flipH="1">
              <a:off x="1152497" y="1049976"/>
              <a:ext cx="1068388" cy="18288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3" name="Text Box 75"/>
          <p:cNvSpPr txBox="1">
            <a:spLocks noChangeArrowheads="1"/>
          </p:cNvSpPr>
          <p:nvPr/>
        </p:nvSpPr>
        <p:spPr bwMode="auto">
          <a:xfrm>
            <a:off x="1175046" y="2705541"/>
            <a:ext cx="750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 = 0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798A700-D55B-4147-9F07-E9F8F82D308A}"/>
              </a:ext>
            </a:extLst>
          </p:cNvPr>
          <p:cNvGrpSpPr/>
          <p:nvPr/>
        </p:nvGrpSpPr>
        <p:grpSpPr>
          <a:xfrm>
            <a:off x="6577964" y="1956135"/>
            <a:ext cx="1563688" cy="536576"/>
            <a:chOff x="6577964" y="1956135"/>
            <a:chExt cx="1563688" cy="536576"/>
          </a:xfrm>
        </p:grpSpPr>
        <p:sp>
          <p:nvSpPr>
            <p:cNvPr id="17446" name="Rectangle 112"/>
            <p:cNvSpPr>
              <a:spLocks noChangeArrowheads="1"/>
            </p:cNvSpPr>
            <p:nvPr/>
          </p:nvSpPr>
          <p:spPr bwMode="auto">
            <a:xfrm>
              <a:off x="6577964" y="1956135"/>
              <a:ext cx="1563688" cy="53657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7" name="Text Box 100"/>
            <p:cNvSpPr txBox="1">
              <a:spLocks noChangeArrowheads="1"/>
            </p:cNvSpPr>
            <p:nvPr/>
          </p:nvSpPr>
          <p:spPr bwMode="auto">
            <a:xfrm>
              <a:off x="6589077" y="1984710"/>
              <a:ext cx="1404938" cy="463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tangencial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</p:grpSp>
      <p:sp>
        <p:nvSpPr>
          <p:cNvPr id="17448" name="Text Box 100"/>
          <p:cNvSpPr txBox="1">
            <a:spLocks noChangeArrowheads="1"/>
          </p:cNvSpPr>
          <p:nvPr/>
        </p:nvSpPr>
        <p:spPr bwMode="auto">
          <a:xfrm>
            <a:off x="8176577" y="2010109"/>
            <a:ext cx="1716088" cy="46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Aumenta v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31F42EE4-A1CA-4175-87BB-CCFDDBA98B15}"/>
              </a:ext>
            </a:extLst>
          </p:cNvPr>
          <p:cNvGrpSpPr/>
          <p:nvPr/>
        </p:nvGrpSpPr>
        <p:grpSpPr>
          <a:xfrm>
            <a:off x="6573206" y="2575646"/>
            <a:ext cx="1574801" cy="536575"/>
            <a:chOff x="6573206" y="2575646"/>
            <a:chExt cx="1574801" cy="536575"/>
          </a:xfrm>
        </p:grpSpPr>
        <p:sp>
          <p:nvSpPr>
            <p:cNvPr id="17443" name="Rectangle 113"/>
            <p:cNvSpPr>
              <a:spLocks noChangeArrowheads="1"/>
            </p:cNvSpPr>
            <p:nvPr/>
          </p:nvSpPr>
          <p:spPr bwMode="auto">
            <a:xfrm>
              <a:off x="6573206" y="2575646"/>
              <a:ext cx="1568451" cy="53657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4" name="Text Box 101"/>
            <p:cNvSpPr txBox="1">
              <a:spLocks noChangeArrowheads="1"/>
            </p:cNvSpPr>
            <p:nvPr/>
          </p:nvSpPr>
          <p:spPr bwMode="auto">
            <a:xfrm>
              <a:off x="6577969" y="2607396"/>
              <a:ext cx="157003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normal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y T:</a:t>
              </a:r>
            </a:p>
          </p:txBody>
        </p:sp>
      </p:grpSp>
      <p:sp>
        <p:nvSpPr>
          <p:cNvPr id="17445" name="Text Box 101"/>
          <p:cNvSpPr txBox="1">
            <a:spLocks noChangeArrowheads="1"/>
          </p:cNvSpPr>
          <p:nvPr/>
        </p:nvSpPr>
        <p:spPr bwMode="auto">
          <a:xfrm>
            <a:off x="6581144" y="2604942"/>
            <a:ext cx="3802064" cy="230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  T es mayor que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normal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excepto en los extremos, donde son iguales. T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normal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varía la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dirección del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movimiento de q manteniéndola a L</a:t>
            </a:r>
          </a:p>
        </p:txBody>
      </p: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4823966" y="1915195"/>
            <a:ext cx="1383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tangente</a:t>
            </a:r>
          </a:p>
        </p:txBody>
      </p:sp>
      <p:sp>
        <p:nvSpPr>
          <p:cNvPr id="96" name="CuadroTexto 95"/>
          <p:cNvSpPr txBox="1">
            <a:spLocks noChangeArrowheads="1"/>
          </p:cNvSpPr>
          <p:nvPr/>
        </p:nvSpPr>
        <p:spPr bwMode="auto">
          <a:xfrm>
            <a:off x="4915606" y="4076188"/>
            <a:ext cx="11747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normal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8490236-C471-4BCD-B91F-507E089F20A0}"/>
              </a:ext>
            </a:extLst>
          </p:cNvPr>
          <p:cNvGrpSpPr/>
          <p:nvPr/>
        </p:nvGrpSpPr>
        <p:grpSpPr>
          <a:xfrm>
            <a:off x="2911028" y="1591453"/>
            <a:ext cx="1084462" cy="639316"/>
            <a:chOff x="2911028" y="1591453"/>
            <a:chExt cx="1084462" cy="639316"/>
          </a:xfrm>
        </p:grpSpPr>
        <p:sp>
          <p:nvSpPr>
            <p:cNvPr id="17416" name="Text Box 42"/>
            <p:cNvSpPr txBox="1">
              <a:spLocks noChangeArrowheads="1"/>
            </p:cNvSpPr>
            <p:nvPr/>
          </p:nvSpPr>
          <p:spPr bwMode="auto">
            <a:xfrm>
              <a:off x="3642272" y="1833894"/>
              <a:ext cx="35321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</a:t>
              </a:r>
            </a:p>
          </p:txBody>
        </p:sp>
        <p:sp>
          <p:nvSpPr>
            <p:cNvPr id="17417" name="Freeform 43"/>
            <p:cNvSpPr>
              <a:spLocks/>
            </p:cNvSpPr>
            <p:nvPr/>
          </p:nvSpPr>
          <p:spPr bwMode="auto">
            <a:xfrm flipH="1">
              <a:off x="3443437" y="1599390"/>
              <a:ext cx="496887" cy="174625"/>
            </a:xfrm>
            <a:custGeom>
              <a:avLst/>
              <a:gdLst>
                <a:gd name="T0" fmla="*/ 0 w 313"/>
                <a:gd name="T1" fmla="*/ 0 h 110"/>
                <a:gd name="T2" fmla="*/ 2147483646 w 313"/>
                <a:gd name="T3" fmla="*/ 2147483646 h 110"/>
                <a:gd name="T4" fmla="*/ 2147483646 w 313"/>
                <a:gd name="T5" fmla="*/ 2147483646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pSp>
          <p:nvGrpSpPr>
            <p:cNvPr id="10" name="Grupo 9"/>
            <p:cNvGrpSpPr>
              <a:grpSpLocks/>
            </p:cNvGrpSpPr>
            <p:nvPr/>
          </p:nvGrpSpPr>
          <p:grpSpPr bwMode="auto">
            <a:xfrm>
              <a:off x="2911028" y="1591453"/>
              <a:ext cx="516534" cy="615795"/>
              <a:chOff x="2879689" y="1538288"/>
              <a:chExt cx="516534" cy="615795"/>
            </a:xfrm>
          </p:grpSpPr>
          <p:sp>
            <p:nvSpPr>
              <p:cNvPr id="17441" name="Text Box 42"/>
              <p:cNvSpPr txBox="1">
                <a:spLocks noChangeArrowheads="1"/>
              </p:cNvSpPr>
              <p:nvPr/>
            </p:nvSpPr>
            <p:spPr bwMode="auto">
              <a:xfrm>
                <a:off x="2879689" y="1757208"/>
                <a:ext cx="360364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</a:t>
                </a:r>
              </a:p>
            </p:txBody>
          </p:sp>
          <p:sp>
            <p:nvSpPr>
              <p:cNvPr id="17442" name="Freeform 43"/>
              <p:cNvSpPr>
                <a:spLocks/>
              </p:cNvSpPr>
              <p:nvPr/>
            </p:nvSpPr>
            <p:spPr bwMode="auto">
              <a:xfrm>
                <a:off x="2899335" y="1538288"/>
                <a:ext cx="496888" cy="174625"/>
              </a:xfrm>
              <a:custGeom>
                <a:avLst/>
                <a:gdLst>
                  <a:gd name="T0" fmla="*/ 0 w 313"/>
                  <a:gd name="T1" fmla="*/ 0 h 110"/>
                  <a:gd name="T2" fmla="*/ 2147483646 w 313"/>
                  <a:gd name="T3" fmla="*/ 2147483646 h 110"/>
                  <a:gd name="T4" fmla="*/ 2147483646 w 313"/>
                  <a:gd name="T5" fmla="*/ 2147483646 h 110"/>
                  <a:gd name="T6" fmla="*/ 0 60000 65536"/>
                  <a:gd name="T7" fmla="*/ 0 60000 65536"/>
                  <a:gd name="T8" fmla="*/ 0 60000 65536"/>
                  <a:gd name="T9" fmla="*/ 0 w 313"/>
                  <a:gd name="T10" fmla="*/ 0 h 110"/>
                  <a:gd name="T11" fmla="*/ 313 w 313"/>
                  <a:gd name="T12" fmla="*/ 110 h 1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3" h="110">
                    <a:moveTo>
                      <a:pt x="0" y="0"/>
                    </a:moveTo>
                    <a:cubicBezTo>
                      <a:pt x="28" y="27"/>
                      <a:pt x="57" y="55"/>
                      <a:pt x="109" y="73"/>
                    </a:cubicBezTo>
                    <a:cubicBezTo>
                      <a:pt x="161" y="91"/>
                      <a:pt x="237" y="100"/>
                      <a:pt x="313" y="11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arrow" w="lg" len="lg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BBD0F479-05A4-4EDF-9975-6E7368E21B69}"/>
              </a:ext>
            </a:extLst>
          </p:cNvPr>
          <p:cNvGrpSpPr/>
          <p:nvPr/>
        </p:nvGrpSpPr>
        <p:grpSpPr>
          <a:xfrm>
            <a:off x="5604614" y="5120360"/>
            <a:ext cx="1653535" cy="534366"/>
            <a:chOff x="9564378" y="4770084"/>
            <a:chExt cx="1653535" cy="534366"/>
          </a:xfrm>
        </p:grpSpPr>
        <p:sp>
          <p:nvSpPr>
            <p:cNvPr id="17456" name="Rectangle 117"/>
            <p:cNvSpPr>
              <a:spLocks noChangeArrowheads="1"/>
            </p:cNvSpPr>
            <p:nvPr/>
          </p:nvSpPr>
          <p:spPr bwMode="auto">
            <a:xfrm>
              <a:off x="9567930" y="4839372"/>
              <a:ext cx="1438275" cy="46507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7" name="Text Box 104"/>
            <p:cNvSpPr txBox="1">
              <a:spLocks noChangeArrowheads="1"/>
            </p:cNvSpPr>
            <p:nvPr/>
          </p:nvSpPr>
          <p:spPr bwMode="auto">
            <a:xfrm>
              <a:off x="9564378" y="4770084"/>
              <a:ext cx="1653535" cy="463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tangencial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</p:grpSp>
      <p:sp>
        <p:nvSpPr>
          <p:cNvPr id="99" name="Text Box 104"/>
          <p:cNvSpPr txBox="1">
            <a:spLocks noChangeArrowheads="1"/>
          </p:cNvSpPr>
          <p:nvPr/>
        </p:nvSpPr>
        <p:spPr bwMode="auto">
          <a:xfrm>
            <a:off x="5456701" y="5213317"/>
            <a:ext cx="5015081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  Tras superar la vertical, la frena, la para (al mismo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no hay rozamiento), y luego la lanza de vuelta hacia la vertical</a:t>
            </a:r>
          </a:p>
        </p:txBody>
      </p:sp>
      <p:sp>
        <p:nvSpPr>
          <p:cNvPr id="100" name="Rectangle 49"/>
          <p:cNvSpPr>
            <a:spLocks noChangeArrowheads="1"/>
          </p:cNvSpPr>
          <p:nvPr/>
        </p:nvSpPr>
        <p:spPr bwMode="auto">
          <a:xfrm>
            <a:off x="3973904" y="2389172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101" name="Rectangle 50"/>
          <p:cNvSpPr>
            <a:spLocks noChangeArrowheads="1"/>
          </p:cNvSpPr>
          <p:nvPr/>
        </p:nvSpPr>
        <p:spPr bwMode="auto">
          <a:xfrm>
            <a:off x="2946550" y="2389172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102" name="Rectangle 51"/>
          <p:cNvSpPr>
            <a:spLocks noChangeArrowheads="1"/>
          </p:cNvSpPr>
          <p:nvPr/>
        </p:nvSpPr>
        <p:spPr bwMode="auto">
          <a:xfrm>
            <a:off x="1582568" y="2389172"/>
            <a:ext cx="4572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104" name="Rectangle 49"/>
          <p:cNvSpPr>
            <a:spLocks noChangeArrowheads="1"/>
          </p:cNvSpPr>
          <p:nvPr/>
        </p:nvSpPr>
        <p:spPr bwMode="auto">
          <a:xfrm>
            <a:off x="6142693" y="1808810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105" name="Rectangle 50"/>
          <p:cNvSpPr>
            <a:spLocks noChangeArrowheads="1"/>
          </p:cNvSpPr>
          <p:nvPr/>
        </p:nvSpPr>
        <p:spPr bwMode="auto">
          <a:xfrm>
            <a:off x="1575283" y="5056952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106" name="Rectangle 51"/>
          <p:cNvSpPr>
            <a:spLocks noChangeArrowheads="1"/>
          </p:cNvSpPr>
          <p:nvPr/>
        </p:nvSpPr>
        <p:spPr bwMode="auto">
          <a:xfrm>
            <a:off x="5194262" y="5058422"/>
            <a:ext cx="4572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103" name="Text Box 48">
            <a:extLst>
              <a:ext uri="{FF2B5EF4-FFF2-40B4-BE49-F238E27FC236}">
                <a16:creationId xmlns:a16="http://schemas.microsoft.com/office/drawing/2014/main" id="{E69B0526-922C-446A-8DD4-B542E263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396" y="485775"/>
            <a:ext cx="43823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c)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9856990-82A9-4128-9101-9305DC29582E}"/>
              </a:ext>
            </a:extLst>
          </p:cNvPr>
          <p:cNvGrpSpPr/>
          <p:nvPr/>
        </p:nvGrpSpPr>
        <p:grpSpPr>
          <a:xfrm>
            <a:off x="2012108" y="787157"/>
            <a:ext cx="1424517" cy="2198687"/>
            <a:chOff x="2019294" y="780503"/>
            <a:chExt cx="1424517" cy="2198687"/>
          </a:xfrm>
        </p:grpSpPr>
        <p:pic>
          <p:nvPicPr>
            <p:cNvPr id="108" name="Picture 4">
              <a:extLst>
                <a:ext uri="{FF2B5EF4-FFF2-40B4-BE49-F238E27FC236}">
                  <a16:creationId xmlns:a16="http://schemas.microsoft.com/office/drawing/2014/main" id="{7CB53900-7F42-4587-9CE3-AF08E6C078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9294" y="2539453"/>
              <a:ext cx="439737" cy="43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" name="Line 37">
              <a:extLst>
                <a:ext uri="{FF2B5EF4-FFF2-40B4-BE49-F238E27FC236}">
                  <a16:creationId xmlns:a16="http://schemas.microsoft.com/office/drawing/2014/main" id="{47A24FC3-D435-4F8D-A2CF-5CE015636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5424" y="780503"/>
              <a:ext cx="1068387" cy="18288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10" name="Text Box 90">
            <a:extLst>
              <a:ext uri="{FF2B5EF4-FFF2-40B4-BE49-F238E27FC236}">
                <a16:creationId xmlns:a16="http://schemas.microsoft.com/office/drawing/2014/main" id="{0782544B-ED15-47CA-B179-269D88602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602" y="5007565"/>
            <a:ext cx="1697628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72000" bIns="72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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tang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= 0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35F0739-C2B1-43BC-A676-8B3F6FD0342F}"/>
              </a:ext>
            </a:extLst>
          </p:cNvPr>
          <p:cNvGrpSpPr/>
          <p:nvPr/>
        </p:nvGrpSpPr>
        <p:grpSpPr>
          <a:xfrm>
            <a:off x="2511404" y="5895616"/>
            <a:ext cx="1798637" cy="960690"/>
            <a:chOff x="2494979" y="5812488"/>
            <a:chExt cx="1798637" cy="960690"/>
          </a:xfrm>
        </p:grpSpPr>
        <p:sp>
          <p:nvSpPr>
            <p:cNvPr id="102490" name="Text Box 90"/>
            <p:cNvSpPr txBox="1">
              <a:spLocks noChangeArrowheads="1"/>
            </p:cNvSpPr>
            <p:nvPr/>
          </p:nvSpPr>
          <p:spPr bwMode="auto">
            <a:xfrm>
              <a:off x="2494979" y="6258440"/>
              <a:ext cx="1798637" cy="5147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lIns="108000" tIns="72000" rIns="72000" bIns="72000" anchor="ctr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No se para</a:t>
              </a:r>
            </a:p>
          </p:txBody>
        </p:sp>
        <p:sp>
          <p:nvSpPr>
            <p:cNvPr id="14" name="Flecha: hacia abajo 13">
              <a:extLst>
                <a:ext uri="{FF2B5EF4-FFF2-40B4-BE49-F238E27FC236}">
                  <a16:creationId xmlns:a16="http://schemas.microsoft.com/office/drawing/2014/main" id="{5126735E-350D-4CC2-9429-A067EB8C4062}"/>
                </a:ext>
              </a:extLst>
            </p:cNvPr>
            <p:cNvSpPr/>
            <p:nvPr/>
          </p:nvSpPr>
          <p:spPr bwMode="auto">
            <a:xfrm>
              <a:off x="3027585" y="5812488"/>
              <a:ext cx="733425" cy="387562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22B6DE5C-4351-414F-92DE-8C62B3985FA9}"/>
              </a:ext>
            </a:extLst>
          </p:cNvPr>
          <p:cNvGrpSpPr/>
          <p:nvPr/>
        </p:nvGrpSpPr>
        <p:grpSpPr>
          <a:xfrm>
            <a:off x="1666111" y="1810373"/>
            <a:ext cx="1161238" cy="2236787"/>
            <a:chOff x="452593" y="2054864"/>
            <a:chExt cx="1161238" cy="2236787"/>
          </a:xfrm>
        </p:grpSpPr>
        <p:grpSp>
          <p:nvGrpSpPr>
            <p:cNvPr id="17451" name="Group 108"/>
            <p:cNvGrpSpPr>
              <a:grpSpLocks/>
            </p:cNvGrpSpPr>
            <p:nvPr/>
          </p:nvGrpSpPr>
          <p:grpSpPr bwMode="auto">
            <a:xfrm flipH="1">
              <a:off x="452593" y="3137546"/>
              <a:ext cx="1108075" cy="811215"/>
              <a:chOff x="2552" y="1978"/>
              <a:chExt cx="698" cy="511"/>
            </a:xfrm>
          </p:grpSpPr>
          <p:sp>
            <p:nvSpPr>
              <p:cNvPr id="17454" name="Line 109"/>
              <p:cNvSpPr>
                <a:spLocks noChangeShapeType="1"/>
              </p:cNvSpPr>
              <p:nvPr/>
            </p:nvSpPr>
            <p:spPr bwMode="auto">
              <a:xfrm>
                <a:off x="2962" y="2016"/>
                <a:ext cx="288" cy="473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17455" name="Line 110"/>
              <p:cNvSpPr>
                <a:spLocks noChangeShapeType="1"/>
              </p:cNvSpPr>
              <p:nvPr/>
            </p:nvSpPr>
            <p:spPr bwMode="auto">
              <a:xfrm flipH="1">
                <a:off x="2552" y="1978"/>
                <a:ext cx="249" cy="159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  <p:sp>
          <p:nvSpPr>
            <p:cNvPr id="17452" name="Line 115"/>
            <p:cNvSpPr>
              <a:spLocks noChangeShapeType="1"/>
            </p:cNvSpPr>
            <p:nvPr/>
          </p:nvSpPr>
          <p:spPr bwMode="auto">
            <a:xfrm>
              <a:off x="971704" y="3212151"/>
              <a:ext cx="0" cy="107950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53" name="Line 117"/>
            <p:cNvSpPr>
              <a:spLocks noChangeShapeType="1"/>
            </p:cNvSpPr>
            <p:nvPr/>
          </p:nvSpPr>
          <p:spPr bwMode="auto">
            <a:xfrm flipV="1">
              <a:off x="1124881" y="2054864"/>
              <a:ext cx="488950" cy="78422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dirty="0"/>
            </a:p>
          </p:txBody>
        </p:sp>
      </p:grp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7377E5CC-93C1-4840-8428-76466E0E8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365" y="5860507"/>
            <a:ext cx="15905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1ª Ley de Newton</a:t>
            </a:r>
          </a:p>
        </p:txBody>
      </p:sp>
      <p:sp>
        <p:nvSpPr>
          <p:cNvPr id="9" name="Text Box 90">
            <a:extLst>
              <a:ext uri="{FF2B5EF4-FFF2-40B4-BE49-F238E27FC236}">
                <a16:creationId xmlns:a16="http://schemas.microsoft.com/office/drawing/2014/main" id="{1D28D8D9-4FCC-AADF-37A3-B41843D44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361" y="4994840"/>
            <a:ext cx="1993002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72000" bIns="72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pero </a:t>
            </a:r>
            <a:r>
              <a:rPr lang="es-ES" sz="2400" dirty="0">
                <a:solidFill>
                  <a:schemeClr val="tx1"/>
                </a:solidFill>
              </a:rPr>
              <a:t>v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s-ES" sz="2400">
                <a:solidFill>
                  <a:schemeClr val="tx1"/>
                </a:solidFill>
              </a:rPr>
              <a:t> 0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1" name="Text Box 90">
            <a:extLst>
              <a:ext uri="{FF2B5EF4-FFF2-40B4-BE49-F238E27FC236}">
                <a16:creationId xmlns:a16="http://schemas.microsoft.com/office/drawing/2014/main" id="{37A27124-1B8B-E56D-6880-0C274392E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568" y="5384738"/>
            <a:ext cx="4279195" cy="6532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72000" bIns="72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(T, P</a:t>
            </a:r>
            <a:r>
              <a:rPr lang="es-ES" sz="2400" baseline="-25000">
                <a:solidFill>
                  <a:schemeClr val="tx1"/>
                </a:solidFill>
              </a:rPr>
              <a:t>n</a:t>
            </a:r>
            <a:r>
              <a:rPr lang="es-ES" sz="2400">
                <a:solidFill>
                  <a:schemeClr val="tx1"/>
                </a:solidFill>
              </a:rPr>
              <a:t>, T – P, v:  son máximas)</a:t>
            </a:r>
            <a:endParaRPr lang="es-ES" sz="2400" dirty="0">
              <a:solidFill>
                <a:schemeClr val="tx1"/>
              </a:solidFill>
            </a:endParaRPr>
          </a:p>
          <a:p>
            <a:pPr algn="ctr" eaLnBrk="1" hangingPunct="1">
              <a:spcBef>
                <a:spcPts val="0"/>
              </a:spcBef>
            </a:pPr>
            <a:r>
              <a:rPr lang="es-ES" sz="900" dirty="0">
                <a:solidFill>
                  <a:schemeClr val="tx1"/>
                </a:solidFill>
              </a:rPr>
              <a:t> 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5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4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4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5" grpId="0" animBg="1"/>
      <p:bldP spid="254027" grpId="0"/>
      <p:bldP spid="254047" grpId="0" animBg="1"/>
      <p:bldP spid="3" grpId="0"/>
      <p:bldP spid="17448" grpId="0"/>
      <p:bldP spid="17445" grpId="0"/>
      <p:bldP spid="4" grpId="0"/>
      <p:bldP spid="96" grpId="0"/>
      <p:bldP spid="99" grpId="0"/>
      <p:bldP spid="100" grpId="0"/>
      <p:bldP spid="101" grpId="0"/>
      <p:bldP spid="102" grpId="0"/>
      <p:bldP spid="104" grpId="0"/>
      <p:bldP spid="105" grpId="0"/>
      <p:bldP spid="106" grpId="0"/>
      <p:bldP spid="110" grpId="0"/>
      <p:bldP spid="111" grpId="0"/>
      <p:bldP spid="9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6">
            <a:extLst>
              <a:ext uri="{FF2B5EF4-FFF2-40B4-BE49-F238E27FC236}">
                <a16:creationId xmlns:a16="http://schemas.microsoft.com/office/drawing/2014/main" id="{930B539D-06BB-4749-7095-44D559C840F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097" y="2540281"/>
            <a:ext cx="439738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Line 45"/>
          <p:cNvSpPr>
            <a:spLocks noChangeShapeType="1"/>
          </p:cNvSpPr>
          <p:nvPr/>
        </p:nvSpPr>
        <p:spPr bwMode="auto">
          <a:xfrm flipH="1">
            <a:off x="3449787" y="764365"/>
            <a:ext cx="0" cy="3959225"/>
          </a:xfrm>
          <a:prstGeom prst="line">
            <a:avLst/>
          </a:prstGeom>
          <a:noFill/>
          <a:ln w="25400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76824" y="2388378"/>
            <a:ext cx="1501775" cy="1646237"/>
            <a:chOff x="2454" y="1702"/>
            <a:chExt cx="946" cy="1037"/>
          </a:xfrm>
        </p:grpSpPr>
        <p:sp>
          <p:nvSpPr>
            <p:cNvPr id="17504" name="Line 4"/>
            <p:cNvSpPr>
              <a:spLocks noChangeShapeType="1"/>
            </p:cNvSpPr>
            <p:nvPr/>
          </p:nvSpPr>
          <p:spPr bwMode="auto">
            <a:xfrm rot="-5400000">
              <a:off x="2624" y="1532"/>
              <a:ext cx="506" cy="8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5" name="Line 5"/>
            <p:cNvSpPr>
              <a:spLocks noChangeShapeType="1"/>
            </p:cNvSpPr>
            <p:nvPr/>
          </p:nvSpPr>
          <p:spPr bwMode="auto">
            <a:xfrm>
              <a:off x="2982" y="2018"/>
              <a:ext cx="418" cy="72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pic>
        <p:nvPicPr>
          <p:cNvPr id="17412" name="Picture 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937" y="2524903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3" name="Group 8"/>
          <p:cNvGrpSpPr>
            <a:grpSpLocks/>
          </p:cNvGrpSpPr>
          <p:nvPr/>
        </p:nvGrpSpPr>
        <p:grpSpPr bwMode="auto">
          <a:xfrm>
            <a:off x="1803549" y="394478"/>
            <a:ext cx="3251200" cy="333375"/>
            <a:chOff x="1225" y="2029"/>
            <a:chExt cx="2048" cy="210"/>
          </a:xfrm>
        </p:grpSpPr>
        <p:sp>
          <p:nvSpPr>
            <p:cNvPr id="17473" name="Line 9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4" name="Line 10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5" name="Line 11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6" name="Line 12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7" name="Line 13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8" name="Line 14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9" name="Line 15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0" name="Line 16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1" name="Line 17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2" name="Line 18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3" name="Line 19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4" name="Line 20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5" name="Line 21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6" name="Line 22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7" name="Line 23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8" name="Line 24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89" name="Line 25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0" name="Line 26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1" name="Line 27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2" name="Line 28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3" name="Line 29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4" name="Line 30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5" name="Line 31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6" name="Line 32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7" name="Line 33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8" name="Line 34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99" name="Line 35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0" name="Line 36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1" name="Line 37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2" name="Line 38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03" name="Line 39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7414" name="Line 40"/>
          <p:cNvSpPr>
            <a:spLocks noChangeShapeType="1"/>
          </p:cNvSpPr>
          <p:nvPr/>
        </p:nvSpPr>
        <p:spPr bwMode="auto">
          <a:xfrm>
            <a:off x="3446612" y="738965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7415" name="Text Box 41"/>
          <p:cNvSpPr txBox="1">
            <a:spLocks noChangeArrowheads="1"/>
          </p:cNvSpPr>
          <p:nvPr/>
        </p:nvSpPr>
        <p:spPr bwMode="auto">
          <a:xfrm>
            <a:off x="4078437" y="1194578"/>
            <a:ext cx="87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pic>
        <p:nvPicPr>
          <p:cNvPr id="6" name="Picture 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249" y="2813828"/>
            <a:ext cx="43973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064149" y="3131328"/>
            <a:ext cx="1122363" cy="879475"/>
            <a:chOff x="2572" y="2170"/>
            <a:chExt cx="707" cy="554"/>
          </a:xfrm>
        </p:grpSpPr>
        <p:sp>
          <p:nvSpPr>
            <p:cNvPr id="17471" name="Line 51"/>
            <p:cNvSpPr>
              <a:spLocks noChangeShapeType="1"/>
            </p:cNvSpPr>
            <p:nvPr/>
          </p:nvSpPr>
          <p:spPr bwMode="auto">
            <a:xfrm flipV="1">
              <a:off x="2914" y="2469"/>
              <a:ext cx="365" cy="2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2" name="Line 52"/>
            <p:cNvSpPr>
              <a:spLocks noChangeShapeType="1"/>
            </p:cNvSpPr>
            <p:nvPr/>
          </p:nvSpPr>
          <p:spPr bwMode="auto">
            <a:xfrm flipH="1" flipV="1">
              <a:off x="2572" y="2170"/>
              <a:ext cx="320" cy="5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4030812" y="2848749"/>
            <a:ext cx="1109662" cy="788986"/>
            <a:chOff x="2551" y="1992"/>
            <a:chExt cx="699" cy="497"/>
          </a:xfrm>
        </p:grpSpPr>
        <p:sp>
          <p:nvSpPr>
            <p:cNvPr id="17469" name="Line 66"/>
            <p:cNvSpPr>
              <a:spLocks noChangeShapeType="1"/>
            </p:cNvSpPr>
            <p:nvPr/>
          </p:nvSpPr>
          <p:spPr bwMode="auto">
            <a:xfrm>
              <a:off x="2962" y="2016"/>
              <a:ext cx="288" cy="473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70" name="Line 67"/>
            <p:cNvSpPr>
              <a:spLocks noChangeShapeType="1"/>
            </p:cNvSpPr>
            <p:nvPr/>
          </p:nvSpPr>
          <p:spPr bwMode="auto">
            <a:xfrm flipH="1">
              <a:off x="2551" y="1992"/>
              <a:ext cx="249" cy="15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3987949" y="1743853"/>
            <a:ext cx="825500" cy="2354262"/>
            <a:chOff x="2524" y="1296"/>
            <a:chExt cx="520" cy="1483"/>
          </a:xfrm>
        </p:grpSpPr>
        <p:sp>
          <p:nvSpPr>
            <p:cNvPr id="17460" name="Line 49"/>
            <p:cNvSpPr>
              <a:spLocks noChangeShapeType="1"/>
            </p:cNvSpPr>
            <p:nvPr/>
          </p:nvSpPr>
          <p:spPr bwMode="auto">
            <a:xfrm flipV="1">
              <a:off x="2585" y="251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pSp>
          <p:nvGrpSpPr>
            <p:cNvPr id="17461" name="Group 91"/>
            <p:cNvGrpSpPr>
              <a:grpSpLocks/>
            </p:cNvGrpSpPr>
            <p:nvPr/>
          </p:nvGrpSpPr>
          <p:grpSpPr bwMode="auto">
            <a:xfrm>
              <a:off x="2524" y="1296"/>
              <a:ext cx="520" cy="1483"/>
              <a:chOff x="2524" y="1296"/>
              <a:chExt cx="520" cy="1483"/>
            </a:xfrm>
          </p:grpSpPr>
          <p:grpSp>
            <p:nvGrpSpPr>
              <p:cNvPr id="17462" name="Group 46"/>
              <p:cNvGrpSpPr>
                <a:grpSpLocks/>
              </p:cNvGrpSpPr>
              <p:nvPr/>
            </p:nvGrpSpPr>
            <p:grpSpPr bwMode="auto">
              <a:xfrm>
                <a:off x="2524" y="2025"/>
                <a:ext cx="399" cy="754"/>
                <a:chOff x="2524" y="2025"/>
                <a:chExt cx="399" cy="754"/>
              </a:xfrm>
            </p:grpSpPr>
            <p:sp>
              <p:nvSpPr>
                <p:cNvPr id="1746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2923" y="2025"/>
                  <a:ext cx="0" cy="680"/>
                </a:xfrm>
                <a:prstGeom prst="line">
                  <a:avLst/>
                </a:prstGeom>
                <a:noFill/>
                <a:ln w="76200">
                  <a:solidFill>
                    <a:srgbClr val="3333FF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/>
                </a:p>
              </p:txBody>
            </p:sp>
            <p:sp>
              <p:nvSpPr>
                <p:cNvPr id="17468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524" y="2491"/>
                  <a:ext cx="24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7463" name="Line 64"/>
              <p:cNvSpPr>
                <a:spLocks noChangeShapeType="1"/>
              </p:cNvSpPr>
              <p:nvPr/>
            </p:nvSpPr>
            <p:spPr bwMode="auto">
              <a:xfrm flipH="1" flipV="1">
                <a:off x="2531" y="1296"/>
                <a:ext cx="308" cy="494"/>
              </a:xfrm>
              <a:prstGeom prst="line">
                <a:avLst/>
              </a:prstGeom>
              <a:noFill/>
              <a:ln w="76200">
                <a:solidFill>
                  <a:srgbClr val="3333FF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grpSp>
            <p:nvGrpSpPr>
              <p:cNvPr id="17464" name="Group 68"/>
              <p:cNvGrpSpPr>
                <a:grpSpLocks/>
              </p:cNvGrpSpPr>
              <p:nvPr/>
            </p:nvGrpSpPr>
            <p:grpSpPr bwMode="auto">
              <a:xfrm>
                <a:off x="2813" y="1391"/>
                <a:ext cx="231" cy="288"/>
                <a:chOff x="2485" y="3861"/>
                <a:chExt cx="231" cy="288"/>
              </a:xfrm>
            </p:grpSpPr>
            <p:sp>
              <p:nvSpPr>
                <p:cNvPr id="17465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485" y="3861"/>
                  <a:ext cx="23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17466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536" y="3904"/>
                  <a:ext cx="13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17458" name="Line 72"/>
          <p:cNvSpPr>
            <a:spLocks noChangeShapeType="1"/>
          </p:cNvSpPr>
          <p:nvPr/>
        </p:nvSpPr>
        <p:spPr bwMode="auto">
          <a:xfrm flipH="1">
            <a:off x="3437087" y="3291669"/>
            <a:ext cx="0" cy="1079501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7425" name="Text Box 74"/>
          <p:cNvSpPr txBox="1">
            <a:spLocks noChangeArrowheads="1"/>
          </p:cNvSpPr>
          <p:nvPr/>
        </p:nvSpPr>
        <p:spPr bwMode="auto">
          <a:xfrm>
            <a:off x="2816713" y="4536737"/>
            <a:ext cx="1228642" cy="51473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Vertical</a:t>
            </a:r>
          </a:p>
        </p:txBody>
      </p:sp>
      <p:sp>
        <p:nvSpPr>
          <p:cNvPr id="254027" name="Text Box 75"/>
          <p:cNvSpPr txBox="1">
            <a:spLocks noChangeArrowheads="1"/>
          </p:cNvSpPr>
          <p:nvPr/>
        </p:nvSpPr>
        <p:spPr bwMode="auto">
          <a:xfrm>
            <a:off x="4966659" y="2624949"/>
            <a:ext cx="852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0</a:t>
            </a:r>
          </a:p>
        </p:txBody>
      </p:sp>
      <p:sp>
        <p:nvSpPr>
          <p:cNvPr id="17450" name="Line 107"/>
          <p:cNvSpPr>
            <a:spLocks noChangeShapeType="1"/>
          </p:cNvSpPr>
          <p:nvPr/>
        </p:nvSpPr>
        <p:spPr bwMode="auto">
          <a:xfrm flipH="1">
            <a:off x="2396203" y="742311"/>
            <a:ext cx="1068388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3" name="Text Box 75"/>
          <p:cNvSpPr txBox="1">
            <a:spLocks noChangeArrowheads="1"/>
          </p:cNvSpPr>
          <p:nvPr/>
        </p:nvSpPr>
        <p:spPr bwMode="auto">
          <a:xfrm>
            <a:off x="1175046" y="2705541"/>
            <a:ext cx="750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 = 0</a:t>
            </a:r>
          </a:p>
        </p:txBody>
      </p: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4823966" y="1915195"/>
            <a:ext cx="1383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</a:rPr>
              <a:t>tangente</a:t>
            </a:r>
          </a:p>
        </p:txBody>
      </p:sp>
      <p:sp>
        <p:nvSpPr>
          <p:cNvPr id="96" name="CuadroTexto 95"/>
          <p:cNvSpPr txBox="1">
            <a:spLocks noChangeArrowheads="1"/>
          </p:cNvSpPr>
          <p:nvPr/>
        </p:nvSpPr>
        <p:spPr bwMode="auto">
          <a:xfrm>
            <a:off x="4915606" y="4076188"/>
            <a:ext cx="11747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normal</a:t>
            </a:r>
          </a:p>
        </p:txBody>
      </p:sp>
      <p:sp>
        <p:nvSpPr>
          <p:cNvPr id="100" name="Rectangle 49"/>
          <p:cNvSpPr>
            <a:spLocks noChangeArrowheads="1"/>
          </p:cNvSpPr>
          <p:nvPr/>
        </p:nvSpPr>
        <p:spPr bwMode="auto">
          <a:xfrm>
            <a:off x="3973904" y="2389172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101" name="Rectangle 50"/>
          <p:cNvSpPr>
            <a:spLocks noChangeArrowheads="1"/>
          </p:cNvSpPr>
          <p:nvPr/>
        </p:nvSpPr>
        <p:spPr bwMode="auto">
          <a:xfrm>
            <a:off x="2946550" y="2389172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102" name="Rectangle 51"/>
          <p:cNvSpPr>
            <a:spLocks noChangeArrowheads="1"/>
          </p:cNvSpPr>
          <p:nvPr/>
        </p:nvSpPr>
        <p:spPr bwMode="auto">
          <a:xfrm>
            <a:off x="1582568" y="2389172"/>
            <a:ext cx="4572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109" name="Line 37">
            <a:extLst>
              <a:ext uri="{FF2B5EF4-FFF2-40B4-BE49-F238E27FC236}">
                <a16:creationId xmlns:a16="http://schemas.microsoft.com/office/drawing/2014/main" id="{47A24FC3-D435-4F8D-A2CF-5CE015636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75424" y="780503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22B6DE5C-4351-414F-92DE-8C62B3985FA9}"/>
              </a:ext>
            </a:extLst>
          </p:cNvPr>
          <p:cNvGrpSpPr/>
          <p:nvPr/>
        </p:nvGrpSpPr>
        <p:grpSpPr>
          <a:xfrm>
            <a:off x="1666107" y="1810373"/>
            <a:ext cx="1161242" cy="2236787"/>
            <a:chOff x="452589" y="2054864"/>
            <a:chExt cx="1161242" cy="2236787"/>
          </a:xfrm>
        </p:grpSpPr>
        <p:grpSp>
          <p:nvGrpSpPr>
            <p:cNvPr id="17451" name="Group 108"/>
            <p:cNvGrpSpPr>
              <a:grpSpLocks/>
            </p:cNvGrpSpPr>
            <p:nvPr/>
          </p:nvGrpSpPr>
          <p:grpSpPr bwMode="auto">
            <a:xfrm flipH="1">
              <a:off x="452589" y="3137546"/>
              <a:ext cx="1108076" cy="811215"/>
              <a:chOff x="2552" y="1978"/>
              <a:chExt cx="698" cy="511"/>
            </a:xfrm>
          </p:grpSpPr>
          <p:sp>
            <p:nvSpPr>
              <p:cNvPr id="17454" name="Line 109"/>
              <p:cNvSpPr>
                <a:spLocks noChangeShapeType="1"/>
              </p:cNvSpPr>
              <p:nvPr/>
            </p:nvSpPr>
            <p:spPr bwMode="auto">
              <a:xfrm>
                <a:off x="2962" y="2016"/>
                <a:ext cx="288" cy="473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17455" name="Line 110"/>
              <p:cNvSpPr>
                <a:spLocks noChangeShapeType="1"/>
              </p:cNvSpPr>
              <p:nvPr/>
            </p:nvSpPr>
            <p:spPr bwMode="auto">
              <a:xfrm flipH="1">
                <a:off x="2552" y="1978"/>
                <a:ext cx="249" cy="159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  <p:sp>
          <p:nvSpPr>
            <p:cNvPr id="17452" name="Line 115"/>
            <p:cNvSpPr>
              <a:spLocks noChangeShapeType="1"/>
            </p:cNvSpPr>
            <p:nvPr/>
          </p:nvSpPr>
          <p:spPr bwMode="auto">
            <a:xfrm>
              <a:off x="971704" y="3212151"/>
              <a:ext cx="0" cy="107950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53" name="Line 117"/>
            <p:cNvSpPr>
              <a:spLocks noChangeShapeType="1"/>
            </p:cNvSpPr>
            <p:nvPr/>
          </p:nvSpPr>
          <p:spPr bwMode="auto">
            <a:xfrm flipV="1">
              <a:off x="1124881" y="2054864"/>
              <a:ext cx="488950" cy="78422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dirty="0"/>
            </a:p>
          </p:txBody>
        </p:sp>
      </p:grpSp>
      <p:sp>
        <p:nvSpPr>
          <p:cNvPr id="111" name="111 CuadroTexto">
            <a:extLst>
              <a:ext uri="{FF2B5EF4-FFF2-40B4-BE49-F238E27FC236}">
                <a16:creationId xmlns:a16="http://schemas.microsoft.com/office/drawing/2014/main" id="{39F67C62-A020-46B5-B442-1EF570DBA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6" y="3222405"/>
            <a:ext cx="3983034" cy="236139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rozamiento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le va robando energía a la carga, disminuyendo la amplitud de su movimiento, hasta que queda parada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vertical (en el </a:t>
            </a:r>
            <a:r>
              <a:rPr lang="es-ES" sz="2400" b="1">
                <a:latin typeface="Arial" panose="020B0604020202020204" pitchFamily="34" charset="0"/>
              </a:rPr>
              <a:t>equilibrio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" name="111 CuadroTexto">
            <a:extLst>
              <a:ext uri="{FF2B5EF4-FFF2-40B4-BE49-F238E27FC236}">
                <a16:creationId xmlns:a16="http://schemas.microsoft.com/office/drawing/2014/main" id="{DEB3D2CC-4BE1-4F3F-8EF7-B2C3C5576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6" y="5937095"/>
            <a:ext cx="3983034" cy="83099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movimiento es igual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 de un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columpio</a:t>
            </a:r>
          </a:p>
        </p:txBody>
      </p:sp>
      <p:sp>
        <p:nvSpPr>
          <p:cNvPr id="113" name="Text Box 97">
            <a:extLst>
              <a:ext uri="{FF2B5EF4-FFF2-40B4-BE49-F238E27FC236}">
                <a16:creationId xmlns:a16="http://schemas.microsoft.com/office/drawing/2014/main" id="{8885CD37-B049-41A8-A4B6-15B99528E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6" y="2010565"/>
            <a:ext cx="3983034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36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proceso se repite y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oscila</a:t>
            </a:r>
            <a:r>
              <a:rPr lang="es-ES" sz="2400" dirty="0">
                <a:latin typeface="Arial" panose="020B0604020202020204" pitchFamily="34" charset="0"/>
              </a:rPr>
              <a:t> en torno a </a:t>
            </a:r>
            <a:r>
              <a:rPr lang="es-ES" sz="2400">
                <a:latin typeface="Arial" panose="020B0604020202020204" pitchFamily="34" charset="0"/>
              </a:rPr>
              <a:t>la vertical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98" name="Line 73">
            <a:extLst>
              <a:ext uri="{FF2B5EF4-FFF2-40B4-BE49-F238E27FC236}">
                <a16:creationId xmlns:a16="http://schemas.microsoft.com/office/drawing/2014/main" id="{B21CC0BD-7FD9-4B06-8B5F-6670A6620C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40262" y="1597803"/>
            <a:ext cx="0" cy="118745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8490236-C471-4BCD-B91F-507E089F20A0}"/>
              </a:ext>
            </a:extLst>
          </p:cNvPr>
          <p:cNvGrpSpPr/>
          <p:nvPr/>
        </p:nvGrpSpPr>
        <p:grpSpPr>
          <a:xfrm>
            <a:off x="2911028" y="1591453"/>
            <a:ext cx="1084462" cy="639316"/>
            <a:chOff x="2911028" y="1591453"/>
            <a:chExt cx="1084462" cy="639316"/>
          </a:xfrm>
        </p:grpSpPr>
        <p:sp>
          <p:nvSpPr>
            <p:cNvPr id="17416" name="Text Box 42"/>
            <p:cNvSpPr txBox="1">
              <a:spLocks noChangeArrowheads="1"/>
            </p:cNvSpPr>
            <p:nvPr/>
          </p:nvSpPr>
          <p:spPr bwMode="auto">
            <a:xfrm>
              <a:off x="3642272" y="1833894"/>
              <a:ext cx="35321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</a:t>
              </a:r>
            </a:p>
          </p:txBody>
        </p:sp>
        <p:sp>
          <p:nvSpPr>
            <p:cNvPr id="17417" name="Freeform 43"/>
            <p:cNvSpPr>
              <a:spLocks/>
            </p:cNvSpPr>
            <p:nvPr/>
          </p:nvSpPr>
          <p:spPr bwMode="auto">
            <a:xfrm flipH="1">
              <a:off x="3443437" y="1599390"/>
              <a:ext cx="496887" cy="174625"/>
            </a:xfrm>
            <a:custGeom>
              <a:avLst/>
              <a:gdLst>
                <a:gd name="T0" fmla="*/ 0 w 313"/>
                <a:gd name="T1" fmla="*/ 0 h 110"/>
                <a:gd name="T2" fmla="*/ 2147483646 w 313"/>
                <a:gd name="T3" fmla="*/ 2147483646 h 110"/>
                <a:gd name="T4" fmla="*/ 2147483646 w 313"/>
                <a:gd name="T5" fmla="*/ 2147483646 h 110"/>
                <a:gd name="T6" fmla="*/ 0 60000 65536"/>
                <a:gd name="T7" fmla="*/ 0 60000 65536"/>
                <a:gd name="T8" fmla="*/ 0 60000 65536"/>
                <a:gd name="T9" fmla="*/ 0 w 313"/>
                <a:gd name="T10" fmla="*/ 0 h 110"/>
                <a:gd name="T11" fmla="*/ 313 w 313"/>
                <a:gd name="T12" fmla="*/ 110 h 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110">
                  <a:moveTo>
                    <a:pt x="0" y="0"/>
                  </a:moveTo>
                  <a:cubicBezTo>
                    <a:pt x="28" y="27"/>
                    <a:pt x="57" y="55"/>
                    <a:pt x="109" y="73"/>
                  </a:cubicBezTo>
                  <a:cubicBezTo>
                    <a:pt x="161" y="91"/>
                    <a:pt x="237" y="100"/>
                    <a:pt x="313" y="11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pSp>
          <p:nvGrpSpPr>
            <p:cNvPr id="10" name="Grupo 9"/>
            <p:cNvGrpSpPr>
              <a:grpSpLocks/>
            </p:cNvGrpSpPr>
            <p:nvPr/>
          </p:nvGrpSpPr>
          <p:grpSpPr bwMode="auto">
            <a:xfrm>
              <a:off x="2911028" y="1591453"/>
              <a:ext cx="516534" cy="615795"/>
              <a:chOff x="2879689" y="1538288"/>
              <a:chExt cx="516534" cy="615795"/>
            </a:xfrm>
          </p:grpSpPr>
          <p:sp>
            <p:nvSpPr>
              <p:cNvPr id="17441" name="Text Box 42"/>
              <p:cNvSpPr txBox="1">
                <a:spLocks noChangeArrowheads="1"/>
              </p:cNvSpPr>
              <p:nvPr/>
            </p:nvSpPr>
            <p:spPr bwMode="auto">
              <a:xfrm>
                <a:off x="2879689" y="1757208"/>
                <a:ext cx="360364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</a:t>
                </a:r>
              </a:p>
            </p:txBody>
          </p:sp>
          <p:sp>
            <p:nvSpPr>
              <p:cNvPr id="17442" name="Freeform 43"/>
              <p:cNvSpPr>
                <a:spLocks/>
              </p:cNvSpPr>
              <p:nvPr/>
            </p:nvSpPr>
            <p:spPr bwMode="auto">
              <a:xfrm>
                <a:off x="2899335" y="1538288"/>
                <a:ext cx="496888" cy="174625"/>
              </a:xfrm>
              <a:custGeom>
                <a:avLst/>
                <a:gdLst>
                  <a:gd name="T0" fmla="*/ 0 w 313"/>
                  <a:gd name="T1" fmla="*/ 0 h 110"/>
                  <a:gd name="T2" fmla="*/ 2147483646 w 313"/>
                  <a:gd name="T3" fmla="*/ 2147483646 h 110"/>
                  <a:gd name="T4" fmla="*/ 2147483646 w 313"/>
                  <a:gd name="T5" fmla="*/ 2147483646 h 110"/>
                  <a:gd name="T6" fmla="*/ 0 60000 65536"/>
                  <a:gd name="T7" fmla="*/ 0 60000 65536"/>
                  <a:gd name="T8" fmla="*/ 0 60000 65536"/>
                  <a:gd name="T9" fmla="*/ 0 w 313"/>
                  <a:gd name="T10" fmla="*/ 0 h 110"/>
                  <a:gd name="T11" fmla="*/ 313 w 313"/>
                  <a:gd name="T12" fmla="*/ 110 h 1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3" h="110">
                    <a:moveTo>
                      <a:pt x="0" y="0"/>
                    </a:moveTo>
                    <a:cubicBezTo>
                      <a:pt x="28" y="27"/>
                      <a:pt x="57" y="55"/>
                      <a:pt x="109" y="73"/>
                    </a:cubicBezTo>
                    <a:cubicBezTo>
                      <a:pt x="161" y="91"/>
                      <a:pt x="237" y="100"/>
                      <a:pt x="313" y="11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arrow" w="lg" len="lg"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</p:grpSp>
      <p:sp>
        <p:nvSpPr>
          <p:cNvPr id="105" name="Rectangle 50">
            <a:extLst>
              <a:ext uri="{FF2B5EF4-FFF2-40B4-BE49-F238E27FC236}">
                <a16:creationId xmlns:a16="http://schemas.microsoft.com/office/drawing/2014/main" id="{2506B84E-E447-46FE-AE8F-AD830C60E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283" y="5056952"/>
            <a:ext cx="455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107" name="Text Box 90">
            <a:extLst>
              <a:ext uri="{FF2B5EF4-FFF2-40B4-BE49-F238E27FC236}">
                <a16:creationId xmlns:a16="http://schemas.microsoft.com/office/drawing/2014/main" id="{E44F1FBA-120F-4641-8913-BADB68840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602" y="5007565"/>
            <a:ext cx="1697628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72000" bIns="72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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tang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= 0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9D175E74-2A6C-489A-A3B0-FD0B10723595}"/>
              </a:ext>
            </a:extLst>
          </p:cNvPr>
          <p:cNvGrpSpPr/>
          <p:nvPr/>
        </p:nvGrpSpPr>
        <p:grpSpPr>
          <a:xfrm>
            <a:off x="2511404" y="5895616"/>
            <a:ext cx="1798637" cy="960690"/>
            <a:chOff x="2494979" y="5812488"/>
            <a:chExt cx="1798637" cy="960690"/>
          </a:xfrm>
        </p:grpSpPr>
        <p:sp>
          <p:nvSpPr>
            <p:cNvPr id="110" name="Text Box 90">
              <a:extLst>
                <a:ext uri="{FF2B5EF4-FFF2-40B4-BE49-F238E27FC236}">
                  <a16:creationId xmlns:a16="http://schemas.microsoft.com/office/drawing/2014/main" id="{7BA7AEF1-5FE2-410F-9A1F-52557E1DF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4979" y="6258440"/>
              <a:ext cx="1798637" cy="5147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lIns="108000" tIns="72000" rIns="72000" bIns="72000" anchor="ctr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No se para</a:t>
              </a:r>
            </a:p>
          </p:txBody>
        </p:sp>
        <p:sp>
          <p:nvSpPr>
            <p:cNvPr id="114" name="Flecha: hacia abajo 113">
              <a:extLst>
                <a:ext uri="{FF2B5EF4-FFF2-40B4-BE49-F238E27FC236}">
                  <a16:creationId xmlns:a16="http://schemas.microsoft.com/office/drawing/2014/main" id="{3962A6DB-E8D1-450D-981F-C3A36EAB4E71}"/>
                </a:ext>
              </a:extLst>
            </p:cNvPr>
            <p:cNvSpPr/>
            <p:nvPr/>
          </p:nvSpPr>
          <p:spPr bwMode="auto">
            <a:xfrm>
              <a:off x="3027585" y="5812488"/>
              <a:ext cx="733425" cy="387562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4775BE99-EE9E-4A2C-8CDC-820F9160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365" y="5860507"/>
            <a:ext cx="15905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1ª Ley de Newton</a:t>
            </a:r>
          </a:p>
        </p:txBody>
      </p:sp>
      <p:sp>
        <p:nvSpPr>
          <p:cNvPr id="116" name="Text Box 90">
            <a:extLst>
              <a:ext uri="{FF2B5EF4-FFF2-40B4-BE49-F238E27FC236}">
                <a16:creationId xmlns:a16="http://schemas.microsoft.com/office/drawing/2014/main" id="{12D4150A-5C31-4E1A-8150-DF22BBBFD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361" y="4994840"/>
            <a:ext cx="1993002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72000" bIns="72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pero </a:t>
            </a:r>
            <a:r>
              <a:rPr lang="es-ES" sz="2400" dirty="0">
                <a:solidFill>
                  <a:schemeClr val="tx1"/>
                </a:solidFill>
              </a:rPr>
              <a:t>v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s-ES" sz="2400">
                <a:solidFill>
                  <a:schemeClr val="tx1"/>
                </a:solidFill>
              </a:rPr>
              <a:t> 0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9" name="Text Box 90">
            <a:extLst>
              <a:ext uri="{FF2B5EF4-FFF2-40B4-BE49-F238E27FC236}">
                <a16:creationId xmlns:a16="http://schemas.microsoft.com/office/drawing/2014/main" id="{7C4BF493-0AEC-D2D5-3A03-C4A6872CF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568" y="5384738"/>
            <a:ext cx="4279195" cy="6532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72000" bIns="72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(T, P</a:t>
            </a:r>
            <a:r>
              <a:rPr lang="es-ES" sz="2400" baseline="-25000">
                <a:solidFill>
                  <a:schemeClr val="tx1"/>
                </a:solidFill>
              </a:rPr>
              <a:t>n</a:t>
            </a:r>
            <a:r>
              <a:rPr lang="es-ES" sz="2400">
                <a:solidFill>
                  <a:schemeClr val="tx1"/>
                </a:solidFill>
              </a:rPr>
              <a:t>, T – P, v:  son máximas)</a:t>
            </a:r>
            <a:endParaRPr lang="es-ES" sz="2400" dirty="0">
              <a:solidFill>
                <a:schemeClr val="tx1"/>
              </a:solidFill>
            </a:endParaRPr>
          </a:p>
          <a:p>
            <a:pPr algn="ctr" eaLnBrk="1" hangingPunct="1">
              <a:spcBef>
                <a:spcPts val="0"/>
              </a:spcBef>
            </a:pPr>
            <a:r>
              <a:rPr lang="es-ES" sz="900" dirty="0">
                <a:solidFill>
                  <a:schemeClr val="tx1"/>
                </a:solidFill>
              </a:rPr>
              <a:t> 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1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AutoShape 2"/>
          <p:cNvSpPr>
            <a:spLocks noChangeArrowheads="1"/>
          </p:cNvSpPr>
          <p:nvPr/>
        </p:nvSpPr>
        <p:spPr bwMode="auto">
          <a:xfrm>
            <a:off x="3447640" y="732006"/>
            <a:ext cx="1157287" cy="1968500"/>
          </a:xfrm>
          <a:prstGeom prst="rtTriangl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502" name="Line 56"/>
          <p:cNvSpPr>
            <a:spLocks noChangeShapeType="1"/>
          </p:cNvSpPr>
          <p:nvPr/>
        </p:nvSpPr>
        <p:spPr bwMode="auto">
          <a:xfrm flipH="1" flipV="1">
            <a:off x="1163007" y="2690206"/>
            <a:ext cx="3445352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pic>
        <p:nvPicPr>
          <p:cNvPr id="19459" name="Picture 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965" y="2524903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0" name="Group 8"/>
          <p:cNvGrpSpPr>
            <a:grpSpLocks/>
          </p:cNvGrpSpPr>
          <p:nvPr/>
        </p:nvGrpSpPr>
        <p:grpSpPr bwMode="auto">
          <a:xfrm>
            <a:off x="1804577" y="394478"/>
            <a:ext cx="3251200" cy="333375"/>
            <a:chOff x="1225" y="2029"/>
            <a:chExt cx="2048" cy="210"/>
          </a:xfrm>
        </p:grpSpPr>
        <p:sp>
          <p:nvSpPr>
            <p:cNvPr id="19516" name="Line 9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17" name="Line 10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18" name="Line 11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19" name="Line 12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0" name="Line 13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1" name="Line 14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2" name="Line 15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3" name="Line 16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4" name="Line 17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5" name="Line 18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6" name="Line 19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7" name="Line 20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8" name="Line 21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29" name="Line 22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0" name="Line 23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1" name="Line 24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2" name="Line 25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3" name="Line 26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4" name="Line 27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5" name="Line 28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6" name="Line 29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7" name="Line 30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8" name="Line 31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39" name="Line 32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0" name="Line 33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1" name="Line 34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2" name="Line 35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3" name="Line 36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4" name="Line 37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5" name="Line 38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46" name="Line 39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9461" name="Line 40"/>
          <p:cNvSpPr>
            <a:spLocks noChangeShapeType="1"/>
          </p:cNvSpPr>
          <p:nvPr/>
        </p:nvSpPr>
        <p:spPr bwMode="auto">
          <a:xfrm>
            <a:off x="3447640" y="738965"/>
            <a:ext cx="1068387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9462" name="Text Box 41"/>
          <p:cNvSpPr txBox="1">
            <a:spLocks noChangeArrowheads="1"/>
          </p:cNvSpPr>
          <p:nvPr/>
        </p:nvSpPr>
        <p:spPr bwMode="auto">
          <a:xfrm>
            <a:off x="4079465" y="1285065"/>
            <a:ext cx="877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9463" name="Text Box 42"/>
          <p:cNvSpPr txBox="1">
            <a:spLocks noChangeArrowheads="1"/>
          </p:cNvSpPr>
          <p:nvPr/>
        </p:nvSpPr>
        <p:spPr bwMode="auto">
          <a:xfrm>
            <a:off x="3640618" y="1863578"/>
            <a:ext cx="404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19464" name="Freeform 43"/>
          <p:cNvSpPr>
            <a:spLocks/>
          </p:cNvSpPr>
          <p:nvPr/>
        </p:nvSpPr>
        <p:spPr bwMode="auto">
          <a:xfrm flipH="1">
            <a:off x="3444465" y="1599390"/>
            <a:ext cx="496887" cy="174625"/>
          </a:xfrm>
          <a:custGeom>
            <a:avLst/>
            <a:gdLst>
              <a:gd name="T0" fmla="*/ 0 w 313"/>
              <a:gd name="T1" fmla="*/ 0 h 110"/>
              <a:gd name="T2" fmla="*/ 2147483646 w 313"/>
              <a:gd name="T3" fmla="*/ 2147483646 h 110"/>
              <a:gd name="T4" fmla="*/ 2147483646 w 313"/>
              <a:gd name="T5" fmla="*/ 2147483646 h 110"/>
              <a:gd name="T6" fmla="*/ 0 60000 65536"/>
              <a:gd name="T7" fmla="*/ 0 60000 65536"/>
              <a:gd name="T8" fmla="*/ 0 60000 65536"/>
              <a:gd name="T9" fmla="*/ 0 w 313"/>
              <a:gd name="T10" fmla="*/ 0 h 110"/>
              <a:gd name="T11" fmla="*/ 313 w 313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110">
                <a:moveTo>
                  <a:pt x="0" y="0"/>
                </a:moveTo>
                <a:cubicBezTo>
                  <a:pt x="28" y="27"/>
                  <a:pt x="57" y="55"/>
                  <a:pt x="109" y="73"/>
                </a:cubicBezTo>
                <a:cubicBezTo>
                  <a:pt x="161" y="91"/>
                  <a:pt x="237" y="100"/>
                  <a:pt x="313" y="11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arrow" w="lg" len="lg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pic>
        <p:nvPicPr>
          <p:cNvPr id="19466" name="Picture 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277" y="2813828"/>
            <a:ext cx="43973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7" name="Line 45"/>
          <p:cNvSpPr>
            <a:spLocks noChangeShapeType="1"/>
          </p:cNvSpPr>
          <p:nvPr/>
        </p:nvSpPr>
        <p:spPr bwMode="auto">
          <a:xfrm rot="19800000" flipH="1">
            <a:off x="2909477" y="862790"/>
            <a:ext cx="1068388" cy="1828800"/>
          </a:xfrm>
          <a:prstGeom prst="line">
            <a:avLst/>
          </a:prstGeom>
          <a:noFill/>
          <a:ln w="25400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54005" name="Text Box 53"/>
          <p:cNvSpPr txBox="1">
            <a:spLocks noChangeArrowheads="1"/>
          </p:cNvSpPr>
          <p:nvPr/>
        </p:nvSpPr>
        <p:spPr bwMode="auto">
          <a:xfrm>
            <a:off x="6331066" y="1854013"/>
            <a:ext cx="3625965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CINÉTICA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POTENCIAL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4006" name="Text Box 54"/>
          <p:cNvSpPr txBox="1">
            <a:spLocks noChangeArrowheads="1"/>
          </p:cNvSpPr>
          <p:nvPr/>
        </p:nvSpPr>
        <p:spPr bwMode="auto">
          <a:xfrm>
            <a:off x="5643005" y="3905432"/>
            <a:ext cx="456597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½ m v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½ m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m g (h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h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9503" name="Line 57"/>
          <p:cNvSpPr>
            <a:spLocks noChangeShapeType="1"/>
          </p:cNvSpPr>
          <p:nvPr/>
        </p:nvSpPr>
        <p:spPr bwMode="auto">
          <a:xfrm flipH="1" flipV="1">
            <a:off x="1529940" y="3015440"/>
            <a:ext cx="1687512" cy="1588"/>
          </a:xfrm>
          <a:prstGeom prst="line">
            <a:avLst/>
          </a:prstGeom>
          <a:noFill/>
          <a:ln w="25400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865200" y="2631265"/>
            <a:ext cx="442135" cy="396875"/>
            <a:chOff x="1819275" y="2578100"/>
            <a:chExt cx="442135" cy="396876"/>
          </a:xfrm>
        </p:grpSpPr>
        <p:sp>
          <p:nvSpPr>
            <p:cNvPr id="19514" name="Line 58"/>
            <p:cNvSpPr>
              <a:spLocks noChangeShapeType="1"/>
            </p:cNvSpPr>
            <p:nvPr/>
          </p:nvSpPr>
          <p:spPr bwMode="auto">
            <a:xfrm>
              <a:off x="2261410" y="2627313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515" name="Text Box 59"/>
            <p:cNvSpPr txBox="1">
              <a:spLocks noChangeArrowheads="1"/>
            </p:cNvSpPr>
            <p:nvPr/>
          </p:nvSpPr>
          <p:spPr bwMode="auto">
            <a:xfrm>
              <a:off x="1819275" y="2578100"/>
              <a:ext cx="3222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</a:t>
              </a:r>
            </a:p>
          </p:txBody>
        </p:sp>
      </p:grpSp>
      <p:sp>
        <p:nvSpPr>
          <p:cNvPr id="254013" name="Text Box 61"/>
          <p:cNvSpPr txBox="1">
            <a:spLocks noChangeArrowheads="1"/>
          </p:cNvSpPr>
          <p:nvPr/>
        </p:nvSpPr>
        <p:spPr bwMode="auto">
          <a:xfrm>
            <a:off x="5851549" y="5298441"/>
            <a:ext cx="39528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 = L – L cos = L (1 cos)</a:t>
            </a:r>
          </a:p>
        </p:txBody>
      </p:sp>
      <p:sp>
        <p:nvSpPr>
          <p:cNvPr id="254014" name="Text Box 62"/>
          <p:cNvSpPr txBox="1">
            <a:spLocks noChangeArrowheads="1"/>
          </p:cNvSpPr>
          <p:nvPr/>
        </p:nvSpPr>
        <p:spPr bwMode="auto">
          <a:xfrm>
            <a:off x="5881712" y="5815132"/>
            <a:ext cx="35147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( 2 g L (1  cos) )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½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254015" name="Text Box 63"/>
          <p:cNvSpPr txBox="1">
            <a:spLocks noChangeArrowheads="1"/>
          </p:cNvSpPr>
          <p:nvPr/>
        </p:nvSpPr>
        <p:spPr bwMode="auto">
          <a:xfrm>
            <a:off x="5869822" y="6347292"/>
            <a:ext cx="1901262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 = 1,62 m/s</a:t>
            </a:r>
          </a:p>
        </p:txBody>
      </p:sp>
      <p:sp>
        <p:nvSpPr>
          <p:cNvPr id="19477" name="Text Box 74"/>
          <p:cNvSpPr txBox="1">
            <a:spLocks noChangeArrowheads="1"/>
          </p:cNvSpPr>
          <p:nvPr/>
        </p:nvSpPr>
        <p:spPr bwMode="auto">
          <a:xfrm>
            <a:off x="2779641" y="3681611"/>
            <a:ext cx="1228642" cy="51473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Vertical</a:t>
            </a:r>
          </a:p>
        </p:txBody>
      </p:sp>
      <p:sp>
        <p:nvSpPr>
          <p:cNvPr id="19478" name="Text Box 75"/>
          <p:cNvSpPr txBox="1">
            <a:spLocks noChangeArrowheads="1"/>
          </p:cNvSpPr>
          <p:nvPr/>
        </p:nvSpPr>
        <p:spPr bwMode="auto">
          <a:xfrm>
            <a:off x="4199413" y="3022697"/>
            <a:ext cx="852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72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0</a:t>
            </a:r>
          </a:p>
        </p:txBody>
      </p:sp>
      <p:sp>
        <p:nvSpPr>
          <p:cNvPr id="19479" name="Text Box 76"/>
          <p:cNvSpPr txBox="1">
            <a:spLocks noChangeArrowheads="1"/>
          </p:cNvSpPr>
          <p:nvPr/>
        </p:nvSpPr>
        <p:spPr bwMode="auto">
          <a:xfrm>
            <a:off x="5115562" y="460329"/>
            <a:ext cx="1413950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¿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vertical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?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Group 80"/>
          <p:cNvGrpSpPr>
            <a:grpSpLocks/>
          </p:cNvGrpSpPr>
          <p:nvPr/>
        </p:nvGrpSpPr>
        <p:grpSpPr bwMode="auto">
          <a:xfrm>
            <a:off x="5881712" y="4807480"/>
            <a:ext cx="1792287" cy="463550"/>
            <a:chOff x="4095" y="1998"/>
            <a:chExt cx="1129" cy="292"/>
          </a:xfrm>
        </p:grpSpPr>
        <p:sp>
          <p:nvSpPr>
            <p:cNvPr id="19512" name="Text Box 81"/>
            <p:cNvSpPr txBox="1">
              <a:spLocks noChangeArrowheads="1"/>
            </p:cNvSpPr>
            <p:nvPr/>
          </p:nvSpPr>
          <p:spPr bwMode="auto">
            <a:xfrm>
              <a:off x="4095" y="1998"/>
              <a:ext cx="112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 =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 2  g  d</a:t>
              </a:r>
            </a:p>
          </p:txBody>
        </p:sp>
        <p:sp>
          <p:nvSpPr>
            <p:cNvPr id="19513" name="Line 82"/>
            <p:cNvSpPr>
              <a:spLocks noChangeShapeType="1"/>
            </p:cNvSpPr>
            <p:nvPr/>
          </p:nvSpPr>
          <p:spPr bwMode="auto">
            <a:xfrm>
              <a:off x="4564" y="2034"/>
              <a:ext cx="6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5" name="Group 88"/>
          <p:cNvGrpSpPr>
            <a:grpSpLocks/>
          </p:cNvGrpSpPr>
          <p:nvPr/>
        </p:nvGrpSpPr>
        <p:grpSpPr bwMode="auto">
          <a:xfrm>
            <a:off x="9289490" y="4423768"/>
            <a:ext cx="752475" cy="636588"/>
            <a:chOff x="5957" y="1721"/>
            <a:chExt cx="474" cy="401"/>
          </a:xfrm>
        </p:grpSpPr>
        <p:sp>
          <p:nvSpPr>
            <p:cNvPr id="19507" name="Line 83"/>
            <p:cNvSpPr>
              <a:spLocks noChangeShapeType="1"/>
            </p:cNvSpPr>
            <p:nvPr/>
          </p:nvSpPr>
          <p:spPr bwMode="auto">
            <a:xfrm>
              <a:off x="5957" y="1721"/>
              <a:ext cx="47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10" name="Line 86"/>
            <p:cNvSpPr>
              <a:spLocks noChangeShapeType="1"/>
            </p:cNvSpPr>
            <p:nvPr/>
          </p:nvSpPr>
          <p:spPr bwMode="auto">
            <a:xfrm flipV="1">
              <a:off x="6154" y="1728"/>
              <a:ext cx="0" cy="1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11" name="Text Box 87"/>
            <p:cNvSpPr txBox="1">
              <a:spLocks noChangeArrowheads="1"/>
            </p:cNvSpPr>
            <p:nvPr/>
          </p:nvSpPr>
          <p:spPr bwMode="auto">
            <a:xfrm>
              <a:off x="5979" y="1830"/>
              <a:ext cx="38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 d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7459" name="Text Box 115"/>
          <p:cNvSpPr txBox="1">
            <a:spLocks noChangeArrowheads="1"/>
          </p:cNvSpPr>
          <p:nvPr/>
        </p:nvSpPr>
        <p:spPr bwMode="auto">
          <a:xfrm>
            <a:off x="6903480" y="465550"/>
            <a:ext cx="2393604" cy="88407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Conservación de la Energía</a:t>
            </a:r>
          </a:p>
        </p:txBody>
      </p:sp>
      <p:grpSp>
        <p:nvGrpSpPr>
          <p:cNvPr id="57462" name="Group 118"/>
          <p:cNvGrpSpPr>
            <a:grpSpLocks/>
          </p:cNvGrpSpPr>
          <p:nvPr/>
        </p:nvGrpSpPr>
        <p:grpSpPr bwMode="auto">
          <a:xfrm>
            <a:off x="7086018" y="4190253"/>
            <a:ext cx="785814" cy="576263"/>
            <a:chOff x="4721" y="1755"/>
            <a:chExt cx="495" cy="363"/>
          </a:xfrm>
        </p:grpSpPr>
        <p:sp>
          <p:nvSpPr>
            <p:cNvPr id="2" name="Text Box 79"/>
            <p:cNvSpPr txBox="1">
              <a:spLocks noChangeArrowheads="1"/>
            </p:cNvSpPr>
            <p:nvPr/>
          </p:nvSpPr>
          <p:spPr bwMode="auto">
            <a:xfrm>
              <a:off x="4977" y="1826"/>
              <a:ext cx="22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9504" name="Freeform 117"/>
            <p:cNvSpPr>
              <a:spLocks/>
            </p:cNvSpPr>
            <p:nvPr/>
          </p:nvSpPr>
          <p:spPr bwMode="auto">
            <a:xfrm>
              <a:off x="4721" y="1755"/>
              <a:ext cx="495" cy="160"/>
            </a:xfrm>
            <a:custGeom>
              <a:avLst/>
              <a:gdLst>
                <a:gd name="T0" fmla="*/ 665 w 665"/>
                <a:gd name="T1" fmla="*/ 0 h 192"/>
                <a:gd name="T2" fmla="*/ 0 w 665"/>
                <a:gd name="T3" fmla="*/ 0 h 192"/>
                <a:gd name="T4" fmla="*/ 370 w 665"/>
                <a:gd name="T5" fmla="*/ 192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5" h="192">
                  <a:moveTo>
                    <a:pt x="665" y="0"/>
                  </a:moveTo>
                  <a:lnTo>
                    <a:pt x="0" y="0"/>
                  </a:lnTo>
                  <a:lnTo>
                    <a:pt x="370" y="192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>
              <a:noAutofit/>
            </a:bodyPr>
            <a:lstStyle/>
            <a:p>
              <a:endParaRPr lang="en-GB" sz="2400"/>
            </a:p>
          </p:txBody>
        </p:sp>
      </p:grpSp>
      <p:sp>
        <p:nvSpPr>
          <p:cNvPr id="57463" name="Text Box 119"/>
          <p:cNvSpPr txBox="1">
            <a:spLocks noChangeArrowheads="1"/>
          </p:cNvSpPr>
          <p:nvPr/>
        </p:nvSpPr>
        <p:spPr bwMode="auto">
          <a:xfrm>
            <a:off x="6001780" y="2401488"/>
            <a:ext cx="4251013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Variación E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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Variación E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      (&gt; 0)                   (&lt; 0)</a:t>
            </a:r>
            <a:endParaRPr lang="es-ES" sz="2400" baseline="-250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730126" y="738965"/>
            <a:ext cx="427038" cy="2289175"/>
            <a:chOff x="2670820" y="685800"/>
            <a:chExt cx="426964" cy="2289175"/>
          </a:xfrm>
        </p:grpSpPr>
        <p:sp>
          <p:nvSpPr>
            <p:cNvPr id="19496" name="Line 58"/>
            <p:cNvSpPr>
              <a:spLocks noChangeShapeType="1"/>
            </p:cNvSpPr>
            <p:nvPr/>
          </p:nvSpPr>
          <p:spPr bwMode="auto">
            <a:xfrm flipH="1">
              <a:off x="3061784" y="685800"/>
              <a:ext cx="36000" cy="2289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9497" name="CuadroTexto 1"/>
            <p:cNvSpPr txBox="1">
              <a:spLocks noChangeArrowheads="1"/>
            </p:cNvSpPr>
            <p:nvPr/>
          </p:nvSpPr>
          <p:spPr bwMode="auto">
            <a:xfrm>
              <a:off x="2670820" y="1666815"/>
              <a:ext cx="3561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chemeClr val="tx1"/>
                  </a:solidFill>
                </a:rPr>
                <a:t>L</a:t>
              </a:r>
            </a:p>
          </p:txBody>
        </p:sp>
      </p:grpSp>
      <p:grpSp>
        <p:nvGrpSpPr>
          <p:cNvPr id="84" name="Grupo 83"/>
          <p:cNvGrpSpPr>
            <a:grpSpLocks/>
          </p:cNvGrpSpPr>
          <p:nvPr/>
        </p:nvGrpSpPr>
        <p:grpSpPr bwMode="auto">
          <a:xfrm>
            <a:off x="1303986" y="2669845"/>
            <a:ext cx="470000" cy="4316412"/>
            <a:chOff x="3027658" y="685800"/>
            <a:chExt cx="419734" cy="2289175"/>
          </a:xfrm>
        </p:grpSpPr>
        <p:sp>
          <p:nvSpPr>
            <p:cNvPr id="19494" name="Line 58"/>
            <p:cNvSpPr>
              <a:spLocks noChangeShapeType="1"/>
            </p:cNvSpPr>
            <p:nvPr/>
          </p:nvSpPr>
          <p:spPr bwMode="auto">
            <a:xfrm flipH="1">
              <a:off x="3061784" y="685800"/>
              <a:ext cx="0" cy="2289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495" name="CuadroTexto 85"/>
            <p:cNvSpPr txBox="1">
              <a:spLocks noChangeArrowheads="1"/>
            </p:cNvSpPr>
            <p:nvPr/>
          </p:nvSpPr>
          <p:spPr bwMode="auto">
            <a:xfrm>
              <a:off x="3027658" y="1696668"/>
              <a:ext cx="419734" cy="24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chemeClr val="tx1"/>
                  </a:solidFill>
                </a:rPr>
                <a:t>h</a:t>
              </a:r>
              <a:r>
                <a:rPr lang="es-ES" sz="2400" baseline="-25000" dirty="0">
                  <a:solidFill>
                    <a:schemeClr val="tx1"/>
                  </a:solidFill>
                </a:rPr>
                <a:t>0</a:t>
              </a:r>
              <a:endParaRPr lang="es-ES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upo 86"/>
          <p:cNvGrpSpPr>
            <a:grpSpLocks/>
          </p:cNvGrpSpPr>
          <p:nvPr/>
        </p:nvGrpSpPr>
        <p:grpSpPr bwMode="auto">
          <a:xfrm>
            <a:off x="1821077" y="3004807"/>
            <a:ext cx="376295" cy="3995738"/>
            <a:chOff x="3061783" y="848178"/>
            <a:chExt cx="336868" cy="2119401"/>
          </a:xfrm>
        </p:grpSpPr>
        <p:sp>
          <p:nvSpPr>
            <p:cNvPr id="19492" name="Line 58"/>
            <p:cNvSpPr>
              <a:spLocks noChangeShapeType="1"/>
            </p:cNvSpPr>
            <p:nvPr/>
          </p:nvSpPr>
          <p:spPr bwMode="auto">
            <a:xfrm flipH="1">
              <a:off x="3061783" y="848178"/>
              <a:ext cx="0" cy="21194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9493" name="CuadroTexto 88"/>
            <p:cNvSpPr txBox="1">
              <a:spLocks noChangeArrowheads="1"/>
            </p:cNvSpPr>
            <p:nvPr/>
          </p:nvSpPr>
          <p:spPr bwMode="auto">
            <a:xfrm>
              <a:off x="3079784" y="1696668"/>
              <a:ext cx="318867" cy="244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chemeClr val="tx1"/>
                  </a:solidFill>
                </a:rPr>
                <a:t>h</a:t>
              </a:r>
              <a:endParaRPr lang="es-ES" sz="2400" baseline="-25000">
                <a:solidFill>
                  <a:schemeClr val="tx1"/>
                </a:solidFill>
              </a:endParaRPr>
            </a:p>
          </p:txBody>
        </p:sp>
      </p:grpSp>
      <p:sp>
        <p:nvSpPr>
          <p:cNvPr id="90" name="CuadroTexto 89"/>
          <p:cNvSpPr txBox="1">
            <a:spLocks noChangeArrowheads="1"/>
          </p:cNvSpPr>
          <p:nvPr/>
        </p:nvSpPr>
        <p:spPr bwMode="auto">
          <a:xfrm>
            <a:off x="6911253" y="1331447"/>
            <a:ext cx="23936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(sin rozamiento)</a:t>
            </a:r>
          </a:p>
        </p:txBody>
      </p:sp>
      <p:sp>
        <p:nvSpPr>
          <p:cNvPr id="7" name="Forma libre 6"/>
          <p:cNvSpPr/>
          <p:nvPr/>
        </p:nvSpPr>
        <p:spPr bwMode="auto">
          <a:xfrm>
            <a:off x="3746729" y="2854731"/>
            <a:ext cx="564204" cy="175098"/>
          </a:xfrm>
          <a:custGeom>
            <a:avLst/>
            <a:gdLst>
              <a:gd name="connsiteX0" fmla="*/ 564204 w 564204"/>
              <a:gd name="connsiteY0" fmla="*/ 0 h 175098"/>
              <a:gd name="connsiteX1" fmla="*/ 272374 w 564204"/>
              <a:gd name="connsiteY1" fmla="*/ 145915 h 175098"/>
              <a:gd name="connsiteX2" fmla="*/ 0 w 564204"/>
              <a:gd name="connsiteY2" fmla="*/ 175098 h 175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175098">
                <a:moveTo>
                  <a:pt x="564204" y="0"/>
                </a:moveTo>
                <a:cubicBezTo>
                  <a:pt x="465306" y="58366"/>
                  <a:pt x="366408" y="116732"/>
                  <a:pt x="272374" y="145915"/>
                </a:cubicBezTo>
                <a:cubicBezTo>
                  <a:pt x="178340" y="175098"/>
                  <a:pt x="89170" y="175098"/>
                  <a:pt x="0" y="175098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6" name="Text Box 53"/>
          <p:cNvSpPr txBox="1">
            <a:spLocks noChangeArrowheads="1"/>
          </p:cNvSpPr>
          <p:nvPr/>
        </p:nvSpPr>
        <p:spPr bwMode="auto">
          <a:xfrm>
            <a:off x="6465284" y="3261130"/>
            <a:ext cx="331459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 (E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CAA66532-7318-4C20-B0F4-7FA7591FDC90}"/>
              </a:ext>
            </a:extLst>
          </p:cNvPr>
          <p:cNvGrpSpPr/>
          <p:nvPr/>
        </p:nvGrpSpPr>
        <p:grpSpPr>
          <a:xfrm>
            <a:off x="2539826" y="5016311"/>
            <a:ext cx="2954788" cy="1767257"/>
            <a:chOff x="2534617" y="5165919"/>
            <a:chExt cx="2954788" cy="1767257"/>
          </a:xfrm>
        </p:grpSpPr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D72E8D44-8474-4233-AA5D-DDA2F7840D87}"/>
                </a:ext>
              </a:extLst>
            </p:cNvPr>
            <p:cNvGrpSpPr/>
            <p:nvPr/>
          </p:nvGrpSpPr>
          <p:grpSpPr>
            <a:xfrm>
              <a:off x="2534617" y="5165919"/>
              <a:ext cx="2954788" cy="1767257"/>
              <a:chOff x="2534617" y="5165919"/>
              <a:chExt cx="2954788" cy="1767257"/>
            </a:xfrm>
          </p:grpSpPr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B932A021-8705-4DF8-9CB8-CD670979A7D4}"/>
                  </a:ext>
                </a:extLst>
              </p:cNvPr>
              <p:cNvSpPr/>
              <p:nvPr/>
            </p:nvSpPr>
            <p:spPr bwMode="auto">
              <a:xfrm>
                <a:off x="2534617" y="5165919"/>
                <a:ext cx="2230343" cy="1767257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3" name="Text Box 93">
                <a:extLst>
                  <a:ext uri="{FF2B5EF4-FFF2-40B4-BE49-F238E27FC236}">
                    <a16:creationId xmlns:a16="http://schemas.microsoft.com/office/drawing/2014/main" id="{56EA5F4B-76EC-4203-BA9A-F0F42663D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4850" y="5187185"/>
                <a:ext cx="1204282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L = 1 m</a:t>
                </a:r>
              </a:p>
            </p:txBody>
          </p:sp>
          <p:sp>
            <p:nvSpPr>
              <p:cNvPr id="94" name="Text Box 46">
                <a:extLst>
                  <a:ext uri="{FF2B5EF4-FFF2-40B4-BE49-F238E27FC236}">
                    <a16:creationId xmlns:a16="http://schemas.microsoft.com/office/drawing/2014/main" id="{CD00A926-D909-4E56-A8D5-2D86ED0EB7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678" y="6308864"/>
                <a:ext cx="2915727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g </a:t>
                </a:r>
                <a:r>
                  <a:rPr lang="es-ES" sz="2400" dirty="0">
                    <a:latin typeface="Arial" panose="020B0604020202020204" pitchFamily="34" charset="0"/>
                    <a:sym typeface="Symbol" panose="05050102010706020507" pitchFamily="18" charset="2"/>
                  </a:rPr>
                  <a:t>=</a:t>
                </a:r>
                <a:r>
                  <a:rPr lang="es-ES" sz="2400" dirty="0">
                    <a:latin typeface="Arial" panose="020B0604020202020204" pitchFamily="34" charset="0"/>
                  </a:rPr>
                  <a:t> 9,81</a:t>
                </a:r>
                <a:r>
                  <a:rPr lang="es-ES" sz="2400" dirty="0">
                    <a:latin typeface="Arial" panose="020B0604020202020204" pitchFamily="34" charset="0"/>
                    <a:sym typeface="Symbol" panose="05050102010706020507" pitchFamily="18" charset="2"/>
                  </a:rPr>
                  <a:t> m s</a:t>
                </a:r>
                <a:r>
                  <a:rPr lang="es-ES" sz="2400" baseline="30000" dirty="0">
                    <a:latin typeface="Arial" panose="020B0604020202020204" pitchFamily="34" charset="0"/>
                    <a:sym typeface="Symbol" panose="05050102010706020507" pitchFamily="18" charset="2"/>
                  </a:rPr>
                  <a:t>2</a:t>
                </a:r>
              </a:p>
            </p:txBody>
          </p:sp>
        </p:grpSp>
        <p:sp>
          <p:nvSpPr>
            <p:cNvPr id="91" name="Text Box 45">
              <a:extLst>
                <a:ext uri="{FF2B5EF4-FFF2-40B4-BE49-F238E27FC236}">
                  <a16:creationId xmlns:a16="http://schemas.microsoft.com/office/drawing/2014/main" id="{C1F58277-0614-4382-96AC-F0EEF434D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2803" y="5753605"/>
              <a:ext cx="974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= 30º</a:t>
              </a:r>
            </a:p>
          </p:txBody>
        </p:sp>
      </p:grpSp>
      <p:sp>
        <p:nvSpPr>
          <p:cNvPr id="95" name="Rectangle 4">
            <a:extLst>
              <a:ext uri="{FF2B5EF4-FFF2-40B4-BE49-F238E27FC236}">
                <a16:creationId xmlns:a16="http://schemas.microsoft.com/office/drawing/2014/main" id="{FBBB3797-0EB5-4453-A0CC-7C641C5D7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55" y="2509568"/>
            <a:ext cx="179387" cy="179388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556B65-57ED-4D38-2096-EDCDED91D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856" y="6371356"/>
            <a:ext cx="26997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(g limita a 3 cifras)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7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54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5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5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animBg="1"/>
      <p:bldP spid="19502" grpId="0" animBg="1"/>
      <p:bldP spid="254005" grpId="0" animBg="1"/>
      <p:bldP spid="254006" grpId="0"/>
      <p:bldP spid="19503" grpId="0" animBg="1"/>
      <p:bldP spid="254013" grpId="0"/>
      <p:bldP spid="254014" grpId="0"/>
      <p:bldP spid="254015" grpId="0" animBg="1"/>
      <p:bldP spid="19478" grpId="0"/>
      <p:bldP spid="19479" grpId="0" animBg="1"/>
      <p:bldP spid="57459" grpId="0" animBg="1"/>
      <p:bldP spid="57463" grpId="0"/>
      <p:bldP spid="90" grpId="0"/>
      <p:bldP spid="86" grpId="0" animBg="1"/>
      <p:bldP spid="95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582D99D3-CBD0-439E-96C3-080AADADA756}"/>
              </a:ext>
            </a:extLst>
          </p:cNvPr>
          <p:cNvSpPr/>
          <p:nvPr/>
        </p:nvSpPr>
        <p:spPr bwMode="auto">
          <a:xfrm>
            <a:off x="7293936" y="4192476"/>
            <a:ext cx="1903228" cy="779228"/>
          </a:xfrm>
          <a:prstGeom prst="rect">
            <a:avLst/>
          </a:prstGeom>
          <a:solidFill>
            <a:srgbClr val="99CC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56003" name="Text Box 3"/>
          <p:cNvSpPr txBox="1">
            <a:spLocks noChangeArrowheads="1"/>
          </p:cNvSpPr>
          <p:nvPr/>
        </p:nvSpPr>
        <p:spPr bwMode="auto">
          <a:xfrm>
            <a:off x="2554838" y="5888778"/>
            <a:ext cx="2529640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 = 22,5 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N/C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535" y="2519476"/>
            <a:ext cx="439738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09" name="Group 5"/>
          <p:cNvGrpSpPr>
            <a:grpSpLocks/>
          </p:cNvGrpSpPr>
          <p:nvPr/>
        </p:nvGrpSpPr>
        <p:grpSpPr bwMode="auto">
          <a:xfrm>
            <a:off x="1799148" y="389051"/>
            <a:ext cx="3251200" cy="333375"/>
            <a:chOff x="1225" y="2029"/>
            <a:chExt cx="2048" cy="210"/>
          </a:xfrm>
        </p:grpSpPr>
        <p:sp>
          <p:nvSpPr>
            <p:cNvPr id="21552" name="Line 6"/>
            <p:cNvSpPr>
              <a:spLocks noChangeShapeType="1"/>
            </p:cNvSpPr>
            <p:nvPr/>
          </p:nvSpPr>
          <p:spPr bwMode="auto">
            <a:xfrm>
              <a:off x="1371" y="2236"/>
              <a:ext cx="19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3" name="Line 7"/>
            <p:cNvSpPr>
              <a:spLocks noChangeShapeType="1"/>
            </p:cNvSpPr>
            <p:nvPr/>
          </p:nvSpPr>
          <p:spPr bwMode="auto">
            <a:xfrm>
              <a:off x="122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4" name="Line 8"/>
            <p:cNvSpPr>
              <a:spLocks noChangeShapeType="1"/>
            </p:cNvSpPr>
            <p:nvPr/>
          </p:nvSpPr>
          <p:spPr bwMode="auto">
            <a:xfrm>
              <a:off x="129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5" name="Line 9"/>
            <p:cNvSpPr>
              <a:spLocks noChangeShapeType="1"/>
            </p:cNvSpPr>
            <p:nvPr/>
          </p:nvSpPr>
          <p:spPr bwMode="auto">
            <a:xfrm>
              <a:off x="135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6" name="Line 10"/>
            <p:cNvSpPr>
              <a:spLocks noChangeShapeType="1"/>
            </p:cNvSpPr>
            <p:nvPr/>
          </p:nvSpPr>
          <p:spPr bwMode="auto">
            <a:xfrm>
              <a:off x="142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7" name="Line 11"/>
            <p:cNvSpPr>
              <a:spLocks noChangeShapeType="1"/>
            </p:cNvSpPr>
            <p:nvPr/>
          </p:nvSpPr>
          <p:spPr bwMode="auto">
            <a:xfrm>
              <a:off x="148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8" name="Line 12"/>
            <p:cNvSpPr>
              <a:spLocks noChangeShapeType="1"/>
            </p:cNvSpPr>
            <p:nvPr/>
          </p:nvSpPr>
          <p:spPr bwMode="auto">
            <a:xfrm>
              <a:off x="155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59" name="Line 13"/>
            <p:cNvSpPr>
              <a:spLocks noChangeShapeType="1"/>
            </p:cNvSpPr>
            <p:nvPr/>
          </p:nvSpPr>
          <p:spPr bwMode="auto">
            <a:xfrm>
              <a:off x="162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0" name="Line 14"/>
            <p:cNvSpPr>
              <a:spLocks noChangeShapeType="1"/>
            </p:cNvSpPr>
            <p:nvPr/>
          </p:nvSpPr>
          <p:spPr bwMode="auto">
            <a:xfrm>
              <a:off x="168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1" name="Line 15"/>
            <p:cNvSpPr>
              <a:spLocks noChangeShapeType="1"/>
            </p:cNvSpPr>
            <p:nvPr/>
          </p:nvSpPr>
          <p:spPr bwMode="auto">
            <a:xfrm>
              <a:off x="175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2" name="Line 16"/>
            <p:cNvSpPr>
              <a:spLocks noChangeShapeType="1"/>
            </p:cNvSpPr>
            <p:nvPr/>
          </p:nvSpPr>
          <p:spPr bwMode="auto">
            <a:xfrm>
              <a:off x="181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3" name="Line 17"/>
            <p:cNvSpPr>
              <a:spLocks noChangeShapeType="1"/>
            </p:cNvSpPr>
            <p:nvPr/>
          </p:nvSpPr>
          <p:spPr bwMode="auto">
            <a:xfrm>
              <a:off x="188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4" name="Line 18"/>
            <p:cNvSpPr>
              <a:spLocks noChangeShapeType="1"/>
            </p:cNvSpPr>
            <p:nvPr/>
          </p:nvSpPr>
          <p:spPr bwMode="auto">
            <a:xfrm>
              <a:off x="195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5" name="Line 19"/>
            <p:cNvSpPr>
              <a:spLocks noChangeShapeType="1"/>
            </p:cNvSpPr>
            <p:nvPr/>
          </p:nvSpPr>
          <p:spPr bwMode="auto">
            <a:xfrm>
              <a:off x="201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6" name="Line 20"/>
            <p:cNvSpPr>
              <a:spLocks noChangeShapeType="1"/>
            </p:cNvSpPr>
            <p:nvPr/>
          </p:nvSpPr>
          <p:spPr bwMode="auto">
            <a:xfrm>
              <a:off x="208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7" name="Line 21"/>
            <p:cNvSpPr>
              <a:spLocks noChangeShapeType="1"/>
            </p:cNvSpPr>
            <p:nvPr/>
          </p:nvSpPr>
          <p:spPr bwMode="auto">
            <a:xfrm>
              <a:off x="214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8" name="Line 22"/>
            <p:cNvSpPr>
              <a:spLocks noChangeShapeType="1"/>
            </p:cNvSpPr>
            <p:nvPr/>
          </p:nvSpPr>
          <p:spPr bwMode="auto">
            <a:xfrm>
              <a:off x="221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69" name="Line 23"/>
            <p:cNvSpPr>
              <a:spLocks noChangeShapeType="1"/>
            </p:cNvSpPr>
            <p:nvPr/>
          </p:nvSpPr>
          <p:spPr bwMode="auto">
            <a:xfrm>
              <a:off x="228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0" name="Line 24"/>
            <p:cNvSpPr>
              <a:spLocks noChangeShapeType="1"/>
            </p:cNvSpPr>
            <p:nvPr/>
          </p:nvSpPr>
          <p:spPr bwMode="auto">
            <a:xfrm>
              <a:off x="234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1" name="Line 25"/>
            <p:cNvSpPr>
              <a:spLocks noChangeShapeType="1"/>
            </p:cNvSpPr>
            <p:nvPr/>
          </p:nvSpPr>
          <p:spPr bwMode="auto">
            <a:xfrm>
              <a:off x="241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2" name="Line 26"/>
            <p:cNvSpPr>
              <a:spLocks noChangeShapeType="1"/>
            </p:cNvSpPr>
            <p:nvPr/>
          </p:nvSpPr>
          <p:spPr bwMode="auto">
            <a:xfrm>
              <a:off x="247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3" name="Line 27"/>
            <p:cNvSpPr>
              <a:spLocks noChangeShapeType="1"/>
            </p:cNvSpPr>
            <p:nvPr/>
          </p:nvSpPr>
          <p:spPr bwMode="auto">
            <a:xfrm>
              <a:off x="254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4" name="Line 28"/>
            <p:cNvSpPr>
              <a:spLocks noChangeShapeType="1"/>
            </p:cNvSpPr>
            <p:nvPr/>
          </p:nvSpPr>
          <p:spPr bwMode="auto">
            <a:xfrm>
              <a:off x="261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5" name="Line 29"/>
            <p:cNvSpPr>
              <a:spLocks noChangeShapeType="1"/>
            </p:cNvSpPr>
            <p:nvPr/>
          </p:nvSpPr>
          <p:spPr bwMode="auto">
            <a:xfrm>
              <a:off x="267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6" name="Line 30"/>
            <p:cNvSpPr>
              <a:spLocks noChangeShapeType="1"/>
            </p:cNvSpPr>
            <p:nvPr/>
          </p:nvSpPr>
          <p:spPr bwMode="auto">
            <a:xfrm>
              <a:off x="274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7" name="Line 31"/>
            <p:cNvSpPr>
              <a:spLocks noChangeShapeType="1"/>
            </p:cNvSpPr>
            <p:nvPr/>
          </p:nvSpPr>
          <p:spPr bwMode="auto">
            <a:xfrm>
              <a:off x="280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8" name="Line 32"/>
            <p:cNvSpPr>
              <a:spLocks noChangeShapeType="1"/>
            </p:cNvSpPr>
            <p:nvPr/>
          </p:nvSpPr>
          <p:spPr bwMode="auto">
            <a:xfrm>
              <a:off x="2875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79" name="Line 33"/>
            <p:cNvSpPr>
              <a:spLocks noChangeShapeType="1"/>
            </p:cNvSpPr>
            <p:nvPr/>
          </p:nvSpPr>
          <p:spPr bwMode="auto">
            <a:xfrm>
              <a:off x="2941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80" name="Line 34"/>
            <p:cNvSpPr>
              <a:spLocks noChangeShapeType="1"/>
            </p:cNvSpPr>
            <p:nvPr/>
          </p:nvSpPr>
          <p:spPr bwMode="auto">
            <a:xfrm>
              <a:off x="3007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81" name="Line 35"/>
            <p:cNvSpPr>
              <a:spLocks noChangeShapeType="1"/>
            </p:cNvSpPr>
            <p:nvPr/>
          </p:nvSpPr>
          <p:spPr bwMode="auto">
            <a:xfrm>
              <a:off x="3073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1582" name="Line 36"/>
            <p:cNvSpPr>
              <a:spLocks noChangeShapeType="1"/>
            </p:cNvSpPr>
            <p:nvPr/>
          </p:nvSpPr>
          <p:spPr bwMode="auto">
            <a:xfrm>
              <a:off x="3139" y="2029"/>
              <a:ext cx="134" cy="21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21510" name="Line 37"/>
          <p:cNvSpPr>
            <a:spLocks noChangeShapeType="1"/>
          </p:cNvSpPr>
          <p:nvPr/>
        </p:nvSpPr>
        <p:spPr bwMode="auto">
          <a:xfrm>
            <a:off x="3442210" y="733539"/>
            <a:ext cx="1068388" cy="18288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21511" name="Text Box 38"/>
          <p:cNvSpPr txBox="1">
            <a:spLocks noChangeArrowheads="1"/>
          </p:cNvSpPr>
          <p:nvPr/>
        </p:nvSpPr>
        <p:spPr bwMode="auto">
          <a:xfrm>
            <a:off x="4074035" y="1279639"/>
            <a:ext cx="3532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21512" name="Freeform 39"/>
          <p:cNvSpPr>
            <a:spLocks/>
          </p:cNvSpPr>
          <p:nvPr/>
        </p:nvSpPr>
        <p:spPr bwMode="auto">
          <a:xfrm flipH="1">
            <a:off x="3439035" y="1593964"/>
            <a:ext cx="496888" cy="174625"/>
          </a:xfrm>
          <a:custGeom>
            <a:avLst/>
            <a:gdLst>
              <a:gd name="T0" fmla="*/ 0 w 313"/>
              <a:gd name="T1" fmla="*/ 0 h 110"/>
              <a:gd name="T2" fmla="*/ 2147483646 w 313"/>
              <a:gd name="T3" fmla="*/ 2147483646 h 110"/>
              <a:gd name="T4" fmla="*/ 2147483646 w 313"/>
              <a:gd name="T5" fmla="*/ 2147483646 h 110"/>
              <a:gd name="T6" fmla="*/ 0 60000 65536"/>
              <a:gd name="T7" fmla="*/ 0 60000 65536"/>
              <a:gd name="T8" fmla="*/ 0 60000 65536"/>
              <a:gd name="T9" fmla="*/ 0 w 313"/>
              <a:gd name="T10" fmla="*/ 0 h 110"/>
              <a:gd name="T11" fmla="*/ 313 w 313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110">
                <a:moveTo>
                  <a:pt x="0" y="0"/>
                </a:moveTo>
                <a:cubicBezTo>
                  <a:pt x="28" y="27"/>
                  <a:pt x="57" y="55"/>
                  <a:pt x="109" y="73"/>
                </a:cubicBezTo>
                <a:cubicBezTo>
                  <a:pt x="161" y="91"/>
                  <a:pt x="237" y="100"/>
                  <a:pt x="313" y="11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arrow" w="lg" len="lg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21513" name="Line 40"/>
          <p:cNvSpPr>
            <a:spLocks noChangeShapeType="1"/>
          </p:cNvSpPr>
          <p:nvPr/>
        </p:nvSpPr>
        <p:spPr bwMode="auto">
          <a:xfrm flipH="1">
            <a:off x="4616960" y="2916351"/>
            <a:ext cx="0" cy="107950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21514" name="Text Box 41"/>
          <p:cNvSpPr txBox="1">
            <a:spLocks noChangeArrowheads="1"/>
          </p:cNvSpPr>
          <p:nvPr/>
        </p:nvSpPr>
        <p:spPr bwMode="auto">
          <a:xfrm>
            <a:off x="3983548" y="3635489"/>
            <a:ext cx="3869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21515" name="Line 42"/>
          <p:cNvSpPr>
            <a:spLocks noChangeShapeType="1"/>
          </p:cNvSpPr>
          <p:nvPr/>
        </p:nvSpPr>
        <p:spPr bwMode="auto">
          <a:xfrm flipV="1">
            <a:off x="4080385" y="3672001"/>
            <a:ext cx="219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21516" name="Text Box 43"/>
          <p:cNvSpPr txBox="1">
            <a:spLocks noChangeArrowheads="1"/>
          </p:cNvSpPr>
          <p:nvPr/>
        </p:nvSpPr>
        <p:spPr bwMode="auto">
          <a:xfrm>
            <a:off x="3639641" y="1988769"/>
            <a:ext cx="33597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4810635" y="2057206"/>
            <a:ext cx="1125538" cy="661987"/>
            <a:chOff x="2814" y="1553"/>
            <a:chExt cx="709" cy="417"/>
          </a:xfrm>
        </p:grpSpPr>
        <p:sp>
          <p:nvSpPr>
            <p:cNvPr id="21549" name="Line 45"/>
            <p:cNvSpPr>
              <a:spLocks noChangeShapeType="1"/>
            </p:cNvSpPr>
            <p:nvPr/>
          </p:nvSpPr>
          <p:spPr bwMode="auto">
            <a:xfrm rot="16200000">
              <a:off x="3154" y="1630"/>
              <a:ext cx="0" cy="68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50" name="Text Box 46"/>
            <p:cNvSpPr txBox="1">
              <a:spLocks noChangeArrowheads="1"/>
            </p:cNvSpPr>
            <p:nvPr/>
          </p:nvSpPr>
          <p:spPr bwMode="auto">
            <a:xfrm>
              <a:off x="3290" y="1553"/>
              <a:ext cx="23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1551" name="Line 47"/>
            <p:cNvSpPr>
              <a:spLocks noChangeShapeType="1"/>
            </p:cNvSpPr>
            <p:nvPr/>
          </p:nvSpPr>
          <p:spPr bwMode="auto">
            <a:xfrm flipV="1">
              <a:off x="3339" y="1580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4820160" y="2039755"/>
            <a:ext cx="500063" cy="661991"/>
            <a:chOff x="2820" y="1542"/>
            <a:chExt cx="315" cy="417"/>
          </a:xfrm>
        </p:grpSpPr>
        <p:sp>
          <p:nvSpPr>
            <p:cNvPr id="11" name="Line 49"/>
            <p:cNvSpPr>
              <a:spLocks noChangeShapeType="1"/>
            </p:cNvSpPr>
            <p:nvPr/>
          </p:nvSpPr>
          <p:spPr bwMode="auto">
            <a:xfrm rot="5400000" flipH="1" flipV="1">
              <a:off x="2978" y="1801"/>
              <a:ext cx="0" cy="315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es-ES" sz="2400"/>
            </a:p>
          </p:txBody>
        </p:sp>
        <p:sp>
          <p:nvSpPr>
            <p:cNvPr id="21547" name="Text Box 50"/>
            <p:cNvSpPr txBox="1">
              <a:spLocks noChangeArrowheads="1"/>
            </p:cNvSpPr>
            <p:nvPr/>
          </p:nvSpPr>
          <p:spPr bwMode="auto">
            <a:xfrm>
              <a:off x="2849" y="1542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1548" name="Line 51"/>
            <p:cNvSpPr>
              <a:spLocks noChangeShapeType="1"/>
            </p:cNvSpPr>
            <p:nvPr/>
          </p:nvSpPr>
          <p:spPr bwMode="auto">
            <a:xfrm flipV="1">
              <a:off x="2910" y="1578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1519" name="Line 52"/>
          <p:cNvSpPr>
            <a:spLocks noChangeShapeType="1"/>
          </p:cNvSpPr>
          <p:nvPr/>
        </p:nvSpPr>
        <p:spPr bwMode="auto">
          <a:xfrm>
            <a:off x="3450148" y="312851"/>
            <a:ext cx="0" cy="3622675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21520" name="Line 53"/>
          <p:cNvSpPr>
            <a:spLocks noChangeShapeType="1"/>
          </p:cNvSpPr>
          <p:nvPr/>
        </p:nvSpPr>
        <p:spPr bwMode="auto">
          <a:xfrm flipH="1" flipV="1">
            <a:off x="4015298" y="1735251"/>
            <a:ext cx="498475" cy="833438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graphicFrame>
        <p:nvGraphicFramePr>
          <p:cNvPr id="256054" name="Object 5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62258608"/>
              </p:ext>
            </p:extLst>
          </p:nvPr>
        </p:nvGraphicFramePr>
        <p:xfrm>
          <a:off x="7526109" y="4174866"/>
          <a:ext cx="15589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18918" imgH="215806" progId="Equation.3">
                  <p:embed/>
                </p:oleObj>
              </mc:Choice>
              <mc:Fallback>
                <p:oleObj name="Ecuación" r:id="rId4" imgW="418918" imgH="215806" progId="Equation.3">
                  <p:embed/>
                  <p:pic>
                    <p:nvPicPr>
                      <p:cNvPr id="0" name="Object 5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109" y="4174866"/>
                        <a:ext cx="15589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2" name="Group 55"/>
          <p:cNvGrpSpPr>
            <a:grpSpLocks/>
          </p:cNvGrpSpPr>
          <p:nvPr/>
        </p:nvGrpSpPr>
        <p:grpSpPr bwMode="auto">
          <a:xfrm>
            <a:off x="4443923" y="1793989"/>
            <a:ext cx="366712" cy="463550"/>
            <a:chOff x="2485" y="3861"/>
            <a:chExt cx="231" cy="292"/>
          </a:xfrm>
        </p:grpSpPr>
        <p:sp>
          <p:nvSpPr>
            <p:cNvPr id="21544" name="Text Box 56"/>
            <p:cNvSpPr txBox="1">
              <a:spLocks noChangeArrowheads="1"/>
            </p:cNvSpPr>
            <p:nvPr/>
          </p:nvSpPr>
          <p:spPr bwMode="auto">
            <a:xfrm>
              <a:off x="2485" y="3861"/>
              <a:ext cx="23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1545" name="Line 57"/>
            <p:cNvSpPr>
              <a:spLocks noChangeShapeType="1"/>
            </p:cNvSpPr>
            <p:nvPr/>
          </p:nvSpPr>
          <p:spPr bwMode="auto">
            <a:xfrm flipV="1">
              <a:off x="2536" y="3904"/>
              <a:ext cx="1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56066" name="Text Box 66"/>
          <p:cNvSpPr txBox="1">
            <a:spLocks noChangeArrowheads="1"/>
          </p:cNvSpPr>
          <p:nvPr/>
        </p:nvSpPr>
        <p:spPr bwMode="auto">
          <a:xfrm>
            <a:off x="6131931" y="2831658"/>
            <a:ext cx="4212737" cy="1253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El problema dice que debe ser eléctrica y estará ejercida </a:t>
            </a:r>
            <a:r>
              <a:rPr lang="es-ES" sz="2400" dirty="0">
                <a:latin typeface="Arial" panose="020B0604020202020204" pitchFamily="34" charset="0"/>
              </a:rPr>
              <a:t>sobre la misma q</a:t>
            </a:r>
          </a:p>
        </p:txBody>
      </p:sp>
      <p:sp>
        <p:nvSpPr>
          <p:cNvPr id="256067" name="Text Box 67"/>
          <p:cNvSpPr txBox="1">
            <a:spLocks noChangeArrowheads="1"/>
          </p:cNvSpPr>
          <p:nvPr/>
        </p:nvSpPr>
        <p:spPr bwMode="auto">
          <a:xfrm>
            <a:off x="6131932" y="1121164"/>
            <a:ext cx="4215298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Hay la misma Tensión y Peso</a:t>
            </a:r>
          </a:p>
        </p:txBody>
      </p:sp>
      <p:grpSp>
        <p:nvGrpSpPr>
          <p:cNvPr id="6" name="Group 75"/>
          <p:cNvGrpSpPr>
            <a:grpSpLocks/>
          </p:cNvGrpSpPr>
          <p:nvPr/>
        </p:nvGrpSpPr>
        <p:grpSpPr bwMode="auto">
          <a:xfrm>
            <a:off x="1287537" y="4401634"/>
            <a:ext cx="4202082" cy="1263649"/>
            <a:chOff x="3753" y="2511"/>
            <a:chExt cx="2646" cy="796"/>
          </a:xfrm>
        </p:grpSpPr>
        <p:sp>
          <p:nvSpPr>
            <p:cNvPr id="21540" name="Text Box 61"/>
            <p:cNvSpPr txBox="1">
              <a:spLocks noChangeArrowheads="1"/>
            </p:cNvSpPr>
            <p:nvPr/>
          </p:nvSpPr>
          <p:spPr bwMode="auto">
            <a:xfrm>
              <a:off x="5087" y="2998"/>
              <a:ext cx="10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 = K q / L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1541" name="Text Box 62"/>
            <p:cNvSpPr txBox="1">
              <a:spLocks noChangeArrowheads="1"/>
            </p:cNvSpPr>
            <p:nvPr/>
          </p:nvSpPr>
          <p:spPr bwMode="auto">
            <a:xfrm>
              <a:off x="5093" y="2511"/>
              <a:ext cx="13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 = T sen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/ q</a:t>
              </a:r>
            </a:p>
          </p:txBody>
        </p:sp>
        <p:sp>
          <p:nvSpPr>
            <p:cNvPr id="21542" name="Text Box 68"/>
            <p:cNvSpPr txBox="1">
              <a:spLocks noChangeArrowheads="1"/>
            </p:cNvSpPr>
            <p:nvPr/>
          </p:nvSpPr>
          <p:spPr bwMode="auto">
            <a:xfrm>
              <a:off x="3753" y="2517"/>
              <a:ext cx="1179" cy="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Opciones para calcular E</a:t>
              </a:r>
            </a:p>
          </p:txBody>
        </p:sp>
        <p:sp>
          <p:nvSpPr>
            <p:cNvPr id="21543" name="AutoShape 69"/>
            <p:cNvSpPr>
              <a:spLocks/>
            </p:cNvSpPr>
            <p:nvPr/>
          </p:nvSpPr>
          <p:spPr bwMode="auto">
            <a:xfrm>
              <a:off x="4942" y="2515"/>
              <a:ext cx="109" cy="787"/>
            </a:xfrm>
            <a:prstGeom prst="leftBrace">
              <a:avLst>
                <a:gd name="adj1" fmla="val 60168"/>
                <a:gd name="adj2" fmla="val 50000"/>
              </a:avLst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528" name="Text Box 72"/>
          <p:cNvSpPr txBox="1">
            <a:spLocks noChangeArrowheads="1"/>
          </p:cNvSpPr>
          <p:nvPr/>
        </p:nvSpPr>
        <p:spPr bwMode="auto">
          <a:xfrm>
            <a:off x="4054198" y="2499490"/>
            <a:ext cx="3532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</a:p>
        </p:txBody>
      </p: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6493964" y="1716047"/>
            <a:ext cx="3474902" cy="1071445"/>
            <a:chOff x="6503652" y="2503450"/>
            <a:chExt cx="3474901" cy="1072090"/>
          </a:xfrm>
        </p:grpSpPr>
        <p:sp>
          <p:nvSpPr>
            <p:cNvPr id="21536" name="Text Box 64"/>
            <p:cNvSpPr txBox="1">
              <a:spLocks noChangeArrowheads="1"/>
            </p:cNvSpPr>
            <p:nvPr/>
          </p:nvSpPr>
          <p:spPr bwMode="auto">
            <a:xfrm>
              <a:off x="6503652" y="2741860"/>
              <a:ext cx="3474901" cy="833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Hace falta una fuerza </a:t>
              </a:r>
              <a:r>
                <a:rPr lang="es-ES" sz="2400" b="1" dirty="0">
                  <a:solidFill>
                    <a:srgbClr val="3333FF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 igual a la eliminada</a:t>
              </a:r>
            </a:p>
          </p:txBody>
        </p:sp>
        <p:sp>
          <p:nvSpPr>
            <p:cNvPr id="5" name="Flecha abajo 4"/>
            <p:cNvSpPr/>
            <p:nvPr/>
          </p:nvSpPr>
          <p:spPr bwMode="auto">
            <a:xfrm>
              <a:off x="7931152" y="2503450"/>
              <a:ext cx="630237" cy="258918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46800" rIns="90000" bIns="46800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171951" y="4991140"/>
            <a:ext cx="4172718" cy="819727"/>
            <a:chOff x="5981148" y="5463796"/>
            <a:chExt cx="4172719" cy="819710"/>
          </a:xfrm>
        </p:grpSpPr>
        <p:sp>
          <p:nvSpPr>
            <p:cNvPr id="21534" name="Text Box 58"/>
            <p:cNvSpPr txBox="1">
              <a:spLocks noChangeArrowheads="1"/>
            </p:cNvSpPr>
            <p:nvPr/>
          </p:nvSpPr>
          <p:spPr bwMode="auto">
            <a:xfrm>
              <a:off x="5981148" y="5768777"/>
              <a:ext cx="4172719" cy="51472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El campo debe ser el mismo</a:t>
              </a:r>
            </a:p>
          </p:txBody>
        </p:sp>
        <p:sp>
          <p:nvSpPr>
            <p:cNvPr id="80" name="Flecha abajo 79"/>
            <p:cNvSpPr/>
            <p:nvPr/>
          </p:nvSpPr>
          <p:spPr bwMode="auto">
            <a:xfrm>
              <a:off x="7749173" y="5463796"/>
              <a:ext cx="630237" cy="260345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46800" rIns="90000" bIns="46800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0" name="CuadroTexto 9"/>
          <p:cNvSpPr txBox="1"/>
          <p:nvPr/>
        </p:nvSpPr>
        <p:spPr>
          <a:xfrm>
            <a:off x="1132357" y="6463107"/>
            <a:ext cx="939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(No se da </a:t>
            </a:r>
            <a:r>
              <a:rPr lang="es-ES" sz="2400"/>
              <a:t>22500 porque tiene 5 cifras significativas y hay que dar 3)</a:t>
            </a:r>
            <a:endParaRPr lang="es-ES" sz="2400" dirty="0"/>
          </a:p>
        </p:txBody>
      </p:sp>
      <p:sp>
        <p:nvSpPr>
          <p:cNvPr id="82" name="Text Box 48">
            <a:extLst>
              <a:ext uri="{FF2B5EF4-FFF2-40B4-BE49-F238E27FC236}">
                <a16:creationId xmlns:a16="http://schemas.microsoft.com/office/drawing/2014/main" id="{B14F307A-B91A-4B90-AE78-BFA7A8A97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396" y="485775"/>
            <a:ext cx="45587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d)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9481FDE-D4BB-44CA-BF0E-436063776A33}"/>
              </a:ext>
            </a:extLst>
          </p:cNvPr>
          <p:cNvGrpSpPr/>
          <p:nvPr/>
        </p:nvGrpSpPr>
        <p:grpSpPr>
          <a:xfrm>
            <a:off x="4814797" y="2479136"/>
            <a:ext cx="337922" cy="519241"/>
            <a:chOff x="4814797" y="2479136"/>
            <a:chExt cx="337922" cy="519241"/>
          </a:xfrm>
        </p:grpSpPr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18E3FCF4-A348-4FA2-B28A-D003943D7635}"/>
                </a:ext>
              </a:extLst>
            </p:cNvPr>
            <p:cNvCxnSpPr/>
            <p:nvPr/>
          </p:nvCxnSpPr>
          <p:spPr bwMode="auto">
            <a:xfrm>
              <a:off x="4829663" y="2494005"/>
              <a:ext cx="323056" cy="50437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B6EB2CC-8ABB-487F-878E-7C43E2EC913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14797" y="2479136"/>
              <a:ext cx="323056" cy="50437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B92F69E1-1015-400C-B826-189824909A06}"/>
              </a:ext>
            </a:extLst>
          </p:cNvPr>
          <p:cNvGrpSpPr/>
          <p:nvPr/>
        </p:nvGrpSpPr>
        <p:grpSpPr>
          <a:xfrm>
            <a:off x="5357690" y="2442118"/>
            <a:ext cx="356309" cy="526524"/>
            <a:chOff x="5357690" y="2442118"/>
            <a:chExt cx="356309" cy="526524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02B1B5E-4D1C-4F49-8731-177475CE499F}"/>
                </a:ext>
              </a:extLst>
            </p:cNvPr>
            <p:cNvCxnSpPr/>
            <p:nvPr/>
          </p:nvCxnSpPr>
          <p:spPr bwMode="auto">
            <a:xfrm>
              <a:off x="5357690" y="2442118"/>
              <a:ext cx="323056" cy="50437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FFD8D1D1-9C47-4193-9A5F-10CA9294CCF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390943" y="2464270"/>
              <a:ext cx="323056" cy="50437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9" name="Text Box 76">
            <a:extLst>
              <a:ext uri="{FF2B5EF4-FFF2-40B4-BE49-F238E27FC236}">
                <a16:creationId xmlns:a16="http://schemas.microsoft.com/office/drawing/2014/main" id="{61935D12-AAE6-4920-B3A5-D895C1A41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319" y="453925"/>
            <a:ext cx="3008938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¿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para mantener equilibrio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?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Box 58">
            <a:extLst>
              <a:ext uri="{FF2B5EF4-FFF2-40B4-BE49-F238E27FC236}">
                <a16:creationId xmlns:a16="http://schemas.microsoft.com/office/drawing/2014/main" id="{5A2E3F86-A45F-596E-F660-06A845D2D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3723" y="5878803"/>
            <a:ext cx="472094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creará igual o de otra manera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6003" grpId="0" animBg="1"/>
      <p:bldP spid="256066" grpId="0" animBg="1"/>
      <p:bldP spid="256067" grpId="0" animBg="1"/>
      <p:bldP spid="10" grpId="0"/>
      <p:bldP spid="89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7958</TotalTime>
  <Words>1985</Words>
  <Application>Microsoft Office PowerPoint</Application>
  <PresentationFormat>Personalizado</PresentationFormat>
  <Paragraphs>446</Paragraphs>
  <Slides>21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Arial</vt:lpstr>
      <vt:lpstr>Cambria Math</vt:lpstr>
      <vt:lpstr>Comic Sans MS</vt:lpstr>
      <vt:lpstr>Symbol</vt:lpstr>
      <vt:lpstr>Times New Roman</vt:lpstr>
      <vt:lpstr>Trebuchet MS</vt:lpstr>
      <vt:lpstr>Wingdings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1241</cp:revision>
  <dcterms:created xsi:type="dcterms:W3CDTF">2012-02-20T13:06:36Z</dcterms:created>
  <dcterms:modified xsi:type="dcterms:W3CDTF">2024-09-30T13:49:17Z</dcterms:modified>
</cp:coreProperties>
</file>