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81" r:id="rId2"/>
    <p:sldId id="277" r:id="rId3"/>
    <p:sldId id="295" r:id="rId4"/>
    <p:sldId id="301" r:id="rId5"/>
    <p:sldId id="316" r:id="rId6"/>
    <p:sldId id="314" r:id="rId7"/>
    <p:sldId id="315" r:id="rId8"/>
    <p:sldId id="296" r:id="rId9"/>
    <p:sldId id="318" r:id="rId10"/>
    <p:sldId id="302" r:id="rId11"/>
    <p:sldId id="311" r:id="rId12"/>
    <p:sldId id="283" r:id="rId13"/>
    <p:sldId id="304" r:id="rId14"/>
    <p:sldId id="305" r:id="rId15"/>
    <p:sldId id="285" r:id="rId16"/>
    <p:sldId id="284" r:id="rId17"/>
    <p:sldId id="306" r:id="rId18"/>
    <p:sldId id="286" r:id="rId19"/>
    <p:sldId id="291" r:id="rId20"/>
    <p:sldId id="319" r:id="rId21"/>
    <p:sldId id="287" r:id="rId22"/>
    <p:sldId id="320" r:id="rId23"/>
    <p:sldId id="322" r:id="rId24"/>
    <p:sldId id="321" r:id="rId25"/>
    <p:sldId id="309" r:id="rId26"/>
    <p:sldId id="280" r:id="rId27"/>
  </p:sldIdLst>
  <p:sldSz cx="9144000" cy="6858000" type="screen4x3"/>
  <p:notesSz cx="6797675" cy="99266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3333FF"/>
    <a:srgbClr val="FFFF99"/>
    <a:srgbClr val="CCFFCC"/>
    <a:srgbClr val="C0C0C0"/>
    <a:srgbClr val="008000"/>
    <a:srgbClr val="0099FF"/>
    <a:srgbClr val="FF99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5" autoAdjust="0"/>
    <p:restoredTop sz="96283" autoAdjust="0"/>
  </p:normalViewPr>
  <p:slideViewPr>
    <p:cSldViewPr showGuides="1">
      <p:cViewPr varScale="1">
        <p:scale>
          <a:sx n="108" d="100"/>
          <a:sy n="108" d="100"/>
        </p:scale>
        <p:origin x="1104" y="102"/>
      </p:cViewPr>
      <p:guideLst>
        <p:guide orient="horz" pos="2160"/>
        <p:guide pos="31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F0682A-AC66-4B32-B82C-1AD5EDDB3CC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3695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384D0F-3E40-4154-9AB8-57AAFC0181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790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392275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155307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45525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4223294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1787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1915166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2405818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2301777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77536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92756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3437593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859541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69955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963842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845038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1184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/>
          </a:p>
        </p:txBody>
      </p:sp>
    </p:spTree>
    <p:extLst>
      <p:ext uri="{BB962C8B-B14F-4D97-AF65-F5344CB8AC3E}">
        <p14:creationId xmlns:p14="http://schemas.microsoft.com/office/powerpoint/2010/main" val="819855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4232500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674146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39609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1553507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763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120482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79498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0322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384D0F-3E40-4154-9AB8-57AAFC01812E}" type="slidenum">
              <a:rPr lang="es-ES" smtClean="0"/>
              <a:pPr>
                <a:defRPr/>
              </a:pPr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268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pic>
        <p:nvPicPr>
          <p:cNvPr id="5" name="Picture 3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pic>
        <p:nvPicPr>
          <p:cNvPr id="7" name="Picture 5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1084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522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51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AB9AD-C879-49A7-A387-30DCA551B11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903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1292D-2341-459E-A865-23F76178BF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381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660F5-9EE8-430B-A1DF-CEA6538B63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377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9778C-5555-46AC-AD8C-CE6749BB24C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814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5C0B2-7576-4AFE-B0C9-1D71F5F58D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483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98D38-8788-4DE1-84C1-ADB1B1E84E4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6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8CE8-84A7-41B9-BEBD-4C6EE8D50A0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53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49190-2184-4888-B26B-3BD06D58B4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46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CBD30-5FDB-4309-BF05-F0447249BED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93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095B2-57E7-49F5-B755-477B0171D3A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592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66800" y="381000"/>
            <a:ext cx="55626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6B8CC-73BC-4F8F-A62A-33156312EC6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25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066800" y="381000"/>
            <a:ext cx="7620000" cy="5486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4E1C2-EFBD-4DB8-BB42-C4224155EAD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624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609600" y="228600"/>
            <a:ext cx="8239125" cy="6391275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016000" y="16002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0800"/>
            <a:ext cx="1181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52B9575-8793-4A60-B9D7-B87B9FDD6D9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4257675" y="3187700"/>
            <a:ext cx="13255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FÍSICA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216150" y="4071938"/>
            <a:ext cx="5457825" cy="461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REPASO DE ÁLGEBRA VECTORIAL</a:t>
            </a:r>
          </a:p>
        </p:txBody>
      </p:sp>
      <p:sp>
        <p:nvSpPr>
          <p:cNvPr id="5124" name="Text Box 8"/>
          <p:cNvSpPr txBox="1">
            <a:spLocks noChangeArrowheads="1"/>
          </p:cNvSpPr>
          <p:nvPr/>
        </p:nvSpPr>
        <p:spPr bwMode="auto">
          <a:xfrm>
            <a:off x="1720850" y="2309813"/>
            <a:ext cx="6429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GRADO EN INGENIERÍA INFORMÁTICA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159540" y="5140651"/>
            <a:ext cx="3706356" cy="1440160"/>
            <a:chOff x="5114116" y="5085184"/>
            <a:chExt cx="3706356" cy="1440160"/>
          </a:xfrm>
        </p:grpSpPr>
        <p:sp>
          <p:nvSpPr>
            <p:cNvPr id="2" name="Esquina doblada 1"/>
            <p:cNvSpPr/>
            <p:nvPr/>
          </p:nvSpPr>
          <p:spPr bwMode="auto">
            <a:xfrm>
              <a:off x="5114116" y="5085184"/>
              <a:ext cx="3706356" cy="1440160"/>
            </a:xfrm>
            <a:prstGeom prst="foldedCorner">
              <a:avLst>
                <a:gd name="adj" fmla="val 18694"/>
              </a:avLst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5199764" y="5105462"/>
              <a:ext cx="3476692" cy="1398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None/>
              </a:pPr>
              <a:r>
                <a:rPr lang="es-ES" sz="2000">
                  <a:latin typeface="Trebuchet MS" panose="020B0603020202020204" pitchFamily="34" charset="0"/>
                </a:rPr>
                <a:t>Recordaremos</a:t>
              </a:r>
            </a:p>
            <a:p>
              <a:pPr eaLnBrk="1" hangingPunct="1">
                <a:spcBef>
                  <a:spcPts val="0"/>
                </a:spcBef>
                <a:buNone/>
              </a:pPr>
              <a:r>
                <a:rPr lang="es-ES" sz="2000">
                  <a:latin typeface="Trebuchet MS" panose="020B0603020202020204" pitchFamily="34" charset="0"/>
                </a:rPr>
                <a:t>el producto de vectores:</a:t>
              </a:r>
            </a:p>
            <a:p>
              <a:pPr eaLnBrk="1" hangingPunct="1">
                <a:spcBef>
                  <a:spcPts val="0"/>
                </a:spcBef>
                <a:buNone/>
              </a:pPr>
              <a:r>
                <a:rPr lang="es-ES" sz="2000">
                  <a:latin typeface="Trebuchet MS" panose="020B0603020202020204" pitchFamily="34" charset="0"/>
                </a:rPr>
                <a:t> En el Tema 2 el escalar.</a:t>
              </a:r>
            </a:p>
            <a:p>
              <a:pPr eaLnBrk="1" hangingPunct="1">
                <a:spcBef>
                  <a:spcPts val="0"/>
                </a:spcBef>
                <a:buNone/>
              </a:pPr>
              <a:r>
                <a:rPr lang="es-ES" sz="2000">
                  <a:latin typeface="Trebuchet MS" panose="020B0603020202020204" pitchFamily="34" charset="0"/>
                </a:rPr>
                <a:t> En el Tema 5 el vectorial.</a:t>
              </a:r>
            </a:p>
          </p:txBody>
        </p:sp>
      </p:grpSp>
      <p:sp>
        <p:nvSpPr>
          <p:cNvPr id="6" name="Text Box 11">
            <a:extLst>
              <a:ext uri="{FF2B5EF4-FFF2-40B4-BE49-F238E27FC236}">
                <a16:creationId xmlns:a16="http://schemas.microsoft.com/office/drawing/2014/main" id="{8A3A0196-9814-333E-8E1C-228ED62E4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019" y="330047"/>
            <a:ext cx="1343095" cy="1090547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000" eaLnBrk="1" hangingPunct="1">
              <a:spcBef>
                <a:spcPts val="0"/>
              </a:spcBef>
              <a:buNone/>
            </a:pPr>
            <a:r>
              <a:rPr lang="es-ES" sz="20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: 18/09</a:t>
            </a:r>
          </a:p>
          <a:p>
            <a:pPr marL="36000" eaLnBrk="1" hangingPunct="1">
              <a:spcBef>
                <a:spcPts val="0"/>
              </a:spcBef>
              <a:buNone/>
            </a:pP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T2: 16/09</a:t>
            </a:r>
            <a:endParaRPr lang="es-E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marL="36000" eaLnBrk="1" hangingPunct="1">
              <a:spcBef>
                <a:spcPts val="0"/>
              </a:spcBef>
              <a:buNone/>
            </a:pPr>
            <a:r>
              <a:rPr lang="es-ES" sz="20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: 17/09</a:t>
            </a:r>
            <a:endParaRPr lang="es-E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47">
            <a:extLst>
              <a:ext uri="{FF2B5EF4-FFF2-40B4-BE49-F238E27FC236}">
                <a16:creationId xmlns:a16="http://schemas.microsoft.com/office/drawing/2014/main" id="{62C4407C-7B9A-FE98-C377-746F6A492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921" y="5291480"/>
            <a:ext cx="1584176" cy="59469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44000" rIns="108000" bIns="144000"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M =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30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kg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322388" y="326226"/>
            <a:ext cx="721005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MAGNITUDES ESCALARES Y VECTORIALES</a:t>
            </a:r>
          </a:p>
        </p:txBody>
      </p:sp>
      <p:sp>
        <p:nvSpPr>
          <p:cNvPr id="51347" name="Text Box 147"/>
          <p:cNvSpPr txBox="1">
            <a:spLocks noChangeArrowheads="1"/>
          </p:cNvSpPr>
          <p:nvPr/>
        </p:nvSpPr>
        <p:spPr bwMode="auto">
          <a:xfrm>
            <a:off x="3043436" y="1813487"/>
            <a:ext cx="51468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Aquella que requiere para precisar su valor de: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Box 147"/>
          <p:cNvSpPr txBox="1">
            <a:spLocks noChangeArrowheads="1"/>
          </p:cNvSpPr>
          <p:nvPr/>
        </p:nvSpPr>
        <p:spPr bwMode="auto">
          <a:xfrm>
            <a:off x="1137019" y="1832221"/>
            <a:ext cx="1809452" cy="83099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MAGNITUD ESCALAR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Box 147"/>
          <p:cNvSpPr txBox="1">
            <a:spLocks noChangeArrowheads="1"/>
          </p:cNvSpPr>
          <p:nvPr/>
        </p:nvSpPr>
        <p:spPr bwMode="auto">
          <a:xfrm>
            <a:off x="3163135" y="2672976"/>
            <a:ext cx="576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un </a:t>
            </a:r>
            <a:r>
              <a:rPr lang="es-ES" sz="2400" b="1">
                <a:solidFill>
                  <a:srgbClr val="3333FF"/>
                </a:solidFill>
                <a:latin typeface="Trebuchet MS" panose="020B0603020202020204" pitchFamily="34" charset="0"/>
              </a:rPr>
              <a:t>Número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 </a:t>
            </a:r>
            <a:r>
              <a:rPr lang="es-ES" sz="2400">
                <a:latin typeface="Trebuchet MS" panose="020B0603020202020204" pitchFamily="34" charset="0"/>
              </a:rPr>
              <a:t>(un “escalar”)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 </a:t>
            </a:r>
            <a:r>
              <a:rPr lang="es-ES" sz="2400">
                <a:latin typeface="Trebuchet MS" panose="020B0603020202020204" pitchFamily="34" charset="0"/>
              </a:rPr>
              <a:t>y una</a:t>
            </a:r>
            <a:r>
              <a:rPr lang="es-ES" sz="2400">
                <a:solidFill>
                  <a:srgbClr val="FF9900"/>
                </a:solidFill>
                <a:latin typeface="Trebuchet MS" panose="020B0603020202020204" pitchFamily="34" charset="0"/>
              </a:rPr>
              <a:t> </a:t>
            </a:r>
            <a:r>
              <a:rPr lang="es-ES" sz="2400" b="1">
                <a:solidFill>
                  <a:srgbClr val="FF0000"/>
                </a:solidFill>
                <a:latin typeface="Trebuchet MS" panose="020B0603020202020204" pitchFamily="34" charset="0"/>
              </a:rPr>
              <a:t>Unidad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 Box 147"/>
          <p:cNvSpPr txBox="1">
            <a:spLocks noChangeArrowheads="1"/>
          </p:cNvSpPr>
          <p:nvPr/>
        </p:nvSpPr>
        <p:spPr bwMode="auto">
          <a:xfrm>
            <a:off x="1137019" y="1141431"/>
            <a:ext cx="1809452" cy="461665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latin typeface="Trebuchet MS" panose="020B0603020202020204" pitchFamily="34" charset="0"/>
              </a:rPr>
              <a:t>MAGNITUD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 Box 147"/>
          <p:cNvSpPr txBox="1">
            <a:spLocks noChangeArrowheads="1"/>
          </p:cNvSpPr>
          <p:nvPr/>
        </p:nvSpPr>
        <p:spPr bwMode="auto">
          <a:xfrm>
            <a:off x="3043436" y="1171048"/>
            <a:ext cx="4138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Todo lo que se puede medir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176" name="Text Box 147"/>
          <p:cNvSpPr txBox="1">
            <a:spLocks noChangeArrowheads="1"/>
          </p:cNvSpPr>
          <p:nvPr/>
        </p:nvSpPr>
        <p:spPr bwMode="auto">
          <a:xfrm>
            <a:off x="5204938" y="5302790"/>
            <a:ext cx="1113916" cy="59469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44000" rIns="108000" bIns="144000"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MASA: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7" name="CuadroTexto 26"/>
          <p:cNvSpPr txBox="1">
            <a:spLocks noChangeArrowheads="1"/>
          </p:cNvSpPr>
          <p:nvPr/>
        </p:nvSpPr>
        <p:spPr bwMode="auto">
          <a:xfrm>
            <a:off x="3068960" y="3318083"/>
            <a:ext cx="58541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cantidad de la magnitud tomada como referencia al medir (</a:t>
            </a:r>
            <a:r>
              <a:rPr lang="es-ES" sz="2400" err="1">
                <a:latin typeface="Trebuchet MS" panose="020B0603020202020204" pitchFamily="34" charset="0"/>
              </a:rPr>
              <a:t>Ej</a:t>
            </a:r>
            <a:r>
              <a:rPr lang="es-ES" sz="2400">
                <a:latin typeface="Trebuchet MS" panose="020B0603020202020204" pitchFamily="34" charset="0"/>
              </a:rPr>
              <a:t>: Masa </a:t>
            </a:r>
            <a:r>
              <a:rPr lang="es-ES" sz="2000">
                <a:latin typeface="Trebuchet MS" panose="020B0603020202020204" pitchFamily="34" charset="0"/>
                <a:sym typeface="Wingdings" panose="05000000000000000000" pitchFamily="2" charset="2"/>
              </a:rPr>
              <a:t></a:t>
            </a:r>
            <a:r>
              <a:rPr lang="es-ES" sz="2400">
                <a:latin typeface="Trebuchet MS" panose="020B0603020202020204" pitchFamily="34" charset="0"/>
              </a:rPr>
              <a:t> kg)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693101" y="5320664"/>
            <a:ext cx="2154070" cy="994819"/>
            <a:chOff x="3389248" y="5241829"/>
            <a:chExt cx="2154302" cy="995459"/>
          </a:xfrm>
        </p:grpSpPr>
        <p:grpSp>
          <p:nvGrpSpPr>
            <p:cNvPr id="7182" name="Grupo 14"/>
            <p:cNvGrpSpPr>
              <a:grpSpLocks/>
            </p:cNvGrpSpPr>
            <p:nvPr/>
          </p:nvGrpSpPr>
          <p:grpSpPr bwMode="auto">
            <a:xfrm>
              <a:off x="4319588" y="5402263"/>
              <a:ext cx="1223962" cy="835025"/>
              <a:chOff x="7452320" y="1586609"/>
              <a:chExt cx="1223368" cy="834279"/>
            </a:xfrm>
          </p:grpSpPr>
          <p:sp>
            <p:nvSpPr>
              <p:cNvPr id="7" name="Rectángulo 6"/>
              <p:cNvSpPr/>
              <p:nvPr/>
            </p:nvSpPr>
            <p:spPr bwMode="auto">
              <a:xfrm>
                <a:off x="7452189" y="1586072"/>
                <a:ext cx="1223499" cy="201562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algn="ctr" eaLnBrk="1" hangingPunct="1">
                  <a:defRPr/>
                </a:pPr>
                <a:endParaRPr lang="es-ES" sz="2400"/>
              </a:p>
            </p:txBody>
          </p:sp>
          <p:sp>
            <p:nvSpPr>
              <p:cNvPr id="7185" name="Rectángulo 7"/>
              <p:cNvSpPr>
                <a:spLocks noChangeArrowheads="1"/>
              </p:cNvSpPr>
              <p:nvPr/>
            </p:nvSpPr>
            <p:spPr bwMode="auto">
              <a:xfrm>
                <a:off x="7596336" y="1788222"/>
                <a:ext cx="72008" cy="632666"/>
              </a:xfrm>
              <a:prstGeom prst="rect">
                <a:avLst/>
              </a:prstGeom>
              <a:solidFill>
                <a:srgbClr val="C0C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  <p:sp>
            <p:nvSpPr>
              <p:cNvPr id="7186" name="Rectángulo 27"/>
              <p:cNvSpPr>
                <a:spLocks noChangeArrowheads="1"/>
              </p:cNvSpPr>
              <p:nvPr/>
            </p:nvSpPr>
            <p:spPr bwMode="auto">
              <a:xfrm>
                <a:off x="8490554" y="1788222"/>
                <a:ext cx="72008" cy="632666"/>
              </a:xfrm>
              <a:prstGeom prst="rect">
                <a:avLst/>
              </a:prstGeom>
              <a:solidFill>
                <a:srgbClr val="C0C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7183" name="CuadroTexto 22"/>
            <p:cNvSpPr txBox="1">
              <a:spLocks noChangeArrowheads="1"/>
            </p:cNvSpPr>
            <p:nvPr/>
          </p:nvSpPr>
          <p:spPr bwMode="auto">
            <a:xfrm>
              <a:off x="3389248" y="5241829"/>
              <a:ext cx="858019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Mesa</a:t>
              </a: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470763" y="5809201"/>
            <a:ext cx="2428870" cy="706447"/>
            <a:chOff x="6819016" y="5941675"/>
            <a:chExt cx="2428253" cy="706539"/>
          </a:xfrm>
        </p:grpSpPr>
        <p:cxnSp>
          <p:nvCxnSpPr>
            <p:cNvPr id="7180" name="Conector recto de flecha 5"/>
            <p:cNvCxnSpPr>
              <a:cxnSpLocks noChangeShapeType="1"/>
            </p:cNvCxnSpPr>
            <p:nvPr/>
          </p:nvCxnSpPr>
          <p:spPr bwMode="auto">
            <a:xfrm>
              <a:off x="7083425" y="5941675"/>
              <a:ext cx="0" cy="2975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1" name="CuadroTexto 7"/>
            <p:cNvSpPr txBox="1">
              <a:spLocks noChangeArrowheads="1"/>
            </p:cNvSpPr>
            <p:nvPr/>
          </p:nvSpPr>
          <p:spPr bwMode="auto">
            <a:xfrm>
              <a:off x="6819016" y="6186488"/>
              <a:ext cx="2428253" cy="461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no va en negrita</a:t>
              </a:r>
            </a:p>
          </p:txBody>
        </p:sp>
      </p:grpSp>
      <p:sp>
        <p:nvSpPr>
          <p:cNvPr id="19" name="Text Box 147"/>
          <p:cNvSpPr txBox="1">
            <a:spLocks noChangeArrowheads="1"/>
          </p:cNvSpPr>
          <p:nvPr/>
        </p:nvSpPr>
        <p:spPr bwMode="auto">
          <a:xfrm>
            <a:off x="1137019" y="3330057"/>
            <a:ext cx="1809452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latin typeface="Trebuchet MS" panose="020B0603020202020204" pitchFamily="34" charset="0"/>
              </a:rPr>
              <a:t>UNIDAD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CuadroTexto 19"/>
          <p:cNvSpPr txBox="1">
            <a:spLocks noChangeArrowheads="1"/>
          </p:cNvSpPr>
          <p:nvPr/>
        </p:nvSpPr>
        <p:spPr bwMode="auto">
          <a:xfrm>
            <a:off x="3067012" y="4250275"/>
            <a:ext cx="54484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Indicar cuántas veces contiene lo que se tiene (el "mensurando") a la unidad</a:t>
            </a:r>
          </a:p>
        </p:txBody>
      </p:sp>
      <p:sp>
        <p:nvSpPr>
          <p:cNvPr id="21" name="Text Box 147"/>
          <p:cNvSpPr txBox="1">
            <a:spLocks noChangeArrowheads="1"/>
          </p:cNvSpPr>
          <p:nvPr/>
        </p:nvSpPr>
        <p:spPr bwMode="auto">
          <a:xfrm>
            <a:off x="1135072" y="4262249"/>
            <a:ext cx="1809452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latin typeface="Trebuchet MS" panose="020B0603020202020204" pitchFamily="34" charset="0"/>
              </a:rPr>
              <a:t>MEDIR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 Box 147">
            <a:extLst>
              <a:ext uri="{FF2B5EF4-FFF2-40B4-BE49-F238E27FC236}">
                <a16:creationId xmlns:a16="http://schemas.microsoft.com/office/drawing/2014/main" id="{D4A72872-C4E2-162D-E50D-EDA91099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629" y="5275402"/>
            <a:ext cx="1456424" cy="59469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44000" rIns="108000" bIns="144000"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Ejemplo: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170" grpId="0" animBg="1"/>
      <p:bldP spid="51347" grpId="0"/>
      <p:bldP spid="2" grpId="0" animBg="1"/>
      <p:bldP spid="4" grpId="0" animBg="1"/>
      <p:bldP spid="24" grpId="0" animBg="1"/>
      <p:bldP spid="25" grpId="0"/>
      <p:bldP spid="7176" grpId="0" animBg="1"/>
      <p:bldP spid="27" grpId="0"/>
      <p:bldP spid="19" grpId="0" animBg="1"/>
      <p:bldP spid="20" grpId="0"/>
      <p:bldP spid="21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8" name="Text Box 148"/>
          <p:cNvSpPr txBox="1">
            <a:spLocks noChangeArrowheads="1"/>
          </p:cNvSpPr>
          <p:nvPr/>
        </p:nvSpPr>
        <p:spPr bwMode="auto">
          <a:xfrm>
            <a:off x="1093692" y="5013176"/>
            <a:ext cx="2808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¿Dónde se aplica?</a:t>
            </a:r>
          </a:p>
        </p:txBody>
      </p:sp>
      <p:sp>
        <p:nvSpPr>
          <p:cNvPr id="5" name="Text Box 147"/>
          <p:cNvSpPr txBox="1">
            <a:spLocks noChangeArrowheads="1"/>
          </p:cNvSpPr>
          <p:nvPr/>
        </p:nvSpPr>
        <p:spPr bwMode="auto">
          <a:xfrm>
            <a:off x="3419872" y="1098791"/>
            <a:ext cx="4365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Aquella que requiere para precisar su valor de: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9242" name="Text Box 148"/>
          <p:cNvSpPr txBox="1">
            <a:spLocks noChangeArrowheads="1"/>
          </p:cNvSpPr>
          <p:nvPr/>
        </p:nvSpPr>
        <p:spPr bwMode="auto">
          <a:xfrm>
            <a:off x="3093717" y="4209016"/>
            <a:ext cx="1262259" cy="66014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44000" rIns="108000" b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Fuerza: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9243" name="Text Box 38"/>
          <p:cNvSpPr txBox="1">
            <a:spLocks noChangeArrowheads="1"/>
          </p:cNvSpPr>
          <p:nvPr/>
        </p:nvSpPr>
        <p:spPr bwMode="auto">
          <a:xfrm>
            <a:off x="5181333" y="4317577"/>
            <a:ext cx="33123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aplicada a una mesa</a:t>
            </a:r>
          </a:p>
        </p:txBody>
      </p: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4621079" y="5013176"/>
            <a:ext cx="291297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FF"/>
                </a:solidFill>
                <a:latin typeface="Trebuchet MS" panose="020B0603020202020204" pitchFamily="34" charset="0"/>
              </a:rPr>
              <a:t>Arriba, en el centro</a:t>
            </a:r>
          </a:p>
        </p:txBody>
      </p:sp>
      <p:sp>
        <p:nvSpPr>
          <p:cNvPr id="9" name="Text Box 147"/>
          <p:cNvSpPr txBox="1">
            <a:spLocks noChangeArrowheads="1"/>
          </p:cNvSpPr>
          <p:nvPr/>
        </p:nvSpPr>
        <p:spPr bwMode="auto">
          <a:xfrm>
            <a:off x="4933407" y="2006110"/>
            <a:ext cx="3836175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Un </a:t>
            </a:r>
            <a:r>
              <a:rPr lang="es-ES" sz="2400" b="1">
                <a:solidFill>
                  <a:srgbClr val="3333FF"/>
                </a:solidFill>
                <a:latin typeface="Trebuchet MS" panose="020B0603020202020204" pitchFamily="34" charset="0"/>
              </a:rPr>
              <a:t>Número</a:t>
            </a:r>
            <a:r>
              <a:rPr lang="es-ES" sz="2400">
                <a:latin typeface="Trebuchet MS" panose="020B0603020202020204" pitchFamily="34" charset="0"/>
              </a:rPr>
              <a:t>, una </a:t>
            </a:r>
            <a:r>
              <a:rPr lang="es-ES" sz="2400" b="1">
                <a:solidFill>
                  <a:srgbClr val="FF0000"/>
                </a:solidFill>
                <a:latin typeface="Trebuchet MS" panose="020B0603020202020204" pitchFamily="34" charset="0"/>
              </a:rPr>
              <a:t>Unidad</a:t>
            </a:r>
            <a:r>
              <a:rPr lang="es-ES" sz="2400">
                <a:latin typeface="Trebuchet MS" panose="020B0603020202020204" pitchFamily="34" charset="0"/>
              </a:rPr>
              <a:t>,</a:t>
            </a:r>
          </a:p>
        </p:txBody>
      </p:sp>
      <p:sp>
        <p:nvSpPr>
          <p:cNvPr id="10" name="Text Box 148"/>
          <p:cNvSpPr txBox="1">
            <a:spLocks noChangeArrowheads="1"/>
          </p:cNvSpPr>
          <p:nvPr/>
        </p:nvSpPr>
        <p:spPr bwMode="auto">
          <a:xfrm>
            <a:off x="1093692" y="5528358"/>
            <a:ext cx="35470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¿A lo largo de qué recta?</a:t>
            </a:r>
          </a:p>
        </p:txBody>
      </p:sp>
      <p:sp>
        <p:nvSpPr>
          <p:cNvPr id="11" name="Text Box 148"/>
          <p:cNvSpPr txBox="1">
            <a:spLocks noChangeArrowheads="1"/>
          </p:cNvSpPr>
          <p:nvPr/>
        </p:nvSpPr>
        <p:spPr bwMode="auto">
          <a:xfrm>
            <a:off x="4941932" y="3125588"/>
            <a:ext cx="3828353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una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dirección</a:t>
            </a:r>
            <a:endParaRPr lang="es-ES" sz="2400" b="1">
              <a:solidFill>
                <a:srgbClr val="0099FF"/>
              </a:solidFill>
              <a:latin typeface="Trebuchet MS" panose="020B0603020202020204" pitchFamily="34" charset="0"/>
            </a:endParaRP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4621078" y="5528358"/>
            <a:ext cx="428113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En una vertical</a:t>
            </a:r>
          </a:p>
        </p:txBody>
      </p:sp>
      <p:sp>
        <p:nvSpPr>
          <p:cNvPr id="12" name="Text Box 148"/>
          <p:cNvSpPr txBox="1">
            <a:spLocks noChangeArrowheads="1"/>
          </p:cNvSpPr>
          <p:nvPr/>
        </p:nvSpPr>
        <p:spPr bwMode="auto">
          <a:xfrm>
            <a:off x="1093692" y="6024736"/>
            <a:ext cx="2808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¿Hacia dónde?</a:t>
            </a:r>
          </a:p>
        </p:txBody>
      </p:sp>
      <p:sp>
        <p:nvSpPr>
          <p:cNvPr id="13" name="Text Box 148"/>
          <p:cNvSpPr txBox="1">
            <a:spLocks noChangeArrowheads="1"/>
          </p:cNvSpPr>
          <p:nvPr/>
        </p:nvSpPr>
        <p:spPr bwMode="auto">
          <a:xfrm>
            <a:off x="4934110" y="3671397"/>
            <a:ext cx="3836175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y un </a:t>
            </a:r>
            <a:r>
              <a:rPr lang="es-ES" sz="2400" b="1">
                <a:solidFill>
                  <a:srgbClr val="0099FF"/>
                </a:solidFill>
                <a:latin typeface="Trebuchet MS" panose="020B0603020202020204" pitchFamily="34" charset="0"/>
              </a:rPr>
              <a:t>sentido</a:t>
            </a:r>
          </a:p>
        </p:txBody>
      </p:sp>
      <p:sp>
        <p:nvSpPr>
          <p:cNvPr id="4144" name="Text Box 48"/>
          <p:cNvSpPr txBox="1">
            <a:spLocks noChangeArrowheads="1"/>
          </p:cNvSpPr>
          <p:nvPr/>
        </p:nvSpPr>
        <p:spPr bwMode="auto">
          <a:xfrm>
            <a:off x="4621079" y="6024736"/>
            <a:ext cx="208952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Hacia abajo</a:t>
            </a:r>
          </a:p>
        </p:txBody>
      </p:sp>
      <p:sp>
        <p:nvSpPr>
          <p:cNvPr id="6" name="Text Box 148"/>
          <p:cNvSpPr txBox="1">
            <a:spLocks noChangeArrowheads="1"/>
          </p:cNvSpPr>
          <p:nvPr/>
        </p:nvSpPr>
        <p:spPr bwMode="auto">
          <a:xfrm>
            <a:off x="4947099" y="2564904"/>
            <a:ext cx="3826718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un </a:t>
            </a:r>
            <a:r>
              <a:rPr lang="es-ES" sz="2400" b="1">
                <a:solidFill>
                  <a:srgbClr val="FF00FF"/>
                </a:solidFill>
                <a:latin typeface="Trebuchet MS" panose="020B0603020202020204" pitchFamily="34" charset="0"/>
              </a:rPr>
              <a:t>punto de aplicación</a:t>
            </a:r>
            <a:r>
              <a:rPr lang="es-ES" sz="2400">
                <a:latin typeface="Trebuchet MS" panose="020B0603020202020204" pitchFamily="34" charset="0"/>
              </a:rPr>
              <a:t>,</a:t>
            </a:r>
            <a:endParaRPr lang="es-ES" sz="2400" b="1">
              <a:solidFill>
                <a:srgbClr val="FF00FF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2" name="Grupo 21"/>
          <p:cNvGrpSpPr>
            <a:grpSpLocks/>
          </p:cNvGrpSpPr>
          <p:nvPr/>
        </p:nvGrpSpPr>
        <p:grpSpPr bwMode="auto">
          <a:xfrm>
            <a:off x="3341696" y="3324750"/>
            <a:ext cx="0" cy="576262"/>
            <a:chOff x="8244408" y="1916832"/>
            <a:chExt cx="0" cy="576064"/>
          </a:xfrm>
        </p:grpSpPr>
        <p:cxnSp>
          <p:nvCxnSpPr>
            <p:cNvPr id="9236" name="Conector recto de flecha 20"/>
            <p:cNvCxnSpPr>
              <a:cxnSpLocks noChangeShapeType="1"/>
            </p:cNvCxnSpPr>
            <p:nvPr/>
          </p:nvCxnSpPr>
          <p:spPr bwMode="auto">
            <a:xfrm>
              <a:off x="8244408" y="1916832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7" name="Conector recto de flecha 37"/>
            <p:cNvCxnSpPr>
              <a:cxnSpLocks noChangeShapeType="1"/>
            </p:cNvCxnSpPr>
            <p:nvPr/>
          </p:nvCxnSpPr>
          <p:spPr bwMode="auto">
            <a:xfrm>
              <a:off x="8244408" y="213285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8" name="Conector recto de flecha 38"/>
            <p:cNvCxnSpPr>
              <a:cxnSpLocks noChangeShapeType="1"/>
            </p:cNvCxnSpPr>
            <p:nvPr/>
          </p:nvCxnSpPr>
          <p:spPr bwMode="auto">
            <a:xfrm>
              <a:off x="8244408" y="234889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322388" y="326226"/>
            <a:ext cx="721005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MAGNITUDES ESCALARES Y VECTORIALES</a:t>
            </a:r>
          </a:p>
        </p:txBody>
      </p:sp>
      <p:sp>
        <p:nvSpPr>
          <p:cNvPr id="29" name="Text Box 147"/>
          <p:cNvSpPr txBox="1">
            <a:spLocks noChangeArrowheads="1"/>
          </p:cNvSpPr>
          <p:nvPr/>
        </p:nvSpPr>
        <p:spPr bwMode="auto">
          <a:xfrm>
            <a:off x="1322388" y="1137700"/>
            <a:ext cx="1809452" cy="83099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MAGNITUD VECTORIAL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0" name="Grupo 29"/>
          <p:cNvGrpSpPr>
            <a:grpSpLocks/>
          </p:cNvGrpSpPr>
          <p:nvPr/>
        </p:nvGrpSpPr>
        <p:grpSpPr bwMode="auto">
          <a:xfrm>
            <a:off x="1619672" y="2791935"/>
            <a:ext cx="2154070" cy="994819"/>
            <a:chOff x="3389248" y="5241829"/>
            <a:chExt cx="2154302" cy="995459"/>
          </a:xfrm>
        </p:grpSpPr>
        <p:grpSp>
          <p:nvGrpSpPr>
            <p:cNvPr id="31" name="Grupo 14"/>
            <p:cNvGrpSpPr>
              <a:grpSpLocks/>
            </p:cNvGrpSpPr>
            <p:nvPr/>
          </p:nvGrpSpPr>
          <p:grpSpPr bwMode="auto">
            <a:xfrm>
              <a:off x="4319588" y="5402263"/>
              <a:ext cx="1223962" cy="835025"/>
              <a:chOff x="7452320" y="1586609"/>
              <a:chExt cx="1223368" cy="834279"/>
            </a:xfrm>
          </p:grpSpPr>
          <p:sp>
            <p:nvSpPr>
              <p:cNvPr id="33" name="Rectángulo 32"/>
              <p:cNvSpPr/>
              <p:nvPr/>
            </p:nvSpPr>
            <p:spPr bwMode="auto">
              <a:xfrm>
                <a:off x="7452189" y="1586072"/>
                <a:ext cx="1223499" cy="201562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algn="ctr" eaLnBrk="1" hangingPunct="1">
                  <a:defRPr/>
                </a:pPr>
                <a:endParaRPr lang="es-ES" sz="2400"/>
              </a:p>
            </p:txBody>
          </p:sp>
          <p:sp>
            <p:nvSpPr>
              <p:cNvPr id="34" name="Rectángulo 7"/>
              <p:cNvSpPr>
                <a:spLocks noChangeArrowheads="1"/>
              </p:cNvSpPr>
              <p:nvPr/>
            </p:nvSpPr>
            <p:spPr bwMode="auto">
              <a:xfrm>
                <a:off x="7596336" y="1788222"/>
                <a:ext cx="72008" cy="632666"/>
              </a:xfrm>
              <a:prstGeom prst="rect">
                <a:avLst/>
              </a:prstGeom>
              <a:solidFill>
                <a:srgbClr val="C0C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  <p:sp>
            <p:nvSpPr>
              <p:cNvPr id="35" name="Rectángulo 27"/>
              <p:cNvSpPr>
                <a:spLocks noChangeArrowheads="1"/>
              </p:cNvSpPr>
              <p:nvPr/>
            </p:nvSpPr>
            <p:spPr bwMode="auto">
              <a:xfrm>
                <a:off x="8490554" y="1788222"/>
                <a:ext cx="72008" cy="632666"/>
              </a:xfrm>
              <a:prstGeom prst="rect">
                <a:avLst/>
              </a:prstGeom>
              <a:solidFill>
                <a:srgbClr val="C0C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32" name="CuadroTexto 22"/>
            <p:cNvSpPr txBox="1">
              <a:spLocks noChangeArrowheads="1"/>
            </p:cNvSpPr>
            <p:nvPr/>
          </p:nvSpPr>
          <p:spPr bwMode="auto">
            <a:xfrm>
              <a:off x="3389248" y="5241829"/>
              <a:ext cx="858019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Mesa</a:t>
              </a:r>
            </a:p>
          </p:txBody>
        </p:sp>
      </p:grpSp>
      <p:cxnSp>
        <p:nvCxnSpPr>
          <p:cNvPr id="19" name="Conector recto 18"/>
          <p:cNvCxnSpPr>
            <a:cxnSpLocks noChangeShapeType="1"/>
          </p:cNvCxnSpPr>
          <p:nvPr/>
        </p:nvCxnSpPr>
        <p:spPr bwMode="auto">
          <a:xfrm>
            <a:off x="3125672" y="2605233"/>
            <a:ext cx="19050" cy="1268412"/>
          </a:xfrm>
          <a:prstGeom prst="line">
            <a:avLst/>
          </a:prstGeom>
          <a:noFill/>
          <a:ln w="25400" algn="ctr">
            <a:solidFill>
              <a:srgbClr val="00B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Elipse 16"/>
          <p:cNvSpPr>
            <a:spLocks noChangeArrowheads="1"/>
          </p:cNvSpPr>
          <p:nvPr/>
        </p:nvSpPr>
        <p:spPr bwMode="auto">
          <a:xfrm>
            <a:off x="3082127" y="2902271"/>
            <a:ext cx="107950" cy="107950"/>
          </a:xfrm>
          <a:prstGeom prst="ellipse">
            <a:avLst/>
          </a:prstGeom>
          <a:solidFill>
            <a:srgbClr val="FF00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3" name="Text Box 147">
            <a:extLst>
              <a:ext uri="{FF2B5EF4-FFF2-40B4-BE49-F238E27FC236}">
                <a16:creationId xmlns:a16="http://schemas.microsoft.com/office/drawing/2014/main" id="{6B389FC8-7A6F-EDEB-FCFF-71A194F63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4241742"/>
            <a:ext cx="1456424" cy="59469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44000" rIns="108000" bIns="144000"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Ejemplo: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Box 148">
            <a:extLst>
              <a:ext uri="{FF2B5EF4-FFF2-40B4-BE49-F238E27FC236}">
                <a16:creationId xmlns:a16="http://schemas.microsoft.com/office/drawing/2014/main" id="{25AE000D-D002-5E53-4C4F-E4280C762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721" y="4228505"/>
            <a:ext cx="697359" cy="660144"/>
          </a:xfrm>
          <a:prstGeom prst="rect">
            <a:avLst/>
          </a:prstGeom>
          <a:noFill/>
          <a:ln>
            <a:noFill/>
          </a:ln>
        </p:spPr>
        <p:txBody>
          <a:bodyPr wrap="square" lIns="108000" tIns="144000" rIns="108000" b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8</a:t>
            </a:r>
            <a:r>
              <a:rPr lang="es-ES" sz="2400">
                <a:solidFill>
                  <a:srgbClr val="FF99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N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 Box 45">
            <a:extLst>
              <a:ext uri="{FF2B5EF4-FFF2-40B4-BE49-F238E27FC236}">
                <a16:creationId xmlns:a16="http://schemas.microsoft.com/office/drawing/2014/main" id="{56EFB03B-A45D-4B8D-E444-2D3F20FF7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728" y="5517232"/>
            <a:ext cx="217478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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Wingdings" panose="05000000000000000000" pitchFamily="2" charset="2"/>
              </a:rPr>
              <a:t> Dir. vertical</a:t>
            </a:r>
            <a:endParaRPr lang="es-ES" sz="2400">
              <a:solidFill>
                <a:srgbClr val="008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5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48" grpId="0"/>
      <p:bldP spid="5" grpId="0"/>
      <p:bldP spid="9242" grpId="0" animBg="1"/>
      <p:bldP spid="9243" grpId="0"/>
      <p:bldP spid="4135" grpId="0"/>
      <p:bldP spid="9" grpId="0" animBg="1"/>
      <p:bldP spid="10" grpId="0"/>
      <p:bldP spid="11" grpId="0" animBg="1"/>
      <p:bldP spid="4141" grpId="0"/>
      <p:bldP spid="12" grpId="0"/>
      <p:bldP spid="13" grpId="0" animBg="1"/>
      <p:bldP spid="4144" grpId="0"/>
      <p:bldP spid="6" grpId="0" animBg="1"/>
      <p:bldP spid="29" grpId="0" animBg="1"/>
      <p:bldP spid="17" grpId="0" animBg="1"/>
      <p:bldP spid="3" grpId="0" animBg="1"/>
      <p:bldP spid="4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Text Box 2"/>
          <p:cNvSpPr txBox="1">
            <a:spLocks noChangeArrowheads="1"/>
          </p:cNvSpPr>
          <p:nvPr/>
        </p:nvSpPr>
        <p:spPr bwMode="auto">
          <a:xfrm>
            <a:off x="2196604" y="693415"/>
            <a:ext cx="5487466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CONCEPTO DE VECTOR</a:t>
            </a:r>
          </a:p>
        </p:txBody>
      </p:sp>
      <p:sp>
        <p:nvSpPr>
          <p:cNvPr id="51347" name="Text Box 147"/>
          <p:cNvSpPr txBox="1">
            <a:spLocks noChangeArrowheads="1"/>
          </p:cNvSpPr>
          <p:nvPr/>
        </p:nvSpPr>
        <p:spPr bwMode="auto">
          <a:xfrm>
            <a:off x="2116087" y="3025279"/>
            <a:ext cx="56181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Es una flecha,</a:t>
            </a:r>
            <a:r>
              <a:rPr lang="es-ES" sz="2400">
                <a:latin typeface="Trebuchet MS" panose="020B0603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un segmento orientado,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una porción de recta con un sentido </a:t>
            </a:r>
            <a:endParaRPr lang="es-ES" sz="2400">
              <a:latin typeface="Trebuchet MS" panose="020B0603020202020204" pitchFamily="34" charset="0"/>
            </a:endParaRPr>
          </a:p>
        </p:txBody>
      </p:sp>
      <p:sp>
        <p:nvSpPr>
          <p:cNvPr id="35" name="Text Box 147"/>
          <p:cNvSpPr txBox="1">
            <a:spLocks noChangeArrowheads="1"/>
          </p:cNvSpPr>
          <p:nvPr/>
        </p:nvSpPr>
        <p:spPr bwMode="auto">
          <a:xfrm>
            <a:off x="2186876" y="4400714"/>
            <a:ext cx="5487466" cy="83099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Un "vector" caracteriza por completo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una magnitud "vectorial"</a:t>
            </a:r>
            <a:endParaRPr lang="es-ES" sz="2400">
              <a:solidFill>
                <a:srgbClr val="CC3300"/>
              </a:solidFill>
              <a:latin typeface="Trebuchet MS" panose="020B0603020202020204" pitchFamily="34" charset="0"/>
            </a:endParaRPr>
          </a:p>
        </p:txBody>
      </p:sp>
      <p:sp>
        <p:nvSpPr>
          <p:cNvPr id="48" name="Line 119">
            <a:extLst>
              <a:ext uri="{FF2B5EF4-FFF2-40B4-BE49-F238E27FC236}">
                <a16:creationId xmlns:a16="http://schemas.microsoft.com/office/drawing/2014/main" id="{2D908899-C989-4555-802C-8FC0471F0E0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49859" y="1163252"/>
            <a:ext cx="616546" cy="210806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50" name="Text Box 147">
            <a:extLst>
              <a:ext uri="{FF2B5EF4-FFF2-40B4-BE49-F238E27FC236}">
                <a16:creationId xmlns:a16="http://schemas.microsoft.com/office/drawing/2014/main" id="{839487F4-A994-4671-8935-D335AE64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471" y="5551800"/>
            <a:ext cx="396044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(por esto se usan en Física)</a:t>
            </a:r>
          </a:p>
        </p:txBody>
      </p:sp>
    </p:spTree>
    <p:extLst>
      <p:ext uri="{BB962C8B-B14F-4D97-AF65-F5344CB8AC3E}">
        <p14:creationId xmlns:p14="http://schemas.microsoft.com/office/powerpoint/2010/main" val="3719192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  <p:bldP spid="51347" grpId="0"/>
      <p:bldP spid="35" grpId="0" animBg="1"/>
      <p:bldP spid="48" grpId="0" animBg="1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upo 32"/>
          <p:cNvGrpSpPr>
            <a:grpSpLocks/>
          </p:cNvGrpSpPr>
          <p:nvPr/>
        </p:nvGrpSpPr>
        <p:grpSpPr bwMode="auto">
          <a:xfrm>
            <a:off x="1981024" y="3041599"/>
            <a:ext cx="2395537" cy="1612900"/>
            <a:chOff x="7452320" y="1586609"/>
            <a:chExt cx="1223368" cy="834279"/>
          </a:xfrm>
        </p:grpSpPr>
        <p:sp>
          <p:nvSpPr>
            <p:cNvPr id="34" name="Rectángulo 33"/>
            <p:cNvSpPr/>
            <p:nvPr/>
          </p:nvSpPr>
          <p:spPr bwMode="auto">
            <a:xfrm>
              <a:off x="7452320" y="1586609"/>
              <a:ext cx="1223368" cy="20200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eaLnBrk="1" hangingPunct="1">
                <a:defRPr/>
              </a:pPr>
              <a:endParaRPr lang="es-ES" sz="2400"/>
            </a:p>
          </p:txBody>
        </p:sp>
        <p:sp>
          <p:nvSpPr>
            <p:cNvPr id="11302" name="Rectángulo 34"/>
            <p:cNvSpPr>
              <a:spLocks noChangeArrowheads="1"/>
            </p:cNvSpPr>
            <p:nvPr/>
          </p:nvSpPr>
          <p:spPr bwMode="auto">
            <a:xfrm>
              <a:off x="7596336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11303" name="Rectángulo 35"/>
            <p:cNvSpPr>
              <a:spLocks noChangeArrowheads="1"/>
            </p:cNvSpPr>
            <p:nvPr/>
          </p:nvSpPr>
          <p:spPr bwMode="auto">
            <a:xfrm>
              <a:off x="8490554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11298" name="Elipse 37"/>
          <p:cNvSpPr>
            <a:spLocks noChangeArrowheads="1"/>
          </p:cNvSpPr>
          <p:nvPr/>
        </p:nvSpPr>
        <p:spPr bwMode="auto">
          <a:xfrm>
            <a:off x="3087826" y="2961139"/>
            <a:ext cx="180106" cy="180034"/>
          </a:xfrm>
          <a:prstGeom prst="ellipse">
            <a:avLst/>
          </a:prstGeom>
          <a:solidFill>
            <a:srgbClr val="FF00FF"/>
          </a:solidFill>
          <a:ln w="9525" algn="ctr">
            <a:noFill/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1319" name="Line 119"/>
          <p:cNvSpPr>
            <a:spLocks noChangeShapeType="1"/>
          </p:cNvSpPr>
          <p:nvPr/>
        </p:nvSpPr>
        <p:spPr bwMode="auto">
          <a:xfrm flipH="1">
            <a:off x="3152830" y="3044346"/>
            <a:ext cx="15875" cy="177958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cxnSp>
        <p:nvCxnSpPr>
          <p:cNvPr id="11289" name="Conector recto 36"/>
          <p:cNvCxnSpPr>
            <a:cxnSpLocks noChangeShapeType="1"/>
          </p:cNvCxnSpPr>
          <p:nvPr/>
        </p:nvCxnSpPr>
        <p:spPr bwMode="auto">
          <a:xfrm flipH="1">
            <a:off x="3142927" y="2719752"/>
            <a:ext cx="32603" cy="2231310"/>
          </a:xfrm>
          <a:prstGeom prst="line">
            <a:avLst/>
          </a:prstGeom>
          <a:noFill/>
          <a:ln w="25400" algn="ctr">
            <a:solidFill>
              <a:srgbClr val="00B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284" name="Grupo 38"/>
          <p:cNvGrpSpPr>
            <a:grpSpLocks/>
          </p:cNvGrpSpPr>
          <p:nvPr/>
        </p:nvGrpSpPr>
        <p:grpSpPr bwMode="auto">
          <a:xfrm>
            <a:off x="3549293" y="4349703"/>
            <a:ext cx="0" cy="576140"/>
            <a:chOff x="8244408" y="1916832"/>
            <a:chExt cx="0" cy="576064"/>
          </a:xfrm>
        </p:grpSpPr>
        <p:cxnSp>
          <p:nvCxnSpPr>
            <p:cNvPr id="11285" name="Conector recto de flecha 39"/>
            <p:cNvCxnSpPr>
              <a:cxnSpLocks noChangeShapeType="1"/>
            </p:cNvCxnSpPr>
            <p:nvPr/>
          </p:nvCxnSpPr>
          <p:spPr bwMode="auto">
            <a:xfrm>
              <a:off x="8244408" y="1916832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6" name="Conector recto de flecha 40"/>
            <p:cNvCxnSpPr>
              <a:cxnSpLocks noChangeShapeType="1"/>
            </p:cNvCxnSpPr>
            <p:nvPr/>
          </p:nvCxnSpPr>
          <p:spPr bwMode="auto">
            <a:xfrm>
              <a:off x="8244408" y="213285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7" name="Conector recto de flecha 41"/>
            <p:cNvCxnSpPr>
              <a:cxnSpLocks noChangeShapeType="1"/>
            </p:cNvCxnSpPr>
            <p:nvPr/>
          </p:nvCxnSpPr>
          <p:spPr bwMode="auto">
            <a:xfrm>
              <a:off x="8244408" y="234889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2" name="Text Box 146">
            <a:extLst>
              <a:ext uri="{FF2B5EF4-FFF2-40B4-BE49-F238E27FC236}">
                <a16:creationId xmlns:a16="http://schemas.microsoft.com/office/drawing/2014/main" id="{9A337472-F41E-42F4-A4E0-922807863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876" y="329608"/>
            <a:ext cx="5487466" cy="46166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EJEMPLO</a:t>
            </a:r>
            <a:endParaRPr lang="es-ES" sz="240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53" name="Text Box 38">
            <a:extLst>
              <a:ext uri="{FF2B5EF4-FFF2-40B4-BE49-F238E27FC236}">
                <a16:creationId xmlns:a16="http://schemas.microsoft.com/office/drawing/2014/main" id="{D32DC120-9AE4-496E-ACB3-55CF31E86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336" y="990456"/>
            <a:ext cx="28442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fuerza anterior</a:t>
            </a:r>
          </a:p>
        </p:txBody>
      </p:sp>
      <p:sp>
        <p:nvSpPr>
          <p:cNvPr id="54" name="Text Box 135">
            <a:extLst>
              <a:ext uri="{FF2B5EF4-FFF2-40B4-BE49-F238E27FC236}">
                <a16:creationId xmlns:a16="http://schemas.microsoft.com/office/drawing/2014/main" id="{CD87B96A-C3B7-4D72-B27D-4DCD7B28E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6" y="1758205"/>
            <a:ext cx="3097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FF"/>
                </a:solidFill>
                <a:latin typeface="Trebuchet MS" panose="020B0603020202020204" pitchFamily="34" charset="0"/>
              </a:rPr>
              <a:t>Punto de Aplicación</a:t>
            </a:r>
          </a:p>
        </p:txBody>
      </p:sp>
      <p:sp>
        <p:nvSpPr>
          <p:cNvPr id="55" name="Text Box 134">
            <a:extLst>
              <a:ext uri="{FF2B5EF4-FFF2-40B4-BE49-F238E27FC236}">
                <a16:creationId xmlns:a16="http://schemas.microsoft.com/office/drawing/2014/main" id="{52F414E2-73BE-48E5-A164-A55A75C7B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6" y="3208093"/>
            <a:ext cx="14766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Dirección</a:t>
            </a:r>
          </a:p>
        </p:txBody>
      </p:sp>
      <p:sp>
        <p:nvSpPr>
          <p:cNvPr id="56" name="Text Box 133">
            <a:extLst>
              <a:ext uri="{FF2B5EF4-FFF2-40B4-BE49-F238E27FC236}">
                <a16:creationId xmlns:a16="http://schemas.microsoft.com/office/drawing/2014/main" id="{59945B3D-474E-41FD-906C-F9FE722EA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6" y="4774166"/>
            <a:ext cx="1215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Sentido</a:t>
            </a:r>
          </a:p>
        </p:txBody>
      </p:sp>
      <p:sp>
        <p:nvSpPr>
          <p:cNvPr id="57" name="Text Box 38">
            <a:extLst>
              <a:ext uri="{FF2B5EF4-FFF2-40B4-BE49-F238E27FC236}">
                <a16:creationId xmlns:a16="http://schemas.microsoft.com/office/drawing/2014/main" id="{9E0A62ED-FE40-4B53-B238-087647AB8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2223352"/>
            <a:ext cx="317495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El punto de inicio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del vector</a:t>
            </a:r>
          </a:p>
        </p:txBody>
      </p:sp>
      <p:sp>
        <p:nvSpPr>
          <p:cNvPr id="58" name="Text Box 38">
            <a:extLst>
              <a:ext uri="{FF2B5EF4-FFF2-40B4-BE49-F238E27FC236}">
                <a16:creationId xmlns:a16="http://schemas.microsoft.com/office/drawing/2014/main" id="{53BA6B13-1E8B-4B9E-89F0-9C4C10F8C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5" y="3694798"/>
            <a:ext cx="317495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que define la recta que lo contiene</a:t>
            </a:r>
          </a:p>
        </p:txBody>
      </p:sp>
      <p:sp>
        <p:nvSpPr>
          <p:cNvPr id="59" name="Text Box 38">
            <a:extLst>
              <a:ext uri="{FF2B5EF4-FFF2-40B4-BE49-F238E27FC236}">
                <a16:creationId xmlns:a16="http://schemas.microsoft.com/office/drawing/2014/main" id="{7041AE05-81BE-4877-9A40-19EAB340B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5" y="5228668"/>
            <a:ext cx="3174954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Hacia donde apunta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punta del vector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C08DF5A-4654-4BE4-B2D0-C46599DC2CEF}"/>
              </a:ext>
            </a:extLst>
          </p:cNvPr>
          <p:cNvGrpSpPr/>
          <p:nvPr/>
        </p:nvGrpSpPr>
        <p:grpSpPr>
          <a:xfrm>
            <a:off x="2693224" y="5276377"/>
            <a:ext cx="885826" cy="454025"/>
            <a:chOff x="3309044" y="4692970"/>
            <a:chExt cx="885826" cy="454025"/>
          </a:xfrm>
        </p:grpSpPr>
        <p:sp>
          <p:nvSpPr>
            <p:cNvPr id="30" name="Text Box 125">
              <a:extLst>
                <a:ext uri="{FF2B5EF4-FFF2-40B4-BE49-F238E27FC236}">
                  <a16:creationId xmlns:a16="http://schemas.microsoft.com/office/drawing/2014/main" id="{840018E9-D384-4D80-A6FC-25AA9FC61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044" y="4692970"/>
              <a:ext cx="885826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 o 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" name="Line 127">
              <a:extLst>
                <a:ext uri="{FF2B5EF4-FFF2-40B4-BE49-F238E27FC236}">
                  <a16:creationId xmlns:a16="http://schemas.microsoft.com/office/drawing/2014/main" id="{AA3A62CD-E41C-47BE-BA8B-9A7F7587B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3991" y="469297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61B0E75-12C9-422A-AC9A-2A831A1CD099}"/>
              </a:ext>
            </a:extLst>
          </p:cNvPr>
          <p:cNvGrpSpPr>
            <a:grpSpLocks/>
          </p:cNvGrpSpPr>
          <p:nvPr/>
        </p:nvGrpSpPr>
        <p:grpSpPr bwMode="auto">
          <a:xfrm>
            <a:off x="3109626" y="5780433"/>
            <a:ext cx="1596911" cy="610089"/>
            <a:chOff x="8011310" y="6359872"/>
            <a:chExt cx="1597780" cy="609990"/>
          </a:xfrm>
        </p:grpSpPr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4E6B266E-691F-4068-9044-90DDC640D0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52839" y="6359872"/>
              <a:ext cx="0" cy="18940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7915D67F-EC31-4E2D-8DB4-1BF25EA3C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1310" y="6508270"/>
              <a:ext cx="1597780" cy="46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negrita</a:t>
              </a:r>
            </a:p>
          </p:txBody>
        </p:sp>
      </p:grpSp>
      <p:sp>
        <p:nvSpPr>
          <p:cNvPr id="2" name="Text Box 148">
            <a:extLst>
              <a:ext uri="{FF2B5EF4-FFF2-40B4-BE49-F238E27FC236}">
                <a16:creationId xmlns:a16="http://schemas.microsoft.com/office/drawing/2014/main" id="{8B56C2E1-3783-928E-685D-F03C06BAF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795656"/>
            <a:ext cx="2046419" cy="660144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44000" rIns="144000" b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Fuerza: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 8</a:t>
            </a:r>
            <a:r>
              <a:rPr lang="es-ES" sz="2400">
                <a:solidFill>
                  <a:srgbClr val="FF99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N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763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8" grpId="0" animBg="1"/>
      <p:bldP spid="51319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142">
            <a:extLst>
              <a:ext uri="{FF2B5EF4-FFF2-40B4-BE49-F238E27FC236}">
                <a16:creationId xmlns:a16="http://schemas.microsoft.com/office/drawing/2014/main" id="{EF5AEF0C-4E9B-4A57-94F4-CC3EE5D33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130" y="3810090"/>
            <a:ext cx="509588" cy="454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|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|</a:t>
            </a:r>
            <a:endParaRPr lang="es-ES" sz="2400" b="1">
              <a:latin typeface="Arial" panose="020B0604020202020204" pitchFamily="34" charset="0"/>
            </a:endParaRPr>
          </a:p>
        </p:txBody>
      </p:sp>
      <p:sp>
        <p:nvSpPr>
          <p:cNvPr id="32" name="Text Box 146">
            <a:extLst>
              <a:ext uri="{FF2B5EF4-FFF2-40B4-BE49-F238E27FC236}">
                <a16:creationId xmlns:a16="http://schemas.microsoft.com/office/drawing/2014/main" id="{522157D0-BABB-40E4-8361-1C25BC972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1934385"/>
            <a:ext cx="1422400" cy="4619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MÓDULO</a:t>
            </a:r>
            <a:endParaRPr lang="es-ES" sz="240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BA49AF6-DBD3-486A-9070-9351125C6C7E}"/>
              </a:ext>
            </a:extLst>
          </p:cNvPr>
          <p:cNvGrpSpPr/>
          <p:nvPr/>
        </p:nvGrpSpPr>
        <p:grpSpPr>
          <a:xfrm>
            <a:off x="5858337" y="3811975"/>
            <a:ext cx="1842896" cy="461665"/>
            <a:chOff x="7023750" y="4321809"/>
            <a:chExt cx="1842896" cy="461665"/>
          </a:xfrm>
        </p:grpSpPr>
        <p:sp>
          <p:nvSpPr>
            <p:cNvPr id="42" name="Text Box 26">
              <a:extLst>
                <a:ext uri="{FF2B5EF4-FFF2-40B4-BE49-F238E27FC236}">
                  <a16:creationId xmlns:a16="http://schemas.microsoft.com/office/drawing/2014/main" id="{6BCA8FBE-45E2-4791-AB08-FA586F67E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0041" y="4321809"/>
              <a:ext cx="1646605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es positivo</a:t>
              </a:r>
            </a:p>
          </p:txBody>
        </p:sp>
        <p:cxnSp>
          <p:nvCxnSpPr>
            <p:cNvPr id="43" name="Conector recto de flecha 37">
              <a:extLst>
                <a:ext uri="{FF2B5EF4-FFF2-40B4-BE49-F238E27FC236}">
                  <a16:creationId xmlns:a16="http://schemas.microsoft.com/office/drawing/2014/main" id="{60302082-8927-41CF-BEED-04691DA303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023750" y="4552642"/>
              <a:ext cx="209246" cy="1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1" name="Group 139">
            <a:extLst>
              <a:ext uri="{FF2B5EF4-FFF2-40B4-BE49-F238E27FC236}">
                <a16:creationId xmlns:a16="http://schemas.microsoft.com/office/drawing/2014/main" id="{E52BDBC6-854E-4CBF-8687-2C433A73612D}"/>
              </a:ext>
            </a:extLst>
          </p:cNvPr>
          <p:cNvGrpSpPr>
            <a:grpSpLocks/>
          </p:cNvGrpSpPr>
          <p:nvPr/>
        </p:nvGrpSpPr>
        <p:grpSpPr bwMode="auto">
          <a:xfrm rot="-3040569">
            <a:off x="4151072" y="3229427"/>
            <a:ext cx="1595437" cy="1366837"/>
            <a:chOff x="3170" y="2306"/>
            <a:chExt cx="1040" cy="876"/>
          </a:xfrm>
        </p:grpSpPr>
        <p:sp>
          <p:nvSpPr>
            <p:cNvPr id="62" name="Line 136">
              <a:extLst>
                <a:ext uri="{FF2B5EF4-FFF2-40B4-BE49-F238E27FC236}">
                  <a16:creationId xmlns:a16="http://schemas.microsoft.com/office/drawing/2014/main" id="{06A2D9F6-E518-4CB4-9FD0-57A528034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3" y="2387"/>
              <a:ext cx="884" cy="70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63" name="Line 137">
              <a:extLst>
                <a:ext uri="{FF2B5EF4-FFF2-40B4-BE49-F238E27FC236}">
                  <a16:creationId xmlns:a16="http://schemas.microsoft.com/office/drawing/2014/main" id="{BCE3A4C2-3716-4CE8-8555-22A1677859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042" y="2323"/>
              <a:ext cx="185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64" name="Line 138">
              <a:extLst>
                <a:ext uri="{FF2B5EF4-FFF2-40B4-BE49-F238E27FC236}">
                  <a16:creationId xmlns:a16="http://schemas.microsoft.com/office/drawing/2014/main" id="{3E021252-2495-4DF6-B0B4-7813D4C768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153" y="3014"/>
              <a:ext cx="185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65" name="Text Box 38">
            <a:extLst>
              <a:ext uri="{FF2B5EF4-FFF2-40B4-BE49-F238E27FC236}">
                <a16:creationId xmlns:a16="http://schemas.microsoft.com/office/drawing/2014/main" id="{A808793F-DDBE-4E30-9DEF-00943FBA1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035" y="2473861"/>
            <a:ext cx="27793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Tamaño o longitud del vector</a:t>
            </a:r>
          </a:p>
        </p:txBody>
      </p:sp>
      <p:sp>
        <p:nvSpPr>
          <p:cNvPr id="103" name="Text Box 146">
            <a:extLst>
              <a:ext uri="{FF2B5EF4-FFF2-40B4-BE49-F238E27FC236}">
                <a16:creationId xmlns:a16="http://schemas.microsoft.com/office/drawing/2014/main" id="{CD51B1FC-0367-4F29-BF75-33E3A36E7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876" y="329608"/>
            <a:ext cx="5487466" cy="46166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EJEMPLO</a:t>
            </a:r>
            <a:endParaRPr lang="es-ES" sz="240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104" name="Text Box 38">
            <a:extLst>
              <a:ext uri="{FF2B5EF4-FFF2-40B4-BE49-F238E27FC236}">
                <a16:creationId xmlns:a16="http://schemas.microsoft.com/office/drawing/2014/main" id="{99363DC3-0D16-4BC0-97F9-A9E2DDF6C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336" y="990456"/>
            <a:ext cx="28442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fuerza anterior</a:t>
            </a:r>
          </a:p>
        </p:txBody>
      </p:sp>
      <p:grpSp>
        <p:nvGrpSpPr>
          <p:cNvPr id="2" name="Grupo 32">
            <a:extLst>
              <a:ext uri="{FF2B5EF4-FFF2-40B4-BE49-F238E27FC236}">
                <a16:creationId xmlns:a16="http://schemas.microsoft.com/office/drawing/2014/main" id="{9D46BB8B-F5BA-BE27-FFDF-960D6E6D6B9D}"/>
              </a:ext>
            </a:extLst>
          </p:cNvPr>
          <p:cNvGrpSpPr>
            <a:grpSpLocks/>
          </p:cNvGrpSpPr>
          <p:nvPr/>
        </p:nvGrpSpPr>
        <p:grpSpPr bwMode="auto">
          <a:xfrm>
            <a:off x="1981024" y="3041599"/>
            <a:ext cx="2395537" cy="1612900"/>
            <a:chOff x="7452320" y="1586609"/>
            <a:chExt cx="1223368" cy="834279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F959EAB3-FE13-6AD4-B981-CB5CFDD5A6C9}"/>
                </a:ext>
              </a:extLst>
            </p:cNvPr>
            <p:cNvSpPr/>
            <p:nvPr/>
          </p:nvSpPr>
          <p:spPr bwMode="auto">
            <a:xfrm>
              <a:off x="7452320" y="1586609"/>
              <a:ext cx="1223368" cy="20200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eaLnBrk="1" hangingPunct="1">
                <a:defRPr/>
              </a:pPr>
              <a:endParaRPr lang="es-ES" sz="2400"/>
            </a:p>
          </p:txBody>
        </p:sp>
        <p:sp>
          <p:nvSpPr>
            <p:cNvPr id="4" name="Rectángulo 34">
              <a:extLst>
                <a:ext uri="{FF2B5EF4-FFF2-40B4-BE49-F238E27FC236}">
                  <a16:creationId xmlns:a16="http://schemas.microsoft.com/office/drawing/2014/main" id="{07E649F8-819B-B36A-F852-5ECCB2494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6336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5" name="Rectángulo 35">
              <a:extLst>
                <a:ext uri="{FF2B5EF4-FFF2-40B4-BE49-F238E27FC236}">
                  <a16:creationId xmlns:a16="http://schemas.microsoft.com/office/drawing/2014/main" id="{4911135D-A618-DD03-BF00-605165270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0554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6" name="Elipse 37">
            <a:extLst>
              <a:ext uri="{FF2B5EF4-FFF2-40B4-BE49-F238E27FC236}">
                <a16:creationId xmlns:a16="http://schemas.microsoft.com/office/drawing/2014/main" id="{B23C2F29-8227-E48F-1BE8-B058FAC65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826" y="2961139"/>
            <a:ext cx="180106" cy="180034"/>
          </a:xfrm>
          <a:prstGeom prst="ellipse">
            <a:avLst/>
          </a:prstGeom>
          <a:solidFill>
            <a:srgbClr val="FF00FF"/>
          </a:solidFill>
          <a:ln w="9525" algn="ctr">
            <a:noFill/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7" name="Line 119">
            <a:extLst>
              <a:ext uri="{FF2B5EF4-FFF2-40B4-BE49-F238E27FC236}">
                <a16:creationId xmlns:a16="http://schemas.microsoft.com/office/drawing/2014/main" id="{9E984D2F-F2B1-9560-6733-39DD6659A1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2830" y="3044346"/>
            <a:ext cx="15875" cy="177958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cxnSp>
        <p:nvCxnSpPr>
          <p:cNvPr id="8" name="Conector recto 36">
            <a:extLst>
              <a:ext uri="{FF2B5EF4-FFF2-40B4-BE49-F238E27FC236}">
                <a16:creationId xmlns:a16="http://schemas.microsoft.com/office/drawing/2014/main" id="{F7B9FEE2-ED71-12AA-A0C9-37B39B23A32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42927" y="2719752"/>
            <a:ext cx="32603" cy="2231310"/>
          </a:xfrm>
          <a:prstGeom prst="line">
            <a:avLst/>
          </a:prstGeom>
          <a:noFill/>
          <a:ln w="25400" algn="ctr">
            <a:solidFill>
              <a:srgbClr val="00B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upo 38">
            <a:extLst>
              <a:ext uri="{FF2B5EF4-FFF2-40B4-BE49-F238E27FC236}">
                <a16:creationId xmlns:a16="http://schemas.microsoft.com/office/drawing/2014/main" id="{03BBAF7D-3E0F-A1D0-9A2B-63574D051003}"/>
              </a:ext>
            </a:extLst>
          </p:cNvPr>
          <p:cNvGrpSpPr>
            <a:grpSpLocks/>
          </p:cNvGrpSpPr>
          <p:nvPr/>
        </p:nvGrpSpPr>
        <p:grpSpPr bwMode="auto">
          <a:xfrm>
            <a:off x="3549293" y="4349703"/>
            <a:ext cx="0" cy="576140"/>
            <a:chOff x="8244408" y="1916832"/>
            <a:chExt cx="0" cy="576064"/>
          </a:xfrm>
        </p:grpSpPr>
        <p:cxnSp>
          <p:nvCxnSpPr>
            <p:cNvPr id="10" name="Conector recto de flecha 39">
              <a:extLst>
                <a:ext uri="{FF2B5EF4-FFF2-40B4-BE49-F238E27FC236}">
                  <a16:creationId xmlns:a16="http://schemas.microsoft.com/office/drawing/2014/main" id="{48B112AD-478C-3EFB-E42D-6D11CC2A31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1916832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Conector recto de flecha 40">
              <a:extLst>
                <a:ext uri="{FF2B5EF4-FFF2-40B4-BE49-F238E27FC236}">
                  <a16:creationId xmlns:a16="http://schemas.microsoft.com/office/drawing/2014/main" id="{D487CF66-EF57-3F8F-640E-2527AF56C0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213285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Conector recto de flecha 41">
              <a:extLst>
                <a:ext uri="{FF2B5EF4-FFF2-40B4-BE49-F238E27FC236}">
                  <a16:creationId xmlns:a16="http://schemas.microsoft.com/office/drawing/2014/main" id="{91BE8939-5402-F3CB-72F0-4155E69367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234889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5C744AE-B8FE-81C1-2262-DB61F0AA0C2B}"/>
              </a:ext>
            </a:extLst>
          </p:cNvPr>
          <p:cNvGrpSpPr/>
          <p:nvPr/>
        </p:nvGrpSpPr>
        <p:grpSpPr>
          <a:xfrm>
            <a:off x="2693224" y="5276377"/>
            <a:ext cx="885826" cy="454025"/>
            <a:chOff x="3309044" y="4692970"/>
            <a:chExt cx="885826" cy="454025"/>
          </a:xfrm>
        </p:grpSpPr>
        <p:sp>
          <p:nvSpPr>
            <p:cNvPr id="14" name="Text Box 125">
              <a:extLst>
                <a:ext uri="{FF2B5EF4-FFF2-40B4-BE49-F238E27FC236}">
                  <a16:creationId xmlns:a16="http://schemas.microsoft.com/office/drawing/2014/main" id="{11F59C7C-34AC-29CE-1F54-B4D886DAD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044" y="4692970"/>
              <a:ext cx="885826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 o 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5" name="Line 127">
              <a:extLst>
                <a:ext uri="{FF2B5EF4-FFF2-40B4-BE49-F238E27FC236}">
                  <a16:creationId xmlns:a16="http://schemas.microsoft.com/office/drawing/2014/main" id="{1434AAED-D2BB-74C8-018A-F8597CB00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3991" y="469297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C2A66B7-1953-5CF3-5269-4E76D183210C}"/>
              </a:ext>
            </a:extLst>
          </p:cNvPr>
          <p:cNvGrpSpPr>
            <a:grpSpLocks/>
          </p:cNvGrpSpPr>
          <p:nvPr/>
        </p:nvGrpSpPr>
        <p:grpSpPr bwMode="auto">
          <a:xfrm>
            <a:off x="3109626" y="5780433"/>
            <a:ext cx="1596911" cy="610089"/>
            <a:chOff x="8011310" y="6359872"/>
            <a:chExt cx="1597780" cy="609990"/>
          </a:xfrm>
        </p:grpSpPr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AA15ED42-8E69-7CDD-83FC-A33857A5F9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52839" y="6359872"/>
              <a:ext cx="0" cy="18940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723B27E-47E3-92A2-5798-A45738117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1310" y="6508270"/>
              <a:ext cx="1597780" cy="46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negrita</a:t>
              </a:r>
            </a:p>
          </p:txBody>
        </p:sp>
      </p:grpSp>
      <p:sp>
        <p:nvSpPr>
          <p:cNvPr id="19" name="Text Box 148">
            <a:extLst>
              <a:ext uri="{FF2B5EF4-FFF2-40B4-BE49-F238E27FC236}">
                <a16:creationId xmlns:a16="http://schemas.microsoft.com/office/drawing/2014/main" id="{269F5AA2-66D0-ABE8-2CF9-FAB9A9874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795656"/>
            <a:ext cx="2046419" cy="660144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44000" rIns="144000" b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Fuerza: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 8</a:t>
            </a:r>
            <a:r>
              <a:rPr lang="es-ES" sz="2400">
                <a:solidFill>
                  <a:srgbClr val="FF99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N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060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26">
            <a:extLst>
              <a:ext uri="{FF2B5EF4-FFF2-40B4-BE49-F238E27FC236}">
                <a16:creationId xmlns:a16="http://schemas.microsoft.com/office/drawing/2014/main" id="{A2513568-B832-4D6D-9D8A-20E73D944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2904408"/>
            <a:ext cx="2490179" cy="83099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Corresponderá a cierta longitud</a:t>
            </a:r>
          </a:p>
        </p:txBody>
      </p:sp>
      <p:sp>
        <p:nvSpPr>
          <p:cNvPr id="44" name="Text Box 26">
            <a:extLst>
              <a:ext uri="{FF2B5EF4-FFF2-40B4-BE49-F238E27FC236}">
                <a16:creationId xmlns:a16="http://schemas.microsoft.com/office/drawing/2014/main" id="{D348CA97-F82C-4790-9F2C-74CFCAB1A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2357212"/>
            <a:ext cx="171515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N: Newton</a:t>
            </a: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549DEEF-DB57-4D11-AC75-1F85FFB2E970}"/>
              </a:ext>
            </a:extLst>
          </p:cNvPr>
          <p:cNvGrpSpPr/>
          <p:nvPr/>
        </p:nvGrpSpPr>
        <p:grpSpPr>
          <a:xfrm>
            <a:off x="5354757" y="3032998"/>
            <a:ext cx="752093" cy="144847"/>
            <a:chOff x="6121112" y="5658912"/>
            <a:chExt cx="752093" cy="144847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F2FCF920-E8AB-42D8-950D-F5F386B46F44}"/>
                </a:ext>
              </a:extLst>
            </p:cNvPr>
            <p:cNvGrpSpPr/>
            <p:nvPr/>
          </p:nvGrpSpPr>
          <p:grpSpPr>
            <a:xfrm>
              <a:off x="6121112" y="5658912"/>
              <a:ext cx="223226" cy="144847"/>
              <a:chOff x="6497744" y="3769737"/>
              <a:chExt cx="223226" cy="144847"/>
            </a:xfrm>
          </p:grpSpPr>
          <p:sp>
            <p:nvSpPr>
              <p:cNvPr id="48" name="Line 136">
                <a:extLst>
                  <a:ext uri="{FF2B5EF4-FFF2-40B4-BE49-F238E27FC236}">
                    <a16:creationId xmlns:a16="http://schemas.microsoft.com/office/drawing/2014/main" id="{9EF178C8-A50D-4AC8-8D0D-97C658944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4920" y="3769737"/>
                <a:ext cx="0" cy="144182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49" name="Line 137">
                <a:extLst>
                  <a:ext uri="{FF2B5EF4-FFF2-40B4-BE49-F238E27FC236}">
                    <a16:creationId xmlns:a16="http://schemas.microsoft.com/office/drawing/2014/main" id="{189F1C53-4DA5-4656-9D1C-AB120FA0C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04970" y="3769902"/>
                <a:ext cx="216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50" name="Line 138">
                <a:extLst>
                  <a:ext uri="{FF2B5EF4-FFF2-40B4-BE49-F238E27FC236}">
                    <a16:creationId xmlns:a16="http://schemas.microsoft.com/office/drawing/2014/main" id="{1373AB03-57E4-47D5-A0AF-0F7EABAE8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97744" y="3914584"/>
                <a:ext cx="216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cxnSp>
          <p:nvCxnSpPr>
            <p:cNvPr id="47" name="Conector recto de flecha 37">
              <a:extLst>
                <a:ext uri="{FF2B5EF4-FFF2-40B4-BE49-F238E27FC236}">
                  <a16:creationId xmlns:a16="http://schemas.microsoft.com/office/drawing/2014/main" id="{2DEF1F4C-55F3-47A8-8121-62977604E8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41157" y="5732198"/>
              <a:ext cx="432048" cy="1415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Text Box 146">
            <a:extLst>
              <a:ext uri="{FF2B5EF4-FFF2-40B4-BE49-F238E27FC236}">
                <a16:creationId xmlns:a16="http://schemas.microsoft.com/office/drawing/2014/main" id="{2DA12D08-4E6A-4F81-BE03-3C96BEDD8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4941168"/>
            <a:ext cx="2490179" cy="12003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 el número de veces que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|</a:t>
            </a:r>
            <a:r>
              <a:rPr lang="es-ES" sz="2400" b="1">
                <a:latin typeface="Trebuchet MS" panose="020B0603020202020204" pitchFamily="34" charset="0"/>
              </a:rPr>
              <a:t>F</a:t>
            </a:r>
            <a:r>
              <a:rPr lang="es-ES" sz="2400" err="1">
                <a:latin typeface="Trebuchet MS" panose="020B0603020202020204" pitchFamily="34" charset="0"/>
              </a:rPr>
              <a:t>|contiene</a:t>
            </a:r>
            <a:r>
              <a:rPr lang="es-ES" sz="2400">
                <a:latin typeface="Trebuchet MS" panose="020B0603020202020204" pitchFamily="34" charset="0"/>
              </a:rPr>
              <a:t> a N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66" name="Text Box 26">
            <a:extLst>
              <a:ext uri="{FF2B5EF4-FFF2-40B4-BE49-F238E27FC236}">
                <a16:creationId xmlns:a16="http://schemas.microsoft.com/office/drawing/2014/main" id="{B8E7611C-711F-43AA-878A-A8AD2208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1896546"/>
            <a:ext cx="120913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Unidad</a:t>
            </a:r>
          </a:p>
        </p:txBody>
      </p:sp>
      <p:sp>
        <p:nvSpPr>
          <p:cNvPr id="68" name="Text Box 26">
            <a:extLst>
              <a:ext uri="{FF2B5EF4-FFF2-40B4-BE49-F238E27FC236}">
                <a16:creationId xmlns:a16="http://schemas.microsoft.com/office/drawing/2014/main" id="{B23A45E2-0140-4917-A481-3530C5DC7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4385407"/>
            <a:ext cx="171515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8</a:t>
            </a:r>
          </a:p>
        </p:txBody>
      </p:sp>
      <p:sp>
        <p:nvSpPr>
          <p:cNvPr id="69" name="Text Box 26">
            <a:extLst>
              <a:ext uri="{FF2B5EF4-FFF2-40B4-BE49-F238E27FC236}">
                <a16:creationId xmlns:a16="http://schemas.microsoft.com/office/drawing/2014/main" id="{CBFB587B-2D04-412B-8618-E4A968B62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842" y="3933056"/>
            <a:ext cx="129350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Número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Box 146">
            <a:extLst>
              <a:ext uri="{FF2B5EF4-FFF2-40B4-BE49-F238E27FC236}">
                <a16:creationId xmlns:a16="http://schemas.microsoft.com/office/drawing/2014/main" id="{87EF91F4-A217-4137-AAC3-85317C76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876" y="329608"/>
            <a:ext cx="5487466" cy="46166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EJEMPLO</a:t>
            </a:r>
            <a:endParaRPr lang="es-ES" sz="2400">
              <a:solidFill>
                <a:srgbClr val="3333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15F50735-E345-4AC4-BBC5-3A89C718E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336" y="990456"/>
            <a:ext cx="28442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La fuerza anterior</a:t>
            </a:r>
          </a:p>
        </p:txBody>
      </p:sp>
      <p:grpSp>
        <p:nvGrpSpPr>
          <p:cNvPr id="4" name="Grupo 32">
            <a:extLst>
              <a:ext uri="{FF2B5EF4-FFF2-40B4-BE49-F238E27FC236}">
                <a16:creationId xmlns:a16="http://schemas.microsoft.com/office/drawing/2014/main" id="{B180766D-648F-775D-F2FA-120C408F0A41}"/>
              </a:ext>
            </a:extLst>
          </p:cNvPr>
          <p:cNvGrpSpPr>
            <a:grpSpLocks/>
          </p:cNvGrpSpPr>
          <p:nvPr/>
        </p:nvGrpSpPr>
        <p:grpSpPr bwMode="auto">
          <a:xfrm>
            <a:off x="1981024" y="3041599"/>
            <a:ext cx="2395537" cy="1612900"/>
            <a:chOff x="7452320" y="1586609"/>
            <a:chExt cx="1223368" cy="83427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66665F3-FC57-69F5-98D3-057D1A1CD71E}"/>
                </a:ext>
              </a:extLst>
            </p:cNvPr>
            <p:cNvSpPr/>
            <p:nvPr/>
          </p:nvSpPr>
          <p:spPr bwMode="auto">
            <a:xfrm>
              <a:off x="7452320" y="1586609"/>
              <a:ext cx="1223368" cy="20200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eaLnBrk="1" hangingPunct="1">
                <a:defRPr/>
              </a:pPr>
              <a:endParaRPr lang="es-ES" sz="2400"/>
            </a:p>
          </p:txBody>
        </p:sp>
        <p:sp>
          <p:nvSpPr>
            <p:cNvPr id="6" name="Rectángulo 34">
              <a:extLst>
                <a:ext uri="{FF2B5EF4-FFF2-40B4-BE49-F238E27FC236}">
                  <a16:creationId xmlns:a16="http://schemas.microsoft.com/office/drawing/2014/main" id="{2FD5879A-F136-0537-D179-4751A8FA2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6336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7" name="Rectángulo 35">
              <a:extLst>
                <a:ext uri="{FF2B5EF4-FFF2-40B4-BE49-F238E27FC236}">
                  <a16:creationId xmlns:a16="http://schemas.microsoft.com/office/drawing/2014/main" id="{186022F3-B3DB-5C66-939C-056C1B4F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0554" y="1788222"/>
              <a:ext cx="72008" cy="632666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8" name="Elipse 37">
            <a:extLst>
              <a:ext uri="{FF2B5EF4-FFF2-40B4-BE49-F238E27FC236}">
                <a16:creationId xmlns:a16="http://schemas.microsoft.com/office/drawing/2014/main" id="{ED071A31-748B-1D37-795D-23FCC5E6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826" y="2961139"/>
            <a:ext cx="180106" cy="180034"/>
          </a:xfrm>
          <a:prstGeom prst="ellipse">
            <a:avLst/>
          </a:prstGeom>
          <a:solidFill>
            <a:srgbClr val="FF00FF"/>
          </a:solidFill>
          <a:ln w="9525" algn="ctr">
            <a:noFill/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9" name="Line 119">
            <a:extLst>
              <a:ext uri="{FF2B5EF4-FFF2-40B4-BE49-F238E27FC236}">
                <a16:creationId xmlns:a16="http://schemas.microsoft.com/office/drawing/2014/main" id="{C117E1DE-8C6B-E31B-024F-7FE7C06E06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2830" y="3044346"/>
            <a:ext cx="15875" cy="177958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cxnSp>
        <p:nvCxnSpPr>
          <p:cNvPr id="10" name="Conector recto 36">
            <a:extLst>
              <a:ext uri="{FF2B5EF4-FFF2-40B4-BE49-F238E27FC236}">
                <a16:creationId xmlns:a16="http://schemas.microsoft.com/office/drawing/2014/main" id="{7571E458-71E5-91B8-4108-A52C8AD09D9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42927" y="2719752"/>
            <a:ext cx="32603" cy="2231310"/>
          </a:xfrm>
          <a:prstGeom prst="line">
            <a:avLst/>
          </a:prstGeom>
          <a:noFill/>
          <a:ln w="25400" algn="ctr">
            <a:solidFill>
              <a:srgbClr val="00B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" name="Grupo 38">
            <a:extLst>
              <a:ext uri="{FF2B5EF4-FFF2-40B4-BE49-F238E27FC236}">
                <a16:creationId xmlns:a16="http://schemas.microsoft.com/office/drawing/2014/main" id="{33D61500-B7F4-E02E-96E8-A7E954877F95}"/>
              </a:ext>
            </a:extLst>
          </p:cNvPr>
          <p:cNvGrpSpPr>
            <a:grpSpLocks/>
          </p:cNvGrpSpPr>
          <p:nvPr/>
        </p:nvGrpSpPr>
        <p:grpSpPr bwMode="auto">
          <a:xfrm>
            <a:off x="3549293" y="4349703"/>
            <a:ext cx="0" cy="576140"/>
            <a:chOff x="8244408" y="1916832"/>
            <a:chExt cx="0" cy="576064"/>
          </a:xfrm>
        </p:grpSpPr>
        <p:cxnSp>
          <p:nvCxnSpPr>
            <p:cNvPr id="12" name="Conector recto de flecha 39">
              <a:extLst>
                <a:ext uri="{FF2B5EF4-FFF2-40B4-BE49-F238E27FC236}">
                  <a16:creationId xmlns:a16="http://schemas.microsoft.com/office/drawing/2014/main" id="{F0E3EC2A-D443-ACF6-89BE-CC414FA080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1916832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Conector recto de flecha 40">
              <a:extLst>
                <a:ext uri="{FF2B5EF4-FFF2-40B4-BE49-F238E27FC236}">
                  <a16:creationId xmlns:a16="http://schemas.microsoft.com/office/drawing/2014/main" id="{C100E5A3-D1CC-41F1-7665-2AADEFA1AC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213285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Conector recto de flecha 41">
              <a:extLst>
                <a:ext uri="{FF2B5EF4-FFF2-40B4-BE49-F238E27FC236}">
                  <a16:creationId xmlns:a16="http://schemas.microsoft.com/office/drawing/2014/main" id="{0FF8A991-01D6-BDDD-EB9F-EE32BE24F1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44408" y="2348896"/>
              <a:ext cx="0" cy="144000"/>
            </a:xfrm>
            <a:prstGeom prst="straightConnector1">
              <a:avLst/>
            </a:prstGeom>
            <a:noFill/>
            <a:ln w="50800" algn="ctr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7DDD90C-F23F-2A05-CC83-C9697D2FE649}"/>
              </a:ext>
            </a:extLst>
          </p:cNvPr>
          <p:cNvGrpSpPr/>
          <p:nvPr/>
        </p:nvGrpSpPr>
        <p:grpSpPr>
          <a:xfrm>
            <a:off x="2693224" y="5276377"/>
            <a:ext cx="885826" cy="454025"/>
            <a:chOff x="3309044" y="4692970"/>
            <a:chExt cx="885826" cy="454025"/>
          </a:xfrm>
        </p:grpSpPr>
        <p:sp>
          <p:nvSpPr>
            <p:cNvPr id="16" name="Text Box 125">
              <a:extLst>
                <a:ext uri="{FF2B5EF4-FFF2-40B4-BE49-F238E27FC236}">
                  <a16:creationId xmlns:a16="http://schemas.microsoft.com/office/drawing/2014/main" id="{A757AEB4-1209-F000-5A75-1CE19139E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044" y="4692970"/>
              <a:ext cx="885826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 o 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" name="Line 127">
              <a:extLst>
                <a:ext uri="{FF2B5EF4-FFF2-40B4-BE49-F238E27FC236}">
                  <a16:creationId xmlns:a16="http://schemas.microsoft.com/office/drawing/2014/main" id="{A3A6148D-5590-0A7F-11D0-A43087E0D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3991" y="469297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176F3F9-3601-5211-797F-CB3DFBFA7378}"/>
              </a:ext>
            </a:extLst>
          </p:cNvPr>
          <p:cNvGrpSpPr>
            <a:grpSpLocks/>
          </p:cNvGrpSpPr>
          <p:nvPr/>
        </p:nvGrpSpPr>
        <p:grpSpPr bwMode="auto">
          <a:xfrm>
            <a:off x="3109626" y="5780433"/>
            <a:ext cx="1596911" cy="610089"/>
            <a:chOff x="8011310" y="6359872"/>
            <a:chExt cx="1597780" cy="609990"/>
          </a:xfrm>
        </p:grpSpPr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CD683E80-9CFD-1AF4-6F32-76892E2BB0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52839" y="6359872"/>
              <a:ext cx="0" cy="18940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281A1AD-209B-3407-2794-6AADFF0DB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1310" y="6508270"/>
              <a:ext cx="1597780" cy="46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negrita</a:t>
              </a:r>
            </a:p>
          </p:txBody>
        </p:sp>
      </p:grpSp>
      <p:sp>
        <p:nvSpPr>
          <p:cNvPr id="21" name="Text Box 148">
            <a:extLst>
              <a:ext uri="{FF2B5EF4-FFF2-40B4-BE49-F238E27FC236}">
                <a16:creationId xmlns:a16="http://schemas.microsoft.com/office/drawing/2014/main" id="{E816ED90-1522-A2E5-0DE4-A06D52700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795656"/>
            <a:ext cx="2046419" cy="660144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44000" rIns="144000" b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Fuerza: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 8</a:t>
            </a:r>
            <a:r>
              <a:rPr lang="es-ES" sz="2400">
                <a:solidFill>
                  <a:srgbClr val="FF99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N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2" name="Text Box 142">
            <a:extLst>
              <a:ext uri="{FF2B5EF4-FFF2-40B4-BE49-F238E27FC236}">
                <a16:creationId xmlns:a16="http://schemas.microsoft.com/office/drawing/2014/main" id="{7974C3E3-A778-75FE-A1A5-DC602CD36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12" y="3810090"/>
            <a:ext cx="509588" cy="454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|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|</a:t>
            </a:r>
            <a:endParaRPr lang="es-ES" sz="2400" b="1">
              <a:latin typeface="Arial" panose="020B0604020202020204" pitchFamily="34" charset="0"/>
            </a:endParaRPr>
          </a:p>
        </p:txBody>
      </p:sp>
      <p:grpSp>
        <p:nvGrpSpPr>
          <p:cNvPr id="23" name="Group 139">
            <a:extLst>
              <a:ext uri="{FF2B5EF4-FFF2-40B4-BE49-F238E27FC236}">
                <a16:creationId xmlns:a16="http://schemas.microsoft.com/office/drawing/2014/main" id="{523EB378-F8AD-E5B6-E917-73EBECFA2E49}"/>
              </a:ext>
            </a:extLst>
          </p:cNvPr>
          <p:cNvGrpSpPr>
            <a:grpSpLocks/>
          </p:cNvGrpSpPr>
          <p:nvPr/>
        </p:nvGrpSpPr>
        <p:grpSpPr bwMode="auto">
          <a:xfrm rot="-3040569">
            <a:off x="4151072" y="3229427"/>
            <a:ext cx="1595437" cy="1366837"/>
            <a:chOff x="3170" y="2306"/>
            <a:chExt cx="1040" cy="876"/>
          </a:xfrm>
        </p:grpSpPr>
        <p:sp>
          <p:nvSpPr>
            <p:cNvPr id="24" name="Line 136">
              <a:extLst>
                <a:ext uri="{FF2B5EF4-FFF2-40B4-BE49-F238E27FC236}">
                  <a16:creationId xmlns:a16="http://schemas.microsoft.com/office/drawing/2014/main" id="{EFFD343D-D795-D5C5-387F-C88E32E52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3" y="2387"/>
              <a:ext cx="884" cy="70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" name="Line 137">
              <a:extLst>
                <a:ext uri="{FF2B5EF4-FFF2-40B4-BE49-F238E27FC236}">
                  <a16:creationId xmlns:a16="http://schemas.microsoft.com/office/drawing/2014/main" id="{BD861072-EB8A-4528-8B01-951ED5D08A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042" y="2323"/>
              <a:ext cx="185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6" name="Line 138">
              <a:extLst>
                <a:ext uri="{FF2B5EF4-FFF2-40B4-BE49-F238E27FC236}">
                  <a16:creationId xmlns:a16="http://schemas.microsoft.com/office/drawing/2014/main" id="{18325D83-6F7B-124B-8031-451447D7F6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153" y="3014"/>
              <a:ext cx="185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864933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44" grpId="0" animBg="1"/>
      <p:bldP spid="60" grpId="0" animBg="1"/>
      <p:bldP spid="66" grpId="0"/>
      <p:bldP spid="68" grpId="0" animBg="1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1E5E93B-ECFA-4BBD-BE74-5C8A768516D1}"/>
              </a:ext>
            </a:extLst>
          </p:cNvPr>
          <p:cNvGrpSpPr/>
          <p:nvPr/>
        </p:nvGrpSpPr>
        <p:grpSpPr>
          <a:xfrm>
            <a:off x="5076056" y="2910654"/>
            <a:ext cx="3647496" cy="1878623"/>
            <a:chOff x="3228760" y="4175761"/>
            <a:chExt cx="3647496" cy="1878623"/>
          </a:xfrm>
        </p:grpSpPr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90E1D22F-590A-4C5B-AA54-3759A6E87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5668" y="4331946"/>
              <a:ext cx="2160588" cy="172243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8B9A49B1-4EAB-45C8-8441-17F5531508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760" y="4175761"/>
              <a:ext cx="2160588" cy="172243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7429" name="Group 94"/>
          <p:cNvGrpSpPr>
            <a:grpSpLocks/>
          </p:cNvGrpSpPr>
          <p:nvPr/>
        </p:nvGrpSpPr>
        <p:grpSpPr bwMode="auto">
          <a:xfrm>
            <a:off x="7205782" y="3992182"/>
            <a:ext cx="917573" cy="454025"/>
            <a:chOff x="3751" y="1026"/>
            <a:chExt cx="578" cy="286"/>
          </a:xfrm>
        </p:grpSpPr>
        <p:sp>
          <p:nvSpPr>
            <p:cNvPr id="17439" name="Line 21"/>
            <p:cNvSpPr>
              <a:spLocks noChangeShapeType="1"/>
            </p:cNvSpPr>
            <p:nvPr/>
          </p:nvSpPr>
          <p:spPr bwMode="auto">
            <a:xfrm flipH="1">
              <a:off x="3751" y="1055"/>
              <a:ext cx="198" cy="15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4047" y="1026"/>
              <a:ext cx="2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  <a:r>
                <a:rPr lang="es-ES" sz="2400" baseline="-250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 flipV="1">
              <a:off x="4100" y="109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7430" name="Line 26"/>
          <p:cNvSpPr>
            <a:spLocks noChangeShapeType="1"/>
          </p:cNvSpPr>
          <p:nvPr/>
        </p:nvSpPr>
        <p:spPr bwMode="auto">
          <a:xfrm flipV="1">
            <a:off x="5708741" y="3027989"/>
            <a:ext cx="2160588" cy="17224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1320" name="CuadroTexto 1"/>
          <p:cNvSpPr txBox="1">
            <a:spLocks noChangeArrowheads="1"/>
          </p:cNvSpPr>
          <p:nvPr/>
        </p:nvSpPr>
        <p:spPr bwMode="auto">
          <a:xfrm>
            <a:off x="1161497" y="5190291"/>
            <a:ext cx="7560840" cy="83099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defRPr/>
            </a:pPr>
            <a:r>
              <a:rPr lang="es-ES" sz="2400"/>
              <a:t>Y se caracteriza con un vector unitario, con esa dirección, situado en cualquier punto</a:t>
            </a:r>
          </a:p>
        </p:txBody>
      </p:sp>
      <p:grpSp>
        <p:nvGrpSpPr>
          <p:cNvPr id="10" name="Group 94">
            <a:extLst>
              <a:ext uri="{FF2B5EF4-FFF2-40B4-BE49-F238E27FC236}">
                <a16:creationId xmlns:a16="http://schemas.microsoft.com/office/drawing/2014/main" id="{B672EDDB-02AC-453D-8951-359F3C531AC8}"/>
              </a:ext>
            </a:extLst>
          </p:cNvPr>
          <p:cNvGrpSpPr>
            <a:grpSpLocks/>
          </p:cNvGrpSpPr>
          <p:nvPr/>
        </p:nvGrpSpPr>
        <p:grpSpPr bwMode="auto">
          <a:xfrm>
            <a:off x="7231411" y="3117765"/>
            <a:ext cx="852485" cy="454025"/>
            <a:chOff x="3751" y="957"/>
            <a:chExt cx="537" cy="286"/>
          </a:xfrm>
        </p:grpSpPr>
        <p:sp>
          <p:nvSpPr>
            <p:cNvPr id="11" name="Line 21">
              <a:extLst>
                <a:ext uri="{FF2B5EF4-FFF2-40B4-BE49-F238E27FC236}">
                  <a16:creationId xmlns:a16="http://schemas.microsoft.com/office/drawing/2014/main" id="{48844F01-C8FE-454C-9525-7800715B4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1055"/>
              <a:ext cx="198" cy="15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2" name="Text Box 32">
              <a:extLst>
                <a:ext uri="{FF2B5EF4-FFF2-40B4-BE49-F238E27FC236}">
                  <a16:creationId xmlns:a16="http://schemas.microsoft.com/office/drawing/2014/main" id="{484B60DD-DF78-4F41-ABB5-8F6797F08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" y="957"/>
              <a:ext cx="2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  <a:r>
                <a:rPr lang="es-ES" sz="2400" baseline="-25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" name="Line 33">
              <a:extLst>
                <a:ext uri="{FF2B5EF4-FFF2-40B4-BE49-F238E27FC236}">
                  <a16:creationId xmlns:a16="http://schemas.microsoft.com/office/drawing/2014/main" id="{BE3BF55A-5FDC-47DA-AEB8-EAB660722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1030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4" name="CuadroTexto 1">
            <a:extLst>
              <a:ext uri="{FF2B5EF4-FFF2-40B4-BE49-F238E27FC236}">
                <a16:creationId xmlns:a16="http://schemas.microsoft.com/office/drawing/2014/main" id="{A120AC9D-C320-4645-B070-19E9A3DB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439" y="3299500"/>
            <a:ext cx="3773923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defRPr/>
            </a:pPr>
            <a:r>
              <a:rPr lang="es-ES" sz="2400"/>
              <a:t>Una dirección se define con una línea recta concreta, o con cualquier recta paralela a ella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1FEE8596-4F51-48E2-8D77-215CE8F92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24" y="2602765"/>
            <a:ext cx="27201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¿Para qué se usan?</a:t>
            </a:r>
          </a:p>
        </p:txBody>
      </p:sp>
      <p:grpSp>
        <p:nvGrpSpPr>
          <p:cNvPr id="17" name="Group 94">
            <a:extLst>
              <a:ext uri="{FF2B5EF4-FFF2-40B4-BE49-F238E27FC236}">
                <a16:creationId xmlns:a16="http://schemas.microsoft.com/office/drawing/2014/main" id="{070646CF-4A7B-4B85-83B1-C8A264299A56}"/>
              </a:ext>
            </a:extLst>
          </p:cNvPr>
          <p:cNvGrpSpPr>
            <a:grpSpLocks/>
          </p:cNvGrpSpPr>
          <p:nvPr/>
        </p:nvGrpSpPr>
        <p:grpSpPr bwMode="auto">
          <a:xfrm>
            <a:off x="5771237" y="3203343"/>
            <a:ext cx="742948" cy="531813"/>
            <a:chOff x="3481" y="875"/>
            <a:chExt cx="468" cy="335"/>
          </a:xfrm>
        </p:grpSpPr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F9EA166A-ED0B-4D2C-9365-E11287B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1055"/>
              <a:ext cx="198" cy="15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3E023B7E-7668-47B3-9277-E6B7584ED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1" y="875"/>
              <a:ext cx="2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  <a:r>
                <a:rPr lang="es-ES" sz="2400" baseline="-250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B8C2187B-C0C8-4C19-A38E-EA3361F0A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4" y="94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1" name="CuadroTexto 1">
            <a:extLst>
              <a:ext uri="{FF2B5EF4-FFF2-40B4-BE49-F238E27FC236}">
                <a16:creationId xmlns:a16="http://schemas.microsoft.com/office/drawing/2014/main" id="{87522EB9-3C65-46C2-A1BB-D2BC714C1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149" y="6093296"/>
            <a:ext cx="756084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defRPr/>
            </a:pPr>
            <a:r>
              <a:rPr lang="es-ES" sz="2400">
                <a:solidFill>
                  <a:srgbClr val="FF0000"/>
                </a:solidFill>
              </a:rPr>
              <a:t>(Esta es la utilidad de un vector unitario)</a:t>
            </a:r>
          </a:p>
        </p:txBody>
      </p:sp>
      <p:grpSp>
        <p:nvGrpSpPr>
          <p:cNvPr id="24" name="Group 94">
            <a:extLst>
              <a:ext uri="{FF2B5EF4-FFF2-40B4-BE49-F238E27FC236}">
                <a16:creationId xmlns:a16="http://schemas.microsoft.com/office/drawing/2014/main" id="{47C88ED9-CDB1-43E7-A708-E722B218A452}"/>
              </a:ext>
            </a:extLst>
          </p:cNvPr>
          <p:cNvGrpSpPr>
            <a:grpSpLocks/>
          </p:cNvGrpSpPr>
          <p:nvPr/>
        </p:nvGrpSpPr>
        <p:grpSpPr bwMode="auto">
          <a:xfrm>
            <a:off x="6049325" y="4197846"/>
            <a:ext cx="447674" cy="741362"/>
            <a:chOff x="3726" y="1055"/>
            <a:chExt cx="282" cy="467"/>
          </a:xfrm>
        </p:grpSpPr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1DC49428-91BB-4D66-BBFE-3C277E760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1" y="1055"/>
              <a:ext cx="198" cy="15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712AA018-3A2E-4B78-9268-784264600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6" y="1236"/>
              <a:ext cx="2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  <a:r>
                <a:rPr lang="es-ES" sz="2400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5222D431-C388-409F-8DB6-FD525A702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9" y="130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" name="Text Box 18">
            <a:extLst>
              <a:ext uri="{FF2B5EF4-FFF2-40B4-BE49-F238E27FC236}">
                <a16:creationId xmlns:a16="http://schemas.microsoft.com/office/drawing/2014/main" id="{A222D502-75A3-C4FE-7AEC-335C7644F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573659"/>
            <a:ext cx="29595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Un vector con módulo igual a uno</a:t>
            </a:r>
          </a:p>
        </p:txBody>
      </p:sp>
      <p:grpSp>
        <p:nvGrpSpPr>
          <p:cNvPr id="4" name="Group 49">
            <a:extLst>
              <a:ext uri="{FF2B5EF4-FFF2-40B4-BE49-F238E27FC236}">
                <a16:creationId xmlns:a16="http://schemas.microsoft.com/office/drawing/2014/main" id="{102B377D-2816-A5CD-86BF-074949D9E865}"/>
              </a:ext>
            </a:extLst>
          </p:cNvPr>
          <p:cNvGrpSpPr>
            <a:grpSpLocks/>
          </p:cNvGrpSpPr>
          <p:nvPr/>
        </p:nvGrpSpPr>
        <p:grpSpPr bwMode="auto">
          <a:xfrm>
            <a:off x="4921488" y="1686933"/>
            <a:ext cx="1546226" cy="757238"/>
            <a:chOff x="854" y="922"/>
            <a:chExt cx="974" cy="477"/>
          </a:xfrm>
        </p:grpSpPr>
        <p:sp>
          <p:nvSpPr>
            <p:cNvPr id="5" name="Rectangle 50">
              <a:extLst>
                <a:ext uri="{FF2B5EF4-FFF2-40B4-BE49-F238E27FC236}">
                  <a16:creationId xmlns:a16="http://schemas.microsoft.com/office/drawing/2014/main" id="{BF6DFA11-9A98-26E7-367C-FCFF4AB4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922"/>
              <a:ext cx="974" cy="4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grpSp>
          <p:nvGrpSpPr>
            <p:cNvPr id="6" name="Group 51">
              <a:extLst>
                <a:ext uri="{FF2B5EF4-FFF2-40B4-BE49-F238E27FC236}">
                  <a16:creationId xmlns:a16="http://schemas.microsoft.com/office/drawing/2014/main" id="{28E03F42-1888-21A4-B32A-BECAC58676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9" y="1010"/>
              <a:ext cx="655" cy="286"/>
              <a:chOff x="1009" y="935"/>
              <a:chExt cx="655" cy="286"/>
            </a:xfrm>
          </p:grpSpPr>
          <p:sp>
            <p:nvSpPr>
              <p:cNvPr id="7" name="Text Box 32">
                <a:extLst>
                  <a:ext uri="{FF2B5EF4-FFF2-40B4-BE49-F238E27FC236}">
                    <a16:creationId xmlns:a16="http://schemas.microsoft.com/office/drawing/2014/main" id="{2CF89662-84DA-C832-9CFD-49BDF5A5A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" y="935"/>
                <a:ext cx="65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u  =  </a:t>
                </a:r>
                <a:r>
                  <a:rPr lang="es-ES" sz="2400" b="1">
                    <a:latin typeface="Arial" panose="020B0604020202020204" pitchFamily="34" charset="0"/>
                  </a:rPr>
                  <a:t>u</a:t>
                </a:r>
              </a:p>
            </p:txBody>
          </p:sp>
          <p:sp>
            <p:nvSpPr>
              <p:cNvPr id="8" name="Line 33">
                <a:extLst>
                  <a:ext uri="{FF2B5EF4-FFF2-40B4-BE49-F238E27FC236}">
                    <a16:creationId xmlns:a16="http://schemas.microsoft.com/office/drawing/2014/main" id="{6EEE9D77-155A-7298-5905-D5C68B478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8" y="1002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9" name="Group 54">
            <a:extLst>
              <a:ext uri="{FF2B5EF4-FFF2-40B4-BE49-F238E27FC236}">
                <a16:creationId xmlns:a16="http://schemas.microsoft.com/office/drawing/2014/main" id="{CF875A11-E068-985E-8BF7-F793433961B4}"/>
              </a:ext>
            </a:extLst>
          </p:cNvPr>
          <p:cNvGrpSpPr>
            <a:grpSpLocks/>
          </p:cNvGrpSpPr>
          <p:nvPr/>
        </p:nvGrpSpPr>
        <p:grpSpPr bwMode="auto">
          <a:xfrm>
            <a:off x="6695862" y="1686419"/>
            <a:ext cx="2016127" cy="757239"/>
            <a:chOff x="4772" y="922"/>
            <a:chExt cx="1270" cy="477"/>
          </a:xfrm>
        </p:grpSpPr>
        <p:sp>
          <p:nvSpPr>
            <p:cNvPr id="28" name="Rectangle 55">
              <a:extLst>
                <a:ext uri="{FF2B5EF4-FFF2-40B4-BE49-F238E27FC236}">
                  <a16:creationId xmlns:a16="http://schemas.microsoft.com/office/drawing/2014/main" id="{70A5C24D-D586-05E9-51CD-5CE4A1D7A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922"/>
              <a:ext cx="1270" cy="47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s-ES" sz="2400">
                <a:latin typeface="Trebuchet MS" panose="020B0603020202020204" pitchFamily="34" charset="0"/>
              </a:endParaRPr>
            </a:p>
          </p:txBody>
        </p: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CFDE0675-624C-AB84-C2D7-100C488E1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" y="1026"/>
              <a:ext cx="106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|u| = |</a:t>
              </a:r>
              <a:r>
                <a:rPr lang="es-ES" sz="2400" b="1">
                  <a:latin typeface="Arial" panose="020B0604020202020204" pitchFamily="34" charset="0"/>
                </a:rPr>
                <a:t>u</a:t>
              </a:r>
              <a:r>
                <a:rPr lang="es-ES" sz="2400">
                  <a:latin typeface="Arial" panose="020B0604020202020204" pitchFamily="34" charset="0"/>
                </a:rPr>
                <a:t>| = 1</a:t>
              </a:r>
            </a:p>
          </p:txBody>
        </p:sp>
        <p:sp>
          <p:nvSpPr>
            <p:cNvPr id="30" name="Line 33">
              <a:extLst>
                <a:ext uri="{FF2B5EF4-FFF2-40B4-BE49-F238E27FC236}">
                  <a16:creationId xmlns:a16="http://schemas.microsoft.com/office/drawing/2014/main" id="{4230A6F3-004D-7021-7140-614258BD2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0" y="1071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1" name="Text Box 2">
            <a:extLst>
              <a:ext uri="{FF2B5EF4-FFF2-40B4-BE49-F238E27FC236}">
                <a16:creationId xmlns:a16="http://schemas.microsoft.com/office/drawing/2014/main" id="{A9CA1BB2-CF92-F36A-D92D-940587226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679821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VECTOR UNITARIO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0" grpId="0" animBg="1"/>
      <p:bldP spid="11320" grpId="0" animBg="1"/>
      <p:bldP spid="14" grpId="0" animBg="1"/>
      <p:bldP spid="16" grpId="0"/>
      <p:bldP spid="21" grpId="0"/>
      <p:bldP spid="3" grpId="0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41" name="Group 37"/>
          <p:cNvGrpSpPr>
            <a:grpSpLocks/>
          </p:cNvGrpSpPr>
          <p:nvPr/>
        </p:nvGrpSpPr>
        <p:grpSpPr bwMode="auto">
          <a:xfrm>
            <a:off x="3168650" y="2578544"/>
            <a:ext cx="1403350" cy="1198563"/>
            <a:chOff x="3105" y="1859"/>
            <a:chExt cx="884" cy="755"/>
          </a:xfrm>
        </p:grpSpPr>
        <p:sp>
          <p:nvSpPr>
            <p:cNvPr id="13332" name="Line 119"/>
            <p:cNvSpPr>
              <a:spLocks noChangeShapeType="1"/>
            </p:cNvSpPr>
            <p:nvPr/>
          </p:nvSpPr>
          <p:spPr bwMode="auto">
            <a:xfrm flipV="1">
              <a:off x="3105" y="1905"/>
              <a:ext cx="884" cy="70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grpSp>
          <p:nvGrpSpPr>
            <p:cNvPr id="13333" name="Group 151"/>
            <p:cNvGrpSpPr>
              <a:grpSpLocks/>
            </p:cNvGrpSpPr>
            <p:nvPr/>
          </p:nvGrpSpPr>
          <p:grpSpPr bwMode="auto">
            <a:xfrm>
              <a:off x="3306" y="1859"/>
              <a:ext cx="220" cy="286"/>
              <a:chOff x="2632" y="2568"/>
              <a:chExt cx="220" cy="286"/>
            </a:xfrm>
          </p:grpSpPr>
          <p:sp>
            <p:nvSpPr>
              <p:cNvPr id="13334" name="Text Box 125"/>
              <p:cNvSpPr txBox="1">
                <a:spLocks noChangeArrowheads="1"/>
              </p:cNvSpPr>
              <p:nvPr/>
            </p:nvSpPr>
            <p:spPr bwMode="auto">
              <a:xfrm>
                <a:off x="2632" y="2568"/>
                <a:ext cx="22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F</a:t>
                </a:r>
                <a:endParaRPr lang="es-ES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13335" name="Line 127"/>
              <p:cNvSpPr>
                <a:spLocks noChangeShapeType="1"/>
              </p:cNvSpPr>
              <p:nvPr/>
            </p:nvSpPr>
            <p:spPr bwMode="auto">
              <a:xfrm flipV="1">
                <a:off x="2716" y="257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sp>
        <p:nvSpPr>
          <p:cNvPr id="13316" name="Text Box 2"/>
          <p:cNvSpPr txBox="1">
            <a:spLocks noChangeArrowheads="1"/>
          </p:cNvSpPr>
          <p:nvPr/>
        </p:nvSpPr>
        <p:spPr bwMode="auto">
          <a:xfrm>
            <a:off x="2411413" y="680023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VECTOR OPUESTO</a:t>
            </a:r>
          </a:p>
        </p:txBody>
      </p:sp>
      <p:sp>
        <p:nvSpPr>
          <p:cNvPr id="51347" name="Text Box 147"/>
          <p:cNvSpPr txBox="1">
            <a:spLocks noChangeArrowheads="1"/>
          </p:cNvSpPr>
          <p:nvPr/>
        </p:nvSpPr>
        <p:spPr bwMode="auto">
          <a:xfrm>
            <a:off x="1743368" y="1364575"/>
            <a:ext cx="64087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Un vector con el mismo módulo y dirección, pero sentido contrario</a:t>
            </a:r>
          </a:p>
        </p:txBody>
      </p:sp>
      <p:sp>
        <p:nvSpPr>
          <p:cNvPr id="51319" name="Line 119"/>
          <p:cNvSpPr>
            <a:spLocks noChangeShapeType="1"/>
          </p:cNvSpPr>
          <p:nvPr/>
        </p:nvSpPr>
        <p:spPr bwMode="auto">
          <a:xfrm flipH="1">
            <a:off x="5292080" y="2731591"/>
            <a:ext cx="1403350" cy="1125538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47142" name="Group 38"/>
          <p:cNvGrpSpPr>
            <a:grpSpLocks/>
          </p:cNvGrpSpPr>
          <p:nvPr/>
        </p:nvGrpSpPr>
        <p:grpSpPr bwMode="auto">
          <a:xfrm>
            <a:off x="5614342" y="2564904"/>
            <a:ext cx="485775" cy="454025"/>
            <a:chOff x="2426" y="2341"/>
            <a:chExt cx="306" cy="286"/>
          </a:xfrm>
        </p:grpSpPr>
        <p:sp>
          <p:nvSpPr>
            <p:cNvPr id="13329" name="Text Box 125"/>
            <p:cNvSpPr txBox="1">
              <a:spLocks noChangeArrowheads="1"/>
            </p:cNvSpPr>
            <p:nvPr/>
          </p:nvSpPr>
          <p:spPr bwMode="auto">
            <a:xfrm>
              <a:off x="2426" y="2341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</a:t>
              </a:r>
              <a:r>
                <a:rPr lang="es-ES" sz="2400">
                  <a:latin typeface="Arial" panose="020B0604020202020204" pitchFamily="34" charset="0"/>
                </a:rPr>
                <a:t>F'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13330" name="Line 127"/>
            <p:cNvSpPr>
              <a:spLocks noChangeShapeType="1"/>
            </p:cNvSpPr>
            <p:nvPr/>
          </p:nvSpPr>
          <p:spPr bwMode="auto">
            <a:xfrm flipV="1">
              <a:off x="2539" y="2367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3131840" y="4508349"/>
            <a:ext cx="1439863" cy="725487"/>
            <a:chOff x="6032038" y="4692030"/>
            <a:chExt cx="1439565" cy="725811"/>
          </a:xfrm>
        </p:grpSpPr>
        <p:sp>
          <p:nvSpPr>
            <p:cNvPr id="13320" name="Rectángulo 4"/>
            <p:cNvSpPr>
              <a:spLocks noChangeArrowheads="1"/>
            </p:cNvSpPr>
            <p:nvPr/>
          </p:nvSpPr>
          <p:spPr bwMode="auto">
            <a:xfrm>
              <a:off x="6032038" y="4692030"/>
              <a:ext cx="1439565" cy="72581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s-ES" sz="2400">
                <a:latin typeface="Trebuchet MS" panose="020B0603020202020204" pitchFamily="34" charset="0"/>
              </a:endParaRPr>
            </a:p>
          </p:txBody>
        </p:sp>
        <p:grpSp>
          <p:nvGrpSpPr>
            <p:cNvPr id="13322" name="Group 38"/>
            <p:cNvGrpSpPr>
              <a:grpSpLocks/>
            </p:cNvGrpSpPr>
            <p:nvPr/>
          </p:nvGrpSpPr>
          <p:grpSpPr bwMode="auto">
            <a:xfrm>
              <a:off x="6732240" y="4827588"/>
              <a:ext cx="593725" cy="454025"/>
              <a:chOff x="2426" y="2341"/>
              <a:chExt cx="374" cy="286"/>
            </a:xfrm>
          </p:grpSpPr>
          <p:sp>
            <p:nvSpPr>
              <p:cNvPr id="13327" name="Text Box 125"/>
              <p:cNvSpPr txBox="1">
                <a:spLocks noChangeArrowheads="1"/>
              </p:cNvSpPr>
              <p:nvPr/>
            </p:nvSpPr>
            <p:spPr bwMode="auto">
              <a:xfrm>
                <a:off x="2426" y="2341"/>
                <a:ext cx="37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</a:t>
                </a:r>
                <a:r>
                  <a:rPr lang="es-ES" sz="2400">
                    <a:latin typeface="Arial" panose="020B0604020202020204" pitchFamily="34" charset="0"/>
                  </a:rPr>
                  <a:t>F</a:t>
                </a:r>
                <a:endParaRPr lang="es-ES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13328" name="Line 127"/>
              <p:cNvSpPr>
                <a:spLocks noChangeShapeType="1"/>
              </p:cNvSpPr>
              <p:nvPr/>
            </p:nvSpPr>
            <p:spPr bwMode="auto">
              <a:xfrm flipV="1">
                <a:off x="2608" y="2367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13323" name="Group 38"/>
            <p:cNvGrpSpPr>
              <a:grpSpLocks/>
            </p:cNvGrpSpPr>
            <p:nvPr/>
          </p:nvGrpSpPr>
          <p:grpSpPr bwMode="auto">
            <a:xfrm>
              <a:off x="6137897" y="4821238"/>
              <a:ext cx="485775" cy="454025"/>
              <a:chOff x="2426" y="2341"/>
              <a:chExt cx="306" cy="286"/>
            </a:xfrm>
          </p:grpSpPr>
          <p:sp>
            <p:nvSpPr>
              <p:cNvPr id="13325" name="Text Box 125"/>
              <p:cNvSpPr txBox="1">
                <a:spLocks noChangeArrowheads="1"/>
              </p:cNvSpPr>
              <p:nvPr/>
            </p:nvSpPr>
            <p:spPr bwMode="auto">
              <a:xfrm>
                <a:off x="2426" y="2341"/>
                <a:ext cx="306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</a:t>
                </a:r>
                <a:r>
                  <a:rPr lang="es-ES" sz="2400">
                    <a:latin typeface="Arial" panose="020B0604020202020204" pitchFamily="34" charset="0"/>
                  </a:rPr>
                  <a:t>F'</a:t>
                </a:r>
                <a:endParaRPr lang="es-ES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13326" name="Line 127"/>
              <p:cNvSpPr>
                <a:spLocks noChangeShapeType="1"/>
              </p:cNvSpPr>
              <p:nvPr/>
            </p:nvSpPr>
            <p:spPr bwMode="auto">
              <a:xfrm flipV="1">
                <a:off x="2539" y="2367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sp>
          <p:nvSpPr>
            <p:cNvPr id="13324" name="CuadroTexto 3"/>
            <p:cNvSpPr txBox="1">
              <a:spLocks noChangeArrowheads="1"/>
            </p:cNvSpPr>
            <p:nvPr/>
          </p:nvSpPr>
          <p:spPr bwMode="auto">
            <a:xfrm>
              <a:off x="6566027" y="4849495"/>
              <a:ext cx="346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=</a:t>
              </a:r>
            </a:p>
          </p:txBody>
        </p:sp>
      </p:grpSp>
      <p:grpSp>
        <p:nvGrpSpPr>
          <p:cNvPr id="24" name="Grupo 23"/>
          <p:cNvGrpSpPr>
            <a:grpSpLocks/>
          </p:cNvGrpSpPr>
          <p:nvPr/>
        </p:nvGrpSpPr>
        <p:grpSpPr bwMode="auto">
          <a:xfrm>
            <a:off x="5292080" y="4509120"/>
            <a:ext cx="1439863" cy="725487"/>
            <a:chOff x="6032038" y="4692030"/>
            <a:chExt cx="1439565" cy="725811"/>
          </a:xfrm>
        </p:grpSpPr>
        <p:sp>
          <p:nvSpPr>
            <p:cNvPr id="25" name="Rectángulo 4"/>
            <p:cNvSpPr>
              <a:spLocks noChangeArrowheads="1"/>
            </p:cNvSpPr>
            <p:nvPr/>
          </p:nvSpPr>
          <p:spPr bwMode="auto">
            <a:xfrm>
              <a:off x="6032038" y="4692030"/>
              <a:ext cx="1439565" cy="72581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s-ES" sz="2400">
                <a:latin typeface="Trebuchet MS" panose="020B0603020202020204" pitchFamily="34" charset="0"/>
              </a:endParaRPr>
            </a:p>
          </p:txBody>
        </p:sp>
        <p:sp>
          <p:nvSpPr>
            <p:cNvPr id="31" name="Text Box 125"/>
            <p:cNvSpPr txBox="1">
              <a:spLocks noChangeArrowheads="1"/>
            </p:cNvSpPr>
            <p:nvPr/>
          </p:nvSpPr>
          <p:spPr bwMode="auto">
            <a:xfrm>
              <a:off x="6732240" y="4827588"/>
              <a:ext cx="5937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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9" name="Text Box 125"/>
            <p:cNvSpPr txBox="1">
              <a:spLocks noChangeArrowheads="1"/>
            </p:cNvSpPr>
            <p:nvPr/>
          </p:nvSpPr>
          <p:spPr bwMode="auto">
            <a:xfrm>
              <a:off x="6137897" y="4821238"/>
              <a:ext cx="4857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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'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28" name="CuadroTexto 3"/>
            <p:cNvSpPr txBox="1">
              <a:spLocks noChangeArrowheads="1"/>
            </p:cNvSpPr>
            <p:nvPr/>
          </p:nvSpPr>
          <p:spPr bwMode="auto">
            <a:xfrm>
              <a:off x="6566027" y="4849495"/>
              <a:ext cx="346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=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AE09F6F1-772C-4F02-A21A-B47C020CCBBA}"/>
              </a:ext>
            </a:extLst>
          </p:cNvPr>
          <p:cNvGrpSpPr/>
          <p:nvPr/>
        </p:nvGrpSpPr>
        <p:grpSpPr>
          <a:xfrm>
            <a:off x="4028017" y="5589240"/>
            <a:ext cx="1800502" cy="725487"/>
            <a:chOff x="6515914" y="5579200"/>
            <a:chExt cx="1800502" cy="725487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DA7049FD-58EE-4768-B69F-2269016E4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5914" y="5579200"/>
              <a:ext cx="1800502" cy="725487"/>
              <a:chOff x="6032038" y="4692030"/>
              <a:chExt cx="1800130" cy="725811"/>
            </a:xfrm>
          </p:grpSpPr>
          <p:sp>
            <p:nvSpPr>
              <p:cNvPr id="32" name="Rectángulo 4">
                <a:extLst>
                  <a:ext uri="{FF2B5EF4-FFF2-40B4-BE49-F238E27FC236}">
                    <a16:creationId xmlns:a16="http://schemas.microsoft.com/office/drawing/2014/main" id="{4BAFE67B-8B1F-4CE2-8D12-C088137F4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2038" y="4692030"/>
                <a:ext cx="1800130" cy="72581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s-ES" sz="2400">
                  <a:latin typeface="Trebuchet MS" panose="020B0603020202020204" pitchFamily="34" charset="0"/>
                </a:endParaRPr>
              </a:p>
            </p:txBody>
          </p:sp>
          <p:sp>
            <p:nvSpPr>
              <p:cNvPr id="34" name="Text Box 125">
                <a:extLst>
                  <a:ext uri="{FF2B5EF4-FFF2-40B4-BE49-F238E27FC236}">
                    <a16:creationId xmlns:a16="http://schemas.microsoft.com/office/drawing/2014/main" id="{9E022E11-5243-48B5-AAB9-FACE4AED7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2290" y="4828166"/>
                <a:ext cx="1541221" cy="453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F + </a:t>
                </a:r>
                <a:r>
                  <a:rPr lang="es-ES" sz="2400">
                    <a:latin typeface="Arial" panose="020B0604020202020204" pitchFamily="34" charset="0"/>
                  </a:rPr>
                  <a:t>F’ = 0</a:t>
                </a:r>
              </a:p>
            </p:txBody>
          </p:sp>
        </p:grpSp>
        <p:sp>
          <p:nvSpPr>
            <p:cNvPr id="41" name="Line 127">
              <a:extLst>
                <a:ext uri="{FF2B5EF4-FFF2-40B4-BE49-F238E27FC236}">
                  <a16:creationId xmlns:a16="http://schemas.microsoft.com/office/drawing/2014/main" id="{530463BA-F36D-4135-83CE-630BB3177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4327" y="5744150"/>
              <a:ext cx="215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42" name="Line 127">
              <a:extLst>
                <a:ext uri="{FF2B5EF4-FFF2-40B4-BE49-F238E27FC236}">
                  <a16:creationId xmlns:a16="http://schemas.microsoft.com/office/drawing/2014/main" id="{4473C67B-5141-4E5D-B7C4-6048AB026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37258" y="5757500"/>
              <a:ext cx="215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43" name="Line 127">
              <a:extLst>
                <a:ext uri="{FF2B5EF4-FFF2-40B4-BE49-F238E27FC236}">
                  <a16:creationId xmlns:a16="http://schemas.microsoft.com/office/drawing/2014/main" id="{1552CC42-4997-4A5A-BD02-468946659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03697" y="5766764"/>
              <a:ext cx="2159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676256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51347" grpId="0"/>
      <p:bldP spid="513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26">
            <a:extLst>
              <a:ext uri="{FF2B5EF4-FFF2-40B4-BE49-F238E27FC236}">
                <a16:creationId xmlns:a16="http://schemas.microsoft.com/office/drawing/2014/main" id="{3A8F9045-44DE-4AD7-A021-1F796B99F2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21000" y="1260986"/>
            <a:ext cx="2706984" cy="2171901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38" name="Line 26">
            <a:extLst>
              <a:ext uri="{FF2B5EF4-FFF2-40B4-BE49-F238E27FC236}">
                <a16:creationId xmlns:a16="http://schemas.microsoft.com/office/drawing/2014/main" id="{2759F2A0-044D-4801-B49E-A1124E839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5416" y="1286311"/>
            <a:ext cx="2706984" cy="2171901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7411" name="Line 4"/>
          <p:cNvSpPr>
            <a:spLocks noChangeShapeType="1"/>
          </p:cNvSpPr>
          <p:nvPr/>
        </p:nvSpPr>
        <p:spPr bwMode="auto">
          <a:xfrm flipV="1">
            <a:off x="2833882" y="1422504"/>
            <a:ext cx="1403350" cy="112553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3733176" y="2262292"/>
            <a:ext cx="349098" cy="453336"/>
            <a:chOff x="4381500" y="3729038"/>
            <a:chExt cx="349098" cy="453336"/>
          </a:xfrm>
        </p:grpSpPr>
        <p:sp>
          <p:nvSpPr>
            <p:cNvPr id="17437" name="Text Box 5"/>
            <p:cNvSpPr txBox="1">
              <a:spLocks noChangeArrowheads="1"/>
            </p:cNvSpPr>
            <p:nvPr/>
          </p:nvSpPr>
          <p:spPr bwMode="auto">
            <a:xfrm>
              <a:off x="4381500" y="3729038"/>
              <a:ext cx="349098" cy="453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38" name="Line 6"/>
            <p:cNvSpPr>
              <a:spLocks noChangeShapeType="1"/>
            </p:cNvSpPr>
            <p:nvPr/>
          </p:nvSpPr>
          <p:spPr bwMode="auto">
            <a:xfrm flipV="1">
              <a:off x="4476750" y="3800475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7414" name="Line 27"/>
          <p:cNvSpPr>
            <a:spLocks noChangeShapeType="1"/>
          </p:cNvSpPr>
          <p:nvPr/>
        </p:nvSpPr>
        <p:spPr bwMode="auto">
          <a:xfrm flipH="1">
            <a:off x="5744499" y="2217039"/>
            <a:ext cx="1275773" cy="1023216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7435" name="54 CuadroTexto"/>
          <p:cNvSpPr txBox="1">
            <a:spLocks noChangeArrowheads="1"/>
          </p:cNvSpPr>
          <p:nvPr/>
        </p:nvSpPr>
        <p:spPr bwMode="auto">
          <a:xfrm>
            <a:off x="2374601" y="3785264"/>
            <a:ext cx="2197399" cy="5078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Paralelos</a:t>
            </a:r>
          </a:p>
        </p:txBody>
      </p:sp>
      <p:sp>
        <p:nvSpPr>
          <p:cNvPr id="17436" name="54 CuadroTexto"/>
          <p:cNvSpPr txBox="1">
            <a:spLocks noChangeArrowheads="1"/>
          </p:cNvSpPr>
          <p:nvPr/>
        </p:nvSpPr>
        <p:spPr bwMode="auto">
          <a:xfrm>
            <a:off x="1228030" y="4380636"/>
            <a:ext cx="3343970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Misma dirección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y sentido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(el ángulo entre ellos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 es 0º)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7216034" y="1732767"/>
            <a:ext cx="380302" cy="769857"/>
            <a:chOff x="3800475" y="3047040"/>
            <a:chExt cx="380303" cy="769856"/>
          </a:xfrm>
        </p:grpSpPr>
        <p:sp>
          <p:nvSpPr>
            <p:cNvPr id="17432" name="Line 21"/>
            <p:cNvSpPr>
              <a:spLocks noChangeShapeType="1"/>
            </p:cNvSpPr>
            <p:nvPr/>
          </p:nvSpPr>
          <p:spPr bwMode="auto">
            <a:xfrm flipV="1">
              <a:off x="3866453" y="3047040"/>
              <a:ext cx="314325" cy="2706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7433" name="Text Box 32"/>
            <p:cNvSpPr txBox="1">
              <a:spLocks noChangeArrowheads="1"/>
            </p:cNvSpPr>
            <p:nvPr/>
          </p:nvSpPr>
          <p:spPr bwMode="auto">
            <a:xfrm>
              <a:off x="3800475" y="3363561"/>
              <a:ext cx="333069" cy="45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17434" name="Line 33"/>
            <p:cNvSpPr>
              <a:spLocks noChangeShapeType="1"/>
            </p:cNvSpPr>
            <p:nvPr/>
          </p:nvSpPr>
          <p:spPr bwMode="auto">
            <a:xfrm flipV="1">
              <a:off x="3884613" y="347944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7428" name="Grupo 3"/>
          <p:cNvGrpSpPr>
            <a:grpSpLocks/>
          </p:cNvGrpSpPr>
          <p:nvPr/>
        </p:nvGrpSpPr>
        <p:grpSpPr bwMode="auto">
          <a:xfrm>
            <a:off x="6055721" y="1903569"/>
            <a:ext cx="493369" cy="453336"/>
            <a:chOff x="2813050" y="3935413"/>
            <a:chExt cx="493764" cy="454237"/>
          </a:xfrm>
        </p:grpSpPr>
        <p:sp>
          <p:nvSpPr>
            <p:cNvPr id="4" name="Text Box 28"/>
            <p:cNvSpPr txBox="1">
              <a:spLocks noChangeArrowheads="1"/>
            </p:cNvSpPr>
            <p:nvPr/>
          </p:nvSpPr>
          <p:spPr bwMode="auto">
            <a:xfrm>
              <a:off x="2813050" y="3935413"/>
              <a:ext cx="493764" cy="454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F' 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17431" name="Line 29"/>
            <p:cNvSpPr>
              <a:spLocks noChangeShapeType="1"/>
            </p:cNvSpPr>
            <p:nvPr/>
          </p:nvSpPr>
          <p:spPr bwMode="auto">
            <a:xfrm flipV="1">
              <a:off x="2894997" y="397516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6668107" y="1271315"/>
            <a:ext cx="814172" cy="1100783"/>
            <a:chOff x="3554160" y="3059982"/>
            <a:chExt cx="814645" cy="1100499"/>
          </a:xfrm>
        </p:grpSpPr>
        <p:sp>
          <p:nvSpPr>
            <p:cNvPr id="10" name="Arco 9"/>
            <p:cNvSpPr/>
            <p:nvPr/>
          </p:nvSpPr>
          <p:spPr bwMode="auto">
            <a:xfrm rot="19265508">
              <a:off x="3554160" y="3584366"/>
              <a:ext cx="698906" cy="576115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eaLnBrk="1" hangingPunct="1">
                <a:defRPr/>
              </a:pPr>
              <a:endParaRPr lang="es-ES" sz="2400"/>
            </a:p>
          </p:txBody>
        </p:sp>
        <p:sp>
          <p:nvSpPr>
            <p:cNvPr id="17427" name="CuadroTexto 10"/>
            <p:cNvSpPr txBox="1">
              <a:spLocks noChangeArrowheads="1"/>
            </p:cNvSpPr>
            <p:nvPr/>
          </p:nvSpPr>
          <p:spPr bwMode="auto">
            <a:xfrm>
              <a:off x="3584161" y="3059982"/>
              <a:ext cx="784644" cy="461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180º</a:t>
              </a:r>
            </a:p>
          </p:txBody>
        </p:sp>
      </p:grpSp>
      <p:sp>
        <p:nvSpPr>
          <p:cNvPr id="56" name="55 CuadroTexto"/>
          <p:cNvSpPr txBox="1">
            <a:spLocks noChangeArrowheads="1"/>
          </p:cNvSpPr>
          <p:nvPr/>
        </p:nvSpPr>
        <p:spPr bwMode="auto">
          <a:xfrm>
            <a:off x="5249256" y="4380637"/>
            <a:ext cx="3483038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Misma dirección,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pero distinto sentido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(el ángulo entre ellos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  es 180º)</a:t>
            </a:r>
          </a:p>
        </p:txBody>
      </p:sp>
      <p:sp>
        <p:nvSpPr>
          <p:cNvPr id="42" name="54 CuadroTexto"/>
          <p:cNvSpPr txBox="1">
            <a:spLocks noChangeArrowheads="1"/>
          </p:cNvSpPr>
          <p:nvPr/>
        </p:nvSpPr>
        <p:spPr bwMode="auto">
          <a:xfrm>
            <a:off x="6381212" y="3788624"/>
            <a:ext cx="2351082" cy="5078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Antiparalelos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5232322" y="3775505"/>
            <a:ext cx="1040584" cy="534070"/>
            <a:chOff x="2451296" y="3861048"/>
            <a:chExt cx="1040584" cy="534070"/>
          </a:xfrm>
        </p:grpSpPr>
        <p:sp>
          <p:nvSpPr>
            <p:cNvPr id="62" name="Rectángulo 61"/>
            <p:cNvSpPr/>
            <p:nvPr/>
          </p:nvSpPr>
          <p:spPr bwMode="auto">
            <a:xfrm>
              <a:off x="2451296" y="3861048"/>
              <a:ext cx="1040584" cy="53407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grpSp>
          <p:nvGrpSpPr>
            <p:cNvPr id="51" name="Grupo 50"/>
            <p:cNvGrpSpPr>
              <a:grpSpLocks/>
            </p:cNvGrpSpPr>
            <p:nvPr/>
          </p:nvGrpSpPr>
          <p:grpSpPr bwMode="auto">
            <a:xfrm>
              <a:off x="2527255" y="3917628"/>
              <a:ext cx="903737" cy="453336"/>
              <a:chOff x="2123728" y="4005064"/>
              <a:chExt cx="904461" cy="454237"/>
            </a:xfrm>
          </p:grpSpPr>
          <p:grpSp>
            <p:nvGrpSpPr>
              <p:cNvPr id="52" name="Grupo 3"/>
              <p:cNvGrpSpPr>
                <a:grpSpLocks/>
              </p:cNvGrpSpPr>
              <p:nvPr/>
            </p:nvGrpSpPr>
            <p:grpSpPr bwMode="auto">
              <a:xfrm>
                <a:off x="2123728" y="4005064"/>
                <a:ext cx="904461" cy="454237"/>
                <a:chOff x="2813050" y="3935413"/>
                <a:chExt cx="904461" cy="454237"/>
              </a:xfrm>
            </p:grpSpPr>
            <p:sp>
              <p:nvSpPr>
                <p:cNvPr id="5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813050" y="3935413"/>
                  <a:ext cx="904461" cy="4542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9992" tIns="41596" rIns="79992" bIns="41596">
                  <a:spAutoFit/>
                </a:bodyPr>
                <a:lstStyle>
                  <a:lvl1pPr defTabSz="8128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81280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8128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8128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8128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  <a:sym typeface="Symbol" panose="05050102010706020507" pitchFamily="18" charset="2"/>
                    </a:rPr>
                    <a:t>F' y </a:t>
                  </a:r>
                  <a:r>
                    <a:rPr lang="es-ES" sz="2400">
                      <a:latin typeface="Arial" panose="020B0604020202020204" pitchFamily="34" charset="0"/>
                    </a:rPr>
                    <a:t>u</a:t>
                  </a:r>
                </a:p>
              </p:txBody>
            </p:sp>
            <p:sp>
              <p:nvSpPr>
                <p:cNvPr id="55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894997" y="3975169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53" name="Line 29"/>
              <p:cNvSpPr>
                <a:spLocks noChangeShapeType="1"/>
              </p:cNvSpPr>
              <p:nvPr/>
            </p:nvSpPr>
            <p:spPr bwMode="auto">
              <a:xfrm flipV="1">
                <a:off x="2762889" y="4072159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14" name="Grupo 13"/>
          <p:cNvGrpSpPr/>
          <p:nvPr/>
        </p:nvGrpSpPr>
        <p:grpSpPr>
          <a:xfrm>
            <a:off x="1252136" y="3775505"/>
            <a:ext cx="1040584" cy="534070"/>
            <a:chOff x="6411736" y="3826087"/>
            <a:chExt cx="1040584" cy="534070"/>
          </a:xfrm>
        </p:grpSpPr>
        <p:sp>
          <p:nvSpPr>
            <p:cNvPr id="13" name="Rectángulo 12"/>
            <p:cNvSpPr/>
            <p:nvPr/>
          </p:nvSpPr>
          <p:spPr bwMode="auto">
            <a:xfrm>
              <a:off x="6411736" y="3826087"/>
              <a:ext cx="1040584" cy="53407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grpSp>
          <p:nvGrpSpPr>
            <p:cNvPr id="57" name="Grupo 56"/>
            <p:cNvGrpSpPr>
              <a:grpSpLocks/>
            </p:cNvGrpSpPr>
            <p:nvPr/>
          </p:nvGrpSpPr>
          <p:grpSpPr bwMode="auto">
            <a:xfrm>
              <a:off x="6467336" y="3866454"/>
              <a:ext cx="929385" cy="453336"/>
              <a:chOff x="2123728" y="4005064"/>
              <a:chExt cx="930129" cy="454237"/>
            </a:xfrm>
          </p:grpSpPr>
          <p:grpSp>
            <p:nvGrpSpPr>
              <p:cNvPr id="58" name="Grupo 3"/>
              <p:cNvGrpSpPr>
                <a:grpSpLocks/>
              </p:cNvGrpSpPr>
              <p:nvPr/>
            </p:nvGrpSpPr>
            <p:grpSpPr bwMode="auto">
              <a:xfrm>
                <a:off x="2123728" y="4005064"/>
                <a:ext cx="930129" cy="454237"/>
                <a:chOff x="2813050" y="3935413"/>
                <a:chExt cx="930129" cy="454237"/>
              </a:xfrm>
            </p:grpSpPr>
            <p:sp>
              <p:nvSpPr>
                <p:cNvPr id="6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813050" y="3935413"/>
                  <a:ext cx="930129" cy="4542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9992" tIns="41596" rIns="79992" bIns="41596">
                  <a:spAutoFit/>
                </a:bodyPr>
                <a:lstStyle>
                  <a:lvl1pPr defTabSz="8128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81280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8128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8128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8128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  <a:sym typeface="Symbol" panose="05050102010706020507" pitchFamily="18" charset="2"/>
                    </a:rPr>
                    <a:t>F  y </a:t>
                  </a:r>
                  <a:r>
                    <a:rPr lang="es-ES" sz="2400">
                      <a:latin typeface="Arial" panose="020B0604020202020204" pitchFamily="34" charset="0"/>
                    </a:rPr>
                    <a:t>u</a:t>
                  </a:r>
                </a:p>
              </p:txBody>
            </p:sp>
            <p:sp>
              <p:nvSpPr>
                <p:cNvPr id="61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894997" y="3975169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59" name="Line 29"/>
              <p:cNvSpPr>
                <a:spLocks noChangeShapeType="1"/>
              </p:cNvSpPr>
              <p:nvPr/>
            </p:nvSpPr>
            <p:spPr bwMode="auto">
              <a:xfrm flipV="1">
                <a:off x="2762889" y="4072159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sp>
        <p:nvSpPr>
          <p:cNvPr id="63" name="Text Box 2"/>
          <p:cNvSpPr txBox="1">
            <a:spLocks noChangeArrowheads="1"/>
          </p:cNvSpPr>
          <p:nvPr/>
        </p:nvSpPr>
        <p:spPr bwMode="auto">
          <a:xfrm>
            <a:off x="2060956" y="311368"/>
            <a:ext cx="5760045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VECTORES ANTI/PARALELOS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87B9560C-7EF7-4F6E-9916-FE0D5105754E}"/>
              </a:ext>
            </a:extLst>
          </p:cNvPr>
          <p:cNvGrpSpPr>
            <a:grpSpLocks/>
          </p:cNvGrpSpPr>
          <p:nvPr/>
        </p:nvGrpSpPr>
        <p:grpSpPr bwMode="auto">
          <a:xfrm>
            <a:off x="2223124" y="2736012"/>
            <a:ext cx="354012" cy="753365"/>
            <a:chOff x="3800475" y="3063532"/>
            <a:chExt cx="354013" cy="753364"/>
          </a:xfrm>
        </p:grpSpPr>
        <p:sp>
          <p:nvSpPr>
            <p:cNvPr id="40" name="Line 21">
              <a:extLst>
                <a:ext uri="{FF2B5EF4-FFF2-40B4-BE49-F238E27FC236}">
                  <a16:creationId xmlns:a16="http://schemas.microsoft.com/office/drawing/2014/main" id="{F950339D-3E22-48C5-84B1-F59A085B1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163" y="3063532"/>
              <a:ext cx="314325" cy="2706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166E8994-34C4-4817-B562-56C8DFC24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475" y="3363561"/>
              <a:ext cx="333069" cy="45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43" name="Line 33">
              <a:extLst>
                <a:ext uri="{FF2B5EF4-FFF2-40B4-BE49-F238E27FC236}">
                  <a16:creationId xmlns:a16="http://schemas.microsoft.com/office/drawing/2014/main" id="{1C9B82B7-C2E8-46C0-8795-A8B645841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4613" y="347944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45" name="Text Box 147">
            <a:extLst>
              <a:ext uri="{FF2B5EF4-FFF2-40B4-BE49-F238E27FC236}">
                <a16:creationId xmlns:a16="http://schemas.microsoft.com/office/drawing/2014/main" id="{24175F72-B551-4069-A53D-03FF66C12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6017" y="6077139"/>
            <a:ext cx="53423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Trebuchet MS" panose="020B0603020202020204" pitchFamily="34" charset="0"/>
              </a:rPr>
              <a:t>F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 y </a:t>
            </a:r>
            <a:r>
              <a:rPr lang="es-ES" sz="2400" b="1">
                <a:solidFill>
                  <a:srgbClr val="FF0000"/>
                </a:solidFill>
                <a:latin typeface="Trebuchet MS" panose="020B0603020202020204" pitchFamily="34" charset="0"/>
              </a:rPr>
              <a:t>F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' son antiparalelos y opuestos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A400B8BB-BB36-44B8-A00E-B938203B8375}"/>
              </a:ext>
            </a:extLst>
          </p:cNvPr>
          <p:cNvGrpSpPr>
            <a:grpSpLocks/>
          </p:cNvGrpSpPr>
          <p:nvPr/>
        </p:nvGrpSpPr>
        <p:grpSpPr bwMode="auto">
          <a:xfrm>
            <a:off x="4736823" y="2372261"/>
            <a:ext cx="354012" cy="753365"/>
            <a:chOff x="3800475" y="3063532"/>
            <a:chExt cx="354013" cy="753364"/>
          </a:xfrm>
        </p:grpSpPr>
        <p:sp>
          <p:nvSpPr>
            <p:cNvPr id="47" name="Line 21">
              <a:extLst>
                <a:ext uri="{FF2B5EF4-FFF2-40B4-BE49-F238E27FC236}">
                  <a16:creationId xmlns:a16="http://schemas.microsoft.com/office/drawing/2014/main" id="{9C5881BF-C0FA-4BF9-AA73-21C03019E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163" y="3063532"/>
              <a:ext cx="314325" cy="2706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48" name="Text Box 32">
              <a:extLst>
                <a:ext uri="{FF2B5EF4-FFF2-40B4-BE49-F238E27FC236}">
                  <a16:creationId xmlns:a16="http://schemas.microsoft.com/office/drawing/2014/main" id="{43DCE623-C702-42EA-983D-0375E954C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475" y="3363561"/>
              <a:ext cx="333069" cy="45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DEBDCC03-F630-4833-A5CB-D53F2CDE1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4613" y="347944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623027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8" grpId="0" animBg="1"/>
      <p:bldP spid="17411" grpId="0" animBg="1"/>
      <p:bldP spid="17414" grpId="0" animBg="1"/>
      <p:bldP spid="17435" grpId="0" animBg="1"/>
      <p:bldP spid="17436" grpId="0" animBg="1"/>
      <p:bldP spid="56" grpId="0" animBg="1"/>
      <p:bldP spid="42" grpId="0" animBg="1"/>
      <p:bldP spid="63" grpId="0" animBg="1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o 45">
            <a:extLst>
              <a:ext uri="{FF2B5EF4-FFF2-40B4-BE49-F238E27FC236}">
                <a16:creationId xmlns:a16="http://schemas.microsoft.com/office/drawing/2014/main" id="{7D69C373-09F7-475E-8FE4-79A4826374A0}"/>
              </a:ext>
            </a:extLst>
          </p:cNvPr>
          <p:cNvGrpSpPr/>
          <p:nvPr/>
        </p:nvGrpSpPr>
        <p:grpSpPr>
          <a:xfrm>
            <a:off x="2942858" y="3092937"/>
            <a:ext cx="1159640" cy="587441"/>
            <a:chOff x="2672823" y="3648936"/>
            <a:chExt cx="1159640" cy="587441"/>
          </a:xfrm>
        </p:grpSpPr>
        <p:sp>
          <p:nvSpPr>
            <p:cNvPr id="47" name="Text Box 40">
              <a:extLst>
                <a:ext uri="{FF2B5EF4-FFF2-40B4-BE49-F238E27FC236}">
                  <a16:creationId xmlns:a16="http://schemas.microsoft.com/office/drawing/2014/main" id="{8C4093B6-07E8-4D38-91AE-EB713E8DF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823" y="3648936"/>
              <a:ext cx="1159640" cy="58744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4000" tIns="108000" rIns="144000" bIns="108000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= 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51" name="Line 43">
              <a:extLst>
                <a:ext uri="{FF2B5EF4-FFF2-40B4-BE49-F238E27FC236}">
                  <a16:creationId xmlns:a16="http://schemas.microsoft.com/office/drawing/2014/main" id="{ECF4AA39-8AD9-4A80-97E6-D2B867CA9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172" y="3827952"/>
              <a:ext cx="215900" cy="0"/>
            </a:xfrm>
            <a:prstGeom prst="lin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631F573-6A9C-4EED-92E7-86F289553BD1}"/>
              </a:ext>
            </a:extLst>
          </p:cNvPr>
          <p:cNvGrpSpPr/>
          <p:nvPr/>
        </p:nvGrpSpPr>
        <p:grpSpPr>
          <a:xfrm>
            <a:off x="7136956" y="3075791"/>
            <a:ext cx="1328738" cy="587377"/>
            <a:chOff x="2588274" y="3648936"/>
            <a:chExt cx="1328738" cy="587377"/>
          </a:xfrm>
        </p:grpSpPr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50635207-AEEF-4A89-97E7-60F89536D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274" y="3648936"/>
              <a:ext cx="1328738" cy="5873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4000" tIns="108000" rIns="144000" bIns="108000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=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latin typeface="Arial" panose="020B0604020202020204" pitchFamily="34" charset="0"/>
                </a:rPr>
                <a:t>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1E25D5DF-7649-444B-871E-E51FD884A2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8639" y="3827952"/>
              <a:ext cx="215900" cy="0"/>
            </a:xfrm>
            <a:prstGeom prst="lin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</p:grpSp>
      <p:grpSp>
        <p:nvGrpSpPr>
          <p:cNvPr id="7" name="Group 99"/>
          <p:cNvGrpSpPr>
            <a:grpSpLocks/>
          </p:cNvGrpSpPr>
          <p:nvPr/>
        </p:nvGrpSpPr>
        <p:grpSpPr bwMode="auto">
          <a:xfrm>
            <a:off x="1421200" y="3092937"/>
            <a:ext cx="1660527" cy="587377"/>
            <a:chOff x="1380" y="2582"/>
            <a:chExt cx="1046" cy="370"/>
          </a:xfrm>
          <a:solidFill>
            <a:srgbClr val="FF99CC"/>
          </a:solidFill>
        </p:grpSpPr>
        <p:sp>
          <p:nvSpPr>
            <p:cNvPr id="11298" name="Text Box 36"/>
            <p:cNvSpPr txBox="1">
              <a:spLocks noChangeArrowheads="1"/>
            </p:cNvSpPr>
            <p:nvPr/>
          </p:nvSpPr>
          <p:spPr bwMode="auto">
            <a:xfrm>
              <a:off x="1380" y="2582"/>
              <a:ext cx="1046" cy="3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4000" tIns="108000" rIns="144000" bIns="108000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F = +|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1299" name="Line 37"/>
            <p:cNvSpPr>
              <a:spLocks noChangeShapeType="1"/>
            </p:cNvSpPr>
            <p:nvPr/>
          </p:nvSpPr>
          <p:spPr bwMode="auto">
            <a:xfrm flipV="1">
              <a:off x="1476" y="2641"/>
              <a:ext cx="13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  <p:sp>
          <p:nvSpPr>
            <p:cNvPr id="11301" name="Line 39"/>
            <p:cNvSpPr>
              <a:spLocks noChangeShapeType="1"/>
            </p:cNvSpPr>
            <p:nvPr/>
          </p:nvSpPr>
          <p:spPr bwMode="auto">
            <a:xfrm flipV="1">
              <a:off x="2187" y="2694"/>
              <a:ext cx="13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</p:grpSp>
      <p:sp>
        <p:nvSpPr>
          <p:cNvPr id="11" name="CuadroTexto 10"/>
          <p:cNvSpPr txBox="1"/>
          <p:nvPr/>
        </p:nvSpPr>
        <p:spPr>
          <a:xfrm>
            <a:off x="1176442" y="4653136"/>
            <a:ext cx="7524836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b="1"/>
              <a:t>u</a:t>
            </a:r>
            <a:r>
              <a:rPr lang="es-ES" sz="2400"/>
              <a:t>: indica la dirección | El signo: el sentido respecto al de </a:t>
            </a:r>
            <a:r>
              <a:rPr lang="es-ES" sz="2400" b="1"/>
              <a:t>u</a:t>
            </a:r>
            <a:r>
              <a:rPr lang="es-ES" sz="2400"/>
              <a:t> | Y el módulo: el tamaño del vector</a:t>
            </a:r>
            <a:endParaRPr lang="en-GB" sz="2400"/>
          </a:p>
        </p:txBody>
      </p:sp>
      <p:sp>
        <p:nvSpPr>
          <p:cNvPr id="63" name="Text Box 2"/>
          <p:cNvSpPr txBox="1">
            <a:spLocks noChangeArrowheads="1"/>
          </p:cNvSpPr>
          <p:nvPr/>
        </p:nvSpPr>
        <p:spPr bwMode="auto">
          <a:xfrm>
            <a:off x="1176442" y="332656"/>
            <a:ext cx="7524836" cy="82266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EXPRESIÓN DE UN VECTOR EN FUNCIÓN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UNO UNITARIO CON LA MISMA DIRECCIÓN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57CD5C1-2D50-5A97-3214-801A44D72ADD}"/>
              </a:ext>
            </a:extLst>
          </p:cNvPr>
          <p:cNvGrpSpPr/>
          <p:nvPr/>
        </p:nvGrpSpPr>
        <p:grpSpPr>
          <a:xfrm>
            <a:off x="2085667" y="1383592"/>
            <a:ext cx="3202937" cy="1177449"/>
            <a:chOff x="2085667" y="1383592"/>
            <a:chExt cx="3202937" cy="1177449"/>
          </a:xfrm>
        </p:grpSpPr>
        <p:sp>
          <p:nvSpPr>
            <p:cNvPr id="48" name="Line 4"/>
            <p:cNvSpPr>
              <a:spLocks noChangeShapeType="1"/>
            </p:cNvSpPr>
            <p:nvPr/>
          </p:nvSpPr>
          <p:spPr bwMode="auto">
            <a:xfrm rot="2285596" flipV="1">
              <a:off x="2085667" y="1454941"/>
              <a:ext cx="1403881" cy="11061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grpSp>
          <p:nvGrpSpPr>
            <p:cNvPr id="49" name="Grupo 48"/>
            <p:cNvGrpSpPr>
              <a:grpSpLocks/>
            </p:cNvGrpSpPr>
            <p:nvPr/>
          </p:nvGrpSpPr>
          <p:grpSpPr bwMode="auto">
            <a:xfrm>
              <a:off x="2570630" y="1383592"/>
              <a:ext cx="349098" cy="453336"/>
              <a:chOff x="274454" y="3614206"/>
              <a:chExt cx="349098" cy="453336"/>
            </a:xfrm>
          </p:grpSpPr>
          <p:sp>
            <p:nvSpPr>
              <p:cNvPr id="50" name="Text Box 5"/>
              <p:cNvSpPr txBox="1">
                <a:spLocks noChangeArrowheads="1"/>
              </p:cNvSpPr>
              <p:nvPr/>
            </p:nvSpPr>
            <p:spPr bwMode="auto">
              <a:xfrm>
                <a:off x="274454" y="3614206"/>
                <a:ext cx="349098" cy="453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64" name="Line 6"/>
              <p:cNvSpPr>
                <a:spLocks noChangeShapeType="1"/>
              </p:cNvSpPr>
              <p:nvPr/>
            </p:nvSpPr>
            <p:spPr bwMode="auto">
              <a:xfrm flipV="1">
                <a:off x="390010" y="368564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66" name="Grupo 65"/>
            <p:cNvGrpSpPr>
              <a:grpSpLocks/>
            </p:cNvGrpSpPr>
            <p:nvPr/>
          </p:nvGrpSpPr>
          <p:grpSpPr bwMode="auto">
            <a:xfrm rot="2285596">
              <a:off x="4702702" y="1663864"/>
              <a:ext cx="585902" cy="656272"/>
              <a:chOff x="3439077" y="2829332"/>
              <a:chExt cx="585903" cy="656271"/>
            </a:xfrm>
          </p:grpSpPr>
          <p:sp>
            <p:nvSpPr>
              <p:cNvPr id="67" name="Line 21"/>
              <p:cNvSpPr>
                <a:spLocks noChangeShapeType="1"/>
              </p:cNvSpPr>
              <p:nvPr/>
            </p:nvSpPr>
            <p:spPr bwMode="auto">
              <a:xfrm flipV="1">
                <a:off x="3710655" y="3239541"/>
                <a:ext cx="314325" cy="24606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68" name="Text Box 32"/>
              <p:cNvSpPr txBox="1">
                <a:spLocks noChangeArrowheads="1"/>
              </p:cNvSpPr>
              <p:nvPr/>
            </p:nvSpPr>
            <p:spPr bwMode="auto">
              <a:xfrm rot="19314404">
                <a:off x="3439077" y="2829332"/>
                <a:ext cx="333069" cy="453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u</a:t>
                </a:r>
              </a:p>
            </p:txBody>
          </p:sp>
          <p:sp>
            <p:nvSpPr>
              <p:cNvPr id="69" name="Line 33"/>
              <p:cNvSpPr>
                <a:spLocks noChangeShapeType="1"/>
              </p:cNvSpPr>
              <p:nvPr/>
            </p:nvSpPr>
            <p:spPr bwMode="auto">
              <a:xfrm flipV="1">
                <a:off x="3460275" y="2881419"/>
                <a:ext cx="145651" cy="1159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8B850A3-C31B-2240-BAA4-2DDEEF21F9E8}"/>
              </a:ext>
            </a:extLst>
          </p:cNvPr>
          <p:cNvGrpSpPr/>
          <p:nvPr/>
        </p:nvGrpSpPr>
        <p:grpSpPr>
          <a:xfrm>
            <a:off x="6417560" y="1844823"/>
            <a:ext cx="1404530" cy="1179684"/>
            <a:chOff x="6417560" y="1844823"/>
            <a:chExt cx="1404530" cy="1179684"/>
          </a:xfrm>
        </p:grpSpPr>
        <p:sp>
          <p:nvSpPr>
            <p:cNvPr id="65" name="Line 27"/>
            <p:cNvSpPr>
              <a:spLocks noChangeShapeType="1"/>
            </p:cNvSpPr>
            <p:nvPr/>
          </p:nvSpPr>
          <p:spPr bwMode="auto">
            <a:xfrm rot="2285596" flipH="1">
              <a:off x="6417560" y="1898969"/>
              <a:ext cx="1403350" cy="1125538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grpSp>
          <p:nvGrpSpPr>
            <p:cNvPr id="70" name="Grupo 69"/>
            <p:cNvGrpSpPr>
              <a:grpSpLocks/>
            </p:cNvGrpSpPr>
            <p:nvPr/>
          </p:nvGrpSpPr>
          <p:grpSpPr bwMode="auto">
            <a:xfrm>
              <a:off x="6709252" y="1844823"/>
              <a:ext cx="1112838" cy="452437"/>
              <a:chOff x="6093447" y="4308977"/>
              <a:chExt cx="1113730" cy="453336"/>
            </a:xfrm>
          </p:grpSpPr>
          <p:grpSp>
            <p:nvGrpSpPr>
              <p:cNvPr id="71" name="Grupo 3"/>
              <p:cNvGrpSpPr>
                <a:grpSpLocks/>
              </p:cNvGrpSpPr>
              <p:nvPr/>
            </p:nvGrpSpPr>
            <p:grpSpPr bwMode="auto">
              <a:xfrm>
                <a:off x="6093447" y="4308977"/>
                <a:ext cx="1113730" cy="453336"/>
                <a:chOff x="6782769" y="4239326"/>
                <a:chExt cx="1113730" cy="453336"/>
              </a:xfrm>
            </p:grpSpPr>
            <p:sp>
              <p:nvSpPr>
                <p:cNvPr id="7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6782769" y="4239326"/>
                  <a:ext cx="1113730" cy="453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9992" tIns="41596" rIns="79992" bIns="41596">
                  <a:spAutoFit/>
                </a:bodyPr>
                <a:lstStyle>
                  <a:lvl1pPr defTabSz="8128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81280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8128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8128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8128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  <a:sym typeface="Symbol" panose="05050102010706020507" pitchFamily="18" charset="2"/>
                    </a:rPr>
                    <a:t>F' = </a:t>
                  </a:r>
                  <a:r>
                    <a:rPr lang="es-ES" sz="2400">
                      <a:latin typeface="Arial" panose="020B0604020202020204" pitchFamily="34" charset="0"/>
                    </a:rPr>
                    <a:t>F</a:t>
                  </a:r>
                </a:p>
              </p:txBody>
            </p:sp>
            <p:sp>
              <p:nvSpPr>
                <p:cNvPr id="74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6897604" y="4279082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72" name="Line 29"/>
              <p:cNvSpPr>
                <a:spLocks noChangeShapeType="1"/>
              </p:cNvSpPr>
              <p:nvPr/>
            </p:nvSpPr>
            <p:spPr bwMode="auto">
              <a:xfrm flipV="1">
                <a:off x="6958531" y="4366306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30" name="Grupo 29"/>
          <p:cNvGrpSpPr/>
          <p:nvPr/>
        </p:nvGrpSpPr>
        <p:grpSpPr>
          <a:xfrm>
            <a:off x="1804697" y="3553560"/>
            <a:ext cx="1978035" cy="1020853"/>
            <a:chOff x="7038692" y="4138996"/>
            <a:chExt cx="1978035" cy="1020853"/>
          </a:xfrm>
        </p:grpSpPr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7038692" y="4328852"/>
              <a:ext cx="1978035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mismo sentido de </a:t>
              </a:r>
              <a:r>
                <a:rPr lang="es-ES" sz="2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u</a:t>
              </a:r>
            </a:p>
          </p:txBody>
        </p:sp>
        <p:cxnSp>
          <p:nvCxnSpPr>
            <p:cNvPr id="32" name="Conector recto de flecha 37"/>
            <p:cNvCxnSpPr>
              <a:cxnSpLocks noChangeShapeType="1"/>
            </p:cNvCxnSpPr>
            <p:nvPr/>
          </p:nvCxnSpPr>
          <p:spPr bwMode="auto">
            <a:xfrm>
              <a:off x="7435693" y="4138996"/>
              <a:ext cx="0" cy="22353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CuadroTexto 4"/>
          <p:cNvSpPr txBox="1"/>
          <p:nvPr/>
        </p:nvSpPr>
        <p:spPr>
          <a:xfrm>
            <a:off x="1822262" y="5691491"/>
            <a:ext cx="6258674" cy="5147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108000" tIns="72000" rIns="108000" bIns="72000">
            <a:spAutoFit/>
          </a:bodyPr>
          <a:lstStyle/>
          <a:p>
            <a:pPr>
              <a:defRPr/>
            </a:pPr>
            <a:r>
              <a:rPr lang="es-ES" sz="2400"/>
              <a:t>Las igualdades </a:t>
            </a:r>
            <a:r>
              <a:rPr lang="es-ES" sz="2400">
                <a:sym typeface="Symbol" panose="05050102010706020507" pitchFamily="18" charset="2"/>
              </a:rPr>
              <a:t> </a:t>
            </a:r>
            <a:r>
              <a:rPr lang="es-ES" sz="2400"/>
              <a:t>Número </a:t>
            </a:r>
            <a:r>
              <a:rPr lang="es-ES" sz="2400">
                <a:sym typeface="Symbol" panose="05050102010706020507" pitchFamily="18" charset="2"/>
              </a:rPr>
              <a:t> Vector = Vector</a:t>
            </a:r>
            <a:endParaRPr lang="es-ES" sz="2400"/>
          </a:p>
        </p:txBody>
      </p:sp>
      <p:sp>
        <p:nvSpPr>
          <p:cNvPr id="35" name="Text Box 26"/>
          <p:cNvSpPr txBox="1">
            <a:spLocks noChangeArrowheads="1"/>
          </p:cNvSpPr>
          <p:nvPr/>
        </p:nvSpPr>
        <p:spPr bwMode="auto">
          <a:xfrm>
            <a:off x="3334471" y="6168783"/>
            <a:ext cx="158889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(implican)</a:t>
            </a:r>
          </a:p>
        </p:txBody>
      </p:sp>
      <p:grpSp>
        <p:nvGrpSpPr>
          <p:cNvPr id="11327" name="Group 63"/>
          <p:cNvGrpSpPr>
            <a:grpSpLocks/>
          </p:cNvGrpSpPr>
          <p:nvPr/>
        </p:nvGrpSpPr>
        <p:grpSpPr bwMode="auto">
          <a:xfrm>
            <a:off x="5550928" y="3084664"/>
            <a:ext cx="1744664" cy="587377"/>
            <a:chOff x="3726" y="3776"/>
            <a:chExt cx="1099" cy="370"/>
          </a:xfrm>
          <a:solidFill>
            <a:srgbClr val="FF99CC"/>
          </a:solidFill>
        </p:grpSpPr>
        <p:sp>
          <p:nvSpPr>
            <p:cNvPr id="11294" name="Text Box 40"/>
            <p:cNvSpPr txBox="1">
              <a:spLocks noChangeArrowheads="1"/>
            </p:cNvSpPr>
            <p:nvPr/>
          </p:nvSpPr>
          <p:spPr bwMode="auto">
            <a:xfrm>
              <a:off x="3726" y="3776"/>
              <a:ext cx="1099" cy="3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44000" tIns="108000" rIns="144000" bIns="108000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F' =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latin typeface="Arial" panose="020B0604020202020204" pitchFamily="34" charset="0"/>
                </a:rPr>
                <a:t>|</a:t>
              </a:r>
              <a:r>
                <a:rPr lang="es-ES" sz="2400" b="1">
                  <a:latin typeface="Arial" panose="020B0604020202020204" pitchFamily="34" charset="0"/>
                </a:rPr>
                <a:t>F’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1295" name="Line 41"/>
            <p:cNvSpPr>
              <a:spLocks noChangeShapeType="1"/>
            </p:cNvSpPr>
            <p:nvPr/>
          </p:nvSpPr>
          <p:spPr bwMode="auto">
            <a:xfrm flipV="1">
              <a:off x="3837" y="3836"/>
              <a:ext cx="13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  <p:sp>
          <p:nvSpPr>
            <p:cNvPr id="11297" name="Line 43"/>
            <p:cNvSpPr>
              <a:spLocks noChangeShapeType="1"/>
            </p:cNvSpPr>
            <p:nvPr/>
          </p:nvSpPr>
          <p:spPr bwMode="auto">
            <a:xfrm flipV="1">
              <a:off x="4614" y="3888"/>
              <a:ext cx="13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defRPr/>
              </a:pPr>
              <a:endParaRPr lang="es-ES" sz="2400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050735" y="3518840"/>
            <a:ext cx="2254852" cy="997704"/>
            <a:chOff x="6496691" y="4123669"/>
            <a:chExt cx="2254852" cy="997704"/>
          </a:xfrm>
        </p:grpSpPr>
        <p:cxnSp>
          <p:nvCxnSpPr>
            <p:cNvPr id="38" name="Conector recto de flecha 37"/>
            <p:cNvCxnSpPr>
              <a:cxnSpLocks noChangeShapeType="1"/>
            </p:cNvCxnSpPr>
            <p:nvPr/>
          </p:nvCxnSpPr>
          <p:spPr bwMode="auto">
            <a:xfrm>
              <a:off x="6820540" y="4123669"/>
              <a:ext cx="0" cy="22353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6496691" y="4290376"/>
              <a:ext cx="2254852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sentido contrario a </a:t>
              </a:r>
              <a:r>
                <a:rPr lang="es-ES" sz="2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087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3" grpId="0" animBg="1"/>
      <p:bldP spid="5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2" name="Text Box 18"/>
          <p:cNvSpPr txBox="1">
            <a:spLocks noChangeArrowheads="1"/>
          </p:cNvSpPr>
          <p:nvPr/>
        </p:nvSpPr>
        <p:spPr bwMode="auto">
          <a:xfrm>
            <a:off x="1480683" y="1365600"/>
            <a:ext cx="69797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Es la proyección del vector en esa dirección</a:t>
            </a: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1528208" y="444170"/>
            <a:ext cx="6840760" cy="82266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COMPONENTE DE UN VECTOR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EN UNA DIRECCIÓN</a:t>
            </a:r>
          </a:p>
        </p:txBody>
      </p:sp>
      <p:sp>
        <p:nvSpPr>
          <p:cNvPr id="5195" name="Line 75"/>
          <p:cNvSpPr>
            <a:spLocks noChangeShapeType="1"/>
          </p:cNvSpPr>
          <p:nvPr/>
        </p:nvSpPr>
        <p:spPr bwMode="auto">
          <a:xfrm>
            <a:off x="2251145" y="4574695"/>
            <a:ext cx="647700" cy="720725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5196" name="Line 76"/>
          <p:cNvSpPr>
            <a:spLocks noChangeShapeType="1"/>
          </p:cNvSpPr>
          <p:nvPr/>
        </p:nvSpPr>
        <p:spPr bwMode="auto">
          <a:xfrm>
            <a:off x="3733870" y="3495195"/>
            <a:ext cx="647700" cy="720725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5257" name="Group 137"/>
          <p:cNvGrpSpPr>
            <a:grpSpLocks/>
          </p:cNvGrpSpPr>
          <p:nvPr/>
        </p:nvGrpSpPr>
        <p:grpSpPr bwMode="auto">
          <a:xfrm>
            <a:off x="1865383" y="3606320"/>
            <a:ext cx="2530475" cy="1795463"/>
            <a:chOff x="645" y="1963"/>
            <a:chExt cx="1594" cy="1131"/>
          </a:xfrm>
        </p:grpSpPr>
        <p:sp>
          <p:nvSpPr>
            <p:cNvPr id="19512" name="Line 31"/>
            <p:cNvSpPr>
              <a:spLocks noChangeShapeType="1"/>
            </p:cNvSpPr>
            <p:nvPr/>
          </p:nvSpPr>
          <p:spPr bwMode="auto">
            <a:xfrm flipV="1">
              <a:off x="878" y="2009"/>
              <a:ext cx="1361" cy="108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3" name="Line 4"/>
            <p:cNvSpPr>
              <a:spLocks noChangeShapeType="1"/>
            </p:cNvSpPr>
            <p:nvPr/>
          </p:nvSpPr>
          <p:spPr bwMode="auto">
            <a:xfrm flipV="1">
              <a:off x="969" y="1963"/>
              <a:ext cx="884" cy="70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4" name="Text Box 5"/>
            <p:cNvSpPr txBox="1">
              <a:spLocks noChangeArrowheads="1"/>
            </p:cNvSpPr>
            <p:nvPr/>
          </p:nvSpPr>
          <p:spPr bwMode="auto">
            <a:xfrm>
              <a:off x="1014" y="2044"/>
              <a:ext cx="22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9515" name="Line 6"/>
            <p:cNvSpPr>
              <a:spLocks noChangeShapeType="1"/>
            </p:cNvSpPr>
            <p:nvPr/>
          </p:nvSpPr>
          <p:spPr bwMode="auto">
            <a:xfrm flipV="1">
              <a:off x="1074" y="206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6" name="Line 21"/>
            <p:cNvSpPr>
              <a:spLocks noChangeShapeType="1"/>
            </p:cNvSpPr>
            <p:nvPr/>
          </p:nvSpPr>
          <p:spPr bwMode="auto">
            <a:xfrm flipV="1">
              <a:off x="924" y="2906"/>
              <a:ext cx="198" cy="15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17" name="Text Box 32"/>
            <p:cNvSpPr txBox="1">
              <a:spLocks noChangeArrowheads="1"/>
            </p:cNvSpPr>
            <p:nvPr/>
          </p:nvSpPr>
          <p:spPr bwMode="auto">
            <a:xfrm>
              <a:off x="645" y="2735"/>
              <a:ext cx="21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19518" name="Line 33"/>
            <p:cNvSpPr>
              <a:spLocks noChangeShapeType="1"/>
            </p:cNvSpPr>
            <p:nvPr/>
          </p:nvSpPr>
          <p:spPr bwMode="auto">
            <a:xfrm flipV="1">
              <a:off x="698" y="280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5217" name="Line 27"/>
          <p:cNvSpPr>
            <a:spLocks noChangeShapeType="1"/>
          </p:cNvSpPr>
          <p:nvPr/>
        </p:nvSpPr>
        <p:spPr bwMode="auto">
          <a:xfrm flipV="1">
            <a:off x="2714695" y="3919058"/>
            <a:ext cx="1403350" cy="1125537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5247" name="Group 127"/>
          <p:cNvGrpSpPr>
            <a:grpSpLocks/>
          </p:cNvGrpSpPr>
          <p:nvPr/>
        </p:nvGrpSpPr>
        <p:grpSpPr bwMode="auto">
          <a:xfrm>
            <a:off x="3461839" y="4633433"/>
            <a:ext cx="366713" cy="454025"/>
            <a:chOff x="1620" y="2610"/>
            <a:chExt cx="231" cy="286"/>
          </a:xfrm>
        </p:grpSpPr>
        <p:sp>
          <p:nvSpPr>
            <p:cNvPr id="19509" name="Text Box 36"/>
            <p:cNvSpPr txBox="1">
              <a:spLocks noChangeArrowheads="1"/>
            </p:cNvSpPr>
            <p:nvPr/>
          </p:nvSpPr>
          <p:spPr bwMode="auto">
            <a:xfrm>
              <a:off x="1620" y="2610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endParaRPr lang="es-E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19510" name="Line 37"/>
            <p:cNvSpPr>
              <a:spLocks noChangeShapeType="1"/>
            </p:cNvSpPr>
            <p:nvPr/>
          </p:nvSpPr>
          <p:spPr bwMode="auto">
            <a:xfrm flipV="1">
              <a:off x="1665" y="2638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5C23E88B-7A7C-40B8-B303-CFBC1CC08A98}"/>
              </a:ext>
            </a:extLst>
          </p:cNvPr>
          <p:cNvGrpSpPr/>
          <p:nvPr/>
        </p:nvGrpSpPr>
        <p:grpSpPr>
          <a:xfrm>
            <a:off x="5294092" y="3861051"/>
            <a:ext cx="1414313" cy="648069"/>
            <a:chOff x="5163992" y="5814789"/>
            <a:chExt cx="1414313" cy="64806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90038B2-D1B5-4866-A585-31F39BE0D979}"/>
                </a:ext>
              </a:extLst>
            </p:cNvPr>
            <p:cNvSpPr/>
            <p:nvPr/>
          </p:nvSpPr>
          <p:spPr bwMode="auto">
            <a:xfrm>
              <a:off x="5163992" y="5814789"/>
              <a:ext cx="1404788" cy="6480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grpSp>
          <p:nvGrpSpPr>
            <p:cNvPr id="5241" name="Group 121"/>
            <p:cNvGrpSpPr>
              <a:grpSpLocks/>
            </p:cNvGrpSpPr>
            <p:nvPr/>
          </p:nvGrpSpPr>
          <p:grpSpPr bwMode="auto">
            <a:xfrm>
              <a:off x="5197178" y="5908980"/>
              <a:ext cx="1381127" cy="454025"/>
              <a:chOff x="839" y="3339"/>
              <a:chExt cx="870" cy="286"/>
            </a:xfrm>
          </p:grpSpPr>
          <p:sp>
            <p:nvSpPr>
              <p:cNvPr id="19501" name="Text Box 36"/>
              <p:cNvSpPr txBox="1">
                <a:spLocks noChangeArrowheads="1"/>
              </p:cNvSpPr>
              <p:nvPr/>
            </p:nvSpPr>
            <p:spPr bwMode="auto">
              <a:xfrm>
                <a:off x="839" y="3339"/>
                <a:ext cx="87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A </a:t>
                </a:r>
                <a:r>
                  <a:rPr lang="es-ES" sz="2400">
                    <a:latin typeface="Arial" panose="020B0604020202020204" pitchFamily="34" charset="0"/>
                  </a:rPr>
                  <a:t> =  </a:t>
                </a: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A </a:t>
                </a:r>
                <a:r>
                  <a:rPr lang="es-ES" sz="2400">
                    <a:latin typeface="Arial" panose="020B0604020202020204" pitchFamily="34" charset="0"/>
                  </a:rPr>
                  <a:t> u</a:t>
                </a:r>
              </a:p>
            </p:txBody>
          </p:sp>
          <p:sp>
            <p:nvSpPr>
              <p:cNvPr id="19502" name="Line 37"/>
              <p:cNvSpPr>
                <a:spLocks noChangeShapeType="1"/>
              </p:cNvSpPr>
              <p:nvPr/>
            </p:nvSpPr>
            <p:spPr bwMode="auto">
              <a:xfrm flipV="1">
                <a:off x="884" y="3367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19503" name="Line 39"/>
              <p:cNvSpPr>
                <a:spLocks noChangeShapeType="1"/>
              </p:cNvSpPr>
              <p:nvPr/>
            </p:nvSpPr>
            <p:spPr bwMode="auto">
              <a:xfrm flipV="1">
                <a:off x="1533" y="342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5242" name="Group 122"/>
          <p:cNvGrpSpPr>
            <a:grpSpLocks/>
          </p:cNvGrpSpPr>
          <p:nvPr/>
        </p:nvGrpSpPr>
        <p:grpSpPr bwMode="auto">
          <a:xfrm>
            <a:off x="6660777" y="3973565"/>
            <a:ext cx="1209675" cy="454025"/>
            <a:chOff x="1679" y="3367"/>
            <a:chExt cx="762" cy="286"/>
          </a:xfrm>
        </p:grpSpPr>
        <p:sp>
          <p:nvSpPr>
            <p:cNvPr id="19495" name="Text Box 96"/>
            <p:cNvSpPr txBox="1">
              <a:spLocks noChangeArrowheads="1"/>
            </p:cNvSpPr>
            <p:nvPr/>
          </p:nvSpPr>
          <p:spPr bwMode="auto">
            <a:xfrm>
              <a:off x="1679" y="3367"/>
              <a:ext cx="7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= +|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9494" name="Line 45"/>
            <p:cNvSpPr>
              <a:spLocks noChangeShapeType="1"/>
            </p:cNvSpPr>
            <p:nvPr/>
          </p:nvSpPr>
          <p:spPr bwMode="auto">
            <a:xfrm flipV="1">
              <a:off x="2257" y="343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5194" name="Text Box 18"/>
          <p:cNvSpPr txBox="1">
            <a:spLocks noChangeArrowheads="1"/>
          </p:cNvSpPr>
          <p:nvPr/>
        </p:nvSpPr>
        <p:spPr bwMode="auto">
          <a:xfrm>
            <a:off x="1528208" y="1994411"/>
            <a:ext cx="6840760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 el vector, con el mismo sentido, obtenido trazando perpendiculares a la dirección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desde los extremos del vector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(su "sombra")</a:t>
            </a: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3779912" y="4633655"/>
            <a:ext cx="327153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= Componente de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 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 en la dirección de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u</a:t>
            </a:r>
          </a:p>
        </p:txBody>
      </p:sp>
      <p:sp>
        <p:nvSpPr>
          <p:cNvPr id="29" name="Text Box 129">
            <a:extLst>
              <a:ext uri="{FF2B5EF4-FFF2-40B4-BE49-F238E27FC236}">
                <a16:creationId xmlns:a16="http://schemas.microsoft.com/office/drawing/2014/main" id="{78AEC862-8627-4699-A933-01F59C709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677" y="5694347"/>
            <a:ext cx="750693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y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A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son iguales por tener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y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u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igual dirección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(es el caso más sencillo)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2" grpId="0"/>
      <p:bldP spid="19459" grpId="0" animBg="1"/>
      <p:bldP spid="5195" grpId="0" animBg="1"/>
      <p:bldP spid="5196" grpId="0" animBg="1"/>
      <p:bldP spid="5217" grpId="0" animBg="1"/>
      <p:bldP spid="5194" grpId="0" animBg="1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7" name="Line 77"/>
          <p:cNvSpPr>
            <a:spLocks noChangeShapeType="1"/>
          </p:cNvSpPr>
          <p:nvPr/>
        </p:nvSpPr>
        <p:spPr bwMode="auto">
          <a:xfrm>
            <a:off x="2176969" y="4496870"/>
            <a:ext cx="647700" cy="720725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5198" name="Line 78"/>
          <p:cNvSpPr>
            <a:spLocks noChangeShapeType="1"/>
          </p:cNvSpPr>
          <p:nvPr/>
        </p:nvSpPr>
        <p:spPr bwMode="auto">
          <a:xfrm>
            <a:off x="3659694" y="3417370"/>
            <a:ext cx="647700" cy="720725"/>
          </a:xfrm>
          <a:prstGeom prst="line">
            <a:avLst/>
          </a:prstGeom>
          <a:noFill/>
          <a:ln w="25400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5208" name="Line 27"/>
          <p:cNvSpPr>
            <a:spLocks noChangeShapeType="1"/>
          </p:cNvSpPr>
          <p:nvPr/>
        </p:nvSpPr>
        <p:spPr bwMode="auto">
          <a:xfrm flipH="1">
            <a:off x="2670682" y="3922195"/>
            <a:ext cx="1403350" cy="1125537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grpSp>
        <p:nvGrpSpPr>
          <p:cNvPr id="5248" name="Group 128"/>
          <p:cNvGrpSpPr>
            <a:grpSpLocks/>
          </p:cNvGrpSpPr>
          <p:nvPr/>
        </p:nvGrpSpPr>
        <p:grpSpPr bwMode="auto">
          <a:xfrm>
            <a:off x="3448853" y="4639108"/>
            <a:ext cx="366712" cy="454025"/>
            <a:chOff x="4779" y="2638"/>
            <a:chExt cx="231" cy="286"/>
          </a:xfrm>
        </p:grpSpPr>
        <p:sp>
          <p:nvSpPr>
            <p:cNvPr id="19506" name="Text Box 36"/>
            <p:cNvSpPr txBox="1">
              <a:spLocks noChangeArrowheads="1"/>
            </p:cNvSpPr>
            <p:nvPr/>
          </p:nvSpPr>
          <p:spPr bwMode="auto">
            <a:xfrm>
              <a:off x="4779" y="2638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  <a:endParaRPr lang="es-E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19507" name="Line 37"/>
            <p:cNvSpPr>
              <a:spLocks noChangeShapeType="1"/>
            </p:cNvSpPr>
            <p:nvPr/>
          </p:nvSpPr>
          <p:spPr bwMode="auto">
            <a:xfrm flipV="1">
              <a:off x="4818" y="2666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244" name="Group 124"/>
          <p:cNvGrpSpPr>
            <a:grpSpLocks/>
          </p:cNvGrpSpPr>
          <p:nvPr/>
        </p:nvGrpSpPr>
        <p:grpSpPr bwMode="auto">
          <a:xfrm>
            <a:off x="6650345" y="3933649"/>
            <a:ext cx="1284287" cy="454025"/>
            <a:chOff x="4310" y="3365"/>
            <a:chExt cx="809" cy="286"/>
          </a:xfrm>
        </p:grpSpPr>
        <p:sp>
          <p:nvSpPr>
            <p:cNvPr id="19492" name="Text Box 96"/>
            <p:cNvSpPr txBox="1">
              <a:spLocks noChangeArrowheads="1"/>
            </p:cNvSpPr>
            <p:nvPr/>
          </p:nvSpPr>
          <p:spPr bwMode="auto">
            <a:xfrm>
              <a:off x="4310" y="3365"/>
              <a:ext cx="80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 =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latin typeface="Arial" panose="020B0604020202020204" pitchFamily="34" charset="0"/>
                </a:rPr>
                <a:t>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9491" name="Line 45"/>
            <p:cNvSpPr>
              <a:spLocks noChangeShapeType="1"/>
            </p:cNvSpPr>
            <p:nvPr/>
          </p:nvSpPr>
          <p:spPr bwMode="auto">
            <a:xfrm flipV="1">
              <a:off x="4946" y="343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17FD78E-72AE-4E21-9982-63211C8C9A73}"/>
              </a:ext>
            </a:extLst>
          </p:cNvPr>
          <p:cNvGrpSpPr/>
          <p:nvPr/>
        </p:nvGrpSpPr>
        <p:grpSpPr>
          <a:xfrm>
            <a:off x="1878519" y="3624685"/>
            <a:ext cx="1924769" cy="1125537"/>
            <a:chOff x="3635896" y="3780331"/>
            <a:chExt cx="1924769" cy="1125537"/>
          </a:xfrm>
        </p:grpSpPr>
        <p:sp>
          <p:nvSpPr>
            <p:cNvPr id="19481" name="Line 27"/>
            <p:cNvSpPr>
              <a:spLocks noChangeShapeType="1"/>
            </p:cNvSpPr>
            <p:nvPr/>
          </p:nvSpPr>
          <p:spPr bwMode="auto">
            <a:xfrm flipH="1">
              <a:off x="4157314" y="3780331"/>
              <a:ext cx="1403351" cy="1125537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grpSp>
          <p:nvGrpSpPr>
            <p:cNvPr id="19485" name="Grupo 65"/>
            <p:cNvGrpSpPr>
              <a:grpSpLocks/>
            </p:cNvGrpSpPr>
            <p:nvPr/>
          </p:nvGrpSpPr>
          <p:grpSpPr bwMode="auto">
            <a:xfrm>
              <a:off x="3635896" y="3867365"/>
              <a:ext cx="1113730" cy="453336"/>
              <a:chOff x="2123728" y="4005064"/>
              <a:chExt cx="1113730" cy="453336"/>
            </a:xfrm>
          </p:grpSpPr>
          <p:grpSp>
            <p:nvGrpSpPr>
              <p:cNvPr id="19486" name="Grupo 66"/>
              <p:cNvGrpSpPr>
                <a:grpSpLocks/>
              </p:cNvGrpSpPr>
              <p:nvPr/>
            </p:nvGrpSpPr>
            <p:grpSpPr bwMode="auto">
              <a:xfrm>
                <a:off x="2123728" y="4005064"/>
                <a:ext cx="1113730" cy="453336"/>
                <a:chOff x="2813050" y="3935413"/>
                <a:chExt cx="1113730" cy="453336"/>
              </a:xfrm>
            </p:grpSpPr>
            <p:sp>
              <p:nvSpPr>
                <p:cNvPr id="1948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813050" y="3935413"/>
                  <a:ext cx="1113730" cy="453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9992" tIns="41596" rIns="79992" bIns="41596">
                  <a:spAutoFit/>
                </a:bodyPr>
                <a:lstStyle>
                  <a:lvl1pPr defTabSz="8128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81280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8128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8128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8128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  <a:sym typeface="Symbol" panose="05050102010706020507" pitchFamily="18" charset="2"/>
                    </a:rPr>
                    <a:t>F' = </a:t>
                  </a:r>
                  <a:r>
                    <a:rPr lang="es-ES" sz="2400">
                      <a:latin typeface="Arial" panose="020B0604020202020204" pitchFamily="34" charset="0"/>
                    </a:rPr>
                    <a:t>F</a:t>
                  </a:r>
                </a:p>
              </p:txBody>
            </p:sp>
            <p:sp>
              <p:nvSpPr>
                <p:cNvPr id="19489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894997" y="3975169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19487" name="Line 29"/>
              <p:cNvSpPr>
                <a:spLocks noChangeShapeType="1"/>
              </p:cNvSpPr>
              <p:nvPr/>
            </p:nvSpPr>
            <p:spPr bwMode="auto">
              <a:xfrm flipV="1">
                <a:off x="2955926" y="4062412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sp>
        <p:nvSpPr>
          <p:cNvPr id="31" name="Text Box 18">
            <a:extLst>
              <a:ext uri="{FF2B5EF4-FFF2-40B4-BE49-F238E27FC236}">
                <a16:creationId xmlns:a16="http://schemas.microsoft.com/office/drawing/2014/main" id="{CC758C82-72CE-469F-9B2F-6137054AE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503" y="4627944"/>
            <a:ext cx="327153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= Componente de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F’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 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 en la dirección de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u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FC30980-5F89-4D00-B676-0AA96904102D}"/>
              </a:ext>
            </a:extLst>
          </p:cNvPr>
          <p:cNvGrpSpPr/>
          <p:nvPr/>
        </p:nvGrpSpPr>
        <p:grpSpPr>
          <a:xfrm>
            <a:off x="5301808" y="3836665"/>
            <a:ext cx="1466701" cy="648069"/>
            <a:chOff x="5163992" y="5814789"/>
            <a:chExt cx="1466701" cy="648069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0225F89E-A2D5-4B97-936C-D396381D83E7}"/>
                </a:ext>
              </a:extLst>
            </p:cNvPr>
            <p:cNvSpPr/>
            <p:nvPr/>
          </p:nvSpPr>
          <p:spPr bwMode="auto">
            <a:xfrm>
              <a:off x="5163992" y="5814789"/>
              <a:ext cx="1404788" cy="6480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grpSp>
          <p:nvGrpSpPr>
            <p:cNvPr id="34" name="Group 121">
              <a:extLst>
                <a:ext uri="{FF2B5EF4-FFF2-40B4-BE49-F238E27FC236}">
                  <a16:creationId xmlns:a16="http://schemas.microsoft.com/office/drawing/2014/main" id="{9B78DE53-FDEF-4D89-8E0B-70B9EB4C7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7178" y="5908980"/>
              <a:ext cx="1433515" cy="454025"/>
              <a:chOff x="839" y="3339"/>
              <a:chExt cx="903" cy="286"/>
            </a:xfrm>
          </p:grpSpPr>
          <p:sp>
            <p:nvSpPr>
              <p:cNvPr id="35" name="Text Box 36">
                <a:extLst>
                  <a:ext uri="{FF2B5EF4-FFF2-40B4-BE49-F238E27FC236}">
                    <a16:creationId xmlns:a16="http://schemas.microsoft.com/office/drawing/2014/main" id="{8420BEE0-BFA2-4A08-9CE3-58CBD8C775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3339"/>
                <a:ext cx="90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B </a:t>
                </a:r>
                <a:r>
                  <a:rPr lang="es-ES" sz="2400">
                    <a:latin typeface="Arial" panose="020B0604020202020204" pitchFamily="34" charset="0"/>
                  </a:rPr>
                  <a:t> =  </a:t>
                </a: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B </a:t>
                </a:r>
                <a:r>
                  <a:rPr lang="es-ES" sz="2400">
                    <a:latin typeface="Arial" panose="020B0604020202020204" pitchFamily="34" charset="0"/>
                  </a:rPr>
                  <a:t> u</a:t>
                </a:r>
              </a:p>
            </p:txBody>
          </p:sp>
          <p:sp>
            <p:nvSpPr>
              <p:cNvPr id="36" name="Line 37">
                <a:extLst>
                  <a:ext uri="{FF2B5EF4-FFF2-40B4-BE49-F238E27FC236}">
                    <a16:creationId xmlns:a16="http://schemas.microsoft.com/office/drawing/2014/main" id="{AA0A997E-1304-4AD3-9FD5-F68C90170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" y="3367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37" name="Line 39">
                <a:extLst>
                  <a:ext uri="{FF2B5EF4-FFF2-40B4-BE49-F238E27FC236}">
                    <a16:creationId xmlns:a16="http://schemas.microsoft.com/office/drawing/2014/main" id="{61D950AE-6212-4ABB-A42B-919C9A32F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3" y="342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sp>
        <p:nvSpPr>
          <p:cNvPr id="40" name="Line 31">
            <a:extLst>
              <a:ext uri="{FF2B5EF4-FFF2-40B4-BE49-F238E27FC236}">
                <a16:creationId xmlns:a16="http://schemas.microsoft.com/office/drawing/2014/main" id="{436EC58E-20C0-4042-A6F1-879792A308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8212" y="3673528"/>
            <a:ext cx="2160588" cy="172243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44" name="Line 21">
            <a:extLst>
              <a:ext uri="{FF2B5EF4-FFF2-40B4-BE49-F238E27FC236}">
                <a16:creationId xmlns:a16="http://schemas.microsoft.com/office/drawing/2014/main" id="{8A23A623-7215-4D2D-8CED-3600D09706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1237" y="5097516"/>
            <a:ext cx="314325" cy="2460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45" name="Text Box 32">
            <a:extLst>
              <a:ext uri="{FF2B5EF4-FFF2-40B4-BE49-F238E27FC236}">
                <a16:creationId xmlns:a16="http://schemas.microsoft.com/office/drawing/2014/main" id="{AAE7DC56-DFF9-4C1A-ACE3-9552EF72C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324" y="4826053"/>
            <a:ext cx="3333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</a:t>
            </a:r>
          </a:p>
        </p:txBody>
      </p:sp>
      <p:sp>
        <p:nvSpPr>
          <p:cNvPr id="46" name="Line 33">
            <a:extLst>
              <a:ext uri="{FF2B5EF4-FFF2-40B4-BE49-F238E27FC236}">
                <a16:creationId xmlns:a16="http://schemas.microsoft.com/office/drawing/2014/main" id="{448C0560-0DE3-4272-8E50-BDDAD38EFD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2462" y="4941941"/>
            <a:ext cx="21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38" name="Text Box 18">
            <a:extLst>
              <a:ext uri="{FF2B5EF4-FFF2-40B4-BE49-F238E27FC236}">
                <a16:creationId xmlns:a16="http://schemas.microsoft.com/office/drawing/2014/main" id="{9F6BE1B1-6073-477A-A8D8-19FFD5C8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683" y="1365600"/>
            <a:ext cx="69797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Es la proyección del vector en esa dirección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F5F346D2-E4B5-461F-B8C9-1ED5F5FF7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08" y="444170"/>
            <a:ext cx="6840760" cy="82266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COMPONENTE DE UN VECTOR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EN UNA DIRECCIÓN</a:t>
            </a:r>
          </a:p>
        </p:txBody>
      </p:sp>
      <p:sp>
        <p:nvSpPr>
          <p:cNvPr id="41" name="Text Box 18">
            <a:extLst>
              <a:ext uri="{FF2B5EF4-FFF2-40B4-BE49-F238E27FC236}">
                <a16:creationId xmlns:a16="http://schemas.microsoft.com/office/drawing/2014/main" id="{9D317EAD-F47E-4577-82DB-0C186A7DE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08" y="1994411"/>
            <a:ext cx="6840760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 el vector, con el mismo sentido, obtenido trazando perpendiculares a la dirección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desde los extremos del vector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(su "sombra")</a:t>
            </a:r>
          </a:p>
        </p:txBody>
      </p:sp>
      <p:sp>
        <p:nvSpPr>
          <p:cNvPr id="42" name="Text Box 129">
            <a:extLst>
              <a:ext uri="{FF2B5EF4-FFF2-40B4-BE49-F238E27FC236}">
                <a16:creationId xmlns:a16="http://schemas.microsoft.com/office/drawing/2014/main" id="{76FB2EFD-49D9-4EAC-85F2-DE57CDA38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077" y="5709205"/>
            <a:ext cx="776781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F’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y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B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son iguales por tener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F’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y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u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la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misma dirección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(es el caso más sencillo)</a:t>
            </a:r>
          </a:p>
        </p:txBody>
      </p:sp>
    </p:spTree>
    <p:extLst>
      <p:ext uri="{BB962C8B-B14F-4D97-AF65-F5344CB8AC3E}">
        <p14:creationId xmlns:p14="http://schemas.microsoft.com/office/powerpoint/2010/main" val="37077768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7" grpId="0" animBg="1"/>
      <p:bldP spid="5198" grpId="0" animBg="1"/>
      <p:bldP spid="5208" grpId="0" animBg="1"/>
      <p:bldP spid="31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1" name="Group 121"/>
          <p:cNvGrpSpPr>
            <a:grpSpLocks/>
          </p:cNvGrpSpPr>
          <p:nvPr/>
        </p:nvGrpSpPr>
        <p:grpSpPr bwMode="auto">
          <a:xfrm>
            <a:off x="1740918" y="1657375"/>
            <a:ext cx="1381127" cy="454025"/>
            <a:chOff x="839" y="3339"/>
            <a:chExt cx="870" cy="286"/>
          </a:xfrm>
        </p:grpSpPr>
        <p:sp>
          <p:nvSpPr>
            <p:cNvPr id="19501" name="Text Box 36"/>
            <p:cNvSpPr txBox="1">
              <a:spLocks noChangeArrowheads="1"/>
            </p:cNvSpPr>
            <p:nvPr/>
          </p:nvSpPr>
          <p:spPr bwMode="auto">
            <a:xfrm>
              <a:off x="839" y="3339"/>
              <a:ext cx="87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 </a:t>
              </a:r>
              <a:r>
                <a:rPr lang="es-ES" sz="2400">
                  <a:latin typeface="Arial" panose="020B0604020202020204" pitchFamily="34" charset="0"/>
                </a:rPr>
                <a:t> = 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 </a:t>
              </a:r>
              <a:r>
                <a:rPr lang="es-ES" sz="2400">
                  <a:latin typeface="Arial" panose="020B0604020202020204" pitchFamily="34" charset="0"/>
                </a:rPr>
                <a:t> u</a:t>
              </a:r>
            </a:p>
          </p:txBody>
        </p:sp>
        <p:sp>
          <p:nvSpPr>
            <p:cNvPr id="19502" name="Line 37"/>
            <p:cNvSpPr>
              <a:spLocks noChangeShapeType="1"/>
            </p:cNvSpPr>
            <p:nvPr/>
          </p:nvSpPr>
          <p:spPr bwMode="auto">
            <a:xfrm flipV="1">
              <a:off x="884" y="3367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503" name="Line 39"/>
            <p:cNvSpPr>
              <a:spLocks noChangeShapeType="1"/>
            </p:cNvSpPr>
            <p:nvPr/>
          </p:nvSpPr>
          <p:spPr bwMode="auto">
            <a:xfrm flipV="1">
              <a:off x="1533" y="3421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243" name="Group 123"/>
          <p:cNvGrpSpPr>
            <a:grpSpLocks/>
          </p:cNvGrpSpPr>
          <p:nvPr/>
        </p:nvGrpSpPr>
        <p:grpSpPr bwMode="auto">
          <a:xfrm>
            <a:off x="5194573" y="1650298"/>
            <a:ext cx="1517650" cy="454025"/>
            <a:chOff x="3470" y="3367"/>
            <a:chExt cx="956" cy="286"/>
          </a:xfrm>
        </p:grpSpPr>
        <p:sp>
          <p:nvSpPr>
            <p:cNvPr id="19496" name="Text Box 36"/>
            <p:cNvSpPr txBox="1">
              <a:spLocks noChangeArrowheads="1"/>
            </p:cNvSpPr>
            <p:nvPr/>
          </p:nvSpPr>
          <p:spPr bwMode="auto">
            <a:xfrm>
              <a:off x="3470" y="3367"/>
              <a:ext cx="95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  </a:t>
              </a:r>
              <a:r>
                <a:rPr lang="es-ES" sz="2400">
                  <a:latin typeface="Arial" panose="020B0604020202020204" pitchFamily="34" charset="0"/>
                </a:rPr>
                <a:t>= 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  <a:r>
                <a:rPr lang="es-ES" sz="2400">
                  <a:latin typeface="Arial" panose="020B0604020202020204" pitchFamily="34" charset="0"/>
                </a:rPr>
                <a:t>  u </a:t>
              </a:r>
            </a:p>
          </p:txBody>
        </p:sp>
        <p:sp>
          <p:nvSpPr>
            <p:cNvPr id="19497" name="Line 37"/>
            <p:cNvSpPr>
              <a:spLocks noChangeShapeType="1"/>
            </p:cNvSpPr>
            <p:nvPr/>
          </p:nvSpPr>
          <p:spPr bwMode="auto">
            <a:xfrm flipV="1">
              <a:off x="3515" y="3395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9498" name="Line 39"/>
            <p:cNvSpPr>
              <a:spLocks noChangeShapeType="1"/>
            </p:cNvSpPr>
            <p:nvPr/>
          </p:nvSpPr>
          <p:spPr bwMode="auto">
            <a:xfrm flipV="1">
              <a:off x="4238" y="344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242" name="Group 122"/>
          <p:cNvGrpSpPr>
            <a:grpSpLocks/>
          </p:cNvGrpSpPr>
          <p:nvPr/>
        </p:nvGrpSpPr>
        <p:grpSpPr bwMode="auto">
          <a:xfrm>
            <a:off x="3146301" y="1675698"/>
            <a:ext cx="1209675" cy="454025"/>
            <a:chOff x="1679" y="3367"/>
            <a:chExt cx="762" cy="286"/>
          </a:xfrm>
        </p:grpSpPr>
        <p:sp>
          <p:nvSpPr>
            <p:cNvPr id="19495" name="Text Box 96"/>
            <p:cNvSpPr txBox="1">
              <a:spLocks noChangeArrowheads="1"/>
            </p:cNvSpPr>
            <p:nvPr/>
          </p:nvSpPr>
          <p:spPr bwMode="auto">
            <a:xfrm>
              <a:off x="1679" y="3367"/>
              <a:ext cx="7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= +|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9494" name="Line 45"/>
            <p:cNvSpPr>
              <a:spLocks noChangeShapeType="1"/>
            </p:cNvSpPr>
            <p:nvPr/>
          </p:nvSpPr>
          <p:spPr bwMode="auto">
            <a:xfrm flipV="1">
              <a:off x="2257" y="343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5244" name="Group 124"/>
          <p:cNvGrpSpPr>
            <a:grpSpLocks/>
          </p:cNvGrpSpPr>
          <p:nvPr/>
        </p:nvGrpSpPr>
        <p:grpSpPr bwMode="auto">
          <a:xfrm>
            <a:off x="6528073" y="1647123"/>
            <a:ext cx="1284287" cy="454025"/>
            <a:chOff x="4310" y="3365"/>
            <a:chExt cx="809" cy="286"/>
          </a:xfrm>
        </p:grpSpPr>
        <p:sp>
          <p:nvSpPr>
            <p:cNvPr id="19492" name="Text Box 96"/>
            <p:cNvSpPr txBox="1">
              <a:spLocks noChangeArrowheads="1"/>
            </p:cNvSpPr>
            <p:nvPr/>
          </p:nvSpPr>
          <p:spPr bwMode="auto">
            <a:xfrm>
              <a:off x="4310" y="3365"/>
              <a:ext cx="80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 =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latin typeface="Arial" panose="020B0604020202020204" pitchFamily="34" charset="0"/>
                </a:rPr>
                <a:t>|</a:t>
              </a:r>
              <a:r>
                <a:rPr lang="es-ES" sz="2400" b="1">
                  <a:latin typeface="Arial" panose="020B0604020202020204" pitchFamily="34" charset="0"/>
                </a:rPr>
                <a:t>F</a:t>
              </a:r>
              <a:r>
                <a:rPr lang="es-ES" sz="2400">
                  <a:latin typeface="Arial" panose="020B0604020202020204" pitchFamily="34" charset="0"/>
                </a:rPr>
                <a:t>| u</a:t>
              </a:r>
            </a:p>
          </p:txBody>
        </p:sp>
        <p:sp>
          <p:nvSpPr>
            <p:cNvPr id="19491" name="Line 45"/>
            <p:cNvSpPr>
              <a:spLocks noChangeShapeType="1"/>
            </p:cNvSpPr>
            <p:nvPr/>
          </p:nvSpPr>
          <p:spPr bwMode="auto">
            <a:xfrm flipV="1">
              <a:off x="4946" y="343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65" name="Text Box 129"/>
          <p:cNvSpPr txBox="1">
            <a:spLocks noChangeArrowheads="1"/>
          </p:cNvSpPr>
          <p:nvPr/>
        </p:nvSpPr>
        <p:spPr bwMode="auto">
          <a:xfrm>
            <a:off x="1883321" y="2309971"/>
            <a:ext cx="6101224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El número, A o B, es la componente,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si no se considera el carácter vectorial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63" name="Text Box 129"/>
          <p:cNvSpPr txBox="1">
            <a:spLocks noChangeArrowheads="1"/>
          </p:cNvSpPr>
          <p:nvPr/>
        </p:nvSpPr>
        <p:spPr bwMode="auto">
          <a:xfrm>
            <a:off x="1216199" y="5598765"/>
            <a:ext cx="7416824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Como número puede </a:t>
            </a:r>
            <a:r>
              <a:rPr lang="es-ES" sz="2400" dirty="0">
                <a:latin typeface="Trebuchet MS" panose="020B0603020202020204" pitchFamily="34" charset="0"/>
              </a:rPr>
              <a:t>ser positiva (A =|</a:t>
            </a:r>
            <a:r>
              <a:rPr lang="es-ES" sz="2400" b="1" dirty="0">
                <a:latin typeface="Trebuchet MS" panose="020B0603020202020204" pitchFamily="34" charset="0"/>
              </a:rPr>
              <a:t>F</a:t>
            </a:r>
            <a:r>
              <a:rPr lang="es-ES" sz="2400" dirty="0">
                <a:latin typeface="Trebuchet MS" panose="020B0603020202020204" pitchFamily="34" charset="0"/>
              </a:rPr>
              <a:t>|) o negativa (B=-|</a:t>
            </a:r>
            <a:r>
              <a:rPr lang="es-ES" sz="2400" b="1">
                <a:latin typeface="Trebuchet MS" panose="020B0603020202020204" pitchFamily="34" charset="0"/>
              </a:rPr>
              <a:t>F</a:t>
            </a:r>
            <a:r>
              <a:rPr lang="es-ES" sz="2400">
                <a:latin typeface="Trebuchet MS" panose="020B0603020202020204" pitchFamily="34" charset="0"/>
              </a:rPr>
              <a:t>|), ya que indica </a:t>
            </a:r>
            <a:r>
              <a:rPr lang="es-ES" sz="2400" dirty="0">
                <a:latin typeface="Trebuchet MS" panose="020B0603020202020204" pitchFamily="34" charset="0"/>
              </a:rPr>
              <a:t>el módulo y el sentido</a:t>
            </a:r>
          </a:p>
        </p:txBody>
      </p:sp>
      <p:sp>
        <p:nvSpPr>
          <p:cNvPr id="53" name="Text Box 129"/>
          <p:cNvSpPr txBox="1">
            <a:spLocks noChangeArrowheads="1"/>
          </p:cNvSpPr>
          <p:nvPr/>
        </p:nvSpPr>
        <p:spPr bwMode="auto">
          <a:xfrm>
            <a:off x="1403971" y="3903439"/>
            <a:ext cx="705678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A</a:t>
            </a:r>
            <a:r>
              <a:rPr lang="es-ES" sz="2400">
                <a:latin typeface="Trebuchet MS" panose="020B0603020202020204" pitchFamily="34" charset="0"/>
              </a:rPr>
              <a:t> +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B </a:t>
            </a:r>
            <a:r>
              <a:rPr lang="es-ES" sz="2400">
                <a:latin typeface="Trebuchet MS" panose="020B0603020202020204" pitchFamily="34" charset="0"/>
              </a:rPr>
              <a:t>=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A</a:t>
            </a:r>
            <a:r>
              <a:rPr lang="es-ES" sz="2400">
                <a:latin typeface="Trebuchet MS" panose="020B0603020202020204" pitchFamily="34" charset="0"/>
              </a:rPr>
              <a:t> </a:t>
            </a:r>
            <a:r>
              <a:rPr lang="es-ES" sz="2400" b="1">
                <a:latin typeface="Trebuchet MS" panose="020B0603020202020204" pitchFamily="34" charset="0"/>
              </a:rPr>
              <a:t>u</a:t>
            </a:r>
            <a:r>
              <a:rPr lang="es-ES" sz="2400">
                <a:latin typeface="Trebuchet MS" panose="020B0603020202020204" pitchFamily="34" charset="0"/>
              </a:rPr>
              <a:t> +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B</a:t>
            </a:r>
            <a:r>
              <a:rPr lang="es-ES" sz="2400">
                <a:latin typeface="Trebuchet MS" panose="020B0603020202020204" pitchFamily="34" charset="0"/>
              </a:rPr>
              <a:t> </a:t>
            </a:r>
            <a:r>
              <a:rPr lang="es-ES" sz="2400" b="1">
                <a:latin typeface="Trebuchet MS" panose="020B0603020202020204" pitchFamily="34" charset="0"/>
              </a:rPr>
              <a:t>u</a:t>
            </a:r>
            <a:r>
              <a:rPr lang="es-ES" sz="2400">
                <a:latin typeface="Trebuchet MS" panose="020B0603020202020204" pitchFamily="34" charset="0"/>
              </a:rPr>
              <a:t> = (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A</a:t>
            </a:r>
            <a:r>
              <a:rPr lang="es-ES" sz="2400">
                <a:latin typeface="Trebuchet MS" panose="020B0603020202020204" pitchFamily="34" charset="0"/>
              </a:rPr>
              <a:t> +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B</a:t>
            </a:r>
            <a:r>
              <a:rPr lang="es-ES" sz="2400">
                <a:latin typeface="Trebuchet MS" panose="020B0603020202020204" pitchFamily="34" charset="0"/>
              </a:rPr>
              <a:t>) </a:t>
            </a:r>
            <a:r>
              <a:rPr lang="es-ES" sz="2400" b="1">
                <a:latin typeface="Trebuchet MS" panose="020B0603020202020204" pitchFamily="34" charset="0"/>
              </a:rPr>
              <a:t>u</a:t>
            </a:r>
            <a:r>
              <a:rPr lang="es-ES" sz="2400">
                <a:latin typeface="Trebuchet MS" panose="020B0603020202020204" pitchFamily="34" charset="0"/>
              </a:rPr>
              <a:t> =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0</a:t>
            </a:r>
            <a:r>
              <a:rPr lang="es-ES" sz="2400">
                <a:latin typeface="Trebuchet MS" panose="020B0603020202020204" pitchFamily="34" charset="0"/>
              </a:rPr>
              <a:t> </a:t>
            </a:r>
            <a:r>
              <a:rPr lang="es-ES" sz="2400" b="1">
                <a:latin typeface="Trebuchet MS" panose="020B0603020202020204" pitchFamily="34" charset="0"/>
              </a:rPr>
              <a:t>u </a:t>
            </a:r>
            <a:r>
              <a:rPr lang="es-ES" sz="2400">
                <a:latin typeface="Trebuchet MS" panose="020B0603020202020204" pitchFamily="34" charset="0"/>
              </a:rPr>
              <a:t>=</a:t>
            </a:r>
            <a:r>
              <a:rPr lang="es-ES" sz="2400" b="1">
                <a:latin typeface="Trebuchet MS" panose="020B0603020202020204" pitchFamily="34" charset="0"/>
              </a:rPr>
              <a:t> </a:t>
            </a: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</a:rPr>
              <a:t>0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2449860" y="4437112"/>
            <a:ext cx="6206133" cy="1008921"/>
            <a:chOff x="2459385" y="5366742"/>
            <a:chExt cx="6206133" cy="1008921"/>
          </a:xfrm>
        </p:grpSpPr>
        <p:sp>
          <p:nvSpPr>
            <p:cNvPr id="54" name="Text Box 129"/>
            <p:cNvSpPr txBox="1">
              <a:spLocks noChangeArrowheads="1"/>
            </p:cNvSpPr>
            <p:nvPr/>
          </p:nvSpPr>
          <p:spPr bwMode="auto">
            <a:xfrm>
              <a:off x="2459385" y="5544666"/>
              <a:ext cx="6206133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El carácter vectorial, que lo aporta </a:t>
              </a:r>
              <a:r>
                <a:rPr lang="es-ES" sz="2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u</a:t>
              </a: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, queda fuera y se suman números</a:t>
              </a:r>
            </a:p>
          </p:txBody>
        </p:sp>
        <p:cxnSp>
          <p:nvCxnSpPr>
            <p:cNvPr id="7" name="Conector recto 6"/>
            <p:cNvCxnSpPr/>
            <p:nvPr/>
          </p:nvCxnSpPr>
          <p:spPr bwMode="auto">
            <a:xfrm>
              <a:off x="4970463" y="5366742"/>
              <a:ext cx="122381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Conector recto 59"/>
            <p:cNvCxnSpPr>
              <a:cxnSpLocks/>
            </p:cNvCxnSpPr>
            <p:nvPr/>
          </p:nvCxnSpPr>
          <p:spPr bwMode="auto">
            <a:xfrm flipV="1">
              <a:off x="5457949" y="5371923"/>
              <a:ext cx="0" cy="22170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CuadroTexto 13"/>
          <p:cNvSpPr txBox="1"/>
          <p:nvPr/>
        </p:nvSpPr>
        <p:spPr>
          <a:xfrm>
            <a:off x="1216199" y="3284984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/>
              <a:t>Ocurre, p.ej., al sumar vectores con igual dirección: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6DCDC4C9-E85F-413C-8FD9-20CE7F36C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08" y="444170"/>
            <a:ext cx="6840760" cy="82266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COMPONENTE DE UN VECTOR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EN UNA DIRECCIÓN</a:t>
            </a:r>
          </a:p>
        </p:txBody>
      </p:sp>
    </p:spTree>
    <p:extLst>
      <p:ext uri="{BB962C8B-B14F-4D97-AF65-F5344CB8AC3E}">
        <p14:creationId xmlns:p14="http://schemas.microsoft.com/office/powerpoint/2010/main" val="1225223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3" grpId="0" animBg="1"/>
      <p:bldP spid="5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6"/>
          <p:cNvGrpSpPr>
            <a:grpSpLocks/>
          </p:cNvGrpSpPr>
          <p:nvPr/>
        </p:nvGrpSpPr>
        <p:grpSpPr bwMode="auto">
          <a:xfrm>
            <a:off x="1640684" y="3219524"/>
            <a:ext cx="2582863" cy="2420937"/>
            <a:chOff x="446" y="2160"/>
            <a:chExt cx="1627" cy="1525"/>
          </a:xfrm>
        </p:grpSpPr>
        <p:sp>
          <p:nvSpPr>
            <p:cNvPr id="21556" name="Line 48"/>
            <p:cNvSpPr>
              <a:spLocks noChangeShapeType="1"/>
            </p:cNvSpPr>
            <p:nvPr/>
          </p:nvSpPr>
          <p:spPr bwMode="auto">
            <a:xfrm flipV="1">
              <a:off x="932" y="2160"/>
              <a:ext cx="7" cy="1242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557" name="Line 49"/>
            <p:cNvSpPr>
              <a:spLocks noChangeShapeType="1"/>
            </p:cNvSpPr>
            <p:nvPr/>
          </p:nvSpPr>
          <p:spPr bwMode="auto">
            <a:xfrm>
              <a:off x="758" y="3203"/>
              <a:ext cx="1315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558" name="Line 50"/>
            <p:cNvSpPr>
              <a:spLocks noChangeShapeType="1"/>
            </p:cNvSpPr>
            <p:nvPr/>
          </p:nvSpPr>
          <p:spPr bwMode="auto">
            <a:xfrm flipH="1">
              <a:off x="446" y="3109"/>
              <a:ext cx="577" cy="576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918737" y="4296190"/>
            <a:ext cx="1580882" cy="404621"/>
            <a:chOff x="6918737" y="4221088"/>
            <a:chExt cx="1580882" cy="404621"/>
          </a:xfrm>
        </p:grpSpPr>
        <p:sp>
          <p:nvSpPr>
            <p:cNvPr id="21566" name="Text Box 39"/>
            <p:cNvSpPr txBox="1">
              <a:spLocks noChangeArrowheads="1"/>
            </p:cNvSpPr>
            <p:nvPr/>
          </p:nvSpPr>
          <p:spPr bwMode="auto">
            <a:xfrm>
              <a:off x="6918737" y="4311777"/>
              <a:ext cx="1580882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  i  o  e</a:t>
              </a:r>
              <a:r>
                <a:rPr lang="es-ES" sz="2400" baseline="-25000">
                  <a:latin typeface="Trebuchet MS" panose="020B0603020202020204" pitchFamily="34" charset="0"/>
                  <a:sym typeface="Symbol" panose="05050102010706020507" pitchFamily="18" charset="2"/>
                </a:rPr>
                <a:t>X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68" name="Line 41"/>
            <p:cNvSpPr>
              <a:spLocks noChangeShapeType="1"/>
            </p:cNvSpPr>
            <p:nvPr/>
          </p:nvSpPr>
          <p:spPr bwMode="auto">
            <a:xfrm flipV="1">
              <a:off x="7499407" y="4221088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71" name="Line 44"/>
            <p:cNvSpPr>
              <a:spLocks noChangeShapeType="1"/>
            </p:cNvSpPr>
            <p:nvPr/>
          </p:nvSpPr>
          <p:spPr bwMode="auto">
            <a:xfrm flipV="1">
              <a:off x="8169332" y="4284588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4" name="Group 114"/>
          <p:cNvGrpSpPr>
            <a:grpSpLocks/>
          </p:cNvGrpSpPr>
          <p:nvPr/>
        </p:nvGrpSpPr>
        <p:grpSpPr bwMode="auto">
          <a:xfrm>
            <a:off x="2248697" y="4424436"/>
            <a:ext cx="631825" cy="838200"/>
            <a:chOff x="1589" y="2057"/>
            <a:chExt cx="398" cy="528"/>
          </a:xfrm>
        </p:grpSpPr>
        <p:sp>
          <p:nvSpPr>
            <p:cNvPr id="21561" name="Line 51"/>
            <p:cNvSpPr>
              <a:spLocks noChangeShapeType="1"/>
            </p:cNvSpPr>
            <p:nvPr/>
          </p:nvSpPr>
          <p:spPr bwMode="auto">
            <a:xfrm>
              <a:off x="1698" y="2346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562" name="Line 52"/>
            <p:cNvSpPr>
              <a:spLocks noChangeShapeType="1"/>
            </p:cNvSpPr>
            <p:nvPr/>
          </p:nvSpPr>
          <p:spPr bwMode="auto">
            <a:xfrm rot="-5400000">
              <a:off x="1553" y="2202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563" name="Line 53"/>
            <p:cNvSpPr>
              <a:spLocks noChangeShapeType="1"/>
            </p:cNvSpPr>
            <p:nvPr/>
          </p:nvSpPr>
          <p:spPr bwMode="auto">
            <a:xfrm rot="8100000" flipV="1">
              <a:off x="1444" y="2441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66614" name="Text Box 54"/>
          <p:cNvSpPr txBox="1">
            <a:spLocks noChangeArrowheads="1"/>
          </p:cNvSpPr>
          <p:nvPr/>
        </p:nvSpPr>
        <p:spPr bwMode="auto">
          <a:xfrm>
            <a:off x="4206084" y="4876874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66615" name="Text Box 55"/>
          <p:cNvSpPr txBox="1">
            <a:spLocks noChangeArrowheads="1"/>
          </p:cNvSpPr>
          <p:nvPr/>
        </p:nvSpPr>
        <p:spPr bwMode="auto">
          <a:xfrm>
            <a:off x="2078834" y="2967111"/>
            <a:ext cx="360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Y</a:t>
            </a:r>
          </a:p>
        </p:txBody>
      </p:sp>
      <p:sp>
        <p:nvSpPr>
          <p:cNvPr id="66616" name="Text Box 56"/>
          <p:cNvSpPr txBox="1">
            <a:spLocks noChangeArrowheads="1"/>
          </p:cNvSpPr>
          <p:nvPr/>
        </p:nvSpPr>
        <p:spPr bwMode="auto">
          <a:xfrm>
            <a:off x="1289847" y="5343599"/>
            <a:ext cx="3545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Z</a:t>
            </a:r>
          </a:p>
        </p:txBody>
      </p:sp>
      <p:grpSp>
        <p:nvGrpSpPr>
          <p:cNvPr id="6215" name="Group 71"/>
          <p:cNvGrpSpPr>
            <a:grpSpLocks/>
          </p:cNvGrpSpPr>
          <p:nvPr/>
        </p:nvGrpSpPr>
        <p:grpSpPr bwMode="auto">
          <a:xfrm>
            <a:off x="4119268" y="2636912"/>
            <a:ext cx="4484688" cy="781050"/>
            <a:chOff x="2602" y="1859"/>
            <a:chExt cx="2825" cy="492"/>
          </a:xfrm>
        </p:grpSpPr>
        <p:sp>
          <p:nvSpPr>
            <p:cNvPr id="21559" name="Text Box 58"/>
            <p:cNvSpPr txBox="1">
              <a:spLocks noChangeArrowheads="1"/>
            </p:cNvSpPr>
            <p:nvPr/>
          </p:nvSpPr>
          <p:spPr bwMode="auto">
            <a:xfrm>
              <a:off x="3056" y="2107"/>
              <a:ext cx="204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en sentido antihorario</a:t>
              </a:r>
              <a:endParaRPr lang="es-ES" sz="2400" b="1">
                <a:solidFill>
                  <a:srgbClr val="008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1560" name="Text Box 80"/>
            <p:cNvSpPr txBox="1">
              <a:spLocks noChangeArrowheads="1"/>
            </p:cNvSpPr>
            <p:nvPr/>
          </p:nvSpPr>
          <p:spPr bwMode="auto">
            <a:xfrm>
              <a:off x="2602" y="1859"/>
              <a:ext cx="282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Eje X </a:t>
              </a: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 Eje Y  Eje Z  Eje X</a:t>
              </a:r>
            </a:p>
          </p:txBody>
        </p:sp>
      </p:grpSp>
      <p:sp>
        <p:nvSpPr>
          <p:cNvPr id="21512" name="Text Box 3"/>
          <p:cNvSpPr txBox="1">
            <a:spLocks noChangeArrowheads="1"/>
          </p:cNvSpPr>
          <p:nvPr/>
        </p:nvSpPr>
        <p:spPr bwMode="auto">
          <a:xfrm>
            <a:off x="1720675" y="321888"/>
            <a:ext cx="6434307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 anchor="ctr" anchorCtr="1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SISTEMA DE REFERENCIA CARTESIANO</a:t>
            </a:r>
          </a:p>
        </p:txBody>
      </p:sp>
      <p:grpSp>
        <p:nvGrpSpPr>
          <p:cNvPr id="6220" name="Group 76"/>
          <p:cNvGrpSpPr>
            <a:grpSpLocks/>
          </p:cNvGrpSpPr>
          <p:nvPr/>
        </p:nvGrpSpPr>
        <p:grpSpPr bwMode="auto">
          <a:xfrm>
            <a:off x="2034387" y="4516516"/>
            <a:ext cx="439738" cy="461963"/>
            <a:chOff x="1172" y="2705"/>
            <a:chExt cx="277" cy="291"/>
          </a:xfrm>
        </p:grpSpPr>
        <p:sp>
          <p:nvSpPr>
            <p:cNvPr id="21554" name="Text Box 88"/>
            <p:cNvSpPr txBox="1">
              <a:spLocks noChangeArrowheads="1"/>
            </p:cNvSpPr>
            <p:nvPr/>
          </p:nvSpPr>
          <p:spPr bwMode="auto">
            <a:xfrm>
              <a:off x="1172" y="2705"/>
              <a:ext cx="2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O</a:t>
              </a:r>
            </a:p>
          </p:txBody>
        </p:sp>
        <p:sp>
          <p:nvSpPr>
            <p:cNvPr id="21555" name="Oval 89"/>
            <p:cNvSpPr>
              <a:spLocks noChangeArrowheads="1"/>
            </p:cNvSpPr>
            <p:nvPr/>
          </p:nvSpPr>
          <p:spPr bwMode="auto">
            <a:xfrm>
              <a:off x="1381" y="290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6206" name="Text Box 62"/>
          <p:cNvSpPr txBox="1">
            <a:spLocks noChangeArrowheads="1"/>
          </p:cNvSpPr>
          <p:nvPr/>
        </p:nvSpPr>
        <p:spPr bwMode="auto">
          <a:xfrm>
            <a:off x="1434150" y="740643"/>
            <a:ext cx="7026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(un sistema para caracterizar puntos del espacio)</a:t>
            </a:r>
          </a:p>
        </p:txBody>
      </p:sp>
      <p:sp>
        <p:nvSpPr>
          <p:cNvPr id="6214" name="Text Box 70"/>
          <p:cNvSpPr txBox="1">
            <a:spLocks noChangeArrowheads="1"/>
          </p:cNvSpPr>
          <p:nvPr/>
        </p:nvSpPr>
        <p:spPr bwMode="auto">
          <a:xfrm>
            <a:off x="1166607" y="1350293"/>
            <a:ext cx="7547021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 un conjunto de 3 ejes (rectas con sentidos + y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latin typeface="Trebuchet MS" panose="020B0603020202020204" pitchFamily="34" charset="0"/>
              </a:rPr>
              <a:t>), perpendiculares entre sí y que se cortan en un punto</a:t>
            </a:r>
          </a:p>
        </p:txBody>
      </p:sp>
      <p:sp>
        <p:nvSpPr>
          <p:cNvPr id="28" name="CuadroTexto 27"/>
          <p:cNvSpPr txBox="1">
            <a:spLocks noChangeArrowheads="1"/>
          </p:cNvSpPr>
          <p:nvPr/>
        </p:nvSpPr>
        <p:spPr bwMode="auto">
          <a:xfrm>
            <a:off x="4139952" y="3471391"/>
            <a:ext cx="45704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(un ángulo se toma positivo así)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2747164" y="4991176"/>
            <a:ext cx="272832" cy="461665"/>
            <a:chOff x="4572000" y="3898900"/>
            <a:chExt cx="272455" cy="461734"/>
          </a:xfrm>
        </p:grpSpPr>
        <p:sp>
          <p:nvSpPr>
            <p:cNvPr id="21538" name="CuadroTexto 1"/>
            <p:cNvSpPr txBox="1">
              <a:spLocks noChangeArrowheads="1"/>
            </p:cNvSpPr>
            <p:nvPr/>
          </p:nvSpPr>
          <p:spPr bwMode="auto">
            <a:xfrm>
              <a:off x="4572000" y="3898900"/>
              <a:ext cx="272455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i</a:t>
              </a:r>
            </a:p>
          </p:txBody>
        </p:sp>
        <p:sp>
          <p:nvSpPr>
            <p:cNvPr id="21539" name="Line 38"/>
            <p:cNvSpPr>
              <a:spLocks noChangeShapeType="1"/>
            </p:cNvSpPr>
            <p:nvPr/>
          </p:nvSpPr>
          <p:spPr bwMode="auto">
            <a:xfrm flipV="1">
              <a:off x="4614504" y="3938656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2431263" y="4241872"/>
            <a:ext cx="296876" cy="461665"/>
            <a:chOff x="4485302" y="4548464"/>
            <a:chExt cx="296710" cy="459910"/>
          </a:xfrm>
        </p:grpSpPr>
        <p:sp>
          <p:nvSpPr>
            <p:cNvPr id="21536" name="CuadroTexto 62"/>
            <p:cNvSpPr txBox="1">
              <a:spLocks noChangeArrowheads="1"/>
            </p:cNvSpPr>
            <p:nvPr/>
          </p:nvSpPr>
          <p:spPr bwMode="auto">
            <a:xfrm>
              <a:off x="4485302" y="4548464"/>
              <a:ext cx="296710" cy="45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j</a:t>
              </a:r>
            </a:p>
          </p:txBody>
        </p:sp>
        <p:sp>
          <p:nvSpPr>
            <p:cNvPr id="21537" name="Line 38"/>
            <p:cNvSpPr>
              <a:spLocks noChangeShapeType="1"/>
            </p:cNvSpPr>
            <p:nvPr/>
          </p:nvSpPr>
          <p:spPr bwMode="auto">
            <a:xfrm flipV="1">
              <a:off x="4527806" y="458822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164562" y="5205488"/>
            <a:ext cx="340158" cy="461665"/>
            <a:chOff x="5158761" y="4648170"/>
            <a:chExt cx="340358" cy="461734"/>
          </a:xfrm>
        </p:grpSpPr>
        <p:sp>
          <p:nvSpPr>
            <p:cNvPr id="21534" name="CuadroTexto 64"/>
            <p:cNvSpPr txBox="1">
              <a:spLocks noChangeArrowheads="1"/>
            </p:cNvSpPr>
            <p:nvPr/>
          </p:nvSpPr>
          <p:spPr bwMode="auto">
            <a:xfrm>
              <a:off x="5158761" y="4648170"/>
              <a:ext cx="340358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k</a:t>
              </a:r>
            </a:p>
          </p:txBody>
        </p:sp>
        <p:sp>
          <p:nvSpPr>
            <p:cNvPr id="21535" name="Line 38"/>
            <p:cNvSpPr>
              <a:spLocks noChangeShapeType="1"/>
            </p:cNvSpPr>
            <p:nvPr/>
          </p:nvSpPr>
          <p:spPr bwMode="auto">
            <a:xfrm flipV="1">
              <a:off x="5201265" y="4687926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5558475" y="5704356"/>
            <a:ext cx="2397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rgbClr val="FF0000"/>
                </a:solidFill>
              </a:rPr>
              <a:t>(siguen el orden alfabético)</a:t>
            </a:r>
            <a:endParaRPr lang="en-GB" sz="2400">
              <a:solidFill>
                <a:srgbClr val="FF0000"/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4873681" y="4321590"/>
            <a:ext cx="2068456" cy="1246937"/>
            <a:chOff x="4873681" y="4246488"/>
            <a:chExt cx="2068456" cy="1246937"/>
          </a:xfrm>
        </p:grpSpPr>
        <p:sp>
          <p:nvSpPr>
            <p:cNvPr id="21564" name="Text Box 37"/>
            <p:cNvSpPr txBox="1">
              <a:spLocks noChangeArrowheads="1"/>
            </p:cNvSpPr>
            <p:nvPr/>
          </p:nvSpPr>
          <p:spPr bwMode="auto">
            <a:xfrm>
              <a:off x="4873681" y="4559225"/>
              <a:ext cx="1522413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u de ejes  </a:t>
              </a:r>
            </a:p>
          </p:txBody>
        </p:sp>
        <p:sp>
          <p:nvSpPr>
            <p:cNvPr id="21565" name="Line 38"/>
            <p:cNvSpPr>
              <a:spLocks noChangeShapeType="1"/>
            </p:cNvSpPr>
            <p:nvPr/>
          </p:nvSpPr>
          <p:spPr bwMode="auto">
            <a:xfrm flipV="1">
              <a:off x="4935594" y="4686225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67" name="AutoShape 40"/>
            <p:cNvSpPr>
              <a:spLocks/>
            </p:cNvSpPr>
            <p:nvPr/>
          </p:nvSpPr>
          <p:spPr bwMode="auto">
            <a:xfrm>
              <a:off x="6286556" y="4246488"/>
              <a:ext cx="215900" cy="1081085"/>
            </a:xfrm>
            <a:prstGeom prst="leftBrace">
              <a:avLst>
                <a:gd name="adj1" fmla="val 4172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72" name="Text Box 39"/>
            <p:cNvSpPr txBox="1">
              <a:spLocks noChangeArrowheads="1"/>
            </p:cNvSpPr>
            <p:nvPr/>
          </p:nvSpPr>
          <p:spPr bwMode="auto">
            <a:xfrm>
              <a:off x="6581141" y="4293096"/>
              <a:ext cx="36099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X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Y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Z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6918737" y="4728238"/>
            <a:ext cx="1608133" cy="400558"/>
            <a:chOff x="6918737" y="4675112"/>
            <a:chExt cx="1608133" cy="400558"/>
          </a:xfrm>
        </p:grpSpPr>
        <p:sp>
          <p:nvSpPr>
            <p:cNvPr id="21569" name="Line 42"/>
            <p:cNvSpPr>
              <a:spLocks noChangeShapeType="1"/>
            </p:cNvSpPr>
            <p:nvPr/>
          </p:nvSpPr>
          <p:spPr bwMode="auto">
            <a:xfrm flipV="1">
              <a:off x="7524807" y="4675112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72" name="Line 45"/>
            <p:cNvSpPr>
              <a:spLocks noChangeShapeType="1"/>
            </p:cNvSpPr>
            <p:nvPr/>
          </p:nvSpPr>
          <p:spPr bwMode="auto">
            <a:xfrm flipV="1">
              <a:off x="8186794" y="4713212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73" name="Text Box 39"/>
            <p:cNvSpPr txBox="1">
              <a:spLocks noChangeArrowheads="1"/>
            </p:cNvSpPr>
            <p:nvPr/>
          </p:nvSpPr>
          <p:spPr bwMode="auto">
            <a:xfrm>
              <a:off x="6918737" y="4747310"/>
              <a:ext cx="1608133" cy="328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  j  o  e</a:t>
              </a:r>
              <a:r>
                <a:rPr lang="es-ES" sz="2400" baseline="-25000">
                  <a:latin typeface="Trebuchet MS" panose="020B0603020202020204" pitchFamily="34" charset="0"/>
                  <a:sym typeface="Symbol" panose="05050102010706020507" pitchFamily="18" charset="2"/>
                </a:rPr>
                <a:t>Y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6933925" y="5175663"/>
            <a:ext cx="1598515" cy="413577"/>
            <a:chOff x="6933925" y="5100561"/>
            <a:chExt cx="1598515" cy="413577"/>
          </a:xfrm>
        </p:grpSpPr>
        <p:sp>
          <p:nvSpPr>
            <p:cNvPr id="21570" name="Line 43"/>
            <p:cNvSpPr>
              <a:spLocks noChangeShapeType="1"/>
            </p:cNvSpPr>
            <p:nvPr/>
          </p:nvSpPr>
          <p:spPr bwMode="auto">
            <a:xfrm flipV="1">
              <a:off x="7524807" y="5100561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1573" name="Line 46"/>
            <p:cNvSpPr>
              <a:spLocks noChangeShapeType="1"/>
            </p:cNvSpPr>
            <p:nvPr/>
          </p:nvSpPr>
          <p:spPr bwMode="auto">
            <a:xfrm flipV="1">
              <a:off x="8193144" y="5160886"/>
              <a:ext cx="144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74" name="Text Box 39"/>
            <p:cNvSpPr txBox="1">
              <a:spLocks noChangeArrowheads="1"/>
            </p:cNvSpPr>
            <p:nvPr/>
          </p:nvSpPr>
          <p:spPr bwMode="auto">
            <a:xfrm>
              <a:off x="6933925" y="5185778"/>
              <a:ext cx="1598515" cy="328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  k</a:t>
              </a:r>
              <a:r>
                <a:rPr lang="es-ES" sz="1800">
                  <a:latin typeface="Trebuchet MS" panose="020B0603020202020204" pitchFamily="34" charset="0"/>
                  <a:sym typeface="Symbol" panose="05050102010706020507" pitchFamily="18" charset="2"/>
                </a:rPr>
                <a:t>  </a:t>
              </a: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o  e</a:t>
              </a:r>
              <a:r>
                <a:rPr lang="es-ES" sz="2400" baseline="-25000">
                  <a:latin typeface="Trebuchet MS" panose="020B0603020202020204" pitchFamily="34" charset="0"/>
                  <a:sym typeface="Symbol" panose="05050102010706020507" pitchFamily="18" charset="2"/>
                </a:rPr>
                <a:t>Z</a:t>
              </a:r>
              <a:endParaRPr lang="es-ES" sz="2400">
                <a:latin typeface="Trebuchet MS" panose="020B0603020202020204" pitchFamily="34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14" grpId="0"/>
      <p:bldP spid="66615" grpId="0"/>
      <p:bldP spid="66616" grpId="0"/>
      <p:bldP spid="21512" grpId="0" animBg="1"/>
      <p:bldP spid="6206" grpId="0"/>
      <p:bldP spid="6214" grpId="0" animBg="1"/>
      <p:bldP spid="28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2"/>
          <p:cNvSpPr>
            <a:spLocks noChangeShapeType="1"/>
          </p:cNvSpPr>
          <p:nvPr/>
        </p:nvSpPr>
        <p:spPr bwMode="auto">
          <a:xfrm flipV="1">
            <a:off x="1692275" y="1666371"/>
            <a:ext cx="2160588" cy="1722437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025892" y="86052"/>
            <a:ext cx="5840214" cy="82266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DESCOMPOSICIÓN DE UN VECTOR EN COMPONENTES</a:t>
            </a:r>
          </a:p>
        </p:txBody>
      </p:sp>
      <p:sp>
        <p:nvSpPr>
          <p:cNvPr id="64521" name="Line 9"/>
          <p:cNvSpPr>
            <a:spLocks noChangeShapeType="1"/>
          </p:cNvSpPr>
          <p:nvPr/>
        </p:nvSpPr>
        <p:spPr bwMode="auto">
          <a:xfrm flipH="1" flipV="1">
            <a:off x="5545138" y="1963233"/>
            <a:ext cx="2160587" cy="1722438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64571" name="Line 59"/>
          <p:cNvSpPr>
            <a:spLocks noChangeShapeType="1"/>
          </p:cNvSpPr>
          <p:nvPr/>
        </p:nvSpPr>
        <p:spPr bwMode="auto">
          <a:xfrm>
            <a:off x="5976938" y="2020383"/>
            <a:ext cx="0" cy="1368425"/>
          </a:xfrm>
          <a:prstGeom prst="line">
            <a:avLst/>
          </a:prstGeom>
          <a:noFill/>
          <a:ln w="12700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2195513" y="1733046"/>
            <a:ext cx="1368425" cy="1871662"/>
            <a:chOff x="1383" y="1117"/>
            <a:chExt cx="862" cy="1179"/>
          </a:xfrm>
        </p:grpSpPr>
        <p:sp>
          <p:nvSpPr>
            <p:cNvPr id="23639" name="Line 58"/>
            <p:cNvSpPr>
              <a:spLocks noChangeShapeType="1"/>
            </p:cNvSpPr>
            <p:nvPr/>
          </p:nvSpPr>
          <p:spPr bwMode="auto">
            <a:xfrm>
              <a:off x="2245" y="1117"/>
              <a:ext cx="0" cy="1134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3640" name="Line 60"/>
            <p:cNvSpPr>
              <a:spLocks noChangeShapeType="1"/>
            </p:cNvSpPr>
            <p:nvPr/>
          </p:nvSpPr>
          <p:spPr bwMode="auto">
            <a:xfrm>
              <a:off x="1383" y="1797"/>
              <a:ext cx="0" cy="49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64574" name="Line 62"/>
          <p:cNvSpPr>
            <a:spLocks noChangeShapeType="1"/>
          </p:cNvSpPr>
          <p:nvPr/>
        </p:nvSpPr>
        <p:spPr bwMode="auto">
          <a:xfrm rot="-5400000">
            <a:off x="6360319" y="1395702"/>
            <a:ext cx="0" cy="1827212"/>
          </a:xfrm>
          <a:prstGeom prst="line">
            <a:avLst/>
          </a:prstGeom>
          <a:noFill/>
          <a:ln w="12700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3" name="Group 107"/>
          <p:cNvGrpSpPr>
            <a:grpSpLocks/>
          </p:cNvGrpSpPr>
          <p:nvPr/>
        </p:nvGrpSpPr>
        <p:grpSpPr bwMode="auto">
          <a:xfrm>
            <a:off x="1547813" y="1875921"/>
            <a:ext cx="2232025" cy="1081087"/>
            <a:chOff x="975" y="1207"/>
            <a:chExt cx="1406" cy="681"/>
          </a:xfrm>
        </p:grpSpPr>
        <p:sp>
          <p:nvSpPr>
            <p:cNvPr id="23637" name="Line 61"/>
            <p:cNvSpPr>
              <a:spLocks noChangeShapeType="1"/>
            </p:cNvSpPr>
            <p:nvPr/>
          </p:nvSpPr>
          <p:spPr bwMode="auto">
            <a:xfrm rot="-5400000">
              <a:off x="1701" y="526"/>
              <a:ext cx="0" cy="136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3638" name="Line 63"/>
            <p:cNvSpPr>
              <a:spLocks noChangeShapeType="1"/>
            </p:cNvSpPr>
            <p:nvPr/>
          </p:nvSpPr>
          <p:spPr bwMode="auto">
            <a:xfrm rot="-5400000">
              <a:off x="1225" y="1638"/>
              <a:ext cx="0" cy="49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1187450" y="1875921"/>
            <a:ext cx="498475" cy="1068387"/>
            <a:chOff x="748" y="1207"/>
            <a:chExt cx="314" cy="673"/>
          </a:xfrm>
        </p:grpSpPr>
        <p:sp>
          <p:nvSpPr>
            <p:cNvPr id="23634" name="Line 67"/>
            <p:cNvSpPr>
              <a:spLocks noChangeShapeType="1"/>
            </p:cNvSpPr>
            <p:nvPr/>
          </p:nvSpPr>
          <p:spPr bwMode="auto">
            <a:xfrm rot="-5400000">
              <a:off x="724" y="1542"/>
              <a:ext cx="673" cy="3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3635" name="Text Box 84"/>
            <p:cNvSpPr txBox="1">
              <a:spLocks noChangeArrowheads="1"/>
            </p:cNvSpPr>
            <p:nvPr/>
          </p:nvSpPr>
          <p:spPr bwMode="auto">
            <a:xfrm>
              <a:off x="748" y="1424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Y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23636" name="Line 85"/>
            <p:cNvSpPr>
              <a:spLocks noChangeShapeType="1"/>
            </p:cNvSpPr>
            <p:nvPr/>
          </p:nvSpPr>
          <p:spPr bwMode="auto">
            <a:xfrm flipV="1">
              <a:off x="808" y="146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9" name="Group 98"/>
          <p:cNvGrpSpPr>
            <a:grpSpLocks/>
          </p:cNvGrpSpPr>
          <p:nvPr/>
        </p:nvGrpSpPr>
        <p:grpSpPr bwMode="auto">
          <a:xfrm>
            <a:off x="3932765" y="2480647"/>
            <a:ext cx="995363" cy="454025"/>
            <a:chOff x="1081" y="2468"/>
            <a:chExt cx="627" cy="286"/>
          </a:xfrm>
        </p:grpSpPr>
        <p:sp>
          <p:nvSpPr>
            <p:cNvPr id="23631" name="Text Box 86"/>
            <p:cNvSpPr txBox="1">
              <a:spLocks noChangeArrowheads="1"/>
            </p:cNvSpPr>
            <p:nvPr/>
          </p:nvSpPr>
          <p:spPr bwMode="auto">
            <a:xfrm>
              <a:off x="1081" y="2468"/>
              <a:ext cx="62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Z</a:t>
              </a:r>
              <a:r>
                <a:rPr lang="es-ES" sz="2400">
                  <a:latin typeface="Arial" panose="020B0604020202020204" pitchFamily="34" charset="0"/>
                </a:rPr>
                <a:t> = 0</a:t>
              </a:r>
            </a:p>
          </p:txBody>
        </p:sp>
        <p:sp>
          <p:nvSpPr>
            <p:cNvPr id="23632" name="Line 87"/>
            <p:cNvSpPr>
              <a:spLocks noChangeShapeType="1"/>
            </p:cNvSpPr>
            <p:nvPr/>
          </p:nvSpPr>
          <p:spPr bwMode="auto">
            <a:xfrm flipV="1">
              <a:off x="1127" y="250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633" name="Line 88"/>
            <p:cNvSpPr>
              <a:spLocks noChangeShapeType="1"/>
            </p:cNvSpPr>
            <p:nvPr/>
          </p:nvSpPr>
          <p:spPr bwMode="auto">
            <a:xfrm flipV="1">
              <a:off x="1543" y="250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7273" name="Group 105"/>
          <p:cNvGrpSpPr>
            <a:grpSpLocks/>
          </p:cNvGrpSpPr>
          <p:nvPr/>
        </p:nvGrpSpPr>
        <p:grpSpPr bwMode="auto">
          <a:xfrm>
            <a:off x="5976938" y="3388808"/>
            <a:ext cx="1368425" cy="582613"/>
            <a:chOff x="3657" y="2160"/>
            <a:chExt cx="862" cy="367"/>
          </a:xfrm>
        </p:grpSpPr>
        <p:sp>
          <p:nvSpPr>
            <p:cNvPr id="23627" name="Line 65"/>
            <p:cNvSpPr>
              <a:spLocks noChangeShapeType="1"/>
            </p:cNvSpPr>
            <p:nvPr/>
          </p:nvSpPr>
          <p:spPr bwMode="auto">
            <a:xfrm flipH="1">
              <a:off x="3657" y="2160"/>
              <a:ext cx="862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grpSp>
          <p:nvGrpSpPr>
            <p:cNvPr id="23628" name="Group 114"/>
            <p:cNvGrpSpPr>
              <a:grpSpLocks/>
            </p:cNvGrpSpPr>
            <p:nvPr/>
          </p:nvGrpSpPr>
          <p:grpSpPr bwMode="auto">
            <a:xfrm>
              <a:off x="4020" y="2241"/>
              <a:ext cx="306" cy="286"/>
              <a:chOff x="3657" y="2387"/>
              <a:chExt cx="306" cy="286"/>
            </a:xfrm>
          </p:grpSpPr>
          <p:sp>
            <p:nvSpPr>
              <p:cNvPr id="23629" name="Text Box 112"/>
              <p:cNvSpPr txBox="1">
                <a:spLocks noChangeArrowheads="1"/>
              </p:cNvSpPr>
              <p:nvPr/>
            </p:nvSpPr>
            <p:spPr bwMode="auto">
              <a:xfrm>
                <a:off x="3657" y="2387"/>
                <a:ext cx="306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latin typeface="Arial" panose="020B0604020202020204" pitchFamily="34" charset="0"/>
                  </a:rPr>
                  <a:t>X</a:t>
                </a:r>
                <a:endParaRPr lang="es-E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30" name="Line 113"/>
              <p:cNvSpPr>
                <a:spLocks noChangeShapeType="1"/>
              </p:cNvSpPr>
              <p:nvPr/>
            </p:nvSpPr>
            <p:spPr bwMode="auto">
              <a:xfrm flipV="1">
                <a:off x="3702" y="2432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7272" name="Group 104"/>
          <p:cNvGrpSpPr>
            <a:grpSpLocks/>
          </p:cNvGrpSpPr>
          <p:nvPr/>
        </p:nvGrpSpPr>
        <p:grpSpPr bwMode="auto">
          <a:xfrm>
            <a:off x="7323138" y="2309308"/>
            <a:ext cx="749300" cy="1068388"/>
            <a:chOff x="4725" y="1480"/>
            <a:chExt cx="472" cy="673"/>
          </a:xfrm>
        </p:grpSpPr>
        <p:sp>
          <p:nvSpPr>
            <p:cNvPr id="23624" name="Line 66"/>
            <p:cNvSpPr>
              <a:spLocks noChangeShapeType="1"/>
            </p:cNvSpPr>
            <p:nvPr/>
          </p:nvSpPr>
          <p:spPr bwMode="auto">
            <a:xfrm rot="-5400000">
              <a:off x="4390" y="1815"/>
              <a:ext cx="673" cy="3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3625" name="Text Box 118"/>
            <p:cNvSpPr txBox="1">
              <a:spLocks noChangeArrowheads="1"/>
            </p:cNvSpPr>
            <p:nvPr/>
          </p:nvSpPr>
          <p:spPr bwMode="auto">
            <a:xfrm>
              <a:off x="4891" y="1606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Y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23626" name="Line 119"/>
            <p:cNvSpPr>
              <a:spLocks noChangeShapeType="1"/>
            </p:cNvSpPr>
            <p:nvPr/>
          </p:nvSpPr>
          <p:spPr bwMode="auto">
            <a:xfrm flipV="1">
              <a:off x="4964" y="163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15" name="Group 108"/>
          <p:cNvGrpSpPr>
            <a:grpSpLocks/>
          </p:cNvGrpSpPr>
          <p:nvPr/>
        </p:nvGrpSpPr>
        <p:grpSpPr bwMode="auto">
          <a:xfrm>
            <a:off x="2195513" y="2812546"/>
            <a:ext cx="1368425" cy="576262"/>
            <a:chOff x="1383" y="1797"/>
            <a:chExt cx="862" cy="363"/>
          </a:xfrm>
        </p:grpSpPr>
        <p:sp>
          <p:nvSpPr>
            <p:cNvPr id="23621" name="Line 64"/>
            <p:cNvSpPr>
              <a:spLocks noChangeShapeType="1"/>
            </p:cNvSpPr>
            <p:nvPr/>
          </p:nvSpPr>
          <p:spPr bwMode="auto">
            <a:xfrm>
              <a:off x="1383" y="2160"/>
              <a:ext cx="862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3622" name="Text Box 82"/>
            <p:cNvSpPr txBox="1">
              <a:spLocks noChangeArrowheads="1"/>
            </p:cNvSpPr>
            <p:nvPr/>
          </p:nvSpPr>
          <p:spPr bwMode="auto">
            <a:xfrm>
              <a:off x="1746" y="1797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X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23623" name="Line 83"/>
            <p:cNvSpPr>
              <a:spLocks noChangeShapeType="1"/>
            </p:cNvSpPr>
            <p:nvPr/>
          </p:nvSpPr>
          <p:spPr bwMode="auto">
            <a:xfrm flipV="1">
              <a:off x="1806" y="184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3614" name="Rectangle 102"/>
          <p:cNvSpPr>
            <a:spLocks noChangeArrowheads="1"/>
          </p:cNvSpPr>
          <p:nvPr/>
        </p:nvSpPr>
        <p:spPr bwMode="auto">
          <a:xfrm>
            <a:off x="1187624" y="4397996"/>
            <a:ext cx="4079872" cy="198278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3615" name="Oval 94"/>
          <p:cNvSpPr>
            <a:spLocks noChangeArrowheads="1"/>
          </p:cNvSpPr>
          <p:nvPr/>
        </p:nvSpPr>
        <p:spPr bwMode="auto">
          <a:xfrm>
            <a:off x="1330499" y="4752008"/>
            <a:ext cx="107950" cy="10795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3616" name="Text Box 95"/>
          <p:cNvSpPr txBox="1">
            <a:spLocks noChangeArrowheads="1"/>
          </p:cNvSpPr>
          <p:nvPr/>
        </p:nvSpPr>
        <p:spPr bwMode="auto">
          <a:xfrm>
            <a:off x="1209849" y="5456857"/>
            <a:ext cx="35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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DF9261E-E01B-465F-A0C7-4AF423DF5C67}"/>
              </a:ext>
            </a:extLst>
          </p:cNvPr>
          <p:cNvGrpSpPr/>
          <p:nvPr/>
        </p:nvGrpSpPr>
        <p:grpSpPr>
          <a:xfrm>
            <a:off x="1547664" y="4600378"/>
            <a:ext cx="3567432" cy="857249"/>
            <a:chOff x="1547664" y="4532933"/>
            <a:chExt cx="3567432" cy="857249"/>
          </a:xfrm>
        </p:grpSpPr>
        <p:sp>
          <p:nvSpPr>
            <p:cNvPr id="23617" name="Text Box 96"/>
            <p:cNvSpPr txBox="1">
              <a:spLocks noChangeArrowheads="1"/>
            </p:cNvSpPr>
            <p:nvPr/>
          </p:nvSpPr>
          <p:spPr bwMode="auto">
            <a:xfrm>
              <a:off x="1560686" y="4928220"/>
              <a:ext cx="355441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</a:rPr>
                <a:t>Eje o vector hacia fuera</a:t>
              </a:r>
            </a:p>
          </p:txBody>
        </p:sp>
        <p:sp>
          <p:nvSpPr>
            <p:cNvPr id="23619" name="93 CuadroTexto"/>
            <p:cNvSpPr txBox="1">
              <a:spLocks noChangeArrowheads="1"/>
            </p:cNvSpPr>
            <p:nvPr/>
          </p:nvSpPr>
          <p:spPr bwMode="auto">
            <a:xfrm>
              <a:off x="1547664" y="4532933"/>
              <a:ext cx="24721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Punta de flecha: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69E8A3F-ABA0-440C-8AB1-F4A0E0B23443}"/>
              </a:ext>
            </a:extLst>
          </p:cNvPr>
          <p:cNvGrpSpPr/>
          <p:nvPr/>
        </p:nvGrpSpPr>
        <p:grpSpPr>
          <a:xfrm>
            <a:off x="1561922" y="5474320"/>
            <a:ext cx="3705574" cy="831849"/>
            <a:chOff x="1561922" y="5474320"/>
            <a:chExt cx="3705574" cy="831849"/>
          </a:xfrm>
        </p:grpSpPr>
        <p:sp>
          <p:nvSpPr>
            <p:cNvPr id="23618" name="Text Box 97"/>
            <p:cNvSpPr txBox="1">
              <a:spLocks noChangeArrowheads="1"/>
            </p:cNvSpPr>
            <p:nvPr/>
          </p:nvSpPr>
          <p:spPr bwMode="auto">
            <a:xfrm>
              <a:off x="1573386" y="5844207"/>
              <a:ext cx="369411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</a:rPr>
                <a:t>Eje o vector hacia dentro</a:t>
              </a:r>
            </a:p>
          </p:txBody>
        </p:sp>
        <p:sp>
          <p:nvSpPr>
            <p:cNvPr id="23620" name="94 CuadroTexto"/>
            <p:cNvSpPr txBox="1">
              <a:spLocks noChangeArrowheads="1"/>
            </p:cNvSpPr>
            <p:nvPr/>
          </p:nvSpPr>
          <p:spPr bwMode="auto">
            <a:xfrm>
              <a:off x="1561922" y="5474320"/>
              <a:ext cx="2528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Pluma de flecha:</a:t>
              </a:r>
            </a:p>
          </p:txBody>
        </p:sp>
      </p:grpSp>
      <p:grpSp>
        <p:nvGrpSpPr>
          <p:cNvPr id="5" name="Group 98"/>
          <p:cNvGrpSpPr>
            <a:grpSpLocks/>
          </p:cNvGrpSpPr>
          <p:nvPr/>
        </p:nvGrpSpPr>
        <p:grpSpPr bwMode="auto">
          <a:xfrm>
            <a:off x="7668344" y="1731458"/>
            <a:ext cx="995363" cy="454025"/>
            <a:chOff x="1081" y="2468"/>
            <a:chExt cx="627" cy="286"/>
          </a:xfrm>
        </p:grpSpPr>
        <p:sp>
          <p:nvSpPr>
            <p:cNvPr id="23611" name="Text Box 86"/>
            <p:cNvSpPr txBox="1">
              <a:spLocks noChangeArrowheads="1"/>
            </p:cNvSpPr>
            <p:nvPr/>
          </p:nvSpPr>
          <p:spPr bwMode="auto">
            <a:xfrm>
              <a:off x="1081" y="2468"/>
              <a:ext cx="62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Z</a:t>
              </a:r>
              <a:r>
                <a:rPr lang="es-ES" sz="2400">
                  <a:latin typeface="Arial" panose="020B0604020202020204" pitchFamily="34" charset="0"/>
                </a:rPr>
                <a:t> = 0</a:t>
              </a:r>
            </a:p>
          </p:txBody>
        </p:sp>
        <p:sp>
          <p:nvSpPr>
            <p:cNvPr id="23612" name="Line 87"/>
            <p:cNvSpPr>
              <a:spLocks noChangeShapeType="1"/>
            </p:cNvSpPr>
            <p:nvPr/>
          </p:nvSpPr>
          <p:spPr bwMode="auto">
            <a:xfrm flipV="1">
              <a:off x="1127" y="250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613" name="Line 88"/>
            <p:cNvSpPr>
              <a:spLocks noChangeShapeType="1"/>
            </p:cNvSpPr>
            <p:nvPr/>
          </p:nvSpPr>
          <p:spPr bwMode="auto">
            <a:xfrm flipV="1">
              <a:off x="1543" y="250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23591" name="Group 126"/>
          <p:cNvGrpSpPr>
            <a:grpSpLocks/>
          </p:cNvGrpSpPr>
          <p:nvPr/>
        </p:nvGrpSpPr>
        <p:grpSpPr bwMode="auto">
          <a:xfrm>
            <a:off x="5845483" y="4934669"/>
            <a:ext cx="1626293" cy="1590675"/>
            <a:chOff x="3789" y="3021"/>
            <a:chExt cx="987" cy="1002"/>
          </a:xfrm>
        </p:grpSpPr>
        <p:grpSp>
          <p:nvGrpSpPr>
            <p:cNvPr id="23593" name="Group 101"/>
            <p:cNvGrpSpPr>
              <a:grpSpLocks/>
            </p:cNvGrpSpPr>
            <p:nvPr/>
          </p:nvGrpSpPr>
          <p:grpSpPr bwMode="auto">
            <a:xfrm>
              <a:off x="3789" y="3021"/>
              <a:ext cx="987" cy="286"/>
              <a:chOff x="975" y="3748"/>
              <a:chExt cx="987" cy="286"/>
            </a:xfrm>
          </p:grpSpPr>
          <p:sp>
            <p:nvSpPr>
              <p:cNvPr id="23606" name="Text Box 18"/>
              <p:cNvSpPr txBox="1">
                <a:spLocks noChangeArrowheads="1"/>
              </p:cNvSpPr>
              <p:nvPr/>
            </p:nvSpPr>
            <p:spPr bwMode="auto">
              <a:xfrm>
                <a:off x="975" y="3748"/>
                <a:ext cx="987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X</a:t>
                </a:r>
                <a:r>
                  <a:rPr lang="es-ES" sz="2400">
                    <a:latin typeface="Arial" panose="020B0604020202020204" pitchFamily="34" charset="0"/>
                  </a:rPr>
                  <a:t> = </a:t>
                </a: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X</a:t>
                </a:r>
                <a:r>
                  <a:rPr lang="es-ES" sz="2400">
                    <a:latin typeface="Arial" panose="020B0604020202020204" pitchFamily="34" charset="0"/>
                  </a:rPr>
                  <a:t> i   </a:t>
                </a:r>
              </a:p>
            </p:txBody>
          </p:sp>
          <p:sp>
            <p:nvSpPr>
              <p:cNvPr id="23607" name="Line 19"/>
              <p:cNvSpPr>
                <a:spLocks noChangeShapeType="1"/>
              </p:cNvSpPr>
              <p:nvPr/>
            </p:nvSpPr>
            <p:spPr bwMode="auto">
              <a:xfrm flipV="1">
                <a:off x="1020" y="3782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3609" name="Line 21"/>
              <p:cNvSpPr>
                <a:spLocks noChangeShapeType="1"/>
              </p:cNvSpPr>
              <p:nvPr/>
            </p:nvSpPr>
            <p:spPr bwMode="auto">
              <a:xfrm flipV="1">
                <a:off x="1653" y="3793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23594" name="Group 100"/>
            <p:cNvGrpSpPr>
              <a:grpSpLocks/>
            </p:cNvGrpSpPr>
            <p:nvPr/>
          </p:nvGrpSpPr>
          <p:grpSpPr bwMode="auto">
            <a:xfrm>
              <a:off x="3789" y="3384"/>
              <a:ext cx="822" cy="286"/>
              <a:chOff x="3470" y="3793"/>
              <a:chExt cx="822" cy="286"/>
            </a:xfrm>
          </p:grpSpPr>
          <p:sp>
            <p:nvSpPr>
              <p:cNvPr id="23601" name="Text Box 71"/>
              <p:cNvSpPr txBox="1">
                <a:spLocks noChangeArrowheads="1"/>
              </p:cNvSpPr>
              <p:nvPr/>
            </p:nvSpPr>
            <p:spPr bwMode="auto">
              <a:xfrm>
                <a:off x="3470" y="3793"/>
                <a:ext cx="82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Y</a:t>
                </a:r>
                <a:r>
                  <a:rPr lang="es-ES" sz="2400">
                    <a:latin typeface="Arial" panose="020B0604020202020204" pitchFamily="34" charset="0"/>
                  </a:rPr>
                  <a:t> = </a:t>
                </a: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Y</a:t>
                </a:r>
                <a:r>
                  <a:rPr lang="es-ES" sz="2400">
                    <a:latin typeface="Arial" panose="020B0604020202020204" pitchFamily="34" charset="0"/>
                  </a:rPr>
                  <a:t> j</a:t>
                </a:r>
              </a:p>
            </p:txBody>
          </p:sp>
          <p:sp>
            <p:nvSpPr>
              <p:cNvPr id="23602" name="Line 72"/>
              <p:cNvSpPr>
                <a:spLocks noChangeShapeType="1"/>
              </p:cNvSpPr>
              <p:nvPr/>
            </p:nvSpPr>
            <p:spPr bwMode="auto">
              <a:xfrm flipV="1">
                <a:off x="3515" y="3827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3604" name="Line 74"/>
              <p:cNvSpPr>
                <a:spLocks noChangeShapeType="1"/>
              </p:cNvSpPr>
              <p:nvPr/>
            </p:nvSpPr>
            <p:spPr bwMode="auto">
              <a:xfrm flipV="1">
                <a:off x="4148" y="383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23595" name="Group 99"/>
            <p:cNvGrpSpPr>
              <a:grpSpLocks/>
            </p:cNvGrpSpPr>
            <p:nvPr/>
          </p:nvGrpSpPr>
          <p:grpSpPr bwMode="auto">
            <a:xfrm>
              <a:off x="3789" y="3737"/>
              <a:ext cx="866" cy="286"/>
              <a:chOff x="3925" y="2976"/>
              <a:chExt cx="866" cy="286"/>
            </a:xfrm>
          </p:grpSpPr>
          <p:sp>
            <p:nvSpPr>
              <p:cNvPr id="23596" name="Text Box 77"/>
              <p:cNvSpPr txBox="1">
                <a:spLocks noChangeArrowheads="1"/>
              </p:cNvSpPr>
              <p:nvPr/>
            </p:nvSpPr>
            <p:spPr bwMode="auto">
              <a:xfrm>
                <a:off x="3925" y="2976"/>
                <a:ext cx="866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Z</a:t>
                </a:r>
                <a:r>
                  <a:rPr lang="es-ES" sz="2400">
                    <a:latin typeface="Arial" panose="020B0604020202020204" pitchFamily="34" charset="0"/>
                  </a:rPr>
                  <a:t> = </a:t>
                </a: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Z</a:t>
                </a:r>
                <a:r>
                  <a:rPr lang="es-ES" sz="2400">
                    <a:latin typeface="Arial" panose="020B0604020202020204" pitchFamily="34" charset="0"/>
                  </a:rPr>
                  <a:t> k</a:t>
                </a:r>
              </a:p>
            </p:txBody>
          </p:sp>
          <p:sp>
            <p:nvSpPr>
              <p:cNvPr id="23597" name="Line 78"/>
              <p:cNvSpPr>
                <a:spLocks noChangeShapeType="1"/>
              </p:cNvSpPr>
              <p:nvPr/>
            </p:nvSpPr>
            <p:spPr bwMode="auto">
              <a:xfrm flipV="1">
                <a:off x="3970" y="3010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3599" name="Line 80"/>
              <p:cNvSpPr>
                <a:spLocks noChangeShapeType="1"/>
              </p:cNvSpPr>
              <p:nvPr/>
            </p:nvSpPr>
            <p:spPr bwMode="auto">
              <a:xfrm flipV="1">
                <a:off x="4603" y="302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sp>
        <p:nvSpPr>
          <p:cNvPr id="23592" name="Text Box 106"/>
          <p:cNvSpPr txBox="1">
            <a:spLocks noChangeArrowheads="1"/>
          </p:cNvSpPr>
          <p:nvPr/>
        </p:nvSpPr>
        <p:spPr bwMode="auto">
          <a:xfrm>
            <a:off x="5580112" y="4256806"/>
            <a:ext cx="3044825" cy="46196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Expresión general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1277473" y="1448883"/>
            <a:ext cx="3147478" cy="2441278"/>
            <a:chOff x="1277473" y="1448883"/>
            <a:chExt cx="3147478" cy="2441278"/>
          </a:xfrm>
        </p:grpSpPr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 flipV="1">
              <a:off x="2371725" y="2248983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3578" name="Text Box 91"/>
            <p:cNvSpPr txBox="1">
              <a:spLocks noChangeArrowheads="1"/>
            </p:cNvSpPr>
            <p:nvPr/>
          </p:nvSpPr>
          <p:spPr bwMode="auto">
            <a:xfrm>
              <a:off x="1331913" y="3388808"/>
              <a:ext cx="3545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Z</a:t>
              </a:r>
            </a:p>
          </p:txBody>
        </p:sp>
        <p:grpSp>
          <p:nvGrpSpPr>
            <p:cNvPr id="7" name="Grupo 6"/>
            <p:cNvGrpSpPr/>
            <p:nvPr/>
          </p:nvGrpSpPr>
          <p:grpSpPr>
            <a:xfrm>
              <a:off x="1277473" y="1448883"/>
              <a:ext cx="3147478" cy="2441278"/>
              <a:chOff x="1277473" y="1448883"/>
              <a:chExt cx="3147478" cy="2441278"/>
            </a:xfrm>
          </p:grpSpPr>
          <p:sp>
            <p:nvSpPr>
              <p:cNvPr id="23557" name="Text Box 5"/>
              <p:cNvSpPr txBox="1">
                <a:spLocks noChangeArrowheads="1"/>
              </p:cNvSpPr>
              <p:nvPr/>
            </p:nvSpPr>
            <p:spPr bwMode="auto">
              <a:xfrm>
                <a:off x="2276475" y="2177546"/>
                <a:ext cx="349098" cy="453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23556" name="Line 4"/>
              <p:cNvSpPr>
                <a:spLocks noChangeShapeType="1"/>
              </p:cNvSpPr>
              <p:nvPr/>
            </p:nvSpPr>
            <p:spPr bwMode="auto">
              <a:xfrm flipV="1">
                <a:off x="2185988" y="1856871"/>
                <a:ext cx="1403350" cy="1125537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3563" name="Line 43"/>
              <p:cNvSpPr>
                <a:spLocks noChangeShapeType="1"/>
              </p:cNvSpPr>
              <p:nvPr/>
            </p:nvSpPr>
            <p:spPr bwMode="auto">
              <a:xfrm flipH="1" flipV="1">
                <a:off x="1681163" y="1560008"/>
                <a:ext cx="11112" cy="204470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23564" name="Line 44"/>
              <p:cNvSpPr>
                <a:spLocks noChangeShapeType="1"/>
              </p:cNvSpPr>
              <p:nvPr/>
            </p:nvSpPr>
            <p:spPr bwMode="auto">
              <a:xfrm>
                <a:off x="1331913" y="3388808"/>
                <a:ext cx="2951162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23565" name="Text Box 49"/>
              <p:cNvSpPr txBox="1">
                <a:spLocks noChangeArrowheads="1"/>
              </p:cNvSpPr>
              <p:nvPr/>
            </p:nvSpPr>
            <p:spPr bwMode="auto">
              <a:xfrm>
                <a:off x="4068763" y="3428496"/>
                <a:ext cx="35618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X</a:t>
                </a:r>
              </a:p>
            </p:txBody>
          </p:sp>
          <p:sp>
            <p:nvSpPr>
              <p:cNvPr id="23566" name="Text Box 50"/>
              <p:cNvSpPr txBox="1">
                <a:spLocks noChangeArrowheads="1"/>
              </p:cNvSpPr>
              <p:nvPr/>
            </p:nvSpPr>
            <p:spPr bwMode="auto">
              <a:xfrm>
                <a:off x="1308100" y="1448883"/>
                <a:ext cx="3609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Y</a:t>
                </a:r>
              </a:p>
            </p:txBody>
          </p:sp>
          <p:sp>
            <p:nvSpPr>
              <p:cNvPr id="23577" name="Oval 90"/>
              <p:cNvSpPr>
                <a:spLocks noChangeArrowheads="1"/>
              </p:cNvSpPr>
              <p:nvPr/>
            </p:nvSpPr>
            <p:spPr bwMode="auto">
              <a:xfrm>
                <a:off x="1630363" y="3334833"/>
                <a:ext cx="107950" cy="10795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  <p:sp>
            <p:nvSpPr>
              <p:cNvPr id="23587" name="Text Box 88"/>
              <p:cNvSpPr txBox="1">
                <a:spLocks noChangeArrowheads="1"/>
              </p:cNvSpPr>
              <p:nvPr/>
            </p:nvSpPr>
            <p:spPr bwMode="auto">
              <a:xfrm>
                <a:off x="1277473" y="2998283"/>
                <a:ext cx="3914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O</a:t>
                </a:r>
              </a:p>
            </p:txBody>
          </p:sp>
        </p:grpSp>
      </p:grp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2222535" y="871538"/>
            <a:ext cx="5391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(obtener su componente en cada eje)</a:t>
            </a:r>
          </a:p>
        </p:txBody>
      </p:sp>
      <p:sp>
        <p:nvSpPr>
          <p:cNvPr id="6" name="Forma libre 5"/>
          <p:cNvSpPr>
            <a:spLocks/>
          </p:cNvSpPr>
          <p:nvPr/>
        </p:nvSpPr>
        <p:spPr bwMode="auto">
          <a:xfrm>
            <a:off x="1534260" y="3520058"/>
            <a:ext cx="552217" cy="1090397"/>
          </a:xfrm>
          <a:custGeom>
            <a:avLst/>
            <a:gdLst>
              <a:gd name="T0" fmla="*/ 201401 w 383861"/>
              <a:gd name="T1" fmla="*/ 0 h 894521"/>
              <a:gd name="T2" fmla="*/ 382660 w 383861"/>
              <a:gd name="T3" fmla="*/ 403501 h 894521"/>
              <a:gd name="T4" fmla="*/ 0 w 383861"/>
              <a:gd name="T5" fmla="*/ 907878 h 8945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3861" h="894521">
                <a:moveTo>
                  <a:pt x="198783" y="0"/>
                </a:moveTo>
                <a:cubicBezTo>
                  <a:pt x="304800" y="124239"/>
                  <a:pt x="410817" y="248478"/>
                  <a:pt x="377687" y="397565"/>
                </a:cubicBezTo>
                <a:cubicBezTo>
                  <a:pt x="344557" y="546652"/>
                  <a:pt x="172278" y="720586"/>
                  <a:pt x="0" y="894521"/>
                </a:cubicBez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14" name="Grupo 13"/>
          <p:cNvGrpSpPr/>
          <p:nvPr/>
        </p:nvGrpSpPr>
        <p:grpSpPr>
          <a:xfrm>
            <a:off x="5345113" y="1444121"/>
            <a:ext cx="3040650" cy="2490490"/>
            <a:chOff x="5345113" y="1444121"/>
            <a:chExt cx="3040650" cy="2490490"/>
          </a:xfrm>
        </p:grpSpPr>
        <p:grpSp>
          <p:nvGrpSpPr>
            <p:cNvPr id="11" name="Grupo 10"/>
            <p:cNvGrpSpPr/>
            <p:nvPr/>
          </p:nvGrpSpPr>
          <p:grpSpPr>
            <a:xfrm>
              <a:off x="5345113" y="1444121"/>
              <a:ext cx="3040650" cy="2446040"/>
              <a:chOff x="5345113" y="1444121"/>
              <a:chExt cx="3040650" cy="2446040"/>
            </a:xfrm>
          </p:grpSpPr>
          <p:sp>
            <p:nvSpPr>
              <p:cNvPr id="23562" name="Line 12"/>
              <p:cNvSpPr>
                <a:spLocks noChangeShapeType="1"/>
              </p:cNvSpPr>
              <p:nvPr/>
            </p:nvSpPr>
            <p:spPr bwMode="auto">
              <a:xfrm flipV="1">
                <a:off x="6380163" y="185528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grpSp>
            <p:nvGrpSpPr>
              <p:cNvPr id="10" name="Grupo 9"/>
              <p:cNvGrpSpPr/>
              <p:nvPr/>
            </p:nvGrpSpPr>
            <p:grpSpPr>
              <a:xfrm>
                <a:off x="5345113" y="1444121"/>
                <a:ext cx="3040650" cy="2446040"/>
                <a:chOff x="5345113" y="1444121"/>
                <a:chExt cx="3040650" cy="2446040"/>
              </a:xfrm>
            </p:grpSpPr>
            <p:sp>
              <p:nvSpPr>
                <p:cNvPr id="23560" name="Lin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5975350" y="2298196"/>
                  <a:ext cx="1403350" cy="1125537"/>
                </a:xfrm>
                <a:prstGeom prst="line">
                  <a:avLst/>
                </a:prstGeom>
                <a:noFill/>
                <a:ln w="762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2356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6273236" y="1810488"/>
                  <a:ext cx="349098" cy="453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9992" tIns="41596" rIns="79992" bIns="41596">
                  <a:spAutoFit/>
                </a:bodyPr>
                <a:lstStyle>
                  <a:lvl1pPr defTabSz="81280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defTabSz="81280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defTabSz="8128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defTabSz="8128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defTabSz="8128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defTabSz="812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latin typeface="Arial" panose="020B0604020202020204" pitchFamily="34" charset="0"/>
                    </a:rPr>
                    <a:t>F</a:t>
                  </a:r>
                </a:p>
              </p:txBody>
            </p:sp>
            <p:sp>
              <p:nvSpPr>
                <p:cNvPr id="23567" name="Line 54"/>
                <p:cNvSpPr>
                  <a:spLocks noChangeShapeType="1"/>
                </p:cNvSpPr>
                <p:nvPr/>
              </p:nvSpPr>
              <p:spPr bwMode="auto">
                <a:xfrm flipH="1" flipV="1">
                  <a:off x="7326313" y="1555246"/>
                  <a:ext cx="11112" cy="204470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 sz="2400"/>
                </a:p>
              </p:txBody>
            </p:sp>
            <p:sp>
              <p:nvSpPr>
                <p:cNvPr id="23568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6973888" y="1444121"/>
                  <a:ext cx="36099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Trebuchet MS" panose="020B0603020202020204" pitchFamily="34" charset="0"/>
                    </a:rPr>
                    <a:t>Y</a:t>
                  </a:r>
                </a:p>
              </p:txBody>
            </p:sp>
            <p:sp>
              <p:nvSpPr>
                <p:cNvPr id="23569" name="Line 56"/>
                <p:cNvSpPr>
                  <a:spLocks noChangeShapeType="1"/>
                </p:cNvSpPr>
                <p:nvPr/>
              </p:nvSpPr>
              <p:spPr bwMode="auto">
                <a:xfrm>
                  <a:off x="5345113" y="3388808"/>
                  <a:ext cx="2951162" cy="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 sz="2400"/>
                </a:p>
              </p:txBody>
            </p:sp>
            <p:sp>
              <p:nvSpPr>
                <p:cNvPr id="23570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8029575" y="3428496"/>
                  <a:ext cx="35618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Trebuchet MS" panose="020B0603020202020204" pitchFamily="34" charset="0"/>
                    </a:rPr>
                    <a:t>X</a:t>
                  </a:r>
                </a:p>
              </p:txBody>
            </p:sp>
            <p:sp>
              <p:nvSpPr>
                <p:cNvPr id="23588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7344898" y="3014158"/>
                  <a:ext cx="391454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>
                      <a:latin typeface="Trebuchet MS" panose="020B0603020202020204" pitchFamily="34" charset="0"/>
                    </a:rPr>
                    <a:t>O</a:t>
                  </a:r>
                </a:p>
              </p:txBody>
            </p:sp>
          </p:grpSp>
        </p:grpSp>
        <p:grpSp>
          <p:nvGrpSpPr>
            <p:cNvPr id="13" name="Grupo 12"/>
            <p:cNvGrpSpPr/>
            <p:nvPr/>
          </p:nvGrpSpPr>
          <p:grpSpPr>
            <a:xfrm>
              <a:off x="7189788" y="3333246"/>
              <a:ext cx="354584" cy="601365"/>
              <a:chOff x="7189788" y="3333246"/>
              <a:chExt cx="354584" cy="601365"/>
            </a:xfrm>
          </p:grpSpPr>
          <p:sp>
            <p:nvSpPr>
              <p:cNvPr id="23579" name="Oval 92"/>
              <p:cNvSpPr>
                <a:spLocks noChangeArrowheads="1"/>
              </p:cNvSpPr>
              <p:nvPr/>
            </p:nvSpPr>
            <p:spPr bwMode="auto">
              <a:xfrm>
                <a:off x="7283450" y="3333246"/>
                <a:ext cx="107950" cy="10795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  <p:sp>
            <p:nvSpPr>
              <p:cNvPr id="23580" name="Text Box 93"/>
              <p:cNvSpPr txBox="1">
                <a:spLocks noChangeArrowheads="1"/>
              </p:cNvSpPr>
              <p:nvPr/>
            </p:nvSpPr>
            <p:spPr bwMode="auto">
              <a:xfrm>
                <a:off x="7189788" y="3472946"/>
                <a:ext cx="3545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92" name="Group 126">
            <a:extLst>
              <a:ext uri="{FF2B5EF4-FFF2-40B4-BE49-F238E27FC236}">
                <a16:creationId xmlns:a16="http://schemas.microsoft.com/office/drawing/2014/main" id="{CA4006A5-709E-456D-A654-EABDE81B4A0D}"/>
              </a:ext>
            </a:extLst>
          </p:cNvPr>
          <p:cNvGrpSpPr>
            <a:grpSpLocks/>
          </p:cNvGrpSpPr>
          <p:nvPr/>
        </p:nvGrpSpPr>
        <p:grpSpPr bwMode="auto">
          <a:xfrm>
            <a:off x="7141790" y="4935953"/>
            <a:ext cx="1390650" cy="1592264"/>
            <a:chOff x="3789" y="3021"/>
            <a:chExt cx="876" cy="1003"/>
          </a:xfrm>
        </p:grpSpPr>
        <p:grpSp>
          <p:nvGrpSpPr>
            <p:cNvPr id="93" name="Group 101">
              <a:extLst>
                <a:ext uri="{FF2B5EF4-FFF2-40B4-BE49-F238E27FC236}">
                  <a16:creationId xmlns:a16="http://schemas.microsoft.com/office/drawing/2014/main" id="{E8346E7B-9B13-49B0-9DA8-65B7A640E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9" y="3021"/>
              <a:ext cx="830" cy="286"/>
              <a:chOff x="975" y="3748"/>
              <a:chExt cx="830" cy="286"/>
            </a:xfrm>
          </p:grpSpPr>
          <p:sp>
            <p:nvSpPr>
              <p:cNvPr id="104" name="Text Box 18">
                <a:extLst>
                  <a:ext uri="{FF2B5EF4-FFF2-40B4-BE49-F238E27FC236}">
                    <a16:creationId xmlns:a16="http://schemas.microsoft.com/office/drawing/2014/main" id="{6C8423A1-4C83-42F8-BE0E-AE8EC8CE79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748"/>
                <a:ext cx="83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= 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±|</a:t>
                </a:r>
                <a:r>
                  <a:rPr lang="es-ES" sz="2400" b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X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|</a:t>
                </a:r>
                <a:r>
                  <a:rPr lang="es-ES" sz="2400">
                    <a:latin typeface="Arial" panose="020B0604020202020204" pitchFamily="34" charset="0"/>
                  </a:rPr>
                  <a:t> i </a:t>
                </a:r>
              </a:p>
            </p:txBody>
          </p:sp>
          <p:sp>
            <p:nvSpPr>
              <p:cNvPr id="107" name="Line 26">
                <a:extLst>
                  <a:ext uri="{FF2B5EF4-FFF2-40B4-BE49-F238E27FC236}">
                    <a16:creationId xmlns:a16="http://schemas.microsoft.com/office/drawing/2014/main" id="{88F19154-E84B-49D4-AEE7-EFC3C69C8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9" y="379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94" name="Group 100">
              <a:extLst>
                <a:ext uri="{FF2B5EF4-FFF2-40B4-BE49-F238E27FC236}">
                  <a16:creationId xmlns:a16="http://schemas.microsoft.com/office/drawing/2014/main" id="{2776277C-3941-4B09-9A90-C94B8543A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9" y="3384"/>
              <a:ext cx="830" cy="286"/>
              <a:chOff x="3470" y="3793"/>
              <a:chExt cx="830" cy="286"/>
            </a:xfrm>
          </p:grpSpPr>
          <p:sp>
            <p:nvSpPr>
              <p:cNvPr id="100" name="Text Box 71">
                <a:extLst>
                  <a:ext uri="{FF2B5EF4-FFF2-40B4-BE49-F238E27FC236}">
                    <a16:creationId xmlns:a16="http://schemas.microsoft.com/office/drawing/2014/main" id="{98BE6F30-A661-493D-B99C-F4B1B54B2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0" y="3793"/>
                <a:ext cx="83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= 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±|</a:t>
                </a:r>
                <a:r>
                  <a:rPr lang="es-ES" sz="2400" b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Y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|</a:t>
                </a:r>
                <a:r>
                  <a:rPr lang="es-ES" sz="2400">
                    <a:latin typeface="Arial" panose="020B0604020202020204" pitchFamily="34" charset="0"/>
                  </a:rPr>
                  <a:t> j </a:t>
                </a:r>
              </a:p>
            </p:txBody>
          </p:sp>
          <p:sp>
            <p:nvSpPr>
              <p:cNvPr id="103" name="Line 75">
                <a:extLst>
                  <a:ext uri="{FF2B5EF4-FFF2-40B4-BE49-F238E27FC236}">
                    <a16:creationId xmlns:a16="http://schemas.microsoft.com/office/drawing/2014/main" id="{1AF841F6-D849-4962-816C-98551D89F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14" y="383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grpSp>
          <p:nvGrpSpPr>
            <p:cNvPr id="95" name="Group 99">
              <a:extLst>
                <a:ext uri="{FF2B5EF4-FFF2-40B4-BE49-F238E27FC236}">
                  <a16:creationId xmlns:a16="http://schemas.microsoft.com/office/drawing/2014/main" id="{545BAEE5-214E-4264-97FB-DC8C8C61A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9" y="3738"/>
              <a:ext cx="876" cy="286"/>
              <a:chOff x="3925" y="2977"/>
              <a:chExt cx="876" cy="286"/>
            </a:xfrm>
          </p:grpSpPr>
          <p:sp>
            <p:nvSpPr>
              <p:cNvPr id="96" name="Text Box 77">
                <a:extLst>
                  <a:ext uri="{FF2B5EF4-FFF2-40B4-BE49-F238E27FC236}">
                    <a16:creationId xmlns:a16="http://schemas.microsoft.com/office/drawing/2014/main" id="{A9013201-1714-4F0C-AACA-6B9204F78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5" y="2977"/>
                <a:ext cx="876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= 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±|</a:t>
                </a:r>
                <a:r>
                  <a:rPr lang="es-ES" sz="2400" b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Z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|</a:t>
                </a:r>
                <a:r>
                  <a:rPr lang="es-ES" sz="2400">
                    <a:latin typeface="Arial" panose="020B0604020202020204" pitchFamily="34" charset="0"/>
                  </a:rPr>
                  <a:t> k </a:t>
                </a:r>
              </a:p>
            </p:txBody>
          </p:sp>
          <p:sp>
            <p:nvSpPr>
              <p:cNvPr id="99" name="Line 81">
                <a:extLst>
                  <a:ext uri="{FF2B5EF4-FFF2-40B4-BE49-F238E27FC236}">
                    <a16:creationId xmlns:a16="http://schemas.microsoft.com/office/drawing/2014/main" id="{C216FDD8-2ABD-4277-B8C0-72E52CC87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88" y="3022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4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23555" grpId="0" animBg="1"/>
      <p:bldP spid="64521" grpId="0" animBg="1"/>
      <p:bldP spid="64571" grpId="0" animBg="1"/>
      <p:bldP spid="64574" grpId="0" animBg="1"/>
      <p:bldP spid="23614" grpId="0" animBg="1"/>
      <p:bldP spid="23615" grpId="0" animBg="1"/>
      <p:bldP spid="23616" grpId="0"/>
      <p:bldP spid="23592" grpId="0" animBg="1"/>
      <p:bldP spid="4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45" name="Text Box 85"/>
          <p:cNvSpPr txBox="1">
            <a:spLocks noChangeArrowheads="1"/>
          </p:cNvSpPr>
          <p:nvPr/>
        </p:nvSpPr>
        <p:spPr bwMode="auto">
          <a:xfrm>
            <a:off x="3589617" y="3717032"/>
            <a:ext cx="1054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(x,y,z)</a:t>
            </a:r>
          </a:p>
        </p:txBody>
      </p:sp>
      <p:grpSp>
        <p:nvGrpSpPr>
          <p:cNvPr id="11" name="Group 86"/>
          <p:cNvGrpSpPr>
            <a:grpSpLocks/>
          </p:cNvGrpSpPr>
          <p:nvPr/>
        </p:nvGrpSpPr>
        <p:grpSpPr bwMode="auto">
          <a:xfrm>
            <a:off x="3291170" y="3686897"/>
            <a:ext cx="492126" cy="461963"/>
            <a:chOff x="2245" y="1594"/>
            <a:chExt cx="310" cy="291"/>
          </a:xfrm>
        </p:grpSpPr>
        <p:sp>
          <p:nvSpPr>
            <p:cNvPr id="21552" name="Oval 61"/>
            <p:cNvSpPr>
              <a:spLocks noChangeArrowheads="1"/>
            </p:cNvSpPr>
            <p:nvPr/>
          </p:nvSpPr>
          <p:spPr bwMode="auto">
            <a:xfrm>
              <a:off x="2245" y="1811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21553" name="Text Box 62"/>
            <p:cNvSpPr txBox="1">
              <a:spLocks noChangeArrowheads="1"/>
            </p:cNvSpPr>
            <p:nvPr/>
          </p:nvSpPr>
          <p:spPr bwMode="auto">
            <a:xfrm>
              <a:off x="2331" y="1594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P</a:t>
              </a:r>
            </a:p>
          </p:txBody>
        </p:sp>
      </p:grpSp>
      <p:sp>
        <p:nvSpPr>
          <p:cNvPr id="59" name="58 CuadroTexto"/>
          <p:cNvSpPr txBox="1">
            <a:spLocks noChangeArrowheads="1"/>
          </p:cNvSpPr>
          <p:nvPr/>
        </p:nvSpPr>
        <p:spPr bwMode="auto">
          <a:xfrm>
            <a:off x="3605594" y="4844211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60" name="59 CuadroTexto"/>
          <p:cNvSpPr txBox="1">
            <a:spLocks noChangeArrowheads="1"/>
          </p:cNvSpPr>
          <p:nvPr/>
        </p:nvSpPr>
        <p:spPr bwMode="auto">
          <a:xfrm>
            <a:off x="2031346" y="3364581"/>
            <a:ext cx="3369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y</a:t>
            </a:r>
          </a:p>
        </p:txBody>
      </p:sp>
      <p:sp>
        <p:nvSpPr>
          <p:cNvPr id="61" name="60 CuadroTexto"/>
          <p:cNvSpPr txBox="1">
            <a:spLocks noChangeArrowheads="1"/>
          </p:cNvSpPr>
          <p:nvPr/>
        </p:nvSpPr>
        <p:spPr bwMode="auto">
          <a:xfrm>
            <a:off x="1696823" y="4800223"/>
            <a:ext cx="3305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</a:rPr>
              <a:t>z</a:t>
            </a:r>
          </a:p>
        </p:txBody>
      </p:sp>
      <p:sp>
        <p:nvSpPr>
          <p:cNvPr id="15387" name="Text Box 59"/>
          <p:cNvSpPr txBox="1">
            <a:spLocks noChangeArrowheads="1"/>
          </p:cNvSpPr>
          <p:nvPr/>
        </p:nvSpPr>
        <p:spPr bwMode="auto">
          <a:xfrm>
            <a:off x="5006936" y="2715919"/>
            <a:ext cx="3706692" cy="12268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bIns="72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Un punto P se caracteriza con 3 </a:t>
            </a:r>
            <a:r>
              <a:rPr lang="es-ES" sz="2400" b="1">
                <a:latin typeface="Trebuchet MS" panose="020B0603020202020204" pitchFamily="34" charset="0"/>
              </a:rPr>
              <a:t>coordenadas</a:t>
            </a:r>
            <a:r>
              <a:rPr lang="es-ES" sz="2400">
                <a:latin typeface="Trebuchet MS" panose="020B0603020202020204" pitchFamily="34" charset="0"/>
              </a:rPr>
              <a:t>: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x, y, z</a:t>
            </a:r>
          </a:p>
        </p:txBody>
      </p:sp>
      <p:sp>
        <p:nvSpPr>
          <p:cNvPr id="6205" name="Text Box 61"/>
          <p:cNvSpPr txBox="1">
            <a:spLocks noChangeArrowheads="1"/>
          </p:cNvSpPr>
          <p:nvPr/>
        </p:nvSpPr>
        <p:spPr bwMode="auto">
          <a:xfrm>
            <a:off x="5006936" y="4279452"/>
            <a:ext cx="3812396" cy="1237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bIns="82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Trebuchet MS" panose="020B0603020202020204" pitchFamily="34" charset="0"/>
              </a:rPr>
              <a:t>Dan la posición de 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  respecto a 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  (origen de coordenadas)</a:t>
            </a:r>
          </a:p>
        </p:txBody>
      </p:sp>
      <p:grpSp>
        <p:nvGrpSpPr>
          <p:cNvPr id="25" name="Grupo 24"/>
          <p:cNvGrpSpPr>
            <a:grpSpLocks/>
          </p:cNvGrpSpPr>
          <p:nvPr/>
        </p:nvGrpSpPr>
        <p:grpSpPr bwMode="auto">
          <a:xfrm>
            <a:off x="2332317" y="3536084"/>
            <a:ext cx="1019175" cy="533400"/>
            <a:chOff x="2168043" y="2932389"/>
            <a:chExt cx="1019658" cy="532504"/>
          </a:xfrm>
        </p:grpSpPr>
        <p:sp>
          <p:nvSpPr>
            <p:cNvPr id="21546" name="Line 96"/>
            <p:cNvSpPr>
              <a:spLocks noChangeShapeType="1"/>
            </p:cNvSpPr>
            <p:nvPr/>
          </p:nvSpPr>
          <p:spPr bwMode="auto">
            <a:xfrm flipH="1" flipV="1">
              <a:off x="2263776" y="2944193"/>
              <a:ext cx="923925" cy="5207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cxnSp>
          <p:nvCxnSpPr>
            <p:cNvPr id="21547" name="Conector recto 4"/>
            <p:cNvCxnSpPr>
              <a:cxnSpLocks noChangeShapeType="1"/>
            </p:cNvCxnSpPr>
            <p:nvPr/>
          </p:nvCxnSpPr>
          <p:spPr bwMode="auto">
            <a:xfrm>
              <a:off x="2382838" y="3011559"/>
              <a:ext cx="0" cy="285750"/>
            </a:xfrm>
            <a:prstGeom prst="line">
              <a:avLst/>
            </a:prstGeom>
            <a:noFill/>
            <a:ln w="127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8" name="Conector recto 7"/>
            <p:cNvCxnSpPr>
              <a:cxnSpLocks noChangeShapeType="1"/>
            </p:cNvCxnSpPr>
            <p:nvPr/>
          </p:nvCxnSpPr>
          <p:spPr bwMode="auto">
            <a:xfrm>
              <a:off x="2263776" y="3204543"/>
              <a:ext cx="119062" cy="92766"/>
            </a:xfrm>
            <a:prstGeom prst="line">
              <a:avLst/>
            </a:prstGeom>
            <a:noFill/>
            <a:ln w="127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9" name="Conector recto 15"/>
            <p:cNvCxnSpPr>
              <a:cxnSpLocks noChangeShapeType="1"/>
            </p:cNvCxnSpPr>
            <p:nvPr/>
          </p:nvCxnSpPr>
          <p:spPr bwMode="auto">
            <a:xfrm flipV="1">
              <a:off x="2168043" y="2932389"/>
              <a:ext cx="165100" cy="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" name="Grupo 25"/>
          <p:cNvGrpSpPr>
            <a:grpSpLocks/>
          </p:cNvGrpSpPr>
          <p:nvPr/>
        </p:nvGrpSpPr>
        <p:grpSpPr bwMode="auto">
          <a:xfrm>
            <a:off x="3362605" y="4113934"/>
            <a:ext cx="544512" cy="825500"/>
            <a:chOff x="3198813" y="3509343"/>
            <a:chExt cx="544821" cy="825819"/>
          </a:xfrm>
        </p:grpSpPr>
        <p:sp>
          <p:nvSpPr>
            <p:cNvPr id="21542" name="Line 109"/>
            <p:cNvSpPr>
              <a:spLocks noChangeShapeType="1"/>
            </p:cNvSpPr>
            <p:nvPr/>
          </p:nvSpPr>
          <p:spPr bwMode="auto">
            <a:xfrm>
              <a:off x="3198813" y="3509343"/>
              <a:ext cx="539750" cy="6985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cxnSp>
          <p:nvCxnSpPr>
            <p:cNvPr id="21543" name="Conector recto 11"/>
            <p:cNvCxnSpPr>
              <a:cxnSpLocks noChangeShapeType="1"/>
            </p:cNvCxnSpPr>
            <p:nvPr/>
          </p:nvCxnSpPr>
          <p:spPr bwMode="auto">
            <a:xfrm flipH="1">
              <a:off x="3387620" y="4056271"/>
              <a:ext cx="241474" cy="0"/>
            </a:xfrm>
            <a:prstGeom prst="line">
              <a:avLst/>
            </a:prstGeom>
            <a:noFill/>
            <a:ln w="127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4" name="Conector recto 13"/>
            <p:cNvCxnSpPr>
              <a:cxnSpLocks noChangeShapeType="1"/>
            </p:cNvCxnSpPr>
            <p:nvPr/>
          </p:nvCxnSpPr>
          <p:spPr bwMode="auto">
            <a:xfrm>
              <a:off x="3347864" y="4056271"/>
              <a:ext cx="139631" cy="164272"/>
            </a:xfrm>
            <a:prstGeom prst="line">
              <a:avLst/>
            </a:prstGeom>
            <a:noFill/>
            <a:ln w="127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Conector recto 19"/>
            <p:cNvCxnSpPr>
              <a:cxnSpLocks noChangeShapeType="1"/>
            </p:cNvCxnSpPr>
            <p:nvPr/>
          </p:nvCxnSpPr>
          <p:spPr bwMode="auto">
            <a:xfrm>
              <a:off x="3743634" y="4165557"/>
              <a:ext cx="0" cy="16960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Grupo 26"/>
          <p:cNvGrpSpPr>
            <a:grpSpLocks/>
          </p:cNvGrpSpPr>
          <p:nvPr/>
        </p:nvGrpSpPr>
        <p:grpSpPr bwMode="auto">
          <a:xfrm>
            <a:off x="1873530" y="4091709"/>
            <a:ext cx="1441450" cy="1389062"/>
            <a:chOff x="1709633" y="3487118"/>
            <a:chExt cx="1441555" cy="1389866"/>
          </a:xfrm>
        </p:grpSpPr>
        <p:sp>
          <p:nvSpPr>
            <p:cNvPr id="21540" name="Line 110"/>
            <p:cNvSpPr>
              <a:spLocks noChangeShapeType="1"/>
            </p:cNvSpPr>
            <p:nvPr/>
          </p:nvSpPr>
          <p:spPr bwMode="auto">
            <a:xfrm flipH="1">
              <a:off x="1747838" y="3487118"/>
              <a:ext cx="1403350" cy="12954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cxnSp>
          <p:nvCxnSpPr>
            <p:cNvPr id="21541" name="Conector recto 75"/>
            <p:cNvCxnSpPr>
              <a:cxnSpLocks noChangeShapeType="1"/>
            </p:cNvCxnSpPr>
            <p:nvPr/>
          </p:nvCxnSpPr>
          <p:spPr bwMode="auto">
            <a:xfrm>
              <a:off x="1709633" y="4707379"/>
              <a:ext cx="0" cy="16960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4" name="Conector recto de flecha 23"/>
          <p:cNvCxnSpPr>
            <a:cxnSpLocks noChangeShapeType="1"/>
            <a:endCxn id="21540" idx="0"/>
          </p:cNvCxnSpPr>
          <p:nvPr/>
        </p:nvCxnSpPr>
        <p:spPr bwMode="auto">
          <a:xfrm flipV="1">
            <a:off x="2448205" y="4091709"/>
            <a:ext cx="866775" cy="741362"/>
          </a:xfrm>
          <a:prstGeom prst="straightConnector1">
            <a:avLst/>
          </a:prstGeom>
          <a:noFill/>
          <a:ln w="539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2995687" y="4350499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42" name="Text Box 3">
            <a:extLst>
              <a:ext uri="{FF2B5EF4-FFF2-40B4-BE49-F238E27FC236}">
                <a16:creationId xmlns:a16="http://schemas.microsoft.com/office/drawing/2014/main" id="{94518746-FFF6-4AEF-A18E-53D257C2E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675" y="321888"/>
            <a:ext cx="6434307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9992" tIns="41596" rIns="79992" bIns="41596" anchor="ctr" anchorCtr="1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SISTEMA DE REFERENCIA CARTESIANO</a:t>
            </a:r>
          </a:p>
        </p:txBody>
      </p:sp>
      <p:sp>
        <p:nvSpPr>
          <p:cNvPr id="43" name="Text Box 62">
            <a:extLst>
              <a:ext uri="{FF2B5EF4-FFF2-40B4-BE49-F238E27FC236}">
                <a16:creationId xmlns:a16="http://schemas.microsoft.com/office/drawing/2014/main" id="{6F7D9340-BAEA-47CC-AD4B-FD1105100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150" y="740643"/>
            <a:ext cx="7026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(un sistema para caracterizar puntos del espacio)</a:t>
            </a:r>
          </a:p>
        </p:txBody>
      </p:sp>
      <p:sp>
        <p:nvSpPr>
          <p:cNvPr id="44" name="Text Box 70">
            <a:extLst>
              <a:ext uri="{FF2B5EF4-FFF2-40B4-BE49-F238E27FC236}">
                <a16:creationId xmlns:a16="http://schemas.microsoft.com/office/drawing/2014/main" id="{677CF8F8-E104-451F-B06A-2F56004A5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607" y="1350293"/>
            <a:ext cx="7547021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 un conjunto de 3 ejes (rectas con sentidos + y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latin typeface="Trebuchet MS" panose="020B0603020202020204" pitchFamily="34" charset="0"/>
              </a:rPr>
              <a:t>), perpendiculares entre sí y que se cortan en un punto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F4B4E06-29C1-49AD-9262-9C5505211E57}"/>
              </a:ext>
            </a:extLst>
          </p:cNvPr>
          <p:cNvGrpSpPr/>
          <p:nvPr/>
        </p:nvGrpSpPr>
        <p:grpSpPr>
          <a:xfrm>
            <a:off x="1289847" y="2967111"/>
            <a:ext cx="3272425" cy="2838153"/>
            <a:chOff x="1289847" y="2967111"/>
            <a:chExt cx="3272425" cy="2838153"/>
          </a:xfrm>
        </p:grpSpPr>
        <p:sp>
          <p:nvSpPr>
            <p:cNvPr id="45" name="Text Box 54">
              <a:extLst>
                <a:ext uri="{FF2B5EF4-FFF2-40B4-BE49-F238E27FC236}">
                  <a16:creationId xmlns:a16="http://schemas.microsoft.com/office/drawing/2014/main" id="{17EB2B6D-E1BB-4AF4-85B9-30AA42E96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084" y="487687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46" name="Text Box 55">
              <a:extLst>
                <a:ext uri="{FF2B5EF4-FFF2-40B4-BE49-F238E27FC236}">
                  <a16:creationId xmlns:a16="http://schemas.microsoft.com/office/drawing/2014/main" id="{A27EF5FE-D844-441B-83F9-A76A90BD3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834" y="2967111"/>
              <a:ext cx="360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Y</a:t>
              </a:r>
            </a:p>
          </p:txBody>
        </p:sp>
        <p:sp>
          <p:nvSpPr>
            <p:cNvPr id="47" name="Text Box 56">
              <a:extLst>
                <a:ext uri="{FF2B5EF4-FFF2-40B4-BE49-F238E27FC236}">
                  <a16:creationId xmlns:a16="http://schemas.microsoft.com/office/drawing/2014/main" id="{2106BD6B-3C8C-4383-995E-7F3E8B62F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847" y="5343599"/>
              <a:ext cx="3545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Z</a:t>
              </a:r>
            </a:p>
          </p:txBody>
        </p:sp>
        <p:grpSp>
          <p:nvGrpSpPr>
            <p:cNvPr id="48" name="Group 116">
              <a:extLst>
                <a:ext uri="{FF2B5EF4-FFF2-40B4-BE49-F238E27FC236}">
                  <a16:creationId xmlns:a16="http://schemas.microsoft.com/office/drawing/2014/main" id="{8CE53EB3-771E-4540-9DCB-E1C8FE731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0684" y="3219524"/>
              <a:ext cx="2582863" cy="2420937"/>
              <a:chOff x="446" y="2160"/>
              <a:chExt cx="1627" cy="1525"/>
            </a:xfrm>
          </p:grpSpPr>
          <p:sp>
            <p:nvSpPr>
              <p:cNvPr id="49" name="Line 48">
                <a:extLst>
                  <a:ext uri="{FF2B5EF4-FFF2-40B4-BE49-F238E27FC236}">
                    <a16:creationId xmlns:a16="http://schemas.microsoft.com/office/drawing/2014/main" id="{92D89B66-049B-48FA-9979-435D380D7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2" y="2160"/>
                <a:ext cx="7" cy="1242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50" name="Line 49">
                <a:extLst>
                  <a:ext uri="{FF2B5EF4-FFF2-40B4-BE49-F238E27FC236}">
                    <a16:creationId xmlns:a16="http://schemas.microsoft.com/office/drawing/2014/main" id="{69869996-B78B-4B29-8C38-328A73D877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8" y="3203"/>
                <a:ext cx="1315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51" name="Line 50">
                <a:extLst>
                  <a:ext uri="{FF2B5EF4-FFF2-40B4-BE49-F238E27FC236}">
                    <a16:creationId xmlns:a16="http://schemas.microsoft.com/office/drawing/2014/main" id="{2E7D35BE-1AE8-4BF6-96F9-0C16A20DD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" y="3109"/>
                <a:ext cx="577" cy="576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</p:grpSp>
      </p:grpSp>
      <p:grpSp>
        <p:nvGrpSpPr>
          <p:cNvPr id="74" name="Group 76"/>
          <p:cNvGrpSpPr>
            <a:grpSpLocks/>
          </p:cNvGrpSpPr>
          <p:nvPr/>
        </p:nvGrpSpPr>
        <p:grpSpPr bwMode="auto">
          <a:xfrm>
            <a:off x="2024659" y="4497060"/>
            <a:ext cx="439738" cy="461963"/>
            <a:chOff x="1172" y="2705"/>
            <a:chExt cx="277" cy="291"/>
          </a:xfrm>
        </p:grpSpPr>
        <p:sp>
          <p:nvSpPr>
            <p:cNvPr id="75" name="Text Box 88"/>
            <p:cNvSpPr txBox="1">
              <a:spLocks noChangeArrowheads="1"/>
            </p:cNvSpPr>
            <p:nvPr/>
          </p:nvSpPr>
          <p:spPr bwMode="auto">
            <a:xfrm>
              <a:off x="1172" y="2705"/>
              <a:ext cx="2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O</a:t>
              </a:r>
            </a:p>
          </p:txBody>
        </p:sp>
        <p:sp>
          <p:nvSpPr>
            <p:cNvPr id="76" name="Oval 89"/>
            <p:cNvSpPr>
              <a:spLocks noChangeArrowheads="1"/>
            </p:cNvSpPr>
            <p:nvPr/>
          </p:nvSpPr>
          <p:spPr bwMode="auto">
            <a:xfrm>
              <a:off x="1381" y="2903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52" name="Group 78">
            <a:extLst>
              <a:ext uri="{FF2B5EF4-FFF2-40B4-BE49-F238E27FC236}">
                <a16:creationId xmlns:a16="http://schemas.microsoft.com/office/drawing/2014/main" id="{657DDC8B-A713-4CE8-A6B6-85D2BBC85A26}"/>
              </a:ext>
            </a:extLst>
          </p:cNvPr>
          <p:cNvGrpSpPr>
            <a:grpSpLocks/>
          </p:cNvGrpSpPr>
          <p:nvPr/>
        </p:nvGrpSpPr>
        <p:grpSpPr bwMode="auto">
          <a:xfrm>
            <a:off x="1526416" y="5689152"/>
            <a:ext cx="7315322" cy="869288"/>
            <a:chOff x="-754" y="3601"/>
            <a:chExt cx="6125" cy="453"/>
          </a:xfrm>
        </p:grpSpPr>
        <p:sp>
          <p:nvSpPr>
            <p:cNvPr id="53" name="Text Box 61">
              <a:extLst>
                <a:ext uri="{FF2B5EF4-FFF2-40B4-BE49-F238E27FC236}">
                  <a16:creationId xmlns:a16="http://schemas.microsoft.com/office/drawing/2014/main" id="{EEF6DC76-550F-404F-A966-F8F38079C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54" y="3601"/>
              <a:ext cx="6125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Symbol" panose="05050102010706020507" pitchFamily="18" charset="2"/>
                <a:buChar char="·"/>
              </a:pPr>
              <a:r>
                <a:rPr lang="es-ES" sz="2400" dirty="0">
                  <a:latin typeface="Trebuchet MS" panose="020B0603020202020204" pitchFamily="34" charset="0"/>
                </a:rPr>
                <a:t>Son las </a:t>
              </a:r>
              <a:r>
                <a:rPr lang="es-ES" sz="2400" dirty="0">
                  <a:solidFill>
                    <a:srgbClr val="008000"/>
                  </a:solidFill>
                  <a:latin typeface="Trebuchet MS" panose="020B0603020202020204" pitchFamily="34" charset="0"/>
                </a:rPr>
                <a:t>componentes</a:t>
              </a:r>
              <a:r>
                <a:rPr lang="es-ES" sz="2400" dirty="0">
                  <a:latin typeface="Trebuchet MS" panose="020B0603020202020204" pitchFamily="34" charset="0"/>
                </a:rPr>
                <a:t>, expresadas como números, del </a:t>
              </a:r>
              <a:r>
                <a:rPr lang="es-ES" sz="2400" b="1" dirty="0">
                  <a:latin typeface="Trebuchet MS" panose="020B0603020202020204" pitchFamily="34" charset="0"/>
                </a:rPr>
                <a:t>vector de posición </a:t>
              </a:r>
              <a:r>
                <a:rPr lang="es-ES" sz="2400" dirty="0">
                  <a:latin typeface="Trebuchet MS" panose="020B0603020202020204" pitchFamily="34" charset="0"/>
                </a:rPr>
                <a:t>OP en cada eje</a:t>
              </a:r>
            </a:p>
          </p:txBody>
        </p:sp>
        <p:sp>
          <p:nvSpPr>
            <p:cNvPr id="54" name="Line 72">
              <a:extLst>
                <a:ext uri="{FF2B5EF4-FFF2-40B4-BE49-F238E27FC236}">
                  <a16:creationId xmlns:a16="http://schemas.microsoft.com/office/drawing/2014/main" id="{35AEEA7B-B125-40C6-87EC-39D372FCF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3823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2597823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45" grpId="0"/>
      <p:bldP spid="59" grpId="0"/>
      <p:bldP spid="60" grpId="0"/>
      <p:bldP spid="61" grpId="0"/>
      <p:bldP spid="15387" grpId="0" animBg="1"/>
      <p:bldP spid="620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3132138" y="332656"/>
            <a:ext cx="3600450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SUMA DE VECTORES</a:t>
            </a:r>
          </a:p>
        </p:txBody>
      </p:sp>
      <p:grpSp>
        <p:nvGrpSpPr>
          <p:cNvPr id="8367" name="Group 175"/>
          <p:cNvGrpSpPr>
            <a:grpSpLocks/>
          </p:cNvGrpSpPr>
          <p:nvPr/>
        </p:nvGrpSpPr>
        <p:grpSpPr bwMode="auto">
          <a:xfrm>
            <a:off x="1223963" y="4178301"/>
            <a:ext cx="1547812" cy="1081088"/>
            <a:chOff x="657" y="1271"/>
            <a:chExt cx="975" cy="681"/>
          </a:xfrm>
        </p:grpSpPr>
        <p:sp>
          <p:nvSpPr>
            <p:cNvPr id="25668" name="Line 131"/>
            <p:cNvSpPr>
              <a:spLocks noChangeShapeType="1"/>
            </p:cNvSpPr>
            <p:nvPr/>
          </p:nvSpPr>
          <p:spPr bwMode="auto">
            <a:xfrm flipV="1">
              <a:off x="703" y="1271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9" name="Text Box 5"/>
            <p:cNvSpPr txBox="1">
              <a:spLocks noChangeArrowheads="1"/>
            </p:cNvSpPr>
            <p:nvPr/>
          </p:nvSpPr>
          <p:spPr bwMode="auto">
            <a:xfrm>
              <a:off x="657" y="1362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5670" name="Line 6"/>
            <p:cNvSpPr>
              <a:spLocks noChangeShapeType="1"/>
            </p:cNvSpPr>
            <p:nvPr/>
          </p:nvSpPr>
          <p:spPr bwMode="auto">
            <a:xfrm flipV="1">
              <a:off x="717" y="1407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71" name="Line 67"/>
            <p:cNvSpPr>
              <a:spLocks noChangeShapeType="1"/>
            </p:cNvSpPr>
            <p:nvPr/>
          </p:nvSpPr>
          <p:spPr bwMode="auto">
            <a:xfrm flipV="1">
              <a:off x="725" y="1952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72" name="Text Box 68"/>
            <p:cNvSpPr txBox="1">
              <a:spLocks noChangeArrowheads="1"/>
            </p:cNvSpPr>
            <p:nvPr/>
          </p:nvSpPr>
          <p:spPr bwMode="auto">
            <a:xfrm>
              <a:off x="1094" y="1665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5673" name="Line 69"/>
            <p:cNvSpPr>
              <a:spLocks noChangeShapeType="1"/>
            </p:cNvSpPr>
            <p:nvPr/>
          </p:nvSpPr>
          <p:spPr bwMode="auto">
            <a:xfrm flipV="1">
              <a:off x="1154" y="169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8376" name="Group 184"/>
          <p:cNvGrpSpPr>
            <a:grpSpLocks/>
          </p:cNvGrpSpPr>
          <p:nvPr/>
        </p:nvGrpSpPr>
        <p:grpSpPr bwMode="auto">
          <a:xfrm>
            <a:off x="3516313" y="5846258"/>
            <a:ext cx="2808287" cy="574675"/>
            <a:chOff x="2215" y="3724"/>
            <a:chExt cx="1769" cy="362"/>
          </a:xfrm>
        </p:grpSpPr>
        <p:sp>
          <p:nvSpPr>
            <p:cNvPr id="25660" name="Rectangle 183"/>
            <p:cNvSpPr>
              <a:spLocks noChangeArrowheads="1"/>
            </p:cNvSpPr>
            <p:nvPr/>
          </p:nvSpPr>
          <p:spPr bwMode="auto">
            <a:xfrm>
              <a:off x="2215" y="3724"/>
              <a:ext cx="1769" cy="36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25661" name="Text Box 80"/>
            <p:cNvSpPr txBox="1">
              <a:spLocks noChangeArrowheads="1"/>
            </p:cNvSpPr>
            <p:nvPr/>
          </p:nvSpPr>
          <p:spPr bwMode="auto">
            <a:xfrm>
              <a:off x="2290" y="3778"/>
              <a:ext cx="90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 = A + B</a:t>
              </a:r>
            </a:p>
          </p:txBody>
        </p:sp>
        <p:sp>
          <p:nvSpPr>
            <p:cNvPr id="25662" name="Line 81"/>
            <p:cNvSpPr>
              <a:spLocks noChangeShapeType="1"/>
            </p:cNvSpPr>
            <p:nvPr/>
          </p:nvSpPr>
          <p:spPr bwMode="auto">
            <a:xfrm flipV="1">
              <a:off x="2336" y="38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3" name="Line 82"/>
            <p:cNvSpPr>
              <a:spLocks noChangeShapeType="1"/>
            </p:cNvSpPr>
            <p:nvPr/>
          </p:nvSpPr>
          <p:spPr bwMode="auto">
            <a:xfrm flipV="1">
              <a:off x="2667" y="38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4" name="Line 84"/>
            <p:cNvSpPr>
              <a:spLocks noChangeShapeType="1"/>
            </p:cNvSpPr>
            <p:nvPr/>
          </p:nvSpPr>
          <p:spPr bwMode="auto">
            <a:xfrm flipV="1">
              <a:off x="3036" y="38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5" name="Line 129"/>
            <p:cNvSpPr>
              <a:spLocks noChangeShapeType="1"/>
            </p:cNvSpPr>
            <p:nvPr/>
          </p:nvSpPr>
          <p:spPr bwMode="auto">
            <a:xfrm flipV="1">
              <a:off x="3361" y="38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6" name="Line 130"/>
            <p:cNvSpPr>
              <a:spLocks noChangeShapeType="1"/>
            </p:cNvSpPr>
            <p:nvPr/>
          </p:nvSpPr>
          <p:spPr bwMode="auto">
            <a:xfrm flipV="1">
              <a:off x="3730" y="38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67" name="Text Box 132"/>
            <p:cNvSpPr txBox="1">
              <a:spLocks noChangeArrowheads="1"/>
            </p:cNvSpPr>
            <p:nvPr/>
          </p:nvSpPr>
          <p:spPr bwMode="auto">
            <a:xfrm>
              <a:off x="3151" y="3777"/>
              <a:ext cx="7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= B + A</a:t>
              </a:r>
            </a:p>
          </p:txBody>
        </p:sp>
      </p:grpSp>
      <p:sp>
        <p:nvSpPr>
          <p:cNvPr id="8330" name="Text Box 138"/>
          <p:cNvSpPr txBox="1">
            <a:spLocks noChangeArrowheads="1"/>
          </p:cNvSpPr>
          <p:nvPr/>
        </p:nvSpPr>
        <p:spPr bwMode="auto">
          <a:xfrm>
            <a:off x="3963195" y="951111"/>
            <a:ext cx="1936749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Da un vector</a:t>
            </a:r>
          </a:p>
        </p:txBody>
      </p:sp>
      <p:grpSp>
        <p:nvGrpSpPr>
          <p:cNvPr id="8368" name="Group 176"/>
          <p:cNvGrpSpPr>
            <a:grpSpLocks/>
          </p:cNvGrpSpPr>
          <p:nvPr/>
        </p:nvGrpSpPr>
        <p:grpSpPr bwMode="auto">
          <a:xfrm>
            <a:off x="1233488" y="2116138"/>
            <a:ext cx="1503362" cy="1081087"/>
            <a:chOff x="663" y="2642"/>
            <a:chExt cx="947" cy="681"/>
          </a:xfrm>
        </p:grpSpPr>
        <p:sp>
          <p:nvSpPr>
            <p:cNvPr id="25654" name="Line 131"/>
            <p:cNvSpPr>
              <a:spLocks noChangeShapeType="1"/>
            </p:cNvSpPr>
            <p:nvPr/>
          </p:nvSpPr>
          <p:spPr bwMode="auto">
            <a:xfrm flipV="1">
              <a:off x="681" y="2642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55" name="Text Box 5"/>
            <p:cNvSpPr txBox="1">
              <a:spLocks noChangeArrowheads="1"/>
            </p:cNvSpPr>
            <p:nvPr/>
          </p:nvSpPr>
          <p:spPr bwMode="auto">
            <a:xfrm>
              <a:off x="663" y="2740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5656" name="Line 6"/>
            <p:cNvSpPr>
              <a:spLocks noChangeShapeType="1"/>
            </p:cNvSpPr>
            <p:nvPr/>
          </p:nvSpPr>
          <p:spPr bwMode="auto">
            <a:xfrm flipV="1">
              <a:off x="708" y="2785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57" name="Line 67"/>
            <p:cNvSpPr>
              <a:spLocks noChangeShapeType="1"/>
            </p:cNvSpPr>
            <p:nvPr/>
          </p:nvSpPr>
          <p:spPr bwMode="auto">
            <a:xfrm flipV="1">
              <a:off x="703" y="3323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58" name="Text Box 68"/>
            <p:cNvSpPr txBox="1">
              <a:spLocks noChangeArrowheads="1"/>
            </p:cNvSpPr>
            <p:nvPr/>
          </p:nvSpPr>
          <p:spPr bwMode="auto">
            <a:xfrm>
              <a:off x="1093" y="3004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5659" name="Line 69"/>
            <p:cNvSpPr>
              <a:spLocks noChangeShapeType="1"/>
            </p:cNvSpPr>
            <p:nvPr/>
          </p:nvSpPr>
          <p:spPr bwMode="auto">
            <a:xfrm flipV="1">
              <a:off x="1150" y="301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8369" name="Group 177"/>
          <p:cNvGrpSpPr>
            <a:grpSpLocks/>
          </p:cNvGrpSpPr>
          <p:nvPr/>
        </p:nvGrpSpPr>
        <p:grpSpPr bwMode="auto">
          <a:xfrm>
            <a:off x="2990850" y="4149726"/>
            <a:ext cx="2419350" cy="1109663"/>
            <a:chOff x="1747" y="1253"/>
            <a:chExt cx="1524" cy="699"/>
          </a:xfrm>
        </p:grpSpPr>
        <p:sp>
          <p:nvSpPr>
            <p:cNvPr id="25647" name="Line 131"/>
            <p:cNvSpPr>
              <a:spLocks noChangeShapeType="1"/>
            </p:cNvSpPr>
            <p:nvPr/>
          </p:nvSpPr>
          <p:spPr bwMode="auto">
            <a:xfrm flipV="1">
              <a:off x="2818" y="1253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50" name="Line 67"/>
            <p:cNvSpPr>
              <a:spLocks noChangeShapeType="1"/>
            </p:cNvSpPr>
            <p:nvPr/>
          </p:nvSpPr>
          <p:spPr bwMode="auto">
            <a:xfrm flipV="1">
              <a:off x="1933" y="1952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53" name="AutoShape 171"/>
            <p:cNvSpPr>
              <a:spLocks noChangeArrowheads="1"/>
            </p:cNvSpPr>
            <p:nvPr/>
          </p:nvSpPr>
          <p:spPr bwMode="auto">
            <a:xfrm>
              <a:off x="1747" y="1480"/>
              <a:ext cx="136" cy="362"/>
            </a:xfrm>
            <a:prstGeom prst="rightArrow">
              <a:avLst>
                <a:gd name="adj1" fmla="val 53037"/>
                <a:gd name="adj2" fmla="val 48528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8373" name="Group 181"/>
          <p:cNvGrpSpPr>
            <a:grpSpLocks/>
          </p:cNvGrpSpPr>
          <p:nvPr/>
        </p:nvGrpSpPr>
        <p:grpSpPr bwMode="auto">
          <a:xfrm>
            <a:off x="5795963" y="4176757"/>
            <a:ext cx="2673350" cy="1082675"/>
            <a:chOff x="3651" y="1366"/>
            <a:chExt cx="1684" cy="682"/>
          </a:xfrm>
        </p:grpSpPr>
        <p:sp>
          <p:nvSpPr>
            <p:cNvPr id="25637" name="Line 4"/>
            <p:cNvSpPr>
              <a:spLocks noChangeShapeType="1"/>
            </p:cNvSpPr>
            <p:nvPr/>
          </p:nvSpPr>
          <p:spPr bwMode="auto">
            <a:xfrm flipV="1">
              <a:off x="4882" y="1366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40" name="Line 67"/>
            <p:cNvSpPr>
              <a:spLocks noChangeShapeType="1"/>
            </p:cNvSpPr>
            <p:nvPr/>
          </p:nvSpPr>
          <p:spPr bwMode="auto">
            <a:xfrm flipV="1">
              <a:off x="3988" y="2047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43" name="Line 79"/>
            <p:cNvSpPr>
              <a:spLocks noChangeShapeType="1"/>
            </p:cNvSpPr>
            <p:nvPr/>
          </p:nvSpPr>
          <p:spPr bwMode="auto">
            <a:xfrm flipV="1">
              <a:off x="3974" y="1368"/>
              <a:ext cx="1360" cy="68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44" name="Text Box 5"/>
            <p:cNvSpPr txBox="1">
              <a:spLocks noChangeArrowheads="1"/>
            </p:cNvSpPr>
            <p:nvPr/>
          </p:nvSpPr>
          <p:spPr bwMode="auto">
            <a:xfrm>
              <a:off x="4377" y="1367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5645" name="Line 6"/>
            <p:cNvSpPr>
              <a:spLocks noChangeShapeType="1"/>
            </p:cNvSpPr>
            <p:nvPr/>
          </p:nvSpPr>
          <p:spPr bwMode="auto">
            <a:xfrm flipV="1">
              <a:off x="4437" y="141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46" name="AutoShape 172"/>
            <p:cNvSpPr>
              <a:spLocks noChangeArrowheads="1"/>
            </p:cNvSpPr>
            <p:nvPr/>
          </p:nvSpPr>
          <p:spPr bwMode="auto">
            <a:xfrm>
              <a:off x="3651" y="1611"/>
              <a:ext cx="136" cy="362"/>
            </a:xfrm>
            <a:prstGeom prst="rightArrow">
              <a:avLst>
                <a:gd name="adj1" fmla="val 53037"/>
                <a:gd name="adj2" fmla="val 48528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8372" name="Group 180"/>
          <p:cNvGrpSpPr>
            <a:grpSpLocks/>
          </p:cNvGrpSpPr>
          <p:nvPr/>
        </p:nvGrpSpPr>
        <p:grpSpPr bwMode="auto">
          <a:xfrm>
            <a:off x="5795963" y="2153557"/>
            <a:ext cx="2798762" cy="1146175"/>
            <a:chOff x="3651" y="2670"/>
            <a:chExt cx="1763" cy="722"/>
          </a:xfrm>
        </p:grpSpPr>
        <p:sp>
          <p:nvSpPr>
            <p:cNvPr id="25627" name="Line 4"/>
            <p:cNvSpPr>
              <a:spLocks noChangeShapeType="1"/>
            </p:cNvSpPr>
            <p:nvPr/>
          </p:nvSpPr>
          <p:spPr bwMode="auto">
            <a:xfrm flipV="1">
              <a:off x="4060" y="2670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32" name="Line 78"/>
            <p:cNvSpPr>
              <a:spLocks noChangeShapeType="1"/>
            </p:cNvSpPr>
            <p:nvPr/>
          </p:nvSpPr>
          <p:spPr bwMode="auto">
            <a:xfrm flipV="1">
              <a:off x="4507" y="2686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33" name="Line 79"/>
            <p:cNvSpPr>
              <a:spLocks noChangeShapeType="1"/>
            </p:cNvSpPr>
            <p:nvPr/>
          </p:nvSpPr>
          <p:spPr bwMode="auto">
            <a:xfrm flipV="1">
              <a:off x="4054" y="2686"/>
              <a:ext cx="1360" cy="68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34" name="Text Box 5"/>
            <p:cNvSpPr txBox="1">
              <a:spLocks noChangeArrowheads="1"/>
            </p:cNvSpPr>
            <p:nvPr/>
          </p:nvSpPr>
          <p:spPr bwMode="auto">
            <a:xfrm>
              <a:off x="4739" y="3106"/>
              <a:ext cx="23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5635" name="Line 6"/>
            <p:cNvSpPr>
              <a:spLocks noChangeShapeType="1"/>
            </p:cNvSpPr>
            <p:nvPr/>
          </p:nvSpPr>
          <p:spPr bwMode="auto">
            <a:xfrm flipV="1">
              <a:off x="4799" y="3151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36" name="AutoShape 173"/>
            <p:cNvSpPr>
              <a:spLocks noChangeArrowheads="1"/>
            </p:cNvSpPr>
            <p:nvPr/>
          </p:nvSpPr>
          <p:spPr bwMode="auto">
            <a:xfrm>
              <a:off x="3651" y="2796"/>
              <a:ext cx="136" cy="362"/>
            </a:xfrm>
            <a:prstGeom prst="rightArrow">
              <a:avLst>
                <a:gd name="adj1" fmla="val 53037"/>
                <a:gd name="adj2" fmla="val 48528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grpSp>
        <p:nvGrpSpPr>
          <p:cNvPr id="8370" name="Group 178"/>
          <p:cNvGrpSpPr>
            <a:grpSpLocks/>
          </p:cNvGrpSpPr>
          <p:nvPr/>
        </p:nvGrpSpPr>
        <p:grpSpPr bwMode="auto">
          <a:xfrm>
            <a:off x="2989263" y="2133602"/>
            <a:ext cx="2519362" cy="1079500"/>
            <a:chOff x="1746" y="2630"/>
            <a:chExt cx="1587" cy="680"/>
          </a:xfrm>
        </p:grpSpPr>
        <p:sp>
          <p:nvSpPr>
            <p:cNvPr id="25620" name="Line 4"/>
            <p:cNvSpPr>
              <a:spLocks noChangeShapeType="1"/>
            </p:cNvSpPr>
            <p:nvPr/>
          </p:nvSpPr>
          <p:spPr bwMode="auto">
            <a:xfrm flipV="1">
              <a:off x="1970" y="2630"/>
              <a:ext cx="453" cy="68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25" name="Line 78"/>
            <p:cNvSpPr>
              <a:spLocks noChangeShapeType="1"/>
            </p:cNvSpPr>
            <p:nvPr/>
          </p:nvSpPr>
          <p:spPr bwMode="auto">
            <a:xfrm flipV="1">
              <a:off x="2426" y="2646"/>
              <a:ext cx="907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26" name="AutoShape 174"/>
            <p:cNvSpPr>
              <a:spLocks noChangeArrowheads="1"/>
            </p:cNvSpPr>
            <p:nvPr/>
          </p:nvSpPr>
          <p:spPr bwMode="auto">
            <a:xfrm>
              <a:off x="1746" y="2796"/>
              <a:ext cx="136" cy="362"/>
            </a:xfrm>
            <a:prstGeom prst="rightArrow">
              <a:avLst>
                <a:gd name="adj1" fmla="val 53037"/>
                <a:gd name="adj2" fmla="val 48528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6588224" y="5877272"/>
            <a:ext cx="19672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0099FF"/>
                </a:solidFill>
                <a:latin typeface="Trebuchet MS" panose="020B0603020202020204" pitchFamily="34" charset="0"/>
              </a:rPr>
              <a:t>conmutativa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363663" y="1384300"/>
            <a:ext cx="904875" cy="452438"/>
            <a:chOff x="1234670" y="1642953"/>
            <a:chExt cx="904378" cy="453336"/>
          </a:xfrm>
        </p:grpSpPr>
        <p:sp>
          <p:nvSpPr>
            <p:cNvPr id="25617" name="Text Box 80"/>
            <p:cNvSpPr txBox="1">
              <a:spLocks noChangeArrowheads="1"/>
            </p:cNvSpPr>
            <p:nvPr/>
          </p:nvSpPr>
          <p:spPr bwMode="auto">
            <a:xfrm>
              <a:off x="1234670" y="1642953"/>
              <a:ext cx="904378" cy="45333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 + B</a:t>
              </a:r>
            </a:p>
          </p:txBody>
        </p:sp>
        <p:sp>
          <p:nvSpPr>
            <p:cNvPr id="25618" name="Line 81"/>
            <p:cNvSpPr>
              <a:spLocks noChangeShapeType="1"/>
            </p:cNvSpPr>
            <p:nvPr/>
          </p:nvSpPr>
          <p:spPr bwMode="auto">
            <a:xfrm flipV="1">
              <a:off x="1307695" y="1700764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19" name="Line 82"/>
            <p:cNvSpPr>
              <a:spLocks noChangeShapeType="1"/>
            </p:cNvSpPr>
            <p:nvPr/>
          </p:nvSpPr>
          <p:spPr bwMode="auto">
            <a:xfrm flipV="1">
              <a:off x="1833158" y="1700764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365250" y="3565659"/>
            <a:ext cx="903288" cy="454025"/>
            <a:chOff x="1207520" y="644302"/>
            <a:chExt cx="904378" cy="453336"/>
          </a:xfrm>
        </p:grpSpPr>
        <p:sp>
          <p:nvSpPr>
            <p:cNvPr id="25614" name="Text Box 80"/>
            <p:cNvSpPr txBox="1">
              <a:spLocks noChangeArrowheads="1"/>
            </p:cNvSpPr>
            <p:nvPr/>
          </p:nvSpPr>
          <p:spPr bwMode="auto">
            <a:xfrm>
              <a:off x="1207520" y="644302"/>
              <a:ext cx="904378" cy="45333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B + A</a:t>
              </a:r>
            </a:p>
          </p:txBody>
        </p:sp>
        <p:sp>
          <p:nvSpPr>
            <p:cNvPr id="25615" name="Line 81"/>
            <p:cNvSpPr>
              <a:spLocks noChangeShapeType="1"/>
            </p:cNvSpPr>
            <p:nvPr/>
          </p:nvSpPr>
          <p:spPr bwMode="auto">
            <a:xfrm flipV="1">
              <a:off x="1273722" y="68738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5616" name="Line 82"/>
            <p:cNvSpPr>
              <a:spLocks noChangeShapeType="1"/>
            </p:cNvSpPr>
            <p:nvPr/>
          </p:nvSpPr>
          <p:spPr bwMode="auto">
            <a:xfrm flipV="1">
              <a:off x="1799185" y="68738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8330" grpId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8DD4A7F-AFDD-44F0-A53C-91EBDA4B65F4}"/>
              </a:ext>
            </a:extLst>
          </p:cNvPr>
          <p:cNvSpPr/>
          <p:nvPr/>
        </p:nvSpPr>
        <p:spPr bwMode="auto">
          <a:xfrm>
            <a:off x="5689172" y="3770694"/>
            <a:ext cx="2772308" cy="773589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132138" y="332656"/>
            <a:ext cx="3600450" cy="45333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CONSECUENCIA</a:t>
            </a:r>
          </a:p>
        </p:txBody>
      </p:sp>
      <p:grpSp>
        <p:nvGrpSpPr>
          <p:cNvPr id="27653" name="Group 178"/>
          <p:cNvGrpSpPr>
            <a:grpSpLocks/>
          </p:cNvGrpSpPr>
          <p:nvPr/>
        </p:nvGrpSpPr>
        <p:grpSpPr bwMode="auto">
          <a:xfrm>
            <a:off x="1403648" y="2636912"/>
            <a:ext cx="3236913" cy="3184530"/>
            <a:chOff x="703" y="799"/>
            <a:chExt cx="2039" cy="2006"/>
          </a:xfrm>
        </p:grpSpPr>
        <p:sp>
          <p:nvSpPr>
            <p:cNvPr id="27686" name="Text Box 86"/>
            <p:cNvSpPr txBox="1">
              <a:spLocks noChangeArrowheads="1"/>
            </p:cNvSpPr>
            <p:nvPr/>
          </p:nvSpPr>
          <p:spPr bwMode="auto">
            <a:xfrm>
              <a:off x="892" y="2519"/>
              <a:ext cx="62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Z</a:t>
              </a:r>
              <a:r>
                <a:rPr lang="es-ES" sz="2400">
                  <a:latin typeface="Arial" panose="020B0604020202020204" pitchFamily="34" charset="0"/>
                </a:rPr>
                <a:t> = 0</a:t>
              </a:r>
            </a:p>
          </p:txBody>
        </p:sp>
        <p:sp>
          <p:nvSpPr>
            <p:cNvPr id="27687" name="Line 87"/>
            <p:cNvSpPr>
              <a:spLocks noChangeShapeType="1"/>
            </p:cNvSpPr>
            <p:nvPr/>
          </p:nvSpPr>
          <p:spPr bwMode="auto">
            <a:xfrm flipV="1">
              <a:off x="938" y="255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688" name="Line 88"/>
            <p:cNvSpPr>
              <a:spLocks noChangeShapeType="1"/>
            </p:cNvSpPr>
            <p:nvPr/>
          </p:nvSpPr>
          <p:spPr bwMode="auto">
            <a:xfrm flipV="1">
              <a:off x="1354" y="2557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689" name="Line 2"/>
            <p:cNvSpPr>
              <a:spLocks noChangeShapeType="1"/>
            </p:cNvSpPr>
            <p:nvPr/>
          </p:nvSpPr>
          <p:spPr bwMode="auto">
            <a:xfrm flipV="1">
              <a:off x="1021" y="936"/>
              <a:ext cx="1361" cy="108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690" name="Line 4"/>
            <p:cNvSpPr>
              <a:spLocks noChangeShapeType="1"/>
            </p:cNvSpPr>
            <p:nvPr/>
          </p:nvSpPr>
          <p:spPr bwMode="auto">
            <a:xfrm flipV="1">
              <a:off x="1332" y="1056"/>
              <a:ext cx="884" cy="70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691" name="Text Box 5"/>
            <p:cNvSpPr txBox="1">
              <a:spLocks noChangeArrowheads="1"/>
            </p:cNvSpPr>
            <p:nvPr/>
          </p:nvSpPr>
          <p:spPr bwMode="auto">
            <a:xfrm>
              <a:off x="1389" y="1258"/>
              <a:ext cx="22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7692" name="Line 6"/>
            <p:cNvSpPr>
              <a:spLocks noChangeShapeType="1"/>
            </p:cNvSpPr>
            <p:nvPr/>
          </p:nvSpPr>
          <p:spPr bwMode="auto">
            <a:xfrm flipV="1">
              <a:off x="1449" y="130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693" name="Line 43"/>
            <p:cNvSpPr>
              <a:spLocks noChangeShapeType="1"/>
            </p:cNvSpPr>
            <p:nvPr/>
          </p:nvSpPr>
          <p:spPr bwMode="auto">
            <a:xfrm flipH="1" flipV="1">
              <a:off x="1014" y="869"/>
              <a:ext cx="7" cy="1288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694" name="Line 44"/>
            <p:cNvSpPr>
              <a:spLocks noChangeShapeType="1"/>
            </p:cNvSpPr>
            <p:nvPr/>
          </p:nvSpPr>
          <p:spPr bwMode="auto">
            <a:xfrm>
              <a:off x="794" y="2021"/>
              <a:ext cx="1859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695" name="Text Box 49"/>
            <p:cNvSpPr txBox="1">
              <a:spLocks noChangeArrowheads="1"/>
            </p:cNvSpPr>
            <p:nvPr/>
          </p:nvSpPr>
          <p:spPr bwMode="auto">
            <a:xfrm>
              <a:off x="2518" y="2046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27696" name="Text Box 50"/>
            <p:cNvSpPr txBox="1">
              <a:spLocks noChangeArrowheads="1"/>
            </p:cNvSpPr>
            <p:nvPr/>
          </p:nvSpPr>
          <p:spPr bwMode="auto">
            <a:xfrm>
              <a:off x="779" y="799"/>
              <a:ext cx="22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Y</a:t>
              </a:r>
            </a:p>
          </p:txBody>
        </p:sp>
        <p:sp>
          <p:nvSpPr>
            <p:cNvPr id="27697" name="Line 58"/>
            <p:cNvSpPr>
              <a:spLocks noChangeShapeType="1"/>
            </p:cNvSpPr>
            <p:nvPr/>
          </p:nvSpPr>
          <p:spPr bwMode="auto">
            <a:xfrm>
              <a:off x="2200" y="978"/>
              <a:ext cx="0" cy="1134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698" name="Line 60"/>
            <p:cNvSpPr>
              <a:spLocks noChangeShapeType="1"/>
            </p:cNvSpPr>
            <p:nvPr/>
          </p:nvSpPr>
          <p:spPr bwMode="auto">
            <a:xfrm>
              <a:off x="1338" y="1658"/>
              <a:ext cx="0" cy="49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699" name="Line 61"/>
            <p:cNvSpPr>
              <a:spLocks noChangeShapeType="1"/>
            </p:cNvSpPr>
            <p:nvPr/>
          </p:nvSpPr>
          <p:spPr bwMode="auto">
            <a:xfrm rot="-5400000">
              <a:off x="1656" y="387"/>
              <a:ext cx="0" cy="136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700" name="Line 63"/>
            <p:cNvSpPr>
              <a:spLocks noChangeShapeType="1"/>
            </p:cNvSpPr>
            <p:nvPr/>
          </p:nvSpPr>
          <p:spPr bwMode="auto">
            <a:xfrm rot="-5400000">
              <a:off x="1180" y="1499"/>
              <a:ext cx="0" cy="49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701" name="Line 67"/>
            <p:cNvSpPr>
              <a:spLocks noChangeShapeType="1"/>
            </p:cNvSpPr>
            <p:nvPr/>
          </p:nvSpPr>
          <p:spPr bwMode="auto">
            <a:xfrm rot="-5400000">
              <a:off x="685" y="1406"/>
              <a:ext cx="673" cy="3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702" name="Text Box 84"/>
            <p:cNvSpPr txBox="1">
              <a:spLocks noChangeArrowheads="1"/>
            </p:cNvSpPr>
            <p:nvPr/>
          </p:nvSpPr>
          <p:spPr bwMode="auto">
            <a:xfrm>
              <a:off x="703" y="1298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Y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27703" name="Line 85"/>
            <p:cNvSpPr>
              <a:spLocks noChangeShapeType="1"/>
            </p:cNvSpPr>
            <p:nvPr/>
          </p:nvSpPr>
          <p:spPr bwMode="auto">
            <a:xfrm flipV="1">
              <a:off x="763" y="133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27704" name="Oval 90"/>
            <p:cNvSpPr>
              <a:spLocks noChangeArrowheads="1"/>
            </p:cNvSpPr>
            <p:nvPr/>
          </p:nvSpPr>
          <p:spPr bwMode="auto">
            <a:xfrm>
              <a:off x="982" y="1987"/>
              <a:ext cx="68" cy="6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27705" name="Text Box 91"/>
            <p:cNvSpPr txBox="1">
              <a:spLocks noChangeArrowheads="1"/>
            </p:cNvSpPr>
            <p:nvPr/>
          </p:nvSpPr>
          <p:spPr bwMode="auto">
            <a:xfrm>
              <a:off x="794" y="2021"/>
              <a:ext cx="2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</a:rPr>
                <a:t>Z</a:t>
              </a:r>
            </a:p>
          </p:txBody>
        </p:sp>
        <p:sp>
          <p:nvSpPr>
            <p:cNvPr id="27706" name="Line 64"/>
            <p:cNvSpPr>
              <a:spLocks noChangeShapeType="1"/>
            </p:cNvSpPr>
            <p:nvPr/>
          </p:nvSpPr>
          <p:spPr bwMode="auto">
            <a:xfrm>
              <a:off x="1338" y="2024"/>
              <a:ext cx="862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7707" name="Text Box 82"/>
            <p:cNvSpPr txBox="1">
              <a:spLocks noChangeArrowheads="1"/>
            </p:cNvSpPr>
            <p:nvPr/>
          </p:nvSpPr>
          <p:spPr bwMode="auto">
            <a:xfrm>
              <a:off x="1602" y="2076"/>
              <a:ext cx="30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41596" rIns="79992" bIns="41596">
              <a:spAutoFit/>
            </a:bodyPr>
            <a:lstStyle>
              <a:lvl1pPr defTabSz="8128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8128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8128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8128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8128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8128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latin typeface="Arial" panose="020B0604020202020204" pitchFamily="34" charset="0"/>
                </a:rPr>
                <a:t>X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27708" name="Line 83"/>
            <p:cNvSpPr>
              <a:spLocks noChangeShapeType="1"/>
            </p:cNvSpPr>
            <p:nvPr/>
          </p:nvSpPr>
          <p:spPr bwMode="auto">
            <a:xfrm flipV="1">
              <a:off x="1662" y="2121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27685" name="Text Box 158"/>
          <p:cNvSpPr txBox="1">
            <a:spLocks noChangeArrowheads="1"/>
          </p:cNvSpPr>
          <p:nvPr/>
        </p:nvSpPr>
        <p:spPr bwMode="auto">
          <a:xfrm>
            <a:off x="2677355" y="1268760"/>
            <a:ext cx="4529757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Un vector es igual a la suma de sus componentes</a:t>
            </a:r>
          </a:p>
        </p:txBody>
      </p:sp>
      <p:sp>
        <p:nvSpPr>
          <p:cNvPr id="45232" name="Line 64"/>
          <p:cNvSpPr>
            <a:spLocks noChangeShapeType="1"/>
          </p:cNvSpPr>
          <p:nvPr/>
        </p:nvSpPr>
        <p:spPr bwMode="auto">
          <a:xfrm>
            <a:off x="2411710" y="4584249"/>
            <a:ext cx="1368425" cy="0"/>
          </a:xfrm>
          <a:prstGeom prst="line">
            <a:avLst/>
          </a:prstGeom>
          <a:noFill/>
          <a:ln w="76200">
            <a:solidFill>
              <a:srgbClr val="008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45233" name="Line 67"/>
          <p:cNvSpPr>
            <a:spLocks noChangeShapeType="1"/>
          </p:cNvSpPr>
          <p:nvPr/>
        </p:nvSpPr>
        <p:spPr bwMode="auto">
          <a:xfrm rot="-5400000">
            <a:off x="1375073" y="3600524"/>
            <a:ext cx="1068388" cy="4763"/>
          </a:xfrm>
          <a:prstGeom prst="line">
            <a:avLst/>
          </a:prstGeom>
          <a:noFill/>
          <a:ln w="76200">
            <a:solidFill>
              <a:srgbClr val="008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27658" name="Text Box 88"/>
          <p:cNvSpPr txBox="1">
            <a:spLocks noChangeArrowheads="1"/>
          </p:cNvSpPr>
          <p:nvPr/>
        </p:nvSpPr>
        <p:spPr bwMode="auto">
          <a:xfrm>
            <a:off x="1530410" y="4144244"/>
            <a:ext cx="3914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O</a:t>
            </a:r>
          </a:p>
        </p:txBody>
      </p:sp>
      <p:sp>
        <p:nvSpPr>
          <p:cNvPr id="2" name="Line 64"/>
          <p:cNvSpPr>
            <a:spLocks noChangeShapeType="1"/>
          </p:cNvSpPr>
          <p:nvPr/>
        </p:nvSpPr>
        <p:spPr bwMode="auto">
          <a:xfrm>
            <a:off x="2402185" y="4149800"/>
            <a:ext cx="1368425" cy="0"/>
          </a:xfrm>
          <a:prstGeom prst="line">
            <a:avLst/>
          </a:prstGeom>
          <a:noFill/>
          <a:ln w="76200">
            <a:solidFill>
              <a:srgbClr val="008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3" name="Line 67"/>
          <p:cNvSpPr>
            <a:spLocks noChangeShapeType="1"/>
          </p:cNvSpPr>
          <p:nvPr/>
        </p:nvSpPr>
        <p:spPr bwMode="auto">
          <a:xfrm rot="-5400000">
            <a:off x="3248323" y="3600524"/>
            <a:ext cx="1068388" cy="4763"/>
          </a:xfrm>
          <a:prstGeom prst="line">
            <a:avLst/>
          </a:prstGeom>
          <a:noFill/>
          <a:ln w="76200">
            <a:solidFill>
              <a:srgbClr val="008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5" name="Grupo 4"/>
          <p:cNvGrpSpPr/>
          <p:nvPr/>
        </p:nvGrpSpPr>
        <p:grpSpPr>
          <a:xfrm>
            <a:off x="5004048" y="3860944"/>
            <a:ext cx="3240236" cy="574675"/>
            <a:chOff x="4708581" y="1176476"/>
            <a:chExt cx="3240236" cy="574675"/>
          </a:xfrm>
        </p:grpSpPr>
        <p:grpSp>
          <p:nvGrpSpPr>
            <p:cNvPr id="4" name="Grupo 3"/>
            <p:cNvGrpSpPr/>
            <p:nvPr/>
          </p:nvGrpSpPr>
          <p:grpSpPr>
            <a:xfrm>
              <a:off x="5594554" y="1245752"/>
              <a:ext cx="2354263" cy="454026"/>
              <a:chOff x="5767388" y="2702274"/>
              <a:chExt cx="2354263" cy="454026"/>
            </a:xfrm>
          </p:grpSpPr>
          <p:sp>
            <p:nvSpPr>
              <p:cNvPr id="27680" name="Text Box 109"/>
              <p:cNvSpPr txBox="1">
                <a:spLocks noChangeArrowheads="1"/>
              </p:cNvSpPr>
              <p:nvPr/>
            </p:nvSpPr>
            <p:spPr bwMode="auto">
              <a:xfrm>
                <a:off x="5767388" y="2702274"/>
                <a:ext cx="2354263" cy="4540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9992" tIns="41596" rIns="79992" bIns="41596">
                <a:spAutoFit/>
              </a:bodyPr>
              <a:lstStyle>
                <a:lvl1pPr defTabSz="812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8128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8128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8128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8128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8128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F = F</a:t>
                </a:r>
                <a:r>
                  <a:rPr lang="es-ES" sz="2400" baseline="-25000">
                    <a:latin typeface="Arial" panose="020B0604020202020204" pitchFamily="34" charset="0"/>
                  </a:rPr>
                  <a:t>X</a:t>
                </a:r>
                <a:r>
                  <a:rPr lang="es-ES" sz="2400">
                    <a:latin typeface="Arial" panose="020B0604020202020204" pitchFamily="34" charset="0"/>
                  </a:rPr>
                  <a:t> + F</a:t>
                </a:r>
                <a:r>
                  <a:rPr lang="es-ES" sz="2400" baseline="-25000">
                    <a:latin typeface="Arial" panose="020B0604020202020204" pitchFamily="34" charset="0"/>
                  </a:rPr>
                  <a:t>Y</a:t>
                </a:r>
                <a:r>
                  <a:rPr lang="es-ES" sz="2400">
                    <a:latin typeface="Arial" panose="020B0604020202020204" pitchFamily="34" charset="0"/>
                  </a:rPr>
                  <a:t> + F</a:t>
                </a:r>
                <a:r>
                  <a:rPr lang="es-ES" sz="2400" baseline="-2500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27681" name="Line 110"/>
              <p:cNvSpPr>
                <a:spLocks noChangeShapeType="1"/>
              </p:cNvSpPr>
              <p:nvPr/>
            </p:nvSpPr>
            <p:spPr bwMode="auto">
              <a:xfrm flipV="1">
                <a:off x="5821363" y="2753074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7682" name="Line 111"/>
              <p:cNvSpPr>
                <a:spLocks noChangeShapeType="1"/>
              </p:cNvSpPr>
              <p:nvPr/>
            </p:nvSpPr>
            <p:spPr bwMode="auto">
              <a:xfrm flipV="1">
                <a:off x="6400801" y="2753074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7683" name="Line 112"/>
              <p:cNvSpPr>
                <a:spLocks noChangeShapeType="1"/>
              </p:cNvSpPr>
              <p:nvPr/>
            </p:nvSpPr>
            <p:spPr bwMode="auto">
              <a:xfrm flipV="1">
                <a:off x="7075488" y="2761012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27684" name="Line 113"/>
              <p:cNvSpPr>
                <a:spLocks noChangeShapeType="1"/>
              </p:cNvSpPr>
              <p:nvPr/>
            </p:nvSpPr>
            <p:spPr bwMode="auto">
              <a:xfrm flipV="1">
                <a:off x="7785101" y="2764187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  <p:sp>
          <p:nvSpPr>
            <p:cNvPr id="62" name="AutoShape 171"/>
            <p:cNvSpPr>
              <a:spLocks noChangeArrowheads="1"/>
            </p:cNvSpPr>
            <p:nvPr/>
          </p:nvSpPr>
          <p:spPr bwMode="auto">
            <a:xfrm>
              <a:off x="4708581" y="1176476"/>
              <a:ext cx="420728" cy="574675"/>
            </a:xfrm>
            <a:prstGeom prst="rightArrow">
              <a:avLst>
                <a:gd name="adj1" fmla="val 53037"/>
                <a:gd name="adj2" fmla="val 48528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</p:grpSp>
      <p:sp>
        <p:nvSpPr>
          <p:cNvPr id="44" name="Oval 90">
            <a:extLst>
              <a:ext uri="{FF2B5EF4-FFF2-40B4-BE49-F238E27FC236}">
                <a16:creationId xmlns:a16="http://schemas.microsoft.com/office/drawing/2014/main" id="{480F2FF5-A02E-4A5C-90B3-ECEF14F64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946" y="4525775"/>
            <a:ext cx="107950" cy="10795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42" name="Oval 90">
            <a:extLst>
              <a:ext uri="{FF2B5EF4-FFF2-40B4-BE49-F238E27FC236}">
                <a16:creationId xmlns:a16="http://schemas.microsoft.com/office/drawing/2014/main" id="{B1F9AE88-8504-4A41-BA8E-0A178F1AB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574" y="3023831"/>
            <a:ext cx="107950" cy="10795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1.48148E-6 L -1.66667E-6 -0.0629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5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1.48148E-6 L 0.20417 -0.00417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45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-2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07407E-6 L 0.20521 -0.2206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-1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685" grpId="0" animBg="1"/>
      <p:bldP spid="45232" grpId="0" animBg="1"/>
      <p:bldP spid="45232" grpId="1" animBg="1"/>
      <p:bldP spid="45233" grpId="0" animBg="1"/>
      <p:bldP spid="45233" grpId="1" animBg="1"/>
      <p:bldP spid="27658" grpId="0"/>
      <p:bldP spid="2" grpId="0" animBg="1"/>
      <p:bldP spid="3" grpId="0" animBg="1"/>
      <p:bldP spid="44" grpId="0" animBg="1"/>
      <p:bldP spid="44" grpId="1" animBg="1"/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132138" y="74078"/>
            <a:ext cx="3600450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SUMA DE VECTORES</a:t>
            </a:r>
          </a:p>
        </p:txBody>
      </p:sp>
      <p:sp>
        <p:nvSpPr>
          <p:cNvPr id="45171" name="Text Box 115"/>
          <p:cNvSpPr txBox="1">
            <a:spLocks noChangeArrowheads="1"/>
          </p:cNvSpPr>
          <p:nvPr/>
        </p:nvSpPr>
        <p:spPr bwMode="auto">
          <a:xfrm>
            <a:off x="1043608" y="620688"/>
            <a:ext cx="7724312" cy="120032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Para </a:t>
            </a:r>
            <a:r>
              <a:rPr lang="es-ES" sz="2400" b="1">
                <a:latin typeface="Trebuchet MS" panose="020B0603020202020204" pitchFamily="34" charset="0"/>
              </a:rPr>
              <a:t>cuantificar </a:t>
            </a:r>
            <a:r>
              <a:rPr lang="es-ES" sz="2400">
                <a:latin typeface="Trebuchet MS" panose="020B0603020202020204" pitchFamily="34" charset="0"/>
              </a:rPr>
              <a:t>(para obtener el módulo y ángulo con los ejes del vector suma) es más práctico, en lugar de medirlos con una regla y un transportador, calcularlos</a:t>
            </a:r>
            <a:endParaRPr lang="es-ES" sz="2400" dirty="0">
              <a:latin typeface="Trebuchet MS" panose="020B0603020202020204" pitchFamily="34" charset="0"/>
            </a:endParaRPr>
          </a:p>
        </p:txBody>
      </p:sp>
      <p:sp>
        <p:nvSpPr>
          <p:cNvPr id="30" name="Text Box 61"/>
          <p:cNvSpPr txBox="1">
            <a:spLocks noChangeArrowheads="1"/>
          </p:cNvSpPr>
          <p:nvPr/>
        </p:nvSpPr>
        <p:spPr bwMode="auto">
          <a:xfrm>
            <a:off x="1331640" y="5689241"/>
            <a:ext cx="7200800" cy="86843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bIns="82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Para hallar el valor de esos “números” (el de las componentes) y cuantificar, se usa </a:t>
            </a:r>
            <a:r>
              <a:rPr lang="es-ES" sz="2400" b="1">
                <a:latin typeface="Trebuchet MS" panose="020B0603020202020204" pitchFamily="34" charset="0"/>
              </a:rPr>
              <a:t>trigonometría</a:t>
            </a:r>
            <a:endParaRPr lang="es-ES" sz="2400" b="1" dirty="0">
              <a:latin typeface="Trebuchet MS" panose="020B0603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FBFAE45-12A1-4786-B00A-DDB5A22AAF6E}"/>
              </a:ext>
            </a:extLst>
          </p:cNvPr>
          <p:cNvGrpSpPr/>
          <p:nvPr/>
        </p:nvGrpSpPr>
        <p:grpSpPr>
          <a:xfrm>
            <a:off x="1662496" y="3284984"/>
            <a:ext cx="6438906" cy="2276380"/>
            <a:chOff x="1662496" y="3206077"/>
            <a:chExt cx="6438906" cy="2276380"/>
          </a:xfrm>
        </p:grpSpPr>
        <p:grpSp>
          <p:nvGrpSpPr>
            <p:cNvPr id="7" name="Grupo 6"/>
            <p:cNvGrpSpPr/>
            <p:nvPr/>
          </p:nvGrpSpPr>
          <p:grpSpPr>
            <a:xfrm>
              <a:off x="1662496" y="3206077"/>
              <a:ext cx="6438906" cy="2276380"/>
              <a:chOff x="1216977" y="4995699"/>
              <a:chExt cx="6438906" cy="2276380"/>
            </a:xfrm>
          </p:grpSpPr>
          <p:sp>
            <p:nvSpPr>
              <p:cNvPr id="45231" name="Rectangle 175"/>
              <p:cNvSpPr>
                <a:spLocks noChangeArrowheads="1"/>
              </p:cNvSpPr>
              <p:nvPr/>
            </p:nvSpPr>
            <p:spPr bwMode="auto">
              <a:xfrm>
                <a:off x="1318169" y="4995699"/>
                <a:ext cx="6264696" cy="22763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400">
                  <a:latin typeface="Trebuchet MS" panose="020B0603020202020204" pitchFamily="34" charset="0"/>
                </a:endParaRPr>
              </a:p>
            </p:txBody>
          </p:sp>
          <p:grpSp>
            <p:nvGrpSpPr>
              <p:cNvPr id="6" name="Grupo 5"/>
              <p:cNvGrpSpPr/>
              <p:nvPr/>
            </p:nvGrpSpPr>
            <p:grpSpPr>
              <a:xfrm>
                <a:off x="1216977" y="5061830"/>
                <a:ext cx="6438906" cy="2114549"/>
                <a:chOff x="1252489" y="5061830"/>
                <a:chExt cx="6438906" cy="2114549"/>
              </a:xfrm>
            </p:grpSpPr>
            <p:grpSp>
              <p:nvGrpSpPr>
                <p:cNvPr id="45230" name="Group 174"/>
                <p:cNvGrpSpPr>
                  <a:grpSpLocks/>
                </p:cNvGrpSpPr>
                <p:nvPr/>
              </p:nvGrpSpPr>
              <p:grpSpPr bwMode="auto">
                <a:xfrm>
                  <a:off x="1252489" y="5061830"/>
                  <a:ext cx="6438906" cy="2114549"/>
                  <a:chOff x="1003" y="2558"/>
                  <a:chExt cx="4056" cy="1332"/>
                </a:xfrm>
              </p:grpSpPr>
              <p:sp>
                <p:nvSpPr>
                  <p:cNvPr id="2766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3" y="2558"/>
                    <a:ext cx="4056" cy="13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9992" tIns="41596" rIns="79992" bIns="41596">
                    <a:spAutoFit/>
                  </a:bodyPr>
                  <a:lstStyle>
                    <a:lvl1pPr defTabSz="81280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 defTabSz="81280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 defTabSz="8128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 defTabSz="8128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 defTabSz="8128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defTabSz="812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defTabSz="812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defTabSz="812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defTabSz="8128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latin typeface="Arial" panose="020B0604020202020204" pitchFamily="34" charset="0"/>
                      </a:rPr>
                      <a:t>   A + B =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+ (B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=</a:t>
                    </a:r>
                  </a:p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latin typeface="Arial" panose="020B0604020202020204" pitchFamily="34" charset="0"/>
                      </a:rPr>
                      <a:t>            =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+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+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=</a:t>
                    </a:r>
                  </a:p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latin typeface="Arial" panose="020B0604020202020204" pitchFamily="34" charset="0"/>
                      </a:rPr>
                      <a:t>            =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i +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j + (A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B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) k </a:t>
                    </a:r>
                  </a:p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latin typeface="Arial" panose="020B0604020202020204" pitchFamily="34" charset="0"/>
                      </a:rPr>
                      <a:t>            =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i +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j +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k =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X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Y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+ S</a:t>
                    </a:r>
                    <a:r>
                      <a:rPr lang="es-ES" sz="2400" baseline="-25000" dirty="0">
                        <a:latin typeface="Arial" panose="020B0604020202020204" pitchFamily="34" charset="0"/>
                      </a:rPr>
                      <a:t>Z</a:t>
                    </a:r>
                    <a:r>
                      <a:rPr lang="es-ES" sz="2400" dirty="0">
                        <a:latin typeface="Arial" panose="020B0604020202020204" pitchFamily="34" charset="0"/>
                      </a:rPr>
                      <a:t> = S</a:t>
                    </a:r>
                  </a:p>
                </p:txBody>
              </p:sp>
              <p:sp>
                <p:nvSpPr>
                  <p:cNvPr id="27662" name="Line 1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6" y="3634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3" name="Line 1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81" y="2598"/>
                    <a:ext cx="16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4" name="Line 1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5" y="2598"/>
                    <a:ext cx="16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5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2598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6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82" y="2598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7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98" y="2598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8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24" y="258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69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56" y="258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0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92" y="258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1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24" y="3284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2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97" y="3279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3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07" y="3273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4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24" y="294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5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56" y="2947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6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13" y="294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7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45" y="2947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8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11" y="2946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27679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08" y="2947"/>
                    <a:ext cx="13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endParaRPr lang="en-GB" sz="2400"/>
                  </a:p>
                </p:txBody>
              </p:sp>
            </p:grpSp>
            <p:sp>
              <p:nvSpPr>
                <p:cNvPr id="63" name="Line 113"/>
                <p:cNvSpPr>
                  <a:spLocks noChangeShapeType="1"/>
                </p:cNvSpPr>
                <p:nvPr/>
              </p:nvSpPr>
              <p:spPr bwMode="auto">
                <a:xfrm flipV="1">
                  <a:off x="2987726" y="6747961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64" name="Line 113"/>
                <p:cNvSpPr>
                  <a:spLocks noChangeShapeType="1"/>
                </p:cNvSpPr>
                <p:nvPr/>
              </p:nvSpPr>
              <p:spPr bwMode="auto">
                <a:xfrm flipV="1">
                  <a:off x="3817020" y="6767011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65" name="Line 113"/>
                <p:cNvSpPr>
                  <a:spLocks noChangeShapeType="1"/>
                </p:cNvSpPr>
                <p:nvPr/>
              </p:nvSpPr>
              <p:spPr bwMode="auto">
                <a:xfrm flipV="1">
                  <a:off x="4675698" y="6776075"/>
                  <a:ext cx="2159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n-GB" sz="2400"/>
                </a:p>
              </p:txBody>
            </p:sp>
          </p:grpSp>
        </p:grpSp>
        <p:sp>
          <p:nvSpPr>
            <p:cNvPr id="31" name="Line 113">
              <a:extLst>
                <a:ext uri="{FF2B5EF4-FFF2-40B4-BE49-F238E27FC236}">
                  <a16:creationId xmlns:a16="http://schemas.microsoft.com/office/drawing/2014/main" id="{32444D59-232A-4D3F-901D-D35FCED99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3907" y="4950693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32" name="Line 113">
              <a:extLst>
                <a:ext uri="{FF2B5EF4-FFF2-40B4-BE49-F238E27FC236}">
                  <a16:creationId xmlns:a16="http://schemas.microsoft.com/office/drawing/2014/main" id="{B523B734-C9C1-40A3-838F-7918415D3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1276" y="4960218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33" name="Line 113">
              <a:extLst>
                <a:ext uri="{FF2B5EF4-FFF2-40B4-BE49-F238E27FC236}">
                  <a16:creationId xmlns:a16="http://schemas.microsoft.com/office/drawing/2014/main" id="{6D73B39E-A180-4F6F-B0E1-1C0B6D5EF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2296" y="4969282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" name="Text Box 115">
            <a:extLst>
              <a:ext uri="{FF2B5EF4-FFF2-40B4-BE49-F238E27FC236}">
                <a16:creationId xmlns:a16="http://schemas.microsoft.com/office/drawing/2014/main" id="{D1D8CA77-1BCF-1209-C794-A9FEA0046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598" y="1916832"/>
            <a:ext cx="7724312" cy="120032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Para ello, se considera </a:t>
            </a:r>
            <a:r>
              <a:rPr lang="es-ES" sz="2400" dirty="0">
                <a:latin typeface="Trebuchet MS" panose="020B0603020202020204" pitchFamily="34" charset="0"/>
              </a:rPr>
              <a:t>la </a:t>
            </a:r>
            <a:r>
              <a:rPr lang="es-ES" sz="2400">
                <a:latin typeface="Trebuchet MS" panose="020B0603020202020204" pitchFamily="34" charset="0"/>
              </a:rPr>
              <a:t>propiedad anterior (se des-componen los vectores), se asocian las componentes en un mismo eje y se suman </a:t>
            </a:r>
            <a:r>
              <a:rPr lang="es-ES" sz="2400" dirty="0">
                <a:latin typeface="Trebuchet MS" panose="020B0603020202020204" pitchFamily="34" charset="0"/>
              </a:rPr>
              <a:t>como “</a:t>
            </a:r>
            <a:r>
              <a:rPr lang="es-ES" sz="2400">
                <a:latin typeface="Trebuchet MS" panose="020B0603020202020204" pitchFamily="34" charset="0"/>
              </a:rPr>
              <a:t>números”</a:t>
            </a:r>
            <a:endParaRPr lang="es-ES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945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71" grpId="0" animBg="1"/>
      <p:bldP spid="30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683F694-0181-4308-B611-C68ABA290760}"/>
              </a:ext>
            </a:extLst>
          </p:cNvPr>
          <p:cNvGrpSpPr/>
          <p:nvPr/>
        </p:nvGrpSpPr>
        <p:grpSpPr>
          <a:xfrm>
            <a:off x="4138243" y="4721482"/>
            <a:ext cx="565154" cy="863600"/>
            <a:chOff x="4138243" y="4721482"/>
            <a:chExt cx="565154" cy="863600"/>
          </a:xfrm>
        </p:grpSpPr>
        <p:sp>
          <p:nvSpPr>
            <p:cNvPr id="29787" name="Line 62"/>
            <p:cNvSpPr>
              <a:spLocks noChangeShapeType="1"/>
            </p:cNvSpPr>
            <p:nvPr/>
          </p:nvSpPr>
          <p:spPr bwMode="auto">
            <a:xfrm flipV="1">
              <a:off x="4138243" y="4721482"/>
              <a:ext cx="0" cy="86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88" name="Text Box 64"/>
            <p:cNvSpPr txBox="1">
              <a:spLocks noChangeArrowheads="1"/>
            </p:cNvSpPr>
            <p:nvPr/>
          </p:nvSpPr>
          <p:spPr bwMode="auto">
            <a:xfrm>
              <a:off x="4255839" y="4932620"/>
              <a:ext cx="4475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F</a:t>
              </a:r>
              <a:r>
                <a:rPr lang="es-ES" sz="2400" baseline="-250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y</a:t>
              </a:r>
              <a:endParaRPr lang="es-ES" sz="240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9771" name="Line 91"/>
            <p:cNvSpPr>
              <a:spLocks noChangeShapeType="1"/>
            </p:cNvSpPr>
            <p:nvPr/>
          </p:nvSpPr>
          <p:spPr bwMode="auto">
            <a:xfrm>
              <a:off x="4373723" y="4977069"/>
              <a:ext cx="14446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2770718" y="4721482"/>
            <a:ext cx="176212" cy="976313"/>
            <a:chOff x="2754313" y="5207001"/>
            <a:chExt cx="176213" cy="976312"/>
          </a:xfrm>
        </p:grpSpPr>
        <p:sp>
          <p:nvSpPr>
            <p:cNvPr id="29783" name="Line 90"/>
            <p:cNvSpPr>
              <a:spLocks noChangeShapeType="1"/>
            </p:cNvSpPr>
            <p:nvPr/>
          </p:nvSpPr>
          <p:spPr bwMode="auto">
            <a:xfrm>
              <a:off x="2786063" y="5207001"/>
              <a:ext cx="144463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84" name="Line 92"/>
            <p:cNvSpPr>
              <a:spLocks noChangeShapeType="1"/>
            </p:cNvSpPr>
            <p:nvPr/>
          </p:nvSpPr>
          <p:spPr bwMode="auto">
            <a:xfrm>
              <a:off x="2754313" y="6183313"/>
              <a:ext cx="14446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2411413" y="332656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TRIGONOMETRÍA</a:t>
            </a:r>
          </a:p>
        </p:txBody>
      </p:sp>
      <p:sp>
        <p:nvSpPr>
          <p:cNvPr id="29703" name="AutoShape 76"/>
          <p:cNvSpPr>
            <a:spLocks noChangeArrowheads="1"/>
          </p:cNvSpPr>
          <p:nvPr/>
        </p:nvSpPr>
        <p:spPr bwMode="auto">
          <a:xfrm rot="-5400000">
            <a:off x="1762919" y="601494"/>
            <a:ext cx="2160587" cy="2879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9704" name="Text Box 77"/>
          <p:cNvSpPr txBox="1">
            <a:spLocks noChangeArrowheads="1"/>
          </p:cNvSpPr>
          <p:nvPr/>
        </p:nvSpPr>
        <p:spPr bwMode="auto">
          <a:xfrm>
            <a:off x="2665502" y="1566627"/>
            <a:ext cx="38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</a:t>
            </a:r>
          </a:p>
        </p:txBody>
      </p:sp>
      <p:sp>
        <p:nvSpPr>
          <p:cNvPr id="29705" name="Text Box 78"/>
          <p:cNvSpPr txBox="1">
            <a:spLocks noChangeArrowheads="1"/>
          </p:cNvSpPr>
          <p:nvPr/>
        </p:nvSpPr>
        <p:spPr bwMode="auto">
          <a:xfrm>
            <a:off x="4283968" y="1859588"/>
            <a:ext cx="575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CO</a:t>
            </a:r>
          </a:p>
        </p:txBody>
      </p:sp>
      <p:sp>
        <p:nvSpPr>
          <p:cNvPr id="29706" name="Text Box 79"/>
          <p:cNvSpPr txBox="1">
            <a:spLocks noChangeArrowheads="1"/>
          </p:cNvSpPr>
          <p:nvPr/>
        </p:nvSpPr>
        <p:spPr bwMode="auto">
          <a:xfrm>
            <a:off x="2741613" y="3063766"/>
            <a:ext cx="55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CC</a:t>
            </a:r>
          </a:p>
        </p:txBody>
      </p:sp>
      <p:sp>
        <p:nvSpPr>
          <p:cNvPr id="29707" name="Rectangle 80"/>
          <p:cNvSpPr>
            <a:spLocks noChangeArrowheads="1"/>
          </p:cNvSpPr>
          <p:nvPr/>
        </p:nvSpPr>
        <p:spPr bwMode="auto">
          <a:xfrm>
            <a:off x="3994150" y="28327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9708" name="Text Box 81"/>
          <p:cNvSpPr txBox="1">
            <a:spLocks noChangeArrowheads="1"/>
          </p:cNvSpPr>
          <p:nvPr/>
        </p:nvSpPr>
        <p:spPr bwMode="auto">
          <a:xfrm>
            <a:off x="3489325" y="2473950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70741" name="Text Box 85"/>
          <p:cNvSpPr txBox="1">
            <a:spLocks noChangeArrowheads="1"/>
          </p:cNvSpPr>
          <p:nvPr/>
        </p:nvSpPr>
        <p:spPr bwMode="auto">
          <a:xfrm>
            <a:off x="5104717" y="952405"/>
            <a:ext cx="3137543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Triángulo Rectángulo</a:t>
            </a:r>
          </a:p>
        </p:txBody>
      </p:sp>
      <p:sp>
        <p:nvSpPr>
          <p:cNvPr id="70744" name="Text Box 88"/>
          <p:cNvSpPr txBox="1">
            <a:spLocks noChangeArrowheads="1"/>
          </p:cNvSpPr>
          <p:nvPr/>
        </p:nvSpPr>
        <p:spPr bwMode="auto">
          <a:xfrm>
            <a:off x="5055505" y="1504855"/>
            <a:ext cx="1914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 +  = 90º</a:t>
            </a:r>
          </a:p>
        </p:txBody>
      </p:sp>
      <p:sp>
        <p:nvSpPr>
          <p:cNvPr id="70745" name="Text Box 89"/>
          <p:cNvSpPr txBox="1">
            <a:spLocks noChangeArrowheads="1"/>
          </p:cNvSpPr>
          <p:nvPr/>
        </p:nvSpPr>
        <p:spPr bwMode="auto">
          <a:xfrm>
            <a:off x="5055505" y="1966568"/>
            <a:ext cx="23679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H: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Hipotenusa</a:t>
            </a:r>
          </a:p>
        </p:txBody>
      </p:sp>
      <p:sp>
        <p:nvSpPr>
          <p:cNvPr id="70746" name="Text Box 90"/>
          <p:cNvSpPr txBox="1">
            <a:spLocks noChangeArrowheads="1"/>
          </p:cNvSpPr>
          <p:nvPr/>
        </p:nvSpPr>
        <p:spPr bwMode="auto">
          <a:xfrm>
            <a:off x="5055505" y="2889994"/>
            <a:ext cx="3701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Cateto Opuesto a </a:t>
            </a:r>
          </a:p>
        </p:txBody>
      </p:sp>
      <p:sp>
        <p:nvSpPr>
          <p:cNvPr id="70747" name="Text Box 91"/>
          <p:cNvSpPr txBox="1">
            <a:spLocks noChangeArrowheads="1"/>
          </p:cNvSpPr>
          <p:nvPr/>
        </p:nvSpPr>
        <p:spPr bwMode="auto">
          <a:xfrm>
            <a:off x="5055505" y="2428281"/>
            <a:ext cx="37673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Cateto Contiguo a </a:t>
            </a:r>
          </a:p>
        </p:txBody>
      </p:sp>
      <p:sp>
        <p:nvSpPr>
          <p:cNvPr id="70748" name="Text Box 92"/>
          <p:cNvSpPr txBox="1">
            <a:spLocks noChangeArrowheads="1"/>
          </p:cNvSpPr>
          <p:nvPr/>
        </p:nvSpPr>
        <p:spPr bwMode="auto">
          <a:xfrm>
            <a:off x="5535555" y="4261896"/>
            <a:ext cx="2257349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+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9781" name="Text Box 103"/>
          <p:cNvSpPr txBox="1">
            <a:spLocks noChangeArrowheads="1"/>
          </p:cNvSpPr>
          <p:nvPr/>
        </p:nvSpPr>
        <p:spPr bwMode="auto">
          <a:xfrm>
            <a:off x="5580112" y="5030221"/>
            <a:ext cx="2254250" cy="4619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Módulo Vector</a:t>
            </a:r>
            <a:r>
              <a:rPr lang="es-ES" sz="2400" baseline="30000">
                <a:latin typeface="Trebuchet MS" panose="020B0603020202020204" pitchFamily="34" charset="0"/>
              </a:rPr>
              <a:t>2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D3602A-3669-B576-8C4C-FCFAE58496F8}"/>
              </a:ext>
            </a:extLst>
          </p:cNvPr>
          <p:cNvGrpSpPr/>
          <p:nvPr/>
        </p:nvGrpSpPr>
        <p:grpSpPr>
          <a:xfrm>
            <a:off x="1233505" y="926138"/>
            <a:ext cx="3022583" cy="2195512"/>
            <a:chOff x="1233505" y="926138"/>
            <a:chExt cx="3022583" cy="2195512"/>
          </a:xfrm>
        </p:grpSpPr>
        <p:sp>
          <p:nvSpPr>
            <p:cNvPr id="29709" name="Freeform 82"/>
            <p:cNvSpPr>
              <a:spLocks/>
            </p:cNvSpPr>
            <p:nvPr/>
          </p:nvSpPr>
          <p:spPr bwMode="auto">
            <a:xfrm>
              <a:off x="2022475" y="2688263"/>
              <a:ext cx="168275" cy="433387"/>
            </a:xfrm>
            <a:custGeom>
              <a:avLst/>
              <a:gdLst>
                <a:gd name="T0" fmla="*/ 0 w 106"/>
                <a:gd name="T1" fmla="*/ 0 h 273"/>
                <a:gd name="T2" fmla="*/ 2147483646 w 106"/>
                <a:gd name="T3" fmla="*/ 2147483646 h 273"/>
                <a:gd name="T4" fmla="*/ 2147483646 w 106"/>
                <a:gd name="T5" fmla="*/ 2147483646 h 273"/>
                <a:gd name="T6" fmla="*/ 0 60000 65536"/>
                <a:gd name="T7" fmla="*/ 0 60000 65536"/>
                <a:gd name="T8" fmla="*/ 0 60000 65536"/>
                <a:gd name="T9" fmla="*/ 0 w 106"/>
                <a:gd name="T10" fmla="*/ 0 h 273"/>
                <a:gd name="T11" fmla="*/ 106 w 106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273">
                  <a:moveTo>
                    <a:pt x="0" y="0"/>
                  </a:moveTo>
                  <a:cubicBezTo>
                    <a:pt x="38" y="46"/>
                    <a:pt x="76" y="92"/>
                    <a:pt x="91" y="137"/>
                  </a:cubicBezTo>
                  <a:cubicBezTo>
                    <a:pt x="106" y="182"/>
                    <a:pt x="98" y="227"/>
                    <a:pt x="91" y="27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10" name="Text Box 84"/>
            <p:cNvSpPr txBox="1">
              <a:spLocks noChangeArrowheads="1"/>
            </p:cNvSpPr>
            <p:nvPr/>
          </p:nvSpPr>
          <p:spPr bwMode="auto">
            <a:xfrm>
              <a:off x="2209800" y="2523163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9712" name="Freeform 86"/>
            <p:cNvSpPr>
              <a:spLocks/>
            </p:cNvSpPr>
            <p:nvPr/>
          </p:nvSpPr>
          <p:spPr bwMode="auto">
            <a:xfrm>
              <a:off x="3895725" y="1275388"/>
              <a:ext cx="360363" cy="288925"/>
            </a:xfrm>
            <a:custGeom>
              <a:avLst/>
              <a:gdLst>
                <a:gd name="T0" fmla="*/ 0 w 227"/>
                <a:gd name="T1" fmla="*/ 0 h 182"/>
                <a:gd name="T2" fmla="*/ 2147483646 w 227"/>
                <a:gd name="T3" fmla="*/ 2147483646 h 182"/>
                <a:gd name="T4" fmla="*/ 2147483646 w 227"/>
                <a:gd name="T5" fmla="*/ 2147483646 h 182"/>
                <a:gd name="T6" fmla="*/ 0 60000 65536"/>
                <a:gd name="T7" fmla="*/ 0 60000 65536"/>
                <a:gd name="T8" fmla="*/ 0 60000 65536"/>
                <a:gd name="T9" fmla="*/ 0 w 227"/>
                <a:gd name="T10" fmla="*/ 0 h 182"/>
                <a:gd name="T11" fmla="*/ 227 w 227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182">
                  <a:moveTo>
                    <a:pt x="0" y="0"/>
                  </a:moveTo>
                  <a:cubicBezTo>
                    <a:pt x="26" y="53"/>
                    <a:pt x="53" y="106"/>
                    <a:pt x="91" y="136"/>
                  </a:cubicBezTo>
                  <a:cubicBezTo>
                    <a:pt x="129" y="166"/>
                    <a:pt x="178" y="174"/>
                    <a:pt x="227" y="1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18" name="Text Box 121"/>
            <p:cNvSpPr txBox="1">
              <a:spLocks noChangeArrowheads="1"/>
            </p:cNvSpPr>
            <p:nvPr/>
          </p:nvSpPr>
          <p:spPr bwMode="auto">
            <a:xfrm>
              <a:off x="1233505" y="926138"/>
              <a:ext cx="12554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 = alfa</a:t>
              </a:r>
            </a:p>
          </p:txBody>
        </p:sp>
        <p:sp>
          <p:nvSpPr>
            <p:cNvPr id="29720" name="Text Box 121"/>
            <p:cNvSpPr txBox="1">
              <a:spLocks noChangeArrowheads="1"/>
            </p:cNvSpPr>
            <p:nvPr/>
          </p:nvSpPr>
          <p:spPr bwMode="auto">
            <a:xfrm>
              <a:off x="1235092" y="1357938"/>
              <a:ext cx="1324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 = beta</a:t>
              </a:r>
            </a:p>
          </p:txBody>
        </p:sp>
        <p:sp>
          <p:nvSpPr>
            <p:cNvPr id="29721" name="Text Box 84"/>
            <p:cNvSpPr txBox="1">
              <a:spLocks noChangeArrowheads="1"/>
            </p:cNvSpPr>
            <p:nvPr/>
          </p:nvSpPr>
          <p:spPr bwMode="auto">
            <a:xfrm>
              <a:off x="3779838" y="1502400"/>
              <a:ext cx="3508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</p:grpSp>
      <p:sp>
        <p:nvSpPr>
          <p:cNvPr id="29753" name="Text Box 126"/>
          <p:cNvSpPr txBox="1">
            <a:spLocks noChangeArrowheads="1"/>
          </p:cNvSpPr>
          <p:nvPr/>
        </p:nvSpPr>
        <p:spPr bwMode="auto">
          <a:xfrm>
            <a:off x="5421454" y="5838031"/>
            <a:ext cx="2678938" cy="461665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=|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latin typeface="Trebuchet MS" panose="020B0603020202020204" pitchFamily="34" charset="0"/>
                <a:sym typeface="Symbol" panose="05050102010706020507" pitchFamily="18" charset="2"/>
              </a:rPr>
              <a:t>X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latin typeface="Trebuchet MS" panose="020B0603020202020204" pitchFamily="34" charset="0"/>
                <a:sym typeface="Symbol" panose="05050102010706020507" pitchFamily="18" charset="2"/>
              </a:rPr>
              <a:t>Y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298736" y="3917729"/>
            <a:ext cx="3168650" cy="2185651"/>
            <a:chOff x="1287463" y="4427060"/>
            <a:chExt cx="3168650" cy="2185651"/>
          </a:xfrm>
        </p:grpSpPr>
        <p:sp>
          <p:nvSpPr>
            <p:cNvPr id="29743" name="Line 81"/>
            <p:cNvSpPr>
              <a:spLocks noChangeShapeType="1"/>
            </p:cNvSpPr>
            <p:nvPr/>
          </p:nvSpPr>
          <p:spPr bwMode="auto">
            <a:xfrm>
              <a:off x="1287463" y="6094413"/>
              <a:ext cx="3168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44" name="Line 61"/>
            <p:cNvSpPr>
              <a:spLocks noChangeShapeType="1"/>
            </p:cNvSpPr>
            <p:nvPr/>
          </p:nvSpPr>
          <p:spPr bwMode="auto">
            <a:xfrm>
              <a:off x="1667704" y="6094413"/>
              <a:ext cx="24479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45" name="Text Box 63"/>
            <p:cNvSpPr txBox="1">
              <a:spLocks noChangeArrowheads="1"/>
            </p:cNvSpPr>
            <p:nvPr/>
          </p:nvSpPr>
          <p:spPr bwMode="auto">
            <a:xfrm>
              <a:off x="2690141" y="5173960"/>
              <a:ext cx="3465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</a:rPr>
                <a:t>F</a:t>
              </a:r>
            </a:p>
          </p:txBody>
        </p:sp>
        <p:sp>
          <p:nvSpPr>
            <p:cNvPr id="29746" name="Text Box 65"/>
            <p:cNvSpPr txBox="1">
              <a:spLocks noChangeArrowheads="1"/>
            </p:cNvSpPr>
            <p:nvPr/>
          </p:nvSpPr>
          <p:spPr bwMode="auto">
            <a:xfrm>
              <a:off x="2653403" y="6151046"/>
              <a:ext cx="4491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F</a:t>
              </a:r>
              <a:r>
                <a:rPr lang="es-ES" sz="2400" baseline="-250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  <a:endParaRPr lang="es-ES" sz="2400" baseline="-2500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9747" name="Line 80"/>
            <p:cNvSpPr>
              <a:spLocks noChangeShapeType="1"/>
            </p:cNvSpPr>
            <p:nvPr/>
          </p:nvSpPr>
          <p:spPr bwMode="auto">
            <a:xfrm>
              <a:off x="1689101" y="5246688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48" name="Text Box 82"/>
            <p:cNvSpPr txBox="1">
              <a:spLocks noChangeArrowheads="1"/>
            </p:cNvSpPr>
            <p:nvPr/>
          </p:nvSpPr>
          <p:spPr bwMode="auto">
            <a:xfrm>
              <a:off x="1430089" y="4427060"/>
              <a:ext cx="535724" cy="46166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2D</a:t>
              </a:r>
            </a:p>
          </p:txBody>
        </p:sp>
        <p:sp>
          <p:nvSpPr>
            <p:cNvPr id="29749" name="Line 60"/>
            <p:cNvSpPr>
              <a:spLocks noChangeShapeType="1"/>
            </p:cNvSpPr>
            <p:nvPr/>
          </p:nvSpPr>
          <p:spPr bwMode="auto">
            <a:xfrm flipV="1">
              <a:off x="1647826" y="5157788"/>
              <a:ext cx="2519363" cy="9366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78" name="Grupo 77"/>
          <p:cNvGrpSpPr>
            <a:grpSpLocks/>
          </p:cNvGrpSpPr>
          <p:nvPr/>
        </p:nvGrpSpPr>
        <p:grpSpPr bwMode="auto">
          <a:xfrm>
            <a:off x="1702951" y="4694494"/>
            <a:ext cx="451818" cy="863600"/>
            <a:chOff x="4240716" y="5230813"/>
            <a:chExt cx="451818" cy="863600"/>
          </a:xfrm>
        </p:grpSpPr>
        <p:sp>
          <p:nvSpPr>
            <p:cNvPr id="29741" name="Line 62"/>
            <p:cNvSpPr>
              <a:spLocks noChangeShapeType="1"/>
            </p:cNvSpPr>
            <p:nvPr/>
          </p:nvSpPr>
          <p:spPr bwMode="auto">
            <a:xfrm flipV="1">
              <a:off x="4240716" y="5230813"/>
              <a:ext cx="0" cy="86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42" name="Text Box 64"/>
            <p:cNvSpPr txBox="1">
              <a:spLocks noChangeArrowheads="1"/>
            </p:cNvSpPr>
            <p:nvPr/>
          </p:nvSpPr>
          <p:spPr bwMode="auto">
            <a:xfrm>
              <a:off x="4244976" y="5441951"/>
              <a:ext cx="4475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F</a:t>
              </a:r>
              <a:r>
                <a:rPr lang="es-ES" sz="2400" baseline="-25000" err="1">
                  <a:solidFill>
                    <a:srgbClr val="FF0000"/>
                  </a:solidFill>
                  <a:latin typeface="Trebuchet MS" panose="020B0603020202020204" pitchFamily="34" charset="0"/>
                </a:rPr>
                <a:t>y</a:t>
              </a:r>
              <a:endParaRPr lang="es-ES" sz="240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</p:grpSp>
      <p:sp>
        <p:nvSpPr>
          <p:cNvPr id="97" name="Line 91"/>
          <p:cNvSpPr>
            <a:spLocks noChangeShapeType="1"/>
          </p:cNvSpPr>
          <p:nvPr/>
        </p:nvSpPr>
        <p:spPr bwMode="auto">
          <a:xfrm>
            <a:off x="1832624" y="4953257"/>
            <a:ext cx="1444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85" name="Text Box 92"/>
          <p:cNvSpPr txBox="1">
            <a:spLocks noChangeArrowheads="1"/>
          </p:cNvSpPr>
          <p:nvPr/>
        </p:nvSpPr>
        <p:spPr bwMode="auto">
          <a:xfrm>
            <a:off x="5104719" y="3680772"/>
            <a:ext cx="3137542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Teorema de Pitágoras</a:t>
            </a:r>
            <a:endParaRPr lang="es-ES" sz="2400" baseline="3000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63E9C497-8E8C-45AD-B7F5-F884F2B43F14}"/>
              </a:ext>
            </a:extLst>
          </p:cNvPr>
          <p:cNvSpPr/>
          <p:nvPr/>
        </p:nvSpPr>
        <p:spPr bwMode="auto">
          <a:xfrm>
            <a:off x="3959952" y="5378094"/>
            <a:ext cx="180000" cy="180000"/>
          </a:xfrm>
          <a:custGeom>
            <a:avLst/>
            <a:gdLst>
              <a:gd name="connsiteX0" fmla="*/ 731520 w 731520"/>
              <a:gd name="connsiteY0" fmla="*/ 0 h 702644"/>
              <a:gd name="connsiteX1" fmla="*/ 0 w 731520"/>
              <a:gd name="connsiteY1" fmla="*/ 0 h 702644"/>
              <a:gd name="connsiteX2" fmla="*/ 0 w 731520"/>
              <a:gd name="connsiteY2" fmla="*/ 702644 h 70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1520" h="702644">
                <a:moveTo>
                  <a:pt x="731520" y="0"/>
                </a:moveTo>
                <a:lnTo>
                  <a:pt x="0" y="0"/>
                </a:lnTo>
                <a:lnTo>
                  <a:pt x="0" y="702644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7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7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0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2" dur="500"/>
                                        <p:tgtEl>
                                          <p:spTgt spid="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nimBg="1"/>
      <p:bldP spid="29704" grpId="0"/>
      <p:bldP spid="29705" grpId="0"/>
      <p:bldP spid="29706" grpId="0"/>
      <p:bldP spid="29707" grpId="0" animBg="1"/>
      <p:bldP spid="29708" grpId="0"/>
      <p:bldP spid="70741" grpId="0" animBg="1"/>
      <p:bldP spid="70744" grpId="0"/>
      <p:bldP spid="70745" grpId="0"/>
      <p:bldP spid="70746" grpId="0"/>
      <p:bldP spid="70747" grpId="0"/>
      <p:bldP spid="70748" grpId="0" animBg="1"/>
      <p:bldP spid="29781" grpId="0" animBg="1"/>
      <p:bldP spid="29753" grpId="0" animBg="1"/>
      <p:bldP spid="97" grpId="0" animBg="1"/>
      <p:bldP spid="97" grpId="1" animBg="1"/>
      <p:bldP spid="8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2411413" y="332656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TRIGONOMETRÍA</a:t>
            </a:r>
          </a:p>
        </p:txBody>
      </p:sp>
      <p:sp>
        <p:nvSpPr>
          <p:cNvPr id="29703" name="AutoShape 76"/>
          <p:cNvSpPr>
            <a:spLocks noChangeArrowheads="1"/>
          </p:cNvSpPr>
          <p:nvPr/>
        </p:nvSpPr>
        <p:spPr bwMode="auto">
          <a:xfrm rot="-5400000">
            <a:off x="1762919" y="601494"/>
            <a:ext cx="2160587" cy="2879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9704" name="Text Box 77"/>
          <p:cNvSpPr txBox="1">
            <a:spLocks noChangeArrowheads="1"/>
          </p:cNvSpPr>
          <p:nvPr/>
        </p:nvSpPr>
        <p:spPr bwMode="auto">
          <a:xfrm>
            <a:off x="2665502" y="1566627"/>
            <a:ext cx="38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</a:t>
            </a:r>
          </a:p>
        </p:txBody>
      </p:sp>
      <p:sp>
        <p:nvSpPr>
          <p:cNvPr id="29705" name="Text Box 78"/>
          <p:cNvSpPr txBox="1">
            <a:spLocks noChangeArrowheads="1"/>
          </p:cNvSpPr>
          <p:nvPr/>
        </p:nvSpPr>
        <p:spPr bwMode="auto">
          <a:xfrm>
            <a:off x="4283968" y="1859588"/>
            <a:ext cx="575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CO</a:t>
            </a:r>
          </a:p>
        </p:txBody>
      </p:sp>
      <p:sp>
        <p:nvSpPr>
          <p:cNvPr id="29706" name="Text Box 79"/>
          <p:cNvSpPr txBox="1">
            <a:spLocks noChangeArrowheads="1"/>
          </p:cNvSpPr>
          <p:nvPr/>
        </p:nvSpPr>
        <p:spPr bwMode="auto">
          <a:xfrm>
            <a:off x="2741613" y="3063766"/>
            <a:ext cx="55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CC</a:t>
            </a:r>
          </a:p>
        </p:txBody>
      </p:sp>
      <p:sp>
        <p:nvSpPr>
          <p:cNvPr id="29707" name="Rectangle 80"/>
          <p:cNvSpPr>
            <a:spLocks noChangeArrowheads="1"/>
          </p:cNvSpPr>
          <p:nvPr/>
        </p:nvSpPr>
        <p:spPr bwMode="auto">
          <a:xfrm>
            <a:off x="3994150" y="28327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9708" name="Text Box 81"/>
          <p:cNvSpPr txBox="1">
            <a:spLocks noChangeArrowheads="1"/>
          </p:cNvSpPr>
          <p:nvPr/>
        </p:nvSpPr>
        <p:spPr bwMode="auto">
          <a:xfrm>
            <a:off x="3489325" y="2473950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70741" name="Text Box 85"/>
          <p:cNvSpPr txBox="1">
            <a:spLocks noChangeArrowheads="1"/>
          </p:cNvSpPr>
          <p:nvPr/>
        </p:nvSpPr>
        <p:spPr bwMode="auto">
          <a:xfrm>
            <a:off x="5104717" y="952405"/>
            <a:ext cx="3137543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Triángulo Rectángulo</a:t>
            </a:r>
          </a:p>
        </p:txBody>
      </p:sp>
      <p:sp>
        <p:nvSpPr>
          <p:cNvPr id="70744" name="Text Box 88"/>
          <p:cNvSpPr txBox="1">
            <a:spLocks noChangeArrowheads="1"/>
          </p:cNvSpPr>
          <p:nvPr/>
        </p:nvSpPr>
        <p:spPr bwMode="auto">
          <a:xfrm>
            <a:off x="5055505" y="1504855"/>
            <a:ext cx="1914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 +  = 90º</a:t>
            </a:r>
          </a:p>
        </p:txBody>
      </p:sp>
      <p:sp>
        <p:nvSpPr>
          <p:cNvPr id="70745" name="Text Box 89"/>
          <p:cNvSpPr txBox="1">
            <a:spLocks noChangeArrowheads="1"/>
          </p:cNvSpPr>
          <p:nvPr/>
        </p:nvSpPr>
        <p:spPr bwMode="auto">
          <a:xfrm>
            <a:off x="5055505" y="1966568"/>
            <a:ext cx="23679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H: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Hipotenusa</a:t>
            </a:r>
          </a:p>
        </p:txBody>
      </p:sp>
      <p:sp>
        <p:nvSpPr>
          <p:cNvPr id="70746" name="Text Box 90"/>
          <p:cNvSpPr txBox="1">
            <a:spLocks noChangeArrowheads="1"/>
          </p:cNvSpPr>
          <p:nvPr/>
        </p:nvSpPr>
        <p:spPr bwMode="auto">
          <a:xfrm>
            <a:off x="5055505" y="2889994"/>
            <a:ext cx="3701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Cateto Opuesto a </a:t>
            </a:r>
          </a:p>
        </p:txBody>
      </p:sp>
      <p:sp>
        <p:nvSpPr>
          <p:cNvPr id="70747" name="Text Box 91"/>
          <p:cNvSpPr txBox="1">
            <a:spLocks noChangeArrowheads="1"/>
          </p:cNvSpPr>
          <p:nvPr/>
        </p:nvSpPr>
        <p:spPr bwMode="auto">
          <a:xfrm>
            <a:off x="5055505" y="2428281"/>
            <a:ext cx="37673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CC: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Cateto Contiguo a </a:t>
            </a:r>
          </a:p>
        </p:txBody>
      </p:sp>
      <p:sp>
        <p:nvSpPr>
          <p:cNvPr id="70748" name="Text Box 92"/>
          <p:cNvSpPr txBox="1">
            <a:spLocks noChangeArrowheads="1"/>
          </p:cNvSpPr>
          <p:nvPr/>
        </p:nvSpPr>
        <p:spPr bwMode="auto">
          <a:xfrm>
            <a:off x="5535555" y="4261896"/>
            <a:ext cx="2257349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+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D3602A-3669-B576-8C4C-FCFAE58496F8}"/>
              </a:ext>
            </a:extLst>
          </p:cNvPr>
          <p:cNvGrpSpPr/>
          <p:nvPr/>
        </p:nvGrpSpPr>
        <p:grpSpPr>
          <a:xfrm>
            <a:off x="1233505" y="926138"/>
            <a:ext cx="3022583" cy="2195512"/>
            <a:chOff x="1233505" y="926138"/>
            <a:chExt cx="3022583" cy="2195512"/>
          </a:xfrm>
        </p:grpSpPr>
        <p:sp>
          <p:nvSpPr>
            <p:cNvPr id="29709" name="Freeform 82"/>
            <p:cNvSpPr>
              <a:spLocks/>
            </p:cNvSpPr>
            <p:nvPr/>
          </p:nvSpPr>
          <p:spPr bwMode="auto">
            <a:xfrm>
              <a:off x="2022475" y="2688263"/>
              <a:ext cx="168275" cy="433387"/>
            </a:xfrm>
            <a:custGeom>
              <a:avLst/>
              <a:gdLst>
                <a:gd name="T0" fmla="*/ 0 w 106"/>
                <a:gd name="T1" fmla="*/ 0 h 273"/>
                <a:gd name="T2" fmla="*/ 2147483646 w 106"/>
                <a:gd name="T3" fmla="*/ 2147483646 h 273"/>
                <a:gd name="T4" fmla="*/ 2147483646 w 106"/>
                <a:gd name="T5" fmla="*/ 2147483646 h 273"/>
                <a:gd name="T6" fmla="*/ 0 60000 65536"/>
                <a:gd name="T7" fmla="*/ 0 60000 65536"/>
                <a:gd name="T8" fmla="*/ 0 60000 65536"/>
                <a:gd name="T9" fmla="*/ 0 w 106"/>
                <a:gd name="T10" fmla="*/ 0 h 273"/>
                <a:gd name="T11" fmla="*/ 106 w 106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273">
                  <a:moveTo>
                    <a:pt x="0" y="0"/>
                  </a:moveTo>
                  <a:cubicBezTo>
                    <a:pt x="38" y="46"/>
                    <a:pt x="76" y="92"/>
                    <a:pt x="91" y="137"/>
                  </a:cubicBezTo>
                  <a:cubicBezTo>
                    <a:pt x="106" y="182"/>
                    <a:pt x="98" y="227"/>
                    <a:pt x="91" y="27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10" name="Text Box 84"/>
            <p:cNvSpPr txBox="1">
              <a:spLocks noChangeArrowheads="1"/>
            </p:cNvSpPr>
            <p:nvPr/>
          </p:nvSpPr>
          <p:spPr bwMode="auto">
            <a:xfrm>
              <a:off x="2209800" y="2523163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9712" name="Freeform 86"/>
            <p:cNvSpPr>
              <a:spLocks/>
            </p:cNvSpPr>
            <p:nvPr/>
          </p:nvSpPr>
          <p:spPr bwMode="auto">
            <a:xfrm>
              <a:off x="3895725" y="1275388"/>
              <a:ext cx="360363" cy="288925"/>
            </a:xfrm>
            <a:custGeom>
              <a:avLst/>
              <a:gdLst>
                <a:gd name="T0" fmla="*/ 0 w 227"/>
                <a:gd name="T1" fmla="*/ 0 h 182"/>
                <a:gd name="T2" fmla="*/ 2147483646 w 227"/>
                <a:gd name="T3" fmla="*/ 2147483646 h 182"/>
                <a:gd name="T4" fmla="*/ 2147483646 w 227"/>
                <a:gd name="T5" fmla="*/ 2147483646 h 182"/>
                <a:gd name="T6" fmla="*/ 0 60000 65536"/>
                <a:gd name="T7" fmla="*/ 0 60000 65536"/>
                <a:gd name="T8" fmla="*/ 0 60000 65536"/>
                <a:gd name="T9" fmla="*/ 0 w 227"/>
                <a:gd name="T10" fmla="*/ 0 h 182"/>
                <a:gd name="T11" fmla="*/ 227 w 227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182">
                  <a:moveTo>
                    <a:pt x="0" y="0"/>
                  </a:moveTo>
                  <a:cubicBezTo>
                    <a:pt x="26" y="53"/>
                    <a:pt x="53" y="106"/>
                    <a:pt x="91" y="136"/>
                  </a:cubicBezTo>
                  <a:cubicBezTo>
                    <a:pt x="129" y="166"/>
                    <a:pt x="178" y="174"/>
                    <a:pt x="227" y="18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718" name="Text Box 121"/>
            <p:cNvSpPr txBox="1">
              <a:spLocks noChangeArrowheads="1"/>
            </p:cNvSpPr>
            <p:nvPr/>
          </p:nvSpPr>
          <p:spPr bwMode="auto">
            <a:xfrm>
              <a:off x="1233505" y="926138"/>
              <a:ext cx="12554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 = alfa</a:t>
              </a:r>
            </a:p>
          </p:txBody>
        </p:sp>
        <p:sp>
          <p:nvSpPr>
            <p:cNvPr id="29720" name="Text Box 121"/>
            <p:cNvSpPr txBox="1">
              <a:spLocks noChangeArrowheads="1"/>
            </p:cNvSpPr>
            <p:nvPr/>
          </p:nvSpPr>
          <p:spPr bwMode="auto">
            <a:xfrm>
              <a:off x="1235092" y="1357938"/>
              <a:ext cx="13244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 = beta</a:t>
              </a:r>
            </a:p>
          </p:txBody>
        </p:sp>
        <p:sp>
          <p:nvSpPr>
            <p:cNvPr id="29721" name="Text Box 84"/>
            <p:cNvSpPr txBox="1">
              <a:spLocks noChangeArrowheads="1"/>
            </p:cNvSpPr>
            <p:nvPr/>
          </p:nvSpPr>
          <p:spPr bwMode="auto">
            <a:xfrm>
              <a:off x="3779838" y="1502400"/>
              <a:ext cx="3508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</p:grpSp>
      <p:sp>
        <p:nvSpPr>
          <p:cNvPr id="85" name="Text Box 92"/>
          <p:cNvSpPr txBox="1">
            <a:spLocks noChangeArrowheads="1"/>
          </p:cNvSpPr>
          <p:nvPr/>
        </p:nvSpPr>
        <p:spPr bwMode="auto">
          <a:xfrm>
            <a:off x="5104719" y="3680772"/>
            <a:ext cx="3137542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Teorema de Pitágoras</a:t>
            </a:r>
            <a:endParaRPr lang="es-ES" sz="2400" baseline="3000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84726C4-03BC-327C-4040-60FF9BE6EAAA}"/>
              </a:ext>
            </a:extLst>
          </p:cNvPr>
          <p:cNvGrpSpPr>
            <a:grpSpLocks/>
          </p:cNvGrpSpPr>
          <p:nvPr/>
        </p:nvGrpSpPr>
        <p:grpSpPr bwMode="auto">
          <a:xfrm>
            <a:off x="1408158" y="5710359"/>
            <a:ext cx="2665412" cy="680739"/>
            <a:chOff x="5618163" y="5908676"/>
            <a:chExt cx="2665413" cy="680739"/>
          </a:xfrm>
        </p:grpSpPr>
        <p:sp>
          <p:nvSpPr>
            <p:cNvPr id="7" name="Freeform 105">
              <a:extLst>
                <a:ext uri="{FF2B5EF4-FFF2-40B4-BE49-F238E27FC236}">
                  <a16:creationId xmlns:a16="http://schemas.microsoft.com/office/drawing/2014/main" id="{9761D508-0C7F-5609-A1B0-BA6CE6463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5626" y="5908676"/>
              <a:ext cx="468313" cy="170678"/>
            </a:xfrm>
            <a:custGeom>
              <a:avLst/>
              <a:gdLst>
                <a:gd name="T0" fmla="*/ 2147483646 w 318"/>
                <a:gd name="T1" fmla="*/ 0 h 136"/>
                <a:gd name="T2" fmla="*/ 2147483646 w 318"/>
                <a:gd name="T3" fmla="*/ 0 h 136"/>
                <a:gd name="T4" fmla="*/ 2147483646 w 318"/>
                <a:gd name="T5" fmla="*/ 2147483646 h 136"/>
                <a:gd name="T6" fmla="*/ 0 w 318"/>
                <a:gd name="T7" fmla="*/ 2147483646 h 136"/>
                <a:gd name="T8" fmla="*/ 2147483646 w 318"/>
                <a:gd name="T9" fmla="*/ 0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8" h="136">
                  <a:moveTo>
                    <a:pt x="181" y="0"/>
                  </a:moveTo>
                  <a:lnTo>
                    <a:pt x="318" y="0"/>
                  </a:lnTo>
                  <a:lnTo>
                    <a:pt x="181" y="136"/>
                  </a:lnTo>
                  <a:lnTo>
                    <a:pt x="0" y="136"/>
                  </a:lnTo>
                  <a:lnTo>
                    <a:pt x="1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600C37ED-57DD-02A9-7084-11A3647CF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8163" y="6092825"/>
              <a:ext cx="2665413" cy="496590"/>
              <a:chOff x="5618163" y="6092825"/>
              <a:chExt cx="2665413" cy="496590"/>
            </a:xfrm>
          </p:grpSpPr>
          <p:sp>
            <p:nvSpPr>
              <p:cNvPr id="9" name="Line 75">
                <a:extLst>
                  <a:ext uri="{FF2B5EF4-FFF2-40B4-BE49-F238E27FC236}">
                    <a16:creationId xmlns:a16="http://schemas.microsoft.com/office/drawing/2014/main" id="{E57F05DB-C9D3-B7DA-F6A4-1E69F0AAF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8163" y="6092825"/>
                <a:ext cx="266541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10" name="Text Box 79">
                <a:extLst>
                  <a:ext uri="{FF2B5EF4-FFF2-40B4-BE49-F238E27FC236}">
                    <a16:creationId xmlns:a16="http://schemas.microsoft.com/office/drawing/2014/main" id="{5FFEC484-41B0-3918-D935-498DF12D3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6226" y="6127750"/>
                <a:ext cx="4475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>
                    <a:latin typeface="Trebuchet MS" panose="020B0603020202020204" pitchFamily="34" charset="0"/>
                  </a:rPr>
                  <a:t>y</a:t>
                </a:r>
              </a:p>
            </p:txBody>
          </p:sp>
          <p:sp>
            <p:nvSpPr>
              <p:cNvPr id="11" name="Line 97">
                <a:extLst>
                  <a:ext uri="{FF2B5EF4-FFF2-40B4-BE49-F238E27FC236}">
                    <a16:creationId xmlns:a16="http://schemas.microsoft.com/office/drawing/2014/main" id="{8FF388BF-8F49-AAFA-C095-C06BD39D0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9413" y="6181725"/>
                <a:ext cx="1444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</p:grpSp>
      </p:grpSp>
      <p:sp>
        <p:nvSpPr>
          <p:cNvPr id="13" name="Line 78">
            <a:extLst>
              <a:ext uri="{FF2B5EF4-FFF2-40B4-BE49-F238E27FC236}">
                <a16:creationId xmlns:a16="http://schemas.microsoft.com/office/drawing/2014/main" id="{8A3883B2-3013-CDE3-3D08-40434909E8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2258" y="5246808"/>
            <a:ext cx="10795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E92EE14-2773-F294-9BE8-BCE0EA80080A}"/>
              </a:ext>
            </a:extLst>
          </p:cNvPr>
          <p:cNvGrpSpPr>
            <a:grpSpLocks/>
          </p:cNvGrpSpPr>
          <p:nvPr/>
        </p:nvGrpSpPr>
        <p:grpSpPr bwMode="auto">
          <a:xfrm>
            <a:off x="1199550" y="3933056"/>
            <a:ext cx="2894557" cy="2329955"/>
            <a:chOff x="5419181" y="4121645"/>
            <a:chExt cx="2894558" cy="2329955"/>
          </a:xfrm>
        </p:grpSpPr>
        <p:sp>
          <p:nvSpPr>
            <p:cNvPr id="15" name="Text Box 83">
              <a:extLst>
                <a:ext uri="{FF2B5EF4-FFF2-40B4-BE49-F238E27FC236}">
                  <a16:creationId xmlns:a16="http://schemas.microsoft.com/office/drawing/2014/main" id="{BAD9B162-D0F2-A439-C479-5FDF1A89C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2838" y="4121645"/>
              <a:ext cx="535724" cy="46166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3D</a:t>
              </a:r>
            </a:p>
          </p:txBody>
        </p:sp>
        <p:sp>
          <p:nvSpPr>
            <p:cNvPr id="16" name="Line 68">
              <a:extLst>
                <a:ext uri="{FF2B5EF4-FFF2-40B4-BE49-F238E27FC236}">
                  <a16:creationId xmlns:a16="http://schemas.microsoft.com/office/drawing/2014/main" id="{AF30D0A7-DEC1-4B6B-7D92-CA37A65CF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6176" y="5229225"/>
              <a:ext cx="2087563" cy="4318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17" name="Text Box 71">
              <a:extLst>
                <a:ext uri="{FF2B5EF4-FFF2-40B4-BE49-F238E27FC236}">
                  <a16:creationId xmlns:a16="http://schemas.microsoft.com/office/drawing/2014/main" id="{084BE755-19C1-4CC3-1A49-FDD86B9B1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2451" y="5084763"/>
              <a:ext cx="3465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</a:rPr>
                <a:t>F</a:t>
              </a:r>
            </a:p>
          </p:txBody>
        </p:sp>
        <p:sp>
          <p:nvSpPr>
            <p:cNvPr id="18" name="Text Box 73">
              <a:extLst>
                <a:ext uri="{FF2B5EF4-FFF2-40B4-BE49-F238E27FC236}">
                  <a16:creationId xmlns:a16="http://schemas.microsoft.com/office/drawing/2014/main" id="{B9F2B8BF-FB33-2B7D-8239-09BED6070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9181" y="5437287"/>
              <a:ext cx="4491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F</a:t>
              </a:r>
              <a:r>
                <a:rPr lang="es-ES" sz="2400" baseline="-25000"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19" name="Line 76">
              <a:extLst>
                <a:ext uri="{FF2B5EF4-FFF2-40B4-BE49-F238E27FC236}">
                  <a16:creationId xmlns:a16="http://schemas.microsoft.com/office/drawing/2014/main" id="{221963D5-2C66-8E8D-D14E-8D3B7290B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4426" y="5156200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0" name="Line 77">
              <a:extLst>
                <a:ext uri="{FF2B5EF4-FFF2-40B4-BE49-F238E27FC236}">
                  <a16:creationId xmlns:a16="http://schemas.microsoft.com/office/drawing/2014/main" id="{25D38935-E56B-A97C-0072-1DD297BB1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8526" y="5661025"/>
              <a:ext cx="2232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1" name="Line 74">
              <a:extLst>
                <a:ext uri="{FF2B5EF4-FFF2-40B4-BE49-F238E27FC236}">
                  <a16:creationId xmlns:a16="http://schemas.microsoft.com/office/drawing/2014/main" id="{580E14AA-D45F-E427-54A7-01BF3425E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18163" y="5661025"/>
              <a:ext cx="576263" cy="431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326E065-6E59-816C-DC19-3CF28B2A71AD}"/>
              </a:ext>
            </a:extLst>
          </p:cNvPr>
          <p:cNvGrpSpPr>
            <a:grpSpLocks/>
          </p:cNvGrpSpPr>
          <p:nvPr/>
        </p:nvGrpSpPr>
        <p:grpSpPr bwMode="auto">
          <a:xfrm>
            <a:off x="1984420" y="5238974"/>
            <a:ext cx="3061594" cy="461665"/>
            <a:chOff x="5618163" y="5861153"/>
            <a:chExt cx="3061594" cy="461665"/>
          </a:xfrm>
        </p:grpSpPr>
        <p:sp>
          <p:nvSpPr>
            <p:cNvPr id="23" name="Line 75">
              <a:extLst>
                <a:ext uri="{FF2B5EF4-FFF2-40B4-BE49-F238E27FC236}">
                  <a16:creationId xmlns:a16="http://schemas.microsoft.com/office/drawing/2014/main" id="{CC171779-1C61-1FB9-43D3-D991CD683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8163" y="6092825"/>
              <a:ext cx="266541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4" name="Text Box 79">
              <a:extLst>
                <a:ext uri="{FF2B5EF4-FFF2-40B4-BE49-F238E27FC236}">
                  <a16:creationId xmlns:a16="http://schemas.microsoft.com/office/drawing/2014/main" id="{440521C4-3BBA-F682-5DF2-1CC064242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2199" y="5861153"/>
              <a:ext cx="4475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err="1">
                  <a:latin typeface="Trebuchet MS" panose="020B0603020202020204" pitchFamily="34" charset="0"/>
                </a:rPr>
                <a:t>F</a:t>
              </a:r>
              <a:r>
                <a:rPr lang="es-ES" sz="2400" baseline="-25000" err="1">
                  <a:latin typeface="Trebuchet MS" panose="020B0603020202020204" pitchFamily="34" charset="0"/>
                </a:rPr>
                <a:t>y</a:t>
              </a:r>
              <a:endParaRPr lang="es-ES" sz="2400" baseline="-25000">
                <a:latin typeface="Trebuchet MS" panose="020B0603020202020204" pitchFamily="34" charset="0"/>
              </a:endParaRPr>
            </a:p>
          </p:txBody>
        </p:sp>
        <p:sp>
          <p:nvSpPr>
            <p:cNvPr id="25" name="Line 97">
              <a:extLst>
                <a:ext uri="{FF2B5EF4-FFF2-40B4-BE49-F238E27FC236}">
                  <a16:creationId xmlns:a16="http://schemas.microsoft.com/office/drawing/2014/main" id="{A6D52C6D-0069-ACBE-D5A4-71ACD6686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3475" y="5926840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26" name="Text Box 126">
            <a:extLst>
              <a:ext uri="{FF2B5EF4-FFF2-40B4-BE49-F238E27FC236}">
                <a16:creationId xmlns:a16="http://schemas.microsoft.com/office/drawing/2014/main" id="{E68BF856-54C8-3E9F-5B98-1330F5B69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660" y="5836691"/>
            <a:ext cx="3643312" cy="46196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=|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latin typeface="Trebuchet MS" panose="020B0603020202020204" pitchFamily="34" charset="0"/>
                <a:sym typeface="Symbol" panose="05050102010706020507" pitchFamily="18" charset="2"/>
              </a:rPr>
              <a:t>X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latin typeface="Trebuchet MS" panose="020B0603020202020204" pitchFamily="34" charset="0"/>
                <a:sym typeface="Symbol" panose="05050102010706020507" pitchFamily="18" charset="2"/>
              </a:rPr>
              <a:t>Y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+|</a:t>
            </a:r>
            <a:r>
              <a:rPr lang="es-ES" sz="2400" b="1">
                <a:latin typeface="Trebuchet MS" panose="020B0603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latin typeface="Trebuchet MS" panose="020B0603020202020204" pitchFamily="34" charset="0"/>
                <a:sym typeface="Symbol" panose="05050102010706020507" pitchFamily="18" charset="2"/>
              </a:rPr>
              <a:t>Z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</a:t>
            </a:r>
            <a:r>
              <a:rPr lang="es-ES" sz="2400" baseline="30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7A47A1DE-80E6-C516-28AB-B2B4713A06A1}"/>
              </a:ext>
            </a:extLst>
          </p:cNvPr>
          <p:cNvGrpSpPr>
            <a:grpSpLocks/>
          </p:cNvGrpSpPr>
          <p:nvPr/>
        </p:nvGrpSpPr>
        <p:grpSpPr bwMode="auto">
          <a:xfrm>
            <a:off x="1316966" y="4959471"/>
            <a:ext cx="1626304" cy="353374"/>
            <a:chOff x="5526971" y="5157788"/>
            <a:chExt cx="1626305" cy="353374"/>
          </a:xfrm>
        </p:grpSpPr>
        <p:sp>
          <p:nvSpPr>
            <p:cNvPr id="28" name="Line 94">
              <a:extLst>
                <a:ext uri="{FF2B5EF4-FFF2-40B4-BE49-F238E27FC236}">
                  <a16:creationId xmlns:a16="http://schemas.microsoft.com/office/drawing/2014/main" id="{94ACB38F-40A9-6944-ED11-074D14521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6971" y="5511162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29" name="Line 95">
              <a:extLst>
                <a:ext uri="{FF2B5EF4-FFF2-40B4-BE49-F238E27FC236}">
                  <a16:creationId xmlns:a16="http://schemas.microsoft.com/office/drawing/2014/main" id="{F783A720-8B3B-7746-D552-780366DD7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8813" y="5157788"/>
              <a:ext cx="144463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17D19818-7CE9-FA4E-31E3-39D061CA9393}"/>
              </a:ext>
            </a:extLst>
          </p:cNvPr>
          <p:cNvGrpSpPr>
            <a:grpSpLocks/>
          </p:cNvGrpSpPr>
          <p:nvPr/>
        </p:nvGrpSpPr>
        <p:grpSpPr bwMode="auto">
          <a:xfrm>
            <a:off x="3891009" y="4931167"/>
            <a:ext cx="696765" cy="963341"/>
            <a:chOff x="8101013" y="5129484"/>
            <a:chExt cx="696766" cy="963341"/>
          </a:xfrm>
        </p:grpSpPr>
        <p:sp>
          <p:nvSpPr>
            <p:cNvPr id="31" name="Freeform 108">
              <a:extLst>
                <a:ext uri="{FF2B5EF4-FFF2-40B4-BE49-F238E27FC236}">
                  <a16:creationId xmlns:a16="http://schemas.microsoft.com/office/drawing/2014/main" id="{AB306F5A-18FD-F627-93DA-D8BE1C82E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1013" y="5805488"/>
              <a:ext cx="215900" cy="287337"/>
            </a:xfrm>
            <a:custGeom>
              <a:avLst/>
              <a:gdLst>
                <a:gd name="T0" fmla="*/ 0 w 136"/>
                <a:gd name="T1" fmla="*/ 0 h 181"/>
                <a:gd name="T2" fmla="*/ 2147483646 w 136"/>
                <a:gd name="T3" fmla="*/ 2147483646 h 181"/>
                <a:gd name="T4" fmla="*/ 2147483646 w 136"/>
                <a:gd name="T5" fmla="*/ 2147483646 h 181"/>
                <a:gd name="T6" fmla="*/ 0 w 136"/>
                <a:gd name="T7" fmla="*/ 2147483646 h 181"/>
                <a:gd name="T8" fmla="*/ 0 w 136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181">
                  <a:moveTo>
                    <a:pt x="0" y="0"/>
                  </a:moveTo>
                  <a:lnTo>
                    <a:pt x="136" y="45"/>
                  </a:lnTo>
                  <a:lnTo>
                    <a:pt x="136" y="181"/>
                  </a:lnTo>
                  <a:lnTo>
                    <a:pt x="0" y="1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grpSp>
          <p:nvGrpSpPr>
            <p:cNvPr id="32" name="Grupo 4">
              <a:extLst>
                <a:ext uri="{FF2B5EF4-FFF2-40B4-BE49-F238E27FC236}">
                  <a16:creationId xmlns:a16="http://schemas.microsoft.com/office/drawing/2014/main" id="{26C4D06E-CF00-B5C4-E28C-F5E8678B38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13738" y="5129484"/>
              <a:ext cx="484041" cy="963341"/>
              <a:chOff x="8313738" y="5129484"/>
              <a:chExt cx="484041" cy="963341"/>
            </a:xfrm>
          </p:grpSpPr>
          <p:sp>
            <p:nvSpPr>
              <p:cNvPr id="34" name="Line 70">
                <a:extLst>
                  <a:ext uri="{FF2B5EF4-FFF2-40B4-BE49-F238E27FC236}">
                    <a16:creationId xmlns:a16="http://schemas.microsoft.com/office/drawing/2014/main" id="{873B1B1F-ECC4-DDC7-2C75-DE27AC025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13738" y="5229225"/>
                <a:ext cx="0" cy="8636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35" name="Text Box 72">
                <a:extLst>
                  <a:ext uri="{FF2B5EF4-FFF2-40B4-BE49-F238E27FC236}">
                    <a16:creationId xmlns:a16="http://schemas.microsoft.com/office/drawing/2014/main" id="{CC130EBB-B035-DD40-A5AF-466A492CC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53426" y="5129484"/>
                <a:ext cx="44435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 err="1"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 err="1">
                    <a:latin typeface="Trebuchet MS" panose="020B0603020202020204" pitchFamily="34" charset="0"/>
                  </a:rPr>
                  <a:t>z</a:t>
                </a:r>
                <a:endParaRPr lang="es-ES" sz="2400"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33" name="Line 96">
              <a:extLst>
                <a:ext uri="{FF2B5EF4-FFF2-40B4-BE49-F238E27FC236}">
                  <a16:creationId xmlns:a16="http://schemas.microsoft.com/office/drawing/2014/main" id="{405E38C8-3934-D37F-023B-F6773A075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50263" y="5173934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12A3579-39F9-D65D-A6E5-DBF4BB794AF9}"/>
              </a:ext>
            </a:extLst>
          </p:cNvPr>
          <p:cNvGrpSpPr>
            <a:grpSpLocks/>
          </p:cNvGrpSpPr>
          <p:nvPr/>
        </p:nvGrpSpPr>
        <p:grpSpPr bwMode="auto">
          <a:xfrm>
            <a:off x="1984420" y="5462708"/>
            <a:ext cx="2736854" cy="993783"/>
            <a:chOff x="6194426" y="5661025"/>
            <a:chExt cx="2736854" cy="993783"/>
          </a:xfrm>
        </p:grpSpPr>
        <p:sp>
          <p:nvSpPr>
            <p:cNvPr id="37" name="Line 69">
              <a:extLst>
                <a:ext uri="{FF2B5EF4-FFF2-40B4-BE49-F238E27FC236}">
                  <a16:creationId xmlns:a16="http://schemas.microsoft.com/office/drawing/2014/main" id="{3C1F7C3E-2F6F-6B9D-33AC-ABFD4A9BF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4426" y="5661025"/>
              <a:ext cx="2160588" cy="4318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grpSp>
          <p:nvGrpSpPr>
            <p:cNvPr id="38" name="Group 100">
              <a:extLst>
                <a:ext uri="{FF2B5EF4-FFF2-40B4-BE49-F238E27FC236}">
                  <a16:creationId xmlns:a16="http://schemas.microsoft.com/office/drawing/2014/main" id="{225388B7-8C4B-9F30-C7C9-9ABF6D7BA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70829" y="6192845"/>
              <a:ext cx="1060451" cy="461963"/>
              <a:chOff x="5048" y="3974"/>
              <a:chExt cx="668" cy="291"/>
            </a:xfrm>
          </p:grpSpPr>
          <p:sp>
            <p:nvSpPr>
              <p:cNvPr id="39" name="Text Box 88">
                <a:extLst>
                  <a:ext uri="{FF2B5EF4-FFF2-40B4-BE49-F238E27FC236}">
                    <a16:creationId xmlns:a16="http://schemas.microsoft.com/office/drawing/2014/main" id="{0E503CD1-CD25-FA94-1AE9-1C0D0247AE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8" y="3974"/>
                <a:ext cx="66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 err="1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 err="1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x</a:t>
                </a:r>
                <a:r>
                  <a:rPr lang="es-ES" sz="2400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 + </a:t>
                </a:r>
                <a:r>
                  <a:rPr lang="es-ES" sz="2400" err="1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 err="1">
                    <a:solidFill>
                      <a:srgbClr val="008000"/>
                    </a:solidFill>
                    <a:latin typeface="Trebuchet MS" panose="020B0603020202020204" pitchFamily="34" charset="0"/>
                  </a:rPr>
                  <a:t>y</a:t>
                </a:r>
                <a:endParaRPr lang="es-ES" sz="2400" baseline="-25000">
                  <a:solidFill>
                    <a:srgbClr val="008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40" name="Line 98">
                <a:extLst>
                  <a:ext uri="{FF2B5EF4-FFF2-40B4-BE49-F238E27FC236}">
                    <a16:creationId xmlns:a16="http://schemas.microsoft.com/office/drawing/2014/main" id="{83B821CA-8944-FFF6-FED8-04ACAD27B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8" y="4007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41" name="Line 99">
                <a:extLst>
                  <a:ext uri="{FF2B5EF4-FFF2-40B4-BE49-F238E27FC236}">
                    <a16:creationId xmlns:a16="http://schemas.microsoft.com/office/drawing/2014/main" id="{998575F2-BA46-0E73-0764-68E5C5606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6" y="4002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</p:grp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A6715268-AFB0-CF35-CC21-5DD72F03834E}"/>
              </a:ext>
            </a:extLst>
          </p:cNvPr>
          <p:cNvGrpSpPr>
            <a:grpSpLocks/>
          </p:cNvGrpSpPr>
          <p:nvPr/>
        </p:nvGrpSpPr>
        <p:grpSpPr bwMode="auto">
          <a:xfrm>
            <a:off x="1979712" y="4610221"/>
            <a:ext cx="484040" cy="863600"/>
            <a:chOff x="9399865" y="5156200"/>
            <a:chExt cx="484041" cy="863600"/>
          </a:xfrm>
        </p:grpSpPr>
        <p:grpSp>
          <p:nvGrpSpPr>
            <p:cNvPr id="43" name="Grupo 89">
              <a:extLst>
                <a:ext uri="{FF2B5EF4-FFF2-40B4-BE49-F238E27FC236}">
                  <a16:creationId xmlns:a16="http://schemas.microsoft.com/office/drawing/2014/main" id="{EA2A6A0E-862C-4AFC-E8F5-8C92F6428F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9865" y="5156200"/>
              <a:ext cx="484041" cy="863600"/>
              <a:chOff x="8313738" y="5229225"/>
              <a:chExt cx="484041" cy="863600"/>
            </a:xfrm>
          </p:grpSpPr>
          <p:sp>
            <p:nvSpPr>
              <p:cNvPr id="45" name="Line 70">
                <a:extLst>
                  <a:ext uri="{FF2B5EF4-FFF2-40B4-BE49-F238E27FC236}">
                    <a16:creationId xmlns:a16="http://schemas.microsoft.com/office/drawing/2014/main" id="{06ACFE30-182F-40C3-34CA-97619F102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13738" y="5229225"/>
                <a:ext cx="0" cy="8636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46" name="Text Box 72">
                <a:extLst>
                  <a:ext uri="{FF2B5EF4-FFF2-40B4-BE49-F238E27FC236}">
                    <a16:creationId xmlns:a16="http://schemas.microsoft.com/office/drawing/2014/main" id="{7437735C-FD37-4A95-60E7-27A730968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53426" y="5312362"/>
                <a:ext cx="44435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 err="1"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 err="1">
                    <a:latin typeface="Trebuchet MS" panose="020B0603020202020204" pitchFamily="34" charset="0"/>
                  </a:rPr>
                  <a:t>z</a:t>
                </a:r>
                <a:endParaRPr lang="es-ES" sz="2400"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44" name="Line 96">
              <a:extLst>
                <a:ext uri="{FF2B5EF4-FFF2-40B4-BE49-F238E27FC236}">
                  <a16:creationId xmlns:a16="http://schemas.microsoft.com/office/drawing/2014/main" id="{8EA6A1C8-29AA-A2B9-86F0-CD663B94C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6390" y="5283787"/>
              <a:ext cx="144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</p:grpSp>
      <p:sp>
        <p:nvSpPr>
          <p:cNvPr id="47" name="Text Box 103">
            <a:extLst>
              <a:ext uri="{FF2B5EF4-FFF2-40B4-BE49-F238E27FC236}">
                <a16:creationId xmlns:a16="http://schemas.microsoft.com/office/drawing/2014/main" id="{92E6837A-79E1-D6C6-BCE1-B9C5D585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5030221"/>
            <a:ext cx="2254250" cy="4619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Módulo Vector</a:t>
            </a:r>
            <a:r>
              <a:rPr lang="es-ES" sz="2400" baseline="30000">
                <a:latin typeface="Trebuchet MS" panose="020B0603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5407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6" name="Text Box 100"/>
          <p:cNvSpPr txBox="1">
            <a:spLocks noChangeArrowheads="1"/>
          </p:cNvSpPr>
          <p:nvPr/>
        </p:nvSpPr>
        <p:spPr bwMode="auto">
          <a:xfrm>
            <a:off x="1497259" y="4852119"/>
            <a:ext cx="3823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= seno     = sin  </a:t>
            </a:r>
          </a:p>
        </p:txBody>
      </p:sp>
      <p:sp>
        <p:nvSpPr>
          <p:cNvPr id="70757" name="Text Box 101"/>
          <p:cNvSpPr txBox="1">
            <a:spLocks noChangeArrowheads="1"/>
          </p:cNvSpPr>
          <p:nvPr/>
        </p:nvSpPr>
        <p:spPr bwMode="auto">
          <a:xfrm>
            <a:off x="1504318" y="3659981"/>
            <a:ext cx="38074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coseno  = cos </a:t>
            </a:r>
          </a:p>
        </p:txBody>
      </p:sp>
      <p:sp>
        <p:nvSpPr>
          <p:cNvPr id="70758" name="Text Box 102"/>
          <p:cNvSpPr txBox="1">
            <a:spLocks noChangeArrowheads="1"/>
          </p:cNvSpPr>
          <p:nvPr/>
        </p:nvSpPr>
        <p:spPr bwMode="auto">
          <a:xfrm>
            <a:off x="5065708" y="1868398"/>
            <a:ext cx="33906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tangente 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            = tan  = tg </a:t>
            </a:r>
          </a:p>
        </p:txBody>
      </p:sp>
      <p:sp>
        <p:nvSpPr>
          <p:cNvPr id="31792" name="Text Box 100"/>
          <p:cNvSpPr txBox="1">
            <a:spLocks noChangeArrowheads="1"/>
          </p:cNvSpPr>
          <p:nvPr/>
        </p:nvSpPr>
        <p:spPr bwMode="auto">
          <a:xfrm>
            <a:off x="1792350" y="5380558"/>
            <a:ext cx="2375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sin </a:t>
            </a:r>
          </a:p>
        </p:txBody>
      </p:sp>
      <p:sp>
        <p:nvSpPr>
          <p:cNvPr id="31790" name="Text Box 101"/>
          <p:cNvSpPr txBox="1">
            <a:spLocks noChangeArrowheads="1"/>
          </p:cNvSpPr>
          <p:nvPr/>
        </p:nvSpPr>
        <p:spPr bwMode="auto">
          <a:xfrm>
            <a:off x="1797516" y="4221187"/>
            <a:ext cx="2414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cos </a:t>
            </a:r>
          </a:p>
        </p:txBody>
      </p:sp>
      <p:sp>
        <p:nvSpPr>
          <p:cNvPr id="46" name="Text Box 83"/>
          <p:cNvSpPr txBox="1">
            <a:spLocks noChangeArrowheads="1"/>
          </p:cNvSpPr>
          <p:nvPr/>
        </p:nvSpPr>
        <p:spPr bwMode="auto">
          <a:xfrm>
            <a:off x="1458027" y="6082729"/>
            <a:ext cx="6947736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En inglés: seno = sine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 sin  (se usa "sin" o "sen")</a:t>
            </a:r>
            <a:endParaRPr lang="es-ES" sz="2400">
              <a:latin typeface="Trebuchet MS" panose="020B0603020202020204" pitchFamily="34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411413" y="332656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TRIGONOMETRÍA</a:t>
            </a:r>
          </a:p>
        </p:txBody>
      </p:sp>
      <p:sp>
        <p:nvSpPr>
          <p:cNvPr id="53" name="AutoShape 76"/>
          <p:cNvSpPr>
            <a:spLocks noChangeArrowheads="1"/>
          </p:cNvSpPr>
          <p:nvPr/>
        </p:nvSpPr>
        <p:spPr bwMode="auto">
          <a:xfrm rot="-5400000">
            <a:off x="1762919" y="601494"/>
            <a:ext cx="2160587" cy="2879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2665502" y="1566627"/>
            <a:ext cx="38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</a:t>
            </a: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4283968" y="1859588"/>
            <a:ext cx="575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CO</a:t>
            </a:r>
          </a:p>
        </p:txBody>
      </p:sp>
      <p:sp>
        <p:nvSpPr>
          <p:cNvPr id="56" name="Text Box 79"/>
          <p:cNvSpPr txBox="1">
            <a:spLocks noChangeArrowheads="1"/>
          </p:cNvSpPr>
          <p:nvPr/>
        </p:nvSpPr>
        <p:spPr bwMode="auto">
          <a:xfrm>
            <a:off x="2741613" y="3063766"/>
            <a:ext cx="55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CC</a:t>
            </a:r>
          </a:p>
        </p:txBody>
      </p:sp>
      <p:sp>
        <p:nvSpPr>
          <p:cNvPr id="57" name="Rectangle 80"/>
          <p:cNvSpPr>
            <a:spLocks noChangeArrowheads="1"/>
          </p:cNvSpPr>
          <p:nvPr/>
        </p:nvSpPr>
        <p:spPr bwMode="auto">
          <a:xfrm>
            <a:off x="3994150" y="28327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8" name="Text Box 81"/>
          <p:cNvSpPr txBox="1">
            <a:spLocks noChangeArrowheads="1"/>
          </p:cNvSpPr>
          <p:nvPr/>
        </p:nvSpPr>
        <p:spPr bwMode="auto">
          <a:xfrm>
            <a:off x="3489325" y="2473950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59" name="Freeform 82"/>
          <p:cNvSpPr>
            <a:spLocks/>
          </p:cNvSpPr>
          <p:nvPr/>
        </p:nvSpPr>
        <p:spPr bwMode="auto">
          <a:xfrm>
            <a:off x="2022475" y="2688263"/>
            <a:ext cx="168275" cy="433387"/>
          </a:xfrm>
          <a:custGeom>
            <a:avLst/>
            <a:gdLst>
              <a:gd name="T0" fmla="*/ 0 w 106"/>
              <a:gd name="T1" fmla="*/ 0 h 273"/>
              <a:gd name="T2" fmla="*/ 2147483646 w 106"/>
              <a:gd name="T3" fmla="*/ 2147483646 h 273"/>
              <a:gd name="T4" fmla="*/ 2147483646 w 106"/>
              <a:gd name="T5" fmla="*/ 2147483646 h 273"/>
              <a:gd name="T6" fmla="*/ 0 60000 65536"/>
              <a:gd name="T7" fmla="*/ 0 60000 65536"/>
              <a:gd name="T8" fmla="*/ 0 60000 65536"/>
              <a:gd name="T9" fmla="*/ 0 w 106"/>
              <a:gd name="T10" fmla="*/ 0 h 273"/>
              <a:gd name="T11" fmla="*/ 106 w 106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273">
                <a:moveTo>
                  <a:pt x="0" y="0"/>
                </a:moveTo>
                <a:cubicBezTo>
                  <a:pt x="38" y="46"/>
                  <a:pt x="76" y="92"/>
                  <a:pt x="91" y="137"/>
                </a:cubicBezTo>
                <a:cubicBezTo>
                  <a:pt x="106" y="182"/>
                  <a:pt x="98" y="227"/>
                  <a:pt x="91" y="27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0" name="Text Box 84"/>
          <p:cNvSpPr txBox="1">
            <a:spLocks noChangeArrowheads="1"/>
          </p:cNvSpPr>
          <p:nvPr/>
        </p:nvSpPr>
        <p:spPr bwMode="auto">
          <a:xfrm>
            <a:off x="2209800" y="2523163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61" name="Freeform 86"/>
          <p:cNvSpPr>
            <a:spLocks/>
          </p:cNvSpPr>
          <p:nvPr/>
        </p:nvSpPr>
        <p:spPr bwMode="auto">
          <a:xfrm>
            <a:off x="3895725" y="1275388"/>
            <a:ext cx="360363" cy="288925"/>
          </a:xfrm>
          <a:custGeom>
            <a:avLst/>
            <a:gdLst>
              <a:gd name="T0" fmla="*/ 0 w 227"/>
              <a:gd name="T1" fmla="*/ 0 h 182"/>
              <a:gd name="T2" fmla="*/ 2147483646 w 227"/>
              <a:gd name="T3" fmla="*/ 2147483646 h 182"/>
              <a:gd name="T4" fmla="*/ 2147483646 w 227"/>
              <a:gd name="T5" fmla="*/ 2147483646 h 182"/>
              <a:gd name="T6" fmla="*/ 0 60000 65536"/>
              <a:gd name="T7" fmla="*/ 0 60000 65536"/>
              <a:gd name="T8" fmla="*/ 0 60000 65536"/>
              <a:gd name="T9" fmla="*/ 0 w 227"/>
              <a:gd name="T10" fmla="*/ 0 h 182"/>
              <a:gd name="T11" fmla="*/ 227 w 227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182">
                <a:moveTo>
                  <a:pt x="0" y="0"/>
                </a:moveTo>
                <a:cubicBezTo>
                  <a:pt x="26" y="53"/>
                  <a:pt x="53" y="106"/>
                  <a:pt x="91" y="136"/>
                </a:cubicBezTo>
                <a:cubicBezTo>
                  <a:pt x="129" y="166"/>
                  <a:pt x="178" y="174"/>
                  <a:pt x="227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2" name="Text Box 121"/>
          <p:cNvSpPr txBox="1">
            <a:spLocks noChangeArrowheads="1"/>
          </p:cNvSpPr>
          <p:nvPr/>
        </p:nvSpPr>
        <p:spPr bwMode="auto">
          <a:xfrm>
            <a:off x="1233505" y="926138"/>
            <a:ext cx="1255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 = alfa</a:t>
            </a:r>
          </a:p>
        </p:txBody>
      </p:sp>
      <p:sp>
        <p:nvSpPr>
          <p:cNvPr id="63" name="Text Box 121"/>
          <p:cNvSpPr txBox="1">
            <a:spLocks noChangeArrowheads="1"/>
          </p:cNvSpPr>
          <p:nvPr/>
        </p:nvSpPr>
        <p:spPr bwMode="auto">
          <a:xfrm>
            <a:off x="1235092" y="1357938"/>
            <a:ext cx="1324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 = beta</a:t>
            </a:r>
          </a:p>
        </p:txBody>
      </p:sp>
      <p:sp>
        <p:nvSpPr>
          <p:cNvPr id="64" name="Text Box 84"/>
          <p:cNvSpPr txBox="1">
            <a:spLocks noChangeArrowheads="1"/>
          </p:cNvSpPr>
          <p:nvPr/>
        </p:nvSpPr>
        <p:spPr bwMode="auto">
          <a:xfrm>
            <a:off x="3779838" y="1502400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48" name="Text Box 85"/>
          <p:cNvSpPr txBox="1">
            <a:spLocks noChangeArrowheads="1"/>
          </p:cNvSpPr>
          <p:nvPr/>
        </p:nvSpPr>
        <p:spPr bwMode="auto">
          <a:xfrm>
            <a:off x="5104718" y="952405"/>
            <a:ext cx="3057440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Triángulo Rectángulo</a:t>
            </a:r>
          </a:p>
        </p:txBody>
      </p:sp>
      <p:sp>
        <p:nvSpPr>
          <p:cNvPr id="6" name="Text Box 102">
            <a:extLst>
              <a:ext uri="{FF2B5EF4-FFF2-40B4-BE49-F238E27FC236}">
                <a16:creationId xmlns:a16="http://schemas.microsoft.com/office/drawing/2014/main" id="{AB7A1133-D436-BAF2-B85F-FAD979C0E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2804269"/>
            <a:ext cx="30748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  = </a:t>
            </a:r>
            <a:r>
              <a:rPr lang="es-ES" sz="2400" dirty="0" err="1">
                <a:latin typeface="Trebuchet MS" panose="020B0603020202020204" pitchFamily="34" charset="0"/>
                <a:sym typeface="Symbol" panose="05050102010706020507" pitchFamily="18" charset="2"/>
              </a:rPr>
              <a:t>arctg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(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7" name="Text Box 101">
            <a:extLst>
              <a:ext uri="{FF2B5EF4-FFF2-40B4-BE49-F238E27FC236}">
                <a16:creationId xmlns:a16="http://schemas.microsoft.com/office/drawing/2014/main" id="{E5687D99-E27F-1211-961F-349E1A713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784" y="3668365"/>
            <a:ext cx="3052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  = arccos(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" name="Text Box 101">
            <a:extLst>
              <a:ext uri="{FF2B5EF4-FFF2-40B4-BE49-F238E27FC236}">
                <a16:creationId xmlns:a16="http://schemas.microsoft.com/office/drawing/2014/main" id="{51C4A83F-2B93-FB6F-6E49-0A25F8AA9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734" y="4845918"/>
            <a:ext cx="2898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  = arcsin(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/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6" grpId="0"/>
      <p:bldP spid="70757" grpId="0"/>
      <p:bldP spid="70758" grpId="0"/>
      <p:bldP spid="31792" grpId="0"/>
      <p:bldP spid="31790" grpId="0"/>
      <p:bldP spid="46" grpId="0" animBg="1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411413" y="332656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TRIGONOMETRÍA</a:t>
            </a:r>
          </a:p>
        </p:txBody>
      </p:sp>
      <p:sp>
        <p:nvSpPr>
          <p:cNvPr id="53" name="AutoShape 76"/>
          <p:cNvSpPr>
            <a:spLocks noChangeArrowheads="1"/>
          </p:cNvSpPr>
          <p:nvPr/>
        </p:nvSpPr>
        <p:spPr bwMode="auto">
          <a:xfrm rot="-5400000">
            <a:off x="1762919" y="601494"/>
            <a:ext cx="2160587" cy="2879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2665502" y="1566627"/>
            <a:ext cx="38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</a:t>
            </a: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4283968" y="1859588"/>
            <a:ext cx="575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CO</a:t>
            </a:r>
          </a:p>
        </p:txBody>
      </p:sp>
      <p:sp>
        <p:nvSpPr>
          <p:cNvPr id="56" name="Text Box 79"/>
          <p:cNvSpPr txBox="1">
            <a:spLocks noChangeArrowheads="1"/>
          </p:cNvSpPr>
          <p:nvPr/>
        </p:nvSpPr>
        <p:spPr bwMode="auto">
          <a:xfrm>
            <a:off x="2741613" y="3063766"/>
            <a:ext cx="55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CC</a:t>
            </a:r>
          </a:p>
        </p:txBody>
      </p:sp>
      <p:sp>
        <p:nvSpPr>
          <p:cNvPr id="57" name="Rectangle 80"/>
          <p:cNvSpPr>
            <a:spLocks noChangeArrowheads="1"/>
          </p:cNvSpPr>
          <p:nvPr/>
        </p:nvSpPr>
        <p:spPr bwMode="auto">
          <a:xfrm>
            <a:off x="3994150" y="28327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8" name="Text Box 81"/>
          <p:cNvSpPr txBox="1">
            <a:spLocks noChangeArrowheads="1"/>
          </p:cNvSpPr>
          <p:nvPr/>
        </p:nvSpPr>
        <p:spPr bwMode="auto">
          <a:xfrm>
            <a:off x="3489325" y="2473950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59" name="Freeform 82"/>
          <p:cNvSpPr>
            <a:spLocks/>
          </p:cNvSpPr>
          <p:nvPr/>
        </p:nvSpPr>
        <p:spPr bwMode="auto">
          <a:xfrm>
            <a:off x="2022475" y="2688263"/>
            <a:ext cx="168275" cy="433387"/>
          </a:xfrm>
          <a:custGeom>
            <a:avLst/>
            <a:gdLst>
              <a:gd name="T0" fmla="*/ 0 w 106"/>
              <a:gd name="T1" fmla="*/ 0 h 273"/>
              <a:gd name="T2" fmla="*/ 2147483646 w 106"/>
              <a:gd name="T3" fmla="*/ 2147483646 h 273"/>
              <a:gd name="T4" fmla="*/ 2147483646 w 106"/>
              <a:gd name="T5" fmla="*/ 2147483646 h 273"/>
              <a:gd name="T6" fmla="*/ 0 60000 65536"/>
              <a:gd name="T7" fmla="*/ 0 60000 65536"/>
              <a:gd name="T8" fmla="*/ 0 60000 65536"/>
              <a:gd name="T9" fmla="*/ 0 w 106"/>
              <a:gd name="T10" fmla="*/ 0 h 273"/>
              <a:gd name="T11" fmla="*/ 106 w 106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273">
                <a:moveTo>
                  <a:pt x="0" y="0"/>
                </a:moveTo>
                <a:cubicBezTo>
                  <a:pt x="38" y="46"/>
                  <a:pt x="76" y="92"/>
                  <a:pt x="91" y="137"/>
                </a:cubicBezTo>
                <a:cubicBezTo>
                  <a:pt x="106" y="182"/>
                  <a:pt x="98" y="227"/>
                  <a:pt x="91" y="27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0" name="Text Box 84"/>
          <p:cNvSpPr txBox="1">
            <a:spLocks noChangeArrowheads="1"/>
          </p:cNvSpPr>
          <p:nvPr/>
        </p:nvSpPr>
        <p:spPr bwMode="auto">
          <a:xfrm>
            <a:off x="2209800" y="2523163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61" name="Freeform 86"/>
          <p:cNvSpPr>
            <a:spLocks/>
          </p:cNvSpPr>
          <p:nvPr/>
        </p:nvSpPr>
        <p:spPr bwMode="auto">
          <a:xfrm>
            <a:off x="3895725" y="1275388"/>
            <a:ext cx="360363" cy="288925"/>
          </a:xfrm>
          <a:custGeom>
            <a:avLst/>
            <a:gdLst>
              <a:gd name="T0" fmla="*/ 0 w 227"/>
              <a:gd name="T1" fmla="*/ 0 h 182"/>
              <a:gd name="T2" fmla="*/ 2147483646 w 227"/>
              <a:gd name="T3" fmla="*/ 2147483646 h 182"/>
              <a:gd name="T4" fmla="*/ 2147483646 w 227"/>
              <a:gd name="T5" fmla="*/ 2147483646 h 182"/>
              <a:gd name="T6" fmla="*/ 0 60000 65536"/>
              <a:gd name="T7" fmla="*/ 0 60000 65536"/>
              <a:gd name="T8" fmla="*/ 0 60000 65536"/>
              <a:gd name="T9" fmla="*/ 0 w 227"/>
              <a:gd name="T10" fmla="*/ 0 h 182"/>
              <a:gd name="T11" fmla="*/ 227 w 227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182">
                <a:moveTo>
                  <a:pt x="0" y="0"/>
                </a:moveTo>
                <a:cubicBezTo>
                  <a:pt x="26" y="53"/>
                  <a:pt x="53" y="106"/>
                  <a:pt x="91" y="136"/>
                </a:cubicBezTo>
                <a:cubicBezTo>
                  <a:pt x="129" y="166"/>
                  <a:pt x="178" y="174"/>
                  <a:pt x="227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2" name="Text Box 121"/>
          <p:cNvSpPr txBox="1">
            <a:spLocks noChangeArrowheads="1"/>
          </p:cNvSpPr>
          <p:nvPr/>
        </p:nvSpPr>
        <p:spPr bwMode="auto">
          <a:xfrm>
            <a:off x="1233505" y="926138"/>
            <a:ext cx="1255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 = alfa</a:t>
            </a:r>
          </a:p>
        </p:txBody>
      </p:sp>
      <p:sp>
        <p:nvSpPr>
          <p:cNvPr id="63" name="Text Box 121"/>
          <p:cNvSpPr txBox="1">
            <a:spLocks noChangeArrowheads="1"/>
          </p:cNvSpPr>
          <p:nvPr/>
        </p:nvSpPr>
        <p:spPr bwMode="auto">
          <a:xfrm>
            <a:off x="1235092" y="1357938"/>
            <a:ext cx="1324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 = beta</a:t>
            </a:r>
          </a:p>
        </p:txBody>
      </p:sp>
      <p:sp>
        <p:nvSpPr>
          <p:cNvPr id="64" name="Text Box 84"/>
          <p:cNvSpPr txBox="1">
            <a:spLocks noChangeArrowheads="1"/>
          </p:cNvSpPr>
          <p:nvPr/>
        </p:nvSpPr>
        <p:spPr bwMode="auto">
          <a:xfrm>
            <a:off x="3779838" y="1502400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48" name="Text Box 85"/>
          <p:cNvSpPr txBox="1">
            <a:spLocks noChangeArrowheads="1"/>
          </p:cNvSpPr>
          <p:nvPr/>
        </p:nvSpPr>
        <p:spPr bwMode="auto">
          <a:xfrm>
            <a:off x="5104718" y="952405"/>
            <a:ext cx="3057440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Triángulo Rectángulo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401866" y="5271591"/>
            <a:ext cx="2403222" cy="461665"/>
            <a:chOff x="5700760" y="4335487"/>
            <a:chExt cx="2403222" cy="461665"/>
          </a:xfrm>
        </p:grpSpPr>
        <p:sp>
          <p:nvSpPr>
            <p:cNvPr id="70" name="Text Box 100"/>
            <p:cNvSpPr txBox="1">
              <a:spLocks noChangeArrowheads="1"/>
            </p:cNvSpPr>
            <p:nvPr/>
          </p:nvSpPr>
          <p:spPr bwMode="auto">
            <a:xfrm>
              <a:off x="5700760" y="4335487"/>
              <a:ext cx="24032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|F</a:t>
              </a:r>
              <a:r>
                <a:rPr lang="es-ES" sz="2400" baseline="-250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O</a:t>
              </a: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</a:t>
              </a: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|F|</a:t>
              </a: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 sin </a:t>
              </a:r>
            </a:p>
          </p:txBody>
        </p:sp>
        <p:sp>
          <p:nvSpPr>
            <p:cNvPr id="71" name="Line 91"/>
            <p:cNvSpPr>
              <a:spLocks noChangeShapeType="1"/>
            </p:cNvSpPr>
            <p:nvPr/>
          </p:nvSpPr>
          <p:spPr bwMode="auto">
            <a:xfrm>
              <a:off x="5940426" y="4403583"/>
              <a:ext cx="14446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>
                <a:solidFill>
                  <a:srgbClr val="FF0000"/>
                </a:solidFill>
              </a:endParaRPr>
            </a:p>
          </p:txBody>
        </p:sp>
        <p:sp>
          <p:nvSpPr>
            <p:cNvPr id="72" name="Line 90"/>
            <p:cNvSpPr>
              <a:spLocks noChangeShapeType="1"/>
            </p:cNvSpPr>
            <p:nvPr/>
          </p:nvSpPr>
          <p:spPr bwMode="auto">
            <a:xfrm>
              <a:off x="6947818" y="4393286"/>
              <a:ext cx="144462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>
                <a:solidFill>
                  <a:srgbClr val="3333FF"/>
                </a:solidFill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5401866" y="4661960"/>
            <a:ext cx="2428870" cy="461665"/>
            <a:chOff x="5662031" y="5775647"/>
            <a:chExt cx="2428870" cy="461665"/>
          </a:xfrm>
        </p:grpSpPr>
        <p:sp>
          <p:nvSpPr>
            <p:cNvPr id="73" name="Text Box 100"/>
            <p:cNvSpPr txBox="1">
              <a:spLocks noChangeArrowheads="1"/>
            </p:cNvSpPr>
            <p:nvPr/>
          </p:nvSpPr>
          <p:spPr bwMode="auto">
            <a:xfrm>
              <a:off x="5662031" y="5775647"/>
              <a:ext cx="24288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|F</a:t>
              </a:r>
              <a:r>
                <a:rPr lang="es-ES" sz="2400" baseline="-250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C</a:t>
              </a: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</a:t>
              </a: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|F|</a:t>
              </a:r>
              <a:r>
                <a:rPr lang="es-ES" sz="2400">
                  <a:latin typeface="Trebuchet MS" panose="020B0603020202020204" pitchFamily="34" charset="0"/>
                  <a:sym typeface="Symbol" panose="05050102010706020507" pitchFamily="18" charset="2"/>
                </a:rPr>
                <a:t> cos </a:t>
              </a:r>
            </a:p>
          </p:txBody>
        </p:sp>
        <p:sp>
          <p:nvSpPr>
            <p:cNvPr id="74" name="Line 91"/>
            <p:cNvSpPr>
              <a:spLocks noChangeShapeType="1"/>
            </p:cNvSpPr>
            <p:nvPr/>
          </p:nvSpPr>
          <p:spPr bwMode="auto">
            <a:xfrm>
              <a:off x="5901697" y="5843743"/>
              <a:ext cx="14446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>
                <a:solidFill>
                  <a:srgbClr val="FF0000"/>
                </a:solidFill>
              </a:endParaRPr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6875810" y="5833446"/>
              <a:ext cx="144462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>
                <a:solidFill>
                  <a:srgbClr val="3333FF"/>
                </a:solidFill>
              </a:endParaRPr>
            </a:p>
          </p:txBody>
        </p:sp>
      </p:grpSp>
      <p:sp>
        <p:nvSpPr>
          <p:cNvPr id="43" name="Text Box 85"/>
          <p:cNvSpPr txBox="1">
            <a:spLocks noChangeArrowheads="1"/>
          </p:cNvSpPr>
          <p:nvPr/>
        </p:nvSpPr>
        <p:spPr bwMode="auto">
          <a:xfrm>
            <a:off x="5148064" y="3812282"/>
            <a:ext cx="3425938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Módulo de Componente</a:t>
            </a:r>
          </a:p>
        </p:txBody>
      </p:sp>
      <p:sp>
        <p:nvSpPr>
          <p:cNvPr id="44" name="Text Box 100">
            <a:extLst>
              <a:ext uri="{FF2B5EF4-FFF2-40B4-BE49-F238E27FC236}">
                <a16:creationId xmlns:a16="http://schemas.microsoft.com/office/drawing/2014/main" id="{C37CF5DD-5136-4AD2-8CE0-4BCB1E174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706" y="2463279"/>
            <a:ext cx="2483371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=  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sin </a:t>
            </a:r>
          </a:p>
        </p:txBody>
      </p:sp>
      <p:sp>
        <p:nvSpPr>
          <p:cNvPr id="45" name="Text Box 101">
            <a:extLst>
              <a:ext uri="{FF2B5EF4-FFF2-40B4-BE49-F238E27FC236}">
                <a16:creationId xmlns:a16="http://schemas.microsoft.com/office/drawing/2014/main" id="{91259E81-3D16-482F-998E-1711E78C3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735" y="1879183"/>
            <a:ext cx="2483372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=  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cos 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37A607E-6B64-A847-1910-238A280B18EA}"/>
              </a:ext>
            </a:extLst>
          </p:cNvPr>
          <p:cNvGrpSpPr/>
          <p:nvPr/>
        </p:nvGrpSpPr>
        <p:grpSpPr>
          <a:xfrm>
            <a:off x="1403350" y="3829455"/>
            <a:ext cx="3493552" cy="2695889"/>
            <a:chOff x="1403350" y="3829455"/>
            <a:chExt cx="3493552" cy="2695889"/>
          </a:xfrm>
        </p:grpSpPr>
        <p:grpSp>
          <p:nvGrpSpPr>
            <p:cNvPr id="2" name="Grupo 1"/>
            <p:cNvGrpSpPr/>
            <p:nvPr/>
          </p:nvGrpSpPr>
          <p:grpSpPr>
            <a:xfrm>
              <a:off x="1403350" y="3829455"/>
              <a:ext cx="3493552" cy="2695889"/>
              <a:chOff x="1403350" y="3829455"/>
              <a:chExt cx="3493552" cy="2695889"/>
            </a:xfrm>
          </p:grpSpPr>
          <p:sp>
            <p:nvSpPr>
              <p:cNvPr id="29" name="Line 62"/>
              <p:cNvSpPr>
                <a:spLocks noChangeShapeType="1"/>
              </p:cNvSpPr>
              <p:nvPr/>
            </p:nvSpPr>
            <p:spPr bwMode="auto">
              <a:xfrm flipV="1">
                <a:off x="4281488" y="3829455"/>
                <a:ext cx="22028" cy="21590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30" name="Text Box 64"/>
              <p:cNvSpPr txBox="1">
                <a:spLocks noChangeArrowheads="1"/>
              </p:cNvSpPr>
              <p:nvPr/>
            </p:nvSpPr>
            <p:spPr bwMode="auto">
              <a:xfrm>
                <a:off x="4412474" y="4869160"/>
                <a:ext cx="48442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O</a:t>
                </a:r>
                <a:endParaRPr lang="es-ES" sz="240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31" name="Line 91"/>
              <p:cNvSpPr>
                <a:spLocks noChangeShapeType="1"/>
              </p:cNvSpPr>
              <p:nvPr/>
            </p:nvSpPr>
            <p:spPr bwMode="auto">
              <a:xfrm>
                <a:off x="4530361" y="4913609"/>
                <a:ext cx="144463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Line 90"/>
              <p:cNvSpPr>
                <a:spLocks noChangeShapeType="1"/>
              </p:cNvSpPr>
              <p:nvPr/>
            </p:nvSpPr>
            <p:spPr bwMode="auto">
              <a:xfrm>
                <a:off x="2740276" y="4437043"/>
                <a:ext cx="144462" cy="0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>
                  <a:solidFill>
                    <a:srgbClr val="3333FF"/>
                  </a:solidFill>
                </a:endParaRPr>
              </a:p>
            </p:txBody>
          </p:sp>
          <p:sp>
            <p:nvSpPr>
              <p:cNvPr id="34" name="Line 92"/>
              <p:cNvSpPr>
                <a:spLocks noChangeShapeType="1"/>
              </p:cNvSpPr>
              <p:nvPr/>
            </p:nvSpPr>
            <p:spPr bwMode="auto">
              <a:xfrm>
                <a:off x="2859125" y="6139172"/>
                <a:ext cx="14446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Line 61"/>
              <p:cNvSpPr>
                <a:spLocks noChangeShapeType="1"/>
              </p:cNvSpPr>
              <p:nvPr/>
            </p:nvSpPr>
            <p:spPr bwMode="auto">
              <a:xfrm flipV="1">
                <a:off x="1403350" y="5994591"/>
                <a:ext cx="2892218" cy="724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38" name="Text Box 63"/>
              <p:cNvSpPr txBox="1">
                <a:spLocks noChangeArrowheads="1"/>
              </p:cNvSpPr>
              <p:nvPr/>
            </p:nvSpPr>
            <p:spPr bwMode="auto">
              <a:xfrm>
                <a:off x="2639222" y="4399969"/>
                <a:ext cx="34657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Trebuchet MS" panose="020B0603020202020204" pitchFamily="34" charset="0"/>
                  </a:rPr>
                  <a:t>F</a:t>
                </a:r>
              </a:p>
            </p:txBody>
          </p:sp>
          <p:sp>
            <p:nvSpPr>
              <p:cNvPr id="39" name="Text Box 65"/>
              <p:cNvSpPr txBox="1">
                <a:spLocks noChangeArrowheads="1"/>
              </p:cNvSpPr>
              <p:nvPr/>
            </p:nvSpPr>
            <p:spPr bwMode="auto">
              <a:xfrm>
                <a:off x="2754686" y="6063679"/>
                <a:ext cx="470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C</a:t>
                </a:r>
              </a:p>
            </p:txBody>
          </p:sp>
          <p:sp>
            <p:nvSpPr>
              <p:cNvPr id="42" name="Line 60"/>
              <p:cNvSpPr>
                <a:spLocks noChangeShapeType="1"/>
              </p:cNvSpPr>
              <p:nvPr/>
            </p:nvSpPr>
            <p:spPr bwMode="auto">
              <a:xfrm flipV="1">
                <a:off x="1422080" y="3845098"/>
                <a:ext cx="2873488" cy="2137221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68" name="Freeform 82"/>
              <p:cNvSpPr>
                <a:spLocks/>
              </p:cNvSpPr>
              <p:nvPr/>
            </p:nvSpPr>
            <p:spPr bwMode="auto">
              <a:xfrm>
                <a:off x="2009318" y="5539091"/>
                <a:ext cx="168275" cy="433387"/>
              </a:xfrm>
              <a:custGeom>
                <a:avLst/>
                <a:gdLst>
                  <a:gd name="T0" fmla="*/ 0 w 106"/>
                  <a:gd name="T1" fmla="*/ 0 h 273"/>
                  <a:gd name="T2" fmla="*/ 2147483646 w 106"/>
                  <a:gd name="T3" fmla="*/ 2147483646 h 273"/>
                  <a:gd name="T4" fmla="*/ 2147483646 w 106"/>
                  <a:gd name="T5" fmla="*/ 2147483646 h 273"/>
                  <a:gd name="T6" fmla="*/ 0 60000 65536"/>
                  <a:gd name="T7" fmla="*/ 0 60000 65536"/>
                  <a:gd name="T8" fmla="*/ 0 60000 65536"/>
                  <a:gd name="T9" fmla="*/ 0 w 106"/>
                  <a:gd name="T10" fmla="*/ 0 h 273"/>
                  <a:gd name="T11" fmla="*/ 106 w 106"/>
                  <a:gd name="T12" fmla="*/ 273 h 2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6" h="273">
                    <a:moveTo>
                      <a:pt x="0" y="0"/>
                    </a:moveTo>
                    <a:cubicBezTo>
                      <a:pt x="38" y="46"/>
                      <a:pt x="76" y="92"/>
                      <a:pt x="91" y="137"/>
                    </a:cubicBezTo>
                    <a:cubicBezTo>
                      <a:pt x="106" y="182"/>
                      <a:pt x="98" y="227"/>
                      <a:pt x="91" y="27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GB" sz="2400"/>
              </a:p>
            </p:txBody>
          </p:sp>
          <p:sp>
            <p:nvSpPr>
              <p:cNvPr id="69" name="Text Box 84"/>
              <p:cNvSpPr txBox="1">
                <a:spLocks noChangeArrowheads="1"/>
              </p:cNvSpPr>
              <p:nvPr/>
            </p:nvSpPr>
            <p:spPr bwMode="auto">
              <a:xfrm>
                <a:off x="2196643" y="5373991"/>
                <a:ext cx="37623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  <a:sym typeface="Symbol" panose="05050102010706020507" pitchFamily="18" charset="2"/>
                  </a:rPr>
                  <a:t></a:t>
                </a:r>
              </a:p>
            </p:txBody>
          </p:sp>
        </p:grpSp>
        <p:sp>
          <p:nvSpPr>
            <p:cNvPr id="6" name="Text Box 82">
              <a:extLst>
                <a:ext uri="{FF2B5EF4-FFF2-40B4-BE49-F238E27FC236}">
                  <a16:creationId xmlns:a16="http://schemas.microsoft.com/office/drawing/2014/main" id="{20ED0C28-5A64-17F5-1EB6-3150B4C0A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362" y="3917729"/>
              <a:ext cx="535724" cy="46166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2D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616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24A57FF-7764-37B2-F638-08B469C45405}"/>
              </a:ext>
            </a:extLst>
          </p:cNvPr>
          <p:cNvSpPr/>
          <p:nvPr/>
        </p:nvSpPr>
        <p:spPr bwMode="auto">
          <a:xfrm>
            <a:off x="4138456" y="3645024"/>
            <a:ext cx="4390128" cy="262210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7158705-E9BC-4901-9E15-80C99F3C3291}"/>
              </a:ext>
            </a:extLst>
          </p:cNvPr>
          <p:cNvGrpSpPr/>
          <p:nvPr/>
        </p:nvGrpSpPr>
        <p:grpSpPr>
          <a:xfrm>
            <a:off x="6657415" y="4674868"/>
            <a:ext cx="411723" cy="461665"/>
            <a:chOff x="6747584" y="4474491"/>
            <a:chExt cx="411723" cy="461665"/>
          </a:xfrm>
        </p:grpSpPr>
        <p:sp>
          <p:nvSpPr>
            <p:cNvPr id="31788" name="Freeform 69"/>
            <p:cNvSpPr>
              <a:spLocks/>
            </p:cNvSpPr>
            <p:nvPr/>
          </p:nvSpPr>
          <p:spPr bwMode="auto">
            <a:xfrm>
              <a:off x="6747584" y="4653880"/>
              <a:ext cx="82555" cy="215900"/>
            </a:xfrm>
            <a:custGeom>
              <a:avLst/>
              <a:gdLst>
                <a:gd name="T0" fmla="*/ 45 w 52"/>
                <a:gd name="T1" fmla="*/ 136 h 136"/>
                <a:gd name="T2" fmla="*/ 45 w 52"/>
                <a:gd name="T3" fmla="*/ 45 h 136"/>
                <a:gd name="T4" fmla="*/ 0 w 52"/>
                <a:gd name="T5" fmla="*/ 0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36">
                  <a:moveTo>
                    <a:pt x="45" y="136"/>
                  </a:moveTo>
                  <a:cubicBezTo>
                    <a:pt x="48" y="102"/>
                    <a:pt x="52" y="68"/>
                    <a:pt x="45" y="45"/>
                  </a:cubicBezTo>
                  <a:cubicBezTo>
                    <a:pt x="38" y="22"/>
                    <a:pt x="19" y="11"/>
                    <a:pt x="0" y="0"/>
                  </a:cubicBezTo>
                </a:path>
              </a:pathLst>
            </a:cu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31774" name="CuadroTexto 1"/>
            <p:cNvSpPr txBox="1">
              <a:spLocks noChangeArrowheads="1"/>
            </p:cNvSpPr>
            <p:nvPr/>
          </p:nvSpPr>
          <p:spPr bwMode="auto">
            <a:xfrm>
              <a:off x="6780676" y="4474491"/>
              <a:ext cx="3786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Trebuchet MS" panose="020B0603020202020204" pitchFamily="34" charset="0"/>
                  <a:sym typeface="Symbol" panose="05050102010706020507" pitchFamily="18" charset="2"/>
                </a:rPr>
                <a:t></a:t>
              </a:r>
              <a:endParaRPr lang="es-ES" sz="2400">
                <a:solidFill>
                  <a:srgbClr val="008000"/>
                </a:solidFill>
                <a:latin typeface="Trebuchet MS" panose="020B0603020202020204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AC1F421-D2EB-4C80-BB08-0B74D1301616}"/>
              </a:ext>
            </a:extLst>
          </p:cNvPr>
          <p:cNvGrpSpPr/>
          <p:nvPr/>
        </p:nvGrpSpPr>
        <p:grpSpPr>
          <a:xfrm>
            <a:off x="5850745" y="3947142"/>
            <a:ext cx="2702956" cy="1865636"/>
            <a:chOff x="5955520" y="3724544"/>
            <a:chExt cx="2702956" cy="1865636"/>
          </a:xfrm>
        </p:grpSpPr>
        <p:sp>
          <p:nvSpPr>
            <p:cNvPr id="31769" name="CuadroTexto 1"/>
            <p:cNvSpPr txBox="1">
              <a:spLocks noChangeArrowheads="1"/>
            </p:cNvSpPr>
            <p:nvPr/>
          </p:nvSpPr>
          <p:spPr bwMode="auto">
            <a:xfrm>
              <a:off x="6631958" y="3724544"/>
              <a:ext cx="20265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1</a:t>
              </a:r>
              <a:r>
                <a:rPr lang="es-ES" sz="2400" baseline="30000">
                  <a:latin typeface="Trebuchet MS" panose="020B0603020202020204" pitchFamily="34" charset="0"/>
                </a:rPr>
                <a:t>er</a:t>
              </a:r>
              <a:r>
                <a:rPr lang="es-ES" sz="2400">
                  <a:latin typeface="Trebuchet MS" panose="020B0603020202020204" pitchFamily="34" charset="0"/>
                </a:rPr>
                <a:t> cuadrante</a:t>
              </a:r>
            </a:p>
          </p:txBody>
        </p:sp>
        <p:sp>
          <p:nvSpPr>
            <p:cNvPr id="31770" name="CuadroTexto 47"/>
            <p:cNvSpPr txBox="1">
              <a:spLocks noChangeArrowheads="1"/>
            </p:cNvSpPr>
            <p:nvPr/>
          </p:nvSpPr>
          <p:spPr bwMode="auto">
            <a:xfrm>
              <a:off x="5955520" y="4376512"/>
              <a:ext cx="4603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2º</a:t>
              </a:r>
            </a:p>
          </p:txBody>
        </p:sp>
        <p:sp>
          <p:nvSpPr>
            <p:cNvPr id="31771" name="CuadroTexto 48"/>
            <p:cNvSpPr txBox="1">
              <a:spLocks noChangeArrowheads="1"/>
            </p:cNvSpPr>
            <p:nvPr/>
          </p:nvSpPr>
          <p:spPr bwMode="auto">
            <a:xfrm>
              <a:off x="5956593" y="4942108"/>
              <a:ext cx="4603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3º</a:t>
              </a:r>
            </a:p>
          </p:txBody>
        </p:sp>
        <p:sp>
          <p:nvSpPr>
            <p:cNvPr id="31772" name="CuadroTexto 49"/>
            <p:cNvSpPr txBox="1">
              <a:spLocks noChangeArrowheads="1"/>
            </p:cNvSpPr>
            <p:nvPr/>
          </p:nvSpPr>
          <p:spPr bwMode="auto">
            <a:xfrm>
              <a:off x="6574480" y="5128515"/>
              <a:ext cx="4603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4º</a:t>
              </a:r>
            </a:p>
          </p:txBody>
        </p:sp>
      </p:grpSp>
      <p:sp>
        <p:nvSpPr>
          <p:cNvPr id="69" name="Line 64">
            <a:extLst>
              <a:ext uri="{FF2B5EF4-FFF2-40B4-BE49-F238E27FC236}">
                <a16:creationId xmlns:a16="http://schemas.microsoft.com/office/drawing/2014/main" id="{B43719FB-A024-4157-8935-0B7BB352D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380" y="4528441"/>
            <a:ext cx="0" cy="5762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BDF4D3E-4F99-4FA6-838B-E2464D9B0084}"/>
              </a:ext>
            </a:extLst>
          </p:cNvPr>
          <p:cNvGrpSpPr/>
          <p:nvPr/>
        </p:nvGrpSpPr>
        <p:grpSpPr>
          <a:xfrm>
            <a:off x="5274299" y="3693790"/>
            <a:ext cx="2535961" cy="2478088"/>
            <a:chOff x="5379074" y="3471192"/>
            <a:chExt cx="2535961" cy="2478088"/>
          </a:xfrm>
        </p:grpSpPr>
        <p:sp>
          <p:nvSpPr>
            <p:cNvPr id="31779" name="Oval 59"/>
            <p:cNvSpPr>
              <a:spLocks noChangeArrowheads="1"/>
            </p:cNvSpPr>
            <p:nvPr/>
          </p:nvSpPr>
          <p:spPr bwMode="auto">
            <a:xfrm>
              <a:off x="5666429" y="4077617"/>
              <a:ext cx="1728895" cy="158432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31780" name="Line 60"/>
            <p:cNvSpPr>
              <a:spLocks noChangeShapeType="1"/>
            </p:cNvSpPr>
            <p:nvPr/>
          </p:nvSpPr>
          <p:spPr bwMode="auto">
            <a:xfrm>
              <a:off x="6531671" y="3788692"/>
              <a:ext cx="0" cy="2160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31781" name="Line 61"/>
            <p:cNvSpPr>
              <a:spLocks noChangeShapeType="1"/>
            </p:cNvSpPr>
            <p:nvPr/>
          </p:nvSpPr>
          <p:spPr bwMode="auto">
            <a:xfrm>
              <a:off x="5379074" y="4869780"/>
              <a:ext cx="2376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31777" name="Text Box 78"/>
            <p:cNvSpPr txBox="1">
              <a:spLocks noChangeArrowheads="1"/>
            </p:cNvSpPr>
            <p:nvPr/>
          </p:nvSpPr>
          <p:spPr bwMode="auto">
            <a:xfrm>
              <a:off x="7558847" y="4793580"/>
              <a:ext cx="3561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31778" name="Text Box 79"/>
            <p:cNvSpPr txBox="1">
              <a:spLocks noChangeArrowheads="1"/>
            </p:cNvSpPr>
            <p:nvPr/>
          </p:nvSpPr>
          <p:spPr bwMode="auto">
            <a:xfrm>
              <a:off x="6190337" y="3471192"/>
              <a:ext cx="3609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Y</a:t>
              </a:r>
            </a:p>
          </p:txBody>
        </p:sp>
      </p:grpSp>
      <p:sp>
        <p:nvSpPr>
          <p:cNvPr id="31793" name="Text Box 70"/>
          <p:cNvSpPr txBox="1">
            <a:spLocks noChangeArrowheads="1"/>
          </p:cNvSpPr>
          <p:nvPr/>
        </p:nvSpPr>
        <p:spPr bwMode="auto">
          <a:xfrm>
            <a:off x="2419107" y="3915440"/>
            <a:ext cx="1225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Si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 </a:t>
            </a:r>
            <a:r>
              <a:rPr lang="es-ES" sz="2400">
                <a:latin typeface="Trebuchet MS" panose="020B0603020202020204" pitchFamily="34" charset="0"/>
              </a:rPr>
              <a:t>=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 1</a:t>
            </a:r>
          </a:p>
        </p:txBody>
      </p:sp>
      <p:sp>
        <p:nvSpPr>
          <p:cNvPr id="31794" name="Text Box 71"/>
          <p:cNvSpPr txBox="1">
            <a:spLocks noChangeArrowheads="1"/>
          </p:cNvSpPr>
          <p:nvPr/>
        </p:nvSpPr>
        <p:spPr bwMode="auto">
          <a:xfrm>
            <a:off x="3012646" y="5355600"/>
            <a:ext cx="10144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=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 sin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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1795" name="Text Box 72"/>
          <p:cNvSpPr txBox="1">
            <a:spLocks noChangeArrowheads="1"/>
          </p:cNvSpPr>
          <p:nvPr/>
        </p:nvSpPr>
        <p:spPr bwMode="auto">
          <a:xfrm>
            <a:off x="3012646" y="4635520"/>
            <a:ext cx="10763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=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 cos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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9235" name="Text Box 83"/>
          <p:cNvSpPr txBox="1">
            <a:spLocks noChangeArrowheads="1"/>
          </p:cNvSpPr>
          <p:nvPr/>
        </p:nvSpPr>
        <p:spPr bwMode="auto">
          <a:xfrm>
            <a:off x="5108574" y="1796623"/>
            <a:ext cx="3423865" cy="120032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El seno y el coseno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varían entre +1 y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Trebuchet MS" panose="020B0603020202020204" pitchFamily="34" charset="0"/>
              </a:rPr>
              <a:t>1, donde el otro vale 0</a:t>
            </a:r>
          </a:p>
        </p:txBody>
      </p:sp>
      <p:sp>
        <p:nvSpPr>
          <p:cNvPr id="31792" name="Text Box 100"/>
          <p:cNvSpPr txBox="1">
            <a:spLocks noChangeArrowheads="1"/>
          </p:cNvSpPr>
          <p:nvPr/>
        </p:nvSpPr>
        <p:spPr bwMode="auto">
          <a:xfrm>
            <a:off x="1180161" y="5359918"/>
            <a:ext cx="1887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sin </a:t>
            </a:r>
          </a:p>
        </p:txBody>
      </p:sp>
      <p:sp>
        <p:nvSpPr>
          <p:cNvPr id="31790" name="Text Box 101"/>
          <p:cNvSpPr txBox="1">
            <a:spLocks noChangeArrowheads="1"/>
          </p:cNvSpPr>
          <p:nvPr/>
        </p:nvSpPr>
        <p:spPr bwMode="auto">
          <a:xfrm>
            <a:off x="1178574" y="4644607"/>
            <a:ext cx="19255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CC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cos </a:t>
            </a:r>
          </a:p>
        </p:txBody>
      </p:sp>
      <p:sp>
        <p:nvSpPr>
          <p:cNvPr id="31784" name="Line 65"/>
          <p:cNvSpPr>
            <a:spLocks noChangeShapeType="1"/>
          </p:cNvSpPr>
          <p:nvPr/>
        </p:nvSpPr>
        <p:spPr bwMode="auto">
          <a:xfrm rot="5400000">
            <a:off x="6718047" y="4804403"/>
            <a:ext cx="0" cy="5747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 sz="240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8C6A01E-6195-4FC7-B101-C070CBCDBD14}"/>
              </a:ext>
            </a:extLst>
          </p:cNvPr>
          <p:cNvGrpSpPr/>
          <p:nvPr/>
        </p:nvGrpSpPr>
        <p:grpSpPr>
          <a:xfrm>
            <a:off x="6426896" y="4341490"/>
            <a:ext cx="574711" cy="750888"/>
            <a:chOff x="6531671" y="4118892"/>
            <a:chExt cx="574711" cy="750888"/>
          </a:xfrm>
        </p:grpSpPr>
        <p:sp>
          <p:nvSpPr>
            <p:cNvPr id="31782" name="Line 62"/>
            <p:cNvSpPr>
              <a:spLocks noChangeShapeType="1"/>
            </p:cNvSpPr>
            <p:nvPr/>
          </p:nvSpPr>
          <p:spPr bwMode="auto">
            <a:xfrm flipV="1">
              <a:off x="6531671" y="4293517"/>
              <a:ext cx="574711" cy="576263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400"/>
            </a:p>
          </p:txBody>
        </p:sp>
        <p:sp>
          <p:nvSpPr>
            <p:cNvPr id="31785" name="Text Box 66"/>
            <p:cNvSpPr txBox="1">
              <a:spLocks noChangeArrowheads="1"/>
            </p:cNvSpPr>
            <p:nvPr/>
          </p:nvSpPr>
          <p:spPr bwMode="auto">
            <a:xfrm>
              <a:off x="6582474" y="4118892"/>
              <a:ext cx="34609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Trebuchet MS" panose="020B0603020202020204" pitchFamily="34" charset="0"/>
                </a:rPr>
                <a:t>1</a:t>
              </a:r>
            </a:p>
          </p:txBody>
        </p:sp>
      </p:grpSp>
      <p:sp>
        <p:nvSpPr>
          <p:cNvPr id="31786" name="Text Box 67"/>
          <p:cNvSpPr txBox="1">
            <a:spLocks noChangeArrowheads="1"/>
          </p:cNvSpPr>
          <p:nvPr/>
        </p:nvSpPr>
        <p:spPr bwMode="auto">
          <a:xfrm>
            <a:off x="7029479" y="4567609"/>
            <a:ext cx="336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y</a:t>
            </a:r>
          </a:p>
        </p:txBody>
      </p:sp>
      <p:sp>
        <p:nvSpPr>
          <p:cNvPr id="31787" name="Text Box 68"/>
          <p:cNvSpPr txBox="1">
            <a:spLocks noChangeArrowheads="1"/>
          </p:cNvSpPr>
          <p:nvPr/>
        </p:nvSpPr>
        <p:spPr bwMode="auto">
          <a:xfrm>
            <a:off x="6596399" y="5016178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31776" name="Oval 77"/>
          <p:cNvSpPr>
            <a:spLocks noChangeArrowheads="1"/>
          </p:cNvSpPr>
          <p:nvPr/>
        </p:nvSpPr>
        <p:spPr bwMode="auto">
          <a:xfrm>
            <a:off x="6955566" y="4444678"/>
            <a:ext cx="107957" cy="10795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411413" y="332656"/>
            <a:ext cx="5040312" cy="45333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992" tIns="41596" rIns="79992" bIns="41596">
            <a:spAutoFit/>
          </a:bodyPr>
          <a:lstStyle>
            <a:lvl1pPr defTabSz="812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12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12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12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12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12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TRIGONOMETRÍA</a:t>
            </a:r>
          </a:p>
        </p:txBody>
      </p:sp>
      <p:sp>
        <p:nvSpPr>
          <p:cNvPr id="53" name="AutoShape 76"/>
          <p:cNvSpPr>
            <a:spLocks noChangeArrowheads="1"/>
          </p:cNvSpPr>
          <p:nvPr/>
        </p:nvSpPr>
        <p:spPr bwMode="auto">
          <a:xfrm rot="-5400000">
            <a:off x="1762919" y="601494"/>
            <a:ext cx="2160587" cy="2879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2665502" y="1566627"/>
            <a:ext cx="386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H</a:t>
            </a: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4283968" y="1859588"/>
            <a:ext cx="575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CO</a:t>
            </a:r>
          </a:p>
        </p:txBody>
      </p:sp>
      <p:sp>
        <p:nvSpPr>
          <p:cNvPr id="56" name="Text Box 79"/>
          <p:cNvSpPr txBox="1">
            <a:spLocks noChangeArrowheads="1"/>
          </p:cNvSpPr>
          <p:nvPr/>
        </p:nvSpPr>
        <p:spPr bwMode="auto">
          <a:xfrm>
            <a:off x="2741613" y="3063766"/>
            <a:ext cx="55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CC</a:t>
            </a:r>
          </a:p>
        </p:txBody>
      </p:sp>
      <p:sp>
        <p:nvSpPr>
          <p:cNvPr id="57" name="Rectangle 80"/>
          <p:cNvSpPr>
            <a:spLocks noChangeArrowheads="1"/>
          </p:cNvSpPr>
          <p:nvPr/>
        </p:nvSpPr>
        <p:spPr bwMode="auto">
          <a:xfrm>
            <a:off x="3994150" y="2832725"/>
            <a:ext cx="287338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58" name="Text Box 81"/>
          <p:cNvSpPr txBox="1">
            <a:spLocks noChangeArrowheads="1"/>
          </p:cNvSpPr>
          <p:nvPr/>
        </p:nvSpPr>
        <p:spPr bwMode="auto">
          <a:xfrm>
            <a:off x="3489325" y="2473950"/>
            <a:ext cx="6222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90º</a:t>
            </a:r>
          </a:p>
        </p:txBody>
      </p:sp>
      <p:sp>
        <p:nvSpPr>
          <p:cNvPr id="59" name="Freeform 82"/>
          <p:cNvSpPr>
            <a:spLocks/>
          </p:cNvSpPr>
          <p:nvPr/>
        </p:nvSpPr>
        <p:spPr bwMode="auto">
          <a:xfrm>
            <a:off x="2022475" y="2688263"/>
            <a:ext cx="168275" cy="433387"/>
          </a:xfrm>
          <a:custGeom>
            <a:avLst/>
            <a:gdLst>
              <a:gd name="T0" fmla="*/ 0 w 106"/>
              <a:gd name="T1" fmla="*/ 0 h 273"/>
              <a:gd name="T2" fmla="*/ 2147483646 w 106"/>
              <a:gd name="T3" fmla="*/ 2147483646 h 273"/>
              <a:gd name="T4" fmla="*/ 2147483646 w 106"/>
              <a:gd name="T5" fmla="*/ 2147483646 h 273"/>
              <a:gd name="T6" fmla="*/ 0 60000 65536"/>
              <a:gd name="T7" fmla="*/ 0 60000 65536"/>
              <a:gd name="T8" fmla="*/ 0 60000 65536"/>
              <a:gd name="T9" fmla="*/ 0 w 106"/>
              <a:gd name="T10" fmla="*/ 0 h 273"/>
              <a:gd name="T11" fmla="*/ 106 w 106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273">
                <a:moveTo>
                  <a:pt x="0" y="0"/>
                </a:moveTo>
                <a:cubicBezTo>
                  <a:pt x="38" y="46"/>
                  <a:pt x="76" y="92"/>
                  <a:pt x="91" y="137"/>
                </a:cubicBezTo>
                <a:cubicBezTo>
                  <a:pt x="106" y="182"/>
                  <a:pt x="98" y="227"/>
                  <a:pt x="91" y="27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0" name="Text Box 84"/>
          <p:cNvSpPr txBox="1">
            <a:spLocks noChangeArrowheads="1"/>
          </p:cNvSpPr>
          <p:nvPr/>
        </p:nvSpPr>
        <p:spPr bwMode="auto">
          <a:xfrm>
            <a:off x="2209800" y="2523163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61" name="Freeform 86"/>
          <p:cNvSpPr>
            <a:spLocks/>
          </p:cNvSpPr>
          <p:nvPr/>
        </p:nvSpPr>
        <p:spPr bwMode="auto">
          <a:xfrm>
            <a:off x="3895725" y="1275388"/>
            <a:ext cx="360363" cy="288925"/>
          </a:xfrm>
          <a:custGeom>
            <a:avLst/>
            <a:gdLst>
              <a:gd name="T0" fmla="*/ 0 w 227"/>
              <a:gd name="T1" fmla="*/ 0 h 182"/>
              <a:gd name="T2" fmla="*/ 2147483646 w 227"/>
              <a:gd name="T3" fmla="*/ 2147483646 h 182"/>
              <a:gd name="T4" fmla="*/ 2147483646 w 227"/>
              <a:gd name="T5" fmla="*/ 2147483646 h 182"/>
              <a:gd name="T6" fmla="*/ 0 60000 65536"/>
              <a:gd name="T7" fmla="*/ 0 60000 65536"/>
              <a:gd name="T8" fmla="*/ 0 60000 65536"/>
              <a:gd name="T9" fmla="*/ 0 w 227"/>
              <a:gd name="T10" fmla="*/ 0 h 182"/>
              <a:gd name="T11" fmla="*/ 227 w 227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182">
                <a:moveTo>
                  <a:pt x="0" y="0"/>
                </a:moveTo>
                <a:cubicBezTo>
                  <a:pt x="26" y="53"/>
                  <a:pt x="53" y="106"/>
                  <a:pt x="91" y="136"/>
                </a:cubicBezTo>
                <a:cubicBezTo>
                  <a:pt x="129" y="166"/>
                  <a:pt x="178" y="174"/>
                  <a:pt x="227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 sz="2400"/>
          </a:p>
        </p:txBody>
      </p:sp>
      <p:sp>
        <p:nvSpPr>
          <p:cNvPr id="62" name="Text Box 121"/>
          <p:cNvSpPr txBox="1">
            <a:spLocks noChangeArrowheads="1"/>
          </p:cNvSpPr>
          <p:nvPr/>
        </p:nvSpPr>
        <p:spPr bwMode="auto">
          <a:xfrm>
            <a:off x="1233505" y="926138"/>
            <a:ext cx="1255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 = alfa</a:t>
            </a:r>
          </a:p>
        </p:txBody>
      </p:sp>
      <p:sp>
        <p:nvSpPr>
          <p:cNvPr id="63" name="Text Box 121"/>
          <p:cNvSpPr txBox="1">
            <a:spLocks noChangeArrowheads="1"/>
          </p:cNvSpPr>
          <p:nvPr/>
        </p:nvSpPr>
        <p:spPr bwMode="auto">
          <a:xfrm>
            <a:off x="1235092" y="1357938"/>
            <a:ext cx="1324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 = beta</a:t>
            </a:r>
          </a:p>
        </p:txBody>
      </p:sp>
      <p:sp>
        <p:nvSpPr>
          <p:cNvPr id="64" name="Text Box 84"/>
          <p:cNvSpPr txBox="1">
            <a:spLocks noChangeArrowheads="1"/>
          </p:cNvSpPr>
          <p:nvPr/>
        </p:nvSpPr>
        <p:spPr bwMode="auto">
          <a:xfrm>
            <a:off x="3779838" y="1502400"/>
            <a:ext cx="350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48" name="Text Box 85"/>
          <p:cNvSpPr txBox="1">
            <a:spLocks noChangeArrowheads="1"/>
          </p:cNvSpPr>
          <p:nvPr/>
        </p:nvSpPr>
        <p:spPr bwMode="auto">
          <a:xfrm>
            <a:off x="5104718" y="952405"/>
            <a:ext cx="3057440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Triángulo Rectángulo</a:t>
            </a: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9090CA08-85A2-4713-9C97-67314033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621" y="4651423"/>
            <a:ext cx="6014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=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67" name="Text Box 70">
            <a:extLst>
              <a:ext uri="{FF2B5EF4-FFF2-40B4-BE49-F238E27FC236}">
                <a16:creationId xmlns:a16="http://schemas.microsoft.com/office/drawing/2014/main" id="{872F1C59-FA13-4E14-BAE1-2AF6B955C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052" y="5336350"/>
            <a:ext cx="6014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=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y</a:t>
            </a:r>
          </a:p>
        </p:txBody>
      </p:sp>
      <p:sp>
        <p:nvSpPr>
          <p:cNvPr id="68" name="Text Box 70">
            <a:extLst>
              <a:ext uri="{FF2B5EF4-FFF2-40B4-BE49-F238E27FC236}">
                <a16:creationId xmlns:a16="http://schemas.microsoft.com/office/drawing/2014/main" id="{98D37743-1AFB-4D61-933D-1F2D0DB15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7296" y="3908107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      =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 radio</a:t>
            </a:r>
          </a:p>
        </p:txBody>
      </p:sp>
    </p:spTree>
    <p:extLst>
      <p:ext uri="{BB962C8B-B14F-4D97-AF65-F5344CB8AC3E}">
        <p14:creationId xmlns:p14="http://schemas.microsoft.com/office/powerpoint/2010/main" val="15074386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4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9" grpId="0" animBg="1"/>
      <p:bldP spid="31793" grpId="0"/>
      <p:bldP spid="31794" grpId="0"/>
      <p:bldP spid="31795" grpId="0"/>
      <p:bldP spid="49235" grpId="0" animBg="1"/>
      <p:bldP spid="31784" grpId="0" animBg="1"/>
      <p:bldP spid="31786" grpId="0"/>
      <p:bldP spid="31787" grpId="0"/>
      <p:bldP spid="31776" grpId="0" animBg="1"/>
      <p:bldP spid="66" grpId="0"/>
      <p:bldP spid="67" grpId="0"/>
      <p:bldP spid="6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Cuaderno">
  <a:themeElements>
    <a:clrScheme name="Cuaderno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Cuadern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lnDef>
  </a:objectDefaults>
  <a:extraClrSchemeLst>
    <a:extraClrScheme>
      <a:clrScheme name="Cuaderno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Office\Templates\Diseños de presentaciones\Cuaderno.pot</Template>
  <TotalTime>6947</TotalTime>
  <Words>1748</Words>
  <Application>Microsoft Office PowerPoint</Application>
  <PresentationFormat>Presentación en pantalla (4:3)</PresentationFormat>
  <Paragraphs>406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Comic Sans MS</vt:lpstr>
      <vt:lpstr>Symbol</vt:lpstr>
      <vt:lpstr>Times New Roman</vt:lpstr>
      <vt:lpstr>Trebuchet MS</vt:lpstr>
      <vt:lpstr>Cuaderno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</dc:creator>
  <cp:lastModifiedBy>Jose Enrique Martin Dominguez</cp:lastModifiedBy>
  <cp:revision>1260</cp:revision>
  <dcterms:created xsi:type="dcterms:W3CDTF">2008-12-09T12:16:47Z</dcterms:created>
  <dcterms:modified xsi:type="dcterms:W3CDTF">2024-09-18T11:20:11Z</dcterms:modified>
</cp:coreProperties>
</file>