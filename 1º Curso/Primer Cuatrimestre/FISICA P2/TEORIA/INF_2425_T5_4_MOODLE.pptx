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442" r:id="rId2"/>
    <p:sldId id="586" r:id="rId3"/>
    <p:sldId id="546" r:id="rId4"/>
    <p:sldId id="563" r:id="rId5"/>
    <p:sldId id="518" r:id="rId6"/>
    <p:sldId id="577" r:id="rId7"/>
    <p:sldId id="570" r:id="rId8"/>
    <p:sldId id="571" r:id="rId9"/>
    <p:sldId id="572" r:id="rId10"/>
    <p:sldId id="573" r:id="rId11"/>
    <p:sldId id="574" r:id="rId12"/>
    <p:sldId id="556" r:id="rId13"/>
    <p:sldId id="557" r:id="rId14"/>
    <p:sldId id="558" r:id="rId15"/>
    <p:sldId id="559" r:id="rId16"/>
    <p:sldId id="589" r:id="rId17"/>
    <p:sldId id="575" r:id="rId18"/>
    <p:sldId id="579" r:id="rId19"/>
    <p:sldId id="663" r:id="rId20"/>
    <p:sldId id="547" r:id="rId21"/>
    <p:sldId id="671" r:id="rId22"/>
    <p:sldId id="669" r:id="rId23"/>
    <p:sldId id="670" r:id="rId24"/>
    <p:sldId id="662" r:id="rId25"/>
    <p:sldId id="672" r:id="rId26"/>
    <p:sldId id="673" r:id="rId27"/>
    <p:sldId id="327" r:id="rId28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CCFFCC"/>
    <a:srgbClr val="FFFF99"/>
    <a:srgbClr val="3333FF"/>
    <a:srgbClr val="99CCFF"/>
    <a:srgbClr val="666699"/>
    <a:srgbClr val="EDE7E3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 autoAdjust="0"/>
    <p:restoredTop sz="89089" autoAdjust="0"/>
  </p:normalViewPr>
  <p:slideViewPr>
    <p:cSldViewPr snapToGrid="0" showGuides="1">
      <p:cViewPr varScale="1">
        <p:scale>
          <a:sx n="91" d="100"/>
          <a:sy n="91" d="100"/>
        </p:scale>
        <p:origin x="1428" y="96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A5452CA-EAB8-4971-985E-C193FA401DB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7304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B0AC4F3-CAAD-4F82-8FB3-29B1B20299A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304489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79C919-3433-4053-AB25-2DF7DE0C8107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647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D54D28-C454-45EF-9776-12C9DE92A777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58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569C9079-604C-43F7-9EAE-B95259E17598}" type="slidenum">
              <a:rPr lang="es-ES" sz="1200" smtClean="0">
                <a:solidFill>
                  <a:schemeClr val="tx1"/>
                </a:solidFill>
              </a:rPr>
              <a:pPr/>
              <a:t>3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3481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569C9079-604C-43F7-9EAE-B95259E17598}" type="slidenum">
              <a:rPr lang="es-ES" sz="1200" smtClean="0">
                <a:solidFill>
                  <a:schemeClr val="tx1"/>
                </a:solidFill>
              </a:rPr>
              <a:pPr/>
              <a:t>4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920865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9A19D7C7-EBC0-4F88-855B-152FE25E6F82}" type="slidenum">
              <a:rPr lang="es-ES" sz="1200" smtClean="0">
                <a:solidFill>
                  <a:schemeClr val="tx1"/>
                </a:solidFill>
              </a:rPr>
              <a:pPr/>
              <a:t>5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0573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04683C47-6116-426C-BC87-F49B807AE630}" type="slidenum">
              <a:rPr lang="es-ES" sz="1200" smtClean="0">
                <a:solidFill>
                  <a:schemeClr val="tx1"/>
                </a:solidFill>
              </a:rPr>
              <a:pPr/>
              <a:t>6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21989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FD52A59C-A8B6-4392-93AD-8F0E83013A29}" type="slidenum">
              <a:rPr lang="es-ES" sz="1200" smtClean="0">
                <a:solidFill>
                  <a:schemeClr val="tx1"/>
                </a:solidFill>
              </a:rPr>
              <a:pPr/>
              <a:t>7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558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FD52A59C-A8B6-4392-93AD-8F0E83013A29}" type="slidenum">
              <a:rPr lang="es-ES" sz="1200" smtClean="0">
                <a:solidFill>
                  <a:schemeClr val="tx1"/>
                </a:solidFill>
              </a:rPr>
              <a:pPr/>
              <a:t>8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264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CB059501-EEDA-4B78-909C-833C3C396737}" type="slidenum">
              <a:rPr lang="es-ES" sz="1200" smtClean="0">
                <a:solidFill>
                  <a:schemeClr val="tx1"/>
                </a:solidFill>
              </a:rPr>
              <a:pPr/>
              <a:t>9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E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6164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050A1B56-5E9C-48F0-8995-7D19C8E3A62B}" type="slidenum">
              <a:rPr lang="es-ES" sz="1200" smtClean="0">
                <a:solidFill>
                  <a:schemeClr val="tx1"/>
                </a:solidFill>
              </a:rPr>
              <a:pPr/>
              <a:t>10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70935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1217791C-9BEF-4928-9962-4779E88CBD90}" type="slidenum">
              <a:rPr lang="es-ES" sz="1200" smtClean="0">
                <a:solidFill>
                  <a:schemeClr val="tx1"/>
                </a:solidFill>
              </a:rPr>
              <a:pPr/>
              <a:t>11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E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0711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71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71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6660B409-806F-4694-992E-1C034125FDC7}" type="slidenum">
              <a:rPr lang="es-ES" sz="1200" smtClean="0">
                <a:solidFill>
                  <a:schemeClr val="tx1"/>
                </a:solidFill>
              </a:rPr>
              <a:pPr/>
              <a:t>12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71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11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91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32533EEC-203F-4299-8781-394481202928}" type="slidenum">
              <a:rPr lang="es-ES" sz="1200" smtClean="0">
                <a:solidFill>
                  <a:schemeClr val="tx1"/>
                </a:solidFill>
              </a:rPr>
              <a:pPr/>
              <a:t>13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87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3D7C9E43-DCEA-4934-9114-876C5384E5D0}" type="slidenum">
              <a:rPr lang="es-ES" sz="1200" smtClean="0">
                <a:solidFill>
                  <a:schemeClr val="tx1"/>
                </a:solidFill>
              </a:rPr>
              <a:pPr/>
              <a:t>14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512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03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FA6A1876-DA16-4D93-A9AE-2A46CCFE22FA}" type="slidenum">
              <a:rPr lang="es-ES" sz="1200" smtClean="0">
                <a:solidFill>
                  <a:schemeClr val="tx1"/>
                </a:solidFill>
              </a:rPr>
              <a:pPr/>
              <a:t>15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532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52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588AA71C-F118-440B-A8ED-D5C936B48172}" type="slidenum">
              <a:rPr lang="es-ES" sz="1200" smtClean="0">
                <a:solidFill>
                  <a:schemeClr val="tx1"/>
                </a:solidFill>
              </a:rPr>
              <a:pPr/>
              <a:t>16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823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588AA71C-F118-440B-A8ED-D5C936B48172}" type="slidenum">
              <a:rPr lang="es-ES" sz="1200" smtClean="0">
                <a:solidFill>
                  <a:schemeClr val="tx1"/>
                </a:solidFill>
              </a:rPr>
              <a:pPr/>
              <a:t>17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700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75AF99F8-366B-4852-AC3B-1528FD5FC52B}" type="slidenum">
              <a:rPr lang="es-ES" sz="1200" smtClean="0">
                <a:solidFill>
                  <a:schemeClr val="tx1"/>
                </a:solidFill>
              </a:rPr>
              <a:pPr/>
              <a:t>18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2167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75AF99F8-366B-4852-AC3B-1528FD5FC52B}" type="slidenum">
              <a:rPr lang="es-ES" sz="1200" smtClean="0">
                <a:solidFill>
                  <a:schemeClr val="tx1"/>
                </a:solidFill>
              </a:rPr>
              <a:pPr/>
              <a:t>19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719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257074CB-C7DD-4F6F-A22C-BEF306AF2374}" type="slidenum">
              <a:rPr lang="es-ES" sz="1200" smtClean="0">
                <a:solidFill>
                  <a:schemeClr val="tx1"/>
                </a:solidFill>
              </a:rPr>
              <a:pPr/>
              <a:t>20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8802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0C07E7-5138-4689-A44F-58CED8DE606C}" type="slidenum">
              <a:rPr lang="es-ES" smtClean="0"/>
              <a:pPr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452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0C07E7-5138-4689-A44F-58CED8DE606C}" type="slidenum">
              <a:rPr lang="es-ES" smtClean="0"/>
              <a:pPr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0190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8781C-1C29-30D9-4068-41114734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4106D2E-9DC1-2B07-B1FD-7E64D7D92C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>
            <a:extLst>
              <a:ext uri="{FF2B5EF4-FFF2-40B4-BE49-F238E27FC236}">
                <a16:creationId xmlns:a16="http://schemas.microsoft.com/office/drawing/2014/main" id="{D0F3F7F0-B72A-2ECE-93B0-5B54AEA1977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>
            <a:extLst>
              <a:ext uri="{FF2B5EF4-FFF2-40B4-BE49-F238E27FC236}">
                <a16:creationId xmlns:a16="http://schemas.microsoft.com/office/drawing/2014/main" id="{6F54C91F-E4D7-3F33-514C-4CF75C4757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0C07E7-5138-4689-A44F-58CED8DE606C}" type="slidenum">
              <a:rPr lang="es-ES" smtClean="0"/>
              <a:pPr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6B64FDEA-EFED-DA69-3D3A-E448BC534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77C53A79-48E2-9EFE-54A6-6E99EDA4E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2975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0C07E7-5138-4689-A44F-58CED8DE606C}" type="slidenum">
              <a:rPr lang="es-ES" smtClean="0"/>
              <a:pPr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0555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0C07E7-5138-4689-A44F-58CED8DE606C}" type="slidenum">
              <a:rPr lang="es-ES" smtClean="0"/>
              <a:pPr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360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77BEC2-368D-4E0F-B6AF-6E4F0AEA6366}" type="slidenum">
              <a:rPr lang="es-ES" smtClean="0"/>
              <a:pPr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07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0E86D2-7EB0-4C62-A955-B26CFBFB760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138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9E205-E02E-4925-B8F0-C58D12C2DE9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884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06B11-AAEB-498E-B17B-2925E4741B5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6728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E107B-4319-4FC9-A0F4-49ACF4EF9F3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137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69F9F-3053-4BB7-A77A-8402F8B1A1A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8992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66B37-1290-4DB2-9EE5-DAB2B8D836E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640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F444B-4AAE-4ACE-A8E3-9C756CB3DD8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616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16E04-55D5-4A36-AA7F-C9CF62F7EBF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360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5E0EA-E97F-4AF9-91D9-7FB5A224B6D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190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E43CD5-2EC8-4CB5-B883-2D28A141EFA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972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E3C9B-7F56-4B11-BBA3-40AA7460DA7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6370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7A73D3-6666-47CB-AD12-05A7E21538C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19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9DFC419-F718-4033-928F-3479A37CD75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image" Target="../media/image6.wmf"/><Relationship Id="rId18" Type="http://schemas.openxmlformats.org/officeDocument/2006/relationships/image" Target="../media/image10.png"/><Relationship Id="rId26" Type="http://schemas.openxmlformats.org/officeDocument/2006/relationships/oleObject" Target="../embeddings/oleObject7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8.wmf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7.wmf"/><Relationship Id="rId25" Type="http://schemas.openxmlformats.org/officeDocument/2006/relationships/image" Target="../media/image9.wmf"/><Relationship Id="rId2" Type="http://schemas.openxmlformats.org/officeDocument/2006/relationships/notesSlide" Target="../notesSlides/notesSlide12.xml"/><Relationship Id="rId16" Type="http://schemas.openxmlformats.org/officeDocument/2006/relationships/oleObject" Target="../embeddings/oleObject5.bin"/><Relationship Id="rId20" Type="http://schemas.openxmlformats.org/officeDocument/2006/relationships/oleObject" Target="../embeddings/oleObject6.bin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wmf"/><Relationship Id="rId24" Type="http://schemas.openxmlformats.org/officeDocument/2006/relationships/oleObject" Target="../embeddings/oleObject7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7.wmf"/><Relationship Id="rId23" Type="http://schemas.openxmlformats.org/officeDocument/2006/relationships/image" Target="../media/image8.wmf"/><Relationship Id="rId28" Type="http://schemas.openxmlformats.org/officeDocument/2006/relationships/image" Target="../media/image12.png"/><Relationship Id="rId10" Type="http://schemas.openxmlformats.org/officeDocument/2006/relationships/image" Target="../media/image6.wmf"/><Relationship Id="rId19" Type="http://schemas.openxmlformats.org/officeDocument/2006/relationships/image" Target="../media/image11.png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5.bin"/><Relationship Id="rId22" Type="http://schemas.openxmlformats.org/officeDocument/2006/relationships/oleObject" Target="../embeddings/oleObject6.bin"/><Relationship Id="rId27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509963" y="3319463"/>
            <a:ext cx="4514850" cy="53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INTERACCIÓN MAGNÉTICA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5253038" y="4424363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(4/7)</a:t>
            </a:r>
            <a:endParaRPr lang="es-ES" sz="2400" b="1" dirty="0">
              <a:latin typeface="Comic Sans MS" panose="030F0702030302020204" pitchFamily="66" charset="0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5</a:t>
            </a:r>
          </a:p>
        </p:txBody>
      </p:sp>
      <p:grpSp>
        <p:nvGrpSpPr>
          <p:cNvPr id="20" name="Group 23">
            <a:extLst>
              <a:ext uri="{FF2B5EF4-FFF2-40B4-BE49-F238E27FC236}">
                <a16:creationId xmlns:a16="http://schemas.microsoft.com/office/drawing/2014/main" id="{A337548B-4D3D-4A44-8393-F578871E8326}"/>
              </a:ext>
            </a:extLst>
          </p:cNvPr>
          <p:cNvGrpSpPr>
            <a:grpSpLocks/>
          </p:cNvGrpSpPr>
          <p:nvPr/>
        </p:nvGrpSpPr>
        <p:grpSpPr bwMode="auto">
          <a:xfrm>
            <a:off x="7257424" y="295979"/>
            <a:ext cx="3209926" cy="1858963"/>
            <a:chOff x="4896" y="276"/>
            <a:chExt cx="2022" cy="1171"/>
          </a:xfrm>
        </p:grpSpPr>
        <p:sp>
          <p:nvSpPr>
            <p:cNvPr id="21" name="AutoShape 1067">
              <a:extLst>
                <a:ext uri="{FF2B5EF4-FFF2-40B4-BE49-F238E27FC236}">
                  <a16:creationId xmlns:a16="http://schemas.microsoft.com/office/drawing/2014/main" id="{96E9420A-A64A-477E-B1C5-40B016761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6"/>
              <a:ext cx="2022" cy="1171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Text Box 1068">
              <a:extLst>
                <a:ext uri="{FF2B5EF4-FFF2-40B4-BE49-F238E27FC236}">
                  <a16:creationId xmlns:a16="http://schemas.microsoft.com/office/drawing/2014/main" id="{DB39B673-7DE8-4123-B8C6-A1CCA6EFC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441"/>
              <a:ext cx="1786" cy="29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PRÁCTICA 5</a:t>
              </a:r>
              <a:endParaRPr lang="es-ES" sz="2400" b="1" dirty="0">
                <a:latin typeface="Trebuchet MS" panose="020B0603020202020204" pitchFamily="34" charset="0"/>
              </a:endParaRPr>
            </a:p>
          </p:txBody>
        </p:sp>
        <p:sp>
          <p:nvSpPr>
            <p:cNvPr id="23" name="Text Box 1069">
              <a:extLst>
                <a:ext uri="{FF2B5EF4-FFF2-40B4-BE49-F238E27FC236}">
                  <a16:creationId xmlns:a16="http://schemas.microsoft.com/office/drawing/2014/main" id="{EA10E9E7-67D0-43FD-ABF6-E9159B2B1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839"/>
              <a:ext cx="1786" cy="2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25/11 a 28/11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24" name="Text Box 1062">
              <a:extLst>
                <a:ext uri="{FF2B5EF4-FFF2-40B4-BE49-F238E27FC236}">
                  <a16:creationId xmlns:a16="http://schemas.microsoft.com/office/drawing/2014/main" id="{0BB7599A-4488-4D26-BC9E-557BF380E9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9" y="1125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Boletín en Moodle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6">
            <a:extLst>
              <a:ext uri="{FF2B5EF4-FFF2-40B4-BE49-F238E27FC236}">
                <a16:creationId xmlns:a16="http://schemas.microsoft.com/office/drawing/2014/main" id="{75FE34FE-0341-C6FB-0EC6-B216AAAF9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273" y="3489050"/>
            <a:ext cx="2512116" cy="41856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03A39B8D-DBAF-36FF-657E-56740F3E1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332" y="4536984"/>
            <a:ext cx="2884624" cy="38051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606202AB-E1C2-C257-89FF-25E31D8F8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500" y="4142533"/>
            <a:ext cx="7292989" cy="41856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4F6441FD-87D6-2FF7-DE91-5CCB7C868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1252" y="110327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T1: 27/11/24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T2: 20/11/24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T3: 20/11/24</a:t>
            </a:r>
          </a:p>
        </p:txBody>
      </p:sp>
      <p:sp>
        <p:nvSpPr>
          <p:cNvPr id="8" name="Line 22">
            <a:extLst>
              <a:ext uri="{FF2B5EF4-FFF2-40B4-BE49-F238E27FC236}">
                <a16:creationId xmlns:a16="http://schemas.microsoft.com/office/drawing/2014/main" id="{BD140728-EF48-B2F0-E8C6-02C39B9B22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7071" y="3550361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B0841032-58A6-2D80-81B0-21184A0A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135" y="6467047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19"/>
          <p:cNvSpPr>
            <a:spLocks noChangeArrowheads="1"/>
          </p:cNvSpPr>
          <p:nvPr/>
        </p:nvSpPr>
        <p:spPr bwMode="auto">
          <a:xfrm>
            <a:off x="1498600" y="578470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19"/>
          <p:cNvSpPr>
            <a:spLocks noChangeArrowheads="1"/>
          </p:cNvSpPr>
          <p:nvPr/>
        </p:nvSpPr>
        <p:spPr bwMode="auto">
          <a:xfrm>
            <a:off x="1493838" y="5124309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19"/>
          <p:cNvSpPr>
            <a:spLocks noChangeArrowheads="1"/>
          </p:cNvSpPr>
          <p:nvPr/>
        </p:nvSpPr>
        <p:spPr bwMode="auto">
          <a:xfrm>
            <a:off x="1489075" y="415275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18"/>
          <p:cNvSpPr>
            <a:spLocks noChangeArrowheads="1"/>
          </p:cNvSpPr>
          <p:nvPr/>
        </p:nvSpPr>
        <p:spPr bwMode="auto">
          <a:xfrm>
            <a:off x="1487488" y="3481246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2"/>
          <p:cNvSpPr>
            <a:spLocks noChangeArrowheads="1"/>
          </p:cNvSpPr>
          <p:nvPr/>
        </p:nvSpPr>
        <p:spPr bwMode="auto">
          <a:xfrm>
            <a:off x="1487488" y="219378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4"/>
          <p:cNvSpPr>
            <a:spLocks noChangeArrowheads="1"/>
          </p:cNvSpPr>
          <p:nvPr/>
        </p:nvSpPr>
        <p:spPr bwMode="auto">
          <a:xfrm>
            <a:off x="1487488" y="156037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Rectangle 5"/>
          <p:cNvSpPr>
            <a:spLocks noChangeArrowheads="1"/>
          </p:cNvSpPr>
          <p:nvPr/>
        </p:nvSpPr>
        <p:spPr bwMode="auto">
          <a:xfrm>
            <a:off x="1409700" y="590550"/>
            <a:ext cx="8520113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5: INTERACCIÓN MAGNÉTICA</a:t>
            </a:r>
          </a:p>
        </p:txBody>
      </p:sp>
      <p:sp>
        <p:nvSpPr>
          <p:cNvPr id="7179" name="Rectangle 6"/>
          <p:cNvSpPr>
            <a:spLocks noChangeArrowheads="1"/>
          </p:cNvSpPr>
          <p:nvPr/>
        </p:nvSpPr>
        <p:spPr bwMode="auto">
          <a:xfrm>
            <a:off x="1470025" y="1525446"/>
            <a:ext cx="708025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5.3.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5.4.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5.6.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5.7.</a:t>
            </a:r>
          </a:p>
        </p:txBody>
      </p:sp>
      <p:sp>
        <p:nvSpPr>
          <p:cNvPr id="7180" name="Rectangle 7"/>
          <p:cNvSpPr>
            <a:spLocks noChangeArrowheads="1"/>
          </p:cNvSpPr>
          <p:nvPr/>
        </p:nvSpPr>
        <p:spPr bwMode="auto">
          <a:xfrm>
            <a:off x="2197100" y="1536559"/>
            <a:ext cx="8237538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Concepto de Campo Magnético. Ley de Gauss para B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Efectos de B sobre: una Carga (Fuerza de Lorentz y Efecto Hall), un Conductor (Ley de Laplace) y una Espira (Dipolo Magnético)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Fuentes de B: Leyes de Biot-Savart y </a:t>
            </a:r>
            <a:r>
              <a:rPr lang="es-ES" sz="2400" b="1" dirty="0" err="1">
                <a:latin typeface="Arial" panose="020B0604020202020204" pitchFamily="34" charset="0"/>
              </a:rPr>
              <a:t>Ampère</a:t>
            </a:r>
            <a:r>
              <a:rPr lang="es-ES" sz="2400" b="1" dirty="0">
                <a:latin typeface="Arial" panose="020B0604020202020204" pitchFamily="34" charset="0"/>
              </a:rPr>
              <a:t>-Maxwell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Inducción de Henry-Faraday. Ley de Lenz.    FEM por inducción o por movimiento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s-ES" sz="2400" b="1">
                <a:latin typeface="Arial" panose="020B0604020202020204" pitchFamily="34" charset="0"/>
              </a:rPr>
              <a:t>Ecuaciones de Maxwell: Ondas Electromagnéticas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Campo Magnético en </a:t>
            </a:r>
            <a:r>
              <a:rPr lang="es-ES" sz="2400" b="1">
                <a:latin typeface="Arial" panose="020B0604020202020204" pitchFamily="34" charset="0"/>
              </a:rPr>
              <a:t>la Materia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Bobinas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7181" name="Line 20"/>
          <p:cNvSpPr>
            <a:spLocks noChangeShapeType="1"/>
          </p:cNvSpPr>
          <p:nvPr/>
        </p:nvSpPr>
        <p:spPr bwMode="auto">
          <a:xfrm flipV="1">
            <a:off x="9848850" y="1579421"/>
            <a:ext cx="21907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2" name="Line 21"/>
          <p:cNvSpPr>
            <a:spLocks noChangeShapeType="1"/>
          </p:cNvSpPr>
          <p:nvPr/>
        </p:nvSpPr>
        <p:spPr bwMode="auto">
          <a:xfrm flipV="1">
            <a:off x="3925888" y="2228709"/>
            <a:ext cx="21907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3" name="Line 22"/>
          <p:cNvSpPr>
            <a:spLocks noChangeShapeType="1"/>
          </p:cNvSpPr>
          <p:nvPr/>
        </p:nvSpPr>
        <p:spPr bwMode="auto">
          <a:xfrm flipV="1">
            <a:off x="4006850" y="3546334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0418" name="Group 2"/>
          <p:cNvGrpSpPr>
            <a:grpSpLocks/>
          </p:cNvGrpSpPr>
          <p:nvPr/>
        </p:nvGrpSpPr>
        <p:grpSpPr bwMode="auto">
          <a:xfrm>
            <a:off x="5632522" y="3201369"/>
            <a:ext cx="1125538" cy="1289050"/>
            <a:chOff x="4843" y="1864"/>
            <a:chExt cx="709" cy="812"/>
          </a:xfrm>
        </p:grpSpPr>
        <p:sp>
          <p:nvSpPr>
            <p:cNvPr id="29772" name="Oval 3"/>
            <p:cNvSpPr>
              <a:spLocks noChangeArrowheads="1"/>
            </p:cNvSpPr>
            <p:nvPr/>
          </p:nvSpPr>
          <p:spPr bwMode="auto">
            <a:xfrm>
              <a:off x="4843" y="1864"/>
              <a:ext cx="202" cy="812"/>
            </a:xfrm>
            <a:prstGeom prst="ellipse">
              <a:avLst/>
            </a:prstGeom>
            <a:solidFill>
              <a:schemeClr val="bg2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29773" name="Line 4"/>
            <p:cNvSpPr>
              <a:spLocks noChangeShapeType="1"/>
            </p:cNvSpPr>
            <p:nvPr/>
          </p:nvSpPr>
          <p:spPr bwMode="auto">
            <a:xfrm flipV="1">
              <a:off x="5071" y="2263"/>
              <a:ext cx="48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00421" name="Group 5"/>
          <p:cNvGrpSpPr>
            <a:grpSpLocks/>
          </p:cNvGrpSpPr>
          <p:nvPr/>
        </p:nvGrpSpPr>
        <p:grpSpPr bwMode="auto">
          <a:xfrm>
            <a:off x="6032568" y="3301396"/>
            <a:ext cx="642937" cy="523878"/>
            <a:chOff x="5095" y="1927"/>
            <a:chExt cx="405" cy="330"/>
          </a:xfrm>
        </p:grpSpPr>
        <p:sp>
          <p:nvSpPr>
            <p:cNvPr id="29770" name="Line 6"/>
            <p:cNvSpPr>
              <a:spLocks noChangeShapeType="1"/>
            </p:cNvSpPr>
            <p:nvPr/>
          </p:nvSpPr>
          <p:spPr bwMode="auto">
            <a:xfrm>
              <a:off x="5226" y="2257"/>
              <a:ext cx="20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71" name="Text Box 7"/>
            <p:cNvSpPr txBox="1">
              <a:spLocks noChangeArrowheads="1"/>
            </p:cNvSpPr>
            <p:nvPr/>
          </p:nvSpPr>
          <p:spPr bwMode="auto">
            <a:xfrm>
              <a:off x="5095" y="1927"/>
              <a:ext cx="4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dirty="0">
                  <a:solidFill>
                    <a:srgbClr val="3333FF"/>
                  </a:solidFill>
                </a:rPr>
                <a:t>(t)</a:t>
              </a:r>
            </a:p>
          </p:txBody>
        </p:sp>
      </p:grpSp>
      <p:grpSp>
        <p:nvGrpSpPr>
          <p:cNvPr id="700495" name="Group 79"/>
          <p:cNvGrpSpPr>
            <a:grpSpLocks/>
          </p:cNvGrpSpPr>
          <p:nvPr/>
        </p:nvGrpSpPr>
        <p:grpSpPr bwMode="auto">
          <a:xfrm>
            <a:off x="4643505" y="3312494"/>
            <a:ext cx="1141413" cy="1060450"/>
            <a:chOff x="5882" y="1932"/>
            <a:chExt cx="719" cy="668"/>
          </a:xfrm>
        </p:grpSpPr>
        <p:grpSp>
          <p:nvGrpSpPr>
            <p:cNvPr id="29758" name="Group 76"/>
            <p:cNvGrpSpPr>
              <a:grpSpLocks/>
            </p:cNvGrpSpPr>
            <p:nvPr/>
          </p:nvGrpSpPr>
          <p:grpSpPr bwMode="auto">
            <a:xfrm>
              <a:off x="5882" y="1932"/>
              <a:ext cx="431" cy="668"/>
              <a:chOff x="4231" y="2050"/>
              <a:chExt cx="340" cy="668"/>
            </a:xfrm>
          </p:grpSpPr>
          <p:sp>
            <p:nvSpPr>
              <p:cNvPr id="29765" name="Line 11"/>
              <p:cNvSpPr>
                <a:spLocks noChangeShapeType="1"/>
              </p:cNvSpPr>
              <p:nvPr/>
            </p:nvSpPr>
            <p:spPr bwMode="auto">
              <a:xfrm>
                <a:off x="4231" y="2205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66" name="Line 12"/>
              <p:cNvSpPr>
                <a:spLocks noChangeShapeType="1"/>
              </p:cNvSpPr>
              <p:nvPr/>
            </p:nvSpPr>
            <p:spPr bwMode="auto">
              <a:xfrm>
                <a:off x="4231" y="2376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67" name="Line 13"/>
              <p:cNvSpPr>
                <a:spLocks noChangeShapeType="1"/>
              </p:cNvSpPr>
              <p:nvPr/>
            </p:nvSpPr>
            <p:spPr bwMode="auto">
              <a:xfrm>
                <a:off x="4231" y="2547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68" name="Line 14"/>
              <p:cNvSpPr>
                <a:spLocks noChangeShapeType="1"/>
              </p:cNvSpPr>
              <p:nvPr/>
            </p:nvSpPr>
            <p:spPr bwMode="auto">
              <a:xfrm>
                <a:off x="4231" y="2718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69" name="Line 15"/>
              <p:cNvSpPr>
                <a:spLocks noChangeShapeType="1"/>
              </p:cNvSpPr>
              <p:nvPr/>
            </p:nvSpPr>
            <p:spPr bwMode="auto">
              <a:xfrm>
                <a:off x="4231" y="2050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9759" name="Group 77"/>
            <p:cNvGrpSpPr>
              <a:grpSpLocks/>
            </p:cNvGrpSpPr>
            <p:nvPr/>
          </p:nvGrpSpPr>
          <p:grpSpPr bwMode="auto">
            <a:xfrm>
              <a:off x="6216" y="1932"/>
              <a:ext cx="385" cy="668"/>
              <a:chOff x="4565" y="2049"/>
              <a:chExt cx="385" cy="668"/>
            </a:xfrm>
          </p:grpSpPr>
          <p:sp>
            <p:nvSpPr>
              <p:cNvPr id="29760" name="Line 71"/>
              <p:cNvSpPr>
                <a:spLocks noChangeShapeType="1"/>
              </p:cNvSpPr>
              <p:nvPr/>
            </p:nvSpPr>
            <p:spPr bwMode="auto">
              <a:xfrm>
                <a:off x="4565" y="2204"/>
                <a:ext cx="385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61" name="Line 72"/>
              <p:cNvSpPr>
                <a:spLocks noChangeShapeType="1"/>
              </p:cNvSpPr>
              <p:nvPr/>
            </p:nvSpPr>
            <p:spPr bwMode="auto">
              <a:xfrm>
                <a:off x="4565" y="2375"/>
                <a:ext cx="385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62" name="Line 73"/>
              <p:cNvSpPr>
                <a:spLocks noChangeShapeType="1"/>
              </p:cNvSpPr>
              <p:nvPr/>
            </p:nvSpPr>
            <p:spPr bwMode="auto">
              <a:xfrm>
                <a:off x="4565" y="2546"/>
                <a:ext cx="385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63" name="Line 74"/>
              <p:cNvSpPr>
                <a:spLocks noChangeShapeType="1"/>
              </p:cNvSpPr>
              <p:nvPr/>
            </p:nvSpPr>
            <p:spPr bwMode="auto">
              <a:xfrm>
                <a:off x="4565" y="2717"/>
                <a:ext cx="385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64" name="Line 75"/>
              <p:cNvSpPr>
                <a:spLocks noChangeShapeType="1"/>
              </p:cNvSpPr>
              <p:nvPr/>
            </p:nvSpPr>
            <p:spPr bwMode="auto">
              <a:xfrm>
                <a:off x="4565" y="2049"/>
                <a:ext cx="385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9703" name="Line 10"/>
          <p:cNvSpPr>
            <a:spLocks noChangeShapeType="1"/>
          </p:cNvSpPr>
          <p:nvPr/>
        </p:nvSpPr>
        <p:spPr bwMode="auto">
          <a:xfrm flipV="1">
            <a:off x="4167091" y="444298"/>
            <a:ext cx="21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9756" name="Oval 17"/>
          <p:cNvSpPr>
            <a:spLocks noChangeArrowheads="1"/>
          </p:cNvSpPr>
          <p:nvPr/>
        </p:nvSpPr>
        <p:spPr bwMode="auto">
          <a:xfrm>
            <a:off x="3487807" y="2861644"/>
            <a:ext cx="296863" cy="1841500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29754" name="Freeform 20"/>
          <p:cNvSpPr>
            <a:spLocks/>
          </p:cNvSpPr>
          <p:nvPr/>
        </p:nvSpPr>
        <p:spPr bwMode="auto">
          <a:xfrm rot="302027">
            <a:off x="3594168" y="2899744"/>
            <a:ext cx="863600" cy="1843088"/>
          </a:xfrm>
          <a:custGeom>
            <a:avLst/>
            <a:gdLst>
              <a:gd name="T0" fmla="*/ 0 w 620"/>
              <a:gd name="T1" fmla="*/ 0 h 1630"/>
              <a:gd name="T2" fmla="*/ 2 w 620"/>
              <a:gd name="T3" fmla="*/ 1 h 1630"/>
              <a:gd name="T4" fmla="*/ 2 w 620"/>
              <a:gd name="T5" fmla="*/ 1 h 163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0" h="1630">
                <a:moveTo>
                  <a:pt x="0" y="0"/>
                </a:moveTo>
                <a:cubicBezTo>
                  <a:pt x="290" y="271"/>
                  <a:pt x="580" y="543"/>
                  <a:pt x="600" y="815"/>
                </a:cubicBezTo>
                <a:cubicBezTo>
                  <a:pt x="620" y="1087"/>
                  <a:pt x="370" y="1358"/>
                  <a:pt x="120" y="1630"/>
                </a:cubicBezTo>
              </a:path>
            </a:pathLst>
          </a:custGeom>
          <a:noFill/>
          <a:ln w="25400" cap="flat" cmpd="sng">
            <a:solidFill>
              <a:schemeClr val="bg1">
                <a:lumMod val="10000"/>
              </a:scheme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55" name="Text Box 21"/>
          <p:cNvSpPr txBox="1">
            <a:spLocks noChangeArrowheads="1"/>
          </p:cNvSpPr>
          <p:nvPr/>
        </p:nvSpPr>
        <p:spPr bwMode="auto">
          <a:xfrm>
            <a:off x="4032318" y="2860056"/>
            <a:ext cx="5032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36613" indent="-322263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85875" indent="-257175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00225" indent="-257175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14575" indent="-257175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717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289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861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433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S</a:t>
            </a:r>
            <a:r>
              <a:rPr lang="es-ES" sz="2400" b="1" baseline="-25000" dirty="0">
                <a:latin typeface="Arial" panose="020B0604020202020204" pitchFamily="34" charset="0"/>
              </a:rPr>
              <a:t>1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29752" name="Freeform 23"/>
          <p:cNvSpPr>
            <a:spLocks/>
          </p:cNvSpPr>
          <p:nvPr/>
        </p:nvSpPr>
        <p:spPr bwMode="auto">
          <a:xfrm rot="207209">
            <a:off x="3594168" y="2894982"/>
            <a:ext cx="1643063" cy="1843088"/>
          </a:xfrm>
          <a:custGeom>
            <a:avLst/>
            <a:gdLst>
              <a:gd name="T0" fmla="*/ 0 w 1320"/>
              <a:gd name="T1" fmla="*/ 0 h 1630"/>
              <a:gd name="T2" fmla="*/ 3 w 1320"/>
              <a:gd name="T3" fmla="*/ 1 h 1630"/>
              <a:gd name="T4" fmla="*/ 4 w 1320"/>
              <a:gd name="T5" fmla="*/ 1 h 1630"/>
              <a:gd name="T6" fmla="*/ 3 w 1320"/>
              <a:gd name="T7" fmla="*/ 1 h 1630"/>
              <a:gd name="T8" fmla="*/ 2 w 1320"/>
              <a:gd name="T9" fmla="*/ 1 h 16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0" h="1630">
                <a:moveTo>
                  <a:pt x="0" y="0"/>
                </a:moveTo>
                <a:cubicBezTo>
                  <a:pt x="370" y="13"/>
                  <a:pt x="740" y="27"/>
                  <a:pt x="960" y="163"/>
                </a:cubicBezTo>
                <a:cubicBezTo>
                  <a:pt x="1180" y="299"/>
                  <a:pt x="1320" y="598"/>
                  <a:pt x="1320" y="815"/>
                </a:cubicBezTo>
                <a:cubicBezTo>
                  <a:pt x="1320" y="1032"/>
                  <a:pt x="1160" y="1331"/>
                  <a:pt x="960" y="1467"/>
                </a:cubicBezTo>
                <a:cubicBezTo>
                  <a:pt x="760" y="1603"/>
                  <a:pt x="440" y="1616"/>
                  <a:pt x="120" y="1630"/>
                </a:cubicBezTo>
              </a:path>
            </a:pathLst>
          </a:custGeom>
          <a:noFill/>
          <a:ln w="25400" cap="flat" cmpd="sng">
            <a:solidFill>
              <a:schemeClr val="bg1">
                <a:lumMod val="10000"/>
              </a:scheme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53" name="Text Box 24"/>
          <p:cNvSpPr txBox="1">
            <a:spLocks noChangeArrowheads="1"/>
          </p:cNvSpPr>
          <p:nvPr/>
        </p:nvSpPr>
        <p:spPr bwMode="auto">
          <a:xfrm>
            <a:off x="4957831" y="2709244"/>
            <a:ext cx="5032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36613" indent="-322263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85875" indent="-257175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00225" indent="-257175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14575" indent="-257175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717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289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861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433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S</a:t>
            </a:r>
            <a:r>
              <a:rPr lang="es-ES" sz="2400" b="1" baseline="-25000" dirty="0">
                <a:latin typeface="Arial" panose="020B0604020202020204" pitchFamily="34" charset="0"/>
              </a:rPr>
              <a:t>2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29751" name="Text Box 27"/>
          <p:cNvSpPr txBox="1">
            <a:spLocks noChangeArrowheads="1"/>
          </p:cNvSpPr>
          <p:nvPr/>
        </p:nvSpPr>
        <p:spPr bwMode="auto">
          <a:xfrm>
            <a:off x="7571961" y="2710194"/>
            <a:ext cx="606425" cy="46196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txBody>
          <a:bodyPr wrap="non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36613" indent="-322263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85875" indent="-257175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00225" indent="-257175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14575" indent="-257175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717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289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861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433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S</a:t>
            </a:r>
            <a:r>
              <a:rPr lang="es-ES" sz="2400" b="1" baseline="-25000" dirty="0">
                <a:latin typeface="Arial" panose="020B0604020202020204" pitchFamily="34" charset="0"/>
              </a:rPr>
              <a:t>1</a:t>
            </a:r>
            <a:r>
              <a:rPr lang="es-ES" sz="2400" b="1" dirty="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9749" name="Text Box 30"/>
          <p:cNvSpPr txBox="1">
            <a:spLocks noChangeArrowheads="1"/>
          </p:cNvSpPr>
          <p:nvPr/>
        </p:nvSpPr>
        <p:spPr bwMode="auto">
          <a:xfrm>
            <a:off x="7570372" y="4204202"/>
            <a:ext cx="606425" cy="46196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txBody>
          <a:bodyPr wrap="non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36613" indent="-322263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85875" indent="-257175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00225" indent="-257175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14575" indent="-257175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717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289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861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433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S</a:t>
            </a:r>
            <a:r>
              <a:rPr lang="es-ES" sz="2400" b="1" baseline="-25000" dirty="0">
                <a:latin typeface="Arial" panose="020B0604020202020204" pitchFamily="34" charset="0"/>
              </a:rPr>
              <a:t>2</a:t>
            </a:r>
            <a:r>
              <a:rPr lang="es-ES" sz="2400" b="1" dirty="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700447" name="Text Box 31"/>
          <p:cNvSpPr txBox="1">
            <a:spLocks noChangeArrowheads="1"/>
          </p:cNvSpPr>
          <p:nvPr/>
        </p:nvSpPr>
        <p:spPr bwMode="auto">
          <a:xfrm>
            <a:off x="9534575" y="3461114"/>
            <a:ext cx="381836" cy="52322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800" b="1" dirty="0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endParaRPr lang="es-ES" sz="2800" b="1" dirty="0">
              <a:solidFill>
                <a:schemeClr val="tx1"/>
              </a:solidFill>
            </a:endParaRPr>
          </a:p>
        </p:txBody>
      </p:sp>
      <p:grpSp>
        <p:nvGrpSpPr>
          <p:cNvPr id="700448" name="Group 32"/>
          <p:cNvGrpSpPr>
            <a:grpSpLocks/>
          </p:cNvGrpSpPr>
          <p:nvPr/>
        </p:nvGrpSpPr>
        <p:grpSpPr bwMode="auto">
          <a:xfrm>
            <a:off x="3413193" y="3190256"/>
            <a:ext cx="1428750" cy="1289050"/>
            <a:chOff x="3445" y="1857"/>
            <a:chExt cx="900" cy="812"/>
          </a:xfrm>
        </p:grpSpPr>
        <p:sp>
          <p:nvSpPr>
            <p:cNvPr id="29746" name="Oval 33"/>
            <p:cNvSpPr>
              <a:spLocks noChangeArrowheads="1"/>
            </p:cNvSpPr>
            <p:nvPr/>
          </p:nvSpPr>
          <p:spPr bwMode="auto">
            <a:xfrm>
              <a:off x="4142" y="1857"/>
              <a:ext cx="203" cy="812"/>
            </a:xfrm>
            <a:prstGeom prst="ellipse">
              <a:avLst/>
            </a:prstGeom>
            <a:solidFill>
              <a:schemeClr val="bg2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29747" name="Line 34"/>
            <p:cNvSpPr>
              <a:spLocks noChangeShapeType="1"/>
            </p:cNvSpPr>
            <p:nvPr/>
          </p:nvSpPr>
          <p:spPr bwMode="auto">
            <a:xfrm>
              <a:off x="3445" y="2263"/>
              <a:ext cx="7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00451" name="Group 35"/>
          <p:cNvGrpSpPr>
            <a:grpSpLocks/>
          </p:cNvGrpSpPr>
          <p:nvPr/>
        </p:nvGrpSpPr>
        <p:grpSpPr bwMode="auto">
          <a:xfrm>
            <a:off x="3719580" y="3306150"/>
            <a:ext cx="642938" cy="517526"/>
            <a:chOff x="3638" y="1930"/>
            <a:chExt cx="405" cy="326"/>
          </a:xfrm>
        </p:grpSpPr>
        <p:sp>
          <p:nvSpPr>
            <p:cNvPr id="29744" name="Line 36"/>
            <p:cNvSpPr>
              <a:spLocks noChangeShapeType="1"/>
            </p:cNvSpPr>
            <p:nvPr/>
          </p:nvSpPr>
          <p:spPr bwMode="auto">
            <a:xfrm>
              <a:off x="3839" y="2256"/>
              <a:ext cx="20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45" name="Text Box 37"/>
            <p:cNvSpPr txBox="1">
              <a:spLocks noChangeArrowheads="1"/>
            </p:cNvSpPr>
            <p:nvPr/>
          </p:nvSpPr>
          <p:spPr bwMode="auto">
            <a:xfrm>
              <a:off x="3638" y="1930"/>
              <a:ext cx="4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dirty="0">
                  <a:solidFill>
                    <a:srgbClr val="3333FF"/>
                  </a:solidFill>
                </a:rPr>
                <a:t>(t)</a:t>
              </a:r>
            </a:p>
          </p:txBody>
        </p:sp>
      </p:grpSp>
      <p:sp>
        <p:nvSpPr>
          <p:cNvPr id="700454" name="Text Box 38"/>
          <p:cNvSpPr txBox="1">
            <a:spLocks noChangeArrowheads="1"/>
          </p:cNvSpPr>
          <p:nvPr/>
        </p:nvSpPr>
        <p:spPr bwMode="auto">
          <a:xfrm>
            <a:off x="3852366" y="1911917"/>
            <a:ext cx="4533098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/>
              <a:t>En </a:t>
            </a:r>
            <a:r>
              <a:rPr lang="es-ES" sz="2400" dirty="0"/>
              <a:t>la carga de un condensador</a:t>
            </a:r>
          </a:p>
        </p:txBody>
      </p:sp>
      <p:sp>
        <p:nvSpPr>
          <p:cNvPr id="700458" name="Text Box 42"/>
          <p:cNvSpPr txBox="1">
            <a:spLocks noChangeArrowheads="1"/>
          </p:cNvSpPr>
          <p:nvPr/>
        </p:nvSpPr>
        <p:spPr bwMode="auto">
          <a:xfrm>
            <a:off x="1293716" y="1079170"/>
            <a:ext cx="6285439" cy="60925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/>
              <a:t>La Ley </a:t>
            </a:r>
            <a:r>
              <a:rPr lang="es-ES" sz="2400"/>
              <a:t>de Ampère no tiene </a:t>
            </a:r>
            <a:r>
              <a:rPr lang="es-ES" sz="2400" dirty="0"/>
              <a:t>validez general</a:t>
            </a:r>
            <a:endParaRPr lang="es-ES" sz="2400" dirty="0">
              <a:solidFill>
                <a:srgbClr val="3333FF"/>
              </a:solidFill>
            </a:endParaRPr>
          </a:p>
        </p:txBody>
      </p:sp>
      <p:sp>
        <p:nvSpPr>
          <p:cNvPr id="700470" name="Text Box 54"/>
          <p:cNvSpPr txBox="1">
            <a:spLocks noChangeArrowheads="1"/>
          </p:cNvSpPr>
          <p:nvPr/>
        </p:nvSpPr>
        <p:spPr bwMode="auto">
          <a:xfrm>
            <a:off x="4343468" y="4784476"/>
            <a:ext cx="71074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Q(t)</a:t>
            </a:r>
          </a:p>
        </p:txBody>
      </p:sp>
      <p:sp>
        <p:nvSpPr>
          <p:cNvPr id="700471" name="Text Box 55"/>
          <p:cNvSpPr txBox="1">
            <a:spLocks noChangeArrowheads="1"/>
          </p:cNvSpPr>
          <p:nvPr/>
        </p:nvSpPr>
        <p:spPr bwMode="auto">
          <a:xfrm>
            <a:off x="5403714" y="4778888"/>
            <a:ext cx="81334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-Q(t)</a:t>
            </a:r>
          </a:p>
        </p:txBody>
      </p:sp>
      <p:grpSp>
        <p:nvGrpSpPr>
          <p:cNvPr id="700472" name="Group 56"/>
          <p:cNvGrpSpPr>
            <a:grpSpLocks/>
          </p:cNvGrpSpPr>
          <p:nvPr/>
        </p:nvGrpSpPr>
        <p:grpSpPr bwMode="auto">
          <a:xfrm>
            <a:off x="4978469" y="4417394"/>
            <a:ext cx="677862" cy="536575"/>
            <a:chOff x="5471" y="2694"/>
            <a:chExt cx="427" cy="338"/>
          </a:xfrm>
        </p:grpSpPr>
        <p:sp>
          <p:nvSpPr>
            <p:cNvPr id="29738" name="Text Box 57"/>
            <p:cNvSpPr txBox="1">
              <a:spLocks noChangeArrowheads="1"/>
            </p:cNvSpPr>
            <p:nvPr/>
          </p:nvSpPr>
          <p:spPr bwMode="auto">
            <a:xfrm>
              <a:off x="5471" y="2694"/>
              <a:ext cx="42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FF0000"/>
                  </a:solidFill>
                </a:rPr>
                <a:t>E(t)</a:t>
              </a:r>
            </a:p>
          </p:txBody>
        </p:sp>
        <p:sp>
          <p:nvSpPr>
            <p:cNvPr id="29739" name="Line 58"/>
            <p:cNvSpPr>
              <a:spLocks noChangeShapeType="1"/>
            </p:cNvSpPr>
            <p:nvPr/>
          </p:nvSpPr>
          <p:spPr bwMode="auto">
            <a:xfrm>
              <a:off x="5528" y="2744"/>
              <a:ext cx="113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39F6ADBB-B3F4-4277-8CF0-88FCE2CB0434}"/>
              </a:ext>
            </a:extLst>
          </p:cNvPr>
          <p:cNvGrpSpPr/>
          <p:nvPr/>
        </p:nvGrpSpPr>
        <p:grpSpPr>
          <a:xfrm>
            <a:off x="2064679" y="3591355"/>
            <a:ext cx="1390523" cy="1244505"/>
            <a:chOff x="2486495" y="3313694"/>
            <a:chExt cx="1390523" cy="1244505"/>
          </a:xfrm>
        </p:grpSpPr>
        <p:sp>
          <p:nvSpPr>
            <p:cNvPr id="29757" name="Text Box 18"/>
            <p:cNvSpPr txBox="1">
              <a:spLocks noChangeArrowheads="1"/>
            </p:cNvSpPr>
            <p:nvPr/>
          </p:nvSpPr>
          <p:spPr bwMode="auto">
            <a:xfrm>
              <a:off x="3033787" y="3313694"/>
              <a:ext cx="40798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836613" indent="-322263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285875" indent="-257175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00225" indent="-257175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314575" indent="-257175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717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289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861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433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5" name="CuadroTexto 4"/>
            <p:cNvSpPr txBox="1">
              <a:spLocks noChangeArrowheads="1"/>
            </p:cNvSpPr>
            <p:nvPr/>
          </p:nvSpPr>
          <p:spPr bwMode="auto">
            <a:xfrm>
              <a:off x="2486495" y="3727202"/>
              <a:ext cx="139052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008000"/>
                  </a:solidFill>
                </a:rPr>
                <a:t>(línea de campo)</a:t>
              </a:r>
            </a:p>
          </p:txBody>
        </p:sp>
      </p:grpSp>
      <p:sp>
        <p:nvSpPr>
          <p:cNvPr id="55" name="Text Box 42"/>
          <p:cNvSpPr txBox="1">
            <a:spLocks noChangeArrowheads="1"/>
          </p:cNvSpPr>
          <p:nvPr/>
        </p:nvSpPr>
        <p:spPr bwMode="auto">
          <a:xfrm>
            <a:off x="1611882" y="5592234"/>
            <a:ext cx="8327096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72000" rIns="180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Para que se verifique la Ley de </a:t>
            </a:r>
            <a:r>
              <a:rPr lang="es-ES" sz="2400" dirty="0" err="1">
                <a:solidFill>
                  <a:schemeClr val="tx1"/>
                </a:solidFill>
              </a:rPr>
              <a:t>Ampère</a:t>
            </a:r>
            <a:r>
              <a:rPr lang="es-ES" sz="2400" dirty="0">
                <a:solidFill>
                  <a:schemeClr val="tx1"/>
                </a:solidFill>
              </a:rPr>
              <a:t> hace falta un sumando relacionado con lo que se tiene entre las placas: un </a:t>
            </a:r>
            <a:r>
              <a:rPr lang="es-ES" sz="2400" dirty="0">
                <a:solidFill>
                  <a:srgbClr val="FF0000"/>
                </a:solidFill>
              </a:rPr>
              <a:t>flujo eléctrico variable </a:t>
            </a:r>
            <a:r>
              <a:rPr lang="es-ES" sz="2400" dirty="0">
                <a:solidFill>
                  <a:schemeClr val="tx1"/>
                </a:solidFill>
              </a:rPr>
              <a:t>(fue introducido por Maxwell)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F097F8E-055A-481F-9FFC-E8557A0B0E7F}"/>
                  </a:ext>
                </a:extLst>
              </p:cNvPr>
              <p:cNvSpPr txBox="1"/>
              <p:nvPr/>
            </p:nvSpPr>
            <p:spPr>
              <a:xfrm>
                <a:off x="8280085" y="2521426"/>
                <a:ext cx="1828800" cy="901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E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F097F8E-055A-481F-9FFC-E8557A0B0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085" y="2521426"/>
                <a:ext cx="1828800" cy="9016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C61C1566-4E14-4963-B3E5-260EEC2E81C0}"/>
                  </a:ext>
                </a:extLst>
              </p:cNvPr>
              <p:cNvSpPr txBox="1"/>
              <p:nvPr/>
            </p:nvSpPr>
            <p:spPr>
              <a:xfrm>
                <a:off x="8235790" y="4031174"/>
                <a:ext cx="1828800" cy="901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E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  0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C61C1566-4E14-4963-B3E5-260EEC2E8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790" y="4031174"/>
                <a:ext cx="1828800" cy="9016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CuadroTexto 52">
            <a:extLst>
              <a:ext uri="{FF2B5EF4-FFF2-40B4-BE49-F238E27FC236}">
                <a16:creationId xmlns:a16="http://schemas.microsoft.com/office/drawing/2014/main" id="{7153B012-E4A0-46D8-8FB5-4A17AB431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240" y="3378876"/>
            <a:ext cx="18409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3333FF"/>
                </a:solidFill>
              </a:rPr>
              <a:t>(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 </a:t>
            </a:r>
            <a:r>
              <a:rPr lang="es-ES" sz="2400" dirty="0">
                <a:solidFill>
                  <a:srgbClr val="3333FF"/>
                </a:solidFill>
              </a:rPr>
              <a:t>la cruza)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4F200C8-5400-4745-A05D-225F6661F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6809" y="4815500"/>
            <a:ext cx="22048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3333FF"/>
                </a:solidFill>
              </a:rPr>
              <a:t>(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 </a:t>
            </a:r>
            <a:r>
              <a:rPr lang="es-ES" sz="2400" dirty="0">
                <a:solidFill>
                  <a:srgbClr val="3333FF"/>
                </a:solidFill>
              </a:rPr>
              <a:t>no la cruza)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A0B7C83-E743-474D-B41A-25107382AB49}"/>
              </a:ext>
            </a:extLst>
          </p:cNvPr>
          <p:cNvGrpSpPr/>
          <p:nvPr/>
        </p:nvGrpSpPr>
        <p:grpSpPr>
          <a:xfrm>
            <a:off x="7031360" y="356372"/>
            <a:ext cx="3206903" cy="536549"/>
            <a:chOff x="7031360" y="356372"/>
            <a:chExt cx="3206903" cy="536549"/>
          </a:xfrm>
        </p:grpSpPr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DE838099-E2CC-41BB-A13C-B3C7FACA8A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5010" y="356372"/>
              <a:ext cx="3053253" cy="536549"/>
              <a:chOff x="7391486" y="444860"/>
              <a:chExt cx="3053253" cy="536549"/>
            </a:xfrm>
          </p:grpSpPr>
          <p:sp>
            <p:nvSpPr>
              <p:cNvPr id="58" name="Rectangle 2">
                <a:extLst>
                  <a:ext uri="{FF2B5EF4-FFF2-40B4-BE49-F238E27FC236}">
                    <a16:creationId xmlns:a16="http://schemas.microsoft.com/office/drawing/2014/main" id="{F6EA8496-E04E-4DE6-96D0-342700CF5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86" y="452438"/>
                <a:ext cx="1828800" cy="50958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p:sp>
            <p:nvSpPr>
              <p:cNvPr id="59" name="Text Box 26">
                <a:extLst>
                  <a:ext uri="{FF2B5EF4-FFF2-40B4-BE49-F238E27FC236}">
                    <a16:creationId xmlns:a16="http://schemas.microsoft.com/office/drawing/2014/main" id="{B312A20F-57CC-428B-93B3-76C7391C88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26214" y="444860"/>
                <a:ext cx="1018525" cy="536549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b="1">
                    <a:solidFill>
                      <a:schemeClr val="tx1"/>
                    </a:solidFill>
                  </a:rPr>
                  <a:t>s. XIX</a:t>
                </a:r>
              </a:p>
            </p:txBody>
          </p:sp>
        </p:grpSp>
        <p:sp>
          <p:nvSpPr>
            <p:cNvPr id="56" name="Rectangle 9">
              <a:extLst>
                <a:ext uri="{FF2B5EF4-FFF2-40B4-BE49-F238E27FC236}">
                  <a16:creationId xmlns:a16="http://schemas.microsoft.com/office/drawing/2014/main" id="{2AE677CB-3406-4C85-9229-40B3C9011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1360" y="374281"/>
              <a:ext cx="1935259" cy="4698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9569" tIns="49785" rIns="99569" bIns="49785" anchor="ctr">
              <a:spAutoFit/>
            </a:bodyPr>
            <a:lstStyle>
              <a:lvl1pPr defTabSz="995363">
                <a:spcBef>
                  <a:spcPct val="20000"/>
                </a:spcBef>
                <a:buChar char="•"/>
                <a:tabLst>
                  <a:tab pos="196850" algn="r"/>
                  <a:tab pos="2940050" algn="ctr"/>
                  <a:tab pos="5880100" algn="r"/>
                </a:tabLs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98475" indent="-322263" defTabSz="995363">
                <a:spcBef>
                  <a:spcPct val="20000"/>
                </a:spcBef>
                <a:buChar char="–"/>
                <a:tabLst>
                  <a:tab pos="196850" algn="r"/>
                  <a:tab pos="2940050" algn="ctr"/>
                  <a:tab pos="5880100" algn="r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995363" indent="-257175" defTabSz="995363">
                <a:spcBef>
                  <a:spcPct val="20000"/>
                </a:spcBef>
                <a:buChar char="•"/>
                <a:tabLst>
                  <a:tab pos="196850" algn="r"/>
                  <a:tab pos="2940050" algn="ctr"/>
                  <a:tab pos="5880100" algn="r"/>
                </a:tabLst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493838" indent="-257175" defTabSz="995363">
                <a:spcBef>
                  <a:spcPct val="20000"/>
                </a:spcBef>
                <a:buChar char="–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990725" indent="-257175" defTabSz="995363">
                <a:spcBef>
                  <a:spcPct val="20000"/>
                </a:spcBef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47925" indent="-257175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05125" indent="-257175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362325" indent="-257175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19525" indent="-257175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s-ES" sz="2400" b="1">
                  <a:solidFill>
                    <a:srgbClr val="CC0000"/>
                  </a:solidFill>
                  <a:latin typeface="Arial" panose="020B0604020202020204" pitchFamily="34" charset="0"/>
                </a:rPr>
                <a:t>- MAXWELL</a:t>
              </a:r>
            </a:p>
          </p:txBody>
        </p:sp>
      </p:grpSp>
      <p:sp>
        <p:nvSpPr>
          <p:cNvPr id="61" name="Text Box 38">
            <a:extLst>
              <a:ext uri="{FF2B5EF4-FFF2-40B4-BE49-F238E27FC236}">
                <a16:creationId xmlns:a16="http://schemas.microsoft.com/office/drawing/2014/main" id="{7D4E110E-9BFB-416D-9A44-60055D081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715" y="1891903"/>
            <a:ext cx="2390001" cy="53654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/>
              <a:t>Se intuye, p.ej.</a:t>
            </a:r>
            <a:r>
              <a:rPr lang="es-ES"/>
              <a:t>:</a:t>
            </a:r>
            <a:endParaRPr lang="es-ES" dirty="0"/>
          </a:p>
        </p:txBody>
      </p:sp>
      <p:sp>
        <p:nvSpPr>
          <p:cNvPr id="29702" name="Rectangle 9"/>
          <p:cNvSpPr>
            <a:spLocks noChangeArrowheads="1"/>
          </p:cNvSpPr>
          <p:nvPr/>
        </p:nvSpPr>
        <p:spPr bwMode="auto">
          <a:xfrm>
            <a:off x="1293716" y="374461"/>
            <a:ext cx="7712632" cy="469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98475" indent="-322263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95363" indent="-257175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93838" indent="-257175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90725" indent="-257175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479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051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23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95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5.3.2 FUENTES DE B:  LEY DE AMPÈRE</a:t>
            </a:r>
          </a:p>
        </p:txBody>
      </p:sp>
    </p:spTree>
    <p:extLst>
      <p:ext uri="{BB962C8B-B14F-4D97-AF65-F5344CB8AC3E}">
        <p14:creationId xmlns:p14="http://schemas.microsoft.com/office/powerpoint/2010/main" val="288594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00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0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0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0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0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0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0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0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00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0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00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0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0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9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9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4" dur="500"/>
                                        <p:tgtEl>
                                          <p:spTgt spid="2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9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9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8" dur="500"/>
                                        <p:tgtEl>
                                          <p:spTgt spid="2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9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9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00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00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56" grpId="0" animBg="1"/>
      <p:bldP spid="29754" grpId="0" animBg="1"/>
      <p:bldP spid="29755" grpId="0"/>
      <p:bldP spid="29752" grpId="0" animBg="1"/>
      <p:bldP spid="29753" grpId="0"/>
      <p:bldP spid="29751" grpId="0" animBg="1"/>
      <p:bldP spid="29749" grpId="0" animBg="1"/>
      <p:bldP spid="700447" grpId="0" animBg="1"/>
      <p:bldP spid="700454" grpId="0" animBg="1"/>
      <p:bldP spid="700458" grpId="0" animBg="1"/>
      <p:bldP spid="700470" grpId="0"/>
      <p:bldP spid="700471" grpId="0"/>
      <p:bldP spid="55" grpId="0" animBg="1"/>
      <p:bldP spid="2" grpId="0"/>
      <p:bldP spid="62" grpId="0"/>
      <p:bldP spid="53" grpId="0"/>
      <p:bldP spid="54" grpId="0"/>
      <p:bldP spid="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2" name="Rectangle 9"/>
          <p:cNvSpPr>
            <a:spLocks noChangeArrowheads="1"/>
          </p:cNvSpPr>
          <p:nvPr/>
        </p:nvSpPr>
        <p:spPr bwMode="auto">
          <a:xfrm>
            <a:off x="1273027" y="433836"/>
            <a:ext cx="4859172" cy="516861"/>
          </a:xfrm>
          <a:prstGeom prst="rect">
            <a:avLst/>
          </a:prstGeom>
          <a:solidFill>
            <a:srgbClr val="666699"/>
          </a:solidFill>
          <a:ln>
            <a:noFill/>
          </a:ln>
          <a:effectLst/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98475" indent="-322263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95363" indent="-257175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93838" indent="-257175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90725" indent="-257175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479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051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23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95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LEY DE AMPÈRE- MAXWELL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9CA78853-84CD-453E-B4E5-D9FDB7F69ABF}"/>
                  </a:ext>
                </a:extLst>
              </p:cNvPr>
              <p:cNvSpPr txBox="1"/>
              <p:nvPr/>
            </p:nvSpPr>
            <p:spPr>
              <a:xfrm>
                <a:off x="1482197" y="1263400"/>
                <a:ext cx="4417429" cy="1169634"/>
              </a:xfrm>
              <a:prstGeom prst="rect">
                <a:avLst/>
              </a:prstGeom>
              <a:solidFill>
                <a:srgbClr val="99C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9CA78853-84CD-453E-B4E5-D9FDB7F69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197" y="1263400"/>
                <a:ext cx="4417429" cy="1169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6E3A6218-8F2D-4EC2-91EB-EA4915AE2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901" y="1070508"/>
            <a:ext cx="1584325" cy="1611613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62" name="Text Box 62">
            <a:extLst>
              <a:ext uri="{FF2B5EF4-FFF2-40B4-BE49-F238E27FC236}">
                <a16:creationId xmlns:a16="http://schemas.microsoft.com/office/drawing/2014/main" id="{C0B6F9DB-7053-4907-B931-155653A41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9771" y="2908717"/>
            <a:ext cx="7208405" cy="978584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Variación de flujo eléctrico por unidad </a:t>
            </a:r>
            <a:r>
              <a:rPr lang="es-ES" sz="2400">
                <a:solidFill>
                  <a:schemeClr val="tx1"/>
                </a:solidFill>
              </a:rPr>
              <a:t>de tiempo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a </a:t>
            </a:r>
            <a:r>
              <a:rPr lang="es-ES" sz="2400" dirty="0">
                <a:solidFill>
                  <a:schemeClr val="tx1"/>
                </a:solidFill>
              </a:rPr>
              <a:t>través de cualquier superficie S apoyada en C</a:t>
            </a:r>
          </a:p>
        </p:txBody>
      </p:sp>
      <p:grpSp>
        <p:nvGrpSpPr>
          <p:cNvPr id="72" name="Group 84">
            <a:extLst>
              <a:ext uri="{FF2B5EF4-FFF2-40B4-BE49-F238E27FC236}">
                <a16:creationId xmlns:a16="http://schemas.microsoft.com/office/drawing/2014/main" id="{629BDC23-D7DA-493F-829E-990D9DFF9C97}"/>
              </a:ext>
            </a:extLst>
          </p:cNvPr>
          <p:cNvGrpSpPr>
            <a:grpSpLocks/>
          </p:cNvGrpSpPr>
          <p:nvPr/>
        </p:nvGrpSpPr>
        <p:grpSpPr bwMode="auto">
          <a:xfrm>
            <a:off x="2849464" y="1329192"/>
            <a:ext cx="2911480" cy="989012"/>
            <a:chOff x="1868" y="3489"/>
            <a:chExt cx="1834" cy="623"/>
          </a:xfrm>
        </p:grpSpPr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30EF927B-A6A3-484F-94D1-895295373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3492"/>
              <a:ext cx="1058" cy="620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74" name="Rectangle 80">
              <a:extLst>
                <a:ext uri="{FF2B5EF4-FFF2-40B4-BE49-F238E27FC236}">
                  <a16:creationId xmlns:a16="http://schemas.microsoft.com/office/drawing/2014/main" id="{D8067D30-C14D-420D-9018-D04949440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3489"/>
              <a:ext cx="131" cy="598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75" name="Line 82">
              <a:extLst>
                <a:ext uri="{FF2B5EF4-FFF2-40B4-BE49-F238E27FC236}">
                  <a16:creationId xmlns:a16="http://schemas.microsoft.com/office/drawing/2014/main" id="{BEF50818-70C1-4C6D-9895-DC7F89EAC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" y="3954"/>
              <a:ext cx="25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76" name="Line 83">
              <a:extLst>
                <a:ext uri="{FF2B5EF4-FFF2-40B4-BE49-F238E27FC236}">
                  <a16:creationId xmlns:a16="http://schemas.microsoft.com/office/drawing/2014/main" id="{62325C4A-D6E7-44BD-A49F-C6207E852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3947"/>
              <a:ext cx="22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34ED0698-65BB-C66D-0FA2-25E5E9B3884F}"/>
              </a:ext>
            </a:extLst>
          </p:cNvPr>
          <p:cNvGrpSpPr/>
          <p:nvPr/>
        </p:nvGrpSpPr>
        <p:grpSpPr>
          <a:xfrm>
            <a:off x="5773900" y="1538304"/>
            <a:ext cx="4641336" cy="1275213"/>
            <a:chOff x="6431816" y="1538304"/>
            <a:chExt cx="4641336" cy="1275213"/>
          </a:xfrm>
        </p:grpSpPr>
        <p:sp>
          <p:nvSpPr>
            <p:cNvPr id="79" name="Text Box 49">
              <a:extLst>
                <a:ext uri="{FF2B5EF4-FFF2-40B4-BE49-F238E27FC236}">
                  <a16:creationId xmlns:a16="http://schemas.microsoft.com/office/drawing/2014/main" id="{F93264E6-E985-4377-AA28-C69D5E09C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3740" y="1538304"/>
              <a:ext cx="4069412" cy="1275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>
                  <a:solidFill>
                    <a:srgbClr val="FF0000"/>
                  </a:solidFill>
                </a:rPr>
                <a:t>D</a:t>
              </a:r>
              <a:r>
                <a:rPr lang="es-ES" sz="2400" dirty="0">
                  <a:solidFill>
                    <a:srgbClr val="FF0000"/>
                  </a:solidFill>
                </a:rPr>
                <a:t>: Corriente de</a:t>
              </a:r>
            </a:p>
            <a:p>
              <a:pPr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FF0000"/>
                  </a:solidFill>
                </a:rPr>
                <a:t>      Desplazamiento</a:t>
              </a:r>
            </a:p>
            <a:p>
              <a:pPr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FF0000"/>
                  </a:solidFill>
                </a:rPr>
                <a:t>      (lo añadido por Maxwell)</a:t>
              </a:r>
              <a:endParaRPr lang="es-ES" sz="2400" dirty="0">
                <a:solidFill>
                  <a:srgbClr val="FF0000"/>
                </a:solidFill>
              </a:endParaRPr>
            </a:p>
          </p:txBody>
        </p:sp>
        <p:sp>
          <p:nvSpPr>
            <p:cNvPr id="78" name="Line 48">
              <a:extLst>
                <a:ext uri="{FF2B5EF4-FFF2-40B4-BE49-F238E27FC236}">
                  <a16:creationId xmlns:a16="http://schemas.microsoft.com/office/drawing/2014/main" id="{750188BB-59D0-425F-A15D-2345EF158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1816" y="1820027"/>
              <a:ext cx="5315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A3046D8-8E28-4ECC-BCD3-06CC4BA176AB}"/>
              </a:ext>
            </a:extLst>
          </p:cNvPr>
          <p:cNvCxnSpPr/>
          <p:nvPr/>
        </p:nvCxnSpPr>
        <p:spPr bwMode="auto">
          <a:xfrm>
            <a:off x="5144030" y="2686858"/>
            <a:ext cx="0" cy="271889"/>
          </a:xfrm>
          <a:prstGeom prst="line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67" name="Text Box 42">
            <a:extLst>
              <a:ext uri="{FF2B5EF4-FFF2-40B4-BE49-F238E27FC236}">
                <a16:creationId xmlns:a16="http://schemas.microsoft.com/office/drawing/2014/main" id="{3610C399-26B5-4CA8-9E6C-23F79B0DC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921" y="4011846"/>
            <a:ext cx="8944547" cy="1347916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No hace falta considerar la carga de un condensador para tener un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variable, ya se tiene con una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 variable, al variar el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que da lugar a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I, </a:t>
            </a:r>
            <a:r>
              <a:rPr lang="es-ES" sz="2400" dirty="0">
                <a:solidFill>
                  <a:schemeClr val="tx1"/>
                </a:solidFill>
              </a:rPr>
              <a:t>y al haber autoinducción (se verá más adelante) </a:t>
            </a:r>
          </a:p>
        </p:txBody>
      </p:sp>
      <p:sp>
        <p:nvSpPr>
          <p:cNvPr id="70" name="Text Box 42">
            <a:extLst>
              <a:ext uri="{FF2B5EF4-FFF2-40B4-BE49-F238E27FC236}">
                <a16:creationId xmlns:a16="http://schemas.microsoft.com/office/drawing/2014/main" id="{D7EFD10A-2E96-435E-AB1B-61A5A24A9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072" y="5493009"/>
            <a:ext cx="8944547" cy="1347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En las leyes de </a:t>
            </a:r>
            <a:r>
              <a:rPr lang="es-ES" sz="2400" dirty="0" err="1">
                <a:solidFill>
                  <a:schemeClr val="tx1"/>
                </a:solidFill>
              </a:rPr>
              <a:t>Ámpere</a:t>
            </a:r>
            <a:r>
              <a:rPr lang="es-ES" sz="2400" dirty="0">
                <a:solidFill>
                  <a:schemeClr val="tx1"/>
                </a:solidFill>
              </a:rPr>
              <a:t> y Biot-Savart se consideran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ctes</a:t>
            </a:r>
            <a:r>
              <a:rPr lang="es-ES" sz="2400" dirty="0">
                <a:solidFill>
                  <a:schemeClr val="tx1"/>
                </a:solidFill>
              </a:rPr>
              <a:t>., no hay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(t), por tanto, si hay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(t) dan un valor aproximado de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, que es mejor cuanto menos relevante sea el efecto de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(t), la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0688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61" grpId="0" animBg="1"/>
      <p:bldP spid="62" grpId="0" animBg="1"/>
      <p:bldP spid="67" grpId="0" animBg="1"/>
      <p:bldP spid="7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ABAD8722-69B9-41E8-A903-2E32F7952DD2}"/>
                  </a:ext>
                </a:extLst>
              </p:cNvPr>
              <p:cNvSpPr txBox="1"/>
              <p:nvPr/>
            </p:nvSpPr>
            <p:spPr>
              <a:xfrm>
                <a:off x="3562456" y="859083"/>
                <a:ext cx="4417429" cy="1169634"/>
              </a:xfrm>
              <a:prstGeom prst="rect">
                <a:avLst/>
              </a:prstGeom>
              <a:solidFill>
                <a:srgbClr val="99C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ABAD8722-69B9-41E8-A903-2E32F7952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456" y="859083"/>
                <a:ext cx="4417429" cy="1169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2557" name="Group 93"/>
          <p:cNvGrpSpPr>
            <a:grpSpLocks/>
          </p:cNvGrpSpPr>
          <p:nvPr/>
        </p:nvGrpSpPr>
        <p:grpSpPr bwMode="auto">
          <a:xfrm>
            <a:off x="1363983" y="3304481"/>
            <a:ext cx="2185988" cy="609600"/>
            <a:chOff x="1031" y="2694"/>
            <a:chExt cx="1377" cy="384"/>
          </a:xfrm>
        </p:grpSpPr>
        <p:sp>
          <p:nvSpPr>
            <p:cNvPr id="31758" name="Text Box 22"/>
            <p:cNvSpPr txBox="1">
              <a:spLocks noChangeArrowheads="1"/>
            </p:cNvSpPr>
            <p:nvPr/>
          </p:nvSpPr>
          <p:spPr bwMode="auto">
            <a:xfrm>
              <a:off x="1031" y="2694"/>
              <a:ext cx="1377" cy="384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26000" tIns="118800" rIns="126000" bIns="118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FFFFFF"/>
                  </a:solidFill>
                  <a:sym typeface="Symbol" panose="05050102010706020507" pitchFamily="18" charset="2"/>
                </a:rPr>
                <a:t>Fuentes de B</a:t>
              </a:r>
              <a:endParaRPr lang="es-ES" sz="2400">
                <a:solidFill>
                  <a:srgbClr val="FFFFFF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3" name="Line 23"/>
            <p:cNvSpPr>
              <a:spLocks noChangeShapeType="1"/>
            </p:cNvSpPr>
            <p:nvPr/>
          </p:nvSpPr>
          <p:spPr bwMode="auto">
            <a:xfrm>
              <a:off x="2198" y="2769"/>
              <a:ext cx="136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702498" name="Text Box 34"/>
          <p:cNvSpPr txBox="1">
            <a:spLocks noChangeArrowheads="1"/>
          </p:cNvSpPr>
          <p:nvPr/>
        </p:nvSpPr>
        <p:spPr bwMode="auto">
          <a:xfrm>
            <a:off x="3194103" y="225857"/>
            <a:ext cx="299425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 dirty="0">
                <a:solidFill>
                  <a:srgbClr val="008000"/>
                </a:solidFill>
              </a:rPr>
              <a:t>EFECTO </a:t>
            </a:r>
            <a:r>
              <a:rPr lang="es-ES" sz="2400" b="1">
                <a:solidFill>
                  <a:srgbClr val="008000"/>
                </a:solidFill>
                <a:sym typeface="Symbol" panose="05050102010706020507" pitchFamily="18" charset="2"/>
              </a:rPr>
              <a:t></a:t>
            </a:r>
            <a:r>
              <a:rPr lang="es-ES" sz="2400" b="1">
                <a:solidFill>
                  <a:srgbClr val="008000"/>
                </a:solidFill>
              </a:rPr>
              <a:t> CAUSA</a:t>
            </a:r>
            <a:endParaRPr lang="es-ES" sz="2400" b="1" dirty="0">
              <a:solidFill>
                <a:srgbClr val="008000"/>
              </a:solidFill>
            </a:endParaRPr>
          </a:p>
        </p:txBody>
      </p:sp>
      <p:sp>
        <p:nvSpPr>
          <p:cNvPr id="702541" name="Text Box 77"/>
          <p:cNvSpPr txBox="1">
            <a:spLocks noChangeArrowheads="1"/>
          </p:cNvSpPr>
          <p:nvPr/>
        </p:nvSpPr>
        <p:spPr bwMode="auto">
          <a:xfrm>
            <a:off x="3780174" y="2042875"/>
            <a:ext cx="116439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FF0000"/>
                </a:solidFill>
                <a:sym typeface="Symbol" panose="05050102010706020507" pitchFamily="18" charset="2"/>
              </a:rPr>
              <a:t></a:t>
            </a:r>
            <a:r>
              <a:rPr lang="es-ES" sz="2400">
                <a:solidFill>
                  <a:srgbClr val="FF0000"/>
                </a:solidFill>
              </a:rPr>
              <a:t> </a:t>
            </a:r>
            <a:r>
              <a:rPr lang="es-ES" sz="2400" dirty="0">
                <a:solidFill>
                  <a:srgbClr val="FF0000"/>
                </a:solidFill>
              </a:rPr>
              <a:t>0  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</a:t>
            </a:r>
          </a:p>
        </p:txBody>
      </p:sp>
      <p:sp>
        <p:nvSpPr>
          <p:cNvPr id="31759" name="Text Box 67"/>
          <p:cNvSpPr txBox="1">
            <a:spLocks noChangeArrowheads="1"/>
          </p:cNvSpPr>
          <p:nvPr/>
        </p:nvSpPr>
        <p:spPr bwMode="auto">
          <a:xfrm>
            <a:off x="5747559" y="5402312"/>
            <a:ext cx="4615950" cy="12752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Así la integral depende de t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y </a:t>
            </a:r>
            <a:r>
              <a:rPr lang="es-ES" sz="2400" dirty="0">
                <a:solidFill>
                  <a:schemeClr val="tx1"/>
                </a:solidFill>
              </a:rPr>
              <a:t>la derivada </a:t>
            </a:r>
            <a:r>
              <a:rPr lang="es-ES" sz="2400">
                <a:solidFill>
                  <a:schemeClr val="tx1"/>
                </a:solidFill>
              </a:rPr>
              <a:t>no es nula,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e implica </a:t>
            </a:r>
            <a:r>
              <a:rPr lang="es-ES" sz="2400" dirty="0">
                <a:solidFill>
                  <a:schemeClr val="tx1"/>
                </a:solidFill>
              </a:rPr>
              <a:t>que debe existir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endParaRPr lang="es-ES" sz="2400" dirty="0">
              <a:solidFill>
                <a:schemeClr val="tx1"/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5A018FB-B4BE-4A7A-A7C5-0790EF0D535C}"/>
              </a:ext>
            </a:extLst>
          </p:cNvPr>
          <p:cNvGrpSpPr/>
          <p:nvPr/>
        </p:nvGrpSpPr>
        <p:grpSpPr>
          <a:xfrm>
            <a:off x="1363922" y="4040350"/>
            <a:ext cx="4158039" cy="1275207"/>
            <a:chOff x="1327357" y="4224605"/>
            <a:chExt cx="4158039" cy="1275207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4B11571-FD6A-49DB-8366-76B9FB68788C}"/>
                </a:ext>
              </a:extLst>
            </p:cNvPr>
            <p:cNvSpPr/>
            <p:nvPr/>
          </p:nvSpPr>
          <p:spPr bwMode="auto">
            <a:xfrm>
              <a:off x="1327357" y="4224605"/>
              <a:ext cx="4158039" cy="1275207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2553" name="Text Box 89"/>
            <p:cNvSpPr txBox="1">
              <a:spLocks noChangeArrowheads="1"/>
            </p:cNvSpPr>
            <p:nvPr/>
          </p:nvSpPr>
          <p:spPr bwMode="auto">
            <a:xfrm>
              <a:off x="1376861" y="4612207"/>
              <a:ext cx="4088872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  <a:sym typeface="Symbol" panose="05050102010706020507" pitchFamily="18" charset="2"/>
                </a:rPr>
                <a:t>CARGAS EN MOVIMIENTO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CBABA88A-CAF0-45E0-85D6-0C89C7531598}"/>
              </a:ext>
            </a:extLst>
          </p:cNvPr>
          <p:cNvGrpSpPr/>
          <p:nvPr/>
        </p:nvGrpSpPr>
        <p:grpSpPr>
          <a:xfrm>
            <a:off x="1392123" y="5402312"/>
            <a:ext cx="4129838" cy="1275207"/>
            <a:chOff x="1355558" y="5586567"/>
            <a:chExt cx="4129838" cy="1275207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3E8AFC1B-3006-4911-A78D-692B8BFBE1A0}"/>
                </a:ext>
              </a:extLst>
            </p:cNvPr>
            <p:cNvSpPr/>
            <p:nvPr/>
          </p:nvSpPr>
          <p:spPr bwMode="auto">
            <a:xfrm>
              <a:off x="1355558" y="5586567"/>
              <a:ext cx="4129838" cy="1275207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2554" name="Text Box 90"/>
            <p:cNvSpPr txBox="1">
              <a:spLocks noChangeArrowheads="1"/>
            </p:cNvSpPr>
            <p:nvPr/>
          </p:nvSpPr>
          <p:spPr bwMode="auto">
            <a:xfrm>
              <a:off x="1367098" y="5805885"/>
              <a:ext cx="4087813" cy="904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  <a:sym typeface="Symbol" panose="05050102010706020507" pitchFamily="18" charset="2"/>
                </a:rPr>
                <a:t>CAMPOS ELÉCTRICOS VARIABLES EN EL TIEMPO</a:t>
              </a:r>
            </a:p>
          </p:txBody>
        </p:sp>
      </p:grpSp>
      <p:cxnSp>
        <p:nvCxnSpPr>
          <p:cNvPr id="5" name="Conector recto de flecha 4"/>
          <p:cNvCxnSpPr/>
          <p:nvPr/>
        </p:nvCxnSpPr>
        <p:spPr bwMode="auto">
          <a:xfrm>
            <a:off x="5393425" y="1702228"/>
            <a:ext cx="0" cy="357695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6" name="Conector recto de flecha 15"/>
          <p:cNvCxnSpPr/>
          <p:nvPr/>
        </p:nvCxnSpPr>
        <p:spPr bwMode="auto">
          <a:xfrm>
            <a:off x="6651067" y="1993252"/>
            <a:ext cx="0" cy="576072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5" name="Text Box 67">
            <a:extLst>
              <a:ext uri="{FF2B5EF4-FFF2-40B4-BE49-F238E27FC236}">
                <a16:creationId xmlns:a16="http://schemas.microsoft.com/office/drawing/2014/main" id="{8D6A82DE-2182-4E42-90C6-38D4483E3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4040344"/>
            <a:ext cx="4648509" cy="12752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Entendiendo como corriente </a:t>
            </a:r>
            <a:r>
              <a:rPr lang="es-ES" sz="2400" u="sng" dirty="0">
                <a:solidFill>
                  <a:schemeClr val="tx1"/>
                </a:solidFill>
              </a:rPr>
              <a:t>cualquier</a:t>
            </a:r>
            <a:r>
              <a:rPr lang="es-ES" sz="2400" dirty="0">
                <a:solidFill>
                  <a:schemeClr val="tx1"/>
                </a:solidFill>
              </a:rPr>
              <a:t> movimiento de carga  caracterizado por su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endParaRPr lang="es-E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" name="Text Box 78">
            <a:extLst>
              <a:ext uri="{FF2B5EF4-FFF2-40B4-BE49-F238E27FC236}">
                <a16:creationId xmlns:a16="http://schemas.microsoft.com/office/drawing/2014/main" id="{50E50BDD-3AD3-48D4-97E7-9C4E5DCD1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8572" y="2518234"/>
            <a:ext cx="60655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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0</a:t>
            </a:r>
          </a:p>
        </p:txBody>
      </p:sp>
      <p:sp>
        <p:nvSpPr>
          <p:cNvPr id="20" name="Text Box 78">
            <a:extLst>
              <a:ext uri="{FF2B5EF4-FFF2-40B4-BE49-F238E27FC236}">
                <a16:creationId xmlns:a16="http://schemas.microsoft.com/office/drawing/2014/main" id="{89DA7A4F-48D0-4843-ACFB-3C74D6BD5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1370" y="2047293"/>
            <a:ext cx="60655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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0</a:t>
            </a:r>
          </a:p>
        </p:txBody>
      </p:sp>
      <p:sp>
        <p:nvSpPr>
          <p:cNvPr id="21" name="Text Box 77">
            <a:extLst>
              <a:ext uri="{FF2B5EF4-FFF2-40B4-BE49-F238E27FC236}">
                <a16:creationId xmlns:a16="http://schemas.microsoft.com/office/drawing/2014/main" id="{0ED4BF2D-F3B6-4E4C-AA16-258DCB43A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1678" y="2044365"/>
            <a:ext cx="121569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 </a:t>
            </a:r>
            <a:r>
              <a:rPr lang="en-US" sz="2400" b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rgbClr val="FF0000"/>
                </a:solidFill>
              </a:rPr>
              <a:t>  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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3" name="Text Box 77">
            <a:extLst>
              <a:ext uri="{FF2B5EF4-FFF2-40B4-BE49-F238E27FC236}">
                <a16:creationId xmlns:a16="http://schemas.microsoft.com/office/drawing/2014/main" id="{12F0B87E-156F-49ED-BBFC-A11824FB1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653" y="2502748"/>
            <a:ext cx="116439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FF0000"/>
                </a:solidFill>
                <a:sym typeface="Symbol" panose="05050102010706020507" pitchFamily="18" charset="2"/>
              </a:rPr>
              <a:t></a:t>
            </a:r>
            <a:r>
              <a:rPr lang="es-ES" sz="2400">
                <a:solidFill>
                  <a:srgbClr val="FF0000"/>
                </a:solidFill>
              </a:rPr>
              <a:t> </a:t>
            </a:r>
            <a:r>
              <a:rPr lang="es-ES" sz="2400" dirty="0">
                <a:solidFill>
                  <a:srgbClr val="FF0000"/>
                </a:solidFill>
              </a:rPr>
              <a:t>0  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</a:t>
            </a:r>
          </a:p>
        </p:txBody>
      </p:sp>
      <p:sp>
        <p:nvSpPr>
          <p:cNvPr id="24" name="Text Box 77">
            <a:extLst>
              <a:ext uri="{FF2B5EF4-FFF2-40B4-BE49-F238E27FC236}">
                <a16:creationId xmlns:a16="http://schemas.microsoft.com/office/drawing/2014/main" id="{5648A4BF-9B11-49B0-8B44-397C6CF10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157" y="2504238"/>
            <a:ext cx="121569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 </a:t>
            </a:r>
            <a:r>
              <a:rPr lang="en-US" sz="2400" b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rgbClr val="FF0000"/>
                </a:solidFill>
              </a:rPr>
              <a:t>  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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0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2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2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0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2498" grpId="0"/>
      <p:bldP spid="702541" grpId="0"/>
      <p:bldP spid="31759" grpId="0" animBg="1"/>
      <p:bldP spid="15" grpId="0" animBg="1"/>
      <p:bldP spid="19" grpId="0"/>
      <p:bldP spid="20" grpId="0"/>
      <p:bldP spid="21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E052AC5-C2EC-83C2-6193-AB2161FA82F7}"/>
                  </a:ext>
                </a:extLst>
              </p:cNvPr>
              <p:cNvSpPr txBox="1"/>
              <p:nvPr/>
            </p:nvSpPr>
            <p:spPr>
              <a:xfrm>
                <a:off x="3562456" y="859083"/>
                <a:ext cx="4417429" cy="1169634"/>
              </a:xfrm>
              <a:prstGeom prst="rect">
                <a:avLst/>
              </a:prstGeom>
              <a:solidFill>
                <a:srgbClr val="99C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E052AC5-C2EC-83C2-6193-AB2161FA8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456" y="859083"/>
                <a:ext cx="4417429" cy="1169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800" name="Group 85"/>
          <p:cNvGrpSpPr>
            <a:grpSpLocks/>
          </p:cNvGrpSpPr>
          <p:nvPr/>
        </p:nvGrpSpPr>
        <p:grpSpPr bwMode="auto">
          <a:xfrm>
            <a:off x="1378055" y="3305120"/>
            <a:ext cx="1981201" cy="620713"/>
            <a:chOff x="1041" y="2236"/>
            <a:chExt cx="1248" cy="391"/>
          </a:xfrm>
        </p:grpSpPr>
        <p:sp>
          <p:nvSpPr>
            <p:cNvPr id="33844" name="Text Box 25"/>
            <p:cNvSpPr txBox="1">
              <a:spLocks noChangeArrowheads="1"/>
            </p:cNvSpPr>
            <p:nvPr/>
          </p:nvSpPr>
          <p:spPr bwMode="auto">
            <a:xfrm>
              <a:off x="1041" y="2236"/>
              <a:ext cx="1248" cy="391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26000" tIns="154800" rIns="126000" bIns="154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Symbol" panose="05050102010706020507" pitchFamily="18" charset="2"/>
                <a:buNone/>
              </a:pPr>
              <a:r>
                <a:rPr lang="es-ES" sz="2400" b="1">
                  <a:solidFill>
                    <a:srgbClr val="FFFFFF"/>
                  </a:solidFill>
                  <a:sym typeface="Symbol" panose="05050102010706020507" pitchFamily="18" charset="2"/>
                </a:rPr>
                <a:t>Líneas de B</a:t>
              </a:r>
              <a:endParaRPr lang="es-ES" sz="2400">
                <a:solidFill>
                  <a:srgbClr val="FFFFFF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  <p:sp>
          <p:nvSpPr>
            <p:cNvPr id="33845" name="Line 26"/>
            <p:cNvSpPr>
              <a:spLocks noChangeShapeType="1"/>
            </p:cNvSpPr>
            <p:nvPr/>
          </p:nvSpPr>
          <p:spPr bwMode="auto">
            <a:xfrm>
              <a:off x="2071" y="2317"/>
              <a:ext cx="136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714819" name="Text Box 67"/>
          <p:cNvSpPr txBox="1">
            <a:spLocks noChangeArrowheads="1"/>
          </p:cNvSpPr>
          <p:nvPr/>
        </p:nvSpPr>
        <p:spPr bwMode="auto">
          <a:xfrm>
            <a:off x="1388626" y="4140286"/>
            <a:ext cx="6165622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solidFill>
                  <a:schemeClr val="tx2"/>
                </a:solidFill>
                <a:sym typeface="Symbol" panose="05050102010706020507" pitchFamily="18" charset="2"/>
              </a:rPr>
              <a:t>Rodean corrientes de carga positiva con sentido </a:t>
            </a:r>
            <a:r>
              <a:rPr lang="es-ES" sz="2400" u="sng" dirty="0">
                <a:solidFill>
                  <a:schemeClr val="tx2"/>
                </a:solidFill>
                <a:sym typeface="Symbol" panose="05050102010706020507" pitchFamily="18" charset="2"/>
              </a:rPr>
              <a:t>antihorario</a:t>
            </a:r>
            <a:r>
              <a:rPr lang="es-ES" sz="2400" dirty="0">
                <a:solidFill>
                  <a:schemeClr val="tx2"/>
                </a:solidFill>
                <a:sym typeface="Symbol" panose="05050102010706020507" pitchFamily="18" charset="2"/>
              </a:rPr>
              <a:t> respecto al sentido de </a:t>
            </a:r>
            <a:r>
              <a:rPr lang="es-ES" sz="2400" dirty="0">
                <a:solidFill>
                  <a:schemeClr val="tx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</a:p>
        </p:txBody>
      </p:sp>
      <p:sp>
        <p:nvSpPr>
          <p:cNvPr id="714820" name="Text Box 68"/>
          <p:cNvSpPr txBox="1">
            <a:spLocks noChangeArrowheads="1"/>
          </p:cNvSpPr>
          <p:nvPr/>
        </p:nvSpPr>
        <p:spPr bwMode="auto">
          <a:xfrm>
            <a:off x="5188008" y="2137715"/>
            <a:ext cx="61777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&gt;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714821" name="Text Box 69"/>
          <p:cNvSpPr txBox="1">
            <a:spLocks noChangeArrowheads="1"/>
          </p:cNvSpPr>
          <p:nvPr/>
        </p:nvSpPr>
        <p:spPr bwMode="auto">
          <a:xfrm>
            <a:off x="1401360" y="2168243"/>
            <a:ext cx="1707817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Circulación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algn="ctr" eaLnBrk="1" hangingPunct="1">
              <a:spcBef>
                <a:spcPts val="0"/>
              </a:spcBef>
            </a:pPr>
            <a:r>
              <a:rPr lang="es-E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antihoraria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33817" name="Text Box 38"/>
          <p:cNvSpPr txBox="1">
            <a:spLocks noChangeArrowheads="1"/>
          </p:cNvSpPr>
          <p:nvPr/>
        </p:nvSpPr>
        <p:spPr bwMode="auto">
          <a:xfrm>
            <a:off x="1379101" y="5578146"/>
            <a:ext cx="6175149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solidFill>
                  <a:schemeClr val="tx2"/>
                </a:solidFill>
                <a:sym typeface="Symbol" panose="05050102010706020507" pitchFamily="18" charset="2"/>
              </a:rPr>
              <a:t>Rodean líneas de </a:t>
            </a:r>
            <a:r>
              <a:rPr lang="es-ES" sz="2400" b="1" dirty="0">
                <a:solidFill>
                  <a:schemeClr val="tx2"/>
                </a:solidFill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chemeClr val="tx2"/>
                </a:solidFill>
                <a:sym typeface="Symbol" panose="05050102010706020507" pitchFamily="18" charset="2"/>
              </a:rPr>
              <a:t> con sentido </a:t>
            </a:r>
            <a:r>
              <a:rPr lang="es-ES" sz="2400" u="sng" dirty="0">
                <a:solidFill>
                  <a:schemeClr val="tx2"/>
                </a:solidFill>
                <a:sym typeface="Symbol" panose="05050102010706020507" pitchFamily="18" charset="2"/>
              </a:rPr>
              <a:t>antihorario</a:t>
            </a:r>
            <a:r>
              <a:rPr lang="es-ES" sz="2400" dirty="0">
                <a:solidFill>
                  <a:schemeClr val="tx2"/>
                </a:solidFill>
                <a:sym typeface="Symbol" panose="05050102010706020507" pitchFamily="18" charset="2"/>
              </a:rPr>
              <a:t> respecto al sentido de aumento de </a:t>
            </a:r>
            <a:r>
              <a:rPr lang="es-ES" sz="2400" b="1" baseline="-25000" dirty="0">
                <a:solidFill>
                  <a:schemeClr val="tx2"/>
                </a:solidFill>
                <a:sym typeface="Symbol" panose="05050102010706020507" pitchFamily="18" charset="2"/>
              </a:rPr>
              <a:t>E</a:t>
            </a:r>
            <a:endParaRPr lang="es-ES" sz="2400" baseline="-25000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76" name="Text Box 69">
            <a:extLst>
              <a:ext uri="{FF2B5EF4-FFF2-40B4-BE49-F238E27FC236}">
                <a16:creationId xmlns:a16="http://schemas.microsoft.com/office/drawing/2014/main" id="{9ABD203D-CDF7-4348-90FE-C11E3843B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113" y="2663762"/>
            <a:ext cx="61777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&gt;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77" name="Text Box 69">
            <a:extLst>
              <a:ext uri="{FF2B5EF4-FFF2-40B4-BE49-F238E27FC236}">
                <a16:creationId xmlns:a16="http://schemas.microsoft.com/office/drawing/2014/main" id="{FD024C3C-6093-4F29-997C-8BE737043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563" y="2146849"/>
            <a:ext cx="61777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&gt;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95" name="Text Box 69">
            <a:extLst>
              <a:ext uri="{FF2B5EF4-FFF2-40B4-BE49-F238E27FC236}">
                <a16:creationId xmlns:a16="http://schemas.microsoft.com/office/drawing/2014/main" id="{D6DDB824-E139-4238-8D03-A1232DB68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7688" y="2114328"/>
            <a:ext cx="48472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</a:t>
            </a:r>
          </a:p>
        </p:txBody>
      </p:sp>
      <p:sp>
        <p:nvSpPr>
          <p:cNvPr id="96" name="Text Box 68">
            <a:extLst>
              <a:ext uri="{FF2B5EF4-FFF2-40B4-BE49-F238E27FC236}">
                <a16:creationId xmlns:a16="http://schemas.microsoft.com/office/drawing/2014/main" id="{B37AABD8-CDCC-4EC7-9A3E-CA6F8D2CC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1828" y="2138084"/>
            <a:ext cx="48472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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2" name="Text Box 69">
            <a:extLst>
              <a:ext uri="{FF2B5EF4-FFF2-40B4-BE49-F238E27FC236}">
                <a16:creationId xmlns:a16="http://schemas.microsoft.com/office/drawing/2014/main" id="{2C84AC6E-B70C-4F6F-83FD-E95AD4CA0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519" y="2648710"/>
            <a:ext cx="61777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&gt;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3" name="Text Box 68">
            <a:extLst>
              <a:ext uri="{FF2B5EF4-FFF2-40B4-BE49-F238E27FC236}">
                <a16:creationId xmlns:a16="http://schemas.microsoft.com/office/drawing/2014/main" id="{0AFB2B7F-4C4F-4127-BBDD-094390A15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8784" y="2639945"/>
            <a:ext cx="48472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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4" name="Text Box 66">
            <a:extLst>
              <a:ext uri="{FF2B5EF4-FFF2-40B4-BE49-F238E27FC236}">
                <a16:creationId xmlns:a16="http://schemas.microsoft.com/office/drawing/2014/main" id="{3BFC81DC-1883-4339-9348-4989EEA56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614" y="1547541"/>
            <a:ext cx="122691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</a:rPr>
              <a:t>si viene</a:t>
            </a:r>
            <a:endParaRPr lang="es-ES" sz="2400" b="1" dirty="0">
              <a:solidFill>
                <a:srgbClr val="FF0000"/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00120D5-84DA-F558-38EF-1016BB536E57}"/>
              </a:ext>
            </a:extLst>
          </p:cNvPr>
          <p:cNvGrpSpPr/>
          <p:nvPr/>
        </p:nvGrpSpPr>
        <p:grpSpPr>
          <a:xfrm>
            <a:off x="8189560" y="3845968"/>
            <a:ext cx="1698256" cy="1385088"/>
            <a:chOff x="8189560" y="3845968"/>
            <a:chExt cx="1698256" cy="1385088"/>
          </a:xfrm>
        </p:grpSpPr>
        <p:sp>
          <p:nvSpPr>
            <p:cNvPr id="62" name="Line 57">
              <a:extLst>
                <a:ext uri="{FF2B5EF4-FFF2-40B4-BE49-F238E27FC236}">
                  <a16:creationId xmlns:a16="http://schemas.microsoft.com/office/drawing/2014/main" id="{86649A6E-9840-4D65-9CB0-8D05E3B16D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6178" y="4601709"/>
              <a:ext cx="215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F6F43640-6C0E-449B-950B-1A3E54A1F129}"/>
                </a:ext>
              </a:extLst>
            </p:cNvPr>
            <p:cNvGrpSpPr/>
            <p:nvPr/>
          </p:nvGrpSpPr>
          <p:grpSpPr>
            <a:xfrm>
              <a:off x="8189560" y="3845968"/>
              <a:ext cx="1698256" cy="1385088"/>
              <a:chOff x="8284150" y="3940558"/>
              <a:chExt cx="1698256" cy="1385088"/>
            </a:xfrm>
          </p:grpSpPr>
          <p:grpSp>
            <p:nvGrpSpPr>
              <p:cNvPr id="70" name="Grupo 69">
                <a:extLst>
                  <a:ext uri="{FF2B5EF4-FFF2-40B4-BE49-F238E27FC236}">
                    <a16:creationId xmlns:a16="http://schemas.microsoft.com/office/drawing/2014/main" id="{A16E10EE-D215-459C-88B0-A97F9B2CFF7F}"/>
                  </a:ext>
                </a:extLst>
              </p:cNvPr>
              <p:cNvGrpSpPr/>
              <p:nvPr/>
            </p:nvGrpSpPr>
            <p:grpSpPr>
              <a:xfrm rot="2399465">
                <a:off x="9485594" y="4458889"/>
                <a:ext cx="496812" cy="477445"/>
                <a:chOff x="7079298" y="4873353"/>
                <a:chExt cx="496812" cy="477445"/>
              </a:xfrm>
            </p:grpSpPr>
            <p:sp>
              <p:nvSpPr>
                <p:cNvPr id="72" name="Rectángulo 71">
                  <a:extLst>
                    <a:ext uri="{FF2B5EF4-FFF2-40B4-BE49-F238E27FC236}">
                      <a16:creationId xmlns:a16="http://schemas.microsoft.com/office/drawing/2014/main" id="{8A4CCD8A-4D3E-41C7-BC5C-F8EDD2EF4F8C}"/>
                    </a:ext>
                  </a:extLst>
                </p:cNvPr>
                <p:cNvSpPr/>
                <p:nvPr/>
              </p:nvSpPr>
              <p:spPr bwMode="auto">
                <a:xfrm rot="19084679">
                  <a:off x="7079298" y="4881048"/>
                  <a:ext cx="487680" cy="469750"/>
                </a:xfrm>
                <a:prstGeom prst="rect">
                  <a:avLst/>
                </a:prstGeom>
                <a:solidFill>
                  <a:srgbClr val="FFFF00"/>
                </a:solidFill>
                <a:ln w="25400" cap="flat" cmpd="sng" algn="ctr">
                  <a:noFill/>
                  <a:prstDash val="solid"/>
                  <a:round/>
                  <a:headEnd type="none" w="med" len="med"/>
                  <a:tailEnd type="stealth" w="lg" len="lg"/>
                </a:ln>
                <a:effectLst/>
                <a:extLs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vert="horz" wrap="none" lIns="90000" tIns="82800" rIns="90000" bIns="82800" numCol="1" rtlCol="0" anchor="t" anchorCtr="1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73" name="Group 87">
                  <a:extLst>
                    <a:ext uri="{FF2B5EF4-FFF2-40B4-BE49-F238E27FC236}">
                      <a16:creationId xmlns:a16="http://schemas.microsoft.com/office/drawing/2014/main" id="{438B742A-8C32-4A66-963E-18E4557970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9671486">
                  <a:off x="7144310" y="4873353"/>
                  <a:ext cx="431800" cy="420687"/>
                  <a:chOff x="6083" y="3089"/>
                  <a:chExt cx="272" cy="265"/>
                </a:xfrm>
              </p:grpSpPr>
              <p:sp>
                <p:nvSpPr>
                  <p:cNvPr id="79" name="Line 84">
                    <a:extLst>
                      <a:ext uri="{FF2B5EF4-FFF2-40B4-BE49-F238E27FC236}">
                        <a16:creationId xmlns:a16="http://schemas.microsoft.com/office/drawing/2014/main" id="{6F95EF5B-F5D8-402E-80A6-FD4A242255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415585" flipH="1">
                    <a:off x="6098" y="3207"/>
                    <a:ext cx="257" cy="14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Line 85">
                    <a:extLst>
                      <a:ext uri="{FF2B5EF4-FFF2-40B4-BE49-F238E27FC236}">
                        <a16:creationId xmlns:a16="http://schemas.microsoft.com/office/drawing/2014/main" id="{401EEF13-417F-4691-9CBF-F958B86767F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415585">
                    <a:off x="6083" y="3089"/>
                    <a:ext cx="251" cy="10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Oval 86">
                    <a:extLst>
                      <a:ext uri="{FF2B5EF4-FFF2-40B4-BE49-F238E27FC236}">
                        <a16:creationId xmlns:a16="http://schemas.microsoft.com/office/drawing/2014/main" id="{42A7866F-1791-40AC-BC5C-EBEA293F78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415585">
                    <a:off x="6132" y="3128"/>
                    <a:ext cx="56" cy="19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5C5CB8AA-2793-4C66-AD14-55D205190CBC}"/>
                  </a:ext>
                </a:extLst>
              </p:cNvPr>
              <p:cNvGrpSpPr/>
              <p:nvPr/>
            </p:nvGrpSpPr>
            <p:grpSpPr>
              <a:xfrm>
                <a:off x="8284150" y="3940558"/>
                <a:ext cx="784486" cy="1385088"/>
                <a:chOff x="7993754" y="2976998"/>
                <a:chExt cx="1042989" cy="1841501"/>
              </a:xfrm>
            </p:grpSpPr>
            <p:grpSp>
              <p:nvGrpSpPr>
                <p:cNvPr id="21" name="Group 2">
                  <a:extLst>
                    <a:ext uri="{FF2B5EF4-FFF2-40B4-BE49-F238E27FC236}">
                      <a16:creationId xmlns:a16="http://schemas.microsoft.com/office/drawing/2014/main" id="{40218AE1-EC4F-4F4C-AD5C-D2CE0B6EEE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93754" y="3977124"/>
                  <a:ext cx="1042989" cy="0"/>
                  <a:chOff x="2836" y="6086478"/>
                  <a:chExt cx="657" cy="0"/>
                </a:xfrm>
              </p:grpSpPr>
              <p:sp>
                <p:nvSpPr>
                  <p:cNvPr id="25" name="Line 3">
                    <a:extLst>
                      <a:ext uri="{FF2B5EF4-FFF2-40B4-BE49-F238E27FC236}">
                        <a16:creationId xmlns:a16="http://schemas.microsoft.com/office/drawing/2014/main" id="{4EBE1926-C94F-49BD-967F-BA9239A9A8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36" y="6086478"/>
                    <a:ext cx="657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" name="Line 4">
                    <a:extLst>
                      <a:ext uri="{FF2B5EF4-FFF2-40B4-BE49-F238E27FC236}">
                        <a16:creationId xmlns:a16="http://schemas.microsoft.com/office/drawing/2014/main" id="{6D8ED476-DFDA-43B9-A1AF-CD4D1A8561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20" y="6086478"/>
                    <a:ext cx="20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 type="triangl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44" name="Group 39">
                  <a:extLst>
                    <a:ext uri="{FF2B5EF4-FFF2-40B4-BE49-F238E27FC236}">
                      <a16:creationId xmlns:a16="http://schemas.microsoft.com/office/drawing/2014/main" id="{0BDAD52E-EF56-4F0C-AB8B-203BD13C4E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5841" y="2976998"/>
                  <a:ext cx="296863" cy="1841501"/>
                  <a:chOff x="2475" y="3109"/>
                  <a:chExt cx="187" cy="1160"/>
                </a:xfrm>
              </p:grpSpPr>
              <p:sp>
                <p:nvSpPr>
                  <p:cNvPr id="45" name="Oval 40">
                    <a:extLst>
                      <a:ext uri="{FF2B5EF4-FFF2-40B4-BE49-F238E27FC236}">
                        <a16:creationId xmlns:a16="http://schemas.microsoft.com/office/drawing/2014/main" id="{672159C5-DB46-42F3-9535-A865D143D1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75" y="3109"/>
                    <a:ext cx="187" cy="1160"/>
                  </a:xfrm>
                  <a:prstGeom prst="ellips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CCFF">
                            <a:alpha val="50195"/>
                          </a:srgbClr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endParaRPr lang="en-US"/>
                  </a:p>
                </p:txBody>
              </p:sp>
              <p:sp>
                <p:nvSpPr>
                  <p:cNvPr id="46" name="Line 41">
                    <a:extLst>
                      <a:ext uri="{FF2B5EF4-FFF2-40B4-BE49-F238E27FC236}">
                        <a16:creationId xmlns:a16="http://schemas.microsoft.com/office/drawing/2014/main" id="{A4333A02-3728-4F72-A036-BD7BA392DD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580" y="3857"/>
                    <a:ext cx="15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  <a:headEnd/>
                    <a:tailEnd type="triangl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47" name="Line 42">
                    <a:extLst>
                      <a:ext uri="{FF2B5EF4-FFF2-40B4-BE49-F238E27FC236}">
                        <a16:creationId xmlns:a16="http://schemas.microsoft.com/office/drawing/2014/main" id="{8B4D6879-A61F-4259-B458-B53D31397C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2392" y="3583"/>
                    <a:ext cx="167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  <a:headEnd/>
                    <a:tailEnd type="triangl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91" name="Grupo 90">
                  <a:extLst>
                    <a:ext uri="{FF2B5EF4-FFF2-40B4-BE49-F238E27FC236}">
                      <a16:creationId xmlns:a16="http://schemas.microsoft.com/office/drawing/2014/main" id="{3FD9D220-3E50-406F-A4B6-66522D5DCC72}"/>
                    </a:ext>
                  </a:extLst>
                </p:cNvPr>
                <p:cNvGrpSpPr/>
                <p:nvPr/>
              </p:nvGrpSpPr>
              <p:grpSpPr>
                <a:xfrm>
                  <a:off x="8263573" y="3514094"/>
                  <a:ext cx="144000" cy="900000"/>
                  <a:chOff x="465774" y="4337616"/>
                  <a:chExt cx="144000" cy="1841500"/>
                </a:xfrm>
              </p:grpSpPr>
              <p:sp>
                <p:nvSpPr>
                  <p:cNvPr id="92" name="Oval 49">
                    <a:extLst>
                      <a:ext uri="{FF2B5EF4-FFF2-40B4-BE49-F238E27FC236}">
                        <a16:creationId xmlns:a16="http://schemas.microsoft.com/office/drawing/2014/main" id="{2A014B61-C04D-44ED-98D5-7E8F81CB2E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774" y="4337616"/>
                    <a:ext cx="144000" cy="1841500"/>
                  </a:xfrm>
                  <a:prstGeom prst="ellips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CCFF">
                            <a:alpha val="50195"/>
                          </a:srgbClr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endParaRPr lang="en-US"/>
                  </a:p>
                </p:txBody>
              </p:sp>
              <p:sp>
                <p:nvSpPr>
                  <p:cNvPr id="93" name="Line 50">
                    <a:extLst>
                      <a:ext uri="{FF2B5EF4-FFF2-40B4-BE49-F238E27FC236}">
                        <a16:creationId xmlns:a16="http://schemas.microsoft.com/office/drawing/2014/main" id="{DBA7DF81-F666-427D-B8B1-955E479C14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474542" y="4914563"/>
                    <a:ext cx="24764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  <a:headEnd/>
                    <a:tailEnd type="triangl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94" name="Line 51">
                    <a:extLst>
                      <a:ext uri="{FF2B5EF4-FFF2-40B4-BE49-F238E27FC236}">
                        <a16:creationId xmlns:a16="http://schemas.microsoft.com/office/drawing/2014/main" id="{12D3BEE5-B1FD-4A45-8228-CC2EFDD10A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44900" y="5450635"/>
                    <a:ext cx="24764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  <a:headEnd/>
                    <a:tailEnd type="triangl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259AB8A-D2D9-4461-9FD7-36402BE6B59E}"/>
              </a:ext>
            </a:extLst>
          </p:cNvPr>
          <p:cNvGrpSpPr/>
          <p:nvPr/>
        </p:nvGrpSpPr>
        <p:grpSpPr>
          <a:xfrm>
            <a:off x="8117918" y="5373354"/>
            <a:ext cx="1784549" cy="1385087"/>
            <a:chOff x="8212508" y="5457434"/>
            <a:chExt cx="1784549" cy="1385087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D9EFF7E3-42A6-48EF-AC84-883E744427BD}"/>
                </a:ext>
              </a:extLst>
            </p:cNvPr>
            <p:cNvGrpSpPr/>
            <p:nvPr/>
          </p:nvGrpSpPr>
          <p:grpSpPr>
            <a:xfrm>
              <a:off x="8212508" y="5457434"/>
              <a:ext cx="856128" cy="1385087"/>
              <a:chOff x="7897547" y="5001022"/>
              <a:chExt cx="1138239" cy="1841500"/>
            </a:xfrm>
          </p:grpSpPr>
          <p:grpSp>
            <p:nvGrpSpPr>
              <p:cNvPr id="97" name="Group 2">
                <a:extLst>
                  <a:ext uri="{FF2B5EF4-FFF2-40B4-BE49-F238E27FC236}">
                    <a16:creationId xmlns:a16="http://schemas.microsoft.com/office/drawing/2014/main" id="{A82EA128-FCAC-406C-A6E6-D2F2004D6D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97547" y="5374637"/>
                <a:ext cx="1138239" cy="1049338"/>
                <a:chOff x="3795" y="5521328"/>
                <a:chExt cx="717" cy="1049338"/>
              </a:xfrm>
            </p:grpSpPr>
            <p:sp>
              <p:nvSpPr>
                <p:cNvPr id="101" name="Line 7">
                  <a:extLst>
                    <a:ext uri="{FF2B5EF4-FFF2-40B4-BE49-F238E27FC236}">
                      <a16:creationId xmlns:a16="http://schemas.microsoft.com/office/drawing/2014/main" id="{EA79234F-5E94-4687-8E50-5045FA343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5" y="5767391"/>
                  <a:ext cx="717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2" name="Line 8">
                  <a:extLst>
                    <a:ext uri="{FF2B5EF4-FFF2-40B4-BE49-F238E27FC236}">
                      <a16:creationId xmlns:a16="http://schemas.microsoft.com/office/drawing/2014/main" id="{D46BA568-1C86-4C41-B9A7-863DF432EA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5" y="6038853"/>
                  <a:ext cx="717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3" name="Line 9">
                  <a:extLst>
                    <a:ext uri="{FF2B5EF4-FFF2-40B4-BE49-F238E27FC236}">
                      <a16:creationId xmlns:a16="http://schemas.microsoft.com/office/drawing/2014/main" id="{BE406C8C-99A2-411C-A8D1-D4402CFBA8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5" y="6310316"/>
                  <a:ext cx="717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4" name="Line 10">
                  <a:extLst>
                    <a:ext uri="{FF2B5EF4-FFF2-40B4-BE49-F238E27FC236}">
                      <a16:creationId xmlns:a16="http://schemas.microsoft.com/office/drawing/2014/main" id="{D3FFDFFF-3019-4C90-AC60-CDF2D8396B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5" y="6570666"/>
                  <a:ext cx="717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5" name="Line 11">
                  <a:extLst>
                    <a:ext uri="{FF2B5EF4-FFF2-40B4-BE49-F238E27FC236}">
                      <a16:creationId xmlns:a16="http://schemas.microsoft.com/office/drawing/2014/main" id="{2B3A21B9-6B4E-448E-B262-1DAC49D26F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5" y="5521328"/>
                  <a:ext cx="717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6" name="Line 12">
                  <a:extLst>
                    <a:ext uri="{FF2B5EF4-FFF2-40B4-BE49-F238E27FC236}">
                      <a16:creationId xmlns:a16="http://schemas.microsoft.com/office/drawing/2014/main" id="{F1AA9C9B-AE17-4864-8FAC-0F6402ECD5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38" y="575627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7" name="Line 14">
                  <a:extLst>
                    <a:ext uri="{FF2B5EF4-FFF2-40B4-BE49-F238E27FC236}">
                      <a16:creationId xmlns:a16="http://schemas.microsoft.com/office/drawing/2014/main" id="{6F483C9A-154B-4521-A40F-A6CC92D2AD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37" y="630237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8" name="Line 15">
                  <a:extLst>
                    <a:ext uri="{FF2B5EF4-FFF2-40B4-BE49-F238E27FC236}">
                      <a16:creationId xmlns:a16="http://schemas.microsoft.com/office/drawing/2014/main" id="{B7BE5BB6-A8BE-4064-AF18-91DBB6FDDD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37" y="6564316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9" name="Line 13">
                  <a:extLst>
                    <a:ext uri="{FF2B5EF4-FFF2-40B4-BE49-F238E27FC236}">
                      <a16:creationId xmlns:a16="http://schemas.microsoft.com/office/drawing/2014/main" id="{BCC46FE5-573D-4C12-8BF6-BE4D3050FB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40" y="602867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16" name="Group 48">
                <a:extLst>
                  <a:ext uri="{FF2B5EF4-FFF2-40B4-BE49-F238E27FC236}">
                    <a16:creationId xmlns:a16="http://schemas.microsoft.com/office/drawing/2014/main" id="{9C47BD0C-68D9-40D2-8C94-F9AB3EBF89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98122" y="5001022"/>
                <a:ext cx="296863" cy="1841500"/>
                <a:chOff x="3540" y="3096"/>
                <a:chExt cx="187" cy="1160"/>
              </a:xfrm>
            </p:grpSpPr>
            <p:sp>
              <p:nvSpPr>
                <p:cNvPr id="117" name="Oval 49">
                  <a:extLst>
                    <a:ext uri="{FF2B5EF4-FFF2-40B4-BE49-F238E27FC236}">
                      <a16:creationId xmlns:a16="http://schemas.microsoft.com/office/drawing/2014/main" id="{3E920491-B9DE-4F37-8541-DF2533451F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0" y="3096"/>
                  <a:ext cx="187" cy="1160"/>
                </a:xfrm>
                <a:prstGeom prst="ellipse">
                  <a:avLst/>
                </a:prstGeom>
                <a:noFill/>
                <a:ln w="254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>
                          <a:alpha val="50195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118" name="Line 50">
                  <a:extLst>
                    <a:ext uri="{FF2B5EF4-FFF2-40B4-BE49-F238E27FC236}">
                      <a16:creationId xmlns:a16="http://schemas.microsoft.com/office/drawing/2014/main" id="{11AA9948-0EC0-4A35-AF14-4CA9C45D79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3648" y="3782"/>
                  <a:ext cx="156" cy="0"/>
                </a:xfrm>
                <a:prstGeom prst="line">
                  <a:avLst/>
                </a:prstGeom>
                <a:noFill/>
                <a:ln w="127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9" name="Line 51">
                  <a:extLst>
                    <a:ext uri="{FF2B5EF4-FFF2-40B4-BE49-F238E27FC236}">
                      <a16:creationId xmlns:a16="http://schemas.microsoft.com/office/drawing/2014/main" id="{C331E111-A35F-40F1-AFF0-9720AE67EB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3466" y="3572"/>
                  <a:ext cx="156" cy="0"/>
                </a:xfrm>
                <a:prstGeom prst="line">
                  <a:avLst/>
                </a:prstGeom>
                <a:noFill/>
                <a:ln w="127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21" name="Group 53">
                <a:extLst>
                  <a:ext uri="{FF2B5EF4-FFF2-40B4-BE49-F238E27FC236}">
                    <a16:creationId xmlns:a16="http://schemas.microsoft.com/office/drawing/2014/main" id="{53F4EAF1-C579-4F3E-A6DE-AD5D343114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91244" y="5368297"/>
                <a:ext cx="481013" cy="1062039"/>
                <a:chOff x="4081" y="3338"/>
                <a:chExt cx="303" cy="669"/>
              </a:xfrm>
            </p:grpSpPr>
            <p:sp>
              <p:nvSpPr>
                <p:cNvPr id="122" name="Line 54">
                  <a:extLst>
                    <a:ext uri="{FF2B5EF4-FFF2-40B4-BE49-F238E27FC236}">
                      <a16:creationId xmlns:a16="http://schemas.microsoft.com/office/drawing/2014/main" id="{9BF9F710-436B-477B-BCB2-B0CED3CB6D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1" y="3341"/>
                  <a:ext cx="150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82800" rIns="90000" bIns="82800">
                  <a:spAutoFit/>
                </a:bodyPr>
                <a:lstStyle/>
                <a:p>
                  <a:endParaRPr lang="en-GB"/>
                </a:p>
              </p:txBody>
            </p:sp>
            <p:grpSp>
              <p:nvGrpSpPr>
                <p:cNvPr id="123" name="Group 55">
                  <a:extLst>
                    <a:ext uri="{FF2B5EF4-FFF2-40B4-BE49-F238E27FC236}">
                      <a16:creationId xmlns:a16="http://schemas.microsoft.com/office/drawing/2014/main" id="{1BAAC83E-CA09-4813-82C7-9424F42A7FE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81" y="3338"/>
                  <a:ext cx="303" cy="669"/>
                  <a:chOff x="4081" y="3338"/>
                  <a:chExt cx="303" cy="669"/>
                </a:xfrm>
              </p:grpSpPr>
              <p:sp>
                <p:nvSpPr>
                  <p:cNvPr id="124" name="Line 56">
                    <a:extLst>
                      <a:ext uri="{FF2B5EF4-FFF2-40B4-BE49-F238E27FC236}">
                        <a16:creationId xmlns:a16="http://schemas.microsoft.com/office/drawing/2014/main" id="{75ED19D2-EF59-4ADF-A5DD-0FA386FFD7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82" y="3338"/>
                    <a:ext cx="20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 type="triangl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6" name="Line 59">
                    <a:extLst>
                      <a:ext uri="{FF2B5EF4-FFF2-40B4-BE49-F238E27FC236}">
                        <a16:creationId xmlns:a16="http://schemas.microsoft.com/office/drawing/2014/main" id="{D791CA13-85A0-4C97-A319-B4CC1E51E8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94" y="3494"/>
                    <a:ext cx="13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FF0000"/>
                    </a:solidFill>
                    <a:round/>
                    <a:headEnd/>
                    <a:tailEnd type="non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lIns="90000" tIns="82800" rIns="90000" bIns="82800">
                    <a:sp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127" name="Line 60">
                    <a:extLst>
                      <a:ext uri="{FF2B5EF4-FFF2-40B4-BE49-F238E27FC236}">
                        <a16:creationId xmlns:a16="http://schemas.microsoft.com/office/drawing/2014/main" id="{0ED807F2-D7C9-4920-AB1C-68B005A8602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95" y="3502"/>
                    <a:ext cx="150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FF0000"/>
                    </a:solidFill>
                    <a:round/>
                    <a:headEnd/>
                    <a:tailEnd type="non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lIns="90000" tIns="82800" rIns="90000" bIns="82800">
                    <a:sp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128" name="Line 61">
                    <a:extLst>
                      <a:ext uri="{FF2B5EF4-FFF2-40B4-BE49-F238E27FC236}">
                        <a16:creationId xmlns:a16="http://schemas.microsoft.com/office/drawing/2014/main" id="{1641A727-94E8-418D-B6EE-EA05F718C9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89" y="3840"/>
                    <a:ext cx="165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FF0000"/>
                    </a:solidFill>
                    <a:round/>
                    <a:headEnd/>
                    <a:tailEnd type="non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lIns="90000" tIns="82800" rIns="90000" bIns="82800">
                    <a:sp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129" name="Line 62">
                    <a:extLst>
                      <a:ext uri="{FF2B5EF4-FFF2-40B4-BE49-F238E27FC236}">
                        <a16:creationId xmlns:a16="http://schemas.microsoft.com/office/drawing/2014/main" id="{B108012C-2ADC-4268-99CB-65C76864E6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81" y="4007"/>
                    <a:ext cx="165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FF0000"/>
                    </a:solidFill>
                    <a:round/>
                    <a:headEnd/>
                    <a:tailEnd type="non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lIns="90000" tIns="82800" rIns="90000" bIns="82800">
                    <a:spAutoFit/>
                  </a:bodyPr>
                  <a:lstStyle/>
                  <a:p>
                    <a:endParaRPr lang="en-GB"/>
                  </a:p>
                </p:txBody>
              </p:sp>
            </p:grpSp>
          </p:grpSp>
          <p:grpSp>
            <p:nvGrpSpPr>
              <p:cNvPr id="130" name="Grupo 129">
                <a:extLst>
                  <a:ext uri="{FF2B5EF4-FFF2-40B4-BE49-F238E27FC236}">
                    <a16:creationId xmlns:a16="http://schemas.microsoft.com/office/drawing/2014/main" id="{D48942C7-F368-4AD6-8494-A7AD9323360F}"/>
                  </a:ext>
                </a:extLst>
              </p:cNvPr>
              <p:cNvGrpSpPr/>
              <p:nvPr/>
            </p:nvGrpSpPr>
            <p:grpSpPr>
              <a:xfrm>
                <a:off x="8282176" y="5478467"/>
                <a:ext cx="144000" cy="900000"/>
                <a:chOff x="465774" y="4337616"/>
                <a:chExt cx="144000" cy="1841500"/>
              </a:xfrm>
            </p:grpSpPr>
            <p:sp>
              <p:nvSpPr>
                <p:cNvPr id="131" name="Oval 49">
                  <a:extLst>
                    <a:ext uri="{FF2B5EF4-FFF2-40B4-BE49-F238E27FC236}">
                      <a16:creationId xmlns:a16="http://schemas.microsoft.com/office/drawing/2014/main" id="{450987FB-295D-4406-B727-F157DA2B3E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774" y="4337616"/>
                  <a:ext cx="144000" cy="1841500"/>
                </a:xfrm>
                <a:prstGeom prst="ellipse">
                  <a:avLst/>
                </a:prstGeom>
                <a:noFill/>
                <a:ln w="254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>
                          <a:alpha val="50195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132" name="Line 50">
                  <a:extLst>
                    <a:ext uri="{FF2B5EF4-FFF2-40B4-BE49-F238E27FC236}">
                      <a16:creationId xmlns:a16="http://schemas.microsoft.com/office/drawing/2014/main" id="{B7B359A6-2670-4009-BE32-1DD6B32DF6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74542" y="4914563"/>
                  <a:ext cx="247649" cy="0"/>
                </a:xfrm>
                <a:prstGeom prst="line">
                  <a:avLst/>
                </a:prstGeom>
                <a:noFill/>
                <a:ln w="127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" name="Line 51">
                  <a:extLst>
                    <a:ext uri="{FF2B5EF4-FFF2-40B4-BE49-F238E27FC236}">
                      <a16:creationId xmlns:a16="http://schemas.microsoft.com/office/drawing/2014/main" id="{A2171D1D-A4C2-46F2-8900-289402AC97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355060" y="5450635"/>
                  <a:ext cx="247649" cy="0"/>
                </a:xfrm>
                <a:prstGeom prst="line">
                  <a:avLst/>
                </a:prstGeom>
                <a:noFill/>
                <a:ln w="127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CBA4921E-C96D-4375-B1A1-0807FCA27887}"/>
                </a:ext>
              </a:extLst>
            </p:cNvPr>
            <p:cNvGrpSpPr/>
            <p:nvPr/>
          </p:nvGrpSpPr>
          <p:grpSpPr>
            <a:xfrm rot="2399465">
              <a:off x="9509377" y="5921007"/>
              <a:ext cx="487680" cy="469750"/>
              <a:chOff x="7032594" y="4920230"/>
              <a:chExt cx="487680" cy="469750"/>
            </a:xfrm>
          </p:grpSpPr>
          <p:sp>
            <p:nvSpPr>
              <p:cNvPr id="139" name="Rectángulo 138">
                <a:extLst>
                  <a:ext uri="{FF2B5EF4-FFF2-40B4-BE49-F238E27FC236}">
                    <a16:creationId xmlns:a16="http://schemas.microsoft.com/office/drawing/2014/main" id="{68D78DD0-A951-4254-80F8-990995CDFD07}"/>
                  </a:ext>
                </a:extLst>
              </p:cNvPr>
              <p:cNvSpPr/>
              <p:nvPr/>
            </p:nvSpPr>
            <p:spPr bwMode="auto">
              <a:xfrm rot="19084679">
                <a:off x="7032594" y="4920230"/>
                <a:ext cx="487680" cy="469750"/>
              </a:xfrm>
              <a:prstGeom prst="rect">
                <a:avLst/>
              </a:prstGeom>
              <a:solidFill>
                <a:srgbClr val="FFFF00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stealth" w="lg" len="lg"/>
              </a:ln>
              <a:effectLst/>
              <a:extLs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vert="horz" wrap="none" lIns="90000" tIns="82800" rIns="90000" bIns="82800" numCol="1" rtlCol="0" anchor="t" anchorCtr="1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grpSp>
            <p:nvGrpSpPr>
              <p:cNvPr id="140" name="Group 87">
                <a:extLst>
                  <a:ext uri="{FF2B5EF4-FFF2-40B4-BE49-F238E27FC236}">
                    <a16:creationId xmlns:a16="http://schemas.microsoft.com/office/drawing/2014/main" id="{3A67AEE2-8CD1-4375-B864-BFD583DC0E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9671486">
                <a:off x="7086548" y="4924658"/>
                <a:ext cx="431800" cy="420688"/>
                <a:chOff x="6035" y="3097"/>
                <a:chExt cx="272" cy="265"/>
              </a:xfrm>
            </p:grpSpPr>
            <p:sp>
              <p:nvSpPr>
                <p:cNvPr id="141" name="Line 84">
                  <a:extLst>
                    <a:ext uri="{FF2B5EF4-FFF2-40B4-BE49-F238E27FC236}">
                      <a16:creationId xmlns:a16="http://schemas.microsoft.com/office/drawing/2014/main" id="{F1683346-681F-4C1F-A2D2-57C6FEBDC0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415585" flipH="1">
                  <a:off x="6050" y="3215"/>
                  <a:ext cx="257" cy="14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Line 85">
                  <a:extLst>
                    <a:ext uri="{FF2B5EF4-FFF2-40B4-BE49-F238E27FC236}">
                      <a16:creationId xmlns:a16="http://schemas.microsoft.com/office/drawing/2014/main" id="{42A8F2E4-6B15-4B1E-B94D-7E6BA80BB3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415585">
                  <a:off x="6035" y="3097"/>
                  <a:ext cx="251" cy="10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Oval 86">
                  <a:extLst>
                    <a:ext uri="{FF2B5EF4-FFF2-40B4-BE49-F238E27FC236}">
                      <a16:creationId xmlns:a16="http://schemas.microsoft.com/office/drawing/2014/main" id="{2AFAD46B-3C72-4018-ADB0-110749D93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415585">
                  <a:off x="6084" y="3136"/>
                  <a:ext cx="56" cy="19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144" name="Text Box 66">
            <a:extLst>
              <a:ext uri="{FF2B5EF4-FFF2-40B4-BE49-F238E27FC236}">
                <a16:creationId xmlns:a16="http://schemas.microsoft.com/office/drawing/2014/main" id="{A6A747E0-4ACA-46AF-9A72-9F1A33570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8779" y="2216010"/>
            <a:ext cx="124294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</a:rPr>
              <a:t>si crece</a:t>
            </a:r>
            <a:endParaRPr lang="es-ES" sz="2400" b="1" dirty="0">
              <a:solidFill>
                <a:srgbClr val="FF0000"/>
              </a:solidFill>
            </a:endParaRPr>
          </a:p>
        </p:txBody>
      </p:sp>
      <p:sp>
        <p:nvSpPr>
          <p:cNvPr id="7" name="Text Box 69">
            <a:extLst>
              <a:ext uri="{FF2B5EF4-FFF2-40B4-BE49-F238E27FC236}">
                <a16:creationId xmlns:a16="http://schemas.microsoft.com/office/drawing/2014/main" id="{2D834E32-4F6F-4A29-43BA-ECE19CBF4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2191" y="2637116"/>
            <a:ext cx="48472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</a:t>
            </a:r>
          </a:p>
        </p:txBody>
      </p: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233C16F4-2A49-40A2-8AEE-867AAECCDC59}"/>
              </a:ext>
            </a:extLst>
          </p:cNvPr>
          <p:cNvCxnSpPr/>
          <p:nvPr/>
        </p:nvCxnSpPr>
        <p:spPr bwMode="auto">
          <a:xfrm flipH="1">
            <a:off x="5408418" y="1712091"/>
            <a:ext cx="2950" cy="473589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714818" name="Text Box 66"/>
          <p:cNvSpPr txBox="1">
            <a:spLocks noChangeArrowheads="1"/>
          </p:cNvSpPr>
          <p:nvPr/>
        </p:nvSpPr>
        <p:spPr bwMode="auto">
          <a:xfrm>
            <a:off x="6724994" y="1834252"/>
            <a:ext cx="262473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</a:t>
            </a:r>
            <a:r>
              <a:rPr lang="es-ES" sz="24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: </a:t>
            </a:r>
            <a:r>
              <a:rPr lang="es-ES" sz="2400" dirty="0">
                <a:solidFill>
                  <a:srgbClr val="FF0000"/>
                </a:solidFill>
              </a:rPr>
              <a:t>Flujo eléctrico</a:t>
            </a:r>
            <a:endParaRPr lang="es-ES" sz="2400" b="1" dirty="0">
              <a:solidFill>
                <a:srgbClr val="FF0000"/>
              </a:solidFill>
            </a:endParaRPr>
          </a:p>
        </p:txBody>
      </p: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74A4ED6A-5239-46AE-9F38-DC3D1B81ED02}"/>
              </a:ext>
            </a:extLst>
          </p:cNvPr>
          <p:cNvCxnSpPr/>
          <p:nvPr/>
        </p:nvCxnSpPr>
        <p:spPr bwMode="auto">
          <a:xfrm flipH="1">
            <a:off x="6636255" y="1746523"/>
            <a:ext cx="2950" cy="922891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1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1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1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819" grpId="0" animBg="1"/>
      <p:bldP spid="714820" grpId="0"/>
      <p:bldP spid="714821" grpId="0"/>
      <p:bldP spid="33817" grpId="0" animBg="1"/>
      <p:bldP spid="76" grpId="0"/>
      <p:bldP spid="77" grpId="0"/>
      <p:bldP spid="95" grpId="0"/>
      <p:bldP spid="96" grpId="0"/>
      <p:bldP spid="22" grpId="0"/>
      <p:bldP spid="23" grpId="0"/>
      <p:bldP spid="24" grpId="0"/>
      <p:bldP spid="144" grpId="0"/>
      <p:bldP spid="7" grpId="0"/>
      <p:bldP spid="7148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/>
          <p:cNvSpPr/>
          <p:nvPr/>
        </p:nvSpPr>
        <p:spPr bwMode="auto">
          <a:xfrm rot="21245303">
            <a:off x="8975487" y="1796438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6" name="Rectángulo 35"/>
          <p:cNvSpPr/>
          <p:nvPr/>
        </p:nvSpPr>
        <p:spPr bwMode="auto">
          <a:xfrm rot="21245303">
            <a:off x="4246181" y="1811462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5842" name="Rectangle 3"/>
          <p:cNvSpPr>
            <a:spLocks noChangeArrowheads="1"/>
          </p:cNvSpPr>
          <p:nvPr/>
        </p:nvSpPr>
        <p:spPr bwMode="auto">
          <a:xfrm>
            <a:off x="1300987" y="371580"/>
            <a:ext cx="727868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98475" indent="-322263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95363" indent="-257175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93838" indent="-257175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90725" indent="-257175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479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051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23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95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5.4.1 LEY DE INDUCCIÓN DE HENRY-FARADAY</a:t>
            </a:r>
          </a:p>
        </p:txBody>
      </p:sp>
      <p:sp>
        <p:nvSpPr>
          <p:cNvPr id="571511" name="Text Box 119"/>
          <p:cNvSpPr txBox="1">
            <a:spLocks noChangeArrowheads="1"/>
          </p:cNvSpPr>
          <p:nvPr/>
        </p:nvSpPr>
        <p:spPr bwMode="auto">
          <a:xfrm>
            <a:off x="1478927" y="3607820"/>
            <a:ext cx="8378737" cy="88407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Si se acerca el imán, </a:t>
            </a:r>
            <a:r>
              <a:rPr lang="es-ES" sz="2400" b="1" dirty="0">
                <a:solidFill>
                  <a:srgbClr val="FF0000"/>
                </a:solidFill>
                <a:sym typeface="Symbol" panose="05050102010706020507" pitchFamily="18" charset="2"/>
              </a:rPr>
              <a:t>se induce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 sz="2400" b="1" dirty="0">
                <a:solidFill>
                  <a:srgbClr val="FF0000"/>
                </a:solidFill>
                <a:sym typeface="Symbol" panose="05050102010706020507" pitchFamily="18" charset="2"/>
              </a:rPr>
              <a:t>una corriente </a:t>
            </a:r>
            <a:r>
              <a:rPr lang="es-ES" sz="2400" dirty="0">
                <a:sym typeface="Symbol" panose="05050102010706020507" pitchFamily="18" charset="2"/>
              </a:rPr>
              <a:t>en la espira en sentido horario con el imán SN y </a:t>
            </a:r>
            <a:r>
              <a:rPr lang="es-ES" sz="2400" dirty="0" err="1">
                <a:sym typeface="Symbol" panose="05050102010706020507" pitchFamily="18" charset="2"/>
              </a:rPr>
              <a:t>antihorario</a:t>
            </a:r>
            <a:r>
              <a:rPr lang="es-ES" sz="2400" dirty="0">
                <a:sym typeface="Symbol" panose="05050102010706020507" pitchFamily="18" charset="2"/>
              </a:rPr>
              <a:t> con el NS </a:t>
            </a:r>
          </a:p>
        </p:txBody>
      </p:sp>
      <p:sp>
        <p:nvSpPr>
          <p:cNvPr id="571512" name="Text Box 120"/>
          <p:cNvSpPr txBox="1">
            <a:spLocks noChangeArrowheads="1"/>
          </p:cNvSpPr>
          <p:nvPr/>
        </p:nvSpPr>
        <p:spPr bwMode="auto">
          <a:xfrm>
            <a:off x="1478928" y="5482151"/>
            <a:ext cx="8338260" cy="88407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 Si se aleja el imán,</a:t>
            </a:r>
            <a:r>
              <a:rPr lang="es-ES" sz="2400" b="1" dirty="0">
                <a:sym typeface="Symbol" panose="05050102010706020507" pitchFamily="18" charset="2"/>
              </a:rPr>
              <a:t> </a:t>
            </a:r>
            <a:r>
              <a:rPr lang="es-ES" sz="2400" b="1" dirty="0">
                <a:solidFill>
                  <a:srgbClr val="FF0000"/>
                </a:solidFill>
                <a:sym typeface="Symbol" panose="05050102010706020507" pitchFamily="18" charset="2"/>
              </a:rPr>
              <a:t>se induce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 sz="2400" b="1" dirty="0">
                <a:solidFill>
                  <a:srgbClr val="FF0000"/>
                </a:solidFill>
                <a:sym typeface="Symbol" panose="05050102010706020507" pitchFamily="18" charset="2"/>
              </a:rPr>
              <a:t>una corriente </a:t>
            </a:r>
            <a:r>
              <a:rPr lang="es-ES" sz="2400" dirty="0">
                <a:sym typeface="Symbol" panose="05050102010706020507" pitchFamily="18" charset="2"/>
              </a:rPr>
              <a:t>en la espira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en sentido </a:t>
            </a:r>
            <a:r>
              <a:rPr lang="es-ES" sz="2400" dirty="0" err="1">
                <a:sym typeface="Symbol" panose="05050102010706020507" pitchFamily="18" charset="2"/>
              </a:rPr>
              <a:t>antihorario</a:t>
            </a:r>
            <a:r>
              <a:rPr lang="es-ES" sz="2400" dirty="0">
                <a:sym typeface="Symbol" panose="05050102010706020507" pitchFamily="18" charset="2"/>
              </a:rPr>
              <a:t> con el imán SN y horario con el NS</a:t>
            </a:r>
          </a:p>
        </p:txBody>
      </p:sp>
      <p:grpSp>
        <p:nvGrpSpPr>
          <p:cNvPr id="571668" name="Group 276"/>
          <p:cNvGrpSpPr>
            <a:grpSpLocks/>
          </p:cNvGrpSpPr>
          <p:nvPr/>
        </p:nvGrpSpPr>
        <p:grpSpPr bwMode="auto">
          <a:xfrm>
            <a:off x="5970675" y="1660500"/>
            <a:ext cx="4494213" cy="1784350"/>
            <a:chOff x="3852" y="870"/>
            <a:chExt cx="2831" cy="1124"/>
          </a:xfrm>
        </p:grpSpPr>
        <p:sp>
          <p:nvSpPr>
            <p:cNvPr id="35868" name="Oval 124"/>
            <p:cNvSpPr>
              <a:spLocks noChangeArrowheads="1"/>
            </p:cNvSpPr>
            <p:nvPr/>
          </p:nvSpPr>
          <p:spPr bwMode="auto">
            <a:xfrm>
              <a:off x="5244" y="870"/>
              <a:ext cx="340" cy="112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pSp>
          <p:nvGrpSpPr>
            <p:cNvPr id="35869" name="Group 135"/>
            <p:cNvGrpSpPr>
              <a:grpSpLocks/>
            </p:cNvGrpSpPr>
            <p:nvPr/>
          </p:nvGrpSpPr>
          <p:grpSpPr bwMode="auto">
            <a:xfrm>
              <a:off x="3852" y="1230"/>
              <a:ext cx="1174" cy="457"/>
              <a:chOff x="3842" y="1348"/>
              <a:chExt cx="1174" cy="457"/>
            </a:xfrm>
          </p:grpSpPr>
          <p:sp>
            <p:nvSpPr>
              <p:cNvPr id="35877" name="AutoShape 126"/>
              <p:cNvSpPr>
                <a:spLocks noChangeArrowheads="1"/>
              </p:cNvSpPr>
              <p:nvPr/>
            </p:nvSpPr>
            <p:spPr bwMode="auto">
              <a:xfrm>
                <a:off x="3842" y="1348"/>
                <a:ext cx="680" cy="453"/>
              </a:xfrm>
              <a:prstGeom prst="cube">
                <a:avLst>
                  <a:gd name="adj" fmla="val 41773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5878" name="AutoShape 127"/>
              <p:cNvSpPr>
                <a:spLocks noChangeArrowheads="1"/>
              </p:cNvSpPr>
              <p:nvPr/>
            </p:nvSpPr>
            <p:spPr bwMode="auto">
              <a:xfrm>
                <a:off x="4336" y="1348"/>
                <a:ext cx="680" cy="453"/>
              </a:xfrm>
              <a:prstGeom prst="cube">
                <a:avLst>
                  <a:gd name="adj" fmla="val 40296"/>
                </a:avLst>
              </a:prstGeom>
              <a:solidFill>
                <a:srgbClr val="3366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5879" name="Text Box 128"/>
              <p:cNvSpPr txBox="1">
                <a:spLocks noChangeArrowheads="1"/>
              </p:cNvSpPr>
              <p:nvPr/>
            </p:nvSpPr>
            <p:spPr bwMode="auto">
              <a:xfrm>
                <a:off x="4441" y="1538"/>
                <a:ext cx="31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35880" name="Text Box 129"/>
              <p:cNvSpPr txBox="1">
                <a:spLocks noChangeArrowheads="1"/>
              </p:cNvSpPr>
              <p:nvPr/>
            </p:nvSpPr>
            <p:spPr bwMode="auto">
              <a:xfrm>
                <a:off x="3923" y="1542"/>
                <a:ext cx="31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</p:grpSp>
        <p:grpSp>
          <p:nvGrpSpPr>
            <p:cNvPr id="35870" name="Group 130"/>
            <p:cNvGrpSpPr>
              <a:grpSpLocks/>
            </p:cNvGrpSpPr>
            <p:nvPr/>
          </p:nvGrpSpPr>
          <p:grpSpPr bwMode="auto">
            <a:xfrm rot="10415585">
              <a:off x="5777" y="1000"/>
              <a:ext cx="257" cy="266"/>
              <a:chOff x="1224" y="3650"/>
              <a:chExt cx="257" cy="266"/>
            </a:xfrm>
          </p:grpSpPr>
          <p:sp>
            <p:nvSpPr>
              <p:cNvPr id="35874" name="Line 131"/>
              <p:cNvSpPr>
                <a:spLocks noChangeShapeType="1"/>
              </p:cNvSpPr>
              <p:nvPr/>
            </p:nvSpPr>
            <p:spPr bwMode="auto">
              <a:xfrm flipH="1">
                <a:off x="1224" y="3650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75" name="Line 132"/>
              <p:cNvSpPr>
                <a:spLocks noChangeShapeType="1"/>
              </p:cNvSpPr>
              <p:nvPr/>
            </p:nvSpPr>
            <p:spPr bwMode="auto">
              <a:xfrm>
                <a:off x="1230" y="380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76" name="Oval 133"/>
              <p:cNvSpPr>
                <a:spLocks noChangeArrowheads="1"/>
              </p:cNvSpPr>
              <p:nvPr/>
            </p:nvSpPr>
            <p:spPr bwMode="auto">
              <a:xfrm>
                <a:off x="1386" y="3686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  <p:sp>
          <p:nvSpPr>
            <p:cNvPr id="35871" name="Text Box 134"/>
            <p:cNvSpPr txBox="1">
              <a:spLocks noChangeArrowheads="1"/>
            </p:cNvSpPr>
            <p:nvPr/>
          </p:nvSpPr>
          <p:spPr bwMode="auto">
            <a:xfrm>
              <a:off x="5610" y="1373"/>
              <a:ext cx="66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Espira</a:t>
              </a:r>
            </a:p>
          </p:txBody>
        </p:sp>
        <p:sp>
          <p:nvSpPr>
            <p:cNvPr id="35872" name="Text Box 167"/>
            <p:cNvSpPr txBox="1">
              <a:spLocks noChangeArrowheads="1"/>
            </p:cNvSpPr>
            <p:nvPr/>
          </p:nvSpPr>
          <p:spPr bwMode="auto">
            <a:xfrm>
              <a:off x="4111" y="1646"/>
              <a:ext cx="54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Imán</a:t>
              </a:r>
            </a:p>
          </p:txBody>
        </p:sp>
        <p:sp>
          <p:nvSpPr>
            <p:cNvPr id="35873" name="Text Box 250"/>
            <p:cNvSpPr txBox="1">
              <a:spLocks noChangeArrowheads="1"/>
            </p:cNvSpPr>
            <p:nvPr/>
          </p:nvSpPr>
          <p:spPr bwMode="auto">
            <a:xfrm>
              <a:off x="5555" y="1588"/>
              <a:ext cx="112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CC00CC"/>
                  </a:solidFill>
                </a:rPr>
                <a:t> </a:t>
              </a:r>
              <a:r>
                <a:rPr lang="es-ES" sz="2400">
                  <a:solidFill>
                    <a:srgbClr val="3333FF"/>
                  </a:solidFill>
                </a:rPr>
                <a:t>conductora</a:t>
              </a:r>
            </a:p>
          </p:txBody>
        </p:sp>
      </p:grpSp>
      <p:grpSp>
        <p:nvGrpSpPr>
          <p:cNvPr id="571667" name="Group 275"/>
          <p:cNvGrpSpPr>
            <a:grpSpLocks/>
          </p:cNvGrpSpPr>
          <p:nvPr/>
        </p:nvGrpSpPr>
        <p:grpSpPr bwMode="auto">
          <a:xfrm>
            <a:off x="1309575" y="1660706"/>
            <a:ext cx="4508500" cy="1768481"/>
            <a:chOff x="932" y="858"/>
            <a:chExt cx="2840" cy="1114"/>
          </a:xfrm>
        </p:grpSpPr>
        <p:sp>
          <p:nvSpPr>
            <p:cNvPr id="35855" name="Oval 60"/>
            <p:cNvSpPr>
              <a:spLocks noChangeArrowheads="1"/>
            </p:cNvSpPr>
            <p:nvPr/>
          </p:nvSpPr>
          <p:spPr bwMode="auto">
            <a:xfrm>
              <a:off x="2280" y="858"/>
              <a:ext cx="340" cy="1022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dirty="0"/>
            </a:p>
          </p:txBody>
        </p:sp>
        <p:grpSp>
          <p:nvGrpSpPr>
            <p:cNvPr id="35856" name="Group 114"/>
            <p:cNvGrpSpPr>
              <a:grpSpLocks/>
            </p:cNvGrpSpPr>
            <p:nvPr/>
          </p:nvGrpSpPr>
          <p:grpSpPr bwMode="auto">
            <a:xfrm>
              <a:off x="932" y="1212"/>
              <a:ext cx="1174" cy="457"/>
              <a:chOff x="1087" y="1341"/>
              <a:chExt cx="1174" cy="457"/>
            </a:xfrm>
          </p:grpSpPr>
          <p:sp>
            <p:nvSpPr>
              <p:cNvPr id="35864" name="AutoShape 57"/>
              <p:cNvSpPr>
                <a:spLocks noChangeArrowheads="1"/>
              </p:cNvSpPr>
              <p:nvPr/>
            </p:nvSpPr>
            <p:spPr bwMode="auto">
              <a:xfrm>
                <a:off x="1087" y="1341"/>
                <a:ext cx="680" cy="453"/>
              </a:xfrm>
              <a:prstGeom prst="cube">
                <a:avLst>
                  <a:gd name="adj" fmla="val 41773"/>
                </a:avLst>
              </a:prstGeom>
              <a:solidFill>
                <a:srgbClr val="3366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5865" name="AutoShape 58"/>
              <p:cNvSpPr>
                <a:spLocks noChangeArrowheads="1"/>
              </p:cNvSpPr>
              <p:nvPr/>
            </p:nvSpPr>
            <p:spPr bwMode="auto">
              <a:xfrm>
                <a:off x="1581" y="1341"/>
                <a:ext cx="680" cy="453"/>
              </a:xfrm>
              <a:prstGeom prst="cube">
                <a:avLst>
                  <a:gd name="adj" fmla="val 40296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5866" name="Text Box 61"/>
              <p:cNvSpPr txBox="1">
                <a:spLocks noChangeArrowheads="1"/>
              </p:cNvSpPr>
              <p:nvPr/>
            </p:nvSpPr>
            <p:spPr bwMode="auto">
              <a:xfrm>
                <a:off x="1686" y="1531"/>
                <a:ext cx="31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35867" name="Text Box 62"/>
              <p:cNvSpPr txBox="1">
                <a:spLocks noChangeArrowheads="1"/>
              </p:cNvSpPr>
              <p:nvPr/>
            </p:nvSpPr>
            <p:spPr bwMode="auto">
              <a:xfrm>
                <a:off x="1168" y="1535"/>
                <a:ext cx="31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35857" name="Group 115"/>
            <p:cNvGrpSpPr>
              <a:grpSpLocks/>
            </p:cNvGrpSpPr>
            <p:nvPr/>
          </p:nvGrpSpPr>
          <p:grpSpPr bwMode="auto">
            <a:xfrm rot="10415585">
              <a:off x="2843" y="995"/>
              <a:ext cx="257" cy="266"/>
              <a:chOff x="1222" y="3655"/>
              <a:chExt cx="257" cy="266"/>
            </a:xfrm>
          </p:grpSpPr>
          <p:sp>
            <p:nvSpPr>
              <p:cNvPr id="35861" name="Line 116"/>
              <p:cNvSpPr>
                <a:spLocks noChangeShapeType="1"/>
              </p:cNvSpPr>
              <p:nvPr/>
            </p:nvSpPr>
            <p:spPr bwMode="auto">
              <a:xfrm flipH="1">
                <a:off x="1222" y="3655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62" name="Line 117"/>
              <p:cNvSpPr>
                <a:spLocks noChangeShapeType="1"/>
              </p:cNvSpPr>
              <p:nvPr/>
            </p:nvSpPr>
            <p:spPr bwMode="auto">
              <a:xfrm>
                <a:off x="1228" y="3814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63" name="Oval 118"/>
              <p:cNvSpPr>
                <a:spLocks noChangeArrowheads="1"/>
              </p:cNvSpPr>
              <p:nvPr/>
            </p:nvSpPr>
            <p:spPr bwMode="auto">
              <a:xfrm>
                <a:off x="1384" y="3691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  <p:sp>
          <p:nvSpPr>
            <p:cNvPr id="35858" name="Text Box 123"/>
            <p:cNvSpPr txBox="1">
              <a:spLocks noChangeArrowheads="1"/>
            </p:cNvSpPr>
            <p:nvPr/>
          </p:nvSpPr>
          <p:spPr bwMode="auto">
            <a:xfrm>
              <a:off x="2692" y="1443"/>
              <a:ext cx="66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Espira</a:t>
              </a:r>
            </a:p>
          </p:txBody>
        </p:sp>
        <p:sp>
          <p:nvSpPr>
            <p:cNvPr id="35859" name="Text Box 166"/>
            <p:cNvSpPr txBox="1">
              <a:spLocks noChangeArrowheads="1"/>
            </p:cNvSpPr>
            <p:nvPr/>
          </p:nvSpPr>
          <p:spPr bwMode="auto">
            <a:xfrm>
              <a:off x="1177" y="1616"/>
              <a:ext cx="54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Imán</a:t>
              </a:r>
            </a:p>
          </p:txBody>
        </p:sp>
        <p:sp>
          <p:nvSpPr>
            <p:cNvPr id="35860" name="Text Box 274"/>
            <p:cNvSpPr txBox="1">
              <a:spLocks noChangeArrowheads="1"/>
            </p:cNvSpPr>
            <p:nvPr/>
          </p:nvSpPr>
          <p:spPr bwMode="auto">
            <a:xfrm>
              <a:off x="2644" y="1634"/>
              <a:ext cx="112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 conductora</a:t>
              </a:r>
            </a:p>
          </p:txBody>
        </p:sp>
      </p:grp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1162723" y="4520713"/>
            <a:ext cx="9287119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s-ES" sz="2400" dirty="0">
                <a:solidFill>
                  <a:srgbClr val="3333FF"/>
                </a:solidFill>
              </a:rPr>
              <a:t>Al acercar la fuente de </a:t>
            </a:r>
            <a:r>
              <a:rPr lang="es-ES" sz="2400" b="1" dirty="0">
                <a:solidFill>
                  <a:srgbClr val="3333FF"/>
                </a:solidFill>
              </a:rPr>
              <a:t>B</a:t>
            </a:r>
            <a:r>
              <a:rPr lang="es-ES" sz="2400" dirty="0">
                <a:solidFill>
                  <a:srgbClr val="3333FF"/>
                </a:solidFill>
              </a:rPr>
              <a:t> (el imán), </a:t>
            </a:r>
            <a:r>
              <a:rPr lang="es-ES" sz="2400" b="1" dirty="0">
                <a:solidFill>
                  <a:srgbClr val="3333FF"/>
                </a:solidFill>
              </a:rPr>
              <a:t>B</a:t>
            </a:r>
            <a:r>
              <a:rPr lang="es-ES" sz="2400" dirty="0">
                <a:solidFill>
                  <a:srgbClr val="3333FF"/>
                </a:solidFill>
              </a:rPr>
              <a:t> crece en la espira,</a:t>
            </a:r>
          </a:p>
          <a:p>
            <a:pPr algn="ctr">
              <a:spcBef>
                <a:spcPts val="0"/>
              </a:spcBef>
            </a:pPr>
            <a:r>
              <a:rPr lang="es-ES" sz="2400" dirty="0">
                <a:solidFill>
                  <a:srgbClr val="3333FF"/>
                </a:solidFill>
              </a:rPr>
              <a:t>hacia nosotros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</a:rPr>
              <a:t>con el imán SN, y en sentido contrario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con</a:t>
            </a:r>
            <a:r>
              <a:rPr lang="es-ES" sz="2400" dirty="0">
                <a:solidFill>
                  <a:srgbClr val="3333FF"/>
                </a:solidFill>
              </a:rPr>
              <a:t> el NS</a:t>
            </a:r>
          </a:p>
        </p:txBody>
      </p:sp>
      <p:sp>
        <p:nvSpPr>
          <p:cNvPr id="40" name="CuadroTexto 39"/>
          <p:cNvSpPr txBox="1">
            <a:spLocks noChangeArrowheads="1"/>
          </p:cNvSpPr>
          <p:nvPr/>
        </p:nvSpPr>
        <p:spPr bwMode="auto">
          <a:xfrm>
            <a:off x="1676009" y="6401509"/>
            <a:ext cx="8178622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s-ES" sz="2400" dirty="0">
                <a:solidFill>
                  <a:srgbClr val="3333FF"/>
                </a:solidFill>
              </a:rPr>
              <a:t>Al alejarse la fuente de </a:t>
            </a:r>
            <a:r>
              <a:rPr lang="es-ES" sz="2400" b="1" dirty="0">
                <a:solidFill>
                  <a:srgbClr val="3333FF"/>
                </a:solidFill>
              </a:rPr>
              <a:t>B</a:t>
            </a:r>
            <a:r>
              <a:rPr lang="es-ES" sz="2400" dirty="0">
                <a:solidFill>
                  <a:srgbClr val="3333FF"/>
                </a:solidFill>
              </a:rPr>
              <a:t> (el imán), </a:t>
            </a:r>
            <a:r>
              <a:rPr lang="es-ES" sz="2400" b="1" dirty="0">
                <a:solidFill>
                  <a:srgbClr val="3333FF"/>
                </a:solidFill>
              </a:rPr>
              <a:t>B</a:t>
            </a:r>
            <a:r>
              <a:rPr lang="es-ES" sz="2400" dirty="0">
                <a:solidFill>
                  <a:srgbClr val="3333FF"/>
                </a:solidFill>
              </a:rPr>
              <a:t> decrece en la espira</a:t>
            </a:r>
          </a:p>
        </p:txBody>
      </p:sp>
      <p:sp>
        <p:nvSpPr>
          <p:cNvPr id="46" name="Text Box 119"/>
          <p:cNvSpPr txBox="1">
            <a:spLocks noChangeArrowheads="1"/>
          </p:cNvSpPr>
          <p:nvPr/>
        </p:nvSpPr>
        <p:spPr bwMode="auto">
          <a:xfrm>
            <a:off x="4618556" y="935430"/>
            <a:ext cx="2359722" cy="51473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Fenomenología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62D2078-1DA2-F726-4E34-96C4AE739DF6}"/>
              </a:ext>
            </a:extLst>
          </p:cNvPr>
          <p:cNvGrpSpPr/>
          <p:nvPr/>
        </p:nvGrpSpPr>
        <p:grpSpPr>
          <a:xfrm>
            <a:off x="8199528" y="326736"/>
            <a:ext cx="2195535" cy="536550"/>
            <a:chOff x="8180478" y="326736"/>
            <a:chExt cx="2195535" cy="536550"/>
          </a:xfrm>
        </p:grpSpPr>
        <p:sp>
          <p:nvSpPr>
            <p:cNvPr id="4" name="Text Box 47">
              <a:extLst>
                <a:ext uri="{FF2B5EF4-FFF2-40B4-BE49-F238E27FC236}">
                  <a16:creationId xmlns:a16="http://schemas.microsoft.com/office/drawing/2014/main" id="{861A048D-8FA9-8A24-29D3-93D037896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7488" y="326736"/>
              <a:ext cx="1018525" cy="53655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chemeClr val="tx1"/>
                  </a:solidFill>
                </a:rPr>
                <a:t>s. XIX</a:t>
              </a:r>
            </a:p>
          </p:txBody>
        </p:sp>
        <p:sp>
          <p:nvSpPr>
            <p:cNvPr id="5" name="Text Box 83">
              <a:extLst>
                <a:ext uri="{FF2B5EF4-FFF2-40B4-BE49-F238E27FC236}">
                  <a16:creationId xmlns:a16="http://schemas.microsoft.com/office/drawing/2014/main" id="{7126A37B-2CFA-7870-EFC9-1F0B487C5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0478" y="381792"/>
              <a:ext cx="1207680" cy="444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1800">
                  <a:solidFill>
                    <a:srgbClr val="CC0000"/>
                  </a:solidFill>
                </a:rPr>
                <a:t>(USA-UK)</a:t>
              </a:r>
              <a:endParaRPr lang="es-ES" sz="1800" dirty="0">
                <a:solidFill>
                  <a:srgbClr val="CC0000"/>
                </a:solidFill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741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7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7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7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7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6" grpId="0" animBg="1"/>
      <p:bldP spid="571511" grpId="0" animBg="1"/>
      <p:bldP spid="571512" grpId="0" animBg="1"/>
      <p:bldP spid="2" grpId="0"/>
      <p:bldP spid="40" grpId="0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121"/>
          <p:cNvSpPr txBox="1">
            <a:spLocks noChangeArrowheads="1"/>
          </p:cNvSpPr>
          <p:nvPr/>
        </p:nvSpPr>
        <p:spPr bwMode="auto">
          <a:xfrm>
            <a:off x="1610501" y="3252851"/>
            <a:ext cx="8366174" cy="514738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ym typeface="Symbol" panose="05050102010706020507" pitchFamily="18" charset="2"/>
              </a:rPr>
              <a:t>Cuanto más rápido se mueve el imán, mayor es la corriente</a:t>
            </a:r>
          </a:p>
        </p:txBody>
      </p:sp>
      <p:sp>
        <p:nvSpPr>
          <p:cNvPr id="37" name="Text Box 122"/>
          <p:cNvSpPr txBox="1">
            <a:spLocks noChangeArrowheads="1"/>
          </p:cNvSpPr>
          <p:nvPr/>
        </p:nvSpPr>
        <p:spPr bwMode="auto">
          <a:xfrm>
            <a:off x="2515593" y="4677725"/>
            <a:ext cx="6424707" cy="5147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Si se detiene el imán, la corriente desaparece</a:t>
            </a:r>
          </a:p>
        </p:txBody>
      </p:sp>
      <p:sp>
        <p:nvSpPr>
          <p:cNvPr id="35" name="Text Box 121"/>
          <p:cNvSpPr txBox="1">
            <a:spLocks noChangeArrowheads="1"/>
          </p:cNvSpPr>
          <p:nvPr/>
        </p:nvSpPr>
        <p:spPr bwMode="auto">
          <a:xfrm>
            <a:off x="1610501" y="3931567"/>
            <a:ext cx="8366174" cy="514738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A mayor superficie de la espira</a:t>
            </a:r>
            <a:r>
              <a:rPr lang="es-ES" sz="2400">
                <a:sym typeface="Symbol" panose="05050102010706020507" pitchFamily="18" charset="2"/>
              </a:rPr>
              <a:t>, mayor </a:t>
            </a:r>
            <a:r>
              <a:rPr lang="es-ES" sz="2400" dirty="0">
                <a:sym typeface="Symbol" panose="05050102010706020507" pitchFamily="18" charset="2"/>
              </a:rPr>
              <a:t>es la corriente</a:t>
            </a:r>
          </a:p>
        </p:txBody>
      </p:sp>
      <p:sp>
        <p:nvSpPr>
          <p:cNvPr id="42" name="Text Box 59">
            <a:extLst>
              <a:ext uri="{FF2B5EF4-FFF2-40B4-BE49-F238E27FC236}">
                <a16:creationId xmlns:a16="http://schemas.microsoft.com/office/drawing/2014/main" id="{BAB741F0-9A39-44D9-B7E8-38AA4AA88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350" y="5535124"/>
            <a:ext cx="7847398" cy="12752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Que </a:t>
            </a:r>
            <a:r>
              <a:rPr lang="es-ES" sz="2400">
                <a:latin typeface="Arial" panose="020B0604020202020204" pitchFamily="34" charset="0"/>
              </a:rPr>
              <a:t>algo magnético: un imán, </a:t>
            </a:r>
            <a:r>
              <a:rPr lang="es-ES" sz="2400" dirty="0">
                <a:latin typeface="Arial" panose="020B0604020202020204" pitchFamily="34" charset="0"/>
              </a:rPr>
              <a:t>dé lugar a </a:t>
            </a:r>
            <a:r>
              <a:rPr lang="es-ES" sz="2400">
                <a:latin typeface="Arial" panose="020B0604020202020204" pitchFamily="34" charset="0"/>
              </a:rPr>
              <a:t>algo eléctrico: una corriente, </a:t>
            </a:r>
            <a:r>
              <a:rPr lang="es-ES" sz="2400" dirty="0">
                <a:latin typeface="Arial" panose="020B0604020202020204" pitchFamily="34" charset="0"/>
              </a:rPr>
              <a:t>refleja, de nuevo, en sentido contrario, </a:t>
            </a:r>
            <a:r>
              <a:rPr lang="es-ES" sz="2400">
                <a:latin typeface="Arial" panose="020B0604020202020204" pitchFamily="34" charset="0"/>
              </a:rPr>
              <a:t>que lo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magnético</a:t>
            </a:r>
            <a:r>
              <a:rPr lang="es-ES" sz="2400">
                <a:latin typeface="Arial" panose="020B0604020202020204" pitchFamily="34" charset="0"/>
              </a:rPr>
              <a:t> y lo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eléctrico</a:t>
            </a:r>
            <a:r>
              <a:rPr lang="es-ES" sz="2400">
                <a:latin typeface="Arial" panose="020B0604020202020204" pitchFamily="34" charset="0"/>
              </a:rPr>
              <a:t> están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relacionados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83EAF7EA-FCCA-4114-864D-2E027E879140}"/>
              </a:ext>
            </a:extLst>
          </p:cNvPr>
          <p:cNvSpPr/>
          <p:nvPr/>
        </p:nvSpPr>
        <p:spPr bwMode="auto">
          <a:xfrm rot="21245303">
            <a:off x="8975487" y="1004703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EC6913A8-3ADC-4454-814C-583D059CE2CC}"/>
              </a:ext>
            </a:extLst>
          </p:cNvPr>
          <p:cNvSpPr/>
          <p:nvPr/>
        </p:nvSpPr>
        <p:spPr bwMode="auto">
          <a:xfrm rot="21245303">
            <a:off x="4246181" y="1019727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43" name="Group 276">
            <a:extLst>
              <a:ext uri="{FF2B5EF4-FFF2-40B4-BE49-F238E27FC236}">
                <a16:creationId xmlns:a16="http://schemas.microsoft.com/office/drawing/2014/main" id="{6BA1F1DD-F48A-4B80-B02D-F5C7BFCC8F95}"/>
              </a:ext>
            </a:extLst>
          </p:cNvPr>
          <p:cNvGrpSpPr>
            <a:grpSpLocks/>
          </p:cNvGrpSpPr>
          <p:nvPr/>
        </p:nvGrpSpPr>
        <p:grpSpPr bwMode="auto">
          <a:xfrm>
            <a:off x="5970675" y="868765"/>
            <a:ext cx="4494213" cy="1784350"/>
            <a:chOff x="3852" y="870"/>
            <a:chExt cx="2831" cy="1124"/>
          </a:xfrm>
        </p:grpSpPr>
        <p:sp>
          <p:nvSpPr>
            <p:cNvPr id="44" name="Oval 124">
              <a:extLst>
                <a:ext uri="{FF2B5EF4-FFF2-40B4-BE49-F238E27FC236}">
                  <a16:creationId xmlns:a16="http://schemas.microsoft.com/office/drawing/2014/main" id="{F09BDC0F-A4D1-4037-AD69-49BB7FAA6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" y="870"/>
              <a:ext cx="340" cy="112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pSp>
          <p:nvGrpSpPr>
            <p:cNvPr id="45" name="Group 135">
              <a:extLst>
                <a:ext uri="{FF2B5EF4-FFF2-40B4-BE49-F238E27FC236}">
                  <a16:creationId xmlns:a16="http://schemas.microsoft.com/office/drawing/2014/main" id="{2C1E1F82-3E88-4824-A51D-CDEA1012EF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2" y="1230"/>
              <a:ext cx="1174" cy="457"/>
              <a:chOff x="3842" y="1348"/>
              <a:chExt cx="1174" cy="457"/>
            </a:xfrm>
          </p:grpSpPr>
          <p:sp>
            <p:nvSpPr>
              <p:cNvPr id="54" name="AutoShape 126">
                <a:extLst>
                  <a:ext uri="{FF2B5EF4-FFF2-40B4-BE49-F238E27FC236}">
                    <a16:creationId xmlns:a16="http://schemas.microsoft.com/office/drawing/2014/main" id="{0075F2C9-8A26-4706-909E-DB2066421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1348"/>
                <a:ext cx="680" cy="453"/>
              </a:xfrm>
              <a:prstGeom prst="cube">
                <a:avLst>
                  <a:gd name="adj" fmla="val 41773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55" name="AutoShape 127">
                <a:extLst>
                  <a:ext uri="{FF2B5EF4-FFF2-40B4-BE49-F238E27FC236}">
                    <a16:creationId xmlns:a16="http://schemas.microsoft.com/office/drawing/2014/main" id="{3633D20D-3813-4A1F-99D7-0D77615DD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348"/>
                <a:ext cx="680" cy="453"/>
              </a:xfrm>
              <a:prstGeom prst="cube">
                <a:avLst>
                  <a:gd name="adj" fmla="val 40296"/>
                </a:avLst>
              </a:prstGeom>
              <a:solidFill>
                <a:srgbClr val="3366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56" name="Text Box 128">
                <a:extLst>
                  <a:ext uri="{FF2B5EF4-FFF2-40B4-BE49-F238E27FC236}">
                    <a16:creationId xmlns:a16="http://schemas.microsoft.com/office/drawing/2014/main" id="{F8E230EE-F1CE-41FA-A369-1ED2329E65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1" y="1538"/>
                <a:ext cx="31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57" name="Text Box 129">
                <a:extLst>
                  <a:ext uri="{FF2B5EF4-FFF2-40B4-BE49-F238E27FC236}">
                    <a16:creationId xmlns:a16="http://schemas.microsoft.com/office/drawing/2014/main" id="{3FAFF7C2-E464-4CE6-B422-20F4D6EEDB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3" y="1542"/>
                <a:ext cx="31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</p:grpSp>
        <p:grpSp>
          <p:nvGrpSpPr>
            <p:cNvPr id="47" name="Group 130">
              <a:extLst>
                <a:ext uri="{FF2B5EF4-FFF2-40B4-BE49-F238E27FC236}">
                  <a16:creationId xmlns:a16="http://schemas.microsoft.com/office/drawing/2014/main" id="{571109CB-3CF3-4E90-8D96-1B9676C38D87}"/>
                </a:ext>
              </a:extLst>
            </p:cNvPr>
            <p:cNvGrpSpPr>
              <a:grpSpLocks/>
            </p:cNvGrpSpPr>
            <p:nvPr/>
          </p:nvGrpSpPr>
          <p:grpSpPr bwMode="auto">
            <a:xfrm rot="10415585">
              <a:off x="5777" y="1000"/>
              <a:ext cx="257" cy="266"/>
              <a:chOff x="1224" y="3650"/>
              <a:chExt cx="257" cy="266"/>
            </a:xfrm>
          </p:grpSpPr>
          <p:sp>
            <p:nvSpPr>
              <p:cNvPr id="51" name="Line 131">
                <a:extLst>
                  <a:ext uri="{FF2B5EF4-FFF2-40B4-BE49-F238E27FC236}">
                    <a16:creationId xmlns:a16="http://schemas.microsoft.com/office/drawing/2014/main" id="{30CA53DD-F28A-46B5-A09A-EBA899FEA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24" y="3650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52" name="Line 132">
                <a:extLst>
                  <a:ext uri="{FF2B5EF4-FFF2-40B4-BE49-F238E27FC236}">
                    <a16:creationId xmlns:a16="http://schemas.microsoft.com/office/drawing/2014/main" id="{F213A722-BB3B-4CCD-9381-101929F46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0" y="380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53" name="Oval 133">
                <a:extLst>
                  <a:ext uri="{FF2B5EF4-FFF2-40B4-BE49-F238E27FC236}">
                    <a16:creationId xmlns:a16="http://schemas.microsoft.com/office/drawing/2014/main" id="{9F23F333-9EEA-4F37-9915-DCBEA5491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6" y="3686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  <p:sp>
          <p:nvSpPr>
            <p:cNvPr id="48" name="Text Box 134">
              <a:extLst>
                <a:ext uri="{FF2B5EF4-FFF2-40B4-BE49-F238E27FC236}">
                  <a16:creationId xmlns:a16="http://schemas.microsoft.com/office/drawing/2014/main" id="{DFE36B93-F1D7-4E8F-9982-3D3B26E2A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0" y="1373"/>
              <a:ext cx="66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Espira</a:t>
              </a:r>
            </a:p>
          </p:txBody>
        </p:sp>
        <p:sp>
          <p:nvSpPr>
            <p:cNvPr id="49" name="Text Box 167">
              <a:extLst>
                <a:ext uri="{FF2B5EF4-FFF2-40B4-BE49-F238E27FC236}">
                  <a16:creationId xmlns:a16="http://schemas.microsoft.com/office/drawing/2014/main" id="{53028C36-B437-42B8-B034-80B6C1AA0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" y="1646"/>
              <a:ext cx="54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Imán</a:t>
              </a:r>
            </a:p>
          </p:txBody>
        </p:sp>
        <p:sp>
          <p:nvSpPr>
            <p:cNvPr id="50" name="Text Box 250">
              <a:extLst>
                <a:ext uri="{FF2B5EF4-FFF2-40B4-BE49-F238E27FC236}">
                  <a16:creationId xmlns:a16="http://schemas.microsoft.com/office/drawing/2014/main" id="{D2F26794-A79C-493A-AA61-ACEFC2819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5" y="1588"/>
              <a:ext cx="112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CC00CC"/>
                  </a:solidFill>
                </a:rPr>
                <a:t> </a:t>
              </a:r>
              <a:r>
                <a:rPr lang="es-ES" sz="2400">
                  <a:solidFill>
                    <a:srgbClr val="3333FF"/>
                  </a:solidFill>
                </a:rPr>
                <a:t>conductora</a:t>
              </a:r>
            </a:p>
          </p:txBody>
        </p:sp>
      </p:grpSp>
      <p:grpSp>
        <p:nvGrpSpPr>
          <p:cNvPr id="58" name="Group 275">
            <a:extLst>
              <a:ext uri="{FF2B5EF4-FFF2-40B4-BE49-F238E27FC236}">
                <a16:creationId xmlns:a16="http://schemas.microsoft.com/office/drawing/2014/main" id="{E43D534C-540E-4914-9C0F-0E141F00A521}"/>
              </a:ext>
            </a:extLst>
          </p:cNvPr>
          <p:cNvGrpSpPr>
            <a:grpSpLocks/>
          </p:cNvGrpSpPr>
          <p:nvPr/>
        </p:nvGrpSpPr>
        <p:grpSpPr bwMode="auto">
          <a:xfrm>
            <a:off x="1309575" y="868971"/>
            <a:ext cx="4508500" cy="1768481"/>
            <a:chOff x="932" y="858"/>
            <a:chExt cx="2840" cy="1114"/>
          </a:xfrm>
        </p:grpSpPr>
        <p:sp>
          <p:nvSpPr>
            <p:cNvPr id="59" name="Oval 60">
              <a:extLst>
                <a:ext uri="{FF2B5EF4-FFF2-40B4-BE49-F238E27FC236}">
                  <a16:creationId xmlns:a16="http://schemas.microsoft.com/office/drawing/2014/main" id="{FA95738D-4481-4D2C-AC46-F46099B40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858"/>
              <a:ext cx="340" cy="1022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dirty="0"/>
            </a:p>
          </p:txBody>
        </p:sp>
        <p:grpSp>
          <p:nvGrpSpPr>
            <p:cNvPr id="60" name="Group 114">
              <a:extLst>
                <a:ext uri="{FF2B5EF4-FFF2-40B4-BE49-F238E27FC236}">
                  <a16:creationId xmlns:a16="http://schemas.microsoft.com/office/drawing/2014/main" id="{9A176B0C-F169-4EDB-A904-EE624D35EB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2" y="1212"/>
              <a:ext cx="1174" cy="457"/>
              <a:chOff x="1087" y="1341"/>
              <a:chExt cx="1174" cy="457"/>
            </a:xfrm>
          </p:grpSpPr>
          <p:sp>
            <p:nvSpPr>
              <p:cNvPr id="68" name="AutoShape 57">
                <a:extLst>
                  <a:ext uri="{FF2B5EF4-FFF2-40B4-BE49-F238E27FC236}">
                    <a16:creationId xmlns:a16="http://schemas.microsoft.com/office/drawing/2014/main" id="{BA002EAF-81D4-4BAC-A2F6-BE8E9C3668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7" y="1341"/>
                <a:ext cx="680" cy="453"/>
              </a:xfrm>
              <a:prstGeom prst="cube">
                <a:avLst>
                  <a:gd name="adj" fmla="val 41773"/>
                </a:avLst>
              </a:prstGeom>
              <a:solidFill>
                <a:srgbClr val="3366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69" name="AutoShape 58">
                <a:extLst>
                  <a:ext uri="{FF2B5EF4-FFF2-40B4-BE49-F238E27FC236}">
                    <a16:creationId xmlns:a16="http://schemas.microsoft.com/office/drawing/2014/main" id="{17B1F7DF-623A-489E-B5EC-A64153215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1" y="1341"/>
                <a:ext cx="680" cy="453"/>
              </a:xfrm>
              <a:prstGeom prst="cube">
                <a:avLst>
                  <a:gd name="adj" fmla="val 40296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70" name="Text Box 61">
                <a:extLst>
                  <a:ext uri="{FF2B5EF4-FFF2-40B4-BE49-F238E27FC236}">
                    <a16:creationId xmlns:a16="http://schemas.microsoft.com/office/drawing/2014/main" id="{CB778BD9-81EB-42C3-AB9B-4AB574DE75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6" y="1531"/>
                <a:ext cx="31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71" name="Text Box 62">
                <a:extLst>
                  <a:ext uri="{FF2B5EF4-FFF2-40B4-BE49-F238E27FC236}">
                    <a16:creationId xmlns:a16="http://schemas.microsoft.com/office/drawing/2014/main" id="{17294ED1-8B58-4F0B-BFE9-4EDC363008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8" y="1535"/>
                <a:ext cx="31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61" name="Group 115">
              <a:extLst>
                <a:ext uri="{FF2B5EF4-FFF2-40B4-BE49-F238E27FC236}">
                  <a16:creationId xmlns:a16="http://schemas.microsoft.com/office/drawing/2014/main" id="{FDADDA9B-B386-4B68-90F6-946A52253BE9}"/>
                </a:ext>
              </a:extLst>
            </p:cNvPr>
            <p:cNvGrpSpPr>
              <a:grpSpLocks/>
            </p:cNvGrpSpPr>
            <p:nvPr/>
          </p:nvGrpSpPr>
          <p:grpSpPr bwMode="auto">
            <a:xfrm rot="10415585">
              <a:off x="2843" y="995"/>
              <a:ext cx="257" cy="266"/>
              <a:chOff x="1222" y="3655"/>
              <a:chExt cx="257" cy="266"/>
            </a:xfrm>
          </p:grpSpPr>
          <p:sp>
            <p:nvSpPr>
              <p:cNvPr id="65" name="Line 116">
                <a:extLst>
                  <a:ext uri="{FF2B5EF4-FFF2-40B4-BE49-F238E27FC236}">
                    <a16:creationId xmlns:a16="http://schemas.microsoft.com/office/drawing/2014/main" id="{8C9020C6-9164-44B0-8C8A-C7A34918B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22" y="3655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6" name="Line 117">
                <a:extLst>
                  <a:ext uri="{FF2B5EF4-FFF2-40B4-BE49-F238E27FC236}">
                    <a16:creationId xmlns:a16="http://schemas.microsoft.com/office/drawing/2014/main" id="{61D40026-6883-42D5-96E8-273465770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8" y="3814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7" name="Oval 118">
                <a:extLst>
                  <a:ext uri="{FF2B5EF4-FFF2-40B4-BE49-F238E27FC236}">
                    <a16:creationId xmlns:a16="http://schemas.microsoft.com/office/drawing/2014/main" id="{6EA691B8-6BC1-4916-9DEE-D61790747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4" y="3691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  <p:sp>
          <p:nvSpPr>
            <p:cNvPr id="62" name="Text Box 123">
              <a:extLst>
                <a:ext uri="{FF2B5EF4-FFF2-40B4-BE49-F238E27FC236}">
                  <a16:creationId xmlns:a16="http://schemas.microsoft.com/office/drawing/2014/main" id="{9D7C4303-0EE6-4983-8FB3-6CECA657D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2" y="1443"/>
              <a:ext cx="66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Espira</a:t>
              </a:r>
            </a:p>
          </p:txBody>
        </p:sp>
        <p:sp>
          <p:nvSpPr>
            <p:cNvPr id="63" name="Text Box 166">
              <a:extLst>
                <a:ext uri="{FF2B5EF4-FFF2-40B4-BE49-F238E27FC236}">
                  <a16:creationId xmlns:a16="http://schemas.microsoft.com/office/drawing/2014/main" id="{549A906C-6795-4282-856A-43BE6F03C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7" y="1616"/>
              <a:ext cx="54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Imán</a:t>
              </a:r>
            </a:p>
          </p:txBody>
        </p:sp>
        <p:sp>
          <p:nvSpPr>
            <p:cNvPr id="64" name="Text Box 274">
              <a:extLst>
                <a:ext uri="{FF2B5EF4-FFF2-40B4-BE49-F238E27FC236}">
                  <a16:creationId xmlns:a16="http://schemas.microsoft.com/office/drawing/2014/main" id="{0D521BB9-0021-44D9-8631-4F6A2B07B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634"/>
              <a:ext cx="112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 conductora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535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5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ángulo 118"/>
          <p:cNvSpPr/>
          <p:nvPr/>
        </p:nvSpPr>
        <p:spPr bwMode="auto">
          <a:xfrm rot="21245303">
            <a:off x="9009562" y="5195295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20" name="Rectángulo 119"/>
          <p:cNvSpPr/>
          <p:nvPr/>
        </p:nvSpPr>
        <p:spPr bwMode="auto">
          <a:xfrm rot="21245303">
            <a:off x="4373801" y="5097901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7" name="Rectángulo 116"/>
          <p:cNvSpPr/>
          <p:nvPr/>
        </p:nvSpPr>
        <p:spPr bwMode="auto">
          <a:xfrm rot="21245303">
            <a:off x="8997005" y="1082111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8" name="Rectángulo 117"/>
          <p:cNvSpPr/>
          <p:nvPr/>
        </p:nvSpPr>
        <p:spPr bwMode="auto">
          <a:xfrm rot="21245303">
            <a:off x="4377869" y="1097135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" name="Flecha abajo 3"/>
          <p:cNvSpPr/>
          <p:nvPr/>
        </p:nvSpPr>
        <p:spPr bwMode="auto">
          <a:xfrm>
            <a:off x="7101999" y="3064718"/>
            <a:ext cx="327025" cy="2047774"/>
          </a:xfrm>
          <a:prstGeom prst="downArrow">
            <a:avLst>
              <a:gd name="adj1" fmla="val 50000"/>
              <a:gd name="adj2" fmla="val 136679"/>
            </a:avLst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5" name="Flecha abajo 114"/>
          <p:cNvSpPr/>
          <p:nvPr/>
        </p:nvSpPr>
        <p:spPr bwMode="auto">
          <a:xfrm>
            <a:off x="2518545" y="3156868"/>
            <a:ext cx="327025" cy="1944000"/>
          </a:xfrm>
          <a:prstGeom prst="downArrow">
            <a:avLst>
              <a:gd name="adj1" fmla="val 50000"/>
              <a:gd name="adj2" fmla="val 136679"/>
            </a:avLst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716816" name="Group 16"/>
          <p:cNvGrpSpPr>
            <a:grpSpLocks/>
          </p:cNvGrpSpPr>
          <p:nvPr/>
        </p:nvGrpSpPr>
        <p:grpSpPr bwMode="auto">
          <a:xfrm>
            <a:off x="5878895" y="988848"/>
            <a:ext cx="2327275" cy="1957387"/>
            <a:chOff x="6804" y="1033"/>
            <a:chExt cx="1466" cy="1233"/>
          </a:xfrm>
        </p:grpSpPr>
        <p:sp>
          <p:nvSpPr>
            <p:cNvPr id="38000" name="Rectangle 17"/>
            <p:cNvSpPr>
              <a:spLocks noChangeArrowheads="1"/>
            </p:cNvSpPr>
            <p:nvPr/>
          </p:nvSpPr>
          <p:spPr bwMode="auto">
            <a:xfrm>
              <a:off x="6804" y="1033"/>
              <a:ext cx="1466" cy="1233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38001" name="Rectangle 18"/>
            <p:cNvSpPr>
              <a:spLocks noChangeArrowheads="1"/>
            </p:cNvSpPr>
            <p:nvPr/>
          </p:nvSpPr>
          <p:spPr bwMode="auto">
            <a:xfrm rot="10800000">
              <a:off x="7085" y="1321"/>
              <a:ext cx="925" cy="269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dirty="0"/>
            </a:p>
          </p:txBody>
        </p:sp>
      </p:grpSp>
      <p:grpSp>
        <p:nvGrpSpPr>
          <p:cNvPr id="716819" name="Group 19"/>
          <p:cNvGrpSpPr>
            <a:grpSpLocks/>
          </p:cNvGrpSpPr>
          <p:nvPr/>
        </p:nvGrpSpPr>
        <p:grpSpPr bwMode="auto">
          <a:xfrm flipH="1">
            <a:off x="5923345" y="1033298"/>
            <a:ext cx="2216150" cy="633412"/>
            <a:chOff x="997" y="1063"/>
            <a:chExt cx="1396" cy="399"/>
          </a:xfrm>
        </p:grpSpPr>
        <p:sp>
          <p:nvSpPr>
            <p:cNvPr id="37997" name="Oval 20"/>
            <p:cNvSpPr>
              <a:spLocks noChangeArrowheads="1"/>
            </p:cNvSpPr>
            <p:nvPr/>
          </p:nvSpPr>
          <p:spPr bwMode="auto">
            <a:xfrm>
              <a:off x="997" y="1063"/>
              <a:ext cx="1396" cy="399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37998" name="Line 21"/>
            <p:cNvSpPr>
              <a:spLocks noChangeShapeType="1"/>
            </p:cNvSpPr>
            <p:nvPr/>
          </p:nvSpPr>
          <p:spPr bwMode="auto">
            <a:xfrm flipH="1">
              <a:off x="1628" y="1063"/>
              <a:ext cx="12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99" name="Line 22"/>
            <p:cNvSpPr>
              <a:spLocks noChangeShapeType="1"/>
            </p:cNvSpPr>
            <p:nvPr/>
          </p:nvSpPr>
          <p:spPr bwMode="auto">
            <a:xfrm>
              <a:off x="1680" y="1458"/>
              <a:ext cx="12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716837" name="Group 37"/>
          <p:cNvGrpSpPr>
            <a:grpSpLocks/>
          </p:cNvGrpSpPr>
          <p:nvPr/>
        </p:nvGrpSpPr>
        <p:grpSpPr bwMode="auto">
          <a:xfrm>
            <a:off x="1246002" y="957098"/>
            <a:ext cx="2327275" cy="1957387"/>
            <a:chOff x="-931" y="1033"/>
            <a:chExt cx="1466" cy="1233"/>
          </a:xfrm>
        </p:grpSpPr>
        <p:sp>
          <p:nvSpPr>
            <p:cNvPr id="37995" name="Rectangle 38"/>
            <p:cNvSpPr>
              <a:spLocks noChangeArrowheads="1"/>
            </p:cNvSpPr>
            <p:nvPr/>
          </p:nvSpPr>
          <p:spPr bwMode="auto">
            <a:xfrm>
              <a:off x="-931" y="1033"/>
              <a:ext cx="1466" cy="1233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dirty="0"/>
            </a:p>
          </p:txBody>
        </p:sp>
        <p:sp>
          <p:nvSpPr>
            <p:cNvPr id="37996" name="Rectangle 39"/>
            <p:cNvSpPr>
              <a:spLocks noChangeArrowheads="1"/>
            </p:cNvSpPr>
            <p:nvPr/>
          </p:nvSpPr>
          <p:spPr bwMode="auto">
            <a:xfrm rot="10800000">
              <a:off x="-650" y="1321"/>
              <a:ext cx="925" cy="269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716840" name="Group 40"/>
          <p:cNvGrpSpPr>
            <a:grpSpLocks/>
          </p:cNvGrpSpPr>
          <p:nvPr/>
        </p:nvGrpSpPr>
        <p:grpSpPr bwMode="auto">
          <a:xfrm>
            <a:off x="1336490" y="1012660"/>
            <a:ext cx="2216150" cy="636588"/>
            <a:chOff x="997" y="1063"/>
            <a:chExt cx="1396" cy="401"/>
          </a:xfrm>
        </p:grpSpPr>
        <p:sp>
          <p:nvSpPr>
            <p:cNvPr id="37992" name="Oval 41"/>
            <p:cNvSpPr>
              <a:spLocks noChangeArrowheads="1"/>
            </p:cNvSpPr>
            <p:nvPr/>
          </p:nvSpPr>
          <p:spPr bwMode="auto">
            <a:xfrm>
              <a:off x="997" y="1063"/>
              <a:ext cx="1396" cy="399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37993" name="Line 42"/>
            <p:cNvSpPr>
              <a:spLocks noChangeShapeType="1"/>
            </p:cNvSpPr>
            <p:nvPr/>
          </p:nvSpPr>
          <p:spPr bwMode="auto">
            <a:xfrm flipH="1">
              <a:off x="1628" y="1063"/>
              <a:ext cx="12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94" name="Line 43"/>
            <p:cNvSpPr>
              <a:spLocks noChangeShapeType="1"/>
            </p:cNvSpPr>
            <p:nvPr/>
          </p:nvSpPr>
          <p:spPr bwMode="auto">
            <a:xfrm>
              <a:off x="1674" y="1464"/>
              <a:ext cx="12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716941" name="Group 141"/>
          <p:cNvGrpSpPr>
            <a:grpSpLocks/>
          </p:cNvGrpSpPr>
          <p:nvPr/>
        </p:nvGrpSpPr>
        <p:grpSpPr bwMode="auto">
          <a:xfrm>
            <a:off x="1312677" y="1360323"/>
            <a:ext cx="2209800" cy="1065212"/>
            <a:chOff x="858" y="1247"/>
            <a:chExt cx="1392" cy="671"/>
          </a:xfrm>
        </p:grpSpPr>
        <p:sp>
          <p:nvSpPr>
            <p:cNvPr id="37981" name="Line 54"/>
            <p:cNvSpPr>
              <a:spLocks noChangeShapeType="1"/>
            </p:cNvSpPr>
            <p:nvPr/>
          </p:nvSpPr>
          <p:spPr bwMode="auto">
            <a:xfrm rot="10800000">
              <a:off x="1939" y="1558"/>
              <a:ext cx="0" cy="24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82" name="Line 55"/>
            <p:cNvSpPr>
              <a:spLocks noChangeShapeType="1"/>
            </p:cNvSpPr>
            <p:nvPr/>
          </p:nvSpPr>
          <p:spPr bwMode="auto">
            <a:xfrm>
              <a:off x="1797" y="1255"/>
              <a:ext cx="45" cy="33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83" name="Line 56"/>
            <p:cNvSpPr>
              <a:spLocks noChangeShapeType="1"/>
            </p:cNvSpPr>
            <p:nvPr/>
          </p:nvSpPr>
          <p:spPr bwMode="auto">
            <a:xfrm>
              <a:off x="1671" y="1247"/>
              <a:ext cx="45" cy="33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84" name="Line 57"/>
            <p:cNvSpPr>
              <a:spLocks noChangeShapeType="1"/>
            </p:cNvSpPr>
            <p:nvPr/>
          </p:nvSpPr>
          <p:spPr bwMode="auto">
            <a:xfrm>
              <a:off x="1546" y="1249"/>
              <a:ext cx="4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85" name="Line 58"/>
            <p:cNvSpPr>
              <a:spLocks noChangeShapeType="1"/>
            </p:cNvSpPr>
            <p:nvPr/>
          </p:nvSpPr>
          <p:spPr bwMode="auto">
            <a:xfrm>
              <a:off x="1420" y="1249"/>
              <a:ext cx="4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86" name="Line 59"/>
            <p:cNvSpPr>
              <a:spLocks noChangeShapeType="1"/>
            </p:cNvSpPr>
            <p:nvPr/>
          </p:nvSpPr>
          <p:spPr bwMode="auto">
            <a:xfrm>
              <a:off x="1295" y="1249"/>
              <a:ext cx="4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87" name="Line 60"/>
            <p:cNvSpPr>
              <a:spLocks noChangeShapeType="1"/>
            </p:cNvSpPr>
            <p:nvPr/>
          </p:nvSpPr>
          <p:spPr bwMode="auto">
            <a:xfrm rot="10800000">
              <a:off x="1179" y="1248"/>
              <a:ext cx="0" cy="56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88" name="Line 61"/>
            <p:cNvSpPr>
              <a:spLocks noChangeShapeType="1"/>
            </p:cNvSpPr>
            <p:nvPr/>
          </p:nvSpPr>
          <p:spPr bwMode="auto">
            <a:xfrm flipV="1">
              <a:off x="2023" y="1612"/>
              <a:ext cx="0" cy="23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37989" name="Line 62"/>
            <p:cNvSpPr>
              <a:spLocks noChangeShapeType="1"/>
            </p:cNvSpPr>
            <p:nvPr/>
          </p:nvSpPr>
          <p:spPr bwMode="auto">
            <a:xfrm>
              <a:off x="1087" y="1624"/>
              <a:ext cx="0" cy="23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37990" name="Text Box 63"/>
            <p:cNvSpPr txBox="1">
              <a:spLocks noChangeArrowheads="1"/>
            </p:cNvSpPr>
            <p:nvPr/>
          </p:nvSpPr>
          <p:spPr bwMode="auto">
            <a:xfrm>
              <a:off x="2049" y="1622"/>
              <a:ext cx="201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37991" name="Text Box 64"/>
            <p:cNvSpPr txBox="1">
              <a:spLocks noChangeArrowheads="1"/>
            </p:cNvSpPr>
            <p:nvPr/>
          </p:nvSpPr>
          <p:spPr bwMode="auto">
            <a:xfrm>
              <a:off x="858" y="1565"/>
              <a:ext cx="201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716865" name="Text Box 65"/>
          <p:cNvSpPr txBox="1">
            <a:spLocks noChangeArrowheads="1"/>
          </p:cNvSpPr>
          <p:nvPr/>
        </p:nvSpPr>
        <p:spPr bwMode="auto">
          <a:xfrm>
            <a:off x="1190140" y="427155"/>
            <a:ext cx="1141957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Bobina</a:t>
            </a:r>
          </a:p>
        </p:txBody>
      </p:sp>
      <p:grpSp>
        <p:nvGrpSpPr>
          <p:cNvPr id="716942" name="Group 142"/>
          <p:cNvGrpSpPr>
            <a:grpSpLocks/>
          </p:cNvGrpSpPr>
          <p:nvPr/>
        </p:nvGrpSpPr>
        <p:grpSpPr bwMode="auto">
          <a:xfrm>
            <a:off x="5756657" y="423698"/>
            <a:ext cx="2387600" cy="1993900"/>
            <a:chOff x="3654" y="657"/>
            <a:chExt cx="1504" cy="1256"/>
          </a:xfrm>
        </p:grpSpPr>
        <p:sp>
          <p:nvSpPr>
            <p:cNvPr id="37969" name="Line 71"/>
            <p:cNvSpPr>
              <a:spLocks noChangeShapeType="1"/>
            </p:cNvSpPr>
            <p:nvPr/>
          </p:nvSpPr>
          <p:spPr bwMode="auto">
            <a:xfrm rot="10800000">
              <a:off x="4847" y="1581"/>
              <a:ext cx="0" cy="24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70" name="Line 72"/>
            <p:cNvSpPr>
              <a:spLocks noChangeShapeType="1"/>
            </p:cNvSpPr>
            <p:nvPr/>
          </p:nvSpPr>
          <p:spPr bwMode="auto">
            <a:xfrm>
              <a:off x="4705" y="1269"/>
              <a:ext cx="45" cy="33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71" name="Line 73"/>
            <p:cNvSpPr>
              <a:spLocks noChangeShapeType="1"/>
            </p:cNvSpPr>
            <p:nvPr/>
          </p:nvSpPr>
          <p:spPr bwMode="auto">
            <a:xfrm>
              <a:off x="4579" y="1261"/>
              <a:ext cx="45" cy="33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72" name="Line 74"/>
            <p:cNvSpPr>
              <a:spLocks noChangeShapeType="1"/>
            </p:cNvSpPr>
            <p:nvPr/>
          </p:nvSpPr>
          <p:spPr bwMode="auto">
            <a:xfrm>
              <a:off x="4454" y="1263"/>
              <a:ext cx="4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73" name="Line 75"/>
            <p:cNvSpPr>
              <a:spLocks noChangeShapeType="1"/>
            </p:cNvSpPr>
            <p:nvPr/>
          </p:nvSpPr>
          <p:spPr bwMode="auto">
            <a:xfrm>
              <a:off x="4328" y="1263"/>
              <a:ext cx="4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74" name="Line 76"/>
            <p:cNvSpPr>
              <a:spLocks noChangeShapeType="1"/>
            </p:cNvSpPr>
            <p:nvPr/>
          </p:nvSpPr>
          <p:spPr bwMode="auto">
            <a:xfrm>
              <a:off x="4203" y="1263"/>
              <a:ext cx="4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75" name="Line 77"/>
            <p:cNvSpPr>
              <a:spLocks noChangeShapeType="1"/>
            </p:cNvSpPr>
            <p:nvPr/>
          </p:nvSpPr>
          <p:spPr bwMode="auto">
            <a:xfrm rot="10800000">
              <a:off x="4087" y="1262"/>
              <a:ext cx="0" cy="56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37976" name="Line 78"/>
            <p:cNvSpPr>
              <a:spLocks noChangeShapeType="1"/>
            </p:cNvSpPr>
            <p:nvPr/>
          </p:nvSpPr>
          <p:spPr bwMode="auto">
            <a:xfrm flipV="1">
              <a:off x="4931" y="1680"/>
              <a:ext cx="0" cy="23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37977" name="Line 79"/>
            <p:cNvSpPr>
              <a:spLocks noChangeShapeType="1"/>
            </p:cNvSpPr>
            <p:nvPr/>
          </p:nvSpPr>
          <p:spPr bwMode="auto">
            <a:xfrm>
              <a:off x="3995" y="1656"/>
              <a:ext cx="0" cy="23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37978" name="Text Box 80"/>
            <p:cNvSpPr txBox="1">
              <a:spLocks noChangeArrowheads="1"/>
            </p:cNvSpPr>
            <p:nvPr/>
          </p:nvSpPr>
          <p:spPr bwMode="auto">
            <a:xfrm>
              <a:off x="4957" y="1605"/>
              <a:ext cx="201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37979" name="Text Box 81"/>
            <p:cNvSpPr txBox="1">
              <a:spLocks noChangeArrowheads="1"/>
            </p:cNvSpPr>
            <p:nvPr/>
          </p:nvSpPr>
          <p:spPr bwMode="auto">
            <a:xfrm>
              <a:off x="3773" y="1583"/>
              <a:ext cx="201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37980" name="Text Box 82"/>
            <p:cNvSpPr txBox="1">
              <a:spLocks noChangeArrowheads="1"/>
            </p:cNvSpPr>
            <p:nvPr/>
          </p:nvSpPr>
          <p:spPr bwMode="auto">
            <a:xfrm>
              <a:off x="3654" y="657"/>
              <a:ext cx="719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3333FF"/>
                  </a:solidFill>
                </a:rPr>
                <a:t>Bobina</a:t>
              </a:r>
            </a:p>
          </p:txBody>
        </p:sp>
      </p:grpSp>
      <p:sp>
        <p:nvSpPr>
          <p:cNvPr id="716889" name="Text Box 89"/>
          <p:cNvSpPr txBox="1">
            <a:spLocks noChangeArrowheads="1"/>
          </p:cNvSpPr>
          <p:nvPr/>
        </p:nvSpPr>
        <p:spPr bwMode="auto">
          <a:xfrm>
            <a:off x="1786058" y="3369503"/>
            <a:ext cx="7935457" cy="905881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/>
              <a:t>Ocurre lo mismo que sucede con un imán, porque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una bobina con corriente se comporta como un imán</a:t>
            </a:r>
          </a:p>
        </p:txBody>
      </p:sp>
      <p:grpSp>
        <p:nvGrpSpPr>
          <p:cNvPr id="716894" name="Group 94"/>
          <p:cNvGrpSpPr>
            <a:grpSpLocks/>
          </p:cNvGrpSpPr>
          <p:nvPr/>
        </p:nvGrpSpPr>
        <p:grpSpPr bwMode="auto">
          <a:xfrm>
            <a:off x="2628718" y="628491"/>
            <a:ext cx="763589" cy="474663"/>
            <a:chOff x="645" y="3760"/>
            <a:chExt cx="481" cy="299"/>
          </a:xfrm>
        </p:grpSpPr>
        <p:sp>
          <p:nvSpPr>
            <p:cNvPr id="37967" name="Text Box 95"/>
            <p:cNvSpPr txBox="1">
              <a:spLocks noChangeArrowheads="1"/>
            </p:cNvSpPr>
            <p:nvPr/>
          </p:nvSpPr>
          <p:spPr bwMode="auto">
            <a:xfrm>
              <a:off x="645" y="3760"/>
              <a:ext cx="481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008000"/>
                  </a:solidFill>
                </a:rPr>
                <a:t>B</a:t>
              </a:r>
              <a:r>
                <a:rPr lang="es-ES" b="1" baseline="-25000">
                  <a:solidFill>
                    <a:srgbClr val="008000"/>
                  </a:solidFill>
                </a:rPr>
                <a:t>Total</a:t>
              </a:r>
            </a:p>
          </p:txBody>
        </p:sp>
        <p:sp>
          <p:nvSpPr>
            <p:cNvPr id="37968" name="Line 96"/>
            <p:cNvSpPr>
              <a:spLocks noChangeShapeType="1"/>
            </p:cNvSpPr>
            <p:nvPr/>
          </p:nvSpPr>
          <p:spPr bwMode="auto">
            <a:xfrm>
              <a:off x="712" y="3816"/>
              <a:ext cx="113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716900" name="Group 100"/>
          <p:cNvGrpSpPr>
            <a:grpSpLocks/>
          </p:cNvGrpSpPr>
          <p:nvPr/>
        </p:nvGrpSpPr>
        <p:grpSpPr bwMode="auto">
          <a:xfrm>
            <a:off x="7218748" y="653891"/>
            <a:ext cx="763589" cy="474663"/>
            <a:chOff x="645" y="3760"/>
            <a:chExt cx="481" cy="299"/>
          </a:xfrm>
        </p:grpSpPr>
        <p:sp>
          <p:nvSpPr>
            <p:cNvPr id="37965" name="Text Box 101"/>
            <p:cNvSpPr txBox="1">
              <a:spLocks noChangeArrowheads="1"/>
            </p:cNvSpPr>
            <p:nvPr/>
          </p:nvSpPr>
          <p:spPr bwMode="auto">
            <a:xfrm>
              <a:off x="645" y="3760"/>
              <a:ext cx="481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008000"/>
                  </a:solidFill>
                </a:rPr>
                <a:t>B</a:t>
              </a:r>
              <a:r>
                <a:rPr lang="es-ES" b="1" baseline="-25000">
                  <a:solidFill>
                    <a:srgbClr val="008000"/>
                  </a:solidFill>
                </a:rPr>
                <a:t>Total</a:t>
              </a:r>
            </a:p>
          </p:txBody>
        </p:sp>
        <p:sp>
          <p:nvSpPr>
            <p:cNvPr id="37966" name="Line 102"/>
            <p:cNvSpPr>
              <a:spLocks noChangeShapeType="1"/>
            </p:cNvSpPr>
            <p:nvPr/>
          </p:nvSpPr>
          <p:spPr bwMode="auto">
            <a:xfrm>
              <a:off x="712" y="3816"/>
              <a:ext cx="113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37901" name="Oval 107"/>
          <p:cNvSpPr>
            <a:spLocks noChangeArrowheads="1"/>
          </p:cNvSpPr>
          <p:nvPr/>
        </p:nvSpPr>
        <p:spPr bwMode="auto">
          <a:xfrm>
            <a:off x="8290007" y="564985"/>
            <a:ext cx="539750" cy="21590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grpSp>
        <p:nvGrpSpPr>
          <p:cNvPr id="37902" name="Group 113"/>
          <p:cNvGrpSpPr>
            <a:grpSpLocks/>
          </p:cNvGrpSpPr>
          <p:nvPr/>
        </p:nvGrpSpPr>
        <p:grpSpPr bwMode="auto">
          <a:xfrm rot="10415585">
            <a:off x="9114220" y="1165060"/>
            <a:ext cx="407987" cy="422275"/>
            <a:chOff x="1240" y="3526"/>
            <a:chExt cx="257" cy="266"/>
          </a:xfrm>
        </p:grpSpPr>
        <p:sp>
          <p:nvSpPr>
            <p:cNvPr id="37962" name="Line 114"/>
            <p:cNvSpPr>
              <a:spLocks noChangeShapeType="1"/>
            </p:cNvSpPr>
            <p:nvPr/>
          </p:nvSpPr>
          <p:spPr bwMode="auto">
            <a:xfrm flipH="1">
              <a:off x="1240" y="3526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63" name="Line 115"/>
            <p:cNvSpPr>
              <a:spLocks noChangeShapeType="1"/>
            </p:cNvSpPr>
            <p:nvPr/>
          </p:nvSpPr>
          <p:spPr bwMode="auto">
            <a:xfrm>
              <a:off x="1246" y="3685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64" name="Oval 116"/>
            <p:cNvSpPr>
              <a:spLocks noChangeArrowheads="1"/>
            </p:cNvSpPr>
            <p:nvPr/>
          </p:nvSpPr>
          <p:spPr bwMode="auto">
            <a:xfrm>
              <a:off x="1402" y="3562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37903" name="Text Box 117"/>
          <p:cNvSpPr txBox="1">
            <a:spLocks noChangeArrowheads="1"/>
          </p:cNvSpPr>
          <p:nvPr/>
        </p:nvSpPr>
        <p:spPr bwMode="auto">
          <a:xfrm>
            <a:off x="8793931" y="1985798"/>
            <a:ext cx="105539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</a:rPr>
              <a:t>Espira</a:t>
            </a:r>
          </a:p>
        </p:txBody>
      </p:sp>
      <p:sp>
        <p:nvSpPr>
          <p:cNvPr id="37904" name="Text Box 119"/>
          <p:cNvSpPr txBox="1">
            <a:spLocks noChangeArrowheads="1"/>
          </p:cNvSpPr>
          <p:nvPr/>
        </p:nvSpPr>
        <p:spPr bwMode="auto">
          <a:xfrm>
            <a:off x="8706619" y="2299235"/>
            <a:ext cx="179117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</a:rPr>
              <a:t> conductora</a:t>
            </a:r>
          </a:p>
        </p:txBody>
      </p:sp>
      <p:sp>
        <p:nvSpPr>
          <p:cNvPr id="37905" name="Oval 121"/>
          <p:cNvSpPr>
            <a:spLocks noChangeArrowheads="1"/>
          </p:cNvSpPr>
          <p:nvPr/>
        </p:nvSpPr>
        <p:spPr bwMode="auto">
          <a:xfrm>
            <a:off x="3617727" y="596735"/>
            <a:ext cx="539750" cy="21590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grpSp>
        <p:nvGrpSpPr>
          <p:cNvPr id="37906" name="Group 127"/>
          <p:cNvGrpSpPr>
            <a:grpSpLocks/>
          </p:cNvGrpSpPr>
          <p:nvPr/>
        </p:nvGrpSpPr>
        <p:grpSpPr bwMode="auto">
          <a:xfrm rot="10415585">
            <a:off x="4444815" y="1165060"/>
            <a:ext cx="407987" cy="422275"/>
            <a:chOff x="1240" y="3526"/>
            <a:chExt cx="257" cy="266"/>
          </a:xfrm>
        </p:grpSpPr>
        <p:sp>
          <p:nvSpPr>
            <p:cNvPr id="37959" name="Line 128"/>
            <p:cNvSpPr>
              <a:spLocks noChangeShapeType="1"/>
            </p:cNvSpPr>
            <p:nvPr/>
          </p:nvSpPr>
          <p:spPr bwMode="auto">
            <a:xfrm flipH="1">
              <a:off x="1240" y="3526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60" name="Line 129"/>
            <p:cNvSpPr>
              <a:spLocks noChangeShapeType="1"/>
            </p:cNvSpPr>
            <p:nvPr/>
          </p:nvSpPr>
          <p:spPr bwMode="auto">
            <a:xfrm>
              <a:off x="1246" y="3685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61" name="Oval 130"/>
            <p:cNvSpPr>
              <a:spLocks noChangeArrowheads="1"/>
            </p:cNvSpPr>
            <p:nvPr/>
          </p:nvSpPr>
          <p:spPr bwMode="auto">
            <a:xfrm>
              <a:off x="1402" y="3562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37907" name="Text Box 131"/>
          <p:cNvSpPr txBox="1">
            <a:spLocks noChangeArrowheads="1"/>
          </p:cNvSpPr>
          <p:nvPr/>
        </p:nvSpPr>
        <p:spPr bwMode="auto">
          <a:xfrm>
            <a:off x="4118272" y="1969923"/>
            <a:ext cx="105539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</a:rPr>
              <a:t>Espira</a:t>
            </a:r>
          </a:p>
        </p:txBody>
      </p:sp>
      <p:sp>
        <p:nvSpPr>
          <p:cNvPr id="37908" name="Text Box 133"/>
          <p:cNvSpPr txBox="1">
            <a:spLocks noChangeArrowheads="1"/>
          </p:cNvSpPr>
          <p:nvPr/>
        </p:nvSpPr>
        <p:spPr bwMode="auto">
          <a:xfrm>
            <a:off x="4032447" y="2312336"/>
            <a:ext cx="179117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</a:rPr>
              <a:t> conductora</a:t>
            </a:r>
          </a:p>
        </p:txBody>
      </p:sp>
      <p:grpSp>
        <p:nvGrpSpPr>
          <p:cNvPr id="716943" name="Group 143"/>
          <p:cNvGrpSpPr>
            <a:grpSpLocks/>
          </p:cNvGrpSpPr>
          <p:nvPr/>
        </p:nvGrpSpPr>
        <p:grpSpPr bwMode="auto">
          <a:xfrm>
            <a:off x="1255527" y="2474745"/>
            <a:ext cx="1320801" cy="507999"/>
            <a:chOff x="822" y="1899"/>
            <a:chExt cx="832" cy="320"/>
          </a:xfrm>
        </p:grpSpPr>
        <p:grpSp>
          <p:nvGrpSpPr>
            <p:cNvPr id="37950" name="Group 66"/>
            <p:cNvGrpSpPr>
              <a:grpSpLocks/>
            </p:cNvGrpSpPr>
            <p:nvPr/>
          </p:nvGrpSpPr>
          <p:grpSpPr bwMode="auto">
            <a:xfrm>
              <a:off x="822" y="1949"/>
              <a:ext cx="526" cy="122"/>
              <a:chOff x="1331" y="4011"/>
              <a:chExt cx="253" cy="122"/>
            </a:xfrm>
          </p:grpSpPr>
          <p:sp>
            <p:nvSpPr>
              <p:cNvPr id="37956" name="Oval 67"/>
              <p:cNvSpPr>
                <a:spLocks noChangeArrowheads="1"/>
              </p:cNvSpPr>
              <p:nvPr/>
            </p:nvSpPr>
            <p:spPr bwMode="auto">
              <a:xfrm>
                <a:off x="1331" y="4011"/>
                <a:ext cx="253" cy="122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7957" name="Line 68"/>
              <p:cNvSpPr>
                <a:spLocks noChangeShapeType="1"/>
              </p:cNvSpPr>
              <p:nvPr/>
            </p:nvSpPr>
            <p:spPr bwMode="auto">
              <a:xfrm>
                <a:off x="1447" y="4014"/>
                <a:ext cx="6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7958" name="Line 69"/>
              <p:cNvSpPr>
                <a:spLocks noChangeShapeType="1"/>
              </p:cNvSpPr>
              <p:nvPr/>
            </p:nvSpPr>
            <p:spPr bwMode="auto">
              <a:xfrm flipH="1">
                <a:off x="1403" y="4129"/>
                <a:ext cx="6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grpSp>
          <p:nvGrpSpPr>
            <p:cNvPr id="37951" name="Group 97"/>
            <p:cNvGrpSpPr>
              <a:grpSpLocks/>
            </p:cNvGrpSpPr>
            <p:nvPr/>
          </p:nvGrpSpPr>
          <p:grpSpPr bwMode="auto">
            <a:xfrm>
              <a:off x="1323" y="1920"/>
              <a:ext cx="331" cy="299"/>
              <a:chOff x="1017" y="3586"/>
              <a:chExt cx="331" cy="299"/>
            </a:xfrm>
          </p:grpSpPr>
          <p:sp>
            <p:nvSpPr>
              <p:cNvPr id="37954" name="Text Box 98"/>
              <p:cNvSpPr txBox="1">
                <a:spLocks noChangeArrowheads="1"/>
              </p:cNvSpPr>
              <p:nvPr/>
            </p:nvSpPr>
            <p:spPr bwMode="auto">
              <a:xfrm>
                <a:off x="1017" y="3586"/>
                <a:ext cx="331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008000"/>
                    </a:solidFill>
                  </a:rPr>
                  <a:t>dB</a:t>
                </a:r>
              </a:p>
            </p:txBody>
          </p:sp>
          <p:sp>
            <p:nvSpPr>
              <p:cNvPr id="37955" name="Line 99"/>
              <p:cNvSpPr>
                <a:spLocks noChangeShapeType="1"/>
              </p:cNvSpPr>
              <p:nvPr/>
            </p:nvSpPr>
            <p:spPr bwMode="auto">
              <a:xfrm>
                <a:off x="1180" y="3648"/>
                <a:ext cx="113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37952" name="Rectangle 137"/>
            <p:cNvSpPr>
              <a:spLocks noChangeArrowheads="1"/>
            </p:cNvSpPr>
            <p:nvPr/>
          </p:nvSpPr>
          <p:spPr bwMode="auto">
            <a:xfrm>
              <a:off x="906" y="1899"/>
              <a:ext cx="85" cy="95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37953" name="Rectangle 138"/>
            <p:cNvSpPr>
              <a:spLocks noChangeArrowheads="1"/>
            </p:cNvSpPr>
            <p:nvPr/>
          </p:nvSpPr>
          <p:spPr bwMode="auto">
            <a:xfrm>
              <a:off x="1213" y="1909"/>
              <a:ext cx="85" cy="95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716944" name="Group 144"/>
          <p:cNvGrpSpPr>
            <a:grpSpLocks/>
          </p:cNvGrpSpPr>
          <p:nvPr/>
        </p:nvGrpSpPr>
        <p:grpSpPr bwMode="auto">
          <a:xfrm>
            <a:off x="5875718" y="2492213"/>
            <a:ext cx="1308099" cy="474663"/>
            <a:chOff x="3729" y="1920"/>
            <a:chExt cx="824" cy="299"/>
          </a:xfrm>
        </p:grpSpPr>
        <p:grpSp>
          <p:nvGrpSpPr>
            <p:cNvPr id="37941" name="Group 83"/>
            <p:cNvGrpSpPr>
              <a:grpSpLocks/>
            </p:cNvGrpSpPr>
            <p:nvPr/>
          </p:nvGrpSpPr>
          <p:grpSpPr bwMode="auto">
            <a:xfrm>
              <a:off x="3729" y="1966"/>
              <a:ext cx="517" cy="122"/>
              <a:chOff x="724" y="3421"/>
              <a:chExt cx="253" cy="122"/>
            </a:xfrm>
          </p:grpSpPr>
          <p:sp>
            <p:nvSpPr>
              <p:cNvPr id="37947" name="Oval 84"/>
              <p:cNvSpPr>
                <a:spLocks noChangeArrowheads="1"/>
              </p:cNvSpPr>
              <p:nvPr/>
            </p:nvSpPr>
            <p:spPr bwMode="auto">
              <a:xfrm>
                <a:off x="724" y="3421"/>
                <a:ext cx="253" cy="122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7948" name="Line 85"/>
              <p:cNvSpPr>
                <a:spLocks noChangeShapeType="1"/>
              </p:cNvSpPr>
              <p:nvPr/>
            </p:nvSpPr>
            <p:spPr bwMode="auto">
              <a:xfrm flipH="1">
                <a:off x="795" y="3424"/>
                <a:ext cx="6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7949" name="Line 86"/>
              <p:cNvSpPr>
                <a:spLocks noChangeShapeType="1"/>
              </p:cNvSpPr>
              <p:nvPr/>
            </p:nvSpPr>
            <p:spPr bwMode="auto">
              <a:xfrm>
                <a:off x="841" y="3539"/>
                <a:ext cx="6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grpSp>
          <p:nvGrpSpPr>
            <p:cNvPr id="37942" name="Group 136"/>
            <p:cNvGrpSpPr>
              <a:grpSpLocks/>
            </p:cNvGrpSpPr>
            <p:nvPr/>
          </p:nvGrpSpPr>
          <p:grpSpPr bwMode="auto">
            <a:xfrm>
              <a:off x="4222" y="1920"/>
              <a:ext cx="331" cy="299"/>
              <a:chOff x="4213" y="1929"/>
              <a:chExt cx="331" cy="299"/>
            </a:xfrm>
          </p:grpSpPr>
          <p:sp>
            <p:nvSpPr>
              <p:cNvPr id="37945" name="Text Box 104"/>
              <p:cNvSpPr txBox="1">
                <a:spLocks noChangeArrowheads="1"/>
              </p:cNvSpPr>
              <p:nvPr/>
            </p:nvSpPr>
            <p:spPr bwMode="auto">
              <a:xfrm>
                <a:off x="4213" y="1929"/>
                <a:ext cx="331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82800" rIns="90000" bIns="82800" anchorCtr="1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008000"/>
                    </a:solidFill>
                  </a:rPr>
                  <a:t>dB</a:t>
                </a:r>
              </a:p>
            </p:txBody>
          </p:sp>
          <p:sp>
            <p:nvSpPr>
              <p:cNvPr id="37946" name="Line 105"/>
              <p:cNvSpPr>
                <a:spLocks noChangeShapeType="1"/>
              </p:cNvSpPr>
              <p:nvPr/>
            </p:nvSpPr>
            <p:spPr bwMode="auto">
              <a:xfrm>
                <a:off x="4376" y="1984"/>
                <a:ext cx="113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37943" name="Rectangle 139"/>
            <p:cNvSpPr>
              <a:spLocks noChangeArrowheads="1"/>
            </p:cNvSpPr>
            <p:nvPr/>
          </p:nvSpPr>
          <p:spPr bwMode="auto">
            <a:xfrm>
              <a:off x="3779" y="1928"/>
              <a:ext cx="85" cy="95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37944" name="Rectangle 140"/>
            <p:cNvSpPr>
              <a:spLocks noChangeArrowheads="1"/>
            </p:cNvSpPr>
            <p:nvPr/>
          </p:nvSpPr>
          <p:spPr bwMode="auto">
            <a:xfrm>
              <a:off x="4068" y="1920"/>
              <a:ext cx="85" cy="95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6190038" y="4653411"/>
            <a:ext cx="4306563" cy="2203424"/>
            <a:chOff x="6234113" y="4147259"/>
            <a:chExt cx="4305862" cy="2203424"/>
          </a:xfrm>
        </p:grpSpPr>
        <p:grpSp>
          <p:nvGrpSpPr>
            <p:cNvPr id="37927" name="Group 135"/>
            <p:cNvGrpSpPr>
              <a:grpSpLocks/>
            </p:cNvGrpSpPr>
            <p:nvPr/>
          </p:nvGrpSpPr>
          <p:grpSpPr bwMode="auto">
            <a:xfrm>
              <a:off x="6234113" y="4849425"/>
              <a:ext cx="1863725" cy="1282700"/>
              <a:chOff x="3927" y="2982"/>
              <a:chExt cx="1174" cy="808"/>
            </a:xfrm>
          </p:grpSpPr>
          <p:grpSp>
            <p:nvGrpSpPr>
              <p:cNvPr id="37935" name="Group 108"/>
              <p:cNvGrpSpPr>
                <a:grpSpLocks/>
              </p:cNvGrpSpPr>
              <p:nvPr/>
            </p:nvGrpSpPr>
            <p:grpSpPr bwMode="auto">
              <a:xfrm>
                <a:off x="3927" y="2982"/>
                <a:ext cx="1174" cy="457"/>
                <a:chOff x="3842" y="1348"/>
                <a:chExt cx="1174" cy="457"/>
              </a:xfrm>
            </p:grpSpPr>
            <p:sp>
              <p:nvSpPr>
                <p:cNvPr id="37937" name="AutoShape 109"/>
                <p:cNvSpPr>
                  <a:spLocks noChangeArrowheads="1"/>
                </p:cNvSpPr>
                <p:nvPr/>
              </p:nvSpPr>
              <p:spPr bwMode="auto">
                <a:xfrm>
                  <a:off x="3842" y="1348"/>
                  <a:ext cx="680" cy="453"/>
                </a:xfrm>
                <a:prstGeom prst="cube">
                  <a:avLst>
                    <a:gd name="adj" fmla="val 41773"/>
                  </a:avLst>
                </a:prstGeom>
                <a:solidFill>
                  <a:srgbClr val="FF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37938" name="AutoShape 110"/>
                <p:cNvSpPr>
                  <a:spLocks noChangeArrowheads="1"/>
                </p:cNvSpPr>
                <p:nvPr/>
              </p:nvSpPr>
              <p:spPr bwMode="auto">
                <a:xfrm>
                  <a:off x="4336" y="1348"/>
                  <a:ext cx="680" cy="453"/>
                </a:xfrm>
                <a:prstGeom prst="cube">
                  <a:avLst>
                    <a:gd name="adj" fmla="val 40296"/>
                  </a:avLst>
                </a:prstGeom>
                <a:solidFill>
                  <a:srgbClr val="3366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37939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4441" y="1538"/>
                  <a:ext cx="315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836613" indent="-322263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285875" indent="-257175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800225" indent="-257175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314575" indent="-257175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717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289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861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433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FFFFFF"/>
                      </a:solidFill>
                      <a:latin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7940" name="Text Box 112"/>
                <p:cNvSpPr txBox="1">
                  <a:spLocks noChangeArrowheads="1"/>
                </p:cNvSpPr>
                <p:nvPr/>
              </p:nvSpPr>
              <p:spPr bwMode="auto">
                <a:xfrm>
                  <a:off x="3923" y="1542"/>
                  <a:ext cx="315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836613" indent="-322263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285875" indent="-257175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800225" indent="-257175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314575" indent="-257175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717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289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861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433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FFFFFF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</p:grpSp>
          <p:sp>
            <p:nvSpPr>
              <p:cNvPr id="37936" name="Text Box 118"/>
              <p:cNvSpPr txBox="1">
                <a:spLocks noChangeArrowheads="1"/>
              </p:cNvSpPr>
              <p:nvPr/>
            </p:nvSpPr>
            <p:spPr bwMode="auto">
              <a:xfrm>
                <a:off x="4186" y="3452"/>
                <a:ext cx="546" cy="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rgbClr val="3333FF"/>
                    </a:solidFill>
                  </a:rPr>
                  <a:t>Imán</a:t>
                </a:r>
              </a:p>
            </p:txBody>
          </p:sp>
        </p:grpSp>
        <p:sp>
          <p:nvSpPr>
            <p:cNvPr id="37928" name="Oval 107"/>
            <p:cNvSpPr>
              <a:spLocks noChangeArrowheads="1"/>
            </p:cNvSpPr>
            <p:nvPr/>
          </p:nvSpPr>
          <p:spPr bwMode="auto">
            <a:xfrm>
              <a:off x="8351719" y="4147259"/>
              <a:ext cx="539750" cy="21590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pSp>
          <p:nvGrpSpPr>
            <p:cNvPr id="37929" name="Group 113"/>
            <p:cNvGrpSpPr>
              <a:grpSpLocks/>
            </p:cNvGrpSpPr>
            <p:nvPr/>
          </p:nvGrpSpPr>
          <p:grpSpPr bwMode="auto">
            <a:xfrm rot="10415585">
              <a:off x="9147057" y="4747334"/>
              <a:ext cx="407987" cy="422275"/>
              <a:chOff x="1240" y="3526"/>
              <a:chExt cx="257" cy="266"/>
            </a:xfrm>
          </p:grpSpPr>
          <p:sp>
            <p:nvSpPr>
              <p:cNvPr id="37932" name="Line 114"/>
              <p:cNvSpPr>
                <a:spLocks noChangeShapeType="1"/>
              </p:cNvSpPr>
              <p:nvPr/>
            </p:nvSpPr>
            <p:spPr bwMode="auto">
              <a:xfrm flipH="1">
                <a:off x="124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7933" name="Line 115"/>
              <p:cNvSpPr>
                <a:spLocks noChangeShapeType="1"/>
              </p:cNvSpPr>
              <p:nvPr/>
            </p:nvSpPr>
            <p:spPr bwMode="auto">
              <a:xfrm>
                <a:off x="124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7934" name="Oval 116"/>
              <p:cNvSpPr>
                <a:spLocks noChangeArrowheads="1"/>
              </p:cNvSpPr>
              <p:nvPr/>
            </p:nvSpPr>
            <p:spPr bwMode="auto">
              <a:xfrm>
                <a:off x="140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  <p:sp>
          <p:nvSpPr>
            <p:cNvPr id="37930" name="Text Box 117"/>
            <p:cNvSpPr txBox="1">
              <a:spLocks noChangeArrowheads="1"/>
            </p:cNvSpPr>
            <p:nvPr/>
          </p:nvSpPr>
          <p:spPr bwMode="auto">
            <a:xfrm>
              <a:off x="8836408" y="5519947"/>
              <a:ext cx="1055222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Espira</a:t>
              </a:r>
            </a:p>
          </p:txBody>
        </p:sp>
        <p:sp>
          <p:nvSpPr>
            <p:cNvPr id="37931" name="Text Box 119"/>
            <p:cNvSpPr txBox="1">
              <a:spLocks noChangeArrowheads="1"/>
            </p:cNvSpPr>
            <p:nvPr/>
          </p:nvSpPr>
          <p:spPr bwMode="auto">
            <a:xfrm>
              <a:off x="8749095" y="5814134"/>
              <a:ext cx="1790880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 conductora</a:t>
              </a:r>
            </a:p>
          </p:txBody>
        </p:sp>
      </p:grp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608047" y="4616500"/>
            <a:ext cx="4204762" cy="2159000"/>
            <a:chOff x="1647825" y="4179009"/>
            <a:chExt cx="4204065" cy="2159000"/>
          </a:xfrm>
        </p:grpSpPr>
        <p:grpSp>
          <p:nvGrpSpPr>
            <p:cNvPr id="37913" name="Group 134"/>
            <p:cNvGrpSpPr>
              <a:grpSpLocks/>
            </p:cNvGrpSpPr>
            <p:nvPr/>
          </p:nvGrpSpPr>
          <p:grpSpPr bwMode="auto">
            <a:xfrm>
              <a:off x="1647825" y="4887525"/>
              <a:ext cx="1863725" cy="1292225"/>
              <a:chOff x="1038" y="3006"/>
              <a:chExt cx="1174" cy="814"/>
            </a:xfrm>
          </p:grpSpPr>
          <p:grpSp>
            <p:nvGrpSpPr>
              <p:cNvPr id="37921" name="Group 122"/>
              <p:cNvGrpSpPr>
                <a:grpSpLocks/>
              </p:cNvGrpSpPr>
              <p:nvPr/>
            </p:nvGrpSpPr>
            <p:grpSpPr bwMode="auto">
              <a:xfrm>
                <a:off x="1038" y="3006"/>
                <a:ext cx="1174" cy="457"/>
                <a:chOff x="1087" y="1341"/>
                <a:chExt cx="1174" cy="457"/>
              </a:xfrm>
            </p:grpSpPr>
            <p:sp>
              <p:nvSpPr>
                <p:cNvPr id="37923" name="AutoShape 123"/>
                <p:cNvSpPr>
                  <a:spLocks noChangeArrowheads="1"/>
                </p:cNvSpPr>
                <p:nvPr/>
              </p:nvSpPr>
              <p:spPr bwMode="auto">
                <a:xfrm>
                  <a:off x="1087" y="1341"/>
                  <a:ext cx="680" cy="453"/>
                </a:xfrm>
                <a:prstGeom prst="cube">
                  <a:avLst>
                    <a:gd name="adj" fmla="val 41773"/>
                  </a:avLst>
                </a:prstGeom>
                <a:solidFill>
                  <a:srgbClr val="3366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37924" name="AutoShape 124"/>
                <p:cNvSpPr>
                  <a:spLocks noChangeArrowheads="1"/>
                </p:cNvSpPr>
                <p:nvPr/>
              </p:nvSpPr>
              <p:spPr bwMode="auto">
                <a:xfrm>
                  <a:off x="1581" y="1341"/>
                  <a:ext cx="680" cy="453"/>
                </a:xfrm>
                <a:prstGeom prst="cube">
                  <a:avLst>
                    <a:gd name="adj" fmla="val 40296"/>
                  </a:avLst>
                </a:prstGeom>
                <a:solidFill>
                  <a:srgbClr val="FF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37925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1686" y="1531"/>
                  <a:ext cx="315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836613" indent="-322263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285875" indent="-257175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800225" indent="-257175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314575" indent="-257175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717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289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861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433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FFFFFF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37926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1168" y="1535"/>
                  <a:ext cx="315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836613" indent="-322263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285875" indent="-257175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800225" indent="-257175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314575" indent="-257175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717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289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861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433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FFFFFF"/>
                      </a:solidFill>
                      <a:latin typeface="Arial" panose="020B0604020202020204" pitchFamily="34" charset="0"/>
                    </a:rPr>
                    <a:t>S</a:t>
                  </a:r>
                </a:p>
              </p:txBody>
            </p:sp>
          </p:grpSp>
          <p:sp>
            <p:nvSpPr>
              <p:cNvPr id="37922" name="Text Box 132"/>
              <p:cNvSpPr txBox="1">
                <a:spLocks noChangeArrowheads="1"/>
              </p:cNvSpPr>
              <p:nvPr/>
            </p:nvSpPr>
            <p:spPr bwMode="auto">
              <a:xfrm>
                <a:off x="1283" y="3482"/>
                <a:ext cx="546" cy="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rgbClr val="3333FF"/>
                    </a:solidFill>
                  </a:rPr>
                  <a:t>Imán</a:t>
                </a:r>
              </a:p>
            </p:txBody>
          </p:sp>
        </p:grpSp>
        <p:sp>
          <p:nvSpPr>
            <p:cNvPr id="37914" name="Oval 121"/>
            <p:cNvSpPr>
              <a:spLocks noChangeArrowheads="1"/>
            </p:cNvSpPr>
            <p:nvPr/>
          </p:nvSpPr>
          <p:spPr bwMode="auto">
            <a:xfrm>
              <a:off x="3655894" y="4179009"/>
              <a:ext cx="539750" cy="21590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pSp>
          <p:nvGrpSpPr>
            <p:cNvPr id="37915" name="Group 127"/>
            <p:cNvGrpSpPr>
              <a:grpSpLocks/>
            </p:cNvGrpSpPr>
            <p:nvPr/>
          </p:nvGrpSpPr>
          <p:grpSpPr bwMode="auto">
            <a:xfrm rot="10415585">
              <a:off x="4482982" y="4747334"/>
              <a:ext cx="407987" cy="422275"/>
              <a:chOff x="1240" y="3526"/>
              <a:chExt cx="257" cy="266"/>
            </a:xfrm>
          </p:grpSpPr>
          <p:sp>
            <p:nvSpPr>
              <p:cNvPr id="37918" name="Line 128"/>
              <p:cNvSpPr>
                <a:spLocks noChangeShapeType="1"/>
              </p:cNvSpPr>
              <p:nvPr/>
            </p:nvSpPr>
            <p:spPr bwMode="auto">
              <a:xfrm flipH="1">
                <a:off x="124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7919" name="Line 129"/>
              <p:cNvSpPr>
                <a:spLocks noChangeShapeType="1"/>
              </p:cNvSpPr>
              <p:nvPr/>
            </p:nvSpPr>
            <p:spPr bwMode="auto">
              <a:xfrm>
                <a:off x="124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7920" name="Oval 130"/>
              <p:cNvSpPr>
                <a:spLocks noChangeArrowheads="1"/>
              </p:cNvSpPr>
              <p:nvPr/>
            </p:nvSpPr>
            <p:spPr bwMode="auto">
              <a:xfrm>
                <a:off x="140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  <p:sp>
          <p:nvSpPr>
            <p:cNvPr id="37916" name="Text Box 131"/>
            <p:cNvSpPr txBox="1">
              <a:spLocks noChangeArrowheads="1"/>
            </p:cNvSpPr>
            <p:nvPr/>
          </p:nvSpPr>
          <p:spPr bwMode="auto">
            <a:xfrm>
              <a:off x="4137215" y="5475193"/>
              <a:ext cx="1055219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Espira</a:t>
              </a:r>
            </a:p>
          </p:txBody>
        </p:sp>
        <p:sp>
          <p:nvSpPr>
            <p:cNvPr id="37917" name="Text Box 133"/>
            <p:cNvSpPr txBox="1">
              <a:spLocks noChangeArrowheads="1"/>
            </p:cNvSpPr>
            <p:nvPr/>
          </p:nvSpPr>
          <p:spPr bwMode="auto">
            <a:xfrm>
              <a:off x="4061016" y="5788734"/>
              <a:ext cx="179087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 conductora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824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16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1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16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1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69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16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6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1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1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69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16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16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1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1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 animBg="1"/>
      <p:bldP spid="4" grpId="0" animBg="1"/>
      <p:bldP spid="115" grpId="0" animBg="1"/>
      <p:bldP spid="716865" grpId="0"/>
      <p:bldP spid="71688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/>
          <p:cNvSpPr/>
          <p:nvPr/>
        </p:nvSpPr>
        <p:spPr bwMode="auto">
          <a:xfrm rot="21245303">
            <a:off x="7227958" y="1094701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79949" name="Text Box 13"/>
          <p:cNvSpPr txBox="1">
            <a:spLocks noChangeArrowheads="1"/>
          </p:cNvSpPr>
          <p:nvPr/>
        </p:nvSpPr>
        <p:spPr bwMode="auto">
          <a:xfrm>
            <a:off x="1453416" y="2886671"/>
            <a:ext cx="8807116" cy="978584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ym typeface="Symbol" panose="05050102010706020507" pitchFamily="18" charset="2"/>
              </a:rPr>
              <a:t>Si se tiene en la bobina una </a:t>
            </a:r>
            <a:r>
              <a:rPr lang="es-ES" sz="2400" b="1" dirty="0">
                <a:solidFill>
                  <a:srgbClr val="008000"/>
                </a:solidFill>
                <a:sym typeface="Symbol" panose="05050102010706020507" pitchFamily="18" charset="2"/>
              </a:rPr>
              <a:t>corriente alterna</a:t>
            </a:r>
            <a:r>
              <a:rPr lang="es-ES" sz="2400" dirty="0">
                <a:sym typeface="Symbol" panose="05050102010706020507" pitchFamily="18" charset="2"/>
              </a:rPr>
              <a:t>,</a:t>
            </a:r>
            <a:r>
              <a:rPr lang="es-ES" sz="2400" dirty="0">
                <a:solidFill>
                  <a:srgbClr val="008000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o en general,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ym typeface="Symbol" panose="05050102010706020507" pitchFamily="18" charset="2"/>
              </a:rPr>
              <a:t>una variable, </a:t>
            </a:r>
            <a:r>
              <a:rPr lang="es-ES" sz="2400" b="1" dirty="0">
                <a:solidFill>
                  <a:srgbClr val="FF0000"/>
                </a:solidFill>
                <a:sym typeface="Symbol" panose="05050102010706020507" pitchFamily="18" charset="2"/>
              </a:rPr>
              <a:t>se induce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una del mismo tipo en la espira</a:t>
            </a:r>
          </a:p>
        </p:txBody>
      </p:sp>
      <p:sp>
        <p:nvSpPr>
          <p:cNvPr id="679950" name="Text Box 14"/>
          <p:cNvSpPr txBox="1">
            <a:spLocks noChangeArrowheads="1"/>
          </p:cNvSpPr>
          <p:nvPr/>
        </p:nvSpPr>
        <p:spPr bwMode="auto">
          <a:xfrm>
            <a:off x="1453415" y="4979621"/>
            <a:ext cx="8807116" cy="978584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ym typeface="Symbol" panose="05050102010706020507" pitchFamily="18" charset="2"/>
              </a:rPr>
              <a:t>Si se tiene en la bobina una </a:t>
            </a:r>
            <a:r>
              <a:rPr lang="es-ES" sz="2400" b="1" dirty="0">
                <a:solidFill>
                  <a:srgbClr val="008000"/>
                </a:solidFill>
                <a:sym typeface="Symbol" panose="05050102010706020507" pitchFamily="18" charset="2"/>
              </a:rPr>
              <a:t>corriente continua </a:t>
            </a:r>
            <a:r>
              <a:rPr lang="es-ES" sz="2400" dirty="0">
                <a:sym typeface="Symbol" panose="05050102010706020507" pitchFamily="18" charset="2"/>
              </a:rPr>
              <a:t>(constante),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b="1" dirty="0">
                <a:solidFill>
                  <a:srgbClr val="FF0000"/>
                </a:solidFill>
                <a:sym typeface="Symbol" panose="05050102010706020507" pitchFamily="18" charset="2"/>
              </a:rPr>
              <a:t>se induce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una en la espira al establecerla, eliminarla o variarla</a:t>
            </a:r>
          </a:p>
        </p:txBody>
      </p:sp>
      <p:sp>
        <p:nvSpPr>
          <p:cNvPr id="680006" name="Text Box 70"/>
          <p:cNvSpPr txBox="1">
            <a:spLocks noChangeArrowheads="1"/>
          </p:cNvSpPr>
          <p:nvPr/>
        </p:nvSpPr>
        <p:spPr bwMode="auto">
          <a:xfrm>
            <a:off x="1443789" y="3864983"/>
            <a:ext cx="8691613" cy="97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3333FF"/>
                </a:solidFill>
              </a:rPr>
              <a:t>Es como tener un imán variable, que es equivalente a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3333FF"/>
                </a:solidFill>
              </a:rPr>
              <a:t>un imán que va y viene desde el infinito donde se da la vuelta</a:t>
            </a:r>
          </a:p>
        </p:txBody>
      </p:sp>
      <p:sp>
        <p:nvSpPr>
          <p:cNvPr id="39947" name="Oval 3"/>
          <p:cNvSpPr>
            <a:spLocks noChangeArrowheads="1"/>
          </p:cNvSpPr>
          <p:nvPr/>
        </p:nvSpPr>
        <p:spPr bwMode="auto">
          <a:xfrm>
            <a:off x="6245624" y="322578"/>
            <a:ext cx="539750" cy="2159001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grpSp>
        <p:nvGrpSpPr>
          <p:cNvPr id="39948" name="Group 9"/>
          <p:cNvGrpSpPr>
            <a:grpSpLocks/>
          </p:cNvGrpSpPr>
          <p:nvPr/>
        </p:nvGrpSpPr>
        <p:grpSpPr bwMode="auto">
          <a:xfrm rot="10415585">
            <a:off x="7279085" y="1160778"/>
            <a:ext cx="407987" cy="422275"/>
            <a:chOff x="1240" y="3526"/>
            <a:chExt cx="257" cy="266"/>
          </a:xfrm>
        </p:grpSpPr>
        <p:sp>
          <p:nvSpPr>
            <p:cNvPr id="39961" name="Line 10"/>
            <p:cNvSpPr>
              <a:spLocks noChangeShapeType="1"/>
            </p:cNvSpPr>
            <p:nvPr/>
          </p:nvSpPr>
          <p:spPr bwMode="auto">
            <a:xfrm flipH="1">
              <a:off x="1240" y="3526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62" name="Line 11"/>
            <p:cNvSpPr>
              <a:spLocks noChangeShapeType="1"/>
            </p:cNvSpPr>
            <p:nvPr/>
          </p:nvSpPr>
          <p:spPr bwMode="auto">
            <a:xfrm>
              <a:off x="1246" y="3685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63" name="Oval 12"/>
            <p:cNvSpPr>
              <a:spLocks noChangeArrowheads="1"/>
            </p:cNvSpPr>
            <p:nvPr/>
          </p:nvSpPr>
          <p:spPr bwMode="auto">
            <a:xfrm>
              <a:off x="1402" y="3562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39949" name="Text Box 17"/>
          <p:cNvSpPr txBox="1">
            <a:spLocks noChangeArrowheads="1"/>
          </p:cNvSpPr>
          <p:nvPr/>
        </p:nvSpPr>
        <p:spPr bwMode="auto">
          <a:xfrm>
            <a:off x="6899673" y="1918016"/>
            <a:ext cx="2665411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</a:rPr>
              <a:t>Espira conductora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233E18D0-F84F-4773-84DC-CED880B303A3}"/>
              </a:ext>
            </a:extLst>
          </p:cNvPr>
          <p:cNvGrpSpPr/>
          <p:nvPr/>
        </p:nvGrpSpPr>
        <p:grpSpPr>
          <a:xfrm>
            <a:off x="3704038" y="1157603"/>
            <a:ext cx="1963737" cy="1514476"/>
            <a:chOff x="3704038" y="1157603"/>
            <a:chExt cx="1963737" cy="1514476"/>
          </a:xfrm>
        </p:grpSpPr>
        <p:grpSp>
          <p:nvGrpSpPr>
            <p:cNvPr id="39950" name="Group 66"/>
            <p:cNvGrpSpPr>
              <a:grpSpLocks/>
            </p:cNvGrpSpPr>
            <p:nvPr/>
          </p:nvGrpSpPr>
          <p:grpSpPr bwMode="auto">
            <a:xfrm>
              <a:off x="3877075" y="1157603"/>
              <a:ext cx="1620837" cy="1514476"/>
              <a:chOff x="1056" y="1412"/>
              <a:chExt cx="1021" cy="954"/>
            </a:xfrm>
          </p:grpSpPr>
          <p:grpSp>
            <p:nvGrpSpPr>
              <p:cNvPr id="39951" name="Group 65"/>
              <p:cNvGrpSpPr>
                <a:grpSpLocks/>
              </p:cNvGrpSpPr>
              <p:nvPr/>
            </p:nvGrpSpPr>
            <p:grpSpPr bwMode="auto">
              <a:xfrm>
                <a:off x="1123" y="1412"/>
                <a:ext cx="925" cy="565"/>
                <a:chOff x="1123" y="1412"/>
                <a:chExt cx="925" cy="565"/>
              </a:xfrm>
            </p:grpSpPr>
            <p:sp>
              <p:nvSpPr>
                <p:cNvPr id="39953" name="Rectangle 37"/>
                <p:cNvSpPr>
                  <a:spLocks noChangeArrowheads="1"/>
                </p:cNvSpPr>
                <p:nvPr/>
              </p:nvSpPr>
              <p:spPr bwMode="auto">
                <a:xfrm rot="10800000">
                  <a:off x="1123" y="1452"/>
                  <a:ext cx="925" cy="269"/>
                </a:xfrm>
                <a:prstGeom prst="rect">
                  <a:avLst/>
                </a:prstGeom>
                <a:solidFill>
                  <a:srgbClr val="80808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39954" name="Line 38"/>
                <p:cNvSpPr>
                  <a:spLocks noChangeShapeType="1"/>
                </p:cNvSpPr>
                <p:nvPr/>
              </p:nvSpPr>
              <p:spPr bwMode="auto">
                <a:xfrm rot="10800000">
                  <a:off x="1965" y="1732"/>
                  <a:ext cx="0" cy="243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39955" name="Line 39"/>
                <p:cNvSpPr>
                  <a:spLocks noChangeShapeType="1"/>
                </p:cNvSpPr>
                <p:nvPr/>
              </p:nvSpPr>
              <p:spPr bwMode="auto">
                <a:xfrm>
                  <a:off x="1823" y="1420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39956" name="Line 40"/>
                <p:cNvSpPr>
                  <a:spLocks noChangeShapeType="1"/>
                </p:cNvSpPr>
                <p:nvPr/>
              </p:nvSpPr>
              <p:spPr bwMode="auto">
                <a:xfrm>
                  <a:off x="1697" y="1412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39957" name="Line 41"/>
                <p:cNvSpPr>
                  <a:spLocks noChangeShapeType="1"/>
                </p:cNvSpPr>
                <p:nvPr/>
              </p:nvSpPr>
              <p:spPr bwMode="auto">
                <a:xfrm>
                  <a:off x="1572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39958" name="Line 42"/>
                <p:cNvSpPr>
                  <a:spLocks noChangeShapeType="1"/>
                </p:cNvSpPr>
                <p:nvPr/>
              </p:nvSpPr>
              <p:spPr bwMode="auto">
                <a:xfrm>
                  <a:off x="1446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39959" name="Line 43"/>
                <p:cNvSpPr>
                  <a:spLocks noChangeShapeType="1"/>
                </p:cNvSpPr>
                <p:nvPr/>
              </p:nvSpPr>
              <p:spPr bwMode="auto">
                <a:xfrm>
                  <a:off x="1321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39960" name="Line 44"/>
                <p:cNvSpPr>
                  <a:spLocks noChangeShapeType="1"/>
                </p:cNvSpPr>
                <p:nvPr/>
              </p:nvSpPr>
              <p:spPr bwMode="auto">
                <a:xfrm rot="10800000">
                  <a:off x="1205" y="1413"/>
                  <a:ext cx="0" cy="564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39952" name="Text Box 49"/>
              <p:cNvSpPr txBox="1">
                <a:spLocks noChangeArrowheads="1"/>
              </p:cNvSpPr>
              <p:nvPr/>
            </p:nvSpPr>
            <p:spPr bwMode="auto">
              <a:xfrm>
                <a:off x="1056" y="2028"/>
                <a:ext cx="1021" cy="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rgbClr val="3333FF"/>
                    </a:solidFill>
                  </a:rPr>
                  <a:t>Bobina fija</a:t>
                </a:r>
              </a:p>
            </p:txBody>
          </p:sp>
        </p:grpSp>
        <p:sp>
          <p:nvSpPr>
            <p:cNvPr id="39945" name="Text Box 72"/>
            <p:cNvSpPr txBox="1">
              <a:spLocks noChangeArrowheads="1"/>
            </p:cNvSpPr>
            <p:nvPr/>
          </p:nvSpPr>
          <p:spPr bwMode="auto">
            <a:xfrm>
              <a:off x="3704038" y="1748153"/>
              <a:ext cx="319087" cy="469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39946" name="Text Box 73"/>
            <p:cNvSpPr txBox="1">
              <a:spLocks noChangeArrowheads="1"/>
            </p:cNvSpPr>
            <p:nvPr/>
          </p:nvSpPr>
          <p:spPr bwMode="auto">
            <a:xfrm>
              <a:off x="5348688" y="1757678"/>
              <a:ext cx="319087" cy="469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28" name="Text Box 70"/>
          <p:cNvSpPr txBox="1">
            <a:spLocks noChangeArrowheads="1"/>
          </p:cNvSpPr>
          <p:nvPr/>
        </p:nvSpPr>
        <p:spPr bwMode="auto">
          <a:xfrm>
            <a:off x="1434165" y="5967065"/>
            <a:ext cx="8807116" cy="97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Establecerla es como traer un imán desde el infinito, eliminarla como llevárselo al infinito, y variarla como alejarlo o acercarlo</a:t>
            </a:r>
          </a:p>
        </p:txBody>
      </p:sp>
    </p:spTree>
    <p:extLst>
      <p:ext uri="{BB962C8B-B14F-4D97-AF65-F5344CB8AC3E}">
        <p14:creationId xmlns:p14="http://schemas.microsoft.com/office/powerpoint/2010/main" val="40021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7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8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7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49" grpId="0" animBg="1"/>
      <p:bldP spid="679950" grpId="0" animBg="1"/>
      <p:bldP spid="680006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905" name="Text Box 9"/>
          <p:cNvSpPr txBox="1">
            <a:spLocks noChangeArrowheads="1"/>
          </p:cNvSpPr>
          <p:nvPr/>
        </p:nvSpPr>
        <p:spPr bwMode="auto">
          <a:xfrm>
            <a:off x="1263651" y="2826889"/>
            <a:ext cx="9111611" cy="12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La </a:t>
            </a:r>
            <a:r>
              <a:rPr lang="es-ES" sz="2400" b="1" dirty="0" err="1">
                <a:solidFill>
                  <a:schemeClr val="tx1"/>
                </a:solidFill>
              </a:rPr>
              <a:t>F</a:t>
            </a:r>
            <a:r>
              <a:rPr lang="es-ES" sz="2400" baseline="-25000" dirty="0" err="1">
                <a:solidFill>
                  <a:schemeClr val="tx1"/>
                </a:solidFill>
              </a:rPr>
              <a:t>magnética</a:t>
            </a:r>
            <a:r>
              <a:rPr lang="es-ES" sz="2400" dirty="0">
                <a:solidFill>
                  <a:schemeClr val="tx1"/>
                </a:solidFill>
              </a:rPr>
              <a:t> sobre esas espiras puede: deformarlas, rotarlas,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  atraerlas o repelerlas </a:t>
            </a:r>
            <a:r>
              <a:rPr lang="es-ES" sz="2400">
                <a:solidFill>
                  <a:schemeClr val="tx1"/>
                </a:solidFill>
              </a:rPr>
              <a:t>respecto al </a:t>
            </a:r>
            <a:r>
              <a:rPr lang="es-ES" sz="2400" dirty="0">
                <a:solidFill>
                  <a:schemeClr val="tx1"/>
                </a:solidFill>
              </a:rPr>
              <a:t>imán, pero no las desplazará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  a lo largo de la espira</a:t>
            </a:r>
          </a:p>
        </p:txBody>
      </p:sp>
      <p:sp>
        <p:nvSpPr>
          <p:cNvPr id="46109" name="Text Box 11"/>
          <p:cNvSpPr txBox="1">
            <a:spLocks noChangeArrowheads="1"/>
          </p:cNvSpPr>
          <p:nvPr/>
        </p:nvSpPr>
        <p:spPr bwMode="auto">
          <a:xfrm>
            <a:off x="1263651" y="892756"/>
            <a:ext cx="5804153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Los e</a:t>
            </a:r>
            <a:r>
              <a:rPr lang="es-ES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de la espira que participarán en</a:t>
            </a:r>
          </a:p>
          <a:p>
            <a:pPr eaLnBrk="1" hangingPunct="1"/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 la corriente sienten el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del imán</a:t>
            </a:r>
          </a:p>
        </p:txBody>
      </p:sp>
      <p:sp>
        <p:nvSpPr>
          <p:cNvPr id="720909" name="Text Box 13"/>
          <p:cNvSpPr txBox="1">
            <a:spLocks noChangeArrowheads="1"/>
          </p:cNvSpPr>
          <p:nvPr/>
        </p:nvSpPr>
        <p:spPr bwMode="auto">
          <a:xfrm>
            <a:off x="1286862" y="344516"/>
            <a:ext cx="5550818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b="1" dirty="0">
                <a:solidFill>
                  <a:schemeClr val="tx1"/>
                </a:solidFill>
              </a:rPr>
              <a:t>ANÁLISIS DE LA FENOMENOLOGÍA</a:t>
            </a:r>
          </a:p>
        </p:txBody>
      </p:sp>
      <p:sp>
        <p:nvSpPr>
          <p:cNvPr id="720910" name="Text Box 14"/>
          <p:cNvSpPr txBox="1">
            <a:spLocks noChangeArrowheads="1"/>
          </p:cNvSpPr>
          <p:nvPr/>
        </p:nvSpPr>
        <p:spPr bwMode="auto">
          <a:xfrm>
            <a:off x="1286862" y="5742984"/>
            <a:ext cx="1333048" cy="534037"/>
          </a:xfrm>
          <a:prstGeom prst="rect">
            <a:avLst/>
          </a:prstGeom>
          <a:solidFill>
            <a:srgbClr val="6666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b="1">
                <a:solidFill>
                  <a:srgbClr val="FFFFFF"/>
                </a:solidFill>
              </a:rPr>
              <a:t>CAUSA</a:t>
            </a:r>
          </a:p>
        </p:txBody>
      </p:sp>
      <p:sp>
        <p:nvSpPr>
          <p:cNvPr id="46107" name="Text Box 16"/>
          <p:cNvSpPr txBox="1">
            <a:spLocks noChangeArrowheads="1"/>
          </p:cNvSpPr>
          <p:nvPr/>
        </p:nvSpPr>
        <p:spPr bwMode="auto">
          <a:xfrm>
            <a:off x="3763477" y="4487987"/>
            <a:ext cx="6617889" cy="9567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La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 la provoca un </a:t>
            </a:r>
            <a:r>
              <a:rPr lang="es-ES" sz="2400" b="1" dirty="0">
                <a:solidFill>
                  <a:schemeClr val="tx1"/>
                </a:solidFill>
              </a:rPr>
              <a:t>E inducido</a:t>
            </a:r>
            <a:r>
              <a:rPr lang="es-ES" sz="2400" dirty="0">
                <a:solidFill>
                  <a:schemeClr val="tx1"/>
                </a:solidFill>
              </a:rPr>
              <a:t> en cada punto de la espira</a:t>
            </a:r>
          </a:p>
        </p:txBody>
      </p:sp>
      <p:sp>
        <p:nvSpPr>
          <p:cNvPr id="720915" name="Text Box 19"/>
          <p:cNvSpPr txBox="1">
            <a:spLocks noChangeArrowheads="1"/>
          </p:cNvSpPr>
          <p:nvPr/>
        </p:nvSpPr>
        <p:spPr bwMode="auto">
          <a:xfrm>
            <a:off x="1263651" y="1698086"/>
            <a:ext cx="8987788" cy="12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 C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onsiderando su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movimiento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(Tema 4)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  <a:r>
              <a:rPr lang="es-ES" sz="2400" dirty="0">
                <a:sym typeface="Symbol" panose="05050102010706020507" pitchFamily="18" charset="2"/>
              </a:rPr>
              <a:t>se pueden entender como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espiras de corriente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(son cargas en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 movimiento que describen un circuito cerrado en un conductor)</a:t>
            </a:r>
          </a:p>
        </p:txBody>
      </p:sp>
      <p:sp>
        <p:nvSpPr>
          <p:cNvPr id="720916" name="Text Box 20"/>
          <p:cNvSpPr txBox="1">
            <a:spLocks noChangeArrowheads="1"/>
          </p:cNvSpPr>
          <p:nvPr/>
        </p:nvSpPr>
        <p:spPr bwMode="auto">
          <a:xfrm>
            <a:off x="1286862" y="4658824"/>
            <a:ext cx="2287587" cy="587441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108000" rIns="108000" bIns="108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b="1">
                <a:solidFill>
                  <a:schemeClr val="tx1"/>
                </a:solidFill>
              </a:rPr>
              <a:t>CONCLUSIÓN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B2A82B5-DE21-435C-9188-B64CC411DFC4}"/>
              </a:ext>
            </a:extLst>
          </p:cNvPr>
          <p:cNvGrpSpPr/>
          <p:nvPr/>
        </p:nvGrpSpPr>
        <p:grpSpPr>
          <a:xfrm>
            <a:off x="7203440" y="353824"/>
            <a:ext cx="3048000" cy="1692000"/>
            <a:chOff x="7203440" y="519695"/>
            <a:chExt cx="3048000" cy="1692000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97A79C8-38FF-40C5-AF6B-FB8930A3BE4E}"/>
                </a:ext>
              </a:extLst>
            </p:cNvPr>
            <p:cNvSpPr/>
            <p:nvPr/>
          </p:nvSpPr>
          <p:spPr bwMode="auto">
            <a:xfrm>
              <a:off x="7203440" y="519695"/>
              <a:ext cx="3048000" cy="1692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4041" name="Group 21"/>
            <p:cNvGrpSpPr>
              <a:grpSpLocks/>
            </p:cNvGrpSpPr>
            <p:nvPr/>
          </p:nvGrpSpPr>
          <p:grpSpPr bwMode="auto">
            <a:xfrm>
              <a:off x="7559801" y="612791"/>
              <a:ext cx="2514600" cy="1455738"/>
              <a:chOff x="4762" y="760"/>
              <a:chExt cx="1584" cy="917"/>
            </a:xfrm>
          </p:grpSpPr>
          <p:sp>
            <p:nvSpPr>
              <p:cNvPr id="44046" name="Oval 22"/>
              <p:cNvSpPr>
                <a:spLocks noChangeArrowheads="1"/>
              </p:cNvSpPr>
              <p:nvPr/>
            </p:nvSpPr>
            <p:spPr bwMode="auto">
              <a:xfrm>
                <a:off x="5783" y="760"/>
                <a:ext cx="340" cy="917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99FF">
                        <a:alpha val="5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grpSp>
            <p:nvGrpSpPr>
              <p:cNvPr id="44047" name="Group 23"/>
              <p:cNvGrpSpPr>
                <a:grpSpLocks/>
              </p:cNvGrpSpPr>
              <p:nvPr/>
            </p:nvGrpSpPr>
            <p:grpSpPr bwMode="auto">
              <a:xfrm>
                <a:off x="4762" y="1008"/>
                <a:ext cx="897" cy="346"/>
                <a:chOff x="3909" y="602"/>
                <a:chExt cx="1174" cy="453"/>
              </a:xfrm>
            </p:grpSpPr>
            <p:sp>
              <p:nvSpPr>
                <p:cNvPr id="44054" name="AutoShape 24"/>
                <p:cNvSpPr>
                  <a:spLocks noChangeArrowheads="1"/>
                </p:cNvSpPr>
                <p:nvPr/>
              </p:nvSpPr>
              <p:spPr bwMode="auto">
                <a:xfrm>
                  <a:off x="3909" y="602"/>
                  <a:ext cx="680" cy="453"/>
                </a:xfrm>
                <a:prstGeom prst="cube">
                  <a:avLst>
                    <a:gd name="adj" fmla="val 41773"/>
                  </a:avLst>
                </a:prstGeom>
                <a:solidFill>
                  <a:srgbClr val="3366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44055" name="AutoShape 25"/>
                <p:cNvSpPr>
                  <a:spLocks noChangeArrowheads="1"/>
                </p:cNvSpPr>
                <p:nvPr/>
              </p:nvSpPr>
              <p:spPr bwMode="auto">
                <a:xfrm>
                  <a:off x="4403" y="602"/>
                  <a:ext cx="680" cy="453"/>
                </a:xfrm>
                <a:prstGeom prst="cube">
                  <a:avLst>
                    <a:gd name="adj" fmla="val 40296"/>
                  </a:avLst>
                </a:prstGeom>
                <a:solidFill>
                  <a:srgbClr val="FF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</p:grpSp>
          <p:sp>
            <p:nvSpPr>
              <p:cNvPr id="44048" name="Text Box 26"/>
              <p:cNvSpPr txBox="1">
                <a:spLocks noChangeArrowheads="1"/>
              </p:cNvSpPr>
              <p:nvPr/>
            </p:nvSpPr>
            <p:spPr bwMode="auto">
              <a:xfrm>
                <a:off x="5217" y="1113"/>
                <a:ext cx="31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44049" name="Text Box 27"/>
              <p:cNvSpPr txBox="1">
                <a:spLocks noChangeArrowheads="1"/>
              </p:cNvSpPr>
              <p:nvPr/>
            </p:nvSpPr>
            <p:spPr bwMode="auto">
              <a:xfrm>
                <a:off x="4787" y="1117"/>
                <a:ext cx="31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44050" name="Line 28"/>
              <p:cNvSpPr>
                <a:spLocks noChangeShapeType="1"/>
              </p:cNvSpPr>
              <p:nvPr/>
            </p:nvSpPr>
            <p:spPr bwMode="auto">
              <a:xfrm>
                <a:off x="6115" y="1140"/>
                <a:ext cx="0" cy="7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44051" name="Line 29"/>
              <p:cNvSpPr>
                <a:spLocks noChangeShapeType="1"/>
              </p:cNvSpPr>
              <p:nvPr/>
            </p:nvSpPr>
            <p:spPr bwMode="auto">
              <a:xfrm flipV="1">
                <a:off x="5789" y="1320"/>
                <a:ext cx="0" cy="7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44052" name="Line 30"/>
              <p:cNvSpPr>
                <a:spLocks noChangeShapeType="1"/>
              </p:cNvSpPr>
              <p:nvPr/>
            </p:nvSpPr>
            <p:spPr bwMode="auto">
              <a:xfrm>
                <a:off x="5327" y="1444"/>
                <a:ext cx="277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44053" name="Text Box 31"/>
              <p:cNvSpPr txBox="1">
                <a:spLocks noChangeArrowheads="1"/>
              </p:cNvSpPr>
              <p:nvPr/>
            </p:nvSpPr>
            <p:spPr bwMode="auto">
              <a:xfrm>
                <a:off x="6125" y="1235"/>
                <a:ext cx="221" cy="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</a:p>
            </p:txBody>
          </p:sp>
        </p:grpSp>
      </p:grpSp>
      <p:sp>
        <p:nvSpPr>
          <p:cNvPr id="720928" name="Text Box 32"/>
          <p:cNvSpPr txBox="1">
            <a:spLocks noChangeArrowheads="1"/>
          </p:cNvSpPr>
          <p:nvPr/>
        </p:nvSpPr>
        <p:spPr bwMode="auto">
          <a:xfrm>
            <a:off x="1788637" y="6566643"/>
            <a:ext cx="7950996" cy="5147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none" lIns="108000" tIns="72000" rIns="108000" bIns="72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Ambas cosas quedan recogidas en la </a:t>
            </a:r>
            <a:r>
              <a:rPr lang="es-ES" sz="2400" b="1">
                <a:solidFill>
                  <a:schemeClr val="tx1"/>
                </a:solidFill>
              </a:rPr>
              <a:t>Ley de Inducción</a:t>
            </a:r>
          </a:p>
        </p:txBody>
      </p:sp>
      <p:sp>
        <p:nvSpPr>
          <p:cNvPr id="720929" name="Text Box 33"/>
          <p:cNvSpPr txBox="1">
            <a:spLocks noChangeArrowheads="1"/>
          </p:cNvSpPr>
          <p:nvPr/>
        </p:nvSpPr>
        <p:spPr bwMode="auto">
          <a:xfrm>
            <a:off x="5466918" y="4896240"/>
            <a:ext cx="4565453" cy="5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(el trabajo de su componente //)</a:t>
            </a:r>
          </a:p>
        </p:txBody>
      </p:sp>
      <p:sp>
        <p:nvSpPr>
          <p:cNvPr id="46095" name="Text Box 18"/>
          <p:cNvSpPr txBox="1">
            <a:spLocks noChangeArrowheads="1"/>
          </p:cNvSpPr>
          <p:nvPr/>
        </p:nvSpPr>
        <p:spPr bwMode="auto">
          <a:xfrm>
            <a:off x="2730580" y="5514449"/>
            <a:ext cx="7644683" cy="9567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La variación en el tiempo de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en la superficie limitada por la espira</a:t>
            </a:r>
            <a:endParaRPr lang="es-ES" sz="2400">
              <a:solidFill>
                <a:schemeClr val="tx1"/>
              </a:solidFill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1263650" y="3968594"/>
            <a:ext cx="8100687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La </a:t>
            </a:r>
            <a:r>
              <a:rPr lang="es-ES" sz="2400" b="1" dirty="0">
                <a:solidFill>
                  <a:schemeClr val="tx1"/>
                </a:solidFill>
              </a:rPr>
              <a:t>F</a:t>
            </a:r>
            <a:r>
              <a:rPr lang="es-ES" sz="2400" dirty="0">
                <a:solidFill>
                  <a:schemeClr val="tx1"/>
                </a:solidFill>
              </a:rPr>
              <a:t> sobre esos e</a:t>
            </a:r>
            <a:r>
              <a:rPr lang="es-ES" sz="2400" baseline="30000" dirty="0">
                <a:solidFill>
                  <a:schemeClr val="tx1"/>
                </a:solidFill>
              </a:rPr>
              <a:t>-</a:t>
            </a:r>
            <a:r>
              <a:rPr lang="es-ES" sz="2400" dirty="0">
                <a:solidFill>
                  <a:schemeClr val="tx1"/>
                </a:solidFill>
              </a:rPr>
              <a:t> debe ser, por tanto, eléctrica (</a:t>
            </a:r>
            <a:r>
              <a:rPr lang="es-ES" sz="2400" b="1" dirty="0">
                <a:solidFill>
                  <a:schemeClr val="tx1"/>
                </a:solidFill>
              </a:rPr>
              <a:t>F</a:t>
            </a:r>
            <a:r>
              <a:rPr lang="es-ES" sz="2400" dirty="0">
                <a:solidFill>
                  <a:schemeClr val="tx1"/>
                </a:solidFill>
              </a:rPr>
              <a:t> = </a:t>
            </a:r>
            <a:r>
              <a:rPr lang="es-ES" sz="2400" dirty="0" err="1">
                <a:solidFill>
                  <a:schemeClr val="tx1"/>
                </a:solidFill>
              </a:rPr>
              <a:t>q</a:t>
            </a:r>
            <a:r>
              <a:rPr lang="es-ES" sz="2400" b="1" dirty="0" err="1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Text Box 33"/>
          <p:cNvSpPr txBox="1">
            <a:spLocks noChangeArrowheads="1"/>
          </p:cNvSpPr>
          <p:nvPr/>
        </p:nvSpPr>
        <p:spPr bwMode="auto">
          <a:xfrm>
            <a:off x="4542883" y="5925662"/>
            <a:ext cx="4326606" cy="5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(la de su flujo a través de ella)</a:t>
            </a:r>
          </a:p>
        </p:txBody>
      </p:sp>
    </p:spTree>
    <p:extLst>
      <p:ext uri="{BB962C8B-B14F-4D97-AF65-F5344CB8AC3E}">
        <p14:creationId xmlns:p14="http://schemas.microsoft.com/office/powerpoint/2010/main" val="82644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20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2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2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2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20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20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20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20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20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20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720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20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05" grpId="0"/>
      <p:bldP spid="46109" grpId="0"/>
      <p:bldP spid="720909" grpId="0" animBg="1"/>
      <p:bldP spid="720910" grpId="0" animBg="1"/>
      <p:bldP spid="46107" grpId="0" animBg="1"/>
      <p:bldP spid="720915" grpId="0"/>
      <p:bldP spid="720916" grpId="0" animBg="1"/>
      <p:bldP spid="720928" grpId="0" animBg="1"/>
      <p:bldP spid="720929" grpId="0"/>
      <p:bldP spid="46095" grpId="0" animBg="1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485" name="Group 77"/>
          <p:cNvGrpSpPr>
            <a:grpSpLocks/>
          </p:cNvGrpSpPr>
          <p:nvPr/>
        </p:nvGrpSpPr>
        <p:grpSpPr bwMode="auto">
          <a:xfrm>
            <a:off x="2229517" y="4198034"/>
            <a:ext cx="2462213" cy="2439987"/>
            <a:chOff x="-576" y="2806"/>
            <a:chExt cx="1551" cy="1537"/>
          </a:xfrm>
        </p:grpSpPr>
        <p:sp>
          <p:nvSpPr>
            <p:cNvPr id="46138" name="Line 11"/>
            <p:cNvSpPr>
              <a:spLocks noChangeShapeType="1"/>
            </p:cNvSpPr>
            <p:nvPr/>
          </p:nvSpPr>
          <p:spPr bwMode="auto">
            <a:xfrm>
              <a:off x="197" y="2810"/>
              <a:ext cx="0" cy="15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6139" name="Line 12"/>
            <p:cNvSpPr>
              <a:spLocks noChangeShapeType="1"/>
            </p:cNvSpPr>
            <p:nvPr/>
          </p:nvSpPr>
          <p:spPr bwMode="auto">
            <a:xfrm rot="1200000">
              <a:off x="191" y="2822"/>
              <a:ext cx="0" cy="15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6140" name="Line 13"/>
            <p:cNvSpPr>
              <a:spLocks noChangeShapeType="1"/>
            </p:cNvSpPr>
            <p:nvPr/>
          </p:nvSpPr>
          <p:spPr bwMode="auto">
            <a:xfrm rot="2400000">
              <a:off x="173" y="2810"/>
              <a:ext cx="0" cy="15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6141" name="Line 14"/>
            <p:cNvSpPr>
              <a:spLocks noChangeShapeType="1"/>
            </p:cNvSpPr>
            <p:nvPr/>
          </p:nvSpPr>
          <p:spPr bwMode="auto">
            <a:xfrm rot="3600000">
              <a:off x="185" y="2792"/>
              <a:ext cx="0" cy="15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6142" name="Line 15"/>
            <p:cNvSpPr>
              <a:spLocks noChangeShapeType="1"/>
            </p:cNvSpPr>
            <p:nvPr/>
          </p:nvSpPr>
          <p:spPr bwMode="auto">
            <a:xfrm rot="4800000">
              <a:off x="197" y="2786"/>
              <a:ext cx="0" cy="15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6143" name="Line 16"/>
            <p:cNvSpPr>
              <a:spLocks noChangeShapeType="1"/>
            </p:cNvSpPr>
            <p:nvPr/>
          </p:nvSpPr>
          <p:spPr bwMode="auto">
            <a:xfrm rot="20400000" flipV="1">
              <a:off x="228" y="2806"/>
              <a:ext cx="0" cy="15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6144" name="Line 17"/>
            <p:cNvSpPr>
              <a:spLocks noChangeShapeType="1"/>
            </p:cNvSpPr>
            <p:nvPr/>
          </p:nvSpPr>
          <p:spPr bwMode="auto">
            <a:xfrm rot="19200000" flipV="1">
              <a:off x="210" y="2811"/>
              <a:ext cx="0" cy="15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6145" name="Line 18"/>
            <p:cNvSpPr>
              <a:spLocks noChangeShapeType="1"/>
            </p:cNvSpPr>
            <p:nvPr/>
          </p:nvSpPr>
          <p:spPr bwMode="auto">
            <a:xfrm rot="18000000" flipV="1">
              <a:off x="215" y="2821"/>
              <a:ext cx="0" cy="15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6146" name="Line 19"/>
            <p:cNvSpPr>
              <a:spLocks noChangeShapeType="1"/>
            </p:cNvSpPr>
            <p:nvPr/>
          </p:nvSpPr>
          <p:spPr bwMode="auto">
            <a:xfrm rot="16800000" flipV="1">
              <a:off x="215" y="2815"/>
              <a:ext cx="0" cy="15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657484" name="Group 76"/>
          <p:cNvGrpSpPr>
            <a:grpSpLocks/>
          </p:cNvGrpSpPr>
          <p:nvPr/>
        </p:nvGrpSpPr>
        <p:grpSpPr bwMode="auto">
          <a:xfrm>
            <a:off x="2139030" y="4240896"/>
            <a:ext cx="2443162" cy="2297113"/>
            <a:chOff x="-766" y="2833"/>
            <a:chExt cx="1539" cy="1447"/>
          </a:xfrm>
        </p:grpSpPr>
        <p:sp>
          <p:nvSpPr>
            <p:cNvPr id="46135" name="Text Box 10"/>
            <p:cNvSpPr txBox="1">
              <a:spLocks noChangeArrowheads="1"/>
            </p:cNvSpPr>
            <p:nvPr/>
          </p:nvSpPr>
          <p:spPr bwMode="auto">
            <a:xfrm>
              <a:off x="-766" y="2833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 b="1">
                  <a:solidFill>
                    <a:srgbClr val="008000"/>
                  </a:solidFill>
                </a:rPr>
                <a:t>C</a:t>
              </a:r>
            </a:p>
          </p:txBody>
        </p:sp>
        <p:sp>
          <p:nvSpPr>
            <p:cNvPr id="48182" name="Oval 20"/>
            <p:cNvSpPr>
              <a:spLocks noChangeArrowheads="1"/>
            </p:cNvSpPr>
            <p:nvPr/>
          </p:nvSpPr>
          <p:spPr bwMode="auto">
            <a:xfrm>
              <a:off x="-642" y="2873"/>
              <a:ext cx="1415" cy="1407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es-ES"/>
            </a:p>
          </p:txBody>
        </p:sp>
        <p:sp>
          <p:nvSpPr>
            <p:cNvPr id="46137" name="Text Box 22"/>
            <p:cNvSpPr txBox="1">
              <a:spLocks noChangeArrowheads="1"/>
            </p:cNvSpPr>
            <p:nvPr/>
          </p:nvSpPr>
          <p:spPr bwMode="auto">
            <a:xfrm>
              <a:off x="-397" y="3109"/>
              <a:ext cx="2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 b="1">
                  <a:solidFill>
                    <a:schemeClr val="tx1"/>
                  </a:solidFill>
                </a:rPr>
                <a:t>S</a:t>
              </a:r>
            </a:p>
          </p:txBody>
        </p:sp>
      </p:grpSp>
      <p:sp>
        <p:nvSpPr>
          <p:cNvPr id="657411" name="Text Box 3"/>
          <p:cNvSpPr txBox="1">
            <a:spLocks noChangeArrowheads="1"/>
          </p:cNvSpPr>
          <p:nvPr/>
        </p:nvSpPr>
        <p:spPr bwMode="auto">
          <a:xfrm>
            <a:off x="1509623" y="2008611"/>
            <a:ext cx="8589874" cy="17172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lIns="126000" tIns="118800" rIns="126000" bIns="118800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36613" indent="-322263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85875" indent="-257175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00225" indent="-257175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14575" indent="-257175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717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289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861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433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La circulación, el trabajo, del campo eléctrico a lo largo de cualquier camino cerrado, C, es igual, a la variación por unidad de tiempo,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con signo negativo</a:t>
            </a:r>
            <a:r>
              <a:rPr lang="es-ES" sz="2400" dirty="0">
                <a:latin typeface="Arial" panose="020B0604020202020204" pitchFamily="34" charset="0"/>
              </a:rPr>
              <a:t>, del flujo magnético a través de cualquier superficie, S, apoyada en dicho camino</a:t>
            </a:r>
          </a:p>
        </p:txBody>
      </p:sp>
      <p:grpSp>
        <p:nvGrpSpPr>
          <p:cNvPr id="657482" name="Group 74"/>
          <p:cNvGrpSpPr>
            <a:grpSpLocks/>
          </p:cNvGrpSpPr>
          <p:nvPr/>
        </p:nvGrpSpPr>
        <p:grpSpPr bwMode="auto">
          <a:xfrm>
            <a:off x="4580610" y="5163239"/>
            <a:ext cx="471488" cy="461963"/>
            <a:chOff x="3042" y="3403"/>
            <a:chExt cx="297" cy="291"/>
          </a:xfrm>
        </p:grpSpPr>
        <p:sp>
          <p:nvSpPr>
            <p:cNvPr id="46131" name="Text Box 23"/>
            <p:cNvSpPr txBox="1">
              <a:spLocks noChangeArrowheads="1"/>
            </p:cNvSpPr>
            <p:nvPr/>
          </p:nvSpPr>
          <p:spPr bwMode="auto">
            <a:xfrm>
              <a:off x="3071" y="3403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>
                  <a:solidFill>
                    <a:schemeClr val="tx1"/>
                  </a:solidFill>
                </a:rPr>
                <a:t>dl</a:t>
              </a:r>
            </a:p>
          </p:txBody>
        </p:sp>
        <p:sp>
          <p:nvSpPr>
            <p:cNvPr id="46132" name="Freeform 32"/>
            <p:cNvSpPr>
              <a:spLocks/>
            </p:cNvSpPr>
            <p:nvPr/>
          </p:nvSpPr>
          <p:spPr bwMode="auto">
            <a:xfrm>
              <a:off x="3042" y="3410"/>
              <a:ext cx="14" cy="278"/>
            </a:xfrm>
            <a:custGeom>
              <a:avLst/>
              <a:gdLst>
                <a:gd name="T0" fmla="*/ 0 w 14"/>
                <a:gd name="T1" fmla="*/ 0 h 278"/>
                <a:gd name="T2" fmla="*/ 14 w 14"/>
                <a:gd name="T3" fmla="*/ 125 h 278"/>
                <a:gd name="T4" fmla="*/ 0 w 14"/>
                <a:gd name="T5" fmla="*/ 278 h 2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78">
                  <a:moveTo>
                    <a:pt x="0" y="0"/>
                  </a:moveTo>
                  <a:cubicBezTo>
                    <a:pt x="7" y="39"/>
                    <a:pt x="14" y="79"/>
                    <a:pt x="14" y="125"/>
                  </a:cubicBezTo>
                  <a:cubicBezTo>
                    <a:pt x="14" y="171"/>
                    <a:pt x="7" y="224"/>
                    <a:pt x="0" y="278"/>
                  </a:cubicBezTo>
                </a:path>
              </a:pathLst>
            </a:custGeom>
            <a:noFill/>
            <a:ln w="76200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657481" name="Group 73"/>
          <p:cNvGrpSpPr>
            <a:grpSpLocks/>
          </p:cNvGrpSpPr>
          <p:nvPr/>
        </p:nvGrpSpPr>
        <p:grpSpPr bwMode="auto">
          <a:xfrm>
            <a:off x="4599661" y="4440921"/>
            <a:ext cx="449263" cy="2005012"/>
            <a:chOff x="3054" y="2959"/>
            <a:chExt cx="283" cy="1263"/>
          </a:xfrm>
        </p:grpSpPr>
        <p:graphicFrame>
          <p:nvGraphicFramePr>
            <p:cNvPr id="46128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7223385"/>
                </p:ext>
              </p:extLst>
            </p:nvPr>
          </p:nvGraphicFramePr>
          <p:xfrm>
            <a:off x="3098" y="3034"/>
            <a:ext cx="23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90335" imgH="215713" progId="Equation.3">
                    <p:embed/>
                  </p:oleObj>
                </mc:Choice>
                <mc:Fallback>
                  <p:oleObj name="Ecuación" r:id="rId3" imgW="190335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8" y="3034"/>
                          <a:ext cx="239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29" name="Line 33"/>
            <p:cNvSpPr>
              <a:spLocks noChangeShapeType="1"/>
            </p:cNvSpPr>
            <p:nvPr/>
          </p:nvSpPr>
          <p:spPr bwMode="auto">
            <a:xfrm flipH="1">
              <a:off x="3059" y="2959"/>
              <a:ext cx="0" cy="12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6130" name="Line 34"/>
            <p:cNvSpPr>
              <a:spLocks noChangeShapeType="1"/>
            </p:cNvSpPr>
            <p:nvPr/>
          </p:nvSpPr>
          <p:spPr bwMode="auto">
            <a:xfrm rot="10500000" flipH="1">
              <a:off x="3054" y="3254"/>
              <a:ext cx="21" cy="294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E6685DCE-0926-45F7-AF55-5DA98E16D64C}"/>
              </a:ext>
            </a:extLst>
          </p:cNvPr>
          <p:cNvGrpSpPr/>
          <p:nvPr/>
        </p:nvGrpSpPr>
        <p:grpSpPr>
          <a:xfrm>
            <a:off x="3242342" y="5117196"/>
            <a:ext cx="514350" cy="503238"/>
            <a:chOff x="3242342" y="5228706"/>
            <a:chExt cx="514350" cy="503238"/>
          </a:xfrm>
        </p:grpSpPr>
        <p:sp>
          <p:nvSpPr>
            <p:cNvPr id="46122" name="Text Box 24"/>
            <p:cNvSpPr txBox="1">
              <a:spLocks noChangeArrowheads="1"/>
            </p:cNvSpPr>
            <p:nvPr/>
          </p:nvSpPr>
          <p:spPr bwMode="auto">
            <a:xfrm>
              <a:off x="3301080" y="5254106"/>
              <a:ext cx="36353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 b="1">
                  <a:solidFill>
                    <a:srgbClr val="3333FF"/>
                  </a:solidFill>
                </a:rPr>
                <a:t>+</a:t>
              </a:r>
            </a:p>
          </p:txBody>
        </p:sp>
        <p:sp>
          <p:nvSpPr>
            <p:cNvPr id="46123" name="AutoShape 25"/>
            <p:cNvSpPr>
              <a:spLocks noChangeArrowheads="1"/>
            </p:cNvSpPr>
            <p:nvPr/>
          </p:nvSpPr>
          <p:spPr bwMode="auto">
            <a:xfrm flipH="1">
              <a:off x="3242342" y="5228706"/>
              <a:ext cx="514350" cy="5032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33 w 21600"/>
                <a:gd name="T19" fmla="*/ 3134 h 21600"/>
                <a:gd name="T20" fmla="*/ 18467 w 21600"/>
                <a:gd name="T21" fmla="*/ 18466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9265" y="10629"/>
                  </a:moveTo>
                  <a:cubicBezTo>
                    <a:pt x="19172" y="6020"/>
                    <a:pt x="15409" y="2333"/>
                    <a:pt x="10800" y="2333"/>
                  </a:cubicBezTo>
                  <a:cubicBezTo>
                    <a:pt x="6123" y="2333"/>
                    <a:pt x="2333" y="6123"/>
                    <a:pt x="2333" y="10800"/>
                  </a:cubicBezTo>
                  <a:cubicBezTo>
                    <a:pt x="2333" y="15476"/>
                    <a:pt x="6123" y="19267"/>
                    <a:pt x="10800" y="19267"/>
                  </a:cubicBezTo>
                  <a:cubicBezTo>
                    <a:pt x="10850" y="19267"/>
                    <a:pt x="10900" y="19266"/>
                    <a:pt x="10950" y="19265"/>
                  </a:cubicBezTo>
                  <a:lnTo>
                    <a:pt x="10991" y="21598"/>
                  </a:lnTo>
                  <a:cubicBezTo>
                    <a:pt x="10927" y="21599"/>
                    <a:pt x="10863" y="21599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679" y="-1"/>
                    <a:pt x="21479" y="4703"/>
                    <a:pt x="21597" y="10581"/>
                  </a:cubicBezTo>
                  <a:lnTo>
                    <a:pt x="24297" y="10527"/>
                  </a:lnTo>
                  <a:lnTo>
                    <a:pt x="20510" y="14472"/>
                  </a:lnTo>
                  <a:lnTo>
                    <a:pt x="16565" y="10683"/>
                  </a:lnTo>
                  <a:lnTo>
                    <a:pt x="19265" y="10629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E4D3059A-EF2C-4953-9A9F-76A04102147A}"/>
              </a:ext>
            </a:extLst>
          </p:cNvPr>
          <p:cNvGrpSpPr/>
          <p:nvPr/>
        </p:nvGrpSpPr>
        <p:grpSpPr>
          <a:xfrm>
            <a:off x="1583601" y="5886610"/>
            <a:ext cx="531319" cy="562500"/>
            <a:chOff x="1555026" y="6007645"/>
            <a:chExt cx="531319" cy="562500"/>
          </a:xfrm>
        </p:grpSpPr>
        <p:sp>
          <p:nvSpPr>
            <p:cNvPr id="7" name="Rectángulo 6"/>
            <p:cNvSpPr/>
            <p:nvPr/>
          </p:nvSpPr>
          <p:spPr bwMode="auto">
            <a:xfrm rot="20388315">
              <a:off x="1555026" y="6007645"/>
              <a:ext cx="531319" cy="56250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6124" name="Group 53"/>
            <p:cNvGrpSpPr>
              <a:grpSpLocks/>
            </p:cNvGrpSpPr>
            <p:nvPr/>
          </p:nvGrpSpPr>
          <p:grpSpPr bwMode="auto">
            <a:xfrm rot="20388376">
              <a:off x="1592930" y="6081194"/>
              <a:ext cx="407987" cy="422275"/>
              <a:chOff x="1342" y="3560"/>
              <a:chExt cx="257" cy="266"/>
            </a:xfrm>
          </p:grpSpPr>
          <p:sp>
            <p:nvSpPr>
              <p:cNvPr id="46125" name="Line 54"/>
              <p:cNvSpPr>
                <a:spLocks noChangeShapeType="1"/>
              </p:cNvSpPr>
              <p:nvPr/>
            </p:nvSpPr>
            <p:spPr bwMode="auto">
              <a:xfrm flipH="1">
                <a:off x="1342" y="3560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6126" name="Line 55"/>
              <p:cNvSpPr>
                <a:spLocks noChangeShapeType="1"/>
              </p:cNvSpPr>
              <p:nvPr/>
            </p:nvSpPr>
            <p:spPr bwMode="auto">
              <a:xfrm>
                <a:off x="1348" y="371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6127" name="Oval 56"/>
              <p:cNvSpPr>
                <a:spLocks noChangeArrowheads="1"/>
              </p:cNvSpPr>
              <p:nvPr/>
            </p:nvSpPr>
            <p:spPr bwMode="auto">
              <a:xfrm>
                <a:off x="1504" y="3596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  <p:sp>
        <p:nvSpPr>
          <p:cNvPr id="29732" name="AutoShape 57"/>
          <p:cNvSpPr>
            <a:spLocks noChangeArrowheads="1"/>
          </p:cNvSpPr>
          <p:nvPr/>
        </p:nvSpPr>
        <p:spPr bwMode="auto">
          <a:xfrm rot="8572145">
            <a:off x="3834480" y="5844271"/>
            <a:ext cx="222250" cy="18256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474 w 21600"/>
              <a:gd name="T13" fmla="*/ 4508 h 21600"/>
              <a:gd name="T14" fmla="*/ 17126 w 21600"/>
              <a:gd name="T15" fmla="*/ 1709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="ctr">
            <a:spAutoFit/>
          </a:bodyPr>
          <a:lstStyle/>
          <a:p>
            <a:endParaRPr lang="en-GB"/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3195725" y="5933784"/>
            <a:ext cx="762167" cy="459334"/>
            <a:chOff x="3409364" y="5840968"/>
            <a:chExt cx="762211" cy="459185"/>
          </a:xfrm>
        </p:grpSpPr>
        <p:graphicFrame>
          <p:nvGraphicFramePr>
            <p:cNvPr id="46120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6918520"/>
                </p:ext>
              </p:extLst>
            </p:nvPr>
          </p:nvGraphicFramePr>
          <p:xfrm>
            <a:off x="3409364" y="5868829"/>
            <a:ext cx="403384" cy="431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203024" imgH="215713" progId="Equation.3">
                    <p:embed/>
                  </p:oleObj>
                </mc:Choice>
                <mc:Fallback>
                  <p:oleObj name="Ecuación" r:id="rId5" imgW="203024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9364" y="5868829"/>
                          <a:ext cx="403384" cy="431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21" name="Line 36"/>
            <p:cNvSpPr>
              <a:spLocks noChangeShapeType="1"/>
            </p:cNvSpPr>
            <p:nvPr/>
          </p:nvSpPr>
          <p:spPr bwMode="auto">
            <a:xfrm flipH="1">
              <a:off x="3829658" y="5840968"/>
              <a:ext cx="341917" cy="268432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miter lim="800000"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657491" name="Text Box 83"/>
          <p:cNvSpPr txBox="1">
            <a:spLocks noChangeArrowheads="1"/>
          </p:cNvSpPr>
          <p:nvPr/>
        </p:nvSpPr>
        <p:spPr bwMode="auto">
          <a:xfrm>
            <a:off x="4580978" y="5644510"/>
            <a:ext cx="2395041" cy="1090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dirty="0" err="1">
                <a:solidFill>
                  <a:srgbClr val="FF0000"/>
                </a:solidFill>
              </a:rPr>
              <a:t>d</a:t>
            </a:r>
            <a:r>
              <a:rPr lang="es-ES" b="1" dirty="0" err="1">
                <a:solidFill>
                  <a:srgbClr val="FF0000"/>
                </a:solidFill>
              </a:rPr>
              <a:t>S</a:t>
            </a:r>
            <a:r>
              <a:rPr lang="es-ES" dirty="0">
                <a:solidFill>
                  <a:srgbClr val="FF0000"/>
                </a:solidFill>
              </a:rPr>
              <a:t>: Hacia fuera </a:t>
            </a:r>
            <a:r>
              <a:rPr lang="es-ES">
                <a:solidFill>
                  <a:srgbClr val="FF0000"/>
                </a:solidFill>
              </a:rPr>
              <a:t>respecto al</a:t>
            </a:r>
            <a:endParaRPr lang="es-ES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s-ES" dirty="0">
                <a:solidFill>
                  <a:srgbClr val="FF0000"/>
                </a:solidFill>
              </a:rPr>
              <a:t>sentido antihorario</a:t>
            </a:r>
            <a:endParaRPr lang="es-ES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657496" name="Text Box 88"/>
          <p:cNvSpPr txBox="1">
            <a:spLocks noChangeArrowheads="1"/>
          </p:cNvSpPr>
          <p:nvPr/>
        </p:nvSpPr>
        <p:spPr bwMode="auto">
          <a:xfrm>
            <a:off x="3844442" y="5315780"/>
            <a:ext cx="55846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/>
              <a:t>dS</a:t>
            </a: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2433419" y="633931"/>
            <a:ext cx="3352308" cy="1054100"/>
            <a:chOff x="6453981" y="1128713"/>
            <a:chExt cx="3351213" cy="1054100"/>
          </a:xfrm>
        </p:grpSpPr>
        <p:sp>
          <p:nvSpPr>
            <p:cNvPr id="46099" name="Rectangle 5"/>
            <p:cNvSpPr>
              <a:spLocks noChangeArrowheads="1"/>
            </p:cNvSpPr>
            <p:nvPr/>
          </p:nvSpPr>
          <p:spPr bwMode="auto">
            <a:xfrm>
              <a:off x="6453981" y="1128713"/>
              <a:ext cx="3351213" cy="10541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46100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597366"/>
                </p:ext>
              </p:extLst>
            </p:nvPr>
          </p:nvGraphicFramePr>
          <p:xfrm>
            <a:off x="6734966" y="1149288"/>
            <a:ext cx="2872580" cy="1007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218671" imgH="431613" progId="Equation.3">
                    <p:embed/>
                  </p:oleObj>
                </mc:Choice>
                <mc:Fallback>
                  <p:oleObj name="Ecuación" r:id="rId7" imgW="1218671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4966" y="1149288"/>
                          <a:ext cx="2872580" cy="1007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08140591-AA5F-4DE7-B918-8C748D94A263}"/>
              </a:ext>
            </a:extLst>
          </p:cNvPr>
          <p:cNvGrpSpPr/>
          <p:nvPr/>
        </p:nvGrpSpPr>
        <p:grpSpPr>
          <a:xfrm>
            <a:off x="6947443" y="4184238"/>
            <a:ext cx="1591314" cy="2394284"/>
            <a:chOff x="7134959" y="4394173"/>
            <a:chExt cx="1591314" cy="2394284"/>
          </a:xfrm>
        </p:grpSpPr>
        <p:grpSp>
          <p:nvGrpSpPr>
            <p:cNvPr id="657495" name="Group 87"/>
            <p:cNvGrpSpPr>
              <a:grpSpLocks/>
            </p:cNvGrpSpPr>
            <p:nvPr/>
          </p:nvGrpSpPr>
          <p:grpSpPr bwMode="auto">
            <a:xfrm>
              <a:off x="7134959" y="4603232"/>
              <a:ext cx="1277940" cy="2005012"/>
              <a:chOff x="3749" y="2695"/>
              <a:chExt cx="805" cy="1263"/>
            </a:xfrm>
          </p:grpSpPr>
          <p:sp>
            <p:nvSpPr>
              <p:cNvPr id="46112" name="Line 28"/>
              <p:cNvSpPr>
                <a:spLocks noChangeShapeType="1"/>
              </p:cNvSpPr>
              <p:nvPr/>
            </p:nvSpPr>
            <p:spPr bwMode="auto">
              <a:xfrm flipH="1">
                <a:off x="3901" y="2695"/>
                <a:ext cx="0" cy="12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6113" name="Line 26"/>
              <p:cNvSpPr>
                <a:spLocks noChangeShapeType="1"/>
              </p:cNvSpPr>
              <p:nvPr/>
            </p:nvSpPr>
            <p:spPr bwMode="auto">
              <a:xfrm flipV="1">
                <a:off x="3901" y="2788"/>
                <a:ext cx="0" cy="5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6114" name="Object 27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179921530"/>
                      </p:ext>
                    </p:extLst>
                  </p:nvPr>
                </p:nvGraphicFramePr>
                <p:xfrm>
                  <a:off x="3995" y="2824"/>
                  <a:ext cx="541" cy="29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9" imgW="419100" imgH="228600" progId="Equation.3">
                          <p:embed/>
                        </p:oleObj>
                      </mc:Choice>
                      <mc:Fallback>
                        <p:oleObj name="Ecuación" r:id="rId9" imgW="419100" imgH="22860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995" y="2824"/>
                                <a:ext cx="541" cy="29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6114" name="Object 27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179921530"/>
                      </p:ext>
                    </p:extLst>
                  </p:nvPr>
                </p:nvGraphicFramePr>
                <p:xfrm>
                  <a:off x="3995" y="2824"/>
                  <a:ext cx="541" cy="29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239" name="Ecuación" r:id="rId12" imgW="419100" imgH="228600" progId="Equation.3">
                          <p:embed/>
                        </p:oleObj>
                      </mc:Choice>
                      <mc:Fallback>
                        <p:oleObj name="Ecuación" r:id="rId12" imgW="419100" imgH="22860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995" y="2824"/>
                                <a:ext cx="541" cy="29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46115" name="Line 29"/>
              <p:cNvSpPr>
                <a:spLocks noChangeShapeType="1"/>
              </p:cNvSpPr>
              <p:nvPr/>
            </p:nvSpPr>
            <p:spPr bwMode="auto">
              <a:xfrm>
                <a:off x="3901" y="3331"/>
                <a:ext cx="0" cy="50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6116" name="Object 30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022042481"/>
                      </p:ext>
                    </p:extLst>
                  </p:nvPr>
                </p:nvGraphicFramePr>
                <p:xfrm>
                  <a:off x="4012" y="3492"/>
                  <a:ext cx="542" cy="29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14" imgW="419100" imgH="228600" progId="Equation.3">
                          <p:embed/>
                        </p:oleObj>
                      </mc:Choice>
                      <mc:Fallback>
                        <p:oleObj name="Ecuación" r:id="rId14" imgW="419100" imgH="22860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12" y="3492"/>
                                <a:ext cx="542" cy="29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6116" name="Object 30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022042481"/>
                      </p:ext>
                    </p:extLst>
                  </p:nvPr>
                </p:nvGraphicFramePr>
                <p:xfrm>
                  <a:off x="4012" y="3492"/>
                  <a:ext cx="542" cy="29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240" name="Ecuación" r:id="rId16" imgW="419100" imgH="228600" progId="Equation.3">
                          <p:embed/>
                        </p:oleObj>
                      </mc:Choice>
                      <mc:Fallback>
                        <p:oleObj name="Ecuación" r:id="rId16" imgW="419100" imgH="22860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12" y="3492"/>
                                <a:ext cx="542" cy="29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46117" name="AutoShape 31"/>
              <p:cNvSpPr>
                <a:spLocks noChangeArrowheads="1"/>
              </p:cNvSpPr>
              <p:nvPr/>
            </p:nvSpPr>
            <p:spPr bwMode="auto">
              <a:xfrm rot="5400000">
                <a:off x="3681" y="3257"/>
                <a:ext cx="272" cy="1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82 w 21600"/>
                  <a:gd name="T13" fmla="*/ 0 h 21600"/>
                  <a:gd name="T14" fmla="*/ 21418 w 21600"/>
                  <a:gd name="T15" fmla="*/ 92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562" y="7047"/>
                    </a:moveTo>
                    <a:cubicBezTo>
                      <a:pt x="4033" y="3819"/>
                      <a:pt x="7253" y="1747"/>
                      <a:pt x="10800" y="1748"/>
                    </a:cubicBezTo>
                    <a:cubicBezTo>
                      <a:pt x="14346" y="1748"/>
                      <a:pt x="17566" y="3819"/>
                      <a:pt x="19037" y="7047"/>
                    </a:cubicBezTo>
                    <a:lnTo>
                      <a:pt x="20628" y="6322"/>
                    </a:lnTo>
                    <a:cubicBezTo>
                      <a:pt x="18873" y="2471"/>
                      <a:pt x="15031" y="-1"/>
                      <a:pt x="10799" y="0"/>
                    </a:cubicBezTo>
                    <a:cubicBezTo>
                      <a:pt x="6568" y="0"/>
                      <a:pt x="2726" y="2471"/>
                      <a:pt x="971" y="6322"/>
                    </a:cubicBezTo>
                    <a:lnTo>
                      <a:pt x="2562" y="7047"/>
                    </a:lnTo>
                    <a:close/>
                  </a:path>
                </a:pathLst>
              </a:custGeom>
              <a:solidFill>
                <a:schemeClr val="tx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18" name="Text Box 61"/>
              <p:cNvSpPr txBox="1">
                <a:spLocks noChangeArrowheads="1"/>
              </p:cNvSpPr>
              <p:nvPr/>
            </p:nvSpPr>
            <p:spPr bwMode="auto">
              <a:xfrm>
                <a:off x="3927" y="3166"/>
                <a:ext cx="26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" sz="2400">
                    <a:solidFill>
                      <a:schemeClr val="tx1"/>
                    </a:solidFill>
                  </a:rPr>
                  <a:t>dl</a:t>
                </a:r>
              </a:p>
            </p:txBody>
          </p:sp>
          <p:sp>
            <p:nvSpPr>
              <p:cNvPr id="46119" name="Line 65"/>
              <p:cNvSpPr>
                <a:spLocks noChangeShapeType="1"/>
              </p:cNvSpPr>
              <p:nvPr/>
            </p:nvSpPr>
            <p:spPr bwMode="auto">
              <a:xfrm rot="10500000" flipH="1">
                <a:off x="3890" y="3048"/>
                <a:ext cx="21" cy="294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Object 27">
                  <a:extLst>
                    <a:ext uri="{FF2B5EF4-FFF2-40B4-BE49-F238E27FC236}">
                      <a16:creationId xmlns:a16="http://schemas.microsoft.com/office/drawing/2014/main" id="{3EE06798-6AE4-43F5-8818-ACFEE268A216}"/>
                    </a:ext>
                  </a:extLst>
                </p:cNvPr>
                <p:cNvSpPr txBox="1"/>
                <p:nvPr/>
              </p:nvSpPr>
              <p:spPr bwMode="auto">
                <a:xfrm>
                  <a:off x="7500096" y="4394173"/>
                  <a:ext cx="1221426" cy="460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s-E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dl</m:t>
                        </m:r>
                        <m:r>
                          <a:rPr lang="es-E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68" name="Object 27">
                  <a:extLst>
                    <a:ext uri="{FF2B5EF4-FFF2-40B4-BE49-F238E27FC236}">
                      <a16:creationId xmlns:a16="http://schemas.microsoft.com/office/drawing/2014/main" id="{3EE06798-6AE4-43F5-8818-ACFEE268A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00096" y="4394173"/>
                  <a:ext cx="1221426" cy="46037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bject 27">
                  <a:extLst>
                    <a:ext uri="{FF2B5EF4-FFF2-40B4-BE49-F238E27FC236}">
                      <a16:creationId xmlns:a16="http://schemas.microsoft.com/office/drawing/2014/main" id="{5B40C1E8-A0E1-478B-ABBB-58889072C4C4}"/>
                    </a:ext>
                  </a:extLst>
                </p:cNvPr>
                <p:cNvSpPr txBox="1"/>
                <p:nvPr/>
              </p:nvSpPr>
              <p:spPr bwMode="auto">
                <a:xfrm>
                  <a:off x="7504847" y="6328082"/>
                  <a:ext cx="1221426" cy="460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s-E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dl</m:t>
                        </m:r>
                        <m:r>
                          <a:rPr lang="es-E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69" name="Object 27">
                  <a:extLst>
                    <a:ext uri="{FF2B5EF4-FFF2-40B4-BE49-F238E27FC236}">
                      <a16:creationId xmlns:a16="http://schemas.microsoft.com/office/drawing/2014/main" id="{5B40C1E8-A0E1-478B-ABBB-58889072C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04847" y="6328082"/>
                  <a:ext cx="1221426" cy="46037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E6D7AB0-2C46-48CE-8FC4-1C6E07ABF9A8}"/>
              </a:ext>
            </a:extLst>
          </p:cNvPr>
          <p:cNvGrpSpPr/>
          <p:nvPr/>
        </p:nvGrpSpPr>
        <p:grpSpPr>
          <a:xfrm>
            <a:off x="8608507" y="4180571"/>
            <a:ext cx="1619732" cy="2410093"/>
            <a:chOff x="8719823" y="4390506"/>
            <a:chExt cx="1619732" cy="2410093"/>
          </a:xfrm>
        </p:grpSpPr>
        <p:grpSp>
          <p:nvGrpSpPr>
            <p:cNvPr id="657477" name="Group 69"/>
            <p:cNvGrpSpPr>
              <a:grpSpLocks/>
            </p:cNvGrpSpPr>
            <p:nvPr/>
          </p:nvGrpSpPr>
          <p:grpSpPr bwMode="auto">
            <a:xfrm>
              <a:off x="8719823" y="4584450"/>
              <a:ext cx="1344613" cy="2005012"/>
              <a:chOff x="4793" y="2937"/>
              <a:chExt cx="847" cy="1263"/>
            </a:xfrm>
          </p:grpSpPr>
          <p:sp>
            <p:nvSpPr>
              <p:cNvPr id="46104" name="Line 40"/>
              <p:cNvSpPr>
                <a:spLocks noChangeShapeType="1"/>
              </p:cNvSpPr>
              <p:nvPr/>
            </p:nvSpPr>
            <p:spPr bwMode="auto">
              <a:xfrm flipH="1">
                <a:off x="4933" y="2937"/>
                <a:ext cx="0" cy="12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6105" name="Line 38"/>
              <p:cNvSpPr>
                <a:spLocks noChangeShapeType="1"/>
              </p:cNvSpPr>
              <p:nvPr/>
            </p:nvSpPr>
            <p:spPr bwMode="auto">
              <a:xfrm flipV="1">
                <a:off x="4933" y="3030"/>
                <a:ext cx="0" cy="544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6106" name="Object 39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892268633"/>
                      </p:ext>
                    </p:extLst>
                  </p:nvPr>
                </p:nvGraphicFramePr>
                <p:xfrm>
                  <a:off x="5044" y="3089"/>
                  <a:ext cx="574" cy="27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20" imgW="444114" imgH="215713" progId="Equation.3">
                          <p:embed/>
                        </p:oleObj>
                      </mc:Choice>
                      <mc:Fallback>
                        <p:oleObj name="Ecuación" r:id="rId20" imgW="444114" imgH="215713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044" y="3089"/>
                                <a:ext cx="574" cy="27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6106" name="Object 39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892268633"/>
                      </p:ext>
                    </p:extLst>
                  </p:nvPr>
                </p:nvGraphicFramePr>
                <p:xfrm>
                  <a:off x="5044" y="3089"/>
                  <a:ext cx="574" cy="27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241" name="Ecuación" r:id="rId22" imgW="444114" imgH="215713" progId="Equation.3">
                          <p:embed/>
                        </p:oleObj>
                      </mc:Choice>
                      <mc:Fallback>
                        <p:oleObj name="Ecuación" r:id="rId22" imgW="444114" imgH="215713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044" y="3089"/>
                                <a:ext cx="574" cy="27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46107" name="Line 41"/>
              <p:cNvSpPr>
                <a:spLocks noChangeShapeType="1"/>
              </p:cNvSpPr>
              <p:nvPr/>
            </p:nvSpPr>
            <p:spPr bwMode="auto">
              <a:xfrm>
                <a:off x="4933" y="3566"/>
                <a:ext cx="0" cy="509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6108" name="Object 42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83089226"/>
                      </p:ext>
                    </p:extLst>
                  </p:nvPr>
                </p:nvGraphicFramePr>
                <p:xfrm>
                  <a:off x="5065" y="3732"/>
                  <a:ext cx="575" cy="2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24" imgW="444114" imgH="215713" progId="Equation.3">
                          <p:embed/>
                        </p:oleObj>
                      </mc:Choice>
                      <mc:Fallback>
                        <p:oleObj name="Ecuación" r:id="rId24" imgW="444114" imgH="215713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065" y="3732"/>
                                <a:ext cx="575" cy="2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6108" name="Object 42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83089226"/>
                      </p:ext>
                    </p:extLst>
                  </p:nvPr>
                </p:nvGraphicFramePr>
                <p:xfrm>
                  <a:off x="5065" y="3732"/>
                  <a:ext cx="575" cy="2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242" name="Ecuación" r:id="rId26" imgW="444114" imgH="215713" progId="Equation.3">
                          <p:embed/>
                        </p:oleObj>
                      </mc:Choice>
                      <mc:Fallback>
                        <p:oleObj name="Ecuación" r:id="rId26" imgW="444114" imgH="215713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065" y="3732"/>
                                <a:ext cx="575" cy="2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46109" name="Line 43"/>
              <p:cNvSpPr>
                <a:spLocks noChangeShapeType="1"/>
              </p:cNvSpPr>
              <p:nvPr/>
            </p:nvSpPr>
            <p:spPr bwMode="auto">
              <a:xfrm flipV="1">
                <a:off x="4793" y="3567"/>
                <a:ext cx="2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6110" name="Text Box 62"/>
              <p:cNvSpPr txBox="1">
                <a:spLocks noChangeArrowheads="1"/>
              </p:cNvSpPr>
              <p:nvPr/>
            </p:nvSpPr>
            <p:spPr bwMode="auto">
              <a:xfrm>
                <a:off x="5131" y="3427"/>
                <a:ext cx="35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" sz="2400">
                    <a:solidFill>
                      <a:schemeClr val="tx1"/>
                    </a:solidFill>
                  </a:rPr>
                  <a:t>dS</a:t>
                </a:r>
              </a:p>
            </p:txBody>
          </p:sp>
          <p:sp>
            <p:nvSpPr>
              <p:cNvPr id="46111" name="Line 66"/>
              <p:cNvSpPr>
                <a:spLocks noChangeShapeType="1"/>
              </p:cNvSpPr>
              <p:nvPr/>
            </p:nvSpPr>
            <p:spPr bwMode="auto">
              <a:xfrm rot="8255476" flipH="1">
                <a:off x="4847" y="3337"/>
                <a:ext cx="178" cy="186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miter lim="800000"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Object 27">
                  <a:extLst>
                    <a:ext uri="{FF2B5EF4-FFF2-40B4-BE49-F238E27FC236}">
                      <a16:creationId xmlns:a16="http://schemas.microsoft.com/office/drawing/2014/main" id="{FD4C823E-C78A-47E4-B7E4-5588700A3AAD}"/>
                    </a:ext>
                  </a:extLst>
                </p:cNvPr>
                <p:cNvSpPr txBox="1"/>
                <p:nvPr/>
              </p:nvSpPr>
              <p:spPr bwMode="auto">
                <a:xfrm>
                  <a:off x="9087349" y="4390506"/>
                  <a:ext cx="1221426" cy="460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s-E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es-E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70" name="Object 27">
                  <a:extLst>
                    <a:ext uri="{FF2B5EF4-FFF2-40B4-BE49-F238E27FC236}">
                      <a16:creationId xmlns:a16="http://schemas.microsoft.com/office/drawing/2014/main" id="{FD4C823E-C78A-47E4-B7E4-5588700A3A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87349" y="4390506"/>
                  <a:ext cx="1221426" cy="46037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Object 27">
                  <a:extLst>
                    <a:ext uri="{FF2B5EF4-FFF2-40B4-BE49-F238E27FC236}">
                      <a16:creationId xmlns:a16="http://schemas.microsoft.com/office/drawing/2014/main" id="{017AA2F0-85D5-4D0F-864A-01292501F585}"/>
                    </a:ext>
                  </a:extLst>
                </p:cNvPr>
                <p:cNvSpPr txBox="1"/>
                <p:nvPr/>
              </p:nvSpPr>
              <p:spPr bwMode="auto">
                <a:xfrm>
                  <a:off x="9118129" y="6340224"/>
                  <a:ext cx="1221426" cy="460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s-E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es-E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71" name="Object 27">
                  <a:extLst>
                    <a:ext uri="{FF2B5EF4-FFF2-40B4-BE49-F238E27FC236}">
                      <a16:creationId xmlns:a16="http://schemas.microsoft.com/office/drawing/2014/main" id="{017AA2F0-85D5-4D0F-864A-01292501F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18129" y="6340224"/>
                  <a:ext cx="1221426" cy="46037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ext Box 32">
            <a:extLst>
              <a:ext uri="{FF2B5EF4-FFF2-40B4-BE49-F238E27FC236}">
                <a16:creationId xmlns:a16="http://schemas.microsoft.com/office/drawing/2014/main" id="{C5F589FE-10A8-1D9E-ABAA-CB9464271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77" y="722125"/>
            <a:ext cx="2823211" cy="88407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FFFF"/>
                </a:solidFill>
              </a:rPr>
              <a:t>Ley de Inducción de Henry-Faraday</a:t>
            </a:r>
          </a:p>
        </p:txBody>
      </p:sp>
    </p:spTree>
    <p:extLst>
      <p:ext uri="{BB962C8B-B14F-4D97-AF65-F5344CB8AC3E}">
        <p14:creationId xmlns:p14="http://schemas.microsoft.com/office/powerpoint/2010/main" val="234154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5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7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57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657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5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5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657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5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1" grpId="0" animBg="1"/>
      <p:bldP spid="29732" grpId="0" animBg="1"/>
      <p:bldP spid="657491" grpId="0"/>
      <p:bldP spid="65749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681093B-65CF-4D0D-AEF8-87FC36E91CCB}"/>
              </a:ext>
            </a:extLst>
          </p:cNvPr>
          <p:cNvSpPr/>
          <p:nvPr/>
        </p:nvSpPr>
        <p:spPr bwMode="auto">
          <a:xfrm>
            <a:off x="4783209" y="327508"/>
            <a:ext cx="5593030" cy="3276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8" name="Rectángulo 47"/>
          <p:cNvSpPr/>
          <p:nvPr/>
        </p:nvSpPr>
        <p:spPr bwMode="auto">
          <a:xfrm rot="21431307">
            <a:off x="9772634" y="1753828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48130" name="Group 63"/>
          <p:cNvGrpSpPr>
            <a:grpSpLocks/>
          </p:cNvGrpSpPr>
          <p:nvPr/>
        </p:nvGrpSpPr>
        <p:grpSpPr bwMode="auto">
          <a:xfrm>
            <a:off x="1285272" y="326523"/>
            <a:ext cx="3351213" cy="1054100"/>
            <a:chOff x="1320" y="1085"/>
            <a:chExt cx="2111" cy="664"/>
          </a:xfrm>
        </p:grpSpPr>
        <p:sp>
          <p:nvSpPr>
            <p:cNvPr id="48176" name="Rectangle 64"/>
            <p:cNvSpPr>
              <a:spLocks noChangeArrowheads="1"/>
            </p:cNvSpPr>
            <p:nvPr/>
          </p:nvSpPr>
          <p:spPr bwMode="auto">
            <a:xfrm>
              <a:off x="1320" y="1085"/>
              <a:ext cx="2111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48177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4498956"/>
                </p:ext>
              </p:extLst>
            </p:nvPr>
          </p:nvGraphicFramePr>
          <p:xfrm>
            <a:off x="1463" y="1103"/>
            <a:ext cx="1859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44600" imgH="431800" progId="Equation.3">
                    <p:embed/>
                  </p:oleObj>
                </mc:Choice>
                <mc:Fallback>
                  <p:oleObj name="Ecuación" r:id="rId3" imgW="12446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3" y="1103"/>
                          <a:ext cx="1859" cy="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8510" name="Text Box 78"/>
          <p:cNvSpPr txBox="1">
            <a:spLocks noChangeArrowheads="1"/>
          </p:cNvSpPr>
          <p:nvPr/>
        </p:nvSpPr>
        <p:spPr bwMode="auto">
          <a:xfrm>
            <a:off x="1290638" y="3066208"/>
            <a:ext cx="3398985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/>
              <a:t>Con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-25000" dirty="0"/>
              <a:t>0</a:t>
            </a:r>
            <a:r>
              <a:rPr lang="es-ES" sz="2400" dirty="0"/>
              <a:t> </a:t>
            </a:r>
            <a:r>
              <a:rPr lang="es-ES" sz="2400"/>
              <a:t>= 0 en la espira:</a:t>
            </a:r>
            <a:endParaRPr lang="es-ES" sz="2400" dirty="0"/>
          </a:p>
        </p:txBody>
      </p:sp>
      <p:sp>
        <p:nvSpPr>
          <p:cNvPr id="50210" name="Oval 9"/>
          <p:cNvSpPr>
            <a:spLocks noChangeArrowheads="1"/>
          </p:cNvSpPr>
          <p:nvPr/>
        </p:nvSpPr>
        <p:spPr bwMode="auto">
          <a:xfrm>
            <a:off x="8053673" y="857947"/>
            <a:ext cx="500063" cy="22352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endParaRPr lang="es-ES"/>
          </a:p>
        </p:txBody>
      </p:sp>
      <p:grpSp>
        <p:nvGrpSpPr>
          <p:cNvPr id="3" name="Grupo 2"/>
          <p:cNvGrpSpPr/>
          <p:nvPr/>
        </p:nvGrpSpPr>
        <p:grpSpPr>
          <a:xfrm>
            <a:off x="4961049" y="395899"/>
            <a:ext cx="5281797" cy="3105295"/>
            <a:chOff x="4898850" y="495559"/>
            <a:chExt cx="5281797" cy="3105295"/>
          </a:xfrm>
        </p:grpSpPr>
        <p:sp>
          <p:nvSpPr>
            <p:cNvPr id="48153" name="Line 8"/>
            <p:cNvSpPr>
              <a:spLocks noChangeShapeType="1"/>
            </p:cNvSpPr>
            <p:nvPr/>
          </p:nvSpPr>
          <p:spPr bwMode="auto">
            <a:xfrm>
              <a:off x="6982051" y="2113308"/>
              <a:ext cx="261769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154" name="Freeform 16"/>
            <p:cNvSpPr>
              <a:spLocks/>
            </p:cNvSpPr>
            <p:nvPr/>
          </p:nvSpPr>
          <p:spPr bwMode="auto">
            <a:xfrm>
              <a:off x="6990066" y="1584669"/>
              <a:ext cx="2422301" cy="427038"/>
            </a:xfrm>
            <a:custGeom>
              <a:avLst/>
              <a:gdLst>
                <a:gd name="T0" fmla="*/ 0 w 1526"/>
                <a:gd name="T1" fmla="*/ 2147483646 h 269"/>
                <a:gd name="T2" fmla="*/ 2147483646 w 1526"/>
                <a:gd name="T3" fmla="*/ 2147483646 h 269"/>
                <a:gd name="T4" fmla="*/ 2147483646 w 1526"/>
                <a:gd name="T5" fmla="*/ 0 h 2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6" h="269">
                  <a:moveTo>
                    <a:pt x="0" y="269"/>
                  </a:moveTo>
                  <a:cubicBezTo>
                    <a:pt x="151" y="267"/>
                    <a:pt x="302" y="266"/>
                    <a:pt x="556" y="221"/>
                  </a:cubicBezTo>
                  <a:cubicBezTo>
                    <a:pt x="810" y="176"/>
                    <a:pt x="1168" y="88"/>
                    <a:pt x="1526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155" name="Freeform 17"/>
            <p:cNvSpPr>
              <a:spLocks/>
            </p:cNvSpPr>
            <p:nvPr/>
          </p:nvSpPr>
          <p:spPr bwMode="auto">
            <a:xfrm>
              <a:off x="6974193" y="1036982"/>
              <a:ext cx="2300075" cy="868362"/>
            </a:xfrm>
            <a:custGeom>
              <a:avLst/>
              <a:gdLst>
                <a:gd name="T0" fmla="*/ 0 w 1449"/>
                <a:gd name="T1" fmla="*/ 2147483646 h 547"/>
                <a:gd name="T2" fmla="*/ 2147483646 w 1449"/>
                <a:gd name="T3" fmla="*/ 2147483646 h 547"/>
                <a:gd name="T4" fmla="*/ 2147483646 w 1449"/>
                <a:gd name="T5" fmla="*/ 0 h 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9" h="547">
                  <a:moveTo>
                    <a:pt x="0" y="547"/>
                  </a:moveTo>
                  <a:cubicBezTo>
                    <a:pt x="316" y="496"/>
                    <a:pt x="632" y="446"/>
                    <a:pt x="873" y="355"/>
                  </a:cubicBezTo>
                  <a:cubicBezTo>
                    <a:pt x="1114" y="264"/>
                    <a:pt x="1281" y="132"/>
                    <a:pt x="14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156" name="Freeform 18"/>
            <p:cNvSpPr>
              <a:spLocks/>
            </p:cNvSpPr>
            <p:nvPr/>
          </p:nvSpPr>
          <p:spPr bwMode="auto">
            <a:xfrm>
              <a:off x="6956733" y="533745"/>
              <a:ext cx="1787360" cy="1263649"/>
            </a:xfrm>
            <a:custGeom>
              <a:avLst/>
              <a:gdLst>
                <a:gd name="T0" fmla="*/ 0 w 1133"/>
                <a:gd name="T1" fmla="*/ 2147483646 h 873"/>
                <a:gd name="T2" fmla="*/ 2147483646 w 1133"/>
                <a:gd name="T3" fmla="*/ 2147483646 h 873"/>
                <a:gd name="T4" fmla="*/ 2147483646 w 1133"/>
                <a:gd name="T5" fmla="*/ 0 h 8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3" h="873">
                  <a:moveTo>
                    <a:pt x="0" y="873"/>
                  </a:moveTo>
                  <a:cubicBezTo>
                    <a:pt x="213" y="811"/>
                    <a:pt x="426" y="750"/>
                    <a:pt x="615" y="605"/>
                  </a:cubicBezTo>
                  <a:cubicBezTo>
                    <a:pt x="804" y="460"/>
                    <a:pt x="968" y="230"/>
                    <a:pt x="113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157" name="Freeform 20"/>
            <p:cNvSpPr>
              <a:spLocks/>
            </p:cNvSpPr>
            <p:nvPr/>
          </p:nvSpPr>
          <p:spPr bwMode="auto">
            <a:xfrm flipV="1">
              <a:off x="6945620" y="2216495"/>
              <a:ext cx="2422301" cy="427038"/>
            </a:xfrm>
            <a:custGeom>
              <a:avLst/>
              <a:gdLst>
                <a:gd name="T0" fmla="*/ 0 w 1526"/>
                <a:gd name="T1" fmla="*/ 2147483646 h 269"/>
                <a:gd name="T2" fmla="*/ 2147483646 w 1526"/>
                <a:gd name="T3" fmla="*/ 2147483646 h 269"/>
                <a:gd name="T4" fmla="*/ 2147483646 w 1526"/>
                <a:gd name="T5" fmla="*/ 0 h 2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6" h="269">
                  <a:moveTo>
                    <a:pt x="0" y="269"/>
                  </a:moveTo>
                  <a:cubicBezTo>
                    <a:pt x="151" y="267"/>
                    <a:pt x="302" y="266"/>
                    <a:pt x="556" y="221"/>
                  </a:cubicBezTo>
                  <a:cubicBezTo>
                    <a:pt x="810" y="176"/>
                    <a:pt x="1168" y="88"/>
                    <a:pt x="1526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158" name="Freeform 21"/>
            <p:cNvSpPr>
              <a:spLocks/>
            </p:cNvSpPr>
            <p:nvPr/>
          </p:nvSpPr>
          <p:spPr bwMode="auto">
            <a:xfrm flipV="1">
              <a:off x="6963082" y="2278408"/>
              <a:ext cx="2300074" cy="868362"/>
            </a:xfrm>
            <a:custGeom>
              <a:avLst/>
              <a:gdLst>
                <a:gd name="T0" fmla="*/ 0 w 1449"/>
                <a:gd name="T1" fmla="*/ 2147483646 h 547"/>
                <a:gd name="T2" fmla="*/ 2147483646 w 1449"/>
                <a:gd name="T3" fmla="*/ 2147483646 h 547"/>
                <a:gd name="T4" fmla="*/ 2147483646 w 1449"/>
                <a:gd name="T5" fmla="*/ 0 h 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9" h="547">
                  <a:moveTo>
                    <a:pt x="0" y="547"/>
                  </a:moveTo>
                  <a:cubicBezTo>
                    <a:pt x="316" y="496"/>
                    <a:pt x="632" y="446"/>
                    <a:pt x="873" y="355"/>
                  </a:cubicBezTo>
                  <a:cubicBezTo>
                    <a:pt x="1114" y="264"/>
                    <a:pt x="1281" y="132"/>
                    <a:pt x="14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159" name="Freeform 22"/>
            <p:cNvSpPr>
              <a:spLocks/>
            </p:cNvSpPr>
            <p:nvPr/>
          </p:nvSpPr>
          <p:spPr bwMode="auto">
            <a:xfrm flipV="1">
              <a:off x="6945620" y="2386358"/>
              <a:ext cx="1798472" cy="1214496"/>
            </a:xfrm>
            <a:custGeom>
              <a:avLst/>
              <a:gdLst>
                <a:gd name="T0" fmla="*/ 0 w 1133"/>
                <a:gd name="T1" fmla="*/ 2147483646 h 873"/>
                <a:gd name="T2" fmla="*/ 2147483646 w 1133"/>
                <a:gd name="T3" fmla="*/ 2147483646 h 873"/>
                <a:gd name="T4" fmla="*/ 2147483646 w 1133"/>
                <a:gd name="T5" fmla="*/ 0 h 8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3" h="873">
                  <a:moveTo>
                    <a:pt x="0" y="873"/>
                  </a:moveTo>
                  <a:cubicBezTo>
                    <a:pt x="213" y="811"/>
                    <a:pt x="426" y="750"/>
                    <a:pt x="615" y="605"/>
                  </a:cubicBezTo>
                  <a:cubicBezTo>
                    <a:pt x="804" y="460"/>
                    <a:pt x="968" y="230"/>
                    <a:pt x="113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160" name="Freeform 23"/>
            <p:cNvSpPr>
              <a:spLocks/>
            </p:cNvSpPr>
            <p:nvPr/>
          </p:nvSpPr>
          <p:spPr bwMode="auto">
            <a:xfrm>
              <a:off x="6945620" y="495559"/>
              <a:ext cx="1104608" cy="1245084"/>
            </a:xfrm>
            <a:custGeom>
              <a:avLst/>
              <a:gdLst>
                <a:gd name="T0" fmla="*/ 0 w 749"/>
                <a:gd name="T1" fmla="*/ 2147483646 h 893"/>
                <a:gd name="T2" fmla="*/ 2147483646 w 749"/>
                <a:gd name="T3" fmla="*/ 2147483646 h 893"/>
                <a:gd name="T4" fmla="*/ 2147483646 w 749"/>
                <a:gd name="T5" fmla="*/ 0 h 8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893">
                  <a:moveTo>
                    <a:pt x="0" y="893"/>
                  </a:moveTo>
                  <a:cubicBezTo>
                    <a:pt x="168" y="799"/>
                    <a:pt x="336" y="706"/>
                    <a:pt x="461" y="557"/>
                  </a:cubicBezTo>
                  <a:cubicBezTo>
                    <a:pt x="586" y="408"/>
                    <a:pt x="667" y="204"/>
                    <a:pt x="7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161" name="Freeform 24"/>
            <p:cNvSpPr>
              <a:spLocks/>
            </p:cNvSpPr>
            <p:nvPr/>
          </p:nvSpPr>
          <p:spPr bwMode="auto">
            <a:xfrm flipV="1">
              <a:off x="6978955" y="2491133"/>
              <a:ext cx="1098559" cy="1062437"/>
            </a:xfrm>
            <a:custGeom>
              <a:avLst/>
              <a:gdLst>
                <a:gd name="T0" fmla="*/ 0 w 749"/>
                <a:gd name="T1" fmla="*/ 2147483646 h 893"/>
                <a:gd name="T2" fmla="*/ 2147483646 w 749"/>
                <a:gd name="T3" fmla="*/ 2147483646 h 893"/>
                <a:gd name="T4" fmla="*/ 2147483646 w 749"/>
                <a:gd name="T5" fmla="*/ 0 h 8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893">
                  <a:moveTo>
                    <a:pt x="0" y="893"/>
                  </a:moveTo>
                  <a:cubicBezTo>
                    <a:pt x="168" y="799"/>
                    <a:pt x="336" y="706"/>
                    <a:pt x="461" y="557"/>
                  </a:cubicBezTo>
                  <a:cubicBezTo>
                    <a:pt x="586" y="408"/>
                    <a:pt x="667" y="204"/>
                    <a:pt x="7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48162" name="Group 66"/>
            <p:cNvGrpSpPr>
              <a:grpSpLocks/>
            </p:cNvGrpSpPr>
            <p:nvPr/>
          </p:nvGrpSpPr>
          <p:grpSpPr bwMode="auto">
            <a:xfrm>
              <a:off x="5010637" y="1787869"/>
              <a:ext cx="1863553" cy="725488"/>
              <a:chOff x="1087" y="1341"/>
              <a:chExt cx="1174" cy="457"/>
            </a:xfrm>
          </p:grpSpPr>
          <p:sp>
            <p:nvSpPr>
              <p:cNvPr id="48172" name="AutoShape 67"/>
              <p:cNvSpPr>
                <a:spLocks noChangeArrowheads="1"/>
              </p:cNvSpPr>
              <p:nvPr/>
            </p:nvSpPr>
            <p:spPr bwMode="auto">
              <a:xfrm>
                <a:off x="1087" y="1341"/>
                <a:ext cx="680" cy="453"/>
              </a:xfrm>
              <a:prstGeom prst="cube">
                <a:avLst>
                  <a:gd name="adj" fmla="val 41773"/>
                </a:avLst>
              </a:prstGeom>
              <a:solidFill>
                <a:srgbClr val="3366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48173" name="AutoShape 68"/>
              <p:cNvSpPr>
                <a:spLocks noChangeArrowheads="1"/>
              </p:cNvSpPr>
              <p:nvPr/>
            </p:nvSpPr>
            <p:spPr bwMode="auto">
              <a:xfrm>
                <a:off x="1581" y="1341"/>
                <a:ext cx="680" cy="453"/>
              </a:xfrm>
              <a:prstGeom prst="cube">
                <a:avLst>
                  <a:gd name="adj" fmla="val 40296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48174" name="Text Box 69"/>
              <p:cNvSpPr txBox="1">
                <a:spLocks noChangeArrowheads="1"/>
              </p:cNvSpPr>
              <p:nvPr/>
            </p:nvSpPr>
            <p:spPr bwMode="auto">
              <a:xfrm>
                <a:off x="1686" y="1531"/>
                <a:ext cx="31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48175" name="Text Box 70"/>
              <p:cNvSpPr txBox="1">
                <a:spLocks noChangeArrowheads="1"/>
              </p:cNvSpPr>
              <p:nvPr/>
            </p:nvSpPr>
            <p:spPr bwMode="auto">
              <a:xfrm>
                <a:off x="1168" y="1535"/>
                <a:ext cx="31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48163" name="Group 72"/>
            <p:cNvGrpSpPr>
              <a:grpSpLocks/>
            </p:cNvGrpSpPr>
            <p:nvPr/>
          </p:nvGrpSpPr>
          <p:grpSpPr bwMode="auto">
            <a:xfrm rot="10800000">
              <a:off x="9772698" y="1925982"/>
              <a:ext cx="407949" cy="422275"/>
              <a:chOff x="1420" y="3526"/>
              <a:chExt cx="257" cy="266"/>
            </a:xfrm>
          </p:grpSpPr>
          <p:sp>
            <p:nvSpPr>
              <p:cNvPr id="48169" name="Line 73"/>
              <p:cNvSpPr>
                <a:spLocks noChangeShapeType="1"/>
              </p:cNvSpPr>
              <p:nvPr/>
            </p:nvSpPr>
            <p:spPr bwMode="auto">
              <a:xfrm flipH="1">
                <a:off x="142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8170" name="Line 74"/>
              <p:cNvSpPr>
                <a:spLocks noChangeShapeType="1"/>
              </p:cNvSpPr>
              <p:nvPr/>
            </p:nvSpPr>
            <p:spPr bwMode="auto">
              <a:xfrm>
                <a:off x="142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8171" name="Oval 75"/>
              <p:cNvSpPr>
                <a:spLocks noChangeArrowheads="1"/>
              </p:cNvSpPr>
              <p:nvPr/>
            </p:nvSpPr>
            <p:spPr bwMode="auto">
              <a:xfrm>
                <a:off x="158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  <p:sp>
          <p:nvSpPr>
            <p:cNvPr id="48166" name="Freeform 92"/>
            <p:cNvSpPr>
              <a:spLocks/>
            </p:cNvSpPr>
            <p:nvPr/>
          </p:nvSpPr>
          <p:spPr bwMode="auto">
            <a:xfrm rot="60000">
              <a:off x="7994382" y="1160807"/>
              <a:ext cx="142862" cy="1863726"/>
            </a:xfrm>
            <a:custGeom>
              <a:avLst/>
              <a:gdLst>
                <a:gd name="T0" fmla="*/ 2147483646 w 90"/>
                <a:gd name="T1" fmla="*/ 0 h 1174"/>
                <a:gd name="T2" fmla="*/ 2147483646 w 90"/>
                <a:gd name="T3" fmla="*/ 2147483646 h 1174"/>
                <a:gd name="T4" fmla="*/ 2147483646 w 90"/>
                <a:gd name="T5" fmla="*/ 2147483646 h 1174"/>
                <a:gd name="T6" fmla="*/ 2147483646 w 90"/>
                <a:gd name="T7" fmla="*/ 2147483646 h 1174"/>
                <a:gd name="T8" fmla="*/ 2147483646 w 90"/>
                <a:gd name="T9" fmla="*/ 2147483646 h 1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1174">
                  <a:moveTo>
                    <a:pt x="68" y="0"/>
                  </a:moveTo>
                  <a:cubicBezTo>
                    <a:pt x="46" y="110"/>
                    <a:pt x="24" y="221"/>
                    <a:pt x="13" y="321"/>
                  </a:cubicBezTo>
                  <a:cubicBezTo>
                    <a:pt x="2" y="421"/>
                    <a:pt x="0" y="504"/>
                    <a:pt x="2" y="598"/>
                  </a:cubicBezTo>
                  <a:cubicBezTo>
                    <a:pt x="4" y="692"/>
                    <a:pt x="9" y="790"/>
                    <a:pt x="24" y="886"/>
                  </a:cubicBezTo>
                  <a:cubicBezTo>
                    <a:pt x="39" y="982"/>
                    <a:pt x="79" y="1126"/>
                    <a:pt x="90" y="1174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8167" name="Text Box 93"/>
            <p:cNvSpPr txBox="1">
              <a:spLocks noChangeArrowheads="1"/>
            </p:cNvSpPr>
            <p:nvPr/>
          </p:nvSpPr>
          <p:spPr bwMode="auto">
            <a:xfrm>
              <a:off x="8518688" y="3055444"/>
              <a:ext cx="909521" cy="4749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>
                  <a:solidFill>
                    <a:srgbClr val="3333FF"/>
                  </a:solidFill>
                </a:rPr>
                <a:t>Espira</a:t>
              </a:r>
            </a:p>
          </p:txBody>
        </p:sp>
        <p:sp>
          <p:nvSpPr>
            <p:cNvPr id="48168" name="Text Box 94"/>
            <p:cNvSpPr txBox="1">
              <a:spLocks noChangeArrowheads="1"/>
            </p:cNvSpPr>
            <p:nvPr/>
          </p:nvSpPr>
          <p:spPr bwMode="auto">
            <a:xfrm>
              <a:off x="4898850" y="2631292"/>
              <a:ext cx="1845675" cy="5997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s-ES">
                  <a:solidFill>
                    <a:srgbClr val="3333FF"/>
                  </a:solidFill>
                </a:rPr>
                <a:t>Imán</a:t>
              </a:r>
            </a:p>
            <a:p>
              <a:pPr algn="ctr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s-ES">
                  <a:solidFill>
                    <a:srgbClr val="3333FF"/>
                  </a:solidFill>
                </a:rPr>
                <a:t>(Bobina con </a:t>
              </a:r>
              <a:r>
                <a:rPr lang="es-ES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>
                  <a:solidFill>
                    <a:srgbClr val="3333FF"/>
                  </a:solidFill>
                </a:rPr>
                <a:t>)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CFAA25E9-E80C-4E9F-A80D-D73A8D32A22E}"/>
              </a:ext>
            </a:extLst>
          </p:cNvPr>
          <p:cNvGrpSpPr/>
          <p:nvPr/>
        </p:nvGrpSpPr>
        <p:grpSpPr>
          <a:xfrm>
            <a:off x="9197240" y="4091347"/>
            <a:ext cx="514350" cy="503237"/>
            <a:chOff x="9776200" y="3901729"/>
            <a:chExt cx="514350" cy="503237"/>
          </a:xfrm>
        </p:grpSpPr>
        <p:sp>
          <p:nvSpPr>
            <p:cNvPr id="48149" name="Text Box 39"/>
            <p:cNvSpPr txBox="1">
              <a:spLocks noChangeArrowheads="1"/>
            </p:cNvSpPr>
            <p:nvPr/>
          </p:nvSpPr>
          <p:spPr bwMode="auto">
            <a:xfrm>
              <a:off x="9869863" y="3920779"/>
              <a:ext cx="352425" cy="461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48150" name="AutoShape 40"/>
            <p:cNvSpPr>
              <a:spLocks noChangeArrowheads="1"/>
            </p:cNvSpPr>
            <p:nvPr/>
          </p:nvSpPr>
          <p:spPr bwMode="auto">
            <a:xfrm>
              <a:off x="9776200" y="3901729"/>
              <a:ext cx="514350" cy="50323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33 w 21600"/>
                <a:gd name="T19" fmla="*/ 3134 h 21600"/>
                <a:gd name="T20" fmla="*/ 18467 w 21600"/>
                <a:gd name="T21" fmla="*/ 18466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9265" y="10629"/>
                  </a:moveTo>
                  <a:cubicBezTo>
                    <a:pt x="19172" y="6020"/>
                    <a:pt x="15409" y="2333"/>
                    <a:pt x="10800" y="2333"/>
                  </a:cubicBezTo>
                  <a:cubicBezTo>
                    <a:pt x="6123" y="2333"/>
                    <a:pt x="2333" y="6123"/>
                    <a:pt x="2333" y="10800"/>
                  </a:cubicBezTo>
                  <a:cubicBezTo>
                    <a:pt x="2333" y="15476"/>
                    <a:pt x="6123" y="19267"/>
                    <a:pt x="10800" y="19267"/>
                  </a:cubicBezTo>
                  <a:cubicBezTo>
                    <a:pt x="10850" y="19267"/>
                    <a:pt x="10900" y="19266"/>
                    <a:pt x="10950" y="19265"/>
                  </a:cubicBezTo>
                  <a:lnTo>
                    <a:pt x="10991" y="21598"/>
                  </a:lnTo>
                  <a:cubicBezTo>
                    <a:pt x="10927" y="21599"/>
                    <a:pt x="10863" y="21599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679" y="-1"/>
                    <a:pt x="21479" y="4703"/>
                    <a:pt x="21597" y="10581"/>
                  </a:cubicBezTo>
                  <a:lnTo>
                    <a:pt x="24297" y="10527"/>
                  </a:lnTo>
                  <a:lnTo>
                    <a:pt x="20510" y="14472"/>
                  </a:lnTo>
                  <a:lnTo>
                    <a:pt x="16565" y="10683"/>
                  </a:lnTo>
                  <a:lnTo>
                    <a:pt x="19265" y="10629"/>
                  </a:lnTo>
                  <a:close/>
                </a:path>
              </a:pathLst>
            </a:cu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240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AEA81E1A-72F3-41E6-8F2A-381EA2FCF4E9}"/>
              </a:ext>
            </a:extLst>
          </p:cNvPr>
          <p:cNvGrpSpPr/>
          <p:nvPr/>
        </p:nvGrpSpPr>
        <p:grpSpPr>
          <a:xfrm>
            <a:off x="1443618" y="3645987"/>
            <a:ext cx="1928470" cy="540760"/>
            <a:chOff x="1443618" y="3773142"/>
            <a:chExt cx="1928470" cy="540760"/>
          </a:xfrm>
        </p:grpSpPr>
        <p:sp>
          <p:nvSpPr>
            <p:cNvPr id="48145" name="Rectángulo 2"/>
            <p:cNvSpPr>
              <a:spLocks noChangeArrowheads="1"/>
            </p:cNvSpPr>
            <p:nvPr/>
          </p:nvSpPr>
          <p:spPr bwMode="auto">
            <a:xfrm>
              <a:off x="1443618" y="3837601"/>
              <a:ext cx="1857040" cy="476301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stealth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48151" name="Text Box 76"/>
            <p:cNvSpPr txBox="1">
              <a:spLocks noChangeArrowheads="1"/>
            </p:cNvSpPr>
            <p:nvPr/>
          </p:nvSpPr>
          <p:spPr bwMode="auto">
            <a:xfrm>
              <a:off x="1456113" y="3773142"/>
              <a:ext cx="1915975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Si se acerca</a:t>
              </a:r>
              <a:endParaRPr lang="es-ES" sz="2400" dirty="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F76F8090-B01B-45ED-8924-5CF750648996}"/>
              </a:ext>
            </a:extLst>
          </p:cNvPr>
          <p:cNvGrpSpPr/>
          <p:nvPr/>
        </p:nvGrpSpPr>
        <p:grpSpPr>
          <a:xfrm>
            <a:off x="7092752" y="4530580"/>
            <a:ext cx="514350" cy="503238"/>
            <a:chOff x="9751719" y="4664213"/>
            <a:chExt cx="514350" cy="503238"/>
          </a:xfrm>
        </p:grpSpPr>
        <p:sp>
          <p:nvSpPr>
            <p:cNvPr id="48141" name="Text Box 37"/>
            <p:cNvSpPr txBox="1">
              <a:spLocks noChangeArrowheads="1"/>
            </p:cNvSpPr>
            <p:nvPr/>
          </p:nvSpPr>
          <p:spPr bwMode="auto">
            <a:xfrm>
              <a:off x="9834269" y="4695963"/>
              <a:ext cx="3524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48142" name="AutoShape 38"/>
            <p:cNvSpPr>
              <a:spLocks noChangeArrowheads="1"/>
            </p:cNvSpPr>
            <p:nvPr/>
          </p:nvSpPr>
          <p:spPr bwMode="auto">
            <a:xfrm flipH="1">
              <a:off x="9751719" y="4664213"/>
              <a:ext cx="514350" cy="5032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33 w 21600"/>
                <a:gd name="T19" fmla="*/ 3134 h 21600"/>
                <a:gd name="T20" fmla="*/ 18467 w 21600"/>
                <a:gd name="T21" fmla="*/ 18466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9265" y="10629"/>
                  </a:moveTo>
                  <a:cubicBezTo>
                    <a:pt x="19172" y="6020"/>
                    <a:pt x="15409" y="2333"/>
                    <a:pt x="10800" y="2333"/>
                  </a:cubicBezTo>
                  <a:cubicBezTo>
                    <a:pt x="6123" y="2333"/>
                    <a:pt x="2333" y="6123"/>
                    <a:pt x="2333" y="10800"/>
                  </a:cubicBezTo>
                  <a:cubicBezTo>
                    <a:pt x="2333" y="15476"/>
                    <a:pt x="6123" y="19267"/>
                    <a:pt x="10800" y="19267"/>
                  </a:cubicBezTo>
                  <a:cubicBezTo>
                    <a:pt x="10850" y="19267"/>
                    <a:pt x="10900" y="19266"/>
                    <a:pt x="10950" y="19265"/>
                  </a:cubicBezTo>
                  <a:lnTo>
                    <a:pt x="10991" y="21598"/>
                  </a:lnTo>
                  <a:cubicBezTo>
                    <a:pt x="10927" y="21599"/>
                    <a:pt x="10863" y="21599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679" y="-1"/>
                    <a:pt x="21479" y="4703"/>
                    <a:pt x="21597" y="10581"/>
                  </a:cubicBezTo>
                  <a:lnTo>
                    <a:pt x="24297" y="10527"/>
                  </a:lnTo>
                  <a:lnTo>
                    <a:pt x="20510" y="14472"/>
                  </a:lnTo>
                  <a:lnTo>
                    <a:pt x="16565" y="10683"/>
                  </a:lnTo>
                  <a:lnTo>
                    <a:pt x="19265" y="10629"/>
                  </a:lnTo>
                  <a:close/>
                </a:path>
              </a:pathLst>
            </a:cu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F224E5E4-5C66-46E0-8A45-9CB7900D538D}"/>
              </a:ext>
            </a:extLst>
          </p:cNvPr>
          <p:cNvGrpSpPr/>
          <p:nvPr/>
        </p:nvGrpSpPr>
        <p:grpSpPr>
          <a:xfrm>
            <a:off x="1412581" y="4482987"/>
            <a:ext cx="1882735" cy="536549"/>
            <a:chOff x="1412581" y="4646750"/>
            <a:chExt cx="1882735" cy="536549"/>
          </a:xfrm>
        </p:grpSpPr>
        <p:sp>
          <p:nvSpPr>
            <p:cNvPr id="48139" name="Rectángulo 61"/>
            <p:cNvSpPr>
              <a:spLocks noChangeArrowheads="1"/>
            </p:cNvSpPr>
            <p:nvPr/>
          </p:nvSpPr>
          <p:spPr bwMode="auto">
            <a:xfrm>
              <a:off x="1430743" y="4694103"/>
              <a:ext cx="1864573" cy="47630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stealth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48143" name="Text Box 77"/>
            <p:cNvSpPr txBox="1">
              <a:spLocks noChangeArrowheads="1"/>
            </p:cNvSpPr>
            <p:nvPr/>
          </p:nvSpPr>
          <p:spPr bwMode="auto">
            <a:xfrm>
              <a:off x="1412581" y="4646750"/>
              <a:ext cx="1603622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Si se aleja</a:t>
              </a:r>
              <a:endParaRPr lang="es-ES" sz="2400" dirty="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50189" name="Text Box 79"/>
          <p:cNvSpPr txBox="1">
            <a:spLocks noChangeArrowheads="1"/>
          </p:cNvSpPr>
          <p:nvPr/>
        </p:nvSpPr>
        <p:spPr bwMode="auto">
          <a:xfrm>
            <a:off x="1300151" y="6331401"/>
            <a:ext cx="3398985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Con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solidFill>
                  <a:schemeClr val="tx1"/>
                </a:solidFill>
                <a:latin typeface="Comic Sans MS" panose="030F0702030302020204" pitchFamily="66" charset="0"/>
              </a:rPr>
              <a:t>0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 0 en la espira: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50187" name="Text Box 103"/>
          <p:cNvSpPr txBox="1">
            <a:spLocks noChangeArrowheads="1"/>
          </p:cNvSpPr>
          <p:nvPr/>
        </p:nvSpPr>
        <p:spPr bwMode="auto">
          <a:xfrm>
            <a:off x="1435913" y="5064982"/>
            <a:ext cx="2915982" cy="53654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/>
              <a:t>Cuanto más  rápido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60" name="Text Box 101"/>
          <p:cNvSpPr txBox="1">
            <a:spLocks noChangeArrowheads="1"/>
          </p:cNvSpPr>
          <p:nvPr/>
        </p:nvSpPr>
        <p:spPr bwMode="auto">
          <a:xfrm>
            <a:off x="1282922" y="1605575"/>
            <a:ext cx="2857500" cy="1275213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/>
              <a:t>Explica la mayor parte de las observaciones</a:t>
            </a:r>
          </a:p>
        </p:txBody>
      </p:sp>
      <p:sp>
        <p:nvSpPr>
          <p:cNvPr id="49" name="Text Box 103"/>
          <p:cNvSpPr txBox="1">
            <a:spLocks noChangeArrowheads="1"/>
          </p:cNvSpPr>
          <p:nvPr/>
        </p:nvSpPr>
        <p:spPr bwMode="auto">
          <a:xfrm>
            <a:off x="1435912" y="5662888"/>
            <a:ext cx="3964763" cy="53654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/>
              <a:t>A más superficie delimitada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50" name="Text Box 76">
            <a:extLst>
              <a:ext uri="{FF2B5EF4-FFF2-40B4-BE49-F238E27FC236}">
                <a16:creationId xmlns:a16="http://schemas.microsoft.com/office/drawing/2014/main" id="{A497EA08-A948-4BB5-A471-F2168C958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5113" y="3657121"/>
            <a:ext cx="2319658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 B crece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en S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52" name="Text Box 77">
            <a:extLst>
              <a:ext uri="{FF2B5EF4-FFF2-40B4-BE49-F238E27FC236}">
                <a16:creationId xmlns:a16="http://schemas.microsoft.com/office/drawing/2014/main" id="{5B92B73F-9B72-44EC-B8C5-1ACF17071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4096" y="4493887"/>
            <a:ext cx="327633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 Sucede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lo contrario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55" name="Text Box 103">
            <a:extLst>
              <a:ext uri="{FF2B5EF4-FFF2-40B4-BE49-F238E27FC236}">
                <a16:creationId xmlns:a16="http://schemas.microsoft.com/office/drawing/2014/main" id="{0222AAF0-614B-48B9-BD89-0AA46103D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082" y="5064039"/>
            <a:ext cx="5914174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/>
              <a:t>Mayor variación </a:t>
            </a:r>
            <a:r>
              <a:rPr lang="es-ES" sz="2400"/>
              <a:t>de flujo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56" name="Text Box 103">
            <a:extLst>
              <a:ext uri="{FF2B5EF4-FFF2-40B4-BE49-F238E27FC236}">
                <a16:creationId xmlns:a16="http://schemas.microsoft.com/office/drawing/2014/main" id="{22DBD831-D86D-4382-96A3-4FBB4856C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8498" y="5685614"/>
            <a:ext cx="4977741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Más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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57" name="Text Box 79">
            <a:extLst>
              <a:ext uri="{FF2B5EF4-FFF2-40B4-BE49-F238E27FC236}">
                <a16:creationId xmlns:a16="http://schemas.microsoft.com/office/drawing/2014/main" id="{93879888-1BFB-48EF-9A46-18A4CB2F1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307" y="6347693"/>
            <a:ext cx="4511469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El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baseline="-25000" dirty="0">
                <a:solidFill>
                  <a:schemeClr val="tx1"/>
                </a:solidFill>
              </a:rPr>
              <a:t>INDUCIDO</a:t>
            </a:r>
            <a:r>
              <a:rPr lang="es-ES" sz="2400" dirty="0">
                <a:solidFill>
                  <a:schemeClr val="tx1"/>
                </a:solidFill>
              </a:rPr>
              <a:t> altera la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 existente</a:t>
            </a: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E2857256-5BD2-4BB3-BD04-BD8A559AC1DA}"/>
              </a:ext>
            </a:extLst>
          </p:cNvPr>
          <p:cNvGrpSpPr/>
          <p:nvPr/>
        </p:nvGrpSpPr>
        <p:grpSpPr>
          <a:xfrm>
            <a:off x="8057210" y="732102"/>
            <a:ext cx="839635" cy="2362770"/>
            <a:chOff x="7991474" y="830037"/>
            <a:chExt cx="839635" cy="2362770"/>
          </a:xfrm>
        </p:grpSpPr>
        <p:sp>
          <p:nvSpPr>
            <p:cNvPr id="58" name="Oval 9">
              <a:extLst>
                <a:ext uri="{FF2B5EF4-FFF2-40B4-BE49-F238E27FC236}">
                  <a16:creationId xmlns:a16="http://schemas.microsoft.com/office/drawing/2014/main" id="{BAC04E6D-5314-4ABB-8797-222BCF339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1474" y="957607"/>
              <a:ext cx="500063" cy="2235200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es-ES"/>
            </a:p>
          </p:txBody>
        </p:sp>
        <p:sp>
          <p:nvSpPr>
            <p:cNvPr id="59" name="Text Box 83">
              <a:extLst>
                <a:ext uri="{FF2B5EF4-FFF2-40B4-BE49-F238E27FC236}">
                  <a16:creationId xmlns:a16="http://schemas.microsoft.com/office/drawing/2014/main" id="{76AB4520-9AD1-4491-AD56-8F5F1BB29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1343" y="1125222"/>
              <a:ext cx="386942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/>
                <a:t>S</a:t>
              </a:r>
            </a:p>
          </p:txBody>
        </p:sp>
        <p:sp>
          <p:nvSpPr>
            <p:cNvPr id="61" name="Text Box 84">
              <a:extLst>
                <a:ext uri="{FF2B5EF4-FFF2-40B4-BE49-F238E27FC236}">
                  <a16:creationId xmlns:a16="http://schemas.microsoft.com/office/drawing/2014/main" id="{091970F8-0BE6-4945-BABA-192CB8CA0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6533" y="830037"/>
              <a:ext cx="404576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>
                  <a:solidFill>
                    <a:srgbClr val="008000"/>
                  </a:solidFill>
                </a:rPr>
                <a:t>C</a:t>
              </a:r>
            </a:p>
          </p:txBody>
        </p:sp>
      </p:grpSp>
      <p:sp>
        <p:nvSpPr>
          <p:cNvPr id="62" name="Text Box 76">
            <a:extLst>
              <a:ext uri="{FF2B5EF4-FFF2-40B4-BE49-F238E27FC236}">
                <a16:creationId xmlns:a16="http://schemas.microsoft.com/office/drawing/2014/main" id="{7E453FE2-EEF9-4773-A300-16832832C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4715" y="3647596"/>
            <a:ext cx="404855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 Flujo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sube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hacia nosotros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3" name="Text Box 76">
            <a:extLst>
              <a:ext uri="{FF2B5EF4-FFF2-40B4-BE49-F238E27FC236}">
                <a16:creationId xmlns:a16="http://schemas.microsoft.com/office/drawing/2014/main" id="{AA97C4BC-8F29-47ED-BCFB-F42AF102B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5113" y="4044728"/>
            <a:ext cx="185629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 d/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dt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&gt; 0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4" name="Text Box 76">
            <a:extLst>
              <a:ext uri="{FF2B5EF4-FFF2-40B4-BE49-F238E27FC236}">
                <a16:creationId xmlns:a16="http://schemas.microsoft.com/office/drawing/2014/main" id="{689BA77A-F2D9-4260-80E7-2D6B354CC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2278" y="4033692"/>
            <a:ext cx="1839338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 Circ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.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&lt; 0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5" name="Text Box 76">
            <a:extLst>
              <a:ext uri="{FF2B5EF4-FFF2-40B4-BE49-F238E27FC236}">
                <a16:creationId xmlns:a16="http://schemas.microsoft.com/office/drawing/2014/main" id="{33513F80-C714-4B79-BDF2-8E6C15A9F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800" y="4018271"/>
            <a:ext cx="199257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 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horario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6" name="Text Box 76">
            <a:extLst>
              <a:ext uri="{FF2B5EF4-FFF2-40B4-BE49-F238E27FC236}">
                <a16:creationId xmlns:a16="http://schemas.microsoft.com/office/drawing/2014/main" id="{1A75263D-6DB9-4798-8AF7-3B28F2165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4095" y="4009728"/>
            <a:ext cx="51435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7" name="Text Box 76">
            <a:extLst>
              <a:ext uri="{FF2B5EF4-FFF2-40B4-BE49-F238E27FC236}">
                <a16:creationId xmlns:a16="http://schemas.microsoft.com/office/drawing/2014/main" id="{FC15DA11-F2D3-4DD1-8190-2987AA437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486" y="4490182"/>
            <a:ext cx="51435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8" name="Text Box 103">
            <a:extLst>
              <a:ext uri="{FF2B5EF4-FFF2-40B4-BE49-F238E27FC236}">
                <a16:creationId xmlns:a16="http://schemas.microsoft.com/office/drawing/2014/main" id="{1EAB398E-A880-438F-ADAC-72988E47E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5282" y="5068731"/>
            <a:ext cx="1808780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, circulación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70" name="Text Box 103">
            <a:extLst>
              <a:ext uri="{FF2B5EF4-FFF2-40B4-BE49-F238E27FC236}">
                <a16:creationId xmlns:a16="http://schemas.microsoft.com/office/drawing/2014/main" id="{41735A03-5B54-452F-BC34-4AE01E1FE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5859" y="5062508"/>
            <a:ext cx="590150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, </a:t>
            </a:r>
            <a:r>
              <a:rPr lang="es-ES" sz="2400" b="1"/>
              <a:t>E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71" name="Text Box 103">
            <a:extLst>
              <a:ext uri="{FF2B5EF4-FFF2-40B4-BE49-F238E27FC236}">
                <a16:creationId xmlns:a16="http://schemas.microsoft.com/office/drawing/2014/main" id="{60A94AEE-5DFF-44F5-8800-984D6A3DE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8542" y="5064982"/>
            <a:ext cx="658210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e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72" name="Text Box 103">
            <a:extLst>
              <a:ext uri="{FF2B5EF4-FFF2-40B4-BE49-F238E27FC236}">
                <a16:creationId xmlns:a16="http://schemas.microsoft.com/office/drawing/2014/main" id="{9EE6EF66-79A4-4A9E-BD72-EF2AA5132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1628" y="5683151"/>
            <a:ext cx="1808780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, circulación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73" name="Text Box 103">
            <a:extLst>
              <a:ext uri="{FF2B5EF4-FFF2-40B4-BE49-F238E27FC236}">
                <a16:creationId xmlns:a16="http://schemas.microsoft.com/office/drawing/2014/main" id="{84A5E2D5-9109-4E51-9589-DC0F15F21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2205" y="5676928"/>
            <a:ext cx="590150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, </a:t>
            </a:r>
            <a:r>
              <a:rPr lang="es-ES" sz="2400" b="1"/>
              <a:t>E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74" name="Text Box 103">
            <a:extLst>
              <a:ext uri="{FF2B5EF4-FFF2-40B4-BE49-F238E27FC236}">
                <a16:creationId xmlns:a16="http://schemas.microsoft.com/office/drawing/2014/main" id="{0E88E3A5-1B2A-43FE-93E7-FE724C00B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4888" y="5679402"/>
            <a:ext cx="658210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e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75" name="Text Box 103">
            <a:extLst>
              <a:ext uri="{FF2B5EF4-FFF2-40B4-BE49-F238E27FC236}">
                <a16:creationId xmlns:a16="http://schemas.microsoft.com/office/drawing/2014/main" id="{17720F8B-0369-45C7-8EA0-FDE6FF65B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3333" y="5686760"/>
            <a:ext cx="1711069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, variación</a:t>
            </a:r>
            <a:endParaRPr lang="es-E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01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58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58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8" grpId="0" animBg="1"/>
      <p:bldP spid="658510" grpId="0" animBg="1"/>
      <p:bldP spid="50210" grpId="0" animBg="1"/>
      <p:bldP spid="50189" grpId="0" animBg="1"/>
      <p:bldP spid="50187" grpId="0" animBg="1"/>
      <p:bldP spid="60" grpId="0" animBg="1"/>
      <p:bldP spid="49" grpId="0" animBg="1"/>
      <p:bldP spid="50" grpId="0"/>
      <p:bldP spid="52" grpId="0"/>
      <p:bldP spid="55" grpId="0"/>
      <p:bldP spid="56" grpId="0"/>
      <p:bldP spid="57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1374671" y="3841733"/>
            <a:ext cx="1571773" cy="575922"/>
            <a:chOff x="1362444" y="4595448"/>
            <a:chExt cx="1571826" cy="576326"/>
          </a:xfrm>
        </p:grpSpPr>
        <p:sp>
          <p:nvSpPr>
            <p:cNvPr id="50185" name="Rectángulo 2"/>
            <p:cNvSpPr>
              <a:spLocks noChangeArrowheads="1"/>
            </p:cNvSpPr>
            <p:nvPr/>
          </p:nvSpPr>
          <p:spPr bwMode="auto">
            <a:xfrm>
              <a:off x="1362444" y="4595448"/>
              <a:ext cx="1557829" cy="57632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stealth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50186" name="Text Box 76"/>
            <p:cNvSpPr txBox="1">
              <a:spLocks noChangeArrowheads="1"/>
            </p:cNvSpPr>
            <p:nvPr/>
          </p:nvSpPr>
          <p:spPr bwMode="auto">
            <a:xfrm>
              <a:off x="1376441" y="4605628"/>
              <a:ext cx="1557829" cy="536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Si se para</a:t>
              </a:r>
              <a:endParaRPr lang="es-ES" sz="2400" dirty="0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65" name="Text Box 56"/>
          <p:cNvSpPr txBox="1">
            <a:spLocks noChangeArrowheads="1"/>
          </p:cNvSpPr>
          <p:nvPr/>
        </p:nvSpPr>
        <p:spPr bwMode="auto">
          <a:xfrm>
            <a:off x="2015231" y="5098230"/>
            <a:ext cx="7522942" cy="536549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La inducción nula no hace desaparecer la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 existente</a:t>
            </a:r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1444333" y="5831444"/>
            <a:ext cx="8599394" cy="9785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dirty="0"/>
              <a:t>La corriente tiende a disminuir y cesa debido a la </a:t>
            </a:r>
            <a:r>
              <a:rPr lang="es-ES" sz="2400" b="1" dirty="0">
                <a:solidFill>
                  <a:srgbClr val="008000"/>
                </a:solidFill>
              </a:rPr>
              <a:t>resistencia</a:t>
            </a:r>
            <a:r>
              <a:rPr lang="es-ES" sz="2400" dirty="0"/>
              <a:t> del material, lo que conlleva un </a:t>
            </a:r>
            <a:r>
              <a:rPr lang="es-ES" sz="2400" dirty="0">
                <a:solidFill>
                  <a:srgbClr val="FF0000"/>
                </a:solidFill>
              </a:rPr>
              <a:t>calentamiento </a:t>
            </a:r>
          </a:p>
        </p:txBody>
      </p:sp>
      <p:sp>
        <p:nvSpPr>
          <p:cNvPr id="68" name="Text Box 76">
            <a:extLst>
              <a:ext uri="{FF2B5EF4-FFF2-40B4-BE49-F238E27FC236}">
                <a16:creationId xmlns:a16="http://schemas.microsoft.com/office/drawing/2014/main" id="{84AB8D2A-79C2-47E9-8AE6-882A29751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2251" y="3875683"/>
            <a:ext cx="216391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 B cte.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en S</a:t>
            </a:r>
            <a:endParaRPr lang="es-ES" sz="2400" dirty="0">
              <a:solidFill>
                <a:schemeClr val="tx1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3" name="Text Box 56">
            <a:extLst>
              <a:ext uri="{FF2B5EF4-FFF2-40B4-BE49-F238E27FC236}">
                <a16:creationId xmlns:a16="http://schemas.microsoft.com/office/drawing/2014/main" id="{DDB31711-3209-4E6C-8FD0-861E89867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2447" y="3064205"/>
            <a:ext cx="2857500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Lo que no explica:</a:t>
            </a:r>
          </a:p>
        </p:txBody>
      </p:sp>
      <p:sp>
        <p:nvSpPr>
          <p:cNvPr id="46" name="Text Box 76">
            <a:extLst>
              <a:ext uri="{FF2B5EF4-FFF2-40B4-BE49-F238E27FC236}">
                <a16:creationId xmlns:a16="http://schemas.microsoft.com/office/drawing/2014/main" id="{692D39D7-0C1D-4EF1-AB59-10908F2B6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085" y="3887467"/>
            <a:ext cx="183344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 Flujo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cte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. </a:t>
            </a:r>
            <a:endParaRPr lang="es-ES" sz="2400" dirty="0">
              <a:solidFill>
                <a:schemeClr val="tx1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7" name="Text Box 76">
            <a:extLst>
              <a:ext uri="{FF2B5EF4-FFF2-40B4-BE49-F238E27FC236}">
                <a16:creationId xmlns:a16="http://schemas.microsoft.com/office/drawing/2014/main" id="{286D614E-C151-45E6-BCE3-C988524C2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6135" y="3889232"/>
            <a:ext cx="193875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 d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/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dt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= 0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48" name="Text Box 76">
            <a:extLst>
              <a:ext uri="{FF2B5EF4-FFF2-40B4-BE49-F238E27FC236}">
                <a16:creationId xmlns:a16="http://schemas.microsoft.com/office/drawing/2014/main" id="{4DB24B55-19E0-4683-9D85-3B374BE7C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193" y="4392104"/>
            <a:ext cx="174628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Circ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.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= 0</a:t>
            </a:r>
            <a:endParaRPr lang="es-ES" sz="2400" dirty="0">
              <a:solidFill>
                <a:schemeClr val="tx1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9" name="Text Box 76">
            <a:extLst>
              <a:ext uri="{FF2B5EF4-FFF2-40B4-BE49-F238E27FC236}">
                <a16:creationId xmlns:a16="http://schemas.microsoft.com/office/drawing/2014/main" id="{878853FC-40D2-41CA-BE43-8AB44DBC1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6838" y="4380729"/>
            <a:ext cx="155633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nulo</a:t>
            </a:r>
            <a:endParaRPr lang="es-ES" sz="2400" dirty="0">
              <a:solidFill>
                <a:schemeClr val="tx1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A546FAB9-34CE-4990-8802-4D166D9C4C0A}"/>
              </a:ext>
            </a:extLst>
          </p:cNvPr>
          <p:cNvSpPr/>
          <p:nvPr/>
        </p:nvSpPr>
        <p:spPr bwMode="auto">
          <a:xfrm>
            <a:off x="4783209" y="327508"/>
            <a:ext cx="5593030" cy="3276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B4BA71C5-E9AF-4A3A-844E-FE242BA20111}"/>
              </a:ext>
            </a:extLst>
          </p:cNvPr>
          <p:cNvSpPr/>
          <p:nvPr/>
        </p:nvSpPr>
        <p:spPr bwMode="auto">
          <a:xfrm rot="21431307">
            <a:off x="9772634" y="1753828"/>
            <a:ext cx="531319" cy="5625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52" name="Group 63">
            <a:extLst>
              <a:ext uri="{FF2B5EF4-FFF2-40B4-BE49-F238E27FC236}">
                <a16:creationId xmlns:a16="http://schemas.microsoft.com/office/drawing/2014/main" id="{903B744F-DF0D-4D99-98E4-8214CD4184DB}"/>
              </a:ext>
            </a:extLst>
          </p:cNvPr>
          <p:cNvGrpSpPr>
            <a:grpSpLocks/>
          </p:cNvGrpSpPr>
          <p:nvPr/>
        </p:nvGrpSpPr>
        <p:grpSpPr bwMode="auto">
          <a:xfrm>
            <a:off x="1285272" y="326523"/>
            <a:ext cx="3351213" cy="1054100"/>
            <a:chOff x="1320" y="1085"/>
            <a:chExt cx="2111" cy="664"/>
          </a:xfrm>
        </p:grpSpPr>
        <p:sp>
          <p:nvSpPr>
            <p:cNvPr id="53" name="Rectangle 64">
              <a:extLst>
                <a:ext uri="{FF2B5EF4-FFF2-40B4-BE49-F238E27FC236}">
                  <a16:creationId xmlns:a16="http://schemas.microsoft.com/office/drawing/2014/main" id="{2C761FE4-F5D0-435F-BF1B-416435C81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1085"/>
              <a:ext cx="2111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54" name="Object 65">
              <a:extLst>
                <a:ext uri="{FF2B5EF4-FFF2-40B4-BE49-F238E27FC236}">
                  <a16:creationId xmlns:a16="http://schemas.microsoft.com/office/drawing/2014/main" id="{20ECB28C-22B0-4C8C-A692-D16559F747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8309041"/>
                </p:ext>
              </p:extLst>
            </p:nvPr>
          </p:nvGraphicFramePr>
          <p:xfrm>
            <a:off x="1463" y="1103"/>
            <a:ext cx="1859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44600" imgH="431800" progId="Equation.3">
                    <p:embed/>
                  </p:oleObj>
                </mc:Choice>
                <mc:Fallback>
                  <p:oleObj name="Ecuación" r:id="rId3" imgW="1244600" imgH="431800" progId="Equation.3">
                    <p:embed/>
                    <p:pic>
                      <p:nvPicPr>
                        <p:cNvPr id="48177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3" y="1103"/>
                          <a:ext cx="1859" cy="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Oval 9">
            <a:extLst>
              <a:ext uri="{FF2B5EF4-FFF2-40B4-BE49-F238E27FC236}">
                <a16:creationId xmlns:a16="http://schemas.microsoft.com/office/drawing/2014/main" id="{199073CD-36AF-4795-863E-4EA483D45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3673" y="857947"/>
            <a:ext cx="500063" cy="22352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endParaRPr lang="es-ES"/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37C4067B-B928-42AE-B974-268CD7813F3C}"/>
              </a:ext>
            </a:extLst>
          </p:cNvPr>
          <p:cNvGrpSpPr/>
          <p:nvPr/>
        </p:nvGrpSpPr>
        <p:grpSpPr>
          <a:xfrm>
            <a:off x="4961049" y="395899"/>
            <a:ext cx="5281797" cy="3105295"/>
            <a:chOff x="4898850" y="495559"/>
            <a:chExt cx="5281797" cy="3105295"/>
          </a:xfrm>
        </p:grpSpPr>
        <p:sp>
          <p:nvSpPr>
            <p:cNvPr id="57" name="Line 8">
              <a:extLst>
                <a:ext uri="{FF2B5EF4-FFF2-40B4-BE49-F238E27FC236}">
                  <a16:creationId xmlns:a16="http://schemas.microsoft.com/office/drawing/2014/main" id="{DF771A1D-9363-4BFA-BBB6-CF80D59490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2051" y="2113308"/>
              <a:ext cx="261769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01A44C61-3B26-402F-BF00-332CAE24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0066" y="1584669"/>
              <a:ext cx="2422301" cy="427038"/>
            </a:xfrm>
            <a:custGeom>
              <a:avLst/>
              <a:gdLst>
                <a:gd name="T0" fmla="*/ 0 w 1526"/>
                <a:gd name="T1" fmla="*/ 2147483646 h 269"/>
                <a:gd name="T2" fmla="*/ 2147483646 w 1526"/>
                <a:gd name="T3" fmla="*/ 2147483646 h 269"/>
                <a:gd name="T4" fmla="*/ 2147483646 w 1526"/>
                <a:gd name="T5" fmla="*/ 0 h 2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6" h="269">
                  <a:moveTo>
                    <a:pt x="0" y="269"/>
                  </a:moveTo>
                  <a:cubicBezTo>
                    <a:pt x="151" y="267"/>
                    <a:pt x="302" y="266"/>
                    <a:pt x="556" y="221"/>
                  </a:cubicBezTo>
                  <a:cubicBezTo>
                    <a:pt x="810" y="176"/>
                    <a:pt x="1168" y="88"/>
                    <a:pt x="1526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17">
              <a:extLst>
                <a:ext uri="{FF2B5EF4-FFF2-40B4-BE49-F238E27FC236}">
                  <a16:creationId xmlns:a16="http://schemas.microsoft.com/office/drawing/2014/main" id="{C38686A3-49D1-4377-96E3-E1C3ACB5A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4193" y="1036982"/>
              <a:ext cx="2300075" cy="868362"/>
            </a:xfrm>
            <a:custGeom>
              <a:avLst/>
              <a:gdLst>
                <a:gd name="T0" fmla="*/ 0 w 1449"/>
                <a:gd name="T1" fmla="*/ 2147483646 h 547"/>
                <a:gd name="T2" fmla="*/ 2147483646 w 1449"/>
                <a:gd name="T3" fmla="*/ 2147483646 h 547"/>
                <a:gd name="T4" fmla="*/ 2147483646 w 1449"/>
                <a:gd name="T5" fmla="*/ 0 h 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9" h="547">
                  <a:moveTo>
                    <a:pt x="0" y="547"/>
                  </a:moveTo>
                  <a:cubicBezTo>
                    <a:pt x="316" y="496"/>
                    <a:pt x="632" y="446"/>
                    <a:pt x="873" y="355"/>
                  </a:cubicBezTo>
                  <a:cubicBezTo>
                    <a:pt x="1114" y="264"/>
                    <a:pt x="1281" y="132"/>
                    <a:pt x="14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18">
              <a:extLst>
                <a:ext uri="{FF2B5EF4-FFF2-40B4-BE49-F238E27FC236}">
                  <a16:creationId xmlns:a16="http://schemas.microsoft.com/office/drawing/2014/main" id="{EC69A318-220F-4244-A3F4-743F06332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6733" y="533745"/>
              <a:ext cx="1787360" cy="1263649"/>
            </a:xfrm>
            <a:custGeom>
              <a:avLst/>
              <a:gdLst>
                <a:gd name="T0" fmla="*/ 0 w 1133"/>
                <a:gd name="T1" fmla="*/ 2147483646 h 873"/>
                <a:gd name="T2" fmla="*/ 2147483646 w 1133"/>
                <a:gd name="T3" fmla="*/ 2147483646 h 873"/>
                <a:gd name="T4" fmla="*/ 2147483646 w 1133"/>
                <a:gd name="T5" fmla="*/ 0 h 8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3" h="873">
                  <a:moveTo>
                    <a:pt x="0" y="873"/>
                  </a:moveTo>
                  <a:cubicBezTo>
                    <a:pt x="213" y="811"/>
                    <a:pt x="426" y="750"/>
                    <a:pt x="615" y="605"/>
                  </a:cubicBezTo>
                  <a:cubicBezTo>
                    <a:pt x="804" y="460"/>
                    <a:pt x="968" y="230"/>
                    <a:pt x="113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3DE54BE1-780A-4E8E-A6BE-177D3C733B6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45620" y="2216495"/>
              <a:ext cx="2422301" cy="427038"/>
            </a:xfrm>
            <a:custGeom>
              <a:avLst/>
              <a:gdLst>
                <a:gd name="T0" fmla="*/ 0 w 1526"/>
                <a:gd name="T1" fmla="*/ 2147483646 h 269"/>
                <a:gd name="T2" fmla="*/ 2147483646 w 1526"/>
                <a:gd name="T3" fmla="*/ 2147483646 h 269"/>
                <a:gd name="T4" fmla="*/ 2147483646 w 1526"/>
                <a:gd name="T5" fmla="*/ 0 h 2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6" h="269">
                  <a:moveTo>
                    <a:pt x="0" y="269"/>
                  </a:moveTo>
                  <a:cubicBezTo>
                    <a:pt x="151" y="267"/>
                    <a:pt x="302" y="266"/>
                    <a:pt x="556" y="221"/>
                  </a:cubicBezTo>
                  <a:cubicBezTo>
                    <a:pt x="810" y="176"/>
                    <a:pt x="1168" y="88"/>
                    <a:pt x="1526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29F7E047-37BF-48E3-A023-2E53A9F6658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3082" y="2278408"/>
              <a:ext cx="2300074" cy="868362"/>
            </a:xfrm>
            <a:custGeom>
              <a:avLst/>
              <a:gdLst>
                <a:gd name="T0" fmla="*/ 0 w 1449"/>
                <a:gd name="T1" fmla="*/ 2147483646 h 547"/>
                <a:gd name="T2" fmla="*/ 2147483646 w 1449"/>
                <a:gd name="T3" fmla="*/ 2147483646 h 547"/>
                <a:gd name="T4" fmla="*/ 2147483646 w 1449"/>
                <a:gd name="T5" fmla="*/ 0 h 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9" h="547">
                  <a:moveTo>
                    <a:pt x="0" y="547"/>
                  </a:moveTo>
                  <a:cubicBezTo>
                    <a:pt x="316" y="496"/>
                    <a:pt x="632" y="446"/>
                    <a:pt x="873" y="355"/>
                  </a:cubicBezTo>
                  <a:cubicBezTo>
                    <a:pt x="1114" y="264"/>
                    <a:pt x="1281" y="132"/>
                    <a:pt x="14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54812232-001F-43BF-B4D3-7496AD2D562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45620" y="2386358"/>
              <a:ext cx="1798472" cy="1214496"/>
            </a:xfrm>
            <a:custGeom>
              <a:avLst/>
              <a:gdLst>
                <a:gd name="T0" fmla="*/ 0 w 1133"/>
                <a:gd name="T1" fmla="*/ 2147483646 h 873"/>
                <a:gd name="T2" fmla="*/ 2147483646 w 1133"/>
                <a:gd name="T3" fmla="*/ 2147483646 h 873"/>
                <a:gd name="T4" fmla="*/ 2147483646 w 1133"/>
                <a:gd name="T5" fmla="*/ 0 h 8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3" h="873">
                  <a:moveTo>
                    <a:pt x="0" y="873"/>
                  </a:moveTo>
                  <a:cubicBezTo>
                    <a:pt x="213" y="811"/>
                    <a:pt x="426" y="750"/>
                    <a:pt x="615" y="605"/>
                  </a:cubicBezTo>
                  <a:cubicBezTo>
                    <a:pt x="804" y="460"/>
                    <a:pt x="968" y="230"/>
                    <a:pt x="113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2085145D-B19E-4C96-8E45-5B4127DB5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620" y="495559"/>
              <a:ext cx="1104608" cy="1245084"/>
            </a:xfrm>
            <a:custGeom>
              <a:avLst/>
              <a:gdLst>
                <a:gd name="T0" fmla="*/ 0 w 749"/>
                <a:gd name="T1" fmla="*/ 2147483646 h 893"/>
                <a:gd name="T2" fmla="*/ 2147483646 w 749"/>
                <a:gd name="T3" fmla="*/ 2147483646 h 893"/>
                <a:gd name="T4" fmla="*/ 2147483646 w 749"/>
                <a:gd name="T5" fmla="*/ 0 h 8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893">
                  <a:moveTo>
                    <a:pt x="0" y="893"/>
                  </a:moveTo>
                  <a:cubicBezTo>
                    <a:pt x="168" y="799"/>
                    <a:pt x="336" y="706"/>
                    <a:pt x="461" y="557"/>
                  </a:cubicBezTo>
                  <a:cubicBezTo>
                    <a:pt x="586" y="408"/>
                    <a:pt x="667" y="204"/>
                    <a:pt x="7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24">
              <a:extLst>
                <a:ext uri="{FF2B5EF4-FFF2-40B4-BE49-F238E27FC236}">
                  <a16:creationId xmlns:a16="http://schemas.microsoft.com/office/drawing/2014/main" id="{6E91DBA4-2B4B-4E51-92A3-E26295D8E9C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78955" y="2491133"/>
              <a:ext cx="1098559" cy="1062437"/>
            </a:xfrm>
            <a:custGeom>
              <a:avLst/>
              <a:gdLst>
                <a:gd name="T0" fmla="*/ 0 w 749"/>
                <a:gd name="T1" fmla="*/ 2147483646 h 893"/>
                <a:gd name="T2" fmla="*/ 2147483646 w 749"/>
                <a:gd name="T3" fmla="*/ 2147483646 h 893"/>
                <a:gd name="T4" fmla="*/ 2147483646 w 749"/>
                <a:gd name="T5" fmla="*/ 0 h 8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893">
                  <a:moveTo>
                    <a:pt x="0" y="893"/>
                  </a:moveTo>
                  <a:cubicBezTo>
                    <a:pt x="168" y="799"/>
                    <a:pt x="336" y="706"/>
                    <a:pt x="461" y="557"/>
                  </a:cubicBezTo>
                  <a:cubicBezTo>
                    <a:pt x="586" y="408"/>
                    <a:pt x="667" y="204"/>
                    <a:pt x="7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7D41FC6-F3A9-46F5-9F6A-FF3CFDFF09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10637" y="1787869"/>
              <a:ext cx="1863553" cy="725488"/>
              <a:chOff x="1087" y="1341"/>
              <a:chExt cx="1174" cy="457"/>
            </a:xfrm>
          </p:grpSpPr>
          <p:sp>
            <p:nvSpPr>
              <p:cNvPr id="105" name="AutoShape 67">
                <a:extLst>
                  <a:ext uri="{FF2B5EF4-FFF2-40B4-BE49-F238E27FC236}">
                    <a16:creationId xmlns:a16="http://schemas.microsoft.com/office/drawing/2014/main" id="{C12AC172-831B-4C71-BAD3-25C47191D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7" y="1341"/>
                <a:ext cx="680" cy="453"/>
              </a:xfrm>
              <a:prstGeom prst="cube">
                <a:avLst>
                  <a:gd name="adj" fmla="val 41773"/>
                </a:avLst>
              </a:prstGeom>
              <a:solidFill>
                <a:srgbClr val="3366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106" name="AutoShape 68">
                <a:extLst>
                  <a:ext uri="{FF2B5EF4-FFF2-40B4-BE49-F238E27FC236}">
                    <a16:creationId xmlns:a16="http://schemas.microsoft.com/office/drawing/2014/main" id="{20D4B1E0-97E9-4F6C-B462-B2ED0C13A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1" y="1341"/>
                <a:ext cx="680" cy="453"/>
              </a:xfrm>
              <a:prstGeom prst="cube">
                <a:avLst>
                  <a:gd name="adj" fmla="val 40296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107" name="Text Box 69">
                <a:extLst>
                  <a:ext uri="{FF2B5EF4-FFF2-40B4-BE49-F238E27FC236}">
                    <a16:creationId xmlns:a16="http://schemas.microsoft.com/office/drawing/2014/main" id="{6B8CC01E-C0CD-4C69-A05E-CD0D824D51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6" y="1531"/>
                <a:ext cx="31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08" name="Text Box 70">
                <a:extLst>
                  <a:ext uri="{FF2B5EF4-FFF2-40B4-BE49-F238E27FC236}">
                    <a16:creationId xmlns:a16="http://schemas.microsoft.com/office/drawing/2014/main" id="{89B73B8D-A4EE-467C-80AB-BF2400C8D3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8" y="1535"/>
                <a:ext cx="31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75" name="Group 72">
              <a:extLst>
                <a:ext uri="{FF2B5EF4-FFF2-40B4-BE49-F238E27FC236}">
                  <a16:creationId xmlns:a16="http://schemas.microsoft.com/office/drawing/2014/main" id="{91EC765A-88C6-41F3-A834-41148F45C936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9772698" y="1925982"/>
              <a:ext cx="407949" cy="422275"/>
              <a:chOff x="1420" y="3526"/>
              <a:chExt cx="257" cy="266"/>
            </a:xfrm>
          </p:grpSpPr>
          <p:sp>
            <p:nvSpPr>
              <p:cNvPr id="79" name="Line 73">
                <a:extLst>
                  <a:ext uri="{FF2B5EF4-FFF2-40B4-BE49-F238E27FC236}">
                    <a16:creationId xmlns:a16="http://schemas.microsoft.com/office/drawing/2014/main" id="{027D87BD-280C-4B2C-840E-CE69FE4002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2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92" name="Line 74">
                <a:extLst>
                  <a:ext uri="{FF2B5EF4-FFF2-40B4-BE49-F238E27FC236}">
                    <a16:creationId xmlns:a16="http://schemas.microsoft.com/office/drawing/2014/main" id="{F4587910-5BA1-4D4D-BFAE-638B749DC7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4" name="Oval 75">
                <a:extLst>
                  <a:ext uri="{FF2B5EF4-FFF2-40B4-BE49-F238E27FC236}">
                    <a16:creationId xmlns:a16="http://schemas.microsoft.com/office/drawing/2014/main" id="{50AE74F6-66DA-4BCA-8365-44BE6517A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  <p:sp>
          <p:nvSpPr>
            <p:cNvPr id="76" name="Freeform 92">
              <a:extLst>
                <a:ext uri="{FF2B5EF4-FFF2-40B4-BE49-F238E27FC236}">
                  <a16:creationId xmlns:a16="http://schemas.microsoft.com/office/drawing/2014/main" id="{51C06BBD-DFB2-4B43-97A8-5B38326668E0}"/>
                </a:ext>
              </a:extLst>
            </p:cNvPr>
            <p:cNvSpPr>
              <a:spLocks/>
            </p:cNvSpPr>
            <p:nvPr/>
          </p:nvSpPr>
          <p:spPr bwMode="auto">
            <a:xfrm rot="60000">
              <a:off x="7994382" y="1160807"/>
              <a:ext cx="142862" cy="1863726"/>
            </a:xfrm>
            <a:custGeom>
              <a:avLst/>
              <a:gdLst>
                <a:gd name="T0" fmla="*/ 2147483646 w 90"/>
                <a:gd name="T1" fmla="*/ 0 h 1174"/>
                <a:gd name="T2" fmla="*/ 2147483646 w 90"/>
                <a:gd name="T3" fmla="*/ 2147483646 h 1174"/>
                <a:gd name="T4" fmla="*/ 2147483646 w 90"/>
                <a:gd name="T5" fmla="*/ 2147483646 h 1174"/>
                <a:gd name="T6" fmla="*/ 2147483646 w 90"/>
                <a:gd name="T7" fmla="*/ 2147483646 h 1174"/>
                <a:gd name="T8" fmla="*/ 2147483646 w 90"/>
                <a:gd name="T9" fmla="*/ 2147483646 h 1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1174">
                  <a:moveTo>
                    <a:pt x="68" y="0"/>
                  </a:moveTo>
                  <a:cubicBezTo>
                    <a:pt x="46" y="110"/>
                    <a:pt x="24" y="221"/>
                    <a:pt x="13" y="321"/>
                  </a:cubicBezTo>
                  <a:cubicBezTo>
                    <a:pt x="2" y="421"/>
                    <a:pt x="0" y="504"/>
                    <a:pt x="2" y="598"/>
                  </a:cubicBezTo>
                  <a:cubicBezTo>
                    <a:pt x="4" y="692"/>
                    <a:pt x="9" y="790"/>
                    <a:pt x="24" y="886"/>
                  </a:cubicBezTo>
                  <a:cubicBezTo>
                    <a:pt x="39" y="982"/>
                    <a:pt x="79" y="1126"/>
                    <a:pt x="90" y="1174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77" name="Text Box 93">
              <a:extLst>
                <a:ext uri="{FF2B5EF4-FFF2-40B4-BE49-F238E27FC236}">
                  <a16:creationId xmlns:a16="http://schemas.microsoft.com/office/drawing/2014/main" id="{E6617B2D-B3DE-4B35-B9AE-77517FE02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8688" y="3055444"/>
              <a:ext cx="909521" cy="4749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>
                  <a:solidFill>
                    <a:srgbClr val="3333FF"/>
                  </a:solidFill>
                </a:rPr>
                <a:t>Espira</a:t>
              </a:r>
            </a:p>
          </p:txBody>
        </p:sp>
        <p:sp>
          <p:nvSpPr>
            <p:cNvPr id="78" name="Text Box 94">
              <a:extLst>
                <a:ext uri="{FF2B5EF4-FFF2-40B4-BE49-F238E27FC236}">
                  <a16:creationId xmlns:a16="http://schemas.microsoft.com/office/drawing/2014/main" id="{79EA7CDF-5997-4C65-B633-C59BB5DC9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8850" y="2631292"/>
              <a:ext cx="1845675" cy="5997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s-ES">
                  <a:solidFill>
                    <a:srgbClr val="3333FF"/>
                  </a:solidFill>
                </a:rPr>
                <a:t>Imán</a:t>
              </a:r>
            </a:p>
            <a:p>
              <a:pPr algn="ctr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s-ES">
                  <a:solidFill>
                    <a:srgbClr val="3333FF"/>
                  </a:solidFill>
                </a:rPr>
                <a:t>(Bobina con </a:t>
              </a:r>
              <a:r>
                <a:rPr lang="es-ES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>
                  <a:solidFill>
                    <a:srgbClr val="3333FF"/>
                  </a:solidFill>
                </a:rPr>
                <a:t>)</a:t>
              </a:r>
            </a:p>
          </p:txBody>
        </p:sp>
      </p:grpSp>
      <p:sp>
        <p:nvSpPr>
          <p:cNvPr id="109" name="Text Box 101">
            <a:extLst>
              <a:ext uri="{FF2B5EF4-FFF2-40B4-BE49-F238E27FC236}">
                <a16:creationId xmlns:a16="http://schemas.microsoft.com/office/drawing/2014/main" id="{1AC6FEFD-08D7-4704-9D7E-7C009D255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922" y="1605575"/>
            <a:ext cx="2857500" cy="1275213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/>
              <a:t>Explica la mayor parte de las observaciones</a:t>
            </a:r>
          </a:p>
        </p:txBody>
      </p: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A959EA83-9863-439B-9C4B-A996848F26DE}"/>
              </a:ext>
            </a:extLst>
          </p:cNvPr>
          <p:cNvGrpSpPr/>
          <p:nvPr/>
        </p:nvGrpSpPr>
        <p:grpSpPr>
          <a:xfrm>
            <a:off x="8057210" y="732102"/>
            <a:ext cx="839635" cy="2362770"/>
            <a:chOff x="7991474" y="830037"/>
            <a:chExt cx="839635" cy="2362770"/>
          </a:xfrm>
        </p:grpSpPr>
        <p:sp>
          <p:nvSpPr>
            <p:cNvPr id="111" name="Oval 9">
              <a:extLst>
                <a:ext uri="{FF2B5EF4-FFF2-40B4-BE49-F238E27FC236}">
                  <a16:creationId xmlns:a16="http://schemas.microsoft.com/office/drawing/2014/main" id="{66B7E806-4C82-41B9-9AAB-689623858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1474" y="957607"/>
              <a:ext cx="500063" cy="2235200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es-ES"/>
            </a:p>
          </p:txBody>
        </p:sp>
        <p:sp>
          <p:nvSpPr>
            <p:cNvPr id="112" name="Text Box 83">
              <a:extLst>
                <a:ext uri="{FF2B5EF4-FFF2-40B4-BE49-F238E27FC236}">
                  <a16:creationId xmlns:a16="http://schemas.microsoft.com/office/drawing/2014/main" id="{46B6BC2D-C5A3-4D1E-8077-3156DD174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1343" y="1125222"/>
              <a:ext cx="386942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/>
                <a:t>S</a:t>
              </a:r>
            </a:p>
          </p:txBody>
        </p:sp>
        <p:sp>
          <p:nvSpPr>
            <p:cNvPr id="113" name="Text Box 84">
              <a:extLst>
                <a:ext uri="{FF2B5EF4-FFF2-40B4-BE49-F238E27FC236}">
                  <a16:creationId xmlns:a16="http://schemas.microsoft.com/office/drawing/2014/main" id="{23D42CED-0407-4662-9840-D6595ACE6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6533" y="830037"/>
              <a:ext cx="404576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>
                  <a:solidFill>
                    <a:srgbClr val="008000"/>
                  </a:solidFill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7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70" grpId="0" animBg="1"/>
      <p:bldP spid="68" grpId="0"/>
      <p:bldP spid="103" grpId="0" animBg="1"/>
      <p:bldP spid="46" grpId="0"/>
      <p:bldP spid="47" grpId="0"/>
      <p:bldP spid="48" grpId="0"/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 41">
            <a:extLst>
              <a:ext uri="{FF2B5EF4-FFF2-40B4-BE49-F238E27FC236}">
                <a16:creationId xmlns:a16="http://schemas.microsoft.com/office/drawing/2014/main" id="{6A6148DE-9664-44A8-8331-65C633234FC0}"/>
              </a:ext>
            </a:extLst>
          </p:cNvPr>
          <p:cNvSpPr/>
          <p:nvPr/>
        </p:nvSpPr>
        <p:spPr bwMode="auto">
          <a:xfrm>
            <a:off x="1236944" y="335837"/>
            <a:ext cx="4524094" cy="429577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86142" name="Text Box 62"/>
          <p:cNvSpPr txBox="1">
            <a:spLocks noChangeArrowheads="1"/>
          </p:cNvSpPr>
          <p:nvPr/>
        </p:nvSpPr>
        <p:spPr bwMode="auto">
          <a:xfrm>
            <a:off x="6105883" y="364505"/>
            <a:ext cx="4267770" cy="16445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Se conocen como </a:t>
            </a:r>
            <a:r>
              <a:rPr lang="es-ES" sz="2400" b="1">
                <a:solidFill>
                  <a:schemeClr val="tx1"/>
                </a:solidFill>
              </a:rPr>
              <a:t>corrientes</a:t>
            </a:r>
            <a:r>
              <a:rPr lang="es-ES" sz="2400">
                <a:solidFill>
                  <a:schemeClr val="tx1"/>
                </a:solidFill>
              </a:rPr>
              <a:t> parásitas (si no se desean), turbillonarias (torbellinos),          de remolino, o </a:t>
            </a:r>
            <a:r>
              <a:rPr lang="es-ES" sz="2400" b="1">
                <a:solidFill>
                  <a:schemeClr val="tx1"/>
                </a:solidFill>
              </a:rPr>
              <a:t>de Foucault</a:t>
            </a:r>
            <a:endParaRPr lang="es-ES" sz="2400">
              <a:solidFill>
                <a:schemeClr val="tx1"/>
              </a:solidFill>
            </a:endParaRPr>
          </a:p>
        </p:txBody>
      </p:sp>
      <p:sp>
        <p:nvSpPr>
          <p:cNvPr id="686132" name="Freeform 52"/>
          <p:cNvSpPr>
            <a:spLocks/>
          </p:cNvSpPr>
          <p:nvPr/>
        </p:nvSpPr>
        <p:spPr bwMode="auto">
          <a:xfrm>
            <a:off x="3677779" y="427698"/>
            <a:ext cx="1308100" cy="3983038"/>
          </a:xfrm>
          <a:custGeom>
            <a:avLst/>
            <a:gdLst>
              <a:gd name="T0" fmla="*/ 0 w 824"/>
              <a:gd name="T1" fmla="*/ 0 h 2509"/>
              <a:gd name="T2" fmla="*/ 2147483646 w 824"/>
              <a:gd name="T3" fmla="*/ 2147483646 h 2509"/>
              <a:gd name="T4" fmla="*/ 2147483646 w 824"/>
              <a:gd name="T5" fmla="*/ 2147483646 h 2509"/>
              <a:gd name="T6" fmla="*/ 2147483646 w 824"/>
              <a:gd name="T7" fmla="*/ 2147483646 h 2509"/>
              <a:gd name="T8" fmla="*/ 0 w 824"/>
              <a:gd name="T9" fmla="*/ 0 h 25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24" h="2509">
                <a:moveTo>
                  <a:pt x="0" y="0"/>
                </a:moveTo>
                <a:lnTo>
                  <a:pt x="7" y="1969"/>
                </a:lnTo>
                <a:lnTo>
                  <a:pt x="824" y="2509"/>
                </a:lnTo>
                <a:lnTo>
                  <a:pt x="824" y="453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7367F36-702C-4C60-9521-9D29FBAACCEF}"/>
              </a:ext>
            </a:extLst>
          </p:cNvPr>
          <p:cNvGrpSpPr/>
          <p:nvPr/>
        </p:nvGrpSpPr>
        <p:grpSpPr>
          <a:xfrm>
            <a:off x="3901621" y="1135723"/>
            <a:ext cx="731838" cy="2570163"/>
            <a:chOff x="3845132" y="973798"/>
            <a:chExt cx="731838" cy="2570163"/>
          </a:xfrm>
        </p:grpSpPr>
        <p:sp>
          <p:nvSpPr>
            <p:cNvPr id="52263" name="Oval 4"/>
            <p:cNvSpPr>
              <a:spLocks noChangeArrowheads="1"/>
            </p:cNvSpPr>
            <p:nvPr/>
          </p:nvSpPr>
          <p:spPr bwMode="auto">
            <a:xfrm>
              <a:off x="3973720" y="1127786"/>
              <a:ext cx="500063" cy="2233613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52264" name="Oval 55"/>
            <p:cNvSpPr>
              <a:spLocks noChangeArrowheads="1"/>
            </p:cNvSpPr>
            <p:nvPr/>
          </p:nvSpPr>
          <p:spPr bwMode="auto">
            <a:xfrm>
              <a:off x="3845132" y="973798"/>
              <a:ext cx="731838" cy="2570163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52265" name="Oval 56"/>
            <p:cNvSpPr>
              <a:spLocks noChangeArrowheads="1"/>
            </p:cNvSpPr>
            <p:nvPr/>
          </p:nvSpPr>
          <p:spPr bwMode="auto">
            <a:xfrm>
              <a:off x="4105482" y="1257961"/>
              <a:ext cx="246063" cy="1909763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52266" name="Text Box 63"/>
          <p:cNvSpPr txBox="1">
            <a:spLocks noChangeArrowheads="1"/>
          </p:cNvSpPr>
          <p:nvPr/>
        </p:nvSpPr>
        <p:spPr bwMode="auto">
          <a:xfrm>
            <a:off x="4458834" y="576923"/>
            <a:ext cx="1344613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solidFill>
                  <a:srgbClr val="3333FF"/>
                </a:solidFill>
              </a:rPr>
              <a:t> ALTERNA</a:t>
            </a:r>
          </a:p>
          <a:p>
            <a:pPr eaLnBrk="1" hangingPunct="1">
              <a:spcBef>
                <a:spcPts val="0"/>
              </a:spcBef>
            </a:pPr>
            <a:r>
              <a:rPr lang="es-ES" sz="2400" baseline="-25000" dirty="0">
                <a:solidFill>
                  <a:srgbClr val="3333FF"/>
                </a:solidFill>
              </a:rPr>
              <a:t>   INDUCIDA</a:t>
            </a:r>
          </a:p>
          <a:p>
            <a:pPr eaLnBrk="1" hangingPunct="1">
              <a:spcBef>
                <a:spcPts val="0"/>
              </a:spcBef>
            </a:pPr>
            <a:r>
              <a:rPr lang="es-ES" sz="2400" baseline="-25000" dirty="0">
                <a:solidFill>
                  <a:srgbClr val="3333FF"/>
                </a:solidFill>
              </a:rPr>
              <a:t>   </a:t>
            </a:r>
          </a:p>
        </p:txBody>
      </p:sp>
      <p:sp>
        <p:nvSpPr>
          <p:cNvPr id="686141" name="Text Box 61"/>
          <p:cNvSpPr txBox="1">
            <a:spLocks noChangeArrowheads="1"/>
          </p:cNvSpPr>
          <p:nvPr/>
        </p:nvSpPr>
        <p:spPr bwMode="auto">
          <a:xfrm>
            <a:off x="6105883" y="4465516"/>
            <a:ext cx="4267770" cy="2377249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no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Si no interesa calentar, se  añaden líneas de material </a:t>
            </a:r>
            <a:r>
              <a:rPr lang="es-ES" sz="2400">
                <a:solidFill>
                  <a:schemeClr val="tx1"/>
                </a:solidFill>
              </a:rPr>
              <a:t>aislante radialmente para reducir la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es-ES" sz="2400">
                <a:solidFill>
                  <a:schemeClr val="tx1"/>
                </a:solidFill>
              </a:rPr>
              <a:t>con el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de polarización que aparece en </a:t>
            </a:r>
            <a:r>
              <a:rPr lang="es-ES" sz="2400" dirty="0">
                <a:solidFill>
                  <a:schemeClr val="tx1"/>
                </a:solidFill>
              </a:rPr>
              <a:t>los </a:t>
            </a:r>
            <a:r>
              <a:rPr lang="es-ES" sz="2400">
                <a:solidFill>
                  <a:schemeClr val="tx1"/>
                </a:solidFill>
              </a:rPr>
              <a:t>segmentos conductores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3105767" y="581686"/>
            <a:ext cx="2472034" cy="3487737"/>
            <a:chOff x="3563760" y="2073852"/>
            <a:chExt cx="2472034" cy="3487737"/>
          </a:xfrm>
        </p:grpSpPr>
        <p:sp>
          <p:nvSpPr>
            <p:cNvPr id="52255" name="Line 3"/>
            <p:cNvSpPr>
              <a:spLocks noChangeShapeType="1"/>
            </p:cNvSpPr>
            <p:nvPr/>
          </p:nvSpPr>
          <p:spPr bwMode="auto">
            <a:xfrm>
              <a:off x="3646703" y="3902652"/>
              <a:ext cx="238909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256" name="Freeform 8"/>
            <p:cNvSpPr>
              <a:spLocks/>
            </p:cNvSpPr>
            <p:nvPr/>
          </p:nvSpPr>
          <p:spPr bwMode="auto">
            <a:xfrm>
              <a:off x="3608210" y="3374014"/>
              <a:ext cx="2422525" cy="427037"/>
            </a:xfrm>
            <a:custGeom>
              <a:avLst/>
              <a:gdLst>
                <a:gd name="T0" fmla="*/ 0 w 1526"/>
                <a:gd name="T1" fmla="*/ 2147483646 h 269"/>
                <a:gd name="T2" fmla="*/ 2147483646 w 1526"/>
                <a:gd name="T3" fmla="*/ 2147483646 h 269"/>
                <a:gd name="T4" fmla="*/ 2147483646 w 1526"/>
                <a:gd name="T5" fmla="*/ 0 h 2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6" h="269">
                  <a:moveTo>
                    <a:pt x="0" y="269"/>
                  </a:moveTo>
                  <a:cubicBezTo>
                    <a:pt x="151" y="267"/>
                    <a:pt x="302" y="266"/>
                    <a:pt x="556" y="221"/>
                  </a:cubicBezTo>
                  <a:cubicBezTo>
                    <a:pt x="810" y="176"/>
                    <a:pt x="1168" y="88"/>
                    <a:pt x="1526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257" name="Freeform 9"/>
            <p:cNvSpPr>
              <a:spLocks/>
            </p:cNvSpPr>
            <p:nvPr/>
          </p:nvSpPr>
          <p:spPr bwMode="auto">
            <a:xfrm>
              <a:off x="3592335" y="2826327"/>
              <a:ext cx="2300288" cy="868362"/>
            </a:xfrm>
            <a:custGeom>
              <a:avLst/>
              <a:gdLst>
                <a:gd name="T0" fmla="*/ 0 w 1449"/>
                <a:gd name="T1" fmla="*/ 2147483646 h 547"/>
                <a:gd name="T2" fmla="*/ 2147483646 w 1449"/>
                <a:gd name="T3" fmla="*/ 2147483646 h 547"/>
                <a:gd name="T4" fmla="*/ 2147483646 w 1449"/>
                <a:gd name="T5" fmla="*/ 0 h 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9" h="547">
                  <a:moveTo>
                    <a:pt x="0" y="547"/>
                  </a:moveTo>
                  <a:cubicBezTo>
                    <a:pt x="316" y="496"/>
                    <a:pt x="632" y="446"/>
                    <a:pt x="873" y="355"/>
                  </a:cubicBezTo>
                  <a:cubicBezTo>
                    <a:pt x="1114" y="264"/>
                    <a:pt x="1281" y="132"/>
                    <a:pt x="14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258" name="Freeform 10"/>
            <p:cNvSpPr>
              <a:spLocks/>
            </p:cNvSpPr>
            <p:nvPr/>
          </p:nvSpPr>
          <p:spPr bwMode="auto">
            <a:xfrm>
              <a:off x="3574873" y="2200852"/>
              <a:ext cx="1798638" cy="1385887"/>
            </a:xfrm>
            <a:custGeom>
              <a:avLst/>
              <a:gdLst>
                <a:gd name="T0" fmla="*/ 0 w 1133"/>
                <a:gd name="T1" fmla="*/ 2147483646 h 873"/>
                <a:gd name="T2" fmla="*/ 2147483646 w 1133"/>
                <a:gd name="T3" fmla="*/ 2147483646 h 873"/>
                <a:gd name="T4" fmla="*/ 2147483646 w 1133"/>
                <a:gd name="T5" fmla="*/ 0 h 8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3" h="873">
                  <a:moveTo>
                    <a:pt x="0" y="873"/>
                  </a:moveTo>
                  <a:cubicBezTo>
                    <a:pt x="213" y="811"/>
                    <a:pt x="426" y="750"/>
                    <a:pt x="615" y="605"/>
                  </a:cubicBezTo>
                  <a:cubicBezTo>
                    <a:pt x="804" y="460"/>
                    <a:pt x="968" y="230"/>
                    <a:pt x="113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259" name="Freeform 11"/>
            <p:cNvSpPr>
              <a:spLocks/>
            </p:cNvSpPr>
            <p:nvPr/>
          </p:nvSpPr>
          <p:spPr bwMode="auto">
            <a:xfrm flipV="1">
              <a:off x="3597098" y="3961389"/>
              <a:ext cx="2422525" cy="427037"/>
            </a:xfrm>
            <a:custGeom>
              <a:avLst/>
              <a:gdLst>
                <a:gd name="T0" fmla="*/ 0 w 1526"/>
                <a:gd name="T1" fmla="*/ 2147483646 h 269"/>
                <a:gd name="T2" fmla="*/ 2147483646 w 1526"/>
                <a:gd name="T3" fmla="*/ 2147483646 h 269"/>
                <a:gd name="T4" fmla="*/ 2147483646 w 1526"/>
                <a:gd name="T5" fmla="*/ 0 h 2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6" h="269">
                  <a:moveTo>
                    <a:pt x="0" y="269"/>
                  </a:moveTo>
                  <a:cubicBezTo>
                    <a:pt x="151" y="267"/>
                    <a:pt x="302" y="266"/>
                    <a:pt x="556" y="221"/>
                  </a:cubicBezTo>
                  <a:cubicBezTo>
                    <a:pt x="810" y="176"/>
                    <a:pt x="1168" y="88"/>
                    <a:pt x="1526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260" name="Freeform 12"/>
            <p:cNvSpPr>
              <a:spLocks/>
            </p:cNvSpPr>
            <p:nvPr/>
          </p:nvSpPr>
          <p:spPr bwMode="auto">
            <a:xfrm flipV="1">
              <a:off x="3581223" y="4067752"/>
              <a:ext cx="2300288" cy="868362"/>
            </a:xfrm>
            <a:custGeom>
              <a:avLst/>
              <a:gdLst>
                <a:gd name="T0" fmla="*/ 0 w 1449"/>
                <a:gd name="T1" fmla="*/ 2147483646 h 547"/>
                <a:gd name="T2" fmla="*/ 2147483646 w 1449"/>
                <a:gd name="T3" fmla="*/ 2147483646 h 547"/>
                <a:gd name="T4" fmla="*/ 2147483646 w 1449"/>
                <a:gd name="T5" fmla="*/ 0 h 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9" h="547">
                  <a:moveTo>
                    <a:pt x="0" y="547"/>
                  </a:moveTo>
                  <a:cubicBezTo>
                    <a:pt x="316" y="496"/>
                    <a:pt x="632" y="446"/>
                    <a:pt x="873" y="355"/>
                  </a:cubicBezTo>
                  <a:cubicBezTo>
                    <a:pt x="1114" y="264"/>
                    <a:pt x="1281" y="132"/>
                    <a:pt x="14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261" name="Freeform 13"/>
            <p:cNvSpPr>
              <a:spLocks/>
            </p:cNvSpPr>
            <p:nvPr/>
          </p:nvSpPr>
          <p:spPr bwMode="auto">
            <a:xfrm flipV="1">
              <a:off x="3563760" y="4175702"/>
              <a:ext cx="1798638" cy="1385887"/>
            </a:xfrm>
            <a:custGeom>
              <a:avLst/>
              <a:gdLst>
                <a:gd name="T0" fmla="*/ 0 w 1133"/>
                <a:gd name="T1" fmla="*/ 2147483646 h 873"/>
                <a:gd name="T2" fmla="*/ 2147483646 w 1133"/>
                <a:gd name="T3" fmla="*/ 2147483646 h 873"/>
                <a:gd name="T4" fmla="*/ 2147483646 w 1133"/>
                <a:gd name="T5" fmla="*/ 0 h 8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3" h="873">
                  <a:moveTo>
                    <a:pt x="0" y="873"/>
                  </a:moveTo>
                  <a:cubicBezTo>
                    <a:pt x="213" y="811"/>
                    <a:pt x="426" y="750"/>
                    <a:pt x="615" y="605"/>
                  </a:cubicBezTo>
                  <a:cubicBezTo>
                    <a:pt x="804" y="460"/>
                    <a:pt x="968" y="230"/>
                    <a:pt x="113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262" name="Freeform 14"/>
            <p:cNvSpPr>
              <a:spLocks/>
            </p:cNvSpPr>
            <p:nvPr/>
          </p:nvSpPr>
          <p:spPr bwMode="auto">
            <a:xfrm>
              <a:off x="3563760" y="2073852"/>
              <a:ext cx="1189038" cy="1417637"/>
            </a:xfrm>
            <a:custGeom>
              <a:avLst/>
              <a:gdLst>
                <a:gd name="T0" fmla="*/ 0 w 749"/>
                <a:gd name="T1" fmla="*/ 2147483646 h 893"/>
                <a:gd name="T2" fmla="*/ 2147483646 w 749"/>
                <a:gd name="T3" fmla="*/ 2147483646 h 893"/>
                <a:gd name="T4" fmla="*/ 2147483646 w 749"/>
                <a:gd name="T5" fmla="*/ 0 h 8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893">
                  <a:moveTo>
                    <a:pt x="0" y="893"/>
                  </a:moveTo>
                  <a:cubicBezTo>
                    <a:pt x="168" y="799"/>
                    <a:pt x="336" y="706"/>
                    <a:pt x="461" y="557"/>
                  </a:cubicBezTo>
                  <a:cubicBezTo>
                    <a:pt x="586" y="408"/>
                    <a:pt x="667" y="204"/>
                    <a:pt x="7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2231" name="Group 39"/>
          <p:cNvGrpSpPr>
            <a:grpSpLocks/>
          </p:cNvGrpSpPr>
          <p:nvPr/>
        </p:nvGrpSpPr>
        <p:grpSpPr bwMode="auto">
          <a:xfrm>
            <a:off x="1366379" y="2107124"/>
            <a:ext cx="1468438" cy="896938"/>
            <a:chOff x="1123" y="1412"/>
            <a:chExt cx="925" cy="565"/>
          </a:xfrm>
        </p:grpSpPr>
        <p:sp>
          <p:nvSpPr>
            <p:cNvPr id="52247" name="Rectangle 40"/>
            <p:cNvSpPr>
              <a:spLocks noChangeArrowheads="1"/>
            </p:cNvSpPr>
            <p:nvPr/>
          </p:nvSpPr>
          <p:spPr bwMode="auto">
            <a:xfrm rot="10800000">
              <a:off x="1123" y="1452"/>
              <a:ext cx="925" cy="269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52248" name="Line 41"/>
            <p:cNvSpPr>
              <a:spLocks noChangeShapeType="1"/>
            </p:cNvSpPr>
            <p:nvPr/>
          </p:nvSpPr>
          <p:spPr bwMode="auto">
            <a:xfrm rot="10800000">
              <a:off x="1965" y="1732"/>
              <a:ext cx="0" cy="24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49" name="Line 42"/>
            <p:cNvSpPr>
              <a:spLocks noChangeShapeType="1"/>
            </p:cNvSpPr>
            <p:nvPr/>
          </p:nvSpPr>
          <p:spPr bwMode="auto">
            <a:xfrm>
              <a:off x="1823" y="1420"/>
              <a:ext cx="45" cy="33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50" name="Line 43"/>
            <p:cNvSpPr>
              <a:spLocks noChangeShapeType="1"/>
            </p:cNvSpPr>
            <p:nvPr/>
          </p:nvSpPr>
          <p:spPr bwMode="auto">
            <a:xfrm>
              <a:off x="1697" y="1412"/>
              <a:ext cx="45" cy="33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51" name="Line 44"/>
            <p:cNvSpPr>
              <a:spLocks noChangeShapeType="1"/>
            </p:cNvSpPr>
            <p:nvPr/>
          </p:nvSpPr>
          <p:spPr bwMode="auto">
            <a:xfrm>
              <a:off x="1572" y="1414"/>
              <a:ext cx="4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52" name="Line 45"/>
            <p:cNvSpPr>
              <a:spLocks noChangeShapeType="1"/>
            </p:cNvSpPr>
            <p:nvPr/>
          </p:nvSpPr>
          <p:spPr bwMode="auto">
            <a:xfrm>
              <a:off x="1446" y="1414"/>
              <a:ext cx="4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53" name="Line 46"/>
            <p:cNvSpPr>
              <a:spLocks noChangeShapeType="1"/>
            </p:cNvSpPr>
            <p:nvPr/>
          </p:nvSpPr>
          <p:spPr bwMode="auto">
            <a:xfrm>
              <a:off x="1321" y="1414"/>
              <a:ext cx="4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54" name="Line 47"/>
            <p:cNvSpPr>
              <a:spLocks noChangeShapeType="1"/>
            </p:cNvSpPr>
            <p:nvPr/>
          </p:nvSpPr>
          <p:spPr bwMode="auto">
            <a:xfrm rot="10800000">
              <a:off x="1205" y="1413"/>
              <a:ext cx="0" cy="56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686140" name="Text Box 60"/>
          <p:cNvSpPr txBox="1">
            <a:spLocks noChangeArrowheads="1"/>
          </p:cNvSpPr>
          <p:nvPr/>
        </p:nvSpPr>
        <p:spPr bwMode="auto">
          <a:xfrm>
            <a:off x="1450281" y="1489612"/>
            <a:ext cx="127737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>
                <a:solidFill>
                  <a:srgbClr val="3333FF"/>
                </a:solidFill>
              </a:rPr>
              <a:t>ALTERNA</a:t>
            </a:r>
          </a:p>
        </p:txBody>
      </p:sp>
      <p:sp>
        <p:nvSpPr>
          <p:cNvPr id="686151" name="Text Box 71"/>
          <p:cNvSpPr txBox="1">
            <a:spLocks noChangeArrowheads="1"/>
          </p:cNvSpPr>
          <p:nvPr/>
        </p:nvSpPr>
        <p:spPr bwMode="auto">
          <a:xfrm>
            <a:off x="1497777" y="2788485"/>
            <a:ext cx="129142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</a:rPr>
              <a:t>V</a:t>
            </a:r>
            <a:r>
              <a:rPr lang="es-ES" sz="2400" baseline="-25000">
                <a:solidFill>
                  <a:srgbClr val="3333FF"/>
                </a:solidFill>
              </a:rPr>
              <a:t>ALTERNA</a:t>
            </a:r>
            <a:endParaRPr lang="es-ES" sz="2400">
              <a:solidFill>
                <a:srgbClr val="3333FF"/>
              </a:solidFill>
            </a:endParaRPr>
          </a:p>
        </p:txBody>
      </p:sp>
      <p:sp>
        <p:nvSpPr>
          <p:cNvPr id="54298" name="Text Box 53"/>
          <p:cNvSpPr txBox="1">
            <a:spLocks noChangeArrowheads="1"/>
          </p:cNvSpPr>
          <p:nvPr/>
        </p:nvSpPr>
        <p:spPr bwMode="auto">
          <a:xfrm>
            <a:off x="1384351" y="4756185"/>
            <a:ext cx="4246602" cy="208658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/>
              <a:t>Hay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baseline="-25000" dirty="0">
                <a:solidFill>
                  <a:schemeClr val="tx1"/>
                </a:solidFill>
              </a:rPr>
              <a:t>INDUCIDO</a:t>
            </a:r>
            <a:r>
              <a:rPr lang="es-ES" sz="2400" b="1" dirty="0"/>
              <a:t> </a:t>
            </a:r>
            <a:r>
              <a:rPr lang="es-ES" sz="2400" dirty="0"/>
              <a:t>en toda la lámina (su componente), en sentido horario o antihorario, alternativamente. Se crean </a:t>
            </a:r>
            <a:r>
              <a:rPr lang="es-ES" sz="2400" dirty="0">
                <a:solidFill>
                  <a:schemeClr val="tx1"/>
                </a:solidFill>
              </a:rPr>
              <a:t>corrientes alternas cerradas</a:t>
            </a:r>
            <a:endParaRPr lang="es-ES" sz="2400" baseline="-25000" dirty="0">
              <a:solidFill>
                <a:schemeClr val="tx1"/>
              </a:solidFill>
            </a:endParaRP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2361743" y="938874"/>
            <a:ext cx="1327071" cy="536549"/>
            <a:chOff x="2984757" y="2353659"/>
            <a:chExt cx="1326067" cy="536923"/>
          </a:xfrm>
        </p:grpSpPr>
        <p:sp>
          <p:nvSpPr>
            <p:cNvPr id="52245" name="Text Box 60"/>
            <p:cNvSpPr txBox="1">
              <a:spLocks noChangeArrowheads="1"/>
            </p:cNvSpPr>
            <p:nvPr/>
          </p:nvSpPr>
          <p:spPr bwMode="auto">
            <a:xfrm>
              <a:off x="2984757" y="2353659"/>
              <a:ext cx="1326067" cy="536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B</a:t>
              </a:r>
              <a:r>
                <a:rPr lang="es-ES" sz="2400" baseline="-25000">
                  <a:solidFill>
                    <a:srgbClr val="3333FF"/>
                  </a:solidFill>
                </a:rPr>
                <a:t>ALTERNO</a:t>
              </a:r>
            </a:p>
          </p:txBody>
        </p:sp>
        <p:cxnSp>
          <p:nvCxnSpPr>
            <p:cNvPr id="52246" name="Conector recto de flecha 2"/>
            <p:cNvCxnSpPr>
              <a:cxnSpLocks noChangeShapeType="1"/>
            </p:cNvCxnSpPr>
            <p:nvPr/>
          </p:nvCxnSpPr>
          <p:spPr bwMode="auto">
            <a:xfrm>
              <a:off x="3052585" y="2431039"/>
              <a:ext cx="269875" cy="0"/>
            </a:xfrm>
            <a:prstGeom prst="straightConnector1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sp>
        <p:nvSpPr>
          <p:cNvPr id="54294" name="Text Box 58"/>
          <p:cNvSpPr txBox="1">
            <a:spLocks noChangeArrowheads="1"/>
          </p:cNvSpPr>
          <p:nvPr/>
        </p:nvSpPr>
        <p:spPr bwMode="auto">
          <a:xfrm>
            <a:off x="6767892" y="3242865"/>
            <a:ext cx="2973534" cy="53644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Cocina de Inducción</a:t>
            </a:r>
          </a:p>
        </p:txBody>
      </p:sp>
      <p:sp>
        <p:nvSpPr>
          <p:cNvPr id="52244" name="Text Box 59"/>
          <p:cNvSpPr txBox="1">
            <a:spLocks noChangeArrowheads="1"/>
          </p:cNvSpPr>
          <p:nvPr/>
        </p:nvSpPr>
        <p:spPr bwMode="auto">
          <a:xfrm>
            <a:off x="5844289" y="3790419"/>
            <a:ext cx="490741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008000"/>
                </a:solidFill>
              </a:rPr>
              <a:t>(La lámina es la base de la sartén</a:t>
            </a:r>
            <a:r>
              <a:rPr lang="es-ES" sz="2400" dirty="0">
                <a:solidFill>
                  <a:srgbClr val="008000"/>
                </a:solidFill>
              </a:rPr>
              <a:t>)</a:t>
            </a:r>
          </a:p>
        </p:txBody>
      </p:sp>
      <p:sp>
        <p:nvSpPr>
          <p:cNvPr id="52242" name="Flecha derecha 5"/>
          <p:cNvSpPr>
            <a:spLocks noChangeArrowheads="1"/>
          </p:cNvSpPr>
          <p:nvPr/>
        </p:nvSpPr>
        <p:spPr bwMode="auto">
          <a:xfrm rot="5400000">
            <a:off x="8073938" y="2620878"/>
            <a:ext cx="314892" cy="75705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stealth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52238" name="Text Box 71"/>
          <p:cNvSpPr txBox="1">
            <a:spLocks noChangeArrowheads="1"/>
          </p:cNvSpPr>
          <p:nvPr/>
        </p:nvSpPr>
        <p:spPr bwMode="auto">
          <a:xfrm>
            <a:off x="1233028" y="3288249"/>
            <a:ext cx="1723847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008000"/>
                </a:solidFill>
              </a:rPr>
              <a:t>Bobina Fija</a:t>
            </a:r>
          </a:p>
        </p:txBody>
      </p:sp>
      <p:sp>
        <p:nvSpPr>
          <p:cNvPr id="48" name="Text Box 71"/>
          <p:cNvSpPr txBox="1">
            <a:spLocks noChangeArrowheads="1"/>
          </p:cNvSpPr>
          <p:nvPr/>
        </p:nvSpPr>
        <p:spPr bwMode="auto">
          <a:xfrm>
            <a:off x="2826622" y="3773361"/>
            <a:ext cx="1752782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008000"/>
                </a:solidFill>
              </a:rPr>
              <a:t>Lámina conductora</a:t>
            </a: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6184278" y="1999512"/>
            <a:ext cx="408044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b="1">
                <a:solidFill>
                  <a:srgbClr val="FF0000"/>
                </a:solidFill>
              </a:rPr>
              <a:t> </a:t>
            </a:r>
            <a:r>
              <a:rPr lang="es-ES" sz="2400">
                <a:solidFill>
                  <a:srgbClr val="FF0000"/>
                </a:solidFill>
              </a:rPr>
              <a:t>(calientan la lámina debido a la resistencia de esta)</a:t>
            </a:r>
          </a:p>
        </p:txBody>
      </p:sp>
    </p:spTree>
    <p:extLst>
      <p:ext uri="{BB962C8B-B14F-4D97-AF65-F5344CB8AC3E}">
        <p14:creationId xmlns:p14="http://schemas.microsoft.com/office/powerpoint/2010/main" val="105267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86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86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86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86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8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2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2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8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68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686142" grpId="0" animBg="1"/>
      <p:bldP spid="686132" grpId="0" animBg="1"/>
      <p:bldP spid="52266" grpId="0"/>
      <p:bldP spid="686141" grpId="0" animBg="1"/>
      <p:bldP spid="686140" grpId="0"/>
      <p:bldP spid="686151" grpId="0"/>
      <p:bldP spid="54298" grpId="0" animBg="1"/>
      <p:bldP spid="54294" grpId="0" animBg="1"/>
      <p:bldP spid="52244" grpId="0"/>
      <p:bldP spid="52242" grpId="0" animBg="1"/>
      <p:bldP spid="52238" grpId="0"/>
      <p:bldP spid="48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ChangeArrowheads="1"/>
          </p:cNvSpPr>
          <p:nvPr/>
        </p:nvSpPr>
        <p:spPr bwMode="auto">
          <a:xfrm>
            <a:off x="1443669" y="3670769"/>
            <a:ext cx="4317370" cy="13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6000" tIns="118800" rIns="126000" bIns="1188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80975" algn="r"/>
                <a:tab pos="2700338" algn="ctr"/>
                <a:tab pos="5400675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36613" indent="-322263">
              <a:spcBef>
                <a:spcPct val="20000"/>
              </a:spcBef>
              <a:buChar char="–"/>
              <a:tabLst>
                <a:tab pos="180975" algn="r"/>
                <a:tab pos="2700338" algn="ctr"/>
                <a:tab pos="5400675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85875" indent="-257175">
              <a:spcBef>
                <a:spcPct val="20000"/>
              </a:spcBef>
              <a:buChar char="•"/>
              <a:tabLst>
                <a:tab pos="180975" algn="r"/>
                <a:tab pos="2700338" algn="ctr"/>
                <a:tab pos="5400675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00225" indent="-257175">
              <a:spcBef>
                <a:spcPct val="20000"/>
              </a:spcBef>
              <a:buChar char="–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14575" indent="-257175">
              <a:spcBef>
                <a:spcPct val="20000"/>
              </a:spcBef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71775" indent="-257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28975" indent="-257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86175" indent="-257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43375" indent="-257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CAMPOS MAGNÉTICOS VARIABLES EN EL TIEMPO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60491" name="Text Box 11"/>
          <p:cNvSpPr txBox="1">
            <a:spLocks noChangeArrowheads="1"/>
          </p:cNvSpPr>
          <p:nvPr/>
        </p:nvSpPr>
        <p:spPr bwMode="auto">
          <a:xfrm>
            <a:off x="3785314" y="364091"/>
            <a:ext cx="29971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rgbClr val="008000"/>
                </a:solidFill>
              </a:rPr>
              <a:t>EFECTO </a:t>
            </a:r>
            <a:r>
              <a:rPr lang="es-ES" sz="2400" b="1">
                <a:solidFill>
                  <a:srgbClr val="008000"/>
                </a:solidFill>
                <a:sym typeface="Symbol" panose="05050102010706020507" pitchFamily="18" charset="2"/>
              </a:rPr>
              <a:t> </a:t>
            </a:r>
            <a:r>
              <a:rPr lang="es-ES" sz="2400" b="1">
                <a:solidFill>
                  <a:srgbClr val="008000"/>
                </a:solidFill>
              </a:rPr>
              <a:t>CAUSA</a:t>
            </a:r>
          </a:p>
        </p:txBody>
      </p:sp>
      <p:sp>
        <p:nvSpPr>
          <p:cNvPr id="11296" name="Text Box 78"/>
          <p:cNvSpPr txBox="1">
            <a:spLocks noChangeArrowheads="1"/>
          </p:cNvSpPr>
          <p:nvPr/>
        </p:nvSpPr>
        <p:spPr bwMode="auto">
          <a:xfrm>
            <a:off x="5938345" y="3668142"/>
            <a:ext cx="4435389" cy="13680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Así el flujo depende de </a:t>
            </a:r>
            <a:r>
              <a:rPr lang="es-ES" sz="2400">
                <a:solidFill>
                  <a:schemeClr val="tx1"/>
                </a:solidFill>
              </a:rPr>
              <a:t>t,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la </a:t>
            </a:r>
            <a:r>
              <a:rPr lang="es-ES" sz="2400" dirty="0">
                <a:solidFill>
                  <a:schemeClr val="tx1"/>
                </a:solidFill>
              </a:rPr>
              <a:t>derivada no </a:t>
            </a:r>
            <a:r>
              <a:rPr lang="es-ES" sz="2400">
                <a:solidFill>
                  <a:schemeClr val="tx1"/>
                </a:solidFill>
              </a:rPr>
              <a:t>es nula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y </a:t>
            </a:r>
            <a:r>
              <a:rPr lang="es-ES" sz="2400" dirty="0">
                <a:solidFill>
                  <a:schemeClr val="tx1"/>
                </a:solidFill>
              </a:rPr>
              <a:t>debe existir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</a:p>
        </p:txBody>
      </p:sp>
      <p:grpSp>
        <p:nvGrpSpPr>
          <p:cNvPr id="11273" name="Group 81"/>
          <p:cNvGrpSpPr>
            <a:grpSpLocks/>
          </p:cNvGrpSpPr>
          <p:nvPr/>
        </p:nvGrpSpPr>
        <p:grpSpPr bwMode="auto">
          <a:xfrm>
            <a:off x="4093268" y="900245"/>
            <a:ext cx="3351213" cy="1147763"/>
            <a:chOff x="1320" y="1067"/>
            <a:chExt cx="2111" cy="723"/>
          </a:xfrm>
        </p:grpSpPr>
        <p:sp>
          <p:nvSpPr>
            <p:cNvPr id="11294" name="Rectangle 82"/>
            <p:cNvSpPr>
              <a:spLocks noChangeArrowheads="1"/>
            </p:cNvSpPr>
            <p:nvPr/>
          </p:nvSpPr>
          <p:spPr bwMode="auto">
            <a:xfrm>
              <a:off x="1320" y="1085"/>
              <a:ext cx="2111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11295" name="Object 83"/>
            <p:cNvGraphicFramePr>
              <a:graphicFrameLocks noChangeAspect="1"/>
            </p:cNvGraphicFramePr>
            <p:nvPr/>
          </p:nvGraphicFramePr>
          <p:xfrm>
            <a:off x="1381" y="1067"/>
            <a:ext cx="2023" cy="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31366" imgH="444307" progId="Equation.3">
                    <p:embed/>
                  </p:oleObj>
                </mc:Choice>
                <mc:Fallback>
                  <p:oleObj name="Ecuación" r:id="rId3" imgW="1231366" imgH="444307" progId="Equation.3">
                    <p:embed/>
                    <p:pic>
                      <p:nvPicPr>
                        <p:cNvPr id="11295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1" y="1067"/>
                          <a:ext cx="2023" cy="7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" name="Text Box 84"/>
          <p:cNvSpPr txBox="1">
            <a:spLocks noChangeArrowheads="1"/>
          </p:cNvSpPr>
          <p:nvPr/>
        </p:nvSpPr>
        <p:spPr bwMode="auto">
          <a:xfrm>
            <a:off x="5509719" y="2149638"/>
            <a:ext cx="708519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≠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1453193" y="2877756"/>
            <a:ext cx="2658965" cy="671050"/>
          </a:xfrm>
          <a:prstGeom prst="rect">
            <a:avLst/>
          </a:prstGeom>
          <a:solidFill>
            <a:srgbClr val="6666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26000" tIns="154800" rIns="126000" bIns="144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s-ES" sz="2400">
                <a:solidFill>
                  <a:srgbClr val="FFFFFF"/>
                </a:solidFill>
                <a:sym typeface="Symbol" panose="05050102010706020507" pitchFamily="18" charset="2"/>
              </a:rPr>
              <a:t>2ª FUENTE DE </a:t>
            </a:r>
            <a:r>
              <a:rPr lang="es-ES" sz="2400" b="1">
                <a:solidFill>
                  <a:srgbClr val="FFFFFF"/>
                </a:solidFill>
                <a:sym typeface="Symbol" panose="05050102010706020507" pitchFamily="18" charset="2"/>
              </a:rPr>
              <a:t>E</a:t>
            </a:r>
            <a:endParaRPr lang="es-ES" sz="2400" b="1">
              <a:solidFill>
                <a:srgbClr val="FFFF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10" name="Text Box 84">
            <a:extLst>
              <a:ext uri="{FF2B5EF4-FFF2-40B4-BE49-F238E27FC236}">
                <a16:creationId xmlns:a16="http://schemas.microsoft.com/office/drawing/2014/main" id="{C42CD481-3802-4613-9DB1-0A1252947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260" y="2139752"/>
            <a:ext cx="1246219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: Flujo </a:t>
            </a:r>
          </a:p>
        </p:txBody>
      </p:sp>
      <p:sp>
        <p:nvSpPr>
          <p:cNvPr id="11" name="Text Box 84">
            <a:extLst>
              <a:ext uri="{FF2B5EF4-FFF2-40B4-BE49-F238E27FC236}">
                <a16:creationId xmlns:a16="http://schemas.microsoft.com/office/drawing/2014/main" id="{B030243C-7CC5-4F11-8EB3-CF863057A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855" y="2130110"/>
            <a:ext cx="1154517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</a:rPr>
              <a:t>≠ 0 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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2" name="Text Box 84">
            <a:extLst>
              <a:ext uri="{FF2B5EF4-FFF2-40B4-BE49-F238E27FC236}">
                <a16:creationId xmlns:a16="http://schemas.microsoft.com/office/drawing/2014/main" id="{CB1D6F58-C2CB-440F-B67F-A1A92D3BA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342" y="2130588"/>
            <a:ext cx="1217916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  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" name="Text Box 78">
            <a:extLst>
              <a:ext uri="{FF2B5EF4-FFF2-40B4-BE49-F238E27FC236}">
                <a16:creationId xmlns:a16="http://schemas.microsoft.com/office/drawing/2014/main" id="{55ED4740-68D7-7A16-D918-8918CF55B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83" y="5134241"/>
            <a:ext cx="9178075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El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creado por un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(t) </a:t>
            </a:r>
            <a:r>
              <a:rPr lang="es-ES" sz="2400" dirty="0">
                <a:solidFill>
                  <a:srgbClr val="FF0000"/>
                </a:solidFill>
              </a:rPr>
              <a:t>no </a:t>
            </a:r>
            <a:r>
              <a:rPr lang="es-ES" sz="2400">
                <a:solidFill>
                  <a:srgbClr val="FF0000"/>
                </a:solidFill>
              </a:rPr>
              <a:t>es conservativo</a:t>
            </a:r>
            <a:r>
              <a:rPr lang="es-ES" sz="2400">
                <a:solidFill>
                  <a:srgbClr val="008000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porque </a:t>
            </a:r>
            <a:r>
              <a:rPr lang="es-ES" sz="2400">
                <a:solidFill>
                  <a:schemeClr val="tx1"/>
                </a:solidFill>
              </a:rPr>
              <a:t>su W </a:t>
            </a:r>
            <a:r>
              <a:rPr lang="es-ES" sz="2400" dirty="0">
                <a:solidFill>
                  <a:schemeClr val="tx1"/>
                </a:solidFill>
              </a:rPr>
              <a:t>en un camino cerrado (1</a:t>
            </a:r>
            <a:r>
              <a:rPr lang="es-ES" sz="2400" baseline="30000" dirty="0">
                <a:solidFill>
                  <a:schemeClr val="tx1"/>
                </a:solidFill>
              </a:rPr>
              <a:t>er</a:t>
            </a:r>
            <a:r>
              <a:rPr lang="es-ES" sz="2400" dirty="0">
                <a:solidFill>
                  <a:schemeClr val="tx1"/>
                </a:solidFill>
              </a:rPr>
              <a:t> miembro de </a:t>
            </a:r>
            <a:r>
              <a:rPr lang="es-ES" sz="2400">
                <a:solidFill>
                  <a:schemeClr val="tx1"/>
                </a:solidFill>
              </a:rPr>
              <a:t>la ec.) </a:t>
            </a:r>
            <a:r>
              <a:rPr lang="es-ES" sz="2400" dirty="0">
                <a:solidFill>
                  <a:schemeClr val="tx1"/>
                </a:solidFill>
              </a:rPr>
              <a:t>no </a:t>
            </a:r>
            <a:r>
              <a:rPr lang="es-ES" sz="2400">
                <a:solidFill>
                  <a:schemeClr val="tx1"/>
                </a:solidFill>
              </a:rPr>
              <a:t>es cero </a:t>
            </a:r>
            <a:r>
              <a:rPr lang="es-ES" sz="2400" dirty="0">
                <a:solidFill>
                  <a:schemeClr val="tx1"/>
                </a:solidFill>
              </a:rPr>
              <a:t>(2º </a:t>
            </a:r>
            <a:r>
              <a:rPr lang="es-ES" sz="2400">
                <a:solidFill>
                  <a:schemeClr val="tx1"/>
                </a:solidFill>
              </a:rPr>
              <a:t>miembro)</a:t>
            </a:r>
            <a:endParaRPr lang="es-ES" sz="2400" b="1" dirty="0">
              <a:solidFill>
                <a:schemeClr val="tx1"/>
              </a:solidFill>
            </a:endParaRPr>
          </a:p>
        </p:txBody>
      </p:sp>
      <p:sp>
        <p:nvSpPr>
          <p:cNvPr id="3" name="Text Box 78">
            <a:extLst>
              <a:ext uri="{FF2B5EF4-FFF2-40B4-BE49-F238E27FC236}">
                <a16:creationId xmlns:a16="http://schemas.microsoft.com/office/drawing/2014/main" id="{0AE9B5B1-22C4-2BD7-60FE-12F1E3AC7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669" y="6121118"/>
            <a:ext cx="9182290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El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creado </a:t>
            </a:r>
            <a:r>
              <a:rPr lang="es-ES" sz="2400">
                <a:solidFill>
                  <a:schemeClr val="tx1"/>
                </a:solidFill>
              </a:rPr>
              <a:t>por Q </a:t>
            </a:r>
            <a:r>
              <a:rPr lang="es-ES" sz="2400" dirty="0">
                <a:solidFill>
                  <a:schemeClr val="tx1"/>
                </a:solidFill>
              </a:rPr>
              <a:t>sí, </a:t>
            </a:r>
            <a:r>
              <a:rPr lang="es-ES" sz="2400">
                <a:solidFill>
                  <a:schemeClr val="tx1"/>
                </a:solidFill>
              </a:rPr>
              <a:t>y su W entre 2 puntos en el sentido de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es </a:t>
            </a:r>
            <a:r>
              <a:rPr lang="es-ES" sz="2400" dirty="0">
                <a:solidFill>
                  <a:schemeClr val="tx1"/>
                </a:solidFill>
              </a:rPr>
              <a:t>igual a la caída de potencial </a:t>
            </a:r>
            <a:r>
              <a:rPr lang="es-ES" sz="2400">
                <a:solidFill>
                  <a:schemeClr val="tx1"/>
                </a:solidFill>
              </a:rPr>
              <a:t>V entre ellos también creada por Q </a:t>
            </a:r>
            <a:endParaRPr lang="es-E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6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6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2" grpId="0" animBg="1"/>
      <p:bldP spid="660491" grpId="0"/>
      <p:bldP spid="11296" grpId="0" animBg="1"/>
      <p:bldP spid="52" grpId="0"/>
      <p:bldP spid="50" grpId="0" animBg="1"/>
      <p:bldP spid="10" grpId="0"/>
      <p:bldP spid="11" grpId="0"/>
      <p:bldP spid="12" grpId="0"/>
      <p:bldP spid="2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ángulo 57">
            <a:extLst>
              <a:ext uri="{FF2B5EF4-FFF2-40B4-BE49-F238E27FC236}">
                <a16:creationId xmlns:a16="http://schemas.microsoft.com/office/drawing/2014/main" id="{2768047D-5D65-4E8E-91C6-9D452E1FE6F0}"/>
              </a:ext>
            </a:extLst>
          </p:cNvPr>
          <p:cNvSpPr/>
          <p:nvPr/>
        </p:nvSpPr>
        <p:spPr bwMode="auto">
          <a:xfrm>
            <a:off x="1209709" y="327508"/>
            <a:ext cx="5593030" cy="3276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660557" name="Group 77"/>
          <p:cNvGrpSpPr>
            <a:grpSpLocks/>
          </p:cNvGrpSpPr>
          <p:nvPr/>
        </p:nvGrpSpPr>
        <p:grpSpPr bwMode="auto">
          <a:xfrm>
            <a:off x="1384877" y="476081"/>
            <a:ext cx="4618038" cy="2943225"/>
            <a:chOff x="2802" y="2125"/>
            <a:chExt cx="2909" cy="1854"/>
          </a:xfrm>
        </p:grpSpPr>
        <p:sp>
          <p:nvSpPr>
            <p:cNvPr id="11298" name="Line 39"/>
            <p:cNvSpPr>
              <a:spLocks noChangeShapeType="1"/>
            </p:cNvSpPr>
            <p:nvPr/>
          </p:nvSpPr>
          <p:spPr bwMode="auto">
            <a:xfrm>
              <a:off x="4062" y="3173"/>
              <a:ext cx="164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1299" name="Group 76"/>
            <p:cNvGrpSpPr>
              <a:grpSpLocks/>
            </p:cNvGrpSpPr>
            <p:nvPr/>
          </p:nvGrpSpPr>
          <p:grpSpPr bwMode="auto">
            <a:xfrm>
              <a:off x="2802" y="2125"/>
              <a:ext cx="2773" cy="1854"/>
              <a:chOff x="2802" y="2125"/>
              <a:chExt cx="2773" cy="1854"/>
            </a:xfrm>
          </p:grpSpPr>
          <p:sp>
            <p:nvSpPr>
              <p:cNvPr id="11300" name="Freeform 41"/>
              <p:cNvSpPr>
                <a:spLocks/>
              </p:cNvSpPr>
              <p:nvPr/>
            </p:nvSpPr>
            <p:spPr bwMode="auto">
              <a:xfrm>
                <a:off x="4049" y="2840"/>
                <a:ext cx="1526" cy="269"/>
              </a:xfrm>
              <a:custGeom>
                <a:avLst/>
                <a:gdLst>
                  <a:gd name="T0" fmla="*/ 0 w 1526"/>
                  <a:gd name="T1" fmla="*/ 269 h 269"/>
                  <a:gd name="T2" fmla="*/ 556 w 1526"/>
                  <a:gd name="T3" fmla="*/ 221 h 269"/>
                  <a:gd name="T4" fmla="*/ 1526 w 1526"/>
                  <a:gd name="T5" fmla="*/ 0 h 2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01" name="Freeform 42"/>
              <p:cNvSpPr>
                <a:spLocks/>
              </p:cNvSpPr>
              <p:nvPr/>
            </p:nvSpPr>
            <p:spPr bwMode="auto">
              <a:xfrm>
                <a:off x="4039" y="2495"/>
                <a:ext cx="1449" cy="547"/>
              </a:xfrm>
              <a:custGeom>
                <a:avLst/>
                <a:gdLst>
                  <a:gd name="T0" fmla="*/ 0 w 1449"/>
                  <a:gd name="T1" fmla="*/ 547 h 547"/>
                  <a:gd name="T2" fmla="*/ 873 w 1449"/>
                  <a:gd name="T3" fmla="*/ 355 h 547"/>
                  <a:gd name="T4" fmla="*/ 1449 w 1449"/>
                  <a:gd name="T5" fmla="*/ 0 h 5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02" name="Freeform 43"/>
              <p:cNvSpPr>
                <a:spLocks/>
              </p:cNvSpPr>
              <p:nvPr/>
            </p:nvSpPr>
            <p:spPr bwMode="auto">
              <a:xfrm>
                <a:off x="4028" y="2160"/>
                <a:ext cx="1133" cy="814"/>
              </a:xfrm>
              <a:custGeom>
                <a:avLst/>
                <a:gdLst>
                  <a:gd name="T0" fmla="*/ 0 w 1133"/>
                  <a:gd name="T1" fmla="*/ 873 h 873"/>
                  <a:gd name="T2" fmla="*/ 615 w 1133"/>
                  <a:gd name="T3" fmla="*/ 605 h 873"/>
                  <a:gd name="T4" fmla="*/ 1133 w 1133"/>
                  <a:gd name="T5" fmla="*/ 0 h 8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03" name="Freeform 44"/>
              <p:cNvSpPr>
                <a:spLocks/>
              </p:cNvSpPr>
              <p:nvPr/>
            </p:nvSpPr>
            <p:spPr bwMode="auto">
              <a:xfrm flipV="1">
                <a:off x="4042" y="3210"/>
                <a:ext cx="1526" cy="269"/>
              </a:xfrm>
              <a:custGeom>
                <a:avLst/>
                <a:gdLst>
                  <a:gd name="T0" fmla="*/ 0 w 1526"/>
                  <a:gd name="T1" fmla="*/ 269 h 269"/>
                  <a:gd name="T2" fmla="*/ 556 w 1526"/>
                  <a:gd name="T3" fmla="*/ 221 h 269"/>
                  <a:gd name="T4" fmla="*/ 1526 w 1526"/>
                  <a:gd name="T5" fmla="*/ 0 h 2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04" name="Freeform 45"/>
              <p:cNvSpPr>
                <a:spLocks/>
              </p:cNvSpPr>
              <p:nvPr/>
            </p:nvSpPr>
            <p:spPr bwMode="auto">
              <a:xfrm flipV="1">
                <a:off x="4032" y="3277"/>
                <a:ext cx="1449" cy="547"/>
              </a:xfrm>
              <a:custGeom>
                <a:avLst/>
                <a:gdLst>
                  <a:gd name="T0" fmla="*/ 0 w 1449"/>
                  <a:gd name="T1" fmla="*/ 547 h 547"/>
                  <a:gd name="T2" fmla="*/ 873 w 1449"/>
                  <a:gd name="T3" fmla="*/ 355 h 547"/>
                  <a:gd name="T4" fmla="*/ 1449 w 1449"/>
                  <a:gd name="T5" fmla="*/ 0 h 5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05" name="Freeform 46"/>
              <p:cNvSpPr>
                <a:spLocks/>
              </p:cNvSpPr>
              <p:nvPr/>
            </p:nvSpPr>
            <p:spPr bwMode="auto">
              <a:xfrm flipV="1">
                <a:off x="4021" y="3345"/>
                <a:ext cx="1133" cy="634"/>
              </a:xfrm>
              <a:custGeom>
                <a:avLst/>
                <a:gdLst>
                  <a:gd name="T0" fmla="*/ 0 w 1133"/>
                  <a:gd name="T1" fmla="*/ 873 h 873"/>
                  <a:gd name="T2" fmla="*/ 615 w 1133"/>
                  <a:gd name="T3" fmla="*/ 605 h 873"/>
                  <a:gd name="T4" fmla="*/ 1133 w 1133"/>
                  <a:gd name="T5" fmla="*/ 0 h 8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06" name="Freeform 47"/>
              <p:cNvSpPr>
                <a:spLocks/>
              </p:cNvSpPr>
              <p:nvPr/>
            </p:nvSpPr>
            <p:spPr bwMode="auto">
              <a:xfrm>
                <a:off x="4021" y="2125"/>
                <a:ext cx="751" cy="789"/>
              </a:xfrm>
              <a:custGeom>
                <a:avLst/>
                <a:gdLst>
                  <a:gd name="T0" fmla="*/ 0 w 749"/>
                  <a:gd name="T1" fmla="*/ 893 h 893"/>
                  <a:gd name="T2" fmla="*/ 461 w 749"/>
                  <a:gd name="T3" fmla="*/ 557 h 893"/>
                  <a:gd name="T4" fmla="*/ 749 w 749"/>
                  <a:gd name="T5" fmla="*/ 0 h 8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07" name="Freeform 48"/>
              <p:cNvSpPr>
                <a:spLocks/>
              </p:cNvSpPr>
              <p:nvPr/>
            </p:nvSpPr>
            <p:spPr bwMode="auto">
              <a:xfrm flipV="1">
                <a:off x="4042" y="3411"/>
                <a:ext cx="585" cy="568"/>
              </a:xfrm>
              <a:custGeom>
                <a:avLst/>
                <a:gdLst>
                  <a:gd name="T0" fmla="*/ 0 w 749"/>
                  <a:gd name="T1" fmla="*/ 893 h 893"/>
                  <a:gd name="T2" fmla="*/ 461 w 749"/>
                  <a:gd name="T3" fmla="*/ 557 h 893"/>
                  <a:gd name="T4" fmla="*/ 749 w 749"/>
                  <a:gd name="T5" fmla="*/ 0 h 8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1308" name="Group 49"/>
              <p:cNvGrpSpPr>
                <a:grpSpLocks/>
              </p:cNvGrpSpPr>
              <p:nvPr/>
            </p:nvGrpSpPr>
            <p:grpSpPr bwMode="auto">
              <a:xfrm>
                <a:off x="2802" y="2968"/>
                <a:ext cx="1174" cy="457"/>
                <a:chOff x="1087" y="1341"/>
                <a:chExt cx="1174" cy="457"/>
              </a:xfrm>
            </p:grpSpPr>
            <p:sp>
              <p:nvSpPr>
                <p:cNvPr id="11309" name="AutoShape 50"/>
                <p:cNvSpPr>
                  <a:spLocks noChangeArrowheads="1"/>
                </p:cNvSpPr>
                <p:nvPr/>
              </p:nvSpPr>
              <p:spPr bwMode="auto">
                <a:xfrm>
                  <a:off x="1087" y="1341"/>
                  <a:ext cx="680" cy="453"/>
                </a:xfrm>
                <a:prstGeom prst="cube">
                  <a:avLst>
                    <a:gd name="adj" fmla="val 41773"/>
                  </a:avLst>
                </a:prstGeom>
                <a:solidFill>
                  <a:srgbClr val="3366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11310" name="AutoShape 51"/>
                <p:cNvSpPr>
                  <a:spLocks noChangeArrowheads="1"/>
                </p:cNvSpPr>
                <p:nvPr/>
              </p:nvSpPr>
              <p:spPr bwMode="auto">
                <a:xfrm>
                  <a:off x="1581" y="1341"/>
                  <a:ext cx="680" cy="453"/>
                </a:xfrm>
                <a:prstGeom prst="cube">
                  <a:avLst>
                    <a:gd name="adj" fmla="val 40296"/>
                  </a:avLst>
                </a:prstGeom>
                <a:solidFill>
                  <a:srgbClr val="FF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/>
                </a:p>
              </p:txBody>
            </p:sp>
            <p:sp>
              <p:nvSpPr>
                <p:cNvPr id="11311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1686" y="1531"/>
                  <a:ext cx="315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836613" indent="-322263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285875" indent="-257175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800225" indent="-257175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314575" indent="-257175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717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289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861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433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FFFFFF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11312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1168" y="1535"/>
                  <a:ext cx="315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836613" indent="-322263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285875" indent="-257175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800225" indent="-257175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314575" indent="-257175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717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289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861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43375" indent="-257175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FFFFFF"/>
                      </a:solidFill>
                      <a:latin typeface="Arial" panose="020B0604020202020204" pitchFamily="34" charset="0"/>
                    </a:rPr>
                    <a:t>S</a:t>
                  </a:r>
                </a:p>
              </p:txBody>
            </p:sp>
          </p:grpSp>
        </p:grpSp>
      </p:grpSp>
      <p:sp>
        <p:nvSpPr>
          <p:cNvPr id="660538" name="AutoShape 58"/>
          <p:cNvSpPr>
            <a:spLocks noChangeArrowheads="1"/>
          </p:cNvSpPr>
          <p:nvPr/>
        </p:nvSpPr>
        <p:spPr bwMode="auto">
          <a:xfrm>
            <a:off x="1930016" y="1142831"/>
            <a:ext cx="921202" cy="508000"/>
          </a:xfrm>
          <a:prstGeom prst="rightArrow">
            <a:avLst>
              <a:gd name="adj1" fmla="val 40620"/>
              <a:gd name="adj2" fmla="val 4714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graphicFrame>
        <p:nvGraphicFramePr>
          <p:cNvPr id="660541" name="Object 61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367656879"/>
              </p:ext>
            </p:extLst>
          </p:nvPr>
        </p:nvGraphicFramePr>
        <p:xfrm>
          <a:off x="4969412" y="771305"/>
          <a:ext cx="3365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52268" imgH="203024" progId="Equation.3">
                  <p:embed/>
                </p:oleObj>
              </mc:Choice>
              <mc:Fallback>
                <p:oleObj name="Ecuación" r:id="rId3" imgW="152268" imgH="203024" progId="Equation.3">
                  <p:embed/>
                  <p:pic>
                    <p:nvPicPr>
                      <p:cNvPr id="660541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9412" y="771305"/>
                        <a:ext cx="3365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0543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807901"/>
              </p:ext>
            </p:extLst>
          </p:nvPr>
        </p:nvGraphicFramePr>
        <p:xfrm>
          <a:off x="3311316" y="769929"/>
          <a:ext cx="673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304668" imgH="241195" progId="Equation.3">
                  <p:embed/>
                </p:oleObj>
              </mc:Choice>
              <mc:Fallback>
                <p:oleObj name="Ecuación" r:id="rId5" imgW="304668" imgH="241195" progId="Equation.3">
                  <p:embed/>
                  <p:pic>
                    <p:nvPicPr>
                      <p:cNvPr id="660543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316" y="769929"/>
                        <a:ext cx="6731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0564" name="Text Box 84"/>
          <p:cNvSpPr txBox="1">
            <a:spLocks noChangeArrowheads="1"/>
          </p:cNvSpPr>
          <p:nvPr/>
        </p:nvSpPr>
        <p:spPr bwMode="auto">
          <a:xfrm>
            <a:off x="7095883" y="1592554"/>
            <a:ext cx="1683772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&lt; 0 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   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 </a:t>
            </a:r>
          </a:p>
        </p:txBody>
      </p:sp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1413180" y="4899686"/>
            <a:ext cx="4540818" cy="17172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lIns="126000" tIns="118800" rIns="126000" bIns="118800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36613" indent="-322263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85875" indent="-257175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00225" indent="-257175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14575" indent="-257175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717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289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861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43375" indent="-257175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Rodean líneas de </a:t>
            </a:r>
            <a:r>
              <a:rPr lang="es-ES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con sentido </a:t>
            </a:r>
            <a:r>
              <a:rPr lang="es-ES" sz="2400" u="sng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horario</a:t>
            </a:r>
            <a:r>
              <a:rPr lang="es-ES"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respecto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al sentido de aumento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del flujo de </a:t>
            </a:r>
            <a:r>
              <a:rPr lang="es-ES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endParaRPr lang="es-ES" sz="2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C4BA70D6-F729-4EF7-AF9C-1BAC17A5918F}"/>
              </a:ext>
            </a:extLst>
          </p:cNvPr>
          <p:cNvGrpSpPr/>
          <p:nvPr/>
        </p:nvGrpSpPr>
        <p:grpSpPr>
          <a:xfrm>
            <a:off x="6141881" y="1868588"/>
            <a:ext cx="531319" cy="562500"/>
            <a:chOff x="9505493" y="3364225"/>
            <a:chExt cx="531319" cy="562500"/>
          </a:xfrm>
        </p:grpSpPr>
        <p:sp>
          <p:nvSpPr>
            <p:cNvPr id="49" name="Rectángulo 48"/>
            <p:cNvSpPr/>
            <p:nvPr/>
          </p:nvSpPr>
          <p:spPr bwMode="auto">
            <a:xfrm rot="21431307">
              <a:off x="9505493" y="3364225"/>
              <a:ext cx="531319" cy="56250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6" name="Group 20"/>
            <p:cNvGrpSpPr>
              <a:grpSpLocks/>
            </p:cNvGrpSpPr>
            <p:nvPr/>
          </p:nvGrpSpPr>
          <p:grpSpPr bwMode="auto">
            <a:xfrm rot="10800000">
              <a:off x="9547691" y="3429434"/>
              <a:ext cx="407987" cy="422275"/>
              <a:chOff x="1240" y="3526"/>
              <a:chExt cx="257" cy="266"/>
            </a:xfrm>
          </p:grpSpPr>
          <p:sp>
            <p:nvSpPr>
              <p:cNvPr id="11291" name="Line 21"/>
              <p:cNvSpPr>
                <a:spLocks noChangeShapeType="1"/>
              </p:cNvSpPr>
              <p:nvPr/>
            </p:nvSpPr>
            <p:spPr bwMode="auto">
              <a:xfrm flipH="1">
                <a:off x="124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1292" name="Line 22"/>
              <p:cNvSpPr>
                <a:spLocks noChangeShapeType="1"/>
              </p:cNvSpPr>
              <p:nvPr/>
            </p:nvSpPr>
            <p:spPr bwMode="auto">
              <a:xfrm>
                <a:off x="124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1293" name="Oval 23"/>
              <p:cNvSpPr>
                <a:spLocks noChangeArrowheads="1"/>
              </p:cNvSpPr>
              <p:nvPr/>
            </p:nvSpPr>
            <p:spPr bwMode="auto">
              <a:xfrm>
                <a:off x="140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  <p:sp>
        <p:nvSpPr>
          <p:cNvPr id="11283" name="Text Box 25"/>
          <p:cNvSpPr txBox="1">
            <a:spLocks noChangeArrowheads="1"/>
          </p:cNvSpPr>
          <p:nvPr/>
        </p:nvSpPr>
        <p:spPr bwMode="auto">
          <a:xfrm>
            <a:off x="1400348" y="3991866"/>
            <a:ext cx="4540818" cy="671050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54800" rIns="126000" bIns="144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FFFFFF"/>
                </a:solidFill>
                <a:sym typeface="Symbol" panose="05050102010706020507" pitchFamily="18" charset="2"/>
              </a:rPr>
              <a:t>LÍNEAS DE </a:t>
            </a:r>
            <a:r>
              <a:rPr lang="es-ES" sz="2400" b="1" dirty="0">
                <a:solidFill>
                  <a:srgbClr val="FFFFFF"/>
                </a:solidFill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FFFFFF"/>
                </a:solidFill>
                <a:sym typeface="Symbol" panose="05050102010706020507" pitchFamily="18" charset="2"/>
              </a:rPr>
              <a:t> DEBIDO A </a:t>
            </a:r>
            <a:r>
              <a:rPr lang="es-ES" sz="2400" b="1" dirty="0">
                <a:solidFill>
                  <a:srgbClr val="FFFFFF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rgbClr val="FFFFFF"/>
                </a:solidFill>
                <a:sym typeface="Symbol" panose="05050102010706020507" pitchFamily="18" charset="2"/>
              </a:rPr>
              <a:t>(t)</a:t>
            </a:r>
            <a:endParaRPr lang="es-ES" sz="2400" dirty="0">
              <a:solidFill>
                <a:srgbClr val="FFFF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4" name="CuadroTexto 3"/>
          <p:cNvSpPr txBox="1">
            <a:spLocks noChangeArrowheads="1"/>
          </p:cNvSpPr>
          <p:nvPr/>
        </p:nvSpPr>
        <p:spPr bwMode="auto">
          <a:xfrm>
            <a:off x="6179265" y="4913890"/>
            <a:ext cx="4059417" cy="172662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La Ley de Gauss </a:t>
            </a:r>
            <a:r>
              <a:rPr lang="es-ES" sz="2400">
                <a:solidFill>
                  <a:schemeClr val="tx1"/>
                </a:solidFill>
              </a:rPr>
              <a:t>para </a:t>
            </a:r>
            <a:r>
              <a:rPr lang="es-ES" sz="2400" b="1"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s-ES" sz="2400">
                <a:solidFill>
                  <a:schemeClr val="tx1"/>
                </a:solidFill>
              </a:rPr>
              <a:t>es </a:t>
            </a:r>
            <a:r>
              <a:rPr lang="es-ES" sz="2400" dirty="0">
                <a:solidFill>
                  <a:schemeClr val="tx1"/>
                </a:solidFill>
              </a:rPr>
              <a:t>la que indica que son </a:t>
            </a:r>
            <a:r>
              <a:rPr lang="es-ES" sz="2400" dirty="0">
                <a:solidFill>
                  <a:srgbClr val="FF0000"/>
                </a:solidFill>
              </a:rPr>
              <a:t>cerradas</a:t>
            </a:r>
            <a:r>
              <a:rPr lang="es-ES" sz="2400" dirty="0">
                <a:solidFill>
                  <a:schemeClr val="tx1"/>
                </a:solidFill>
              </a:rPr>
              <a:t>, al quedar la ley como la de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 por ser Q = 0</a:t>
            </a:r>
          </a:p>
        </p:txBody>
      </p:sp>
      <p:sp>
        <p:nvSpPr>
          <p:cNvPr id="5" name="CuadroTexto 4"/>
          <p:cNvSpPr txBox="1">
            <a:spLocks noChangeArrowheads="1"/>
          </p:cNvSpPr>
          <p:nvPr/>
        </p:nvSpPr>
        <p:spPr bwMode="auto">
          <a:xfrm>
            <a:off x="8693700" y="2199692"/>
            <a:ext cx="507181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</a:t>
            </a:r>
            <a:endParaRPr lang="es-ES" dirty="0">
              <a:solidFill>
                <a:srgbClr val="FF0000"/>
              </a:solidFill>
            </a:endParaRPr>
          </a:p>
        </p:txBody>
      </p:sp>
      <p:grpSp>
        <p:nvGrpSpPr>
          <p:cNvPr id="45" name="Group 81"/>
          <p:cNvGrpSpPr>
            <a:grpSpLocks/>
          </p:cNvGrpSpPr>
          <p:nvPr/>
        </p:nvGrpSpPr>
        <p:grpSpPr bwMode="auto">
          <a:xfrm>
            <a:off x="6950427" y="409875"/>
            <a:ext cx="3351213" cy="1147763"/>
            <a:chOff x="1320" y="1067"/>
            <a:chExt cx="2111" cy="723"/>
          </a:xfrm>
        </p:grpSpPr>
        <p:sp>
          <p:nvSpPr>
            <p:cNvPr id="47" name="Rectangle 82"/>
            <p:cNvSpPr>
              <a:spLocks noChangeArrowheads="1"/>
            </p:cNvSpPr>
            <p:nvPr/>
          </p:nvSpPr>
          <p:spPr bwMode="auto">
            <a:xfrm>
              <a:off x="1320" y="1085"/>
              <a:ext cx="2111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48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8284868"/>
                </p:ext>
              </p:extLst>
            </p:nvPr>
          </p:nvGraphicFramePr>
          <p:xfrm>
            <a:off x="1381" y="1067"/>
            <a:ext cx="2023" cy="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231366" imgH="444307" progId="Equation.3">
                    <p:embed/>
                  </p:oleObj>
                </mc:Choice>
                <mc:Fallback>
                  <p:oleObj name="Ecuación" r:id="rId7" imgW="1231366" imgH="444307" progId="Equation.3">
                    <p:embed/>
                    <p:pic>
                      <p:nvPicPr>
                        <p:cNvPr id="11295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1" y="1067"/>
                          <a:ext cx="2023" cy="7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639234BD-9C63-472E-B3BD-7CB3C97DD84F}"/>
              </a:ext>
            </a:extLst>
          </p:cNvPr>
          <p:cNvGrpSpPr/>
          <p:nvPr/>
        </p:nvGrpSpPr>
        <p:grpSpPr>
          <a:xfrm>
            <a:off x="4273823" y="947569"/>
            <a:ext cx="728662" cy="2233612"/>
            <a:chOff x="11334239" y="3164321"/>
            <a:chExt cx="728662" cy="2233612"/>
          </a:xfrm>
        </p:grpSpPr>
        <p:sp>
          <p:nvSpPr>
            <p:cNvPr id="11289" name="Line 59"/>
            <p:cNvSpPr>
              <a:spLocks noChangeShapeType="1"/>
            </p:cNvSpPr>
            <p:nvPr/>
          </p:nvSpPr>
          <p:spPr bwMode="auto">
            <a:xfrm flipV="1">
              <a:off x="11342976" y="4404350"/>
              <a:ext cx="0" cy="23018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290" name="Line 60"/>
            <p:cNvSpPr>
              <a:spLocks noChangeShapeType="1"/>
            </p:cNvSpPr>
            <p:nvPr/>
          </p:nvSpPr>
          <p:spPr bwMode="auto">
            <a:xfrm>
              <a:off x="12047827" y="3825870"/>
              <a:ext cx="0" cy="23018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286" name="Oval 40"/>
            <p:cNvSpPr>
              <a:spLocks noChangeArrowheads="1"/>
            </p:cNvSpPr>
            <p:nvPr/>
          </p:nvSpPr>
          <p:spPr bwMode="auto">
            <a:xfrm>
              <a:off x="11334239" y="3164321"/>
              <a:ext cx="728662" cy="2233612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1287" name="Line 59"/>
            <p:cNvSpPr>
              <a:spLocks noChangeShapeType="1"/>
            </p:cNvSpPr>
            <p:nvPr/>
          </p:nvSpPr>
          <p:spPr bwMode="auto">
            <a:xfrm rot="5400000" flipV="1">
              <a:off x="11743407" y="3126895"/>
              <a:ext cx="0" cy="1080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288" name="Line 59"/>
            <p:cNvSpPr>
              <a:spLocks noChangeShapeType="1"/>
            </p:cNvSpPr>
            <p:nvPr/>
          </p:nvSpPr>
          <p:spPr bwMode="auto">
            <a:xfrm rot="14400000" flipH="1" flipV="1">
              <a:off x="11791951" y="5302152"/>
              <a:ext cx="0" cy="1080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53" name="Line 59">
              <a:extLst>
                <a:ext uri="{FF2B5EF4-FFF2-40B4-BE49-F238E27FC236}">
                  <a16:creationId xmlns:a16="http://schemas.microsoft.com/office/drawing/2014/main" id="{D719C946-B1AD-4213-87F6-1BB7EB0EDF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91874" y="4311205"/>
              <a:ext cx="0" cy="16046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54" name="Line 60">
              <a:extLst>
                <a:ext uri="{FF2B5EF4-FFF2-40B4-BE49-F238E27FC236}">
                  <a16:creationId xmlns:a16="http://schemas.microsoft.com/office/drawing/2014/main" id="{BEFFC08A-E08D-4F7B-B8A7-EE309A9E2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19876" y="4061863"/>
              <a:ext cx="0" cy="16046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50" name="Oval 40">
              <a:extLst>
                <a:ext uri="{FF2B5EF4-FFF2-40B4-BE49-F238E27FC236}">
                  <a16:creationId xmlns:a16="http://schemas.microsoft.com/office/drawing/2014/main" id="{9A08C5E7-8758-462A-ABBF-010267B19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6639" y="3486505"/>
              <a:ext cx="436561" cy="1557053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51" name="Line 59">
              <a:extLst>
                <a:ext uri="{FF2B5EF4-FFF2-40B4-BE49-F238E27FC236}">
                  <a16:creationId xmlns:a16="http://schemas.microsoft.com/office/drawing/2014/main" id="{E6693D77-09E8-4C51-AC9E-CFDEC7263D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1749448" y="3469043"/>
              <a:ext cx="0" cy="6470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55" name="Line 59">
              <a:extLst>
                <a:ext uri="{FF2B5EF4-FFF2-40B4-BE49-F238E27FC236}">
                  <a16:creationId xmlns:a16="http://schemas.microsoft.com/office/drawing/2014/main" id="{9A4DAA2B-B437-4A70-A406-88CBAE127B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4400000" flipH="1" flipV="1">
              <a:off x="11768079" y="4958797"/>
              <a:ext cx="0" cy="1080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56" name="Text Box 84">
            <a:extLst>
              <a:ext uri="{FF2B5EF4-FFF2-40B4-BE49-F238E27FC236}">
                <a16:creationId xmlns:a16="http://schemas.microsoft.com/office/drawing/2014/main" id="{B7487655-957E-470D-ACA4-E936433D6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7954" y="1637364"/>
            <a:ext cx="532816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&gt;0</a:t>
            </a:r>
          </a:p>
        </p:txBody>
      </p:sp>
      <p:sp>
        <p:nvSpPr>
          <p:cNvPr id="57" name="Text Box 84">
            <a:extLst>
              <a:ext uri="{FF2B5EF4-FFF2-40B4-BE49-F238E27FC236}">
                <a16:creationId xmlns:a16="http://schemas.microsoft.com/office/drawing/2014/main" id="{1871A2EC-33DE-4346-9741-C293E640B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332" y="2139388"/>
            <a:ext cx="367706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</a:t>
            </a:r>
            <a:endParaRPr lang="es-ES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A1C5399-8216-41E1-A616-76C306574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0350" y="2809518"/>
            <a:ext cx="1912937" cy="70788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>
                <a:solidFill>
                  <a:srgbClr val="FF0000"/>
                </a:solidFill>
              </a:rPr>
              <a:t>Si </a:t>
            </a:r>
            <a:r>
              <a:rPr lang="es-ES" dirty="0">
                <a:solidFill>
                  <a:srgbClr val="FF0000"/>
                </a:solidFill>
              </a:rPr>
              <a:t>flujo crece hacia nosotros</a:t>
            </a:r>
          </a:p>
        </p:txBody>
      </p:sp>
      <p:sp>
        <p:nvSpPr>
          <p:cNvPr id="60" name="Text Box 84">
            <a:extLst>
              <a:ext uri="{FF2B5EF4-FFF2-40B4-BE49-F238E27FC236}">
                <a16:creationId xmlns:a16="http://schemas.microsoft.com/office/drawing/2014/main" id="{95C32EBF-D3DD-42CE-AB0C-CA32DBA4B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8334" y="2745416"/>
            <a:ext cx="1452940" cy="782770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>
                <a:solidFill>
                  <a:srgbClr val="FF0000"/>
                </a:solidFill>
                <a:sym typeface="Symbol" panose="05050102010706020507" pitchFamily="18" charset="2"/>
              </a:rPr>
              <a:t>Circulación</a:t>
            </a:r>
            <a:endParaRPr lang="es-E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</a:pPr>
            <a:r>
              <a:rPr lang="es-ES">
                <a:solidFill>
                  <a:srgbClr val="FF0000"/>
                </a:solidFill>
                <a:sym typeface="Symbol" panose="05050102010706020507" pitchFamily="18" charset="2"/>
              </a:rPr>
              <a:t>horaria</a:t>
            </a:r>
            <a:endParaRPr lang="es-ES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4760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60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6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60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60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60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60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66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60538" grpId="0" animBg="1"/>
      <p:bldP spid="660564" grpId="0"/>
      <p:bldP spid="3" grpId="0" animBg="1"/>
      <p:bldP spid="11283" grpId="0" animBg="1"/>
      <p:bldP spid="4" grpId="0" animBg="1"/>
      <p:bldP spid="5" grpId="0"/>
      <p:bldP spid="56" grpId="0"/>
      <p:bldP spid="57" grpId="0"/>
      <p:bldP spid="59" grpId="0"/>
      <p:bldP spid="6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ángulo 74">
            <a:extLst>
              <a:ext uri="{FF2B5EF4-FFF2-40B4-BE49-F238E27FC236}">
                <a16:creationId xmlns:a16="http://schemas.microsoft.com/office/drawing/2014/main" id="{E53047B2-A884-411B-AEB1-1DFD0BE8C43C}"/>
              </a:ext>
            </a:extLst>
          </p:cNvPr>
          <p:cNvSpPr/>
          <p:nvPr/>
        </p:nvSpPr>
        <p:spPr bwMode="auto">
          <a:xfrm>
            <a:off x="1381238" y="906932"/>
            <a:ext cx="5287979" cy="432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3376" name="Freeform 149"/>
          <p:cNvSpPr>
            <a:spLocks/>
          </p:cNvSpPr>
          <p:nvPr/>
        </p:nvSpPr>
        <p:spPr bwMode="auto">
          <a:xfrm flipH="1">
            <a:off x="4457629" y="1042048"/>
            <a:ext cx="1308010" cy="3983038"/>
          </a:xfrm>
          <a:custGeom>
            <a:avLst/>
            <a:gdLst>
              <a:gd name="T0" fmla="*/ 0 w 824"/>
              <a:gd name="T1" fmla="*/ 0 h 2509"/>
              <a:gd name="T2" fmla="*/ 2147483646 w 824"/>
              <a:gd name="T3" fmla="*/ 2147483646 h 2509"/>
              <a:gd name="T4" fmla="*/ 2147483646 w 824"/>
              <a:gd name="T5" fmla="*/ 2147483646 h 2509"/>
              <a:gd name="T6" fmla="*/ 2147483646 w 824"/>
              <a:gd name="T7" fmla="*/ 2147483646 h 2509"/>
              <a:gd name="T8" fmla="*/ 0 w 824"/>
              <a:gd name="T9" fmla="*/ 0 h 25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24" h="2509">
                <a:moveTo>
                  <a:pt x="0" y="0"/>
                </a:moveTo>
                <a:lnTo>
                  <a:pt x="7" y="1969"/>
                </a:lnTo>
                <a:lnTo>
                  <a:pt x="824" y="2509"/>
                </a:lnTo>
                <a:lnTo>
                  <a:pt x="824" y="453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662640" name="Text Box 112"/>
          <p:cNvSpPr txBox="1">
            <a:spLocks noChangeArrowheads="1"/>
          </p:cNvSpPr>
          <p:nvPr/>
        </p:nvSpPr>
        <p:spPr bwMode="auto">
          <a:xfrm>
            <a:off x="1589244" y="1137390"/>
            <a:ext cx="2406726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 baseline="-25000"/>
              <a:t>0</a:t>
            </a:r>
            <a:r>
              <a:rPr lang="es-ES" sz="2400"/>
              <a:t> = 0 en lámina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823119" y="5468032"/>
            <a:ext cx="6527113" cy="1326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80975" algn="r"/>
                <a:tab pos="2700338" algn="ctr"/>
                <a:tab pos="5400675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36613" indent="-322263">
              <a:spcBef>
                <a:spcPct val="20000"/>
              </a:spcBef>
              <a:buChar char="–"/>
              <a:tabLst>
                <a:tab pos="180975" algn="r"/>
                <a:tab pos="2700338" algn="ctr"/>
                <a:tab pos="5400675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85875" indent="-257175">
              <a:spcBef>
                <a:spcPct val="20000"/>
              </a:spcBef>
              <a:buChar char="•"/>
              <a:tabLst>
                <a:tab pos="180975" algn="r"/>
                <a:tab pos="2700338" algn="ctr"/>
                <a:tab pos="5400675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00225" indent="-257175">
              <a:spcBef>
                <a:spcPct val="20000"/>
              </a:spcBef>
              <a:buChar char="–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14575" indent="-257175">
              <a:spcBef>
                <a:spcPct val="20000"/>
              </a:spcBef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71775" indent="-257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28975" indent="-257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86175" indent="-257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43375" indent="-257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El flujo de </a:t>
            </a:r>
            <a:r>
              <a:rPr lang="es-ES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B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 que genera la corriente inducida, en su interior, en el de la “espira”, se opone a la variación de flujo magnético que la provoca</a:t>
            </a:r>
            <a:endParaRPr lang="es-ES" sz="2400" dirty="0">
              <a:latin typeface="Arial" panose="020B060402020202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318" name="Rectangle 201"/>
          <p:cNvSpPr>
            <a:spLocks noChangeArrowheads="1"/>
          </p:cNvSpPr>
          <p:nvPr/>
        </p:nvSpPr>
        <p:spPr bwMode="auto">
          <a:xfrm>
            <a:off x="1262208" y="377434"/>
            <a:ext cx="727868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98475" indent="-322263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95363" indent="-257175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93838" indent="-257175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90725" indent="-257175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479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051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23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9525" indent="-257175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5.4.2 LEY DE LENZ</a:t>
            </a:r>
          </a:p>
        </p:txBody>
      </p:sp>
      <p:grpSp>
        <p:nvGrpSpPr>
          <p:cNvPr id="98" name="Group 188"/>
          <p:cNvGrpSpPr>
            <a:grpSpLocks/>
          </p:cNvGrpSpPr>
          <p:nvPr/>
        </p:nvGrpSpPr>
        <p:grpSpPr bwMode="auto">
          <a:xfrm>
            <a:off x="4856002" y="3805316"/>
            <a:ext cx="461963" cy="514350"/>
            <a:chOff x="4825" y="2707"/>
            <a:chExt cx="291" cy="324"/>
          </a:xfrm>
        </p:grpSpPr>
        <p:sp>
          <p:nvSpPr>
            <p:cNvPr id="13373" name="Oval 30"/>
            <p:cNvSpPr>
              <a:spLocks noChangeArrowheads="1"/>
            </p:cNvSpPr>
            <p:nvPr/>
          </p:nvSpPr>
          <p:spPr bwMode="auto">
            <a:xfrm>
              <a:off x="4825" y="2707"/>
              <a:ext cx="291" cy="32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3374" name="Line 31"/>
            <p:cNvSpPr>
              <a:spLocks noChangeShapeType="1"/>
            </p:cNvSpPr>
            <p:nvPr/>
          </p:nvSpPr>
          <p:spPr bwMode="auto">
            <a:xfrm rot="5400000">
              <a:off x="4961" y="2654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75" name="Line 32"/>
            <p:cNvSpPr>
              <a:spLocks noChangeShapeType="1"/>
            </p:cNvSpPr>
            <p:nvPr/>
          </p:nvSpPr>
          <p:spPr bwMode="auto">
            <a:xfrm rot="-5400000">
              <a:off x="4985" y="2966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2" name="AutoShape 99"/>
          <p:cNvSpPr>
            <a:spLocks noChangeArrowheads="1"/>
          </p:cNvSpPr>
          <p:nvPr/>
        </p:nvSpPr>
        <p:spPr bwMode="auto">
          <a:xfrm>
            <a:off x="2580422" y="2072067"/>
            <a:ext cx="773113" cy="508000"/>
          </a:xfrm>
          <a:prstGeom prst="rightArrow">
            <a:avLst>
              <a:gd name="adj1" fmla="val 40620"/>
              <a:gd name="adj2" fmla="val 4714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03" name="Line 100"/>
          <p:cNvSpPr>
            <a:spLocks noChangeShapeType="1"/>
          </p:cNvSpPr>
          <p:nvPr/>
        </p:nvSpPr>
        <p:spPr bwMode="auto">
          <a:xfrm flipV="1">
            <a:off x="4848065" y="2925841"/>
            <a:ext cx="0" cy="2301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04" name="Line 101"/>
          <p:cNvSpPr>
            <a:spLocks noChangeShapeType="1"/>
          </p:cNvSpPr>
          <p:nvPr/>
        </p:nvSpPr>
        <p:spPr bwMode="auto">
          <a:xfrm>
            <a:off x="5341777" y="2695653"/>
            <a:ext cx="0" cy="23018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05" name="Text Box 105"/>
          <p:cNvSpPr txBox="1">
            <a:spLocks noChangeArrowheads="1"/>
          </p:cNvSpPr>
          <p:nvPr/>
        </p:nvSpPr>
        <p:spPr bwMode="auto">
          <a:xfrm>
            <a:off x="5325992" y="2512163"/>
            <a:ext cx="422777" cy="681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8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26000" tIns="154800" rIns="126000" bIns="154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grpSp>
        <p:nvGrpSpPr>
          <p:cNvPr id="106" name="Group 111"/>
          <p:cNvGrpSpPr>
            <a:grpSpLocks/>
          </p:cNvGrpSpPr>
          <p:nvPr/>
        </p:nvGrpSpPr>
        <p:grpSpPr bwMode="auto">
          <a:xfrm>
            <a:off x="6826701" y="2625563"/>
            <a:ext cx="1306513" cy="503237"/>
            <a:chOff x="5704" y="1990"/>
            <a:chExt cx="823" cy="317"/>
          </a:xfrm>
        </p:grpSpPr>
        <p:sp>
          <p:nvSpPr>
            <p:cNvPr id="13369" name="AutoShape 107"/>
            <p:cNvSpPr>
              <a:spLocks noChangeArrowheads="1"/>
            </p:cNvSpPr>
            <p:nvPr/>
          </p:nvSpPr>
          <p:spPr bwMode="auto">
            <a:xfrm>
              <a:off x="5704" y="1990"/>
              <a:ext cx="477" cy="317"/>
            </a:xfrm>
            <a:prstGeom prst="cube">
              <a:avLst>
                <a:gd name="adj" fmla="val 41773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3370" name="AutoShape 108"/>
            <p:cNvSpPr>
              <a:spLocks noChangeArrowheads="1"/>
            </p:cNvSpPr>
            <p:nvPr/>
          </p:nvSpPr>
          <p:spPr bwMode="auto">
            <a:xfrm>
              <a:off x="6050" y="1990"/>
              <a:ext cx="477" cy="317"/>
            </a:xfrm>
            <a:prstGeom prst="cube">
              <a:avLst>
                <a:gd name="adj" fmla="val 40296"/>
              </a:avLst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3371" name="Text Box 109"/>
            <p:cNvSpPr txBox="1">
              <a:spLocks noChangeArrowheads="1"/>
            </p:cNvSpPr>
            <p:nvPr/>
          </p:nvSpPr>
          <p:spPr bwMode="auto">
            <a:xfrm>
              <a:off x="6124" y="2107"/>
              <a:ext cx="221" cy="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836613" indent="-322263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285875" indent="-257175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00225" indent="-257175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314575" indent="-257175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717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289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861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433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1600" b="1">
                  <a:solidFill>
                    <a:srgbClr val="FFFFFF"/>
                  </a:solidFill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13372" name="Text Box 110"/>
            <p:cNvSpPr txBox="1">
              <a:spLocks noChangeArrowheads="1"/>
            </p:cNvSpPr>
            <p:nvPr/>
          </p:nvSpPr>
          <p:spPr bwMode="auto">
            <a:xfrm>
              <a:off x="5761" y="2097"/>
              <a:ext cx="221" cy="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836613" indent="-322263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285875" indent="-257175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00225" indent="-257175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314575" indent="-257175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717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289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861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433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1600" b="1">
                  <a:solidFill>
                    <a:srgbClr val="FFFFFF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13367" name="Text Box 115"/>
          <p:cNvSpPr txBox="1">
            <a:spLocks noChangeArrowheads="1"/>
          </p:cNvSpPr>
          <p:nvPr/>
        </p:nvSpPr>
        <p:spPr bwMode="auto">
          <a:xfrm>
            <a:off x="6127066" y="1057540"/>
            <a:ext cx="3303372" cy="88407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La espira se comporta como un imán</a:t>
            </a:r>
          </a:p>
        </p:txBody>
      </p:sp>
      <p:sp>
        <p:nvSpPr>
          <p:cNvPr id="114" name="Text Box 80"/>
          <p:cNvSpPr txBox="1">
            <a:spLocks noChangeArrowheads="1"/>
          </p:cNvSpPr>
          <p:nvPr/>
        </p:nvSpPr>
        <p:spPr bwMode="auto">
          <a:xfrm>
            <a:off x="8231590" y="2681663"/>
            <a:ext cx="2151331" cy="5147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>
                <a:solidFill>
                  <a:schemeClr val="tx1"/>
                </a:solidFill>
              </a:rPr>
              <a:t>SE REPELEN</a:t>
            </a:r>
          </a:p>
        </p:txBody>
      </p:sp>
      <p:grpSp>
        <p:nvGrpSpPr>
          <p:cNvPr id="116" name="Group 197"/>
          <p:cNvGrpSpPr>
            <a:grpSpLocks/>
          </p:cNvGrpSpPr>
          <p:nvPr/>
        </p:nvGrpSpPr>
        <p:grpSpPr bwMode="auto">
          <a:xfrm>
            <a:off x="4917915" y="4486353"/>
            <a:ext cx="365125" cy="536575"/>
            <a:chOff x="4853" y="3192"/>
            <a:chExt cx="230" cy="338"/>
          </a:xfrm>
        </p:grpSpPr>
        <p:sp>
          <p:nvSpPr>
            <p:cNvPr id="13365" name="Text Box 195"/>
            <p:cNvSpPr txBox="1">
              <a:spLocks noChangeArrowheads="1"/>
            </p:cNvSpPr>
            <p:nvPr/>
          </p:nvSpPr>
          <p:spPr bwMode="auto">
            <a:xfrm>
              <a:off x="4853" y="3192"/>
              <a:ext cx="230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008000"/>
                  </a:solidFill>
                </a:rPr>
                <a:t>B</a:t>
              </a:r>
            </a:p>
          </p:txBody>
        </p:sp>
        <p:sp>
          <p:nvSpPr>
            <p:cNvPr id="13366" name="Line 196"/>
            <p:cNvSpPr>
              <a:spLocks noChangeShapeType="1"/>
            </p:cNvSpPr>
            <p:nvPr/>
          </p:nvSpPr>
          <p:spPr bwMode="auto">
            <a:xfrm>
              <a:off x="4912" y="3256"/>
              <a:ext cx="113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119" name="Group 198"/>
          <p:cNvGrpSpPr>
            <a:grpSpLocks/>
          </p:cNvGrpSpPr>
          <p:nvPr/>
        </p:nvGrpSpPr>
        <p:grpSpPr bwMode="auto">
          <a:xfrm>
            <a:off x="5006825" y="1066878"/>
            <a:ext cx="404813" cy="536575"/>
            <a:chOff x="4853" y="3198"/>
            <a:chExt cx="255" cy="338"/>
          </a:xfrm>
        </p:grpSpPr>
        <p:sp>
          <p:nvSpPr>
            <p:cNvPr id="13363" name="Text Box 199"/>
            <p:cNvSpPr txBox="1">
              <a:spLocks noChangeArrowheads="1"/>
            </p:cNvSpPr>
            <p:nvPr/>
          </p:nvSpPr>
          <p:spPr bwMode="auto">
            <a:xfrm>
              <a:off x="4853" y="3198"/>
              <a:ext cx="25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008000"/>
                  </a:solidFill>
                </a:rPr>
                <a:t>B</a:t>
              </a:r>
            </a:p>
          </p:txBody>
        </p:sp>
        <p:sp>
          <p:nvSpPr>
            <p:cNvPr id="13364" name="Line 200"/>
            <p:cNvSpPr>
              <a:spLocks noChangeShapeType="1"/>
            </p:cNvSpPr>
            <p:nvPr/>
          </p:nvSpPr>
          <p:spPr bwMode="auto">
            <a:xfrm>
              <a:off x="4912" y="3256"/>
              <a:ext cx="113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122" name="Group 190"/>
          <p:cNvGrpSpPr>
            <a:grpSpLocks/>
          </p:cNvGrpSpPr>
          <p:nvPr/>
        </p:nvGrpSpPr>
        <p:grpSpPr bwMode="auto">
          <a:xfrm>
            <a:off x="4844890" y="1608216"/>
            <a:ext cx="461962" cy="514350"/>
            <a:chOff x="4807" y="861"/>
            <a:chExt cx="291" cy="324"/>
          </a:xfrm>
        </p:grpSpPr>
        <p:sp>
          <p:nvSpPr>
            <p:cNvPr id="13360" name="Oval 35"/>
            <p:cNvSpPr>
              <a:spLocks noChangeArrowheads="1"/>
            </p:cNvSpPr>
            <p:nvPr/>
          </p:nvSpPr>
          <p:spPr bwMode="auto">
            <a:xfrm>
              <a:off x="4807" y="861"/>
              <a:ext cx="291" cy="32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3361" name="Line 36"/>
            <p:cNvSpPr>
              <a:spLocks noChangeShapeType="1"/>
            </p:cNvSpPr>
            <p:nvPr/>
          </p:nvSpPr>
          <p:spPr bwMode="auto">
            <a:xfrm rot="16200000" flipH="1">
              <a:off x="4973" y="813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2" name="Line 37"/>
            <p:cNvSpPr>
              <a:spLocks noChangeShapeType="1"/>
            </p:cNvSpPr>
            <p:nvPr/>
          </p:nvSpPr>
          <p:spPr bwMode="auto">
            <a:xfrm rot="5400000" flipH="1">
              <a:off x="4937" y="1125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330" name="Group 182"/>
          <p:cNvGrpSpPr>
            <a:grpSpLocks/>
          </p:cNvGrpSpPr>
          <p:nvPr/>
        </p:nvGrpSpPr>
        <p:grpSpPr bwMode="auto">
          <a:xfrm>
            <a:off x="1797248" y="1240217"/>
            <a:ext cx="4402137" cy="3471863"/>
            <a:chOff x="2939" y="1020"/>
            <a:chExt cx="2773" cy="2187"/>
          </a:xfrm>
        </p:grpSpPr>
        <p:sp>
          <p:nvSpPr>
            <p:cNvPr id="13343" name="Freeform 93"/>
            <p:cNvSpPr>
              <a:spLocks/>
            </p:cNvSpPr>
            <p:nvPr/>
          </p:nvSpPr>
          <p:spPr bwMode="auto">
            <a:xfrm flipV="1">
              <a:off x="4163" y="2410"/>
              <a:ext cx="688" cy="719"/>
            </a:xfrm>
            <a:custGeom>
              <a:avLst/>
              <a:gdLst>
                <a:gd name="T0" fmla="*/ 0 w 749"/>
                <a:gd name="T1" fmla="*/ 8 h 893"/>
                <a:gd name="T2" fmla="*/ 71 w 749"/>
                <a:gd name="T3" fmla="*/ 5 h 893"/>
                <a:gd name="T4" fmla="*/ 117 w 749"/>
                <a:gd name="T5" fmla="*/ 0 h 8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893">
                  <a:moveTo>
                    <a:pt x="0" y="893"/>
                  </a:moveTo>
                  <a:cubicBezTo>
                    <a:pt x="168" y="799"/>
                    <a:pt x="336" y="706"/>
                    <a:pt x="461" y="557"/>
                  </a:cubicBezTo>
                  <a:cubicBezTo>
                    <a:pt x="586" y="408"/>
                    <a:pt x="667" y="204"/>
                    <a:pt x="7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3344" name="Group 181"/>
            <p:cNvGrpSpPr>
              <a:grpSpLocks/>
            </p:cNvGrpSpPr>
            <p:nvPr/>
          </p:nvGrpSpPr>
          <p:grpSpPr bwMode="auto">
            <a:xfrm>
              <a:off x="2939" y="1020"/>
              <a:ext cx="2773" cy="2187"/>
              <a:chOff x="2840" y="1020"/>
              <a:chExt cx="2773" cy="2187"/>
            </a:xfrm>
          </p:grpSpPr>
          <p:grpSp>
            <p:nvGrpSpPr>
              <p:cNvPr id="13345" name="Group 180"/>
              <p:cNvGrpSpPr>
                <a:grpSpLocks/>
              </p:cNvGrpSpPr>
              <p:nvPr/>
            </p:nvGrpSpPr>
            <p:grpSpPr bwMode="auto">
              <a:xfrm>
                <a:off x="4059" y="1090"/>
                <a:ext cx="1554" cy="2117"/>
                <a:chOff x="4142" y="1090"/>
                <a:chExt cx="1554" cy="2117"/>
              </a:xfrm>
            </p:grpSpPr>
            <p:sp>
              <p:nvSpPr>
                <p:cNvPr id="13354" name="Freeform 86"/>
                <p:cNvSpPr>
                  <a:spLocks/>
                </p:cNvSpPr>
                <p:nvPr/>
              </p:nvSpPr>
              <p:spPr bwMode="auto">
                <a:xfrm>
                  <a:off x="4170" y="1829"/>
                  <a:ext cx="1526" cy="269"/>
                </a:xfrm>
                <a:custGeom>
                  <a:avLst/>
                  <a:gdLst>
                    <a:gd name="T0" fmla="*/ 0 w 1526"/>
                    <a:gd name="T1" fmla="*/ 269 h 269"/>
                    <a:gd name="T2" fmla="*/ 556 w 1526"/>
                    <a:gd name="T3" fmla="*/ 221 h 269"/>
                    <a:gd name="T4" fmla="*/ 1526 w 1526"/>
                    <a:gd name="T5" fmla="*/ 0 h 26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26" h="269">
                      <a:moveTo>
                        <a:pt x="0" y="269"/>
                      </a:moveTo>
                      <a:cubicBezTo>
                        <a:pt x="151" y="267"/>
                        <a:pt x="302" y="266"/>
                        <a:pt x="556" y="221"/>
                      </a:cubicBezTo>
                      <a:cubicBezTo>
                        <a:pt x="810" y="176"/>
                        <a:pt x="1168" y="88"/>
                        <a:pt x="1526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55" name="Freeform 87"/>
                <p:cNvSpPr>
                  <a:spLocks/>
                </p:cNvSpPr>
                <p:nvPr/>
              </p:nvSpPr>
              <p:spPr bwMode="auto">
                <a:xfrm>
                  <a:off x="4160" y="1484"/>
                  <a:ext cx="1449" cy="547"/>
                </a:xfrm>
                <a:custGeom>
                  <a:avLst/>
                  <a:gdLst>
                    <a:gd name="T0" fmla="*/ 0 w 1449"/>
                    <a:gd name="T1" fmla="*/ 547 h 547"/>
                    <a:gd name="T2" fmla="*/ 873 w 1449"/>
                    <a:gd name="T3" fmla="*/ 355 h 547"/>
                    <a:gd name="T4" fmla="*/ 1449 w 1449"/>
                    <a:gd name="T5" fmla="*/ 0 h 54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9" h="547">
                      <a:moveTo>
                        <a:pt x="0" y="547"/>
                      </a:moveTo>
                      <a:cubicBezTo>
                        <a:pt x="316" y="496"/>
                        <a:pt x="632" y="446"/>
                        <a:pt x="873" y="355"/>
                      </a:cubicBezTo>
                      <a:cubicBezTo>
                        <a:pt x="1114" y="264"/>
                        <a:pt x="1281" y="132"/>
                        <a:pt x="1449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56" name="Freeform 89"/>
                <p:cNvSpPr>
                  <a:spLocks/>
                </p:cNvSpPr>
                <p:nvPr/>
              </p:nvSpPr>
              <p:spPr bwMode="auto">
                <a:xfrm flipV="1">
                  <a:off x="4163" y="2199"/>
                  <a:ext cx="1526" cy="269"/>
                </a:xfrm>
                <a:custGeom>
                  <a:avLst/>
                  <a:gdLst>
                    <a:gd name="T0" fmla="*/ 0 w 1526"/>
                    <a:gd name="T1" fmla="*/ 269 h 269"/>
                    <a:gd name="T2" fmla="*/ 556 w 1526"/>
                    <a:gd name="T3" fmla="*/ 221 h 269"/>
                    <a:gd name="T4" fmla="*/ 1526 w 1526"/>
                    <a:gd name="T5" fmla="*/ 0 h 26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26" h="269">
                      <a:moveTo>
                        <a:pt x="0" y="269"/>
                      </a:moveTo>
                      <a:cubicBezTo>
                        <a:pt x="151" y="267"/>
                        <a:pt x="302" y="266"/>
                        <a:pt x="556" y="221"/>
                      </a:cubicBezTo>
                      <a:cubicBezTo>
                        <a:pt x="810" y="176"/>
                        <a:pt x="1168" y="88"/>
                        <a:pt x="1526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57" name="Freeform 90"/>
                <p:cNvSpPr>
                  <a:spLocks/>
                </p:cNvSpPr>
                <p:nvPr/>
              </p:nvSpPr>
              <p:spPr bwMode="auto">
                <a:xfrm flipV="1">
                  <a:off x="4153" y="2266"/>
                  <a:ext cx="1449" cy="547"/>
                </a:xfrm>
                <a:custGeom>
                  <a:avLst/>
                  <a:gdLst>
                    <a:gd name="T0" fmla="*/ 0 w 1449"/>
                    <a:gd name="T1" fmla="*/ 547 h 547"/>
                    <a:gd name="T2" fmla="*/ 873 w 1449"/>
                    <a:gd name="T3" fmla="*/ 355 h 547"/>
                    <a:gd name="T4" fmla="*/ 1449 w 1449"/>
                    <a:gd name="T5" fmla="*/ 0 h 54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9" h="547">
                      <a:moveTo>
                        <a:pt x="0" y="547"/>
                      </a:moveTo>
                      <a:cubicBezTo>
                        <a:pt x="316" y="496"/>
                        <a:pt x="632" y="446"/>
                        <a:pt x="873" y="355"/>
                      </a:cubicBezTo>
                      <a:cubicBezTo>
                        <a:pt x="1114" y="264"/>
                        <a:pt x="1281" y="132"/>
                        <a:pt x="1449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58" name="Freeform 91"/>
                <p:cNvSpPr>
                  <a:spLocks/>
                </p:cNvSpPr>
                <p:nvPr/>
              </p:nvSpPr>
              <p:spPr bwMode="auto">
                <a:xfrm flipV="1">
                  <a:off x="4142" y="2334"/>
                  <a:ext cx="1133" cy="873"/>
                </a:xfrm>
                <a:custGeom>
                  <a:avLst/>
                  <a:gdLst>
                    <a:gd name="T0" fmla="*/ 0 w 1133"/>
                    <a:gd name="T1" fmla="*/ 873 h 873"/>
                    <a:gd name="T2" fmla="*/ 615 w 1133"/>
                    <a:gd name="T3" fmla="*/ 605 h 873"/>
                    <a:gd name="T4" fmla="*/ 1133 w 1133"/>
                    <a:gd name="T5" fmla="*/ 0 h 8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133" h="873">
                      <a:moveTo>
                        <a:pt x="0" y="873"/>
                      </a:moveTo>
                      <a:cubicBezTo>
                        <a:pt x="213" y="811"/>
                        <a:pt x="426" y="750"/>
                        <a:pt x="615" y="605"/>
                      </a:cubicBezTo>
                      <a:cubicBezTo>
                        <a:pt x="804" y="460"/>
                        <a:pt x="968" y="230"/>
                        <a:pt x="1133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59" name="Freeform 88"/>
                <p:cNvSpPr>
                  <a:spLocks/>
                </p:cNvSpPr>
                <p:nvPr/>
              </p:nvSpPr>
              <p:spPr bwMode="auto">
                <a:xfrm>
                  <a:off x="4149" y="1090"/>
                  <a:ext cx="1133" cy="873"/>
                </a:xfrm>
                <a:custGeom>
                  <a:avLst/>
                  <a:gdLst>
                    <a:gd name="T0" fmla="*/ 0 w 1133"/>
                    <a:gd name="T1" fmla="*/ 873 h 873"/>
                    <a:gd name="T2" fmla="*/ 615 w 1133"/>
                    <a:gd name="T3" fmla="*/ 605 h 873"/>
                    <a:gd name="T4" fmla="*/ 1133 w 1133"/>
                    <a:gd name="T5" fmla="*/ 0 h 8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133" h="873">
                      <a:moveTo>
                        <a:pt x="0" y="873"/>
                      </a:moveTo>
                      <a:cubicBezTo>
                        <a:pt x="213" y="811"/>
                        <a:pt x="426" y="750"/>
                        <a:pt x="615" y="605"/>
                      </a:cubicBezTo>
                      <a:cubicBezTo>
                        <a:pt x="804" y="460"/>
                        <a:pt x="968" y="230"/>
                        <a:pt x="1133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3346" name="Group 179"/>
              <p:cNvGrpSpPr>
                <a:grpSpLocks/>
              </p:cNvGrpSpPr>
              <p:nvPr/>
            </p:nvGrpSpPr>
            <p:grpSpPr bwMode="auto">
              <a:xfrm>
                <a:off x="2840" y="1020"/>
                <a:ext cx="1968" cy="1404"/>
                <a:chOff x="2923" y="1020"/>
                <a:chExt cx="1968" cy="1404"/>
              </a:xfrm>
            </p:grpSpPr>
            <p:sp>
              <p:nvSpPr>
                <p:cNvPr id="13347" name="Freeform 92"/>
                <p:cNvSpPr>
                  <a:spLocks/>
                </p:cNvSpPr>
                <p:nvPr/>
              </p:nvSpPr>
              <p:spPr bwMode="auto">
                <a:xfrm>
                  <a:off x="4142" y="1020"/>
                  <a:ext cx="749" cy="893"/>
                </a:xfrm>
                <a:custGeom>
                  <a:avLst/>
                  <a:gdLst>
                    <a:gd name="T0" fmla="*/ 0 w 749"/>
                    <a:gd name="T1" fmla="*/ 893 h 893"/>
                    <a:gd name="T2" fmla="*/ 461 w 749"/>
                    <a:gd name="T3" fmla="*/ 557 h 893"/>
                    <a:gd name="T4" fmla="*/ 749 w 749"/>
                    <a:gd name="T5" fmla="*/ 0 h 89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49" h="893">
                      <a:moveTo>
                        <a:pt x="0" y="893"/>
                      </a:moveTo>
                      <a:cubicBezTo>
                        <a:pt x="168" y="799"/>
                        <a:pt x="336" y="706"/>
                        <a:pt x="461" y="557"/>
                      </a:cubicBezTo>
                      <a:cubicBezTo>
                        <a:pt x="586" y="408"/>
                        <a:pt x="667" y="204"/>
                        <a:pt x="749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13348" name="Group 94"/>
                <p:cNvGrpSpPr>
                  <a:grpSpLocks/>
                </p:cNvGrpSpPr>
                <p:nvPr/>
              </p:nvGrpSpPr>
              <p:grpSpPr bwMode="auto">
                <a:xfrm>
                  <a:off x="2923" y="1967"/>
                  <a:ext cx="1174" cy="457"/>
                  <a:chOff x="1087" y="1341"/>
                  <a:chExt cx="1174" cy="457"/>
                </a:xfrm>
              </p:grpSpPr>
              <p:sp>
                <p:nvSpPr>
                  <p:cNvPr id="13350" name="AutoShape 95"/>
                  <p:cNvSpPr>
                    <a:spLocks noChangeArrowheads="1"/>
                  </p:cNvSpPr>
                  <p:nvPr/>
                </p:nvSpPr>
                <p:spPr bwMode="auto">
                  <a:xfrm>
                    <a:off x="1087" y="1341"/>
                    <a:ext cx="680" cy="453"/>
                  </a:xfrm>
                  <a:prstGeom prst="cube">
                    <a:avLst>
                      <a:gd name="adj" fmla="val 41773"/>
                    </a:avLst>
                  </a:prstGeom>
                  <a:solidFill>
                    <a:srgbClr val="3366FF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endParaRPr lang="en-US"/>
                  </a:p>
                </p:txBody>
              </p:sp>
              <p:sp>
                <p:nvSpPr>
                  <p:cNvPr id="13351" name="AutoShape 96"/>
                  <p:cNvSpPr>
                    <a:spLocks noChangeArrowheads="1"/>
                  </p:cNvSpPr>
                  <p:nvPr/>
                </p:nvSpPr>
                <p:spPr bwMode="auto">
                  <a:xfrm>
                    <a:off x="1581" y="1341"/>
                    <a:ext cx="680" cy="453"/>
                  </a:xfrm>
                  <a:prstGeom prst="cube">
                    <a:avLst>
                      <a:gd name="adj" fmla="val 40296"/>
                    </a:avLst>
                  </a:prstGeom>
                  <a:solidFill>
                    <a:srgbClr val="FF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endParaRPr lang="en-US"/>
                  </a:p>
                </p:txBody>
              </p:sp>
              <p:sp>
                <p:nvSpPr>
                  <p:cNvPr id="13352" name="Text Box 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6" y="1531"/>
                    <a:ext cx="315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defTabSz="1008063"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836613" indent="-322263" defTabSz="1008063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285875" indent="-257175" defTabSz="1008063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800225" indent="-257175" defTabSz="1008063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314575" indent="-257175" defTabSz="1008063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7717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32289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6861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41433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sz="2000" b="1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N</a:t>
                    </a:r>
                  </a:p>
                </p:txBody>
              </p:sp>
              <p:sp>
                <p:nvSpPr>
                  <p:cNvPr id="13353" name="Text Box 9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8" y="1535"/>
                    <a:ext cx="315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defTabSz="1008063"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836613" indent="-322263" defTabSz="1008063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285875" indent="-257175" defTabSz="1008063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800225" indent="-257175" defTabSz="1008063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314575" indent="-257175" defTabSz="1008063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7717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32289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6861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41433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sz="2000" b="1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S</a:t>
                    </a:r>
                  </a:p>
                </p:txBody>
              </p:sp>
            </p:grpSp>
          </p:grpSp>
        </p:grpSp>
      </p:grpSp>
      <p:sp>
        <p:nvSpPr>
          <p:cNvPr id="144" name="Oval 85"/>
          <p:cNvSpPr>
            <a:spLocks noChangeArrowheads="1"/>
          </p:cNvSpPr>
          <p:nvPr/>
        </p:nvSpPr>
        <p:spPr bwMode="auto">
          <a:xfrm>
            <a:off x="4846477" y="1835228"/>
            <a:ext cx="500063" cy="2233613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grpSp>
        <p:nvGrpSpPr>
          <p:cNvPr id="145" name="Group 189"/>
          <p:cNvGrpSpPr>
            <a:grpSpLocks/>
          </p:cNvGrpSpPr>
          <p:nvPr/>
        </p:nvGrpSpPr>
        <p:grpSpPr bwMode="auto">
          <a:xfrm>
            <a:off x="4936965" y="1686003"/>
            <a:ext cx="296862" cy="336550"/>
            <a:chOff x="4865" y="921"/>
            <a:chExt cx="187" cy="212"/>
          </a:xfrm>
        </p:grpSpPr>
        <p:sp>
          <p:nvSpPr>
            <p:cNvPr id="13341" name="Oval 38"/>
            <p:cNvSpPr>
              <a:spLocks noChangeArrowheads="1"/>
            </p:cNvSpPr>
            <p:nvPr/>
          </p:nvSpPr>
          <p:spPr bwMode="auto">
            <a:xfrm>
              <a:off x="4898" y="982"/>
              <a:ext cx="120" cy="11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3342" name="Text Box 39"/>
            <p:cNvSpPr txBox="1">
              <a:spLocks noChangeArrowheads="1"/>
            </p:cNvSpPr>
            <p:nvPr/>
          </p:nvSpPr>
          <p:spPr bwMode="auto">
            <a:xfrm>
              <a:off x="4865" y="92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x</a:t>
              </a:r>
            </a:p>
          </p:txBody>
        </p:sp>
      </p:grpSp>
      <p:grpSp>
        <p:nvGrpSpPr>
          <p:cNvPr id="148" name="Group 187"/>
          <p:cNvGrpSpPr>
            <a:grpSpLocks/>
          </p:cNvGrpSpPr>
          <p:nvPr/>
        </p:nvGrpSpPr>
        <p:grpSpPr bwMode="auto">
          <a:xfrm>
            <a:off x="4989352" y="3979941"/>
            <a:ext cx="190500" cy="185737"/>
            <a:chOff x="5404" y="2817"/>
            <a:chExt cx="120" cy="117"/>
          </a:xfrm>
        </p:grpSpPr>
        <p:sp>
          <p:nvSpPr>
            <p:cNvPr id="13339" name="Oval 33"/>
            <p:cNvSpPr>
              <a:spLocks noChangeArrowheads="1"/>
            </p:cNvSpPr>
            <p:nvPr/>
          </p:nvSpPr>
          <p:spPr bwMode="auto">
            <a:xfrm>
              <a:off x="5404" y="2817"/>
              <a:ext cx="120" cy="11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3340" name="Oval 34"/>
            <p:cNvSpPr>
              <a:spLocks noChangeArrowheads="1"/>
            </p:cNvSpPr>
            <p:nvPr/>
          </p:nvSpPr>
          <p:spPr bwMode="auto">
            <a:xfrm>
              <a:off x="5443" y="285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151" name="CuadroTexto 150"/>
          <p:cNvSpPr txBox="1">
            <a:spLocks noChangeArrowheads="1"/>
          </p:cNvSpPr>
          <p:nvPr/>
        </p:nvSpPr>
        <p:spPr bwMode="auto">
          <a:xfrm>
            <a:off x="1579721" y="3612821"/>
            <a:ext cx="1919750" cy="46166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Sube el flujo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13337" name="Text Box 144"/>
          <p:cNvSpPr txBox="1">
            <a:spLocks noChangeArrowheads="1"/>
          </p:cNvSpPr>
          <p:nvPr/>
        </p:nvSpPr>
        <p:spPr bwMode="auto">
          <a:xfrm>
            <a:off x="6115835" y="3752604"/>
            <a:ext cx="4244228" cy="132610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08000" rIns="144000" bIns="108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Pasa energía del movimiento del imán (se frena) a la corriente, y se disipa si R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 0</a:t>
            </a:r>
          </a:p>
        </p:txBody>
      </p:sp>
      <p:sp>
        <p:nvSpPr>
          <p:cNvPr id="69" name="Text Box 144"/>
          <p:cNvSpPr txBox="1">
            <a:spLocks noChangeArrowheads="1"/>
          </p:cNvSpPr>
          <p:nvPr/>
        </p:nvSpPr>
        <p:spPr bwMode="auto">
          <a:xfrm>
            <a:off x="1576579" y="4160951"/>
            <a:ext cx="2519623" cy="95677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08000" rIns="144000" bIns="108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Se induce una corriente horaria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73" name="Line 116">
            <a:extLst>
              <a:ext uri="{FF2B5EF4-FFF2-40B4-BE49-F238E27FC236}">
                <a16:creationId xmlns:a16="http://schemas.microsoft.com/office/drawing/2014/main" id="{124BDA9D-0E18-4125-B595-95A71847C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488" y="2073753"/>
            <a:ext cx="0" cy="416254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26000" tIns="154800" rIns="126000" bIns="154800" anchor="ctr" anchorCtr="1">
            <a:spAutoFit/>
          </a:bodyPr>
          <a:lstStyle/>
          <a:p>
            <a:endParaRPr lang="en-GB"/>
          </a:p>
        </p:txBody>
      </p:sp>
      <p:sp>
        <p:nvSpPr>
          <p:cNvPr id="74" name="Line 116">
            <a:extLst>
              <a:ext uri="{FF2B5EF4-FFF2-40B4-BE49-F238E27FC236}">
                <a16:creationId xmlns:a16="http://schemas.microsoft.com/office/drawing/2014/main" id="{5ED6DE48-3577-44D3-864C-46C537775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4804" y="3263086"/>
            <a:ext cx="0" cy="416254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26000" tIns="154800" rIns="126000" bIns="154800" anchor="ctr" anchorCtr="1">
            <a:spAutoFit/>
          </a:bodyPr>
          <a:lstStyle/>
          <a:p>
            <a:endParaRPr lang="en-GB"/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C532C7EC-97A4-40D4-B9A5-960035FC8D6C}"/>
              </a:ext>
            </a:extLst>
          </p:cNvPr>
          <p:cNvSpPr/>
          <p:nvPr/>
        </p:nvSpPr>
        <p:spPr bwMode="auto">
          <a:xfrm>
            <a:off x="9584291" y="1515095"/>
            <a:ext cx="1046602" cy="4644000"/>
          </a:xfrm>
          <a:custGeom>
            <a:avLst/>
            <a:gdLst>
              <a:gd name="connsiteX0" fmla="*/ 870332 w 1046602"/>
              <a:gd name="connsiteY0" fmla="*/ 4318612 h 4329629"/>
              <a:gd name="connsiteX1" fmla="*/ 1046602 w 1046602"/>
              <a:gd name="connsiteY1" fmla="*/ 4329629 h 4329629"/>
              <a:gd name="connsiteX2" fmla="*/ 1046602 w 1046602"/>
              <a:gd name="connsiteY2" fmla="*/ 0 h 4329629"/>
              <a:gd name="connsiteX3" fmla="*/ 0 w 1046602"/>
              <a:gd name="connsiteY3" fmla="*/ 0 h 4329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602" h="4329629">
                <a:moveTo>
                  <a:pt x="870332" y="4318612"/>
                </a:moveTo>
                <a:lnTo>
                  <a:pt x="1046602" y="4329629"/>
                </a:lnTo>
                <a:lnTo>
                  <a:pt x="1046602" y="0"/>
                </a:lnTo>
                <a:lnTo>
                  <a:pt x="0" y="0"/>
                </a:lnTo>
              </a:path>
            </a:pathLst>
          </a:custGeom>
          <a:noFill/>
          <a:ln w="762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DDBFEEA-6C6F-4778-95A5-55315A830C0D}"/>
              </a:ext>
            </a:extLst>
          </p:cNvPr>
          <p:cNvGrpSpPr/>
          <p:nvPr/>
        </p:nvGrpSpPr>
        <p:grpSpPr>
          <a:xfrm>
            <a:off x="1555141" y="5161217"/>
            <a:ext cx="2179416" cy="1241930"/>
            <a:chOff x="1446986" y="4669686"/>
            <a:chExt cx="2179416" cy="1241930"/>
          </a:xfrm>
        </p:grpSpPr>
        <p:sp>
          <p:nvSpPr>
            <p:cNvPr id="72" name="Line 116">
              <a:extLst>
                <a:ext uri="{FF2B5EF4-FFF2-40B4-BE49-F238E27FC236}">
                  <a16:creationId xmlns:a16="http://schemas.microsoft.com/office/drawing/2014/main" id="{F442C48B-6645-46C6-B53E-10461F828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5893" y="4669686"/>
              <a:ext cx="0" cy="670381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126000" tIns="154800" rIns="126000" bIns="154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76" name="Text Box 80">
              <a:extLst>
                <a:ext uri="{FF2B5EF4-FFF2-40B4-BE49-F238E27FC236}">
                  <a16:creationId xmlns:a16="http://schemas.microsoft.com/office/drawing/2014/main" id="{40D52925-87E0-4B0A-AE89-65C7DC549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6986" y="5396878"/>
              <a:ext cx="2179416" cy="514738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ffectLst/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 dirty="0">
                  <a:solidFill>
                    <a:srgbClr val="FFFFFF"/>
                  </a:solidFill>
                </a:rPr>
                <a:t>LEY DE LENZ</a:t>
              </a:r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97DF8DC8-CE14-4910-9031-8DEFAECD756E}"/>
              </a:ext>
            </a:extLst>
          </p:cNvPr>
          <p:cNvGrpSpPr/>
          <p:nvPr/>
        </p:nvGrpSpPr>
        <p:grpSpPr>
          <a:xfrm rot="11983254">
            <a:off x="5920053" y="2710099"/>
            <a:ext cx="531319" cy="562500"/>
            <a:chOff x="1555026" y="6007645"/>
            <a:chExt cx="531319" cy="562500"/>
          </a:xfrm>
        </p:grpSpPr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16FD896D-B462-4D47-8D8A-56709E87516D}"/>
                </a:ext>
              </a:extLst>
            </p:cNvPr>
            <p:cNvSpPr/>
            <p:nvPr/>
          </p:nvSpPr>
          <p:spPr bwMode="auto">
            <a:xfrm rot="20388315">
              <a:off x="1555026" y="6007645"/>
              <a:ext cx="531319" cy="56250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67" name="Group 53">
              <a:extLst>
                <a:ext uri="{FF2B5EF4-FFF2-40B4-BE49-F238E27FC236}">
                  <a16:creationId xmlns:a16="http://schemas.microsoft.com/office/drawing/2014/main" id="{D1A10937-4AA6-4E1D-A2B1-B175161A2C44}"/>
                </a:ext>
              </a:extLst>
            </p:cNvPr>
            <p:cNvGrpSpPr>
              <a:grpSpLocks/>
            </p:cNvGrpSpPr>
            <p:nvPr/>
          </p:nvGrpSpPr>
          <p:grpSpPr bwMode="auto">
            <a:xfrm rot="20388376">
              <a:off x="1592930" y="6081194"/>
              <a:ext cx="407987" cy="422275"/>
              <a:chOff x="1342" y="3560"/>
              <a:chExt cx="257" cy="266"/>
            </a:xfrm>
          </p:grpSpPr>
          <p:sp>
            <p:nvSpPr>
              <p:cNvPr id="68" name="Line 54">
                <a:extLst>
                  <a:ext uri="{FF2B5EF4-FFF2-40B4-BE49-F238E27FC236}">
                    <a16:creationId xmlns:a16="http://schemas.microsoft.com/office/drawing/2014/main" id="{B86E8406-2FFF-4F8F-B86B-C5A2923C5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2" y="3560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70" name="Line 55">
                <a:extLst>
                  <a:ext uri="{FF2B5EF4-FFF2-40B4-BE49-F238E27FC236}">
                    <a16:creationId xmlns:a16="http://schemas.microsoft.com/office/drawing/2014/main" id="{A7E060B4-ED3D-4775-A3F0-B00AF0726B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371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71" name="Oval 56">
                <a:extLst>
                  <a:ext uri="{FF2B5EF4-FFF2-40B4-BE49-F238E27FC236}">
                    <a16:creationId xmlns:a16="http://schemas.microsoft.com/office/drawing/2014/main" id="{07EBD647-9595-4081-A780-761CBB9390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4" y="3596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62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13376" grpId="0" animBg="1"/>
      <p:bldP spid="662640" grpId="0" animBg="1"/>
      <p:bldP spid="2" grpId="0" animBg="1"/>
      <p:bldP spid="102" grpId="0" animBg="1"/>
      <p:bldP spid="103" grpId="0" animBg="1"/>
      <p:bldP spid="104" grpId="0" animBg="1"/>
      <p:bldP spid="105" grpId="0"/>
      <p:bldP spid="13367" grpId="0" animBg="1"/>
      <p:bldP spid="114" grpId="0" animBg="1"/>
      <p:bldP spid="144" grpId="0" animBg="1"/>
      <p:bldP spid="151" grpId="0" animBg="1"/>
      <p:bldP spid="13337" grpId="0" animBg="1"/>
      <p:bldP spid="69" grpId="0" animBg="1"/>
      <p:bldP spid="73" grpId="0" animBg="1"/>
      <p:bldP spid="74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Box 146">
            <a:extLst>
              <a:ext uri="{FF2B5EF4-FFF2-40B4-BE49-F238E27FC236}">
                <a16:creationId xmlns:a16="http://schemas.microsoft.com/office/drawing/2014/main" id="{1E140422-A38B-473F-80F9-217ED4A0F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442" y="5552287"/>
            <a:ext cx="7299622" cy="12752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Se repelen, o atraen, según </a:t>
            </a:r>
            <a:r>
              <a:rPr lang="es-ES" sz="2400">
                <a:solidFill>
                  <a:schemeClr val="tx1"/>
                </a:solidFill>
              </a:rPr>
              <a:t>la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 resultante por efecto de la inducción</a:t>
            </a:r>
            <a:r>
              <a:rPr lang="es-ES" sz="2400" baseline="-2500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(el </a:t>
            </a:r>
            <a:r>
              <a:rPr lang="es-ES" sz="2400">
                <a:solidFill>
                  <a:schemeClr val="tx1"/>
                </a:solidFill>
              </a:rPr>
              <a:t>imán pierde o gana </a:t>
            </a:r>
            <a:r>
              <a:rPr lang="es-ES" sz="2400" dirty="0">
                <a:solidFill>
                  <a:schemeClr val="tx1"/>
                </a:solidFill>
              </a:rPr>
              <a:t>energía, respectivamente, por ganarla o perderla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)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78" name="Text Box 112">
            <a:extLst>
              <a:ext uri="{FF2B5EF4-FFF2-40B4-BE49-F238E27FC236}">
                <a16:creationId xmlns:a16="http://schemas.microsoft.com/office/drawing/2014/main" id="{45078AB0-DC54-415A-A28A-8B012B5E5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402" y="5566047"/>
            <a:ext cx="1332714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/>
              <a:t>Si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-25000" dirty="0"/>
              <a:t>0</a:t>
            </a:r>
            <a:r>
              <a:rPr lang="es-ES" sz="2400" dirty="0"/>
              <a:t> </a:t>
            </a:r>
            <a:r>
              <a:rPr lang="es-ES" sz="2400">
                <a:sym typeface="Symbol" panose="05050102010706020507" pitchFamily="18" charset="2"/>
              </a:rPr>
              <a:t></a:t>
            </a:r>
            <a:r>
              <a:rPr lang="es-ES" sz="2400"/>
              <a:t> 0</a:t>
            </a:r>
            <a:endParaRPr lang="es-ES" sz="24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828043F-EFFF-0EB5-16AA-B642277CEBAB}"/>
              </a:ext>
            </a:extLst>
          </p:cNvPr>
          <p:cNvSpPr/>
          <p:nvPr/>
        </p:nvSpPr>
        <p:spPr bwMode="auto">
          <a:xfrm>
            <a:off x="1381238" y="906932"/>
            <a:ext cx="5287979" cy="432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" name="Freeform 149">
            <a:extLst>
              <a:ext uri="{FF2B5EF4-FFF2-40B4-BE49-F238E27FC236}">
                <a16:creationId xmlns:a16="http://schemas.microsoft.com/office/drawing/2014/main" id="{684BB67C-BB0C-3A56-60BF-1CE1CBC68949}"/>
              </a:ext>
            </a:extLst>
          </p:cNvPr>
          <p:cNvSpPr>
            <a:spLocks/>
          </p:cNvSpPr>
          <p:nvPr/>
        </p:nvSpPr>
        <p:spPr bwMode="auto">
          <a:xfrm flipH="1">
            <a:off x="4457629" y="1042048"/>
            <a:ext cx="1308010" cy="3983038"/>
          </a:xfrm>
          <a:custGeom>
            <a:avLst/>
            <a:gdLst>
              <a:gd name="T0" fmla="*/ 0 w 824"/>
              <a:gd name="T1" fmla="*/ 0 h 2509"/>
              <a:gd name="T2" fmla="*/ 2147483646 w 824"/>
              <a:gd name="T3" fmla="*/ 2147483646 h 2509"/>
              <a:gd name="T4" fmla="*/ 2147483646 w 824"/>
              <a:gd name="T5" fmla="*/ 2147483646 h 2509"/>
              <a:gd name="T6" fmla="*/ 2147483646 w 824"/>
              <a:gd name="T7" fmla="*/ 2147483646 h 2509"/>
              <a:gd name="T8" fmla="*/ 0 w 824"/>
              <a:gd name="T9" fmla="*/ 0 h 25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24" h="2509">
                <a:moveTo>
                  <a:pt x="0" y="0"/>
                </a:moveTo>
                <a:lnTo>
                  <a:pt x="7" y="1969"/>
                </a:lnTo>
                <a:lnTo>
                  <a:pt x="824" y="2509"/>
                </a:lnTo>
                <a:lnTo>
                  <a:pt x="824" y="453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4" name="Text Box 112">
            <a:extLst>
              <a:ext uri="{FF2B5EF4-FFF2-40B4-BE49-F238E27FC236}">
                <a16:creationId xmlns:a16="http://schemas.microsoft.com/office/drawing/2014/main" id="{6CDAC4E6-6B72-1C98-C5BF-7D77F4A24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244" y="1137390"/>
            <a:ext cx="2406726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 baseline="-25000"/>
              <a:t>0</a:t>
            </a:r>
            <a:r>
              <a:rPr lang="es-ES" sz="2400"/>
              <a:t> = 0 en lámina</a:t>
            </a:r>
          </a:p>
        </p:txBody>
      </p:sp>
      <p:grpSp>
        <p:nvGrpSpPr>
          <p:cNvPr id="5" name="Group 188">
            <a:extLst>
              <a:ext uri="{FF2B5EF4-FFF2-40B4-BE49-F238E27FC236}">
                <a16:creationId xmlns:a16="http://schemas.microsoft.com/office/drawing/2014/main" id="{4A8A6B52-1348-BE4E-A572-DC4BB5529F6A}"/>
              </a:ext>
            </a:extLst>
          </p:cNvPr>
          <p:cNvGrpSpPr>
            <a:grpSpLocks/>
          </p:cNvGrpSpPr>
          <p:nvPr/>
        </p:nvGrpSpPr>
        <p:grpSpPr bwMode="auto">
          <a:xfrm>
            <a:off x="4856002" y="3805316"/>
            <a:ext cx="461963" cy="514350"/>
            <a:chOff x="4825" y="2707"/>
            <a:chExt cx="291" cy="324"/>
          </a:xfrm>
        </p:grpSpPr>
        <p:sp>
          <p:nvSpPr>
            <p:cNvPr id="6" name="Oval 30">
              <a:extLst>
                <a:ext uri="{FF2B5EF4-FFF2-40B4-BE49-F238E27FC236}">
                  <a16:creationId xmlns:a16="http://schemas.microsoft.com/office/drawing/2014/main" id="{35A6A4A5-C1E0-DF9D-7432-0A41174D0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5" y="2707"/>
              <a:ext cx="291" cy="32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7" name="Line 31">
              <a:extLst>
                <a:ext uri="{FF2B5EF4-FFF2-40B4-BE49-F238E27FC236}">
                  <a16:creationId xmlns:a16="http://schemas.microsoft.com/office/drawing/2014/main" id="{D4169886-DB6A-F9BF-0E38-666D1E32EC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61" y="2654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32">
              <a:extLst>
                <a:ext uri="{FF2B5EF4-FFF2-40B4-BE49-F238E27FC236}">
                  <a16:creationId xmlns:a16="http://schemas.microsoft.com/office/drawing/2014/main" id="{21AF2F82-3F68-7FE3-F841-F912DA57D9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85" y="2966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AutoShape 99">
            <a:extLst>
              <a:ext uri="{FF2B5EF4-FFF2-40B4-BE49-F238E27FC236}">
                <a16:creationId xmlns:a16="http://schemas.microsoft.com/office/drawing/2014/main" id="{4478D237-2C30-48DE-06F3-F78416A56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0422" y="2072067"/>
            <a:ext cx="773113" cy="508000"/>
          </a:xfrm>
          <a:prstGeom prst="rightArrow">
            <a:avLst>
              <a:gd name="adj1" fmla="val 40620"/>
              <a:gd name="adj2" fmla="val 4714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0" name="Line 100">
            <a:extLst>
              <a:ext uri="{FF2B5EF4-FFF2-40B4-BE49-F238E27FC236}">
                <a16:creationId xmlns:a16="http://schemas.microsoft.com/office/drawing/2014/main" id="{23A3B52B-5244-107A-8D43-75A362ED6A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8065" y="2925841"/>
            <a:ext cx="0" cy="2301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1" name="Line 101">
            <a:extLst>
              <a:ext uri="{FF2B5EF4-FFF2-40B4-BE49-F238E27FC236}">
                <a16:creationId xmlns:a16="http://schemas.microsoft.com/office/drawing/2014/main" id="{F0CA1317-6501-35F4-13AA-945B22DF4B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1777" y="2695653"/>
            <a:ext cx="0" cy="23018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2" name="Text Box 105">
            <a:extLst>
              <a:ext uri="{FF2B5EF4-FFF2-40B4-BE49-F238E27FC236}">
                <a16:creationId xmlns:a16="http://schemas.microsoft.com/office/drawing/2014/main" id="{39199DC1-C1AA-0372-8B38-E3FB9F961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5992" y="2512163"/>
            <a:ext cx="422777" cy="681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8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26000" tIns="154800" rIns="126000" bIns="154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grpSp>
        <p:nvGrpSpPr>
          <p:cNvPr id="13" name="Group 111">
            <a:extLst>
              <a:ext uri="{FF2B5EF4-FFF2-40B4-BE49-F238E27FC236}">
                <a16:creationId xmlns:a16="http://schemas.microsoft.com/office/drawing/2014/main" id="{D89DA667-ABAA-AAF8-674F-A8244C7A570E}"/>
              </a:ext>
            </a:extLst>
          </p:cNvPr>
          <p:cNvGrpSpPr>
            <a:grpSpLocks/>
          </p:cNvGrpSpPr>
          <p:nvPr/>
        </p:nvGrpSpPr>
        <p:grpSpPr bwMode="auto">
          <a:xfrm>
            <a:off x="6826701" y="2625563"/>
            <a:ext cx="1306513" cy="503237"/>
            <a:chOff x="5704" y="1990"/>
            <a:chExt cx="823" cy="317"/>
          </a:xfrm>
        </p:grpSpPr>
        <p:sp>
          <p:nvSpPr>
            <p:cNvPr id="14" name="AutoShape 107">
              <a:extLst>
                <a:ext uri="{FF2B5EF4-FFF2-40B4-BE49-F238E27FC236}">
                  <a16:creationId xmlns:a16="http://schemas.microsoft.com/office/drawing/2014/main" id="{3CBBFBD6-B739-DE7C-8466-1641D17FC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4" y="1990"/>
              <a:ext cx="477" cy="317"/>
            </a:xfrm>
            <a:prstGeom prst="cube">
              <a:avLst>
                <a:gd name="adj" fmla="val 41773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5" name="AutoShape 108">
              <a:extLst>
                <a:ext uri="{FF2B5EF4-FFF2-40B4-BE49-F238E27FC236}">
                  <a16:creationId xmlns:a16="http://schemas.microsoft.com/office/drawing/2014/main" id="{C7F7EF5A-40D7-C92F-DE8B-3E033EC0E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0" y="1990"/>
              <a:ext cx="477" cy="317"/>
            </a:xfrm>
            <a:prstGeom prst="cube">
              <a:avLst>
                <a:gd name="adj" fmla="val 40296"/>
              </a:avLst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6" name="Text Box 109">
              <a:extLst>
                <a:ext uri="{FF2B5EF4-FFF2-40B4-BE49-F238E27FC236}">
                  <a16:creationId xmlns:a16="http://schemas.microsoft.com/office/drawing/2014/main" id="{03AD0660-2D7B-5B0F-D7DF-18F68A8DB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4" y="2107"/>
              <a:ext cx="221" cy="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836613" indent="-322263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285875" indent="-257175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00225" indent="-257175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314575" indent="-257175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717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289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861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433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1600" b="1">
                  <a:solidFill>
                    <a:srgbClr val="FFFFFF"/>
                  </a:solidFill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17" name="Text Box 110">
              <a:extLst>
                <a:ext uri="{FF2B5EF4-FFF2-40B4-BE49-F238E27FC236}">
                  <a16:creationId xmlns:a16="http://schemas.microsoft.com/office/drawing/2014/main" id="{AC832B88-0B70-4D92-54A4-9B4CB068D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1" y="2097"/>
              <a:ext cx="221" cy="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836613" indent="-322263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285875" indent="-257175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00225" indent="-257175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314575" indent="-257175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717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289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861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433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1600" b="1">
                  <a:solidFill>
                    <a:srgbClr val="FFFFFF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18" name="Text Box 115">
            <a:extLst>
              <a:ext uri="{FF2B5EF4-FFF2-40B4-BE49-F238E27FC236}">
                <a16:creationId xmlns:a16="http://schemas.microsoft.com/office/drawing/2014/main" id="{359FDF73-3969-1365-521F-4D015809D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066" y="1057540"/>
            <a:ext cx="3303372" cy="88407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La espira se comporta como un imán</a:t>
            </a:r>
          </a:p>
        </p:txBody>
      </p:sp>
      <p:sp>
        <p:nvSpPr>
          <p:cNvPr id="19" name="Text Box 80">
            <a:extLst>
              <a:ext uri="{FF2B5EF4-FFF2-40B4-BE49-F238E27FC236}">
                <a16:creationId xmlns:a16="http://schemas.microsoft.com/office/drawing/2014/main" id="{39A68D9F-0112-D98A-34E1-B88B8C968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1590" y="2681663"/>
            <a:ext cx="2151331" cy="5147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>
                <a:solidFill>
                  <a:schemeClr val="tx1"/>
                </a:solidFill>
              </a:rPr>
              <a:t>SE REPELEN</a:t>
            </a:r>
          </a:p>
        </p:txBody>
      </p:sp>
      <p:grpSp>
        <p:nvGrpSpPr>
          <p:cNvPr id="20" name="Group 197">
            <a:extLst>
              <a:ext uri="{FF2B5EF4-FFF2-40B4-BE49-F238E27FC236}">
                <a16:creationId xmlns:a16="http://schemas.microsoft.com/office/drawing/2014/main" id="{738E4138-070E-311B-1DBD-480BFA3118C1}"/>
              </a:ext>
            </a:extLst>
          </p:cNvPr>
          <p:cNvGrpSpPr>
            <a:grpSpLocks/>
          </p:cNvGrpSpPr>
          <p:nvPr/>
        </p:nvGrpSpPr>
        <p:grpSpPr bwMode="auto">
          <a:xfrm>
            <a:off x="4917915" y="4486353"/>
            <a:ext cx="365125" cy="536575"/>
            <a:chOff x="4853" y="3192"/>
            <a:chExt cx="230" cy="338"/>
          </a:xfrm>
        </p:grpSpPr>
        <p:sp>
          <p:nvSpPr>
            <p:cNvPr id="21" name="Text Box 195">
              <a:extLst>
                <a:ext uri="{FF2B5EF4-FFF2-40B4-BE49-F238E27FC236}">
                  <a16:creationId xmlns:a16="http://schemas.microsoft.com/office/drawing/2014/main" id="{076809A9-A4E9-E6C4-A2C0-9F04D01FC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3" y="3192"/>
              <a:ext cx="230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008000"/>
                  </a:solidFill>
                </a:rPr>
                <a:t>B</a:t>
              </a:r>
            </a:p>
          </p:txBody>
        </p:sp>
        <p:sp>
          <p:nvSpPr>
            <p:cNvPr id="22" name="Line 196">
              <a:extLst>
                <a:ext uri="{FF2B5EF4-FFF2-40B4-BE49-F238E27FC236}">
                  <a16:creationId xmlns:a16="http://schemas.microsoft.com/office/drawing/2014/main" id="{2A378D9D-59B3-F8F0-9A14-FBBB126A8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2" y="3256"/>
              <a:ext cx="113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23" name="Group 198">
            <a:extLst>
              <a:ext uri="{FF2B5EF4-FFF2-40B4-BE49-F238E27FC236}">
                <a16:creationId xmlns:a16="http://schemas.microsoft.com/office/drawing/2014/main" id="{088F5D5C-9515-5B13-B90F-45F2A52D3162}"/>
              </a:ext>
            </a:extLst>
          </p:cNvPr>
          <p:cNvGrpSpPr>
            <a:grpSpLocks/>
          </p:cNvGrpSpPr>
          <p:nvPr/>
        </p:nvGrpSpPr>
        <p:grpSpPr bwMode="auto">
          <a:xfrm>
            <a:off x="5006825" y="1066878"/>
            <a:ext cx="404813" cy="536575"/>
            <a:chOff x="4853" y="3198"/>
            <a:chExt cx="255" cy="338"/>
          </a:xfrm>
        </p:grpSpPr>
        <p:sp>
          <p:nvSpPr>
            <p:cNvPr id="24" name="Text Box 199">
              <a:extLst>
                <a:ext uri="{FF2B5EF4-FFF2-40B4-BE49-F238E27FC236}">
                  <a16:creationId xmlns:a16="http://schemas.microsoft.com/office/drawing/2014/main" id="{7B74FD98-E4F0-ED94-D5C7-7775D050E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3" y="3198"/>
              <a:ext cx="25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008000"/>
                  </a:solidFill>
                </a:rPr>
                <a:t>B</a:t>
              </a:r>
            </a:p>
          </p:txBody>
        </p:sp>
        <p:sp>
          <p:nvSpPr>
            <p:cNvPr id="25" name="Line 200">
              <a:extLst>
                <a:ext uri="{FF2B5EF4-FFF2-40B4-BE49-F238E27FC236}">
                  <a16:creationId xmlns:a16="http://schemas.microsoft.com/office/drawing/2014/main" id="{D348166F-9E4B-5385-D6B4-418D9442C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2" y="3256"/>
              <a:ext cx="113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26" name="Group 190">
            <a:extLst>
              <a:ext uri="{FF2B5EF4-FFF2-40B4-BE49-F238E27FC236}">
                <a16:creationId xmlns:a16="http://schemas.microsoft.com/office/drawing/2014/main" id="{A5DC6FF6-0B4E-0E20-1F11-BF2DFA16FF92}"/>
              </a:ext>
            </a:extLst>
          </p:cNvPr>
          <p:cNvGrpSpPr>
            <a:grpSpLocks/>
          </p:cNvGrpSpPr>
          <p:nvPr/>
        </p:nvGrpSpPr>
        <p:grpSpPr bwMode="auto">
          <a:xfrm>
            <a:off x="4844890" y="1608216"/>
            <a:ext cx="461962" cy="514350"/>
            <a:chOff x="4807" y="861"/>
            <a:chExt cx="291" cy="324"/>
          </a:xfrm>
        </p:grpSpPr>
        <p:sp>
          <p:nvSpPr>
            <p:cNvPr id="27" name="Oval 35">
              <a:extLst>
                <a:ext uri="{FF2B5EF4-FFF2-40B4-BE49-F238E27FC236}">
                  <a16:creationId xmlns:a16="http://schemas.microsoft.com/office/drawing/2014/main" id="{EB476BFB-9560-D12B-C432-DEBEBB81C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7" y="861"/>
              <a:ext cx="291" cy="32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28" name="Line 36">
              <a:extLst>
                <a:ext uri="{FF2B5EF4-FFF2-40B4-BE49-F238E27FC236}">
                  <a16:creationId xmlns:a16="http://schemas.microsoft.com/office/drawing/2014/main" id="{C438A8C3-21FE-0EF2-970D-107904B0BB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973" y="813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Line 37">
              <a:extLst>
                <a:ext uri="{FF2B5EF4-FFF2-40B4-BE49-F238E27FC236}">
                  <a16:creationId xmlns:a16="http://schemas.microsoft.com/office/drawing/2014/main" id="{EA47632F-05AE-DABD-C205-20419B835D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4937" y="1125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0" name="Group 182">
            <a:extLst>
              <a:ext uri="{FF2B5EF4-FFF2-40B4-BE49-F238E27FC236}">
                <a16:creationId xmlns:a16="http://schemas.microsoft.com/office/drawing/2014/main" id="{232E88F4-048D-2107-24F6-1C81759779FB}"/>
              </a:ext>
            </a:extLst>
          </p:cNvPr>
          <p:cNvGrpSpPr>
            <a:grpSpLocks/>
          </p:cNvGrpSpPr>
          <p:nvPr/>
        </p:nvGrpSpPr>
        <p:grpSpPr bwMode="auto">
          <a:xfrm>
            <a:off x="1797248" y="1240217"/>
            <a:ext cx="4402137" cy="3471863"/>
            <a:chOff x="2939" y="1020"/>
            <a:chExt cx="2773" cy="2187"/>
          </a:xfrm>
        </p:grpSpPr>
        <p:sp>
          <p:nvSpPr>
            <p:cNvPr id="31" name="Freeform 93">
              <a:extLst>
                <a:ext uri="{FF2B5EF4-FFF2-40B4-BE49-F238E27FC236}">
                  <a16:creationId xmlns:a16="http://schemas.microsoft.com/office/drawing/2014/main" id="{96FED3E5-303C-EF2F-7E51-C38C79F0F65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163" y="2410"/>
              <a:ext cx="688" cy="719"/>
            </a:xfrm>
            <a:custGeom>
              <a:avLst/>
              <a:gdLst>
                <a:gd name="T0" fmla="*/ 0 w 749"/>
                <a:gd name="T1" fmla="*/ 8 h 893"/>
                <a:gd name="T2" fmla="*/ 71 w 749"/>
                <a:gd name="T3" fmla="*/ 5 h 893"/>
                <a:gd name="T4" fmla="*/ 117 w 749"/>
                <a:gd name="T5" fmla="*/ 0 h 8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893">
                  <a:moveTo>
                    <a:pt x="0" y="893"/>
                  </a:moveTo>
                  <a:cubicBezTo>
                    <a:pt x="168" y="799"/>
                    <a:pt x="336" y="706"/>
                    <a:pt x="461" y="557"/>
                  </a:cubicBezTo>
                  <a:cubicBezTo>
                    <a:pt x="586" y="408"/>
                    <a:pt x="667" y="204"/>
                    <a:pt x="7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2" name="Group 181">
              <a:extLst>
                <a:ext uri="{FF2B5EF4-FFF2-40B4-BE49-F238E27FC236}">
                  <a16:creationId xmlns:a16="http://schemas.microsoft.com/office/drawing/2014/main" id="{E8614E8C-4BBC-8E63-0141-C5CA215DAB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9" y="1020"/>
              <a:ext cx="2773" cy="2187"/>
              <a:chOff x="2840" y="1020"/>
              <a:chExt cx="2773" cy="2187"/>
            </a:xfrm>
          </p:grpSpPr>
          <p:grpSp>
            <p:nvGrpSpPr>
              <p:cNvPr id="33" name="Group 180">
                <a:extLst>
                  <a:ext uri="{FF2B5EF4-FFF2-40B4-BE49-F238E27FC236}">
                    <a16:creationId xmlns:a16="http://schemas.microsoft.com/office/drawing/2014/main" id="{A4CAD15C-6E8D-E9A8-040B-2ECD6C24F3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9" y="1090"/>
                <a:ext cx="1554" cy="2117"/>
                <a:chOff x="4142" y="1090"/>
                <a:chExt cx="1554" cy="2117"/>
              </a:xfrm>
            </p:grpSpPr>
            <p:sp>
              <p:nvSpPr>
                <p:cNvPr id="41" name="Freeform 86">
                  <a:extLst>
                    <a:ext uri="{FF2B5EF4-FFF2-40B4-BE49-F238E27FC236}">
                      <a16:creationId xmlns:a16="http://schemas.microsoft.com/office/drawing/2014/main" id="{02FF7233-F0BD-09F1-4C1E-FFD6E1511C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70" y="1829"/>
                  <a:ext cx="1526" cy="269"/>
                </a:xfrm>
                <a:custGeom>
                  <a:avLst/>
                  <a:gdLst>
                    <a:gd name="T0" fmla="*/ 0 w 1526"/>
                    <a:gd name="T1" fmla="*/ 269 h 269"/>
                    <a:gd name="T2" fmla="*/ 556 w 1526"/>
                    <a:gd name="T3" fmla="*/ 221 h 269"/>
                    <a:gd name="T4" fmla="*/ 1526 w 1526"/>
                    <a:gd name="T5" fmla="*/ 0 h 26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26" h="269">
                      <a:moveTo>
                        <a:pt x="0" y="269"/>
                      </a:moveTo>
                      <a:cubicBezTo>
                        <a:pt x="151" y="267"/>
                        <a:pt x="302" y="266"/>
                        <a:pt x="556" y="221"/>
                      </a:cubicBezTo>
                      <a:cubicBezTo>
                        <a:pt x="810" y="176"/>
                        <a:pt x="1168" y="88"/>
                        <a:pt x="1526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2" name="Freeform 87">
                  <a:extLst>
                    <a:ext uri="{FF2B5EF4-FFF2-40B4-BE49-F238E27FC236}">
                      <a16:creationId xmlns:a16="http://schemas.microsoft.com/office/drawing/2014/main" id="{5C7F264B-34DD-0A85-25BF-A4DA7CE9D9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60" y="1484"/>
                  <a:ext cx="1449" cy="547"/>
                </a:xfrm>
                <a:custGeom>
                  <a:avLst/>
                  <a:gdLst>
                    <a:gd name="T0" fmla="*/ 0 w 1449"/>
                    <a:gd name="T1" fmla="*/ 547 h 547"/>
                    <a:gd name="T2" fmla="*/ 873 w 1449"/>
                    <a:gd name="T3" fmla="*/ 355 h 547"/>
                    <a:gd name="T4" fmla="*/ 1449 w 1449"/>
                    <a:gd name="T5" fmla="*/ 0 h 54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9" h="547">
                      <a:moveTo>
                        <a:pt x="0" y="547"/>
                      </a:moveTo>
                      <a:cubicBezTo>
                        <a:pt x="316" y="496"/>
                        <a:pt x="632" y="446"/>
                        <a:pt x="873" y="355"/>
                      </a:cubicBezTo>
                      <a:cubicBezTo>
                        <a:pt x="1114" y="264"/>
                        <a:pt x="1281" y="132"/>
                        <a:pt x="1449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3" name="Freeform 89">
                  <a:extLst>
                    <a:ext uri="{FF2B5EF4-FFF2-40B4-BE49-F238E27FC236}">
                      <a16:creationId xmlns:a16="http://schemas.microsoft.com/office/drawing/2014/main" id="{2A062F7F-6701-7970-B9AA-3C88DA6967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163" y="2199"/>
                  <a:ext cx="1526" cy="269"/>
                </a:xfrm>
                <a:custGeom>
                  <a:avLst/>
                  <a:gdLst>
                    <a:gd name="T0" fmla="*/ 0 w 1526"/>
                    <a:gd name="T1" fmla="*/ 269 h 269"/>
                    <a:gd name="T2" fmla="*/ 556 w 1526"/>
                    <a:gd name="T3" fmla="*/ 221 h 269"/>
                    <a:gd name="T4" fmla="*/ 1526 w 1526"/>
                    <a:gd name="T5" fmla="*/ 0 h 26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26" h="269">
                      <a:moveTo>
                        <a:pt x="0" y="269"/>
                      </a:moveTo>
                      <a:cubicBezTo>
                        <a:pt x="151" y="267"/>
                        <a:pt x="302" y="266"/>
                        <a:pt x="556" y="221"/>
                      </a:cubicBezTo>
                      <a:cubicBezTo>
                        <a:pt x="810" y="176"/>
                        <a:pt x="1168" y="88"/>
                        <a:pt x="1526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4" name="Freeform 90">
                  <a:extLst>
                    <a:ext uri="{FF2B5EF4-FFF2-40B4-BE49-F238E27FC236}">
                      <a16:creationId xmlns:a16="http://schemas.microsoft.com/office/drawing/2014/main" id="{AF6EC2A1-CB73-9CB3-EEA9-C8A01F62A2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153" y="2266"/>
                  <a:ext cx="1449" cy="547"/>
                </a:xfrm>
                <a:custGeom>
                  <a:avLst/>
                  <a:gdLst>
                    <a:gd name="T0" fmla="*/ 0 w 1449"/>
                    <a:gd name="T1" fmla="*/ 547 h 547"/>
                    <a:gd name="T2" fmla="*/ 873 w 1449"/>
                    <a:gd name="T3" fmla="*/ 355 h 547"/>
                    <a:gd name="T4" fmla="*/ 1449 w 1449"/>
                    <a:gd name="T5" fmla="*/ 0 h 54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9" h="547">
                      <a:moveTo>
                        <a:pt x="0" y="547"/>
                      </a:moveTo>
                      <a:cubicBezTo>
                        <a:pt x="316" y="496"/>
                        <a:pt x="632" y="446"/>
                        <a:pt x="873" y="355"/>
                      </a:cubicBezTo>
                      <a:cubicBezTo>
                        <a:pt x="1114" y="264"/>
                        <a:pt x="1281" y="132"/>
                        <a:pt x="1449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5" name="Freeform 91">
                  <a:extLst>
                    <a:ext uri="{FF2B5EF4-FFF2-40B4-BE49-F238E27FC236}">
                      <a16:creationId xmlns:a16="http://schemas.microsoft.com/office/drawing/2014/main" id="{FDEE7EFF-7C92-5177-6004-DF63A4A424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142" y="2334"/>
                  <a:ext cx="1133" cy="873"/>
                </a:xfrm>
                <a:custGeom>
                  <a:avLst/>
                  <a:gdLst>
                    <a:gd name="T0" fmla="*/ 0 w 1133"/>
                    <a:gd name="T1" fmla="*/ 873 h 873"/>
                    <a:gd name="T2" fmla="*/ 615 w 1133"/>
                    <a:gd name="T3" fmla="*/ 605 h 873"/>
                    <a:gd name="T4" fmla="*/ 1133 w 1133"/>
                    <a:gd name="T5" fmla="*/ 0 h 8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133" h="873">
                      <a:moveTo>
                        <a:pt x="0" y="873"/>
                      </a:moveTo>
                      <a:cubicBezTo>
                        <a:pt x="213" y="811"/>
                        <a:pt x="426" y="750"/>
                        <a:pt x="615" y="605"/>
                      </a:cubicBezTo>
                      <a:cubicBezTo>
                        <a:pt x="804" y="460"/>
                        <a:pt x="968" y="230"/>
                        <a:pt x="1133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6" name="Freeform 88">
                  <a:extLst>
                    <a:ext uri="{FF2B5EF4-FFF2-40B4-BE49-F238E27FC236}">
                      <a16:creationId xmlns:a16="http://schemas.microsoft.com/office/drawing/2014/main" id="{F5A0A9B3-E666-5634-C0A6-3E080DAB6C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49" y="1090"/>
                  <a:ext cx="1133" cy="873"/>
                </a:xfrm>
                <a:custGeom>
                  <a:avLst/>
                  <a:gdLst>
                    <a:gd name="T0" fmla="*/ 0 w 1133"/>
                    <a:gd name="T1" fmla="*/ 873 h 873"/>
                    <a:gd name="T2" fmla="*/ 615 w 1133"/>
                    <a:gd name="T3" fmla="*/ 605 h 873"/>
                    <a:gd name="T4" fmla="*/ 1133 w 1133"/>
                    <a:gd name="T5" fmla="*/ 0 h 8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133" h="873">
                      <a:moveTo>
                        <a:pt x="0" y="873"/>
                      </a:moveTo>
                      <a:cubicBezTo>
                        <a:pt x="213" y="811"/>
                        <a:pt x="426" y="750"/>
                        <a:pt x="615" y="605"/>
                      </a:cubicBezTo>
                      <a:cubicBezTo>
                        <a:pt x="804" y="460"/>
                        <a:pt x="968" y="230"/>
                        <a:pt x="1133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34" name="Group 179">
                <a:extLst>
                  <a:ext uri="{FF2B5EF4-FFF2-40B4-BE49-F238E27FC236}">
                    <a16:creationId xmlns:a16="http://schemas.microsoft.com/office/drawing/2014/main" id="{76AF3FD6-0BDF-91DE-65A2-1FF8F36863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0" y="1020"/>
                <a:ext cx="1968" cy="1404"/>
                <a:chOff x="2923" y="1020"/>
                <a:chExt cx="1968" cy="1404"/>
              </a:xfrm>
            </p:grpSpPr>
            <p:sp>
              <p:nvSpPr>
                <p:cNvPr id="35" name="Freeform 92">
                  <a:extLst>
                    <a:ext uri="{FF2B5EF4-FFF2-40B4-BE49-F238E27FC236}">
                      <a16:creationId xmlns:a16="http://schemas.microsoft.com/office/drawing/2014/main" id="{33290B06-C5C6-FCC8-4EEA-4AFFD188C3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42" y="1020"/>
                  <a:ext cx="749" cy="893"/>
                </a:xfrm>
                <a:custGeom>
                  <a:avLst/>
                  <a:gdLst>
                    <a:gd name="T0" fmla="*/ 0 w 749"/>
                    <a:gd name="T1" fmla="*/ 893 h 893"/>
                    <a:gd name="T2" fmla="*/ 461 w 749"/>
                    <a:gd name="T3" fmla="*/ 557 h 893"/>
                    <a:gd name="T4" fmla="*/ 749 w 749"/>
                    <a:gd name="T5" fmla="*/ 0 h 89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49" h="893">
                      <a:moveTo>
                        <a:pt x="0" y="893"/>
                      </a:moveTo>
                      <a:cubicBezTo>
                        <a:pt x="168" y="799"/>
                        <a:pt x="336" y="706"/>
                        <a:pt x="461" y="557"/>
                      </a:cubicBezTo>
                      <a:cubicBezTo>
                        <a:pt x="586" y="408"/>
                        <a:pt x="667" y="204"/>
                        <a:pt x="749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36" name="Group 94">
                  <a:extLst>
                    <a:ext uri="{FF2B5EF4-FFF2-40B4-BE49-F238E27FC236}">
                      <a16:creationId xmlns:a16="http://schemas.microsoft.com/office/drawing/2014/main" id="{F8471C4F-804C-89F1-F582-BE488D2628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23" y="1967"/>
                  <a:ext cx="1174" cy="457"/>
                  <a:chOff x="1087" y="1341"/>
                  <a:chExt cx="1174" cy="457"/>
                </a:xfrm>
              </p:grpSpPr>
              <p:sp>
                <p:nvSpPr>
                  <p:cNvPr id="37" name="AutoShape 95">
                    <a:extLst>
                      <a:ext uri="{FF2B5EF4-FFF2-40B4-BE49-F238E27FC236}">
                        <a16:creationId xmlns:a16="http://schemas.microsoft.com/office/drawing/2014/main" id="{C558B9E9-7C32-301F-DA74-A7774B6030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7" y="1341"/>
                    <a:ext cx="680" cy="453"/>
                  </a:xfrm>
                  <a:prstGeom prst="cube">
                    <a:avLst>
                      <a:gd name="adj" fmla="val 41773"/>
                    </a:avLst>
                  </a:prstGeom>
                  <a:solidFill>
                    <a:srgbClr val="3366FF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endParaRPr lang="en-US"/>
                  </a:p>
                </p:txBody>
              </p:sp>
              <p:sp>
                <p:nvSpPr>
                  <p:cNvPr id="38" name="AutoShape 96">
                    <a:extLst>
                      <a:ext uri="{FF2B5EF4-FFF2-40B4-BE49-F238E27FC236}">
                        <a16:creationId xmlns:a16="http://schemas.microsoft.com/office/drawing/2014/main" id="{078FFDDC-B4D3-1E39-8FD9-F85E929A88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81" y="1341"/>
                    <a:ext cx="680" cy="453"/>
                  </a:xfrm>
                  <a:prstGeom prst="cube">
                    <a:avLst>
                      <a:gd name="adj" fmla="val 40296"/>
                    </a:avLst>
                  </a:prstGeom>
                  <a:solidFill>
                    <a:srgbClr val="FF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endParaRPr lang="en-US"/>
                  </a:p>
                </p:txBody>
              </p:sp>
              <p:sp>
                <p:nvSpPr>
                  <p:cNvPr id="39" name="Text Box 97">
                    <a:extLst>
                      <a:ext uri="{FF2B5EF4-FFF2-40B4-BE49-F238E27FC236}">
                        <a16:creationId xmlns:a16="http://schemas.microsoft.com/office/drawing/2014/main" id="{D0EEC071-FC29-57DD-9DDE-DA114229A8E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6" y="1531"/>
                    <a:ext cx="315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defTabSz="1008063"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836613" indent="-322263" defTabSz="1008063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285875" indent="-257175" defTabSz="1008063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800225" indent="-257175" defTabSz="1008063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314575" indent="-257175" defTabSz="1008063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7717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32289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6861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41433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sz="2000" b="1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N</a:t>
                    </a:r>
                  </a:p>
                </p:txBody>
              </p:sp>
              <p:sp>
                <p:nvSpPr>
                  <p:cNvPr id="40" name="Text Box 98">
                    <a:extLst>
                      <a:ext uri="{FF2B5EF4-FFF2-40B4-BE49-F238E27FC236}">
                        <a16:creationId xmlns:a16="http://schemas.microsoft.com/office/drawing/2014/main" id="{C80D7235-EF1A-9829-35B0-B4BD1646503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8" y="1535"/>
                    <a:ext cx="315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defTabSz="1008063"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836613" indent="-322263" defTabSz="1008063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285875" indent="-257175" defTabSz="1008063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800225" indent="-257175" defTabSz="1008063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314575" indent="-257175" defTabSz="1008063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7717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32289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6861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41433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sz="2000" b="1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S</a:t>
                    </a:r>
                  </a:p>
                </p:txBody>
              </p:sp>
            </p:grpSp>
          </p:grpSp>
        </p:grpSp>
      </p:grpSp>
      <p:sp>
        <p:nvSpPr>
          <p:cNvPr id="47" name="Oval 85">
            <a:extLst>
              <a:ext uri="{FF2B5EF4-FFF2-40B4-BE49-F238E27FC236}">
                <a16:creationId xmlns:a16="http://schemas.microsoft.com/office/drawing/2014/main" id="{B96730AF-DCE1-4FC0-8230-18834148C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477" y="1835228"/>
            <a:ext cx="500063" cy="2233613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grpSp>
        <p:nvGrpSpPr>
          <p:cNvPr id="48" name="Group 189">
            <a:extLst>
              <a:ext uri="{FF2B5EF4-FFF2-40B4-BE49-F238E27FC236}">
                <a16:creationId xmlns:a16="http://schemas.microsoft.com/office/drawing/2014/main" id="{B9FCF55E-3DE7-57FC-862A-6258A1586227}"/>
              </a:ext>
            </a:extLst>
          </p:cNvPr>
          <p:cNvGrpSpPr>
            <a:grpSpLocks/>
          </p:cNvGrpSpPr>
          <p:nvPr/>
        </p:nvGrpSpPr>
        <p:grpSpPr bwMode="auto">
          <a:xfrm>
            <a:off x="4936965" y="1686003"/>
            <a:ext cx="296862" cy="336550"/>
            <a:chOff x="4865" y="921"/>
            <a:chExt cx="187" cy="212"/>
          </a:xfrm>
        </p:grpSpPr>
        <p:sp>
          <p:nvSpPr>
            <p:cNvPr id="49" name="Oval 38">
              <a:extLst>
                <a:ext uri="{FF2B5EF4-FFF2-40B4-BE49-F238E27FC236}">
                  <a16:creationId xmlns:a16="http://schemas.microsoft.com/office/drawing/2014/main" id="{D3458B4E-92BD-071E-BE06-F1329FD6B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8" y="982"/>
              <a:ext cx="120" cy="11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50" name="Text Box 39">
              <a:extLst>
                <a:ext uri="{FF2B5EF4-FFF2-40B4-BE49-F238E27FC236}">
                  <a16:creationId xmlns:a16="http://schemas.microsoft.com/office/drawing/2014/main" id="{747BE866-F258-F63D-507A-705BA0A50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5" y="92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x</a:t>
              </a:r>
            </a:p>
          </p:txBody>
        </p:sp>
      </p:grpSp>
      <p:grpSp>
        <p:nvGrpSpPr>
          <p:cNvPr id="51" name="Group 187">
            <a:extLst>
              <a:ext uri="{FF2B5EF4-FFF2-40B4-BE49-F238E27FC236}">
                <a16:creationId xmlns:a16="http://schemas.microsoft.com/office/drawing/2014/main" id="{A63B5126-9B3F-E7C6-E082-7AFD4F18BB93}"/>
              </a:ext>
            </a:extLst>
          </p:cNvPr>
          <p:cNvGrpSpPr>
            <a:grpSpLocks/>
          </p:cNvGrpSpPr>
          <p:nvPr/>
        </p:nvGrpSpPr>
        <p:grpSpPr bwMode="auto">
          <a:xfrm>
            <a:off x="4989352" y="3979941"/>
            <a:ext cx="190500" cy="185737"/>
            <a:chOff x="5404" y="2817"/>
            <a:chExt cx="120" cy="117"/>
          </a:xfrm>
        </p:grpSpPr>
        <p:sp>
          <p:nvSpPr>
            <p:cNvPr id="52" name="Oval 33">
              <a:extLst>
                <a:ext uri="{FF2B5EF4-FFF2-40B4-BE49-F238E27FC236}">
                  <a16:creationId xmlns:a16="http://schemas.microsoft.com/office/drawing/2014/main" id="{09DA6597-DD7B-7070-CD33-5A68AAC3D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4" y="2817"/>
              <a:ext cx="120" cy="11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53" name="Oval 34">
              <a:extLst>
                <a:ext uri="{FF2B5EF4-FFF2-40B4-BE49-F238E27FC236}">
                  <a16:creationId xmlns:a16="http://schemas.microsoft.com/office/drawing/2014/main" id="{F7B46284-932C-387A-B637-5AD352E9E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" y="285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73D7A8C-2D78-4DE1-AAFC-CB8F8A430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721" y="3612821"/>
            <a:ext cx="1919750" cy="46166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Sube el flujo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55" name="Text Box 144">
            <a:extLst>
              <a:ext uri="{FF2B5EF4-FFF2-40B4-BE49-F238E27FC236}">
                <a16:creationId xmlns:a16="http://schemas.microsoft.com/office/drawing/2014/main" id="{937AD117-8C15-B647-2D58-F91F8DA9D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835" y="3752604"/>
            <a:ext cx="4244228" cy="132610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08000" rIns="144000" bIns="108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Pasa energía del movimiento del imán (se frena) a la corriente, y se disipa si R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 0</a:t>
            </a:r>
          </a:p>
        </p:txBody>
      </p:sp>
      <p:sp>
        <p:nvSpPr>
          <p:cNvPr id="56" name="Text Box 144">
            <a:extLst>
              <a:ext uri="{FF2B5EF4-FFF2-40B4-BE49-F238E27FC236}">
                <a16:creationId xmlns:a16="http://schemas.microsoft.com/office/drawing/2014/main" id="{E9D8F06F-3358-2973-1BA3-92A11A97E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79" y="4160951"/>
            <a:ext cx="2519623" cy="95677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08000" rIns="144000" bIns="108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Se induce una corriente horaria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57" name="Line 116">
            <a:extLst>
              <a:ext uri="{FF2B5EF4-FFF2-40B4-BE49-F238E27FC236}">
                <a16:creationId xmlns:a16="http://schemas.microsoft.com/office/drawing/2014/main" id="{60F70298-440B-0103-C3E2-4FE1066CCC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488" y="2073753"/>
            <a:ext cx="0" cy="416254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26000" tIns="154800" rIns="126000" bIns="154800" anchor="ctr" anchorCtr="1">
            <a:spAutoFit/>
          </a:bodyPr>
          <a:lstStyle/>
          <a:p>
            <a:endParaRPr lang="en-GB"/>
          </a:p>
        </p:txBody>
      </p:sp>
      <p:sp>
        <p:nvSpPr>
          <p:cNvPr id="58" name="Line 116">
            <a:extLst>
              <a:ext uri="{FF2B5EF4-FFF2-40B4-BE49-F238E27FC236}">
                <a16:creationId xmlns:a16="http://schemas.microsoft.com/office/drawing/2014/main" id="{5FA51145-2E1B-D897-9ECD-7BCA9F24A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4804" y="3263086"/>
            <a:ext cx="0" cy="416254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26000" tIns="154800" rIns="126000" bIns="154800" anchor="ctr" anchorCtr="1">
            <a:spAutoFit/>
          </a:bodyPr>
          <a:lstStyle/>
          <a:p>
            <a:endParaRPr lang="en-GB"/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1AE3DAD4-EA6B-13CE-6BE8-AB7C59911BF3}"/>
              </a:ext>
            </a:extLst>
          </p:cNvPr>
          <p:cNvGrpSpPr/>
          <p:nvPr/>
        </p:nvGrpSpPr>
        <p:grpSpPr>
          <a:xfrm rot="11983254">
            <a:off x="5920053" y="2710099"/>
            <a:ext cx="531319" cy="562500"/>
            <a:chOff x="1555026" y="6007645"/>
            <a:chExt cx="531319" cy="562500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43C27FD8-9AD0-84E8-3F56-B593A567C934}"/>
                </a:ext>
              </a:extLst>
            </p:cNvPr>
            <p:cNvSpPr/>
            <p:nvPr/>
          </p:nvSpPr>
          <p:spPr bwMode="auto">
            <a:xfrm rot="20388315">
              <a:off x="1555026" y="6007645"/>
              <a:ext cx="531319" cy="56250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61" name="Group 53">
              <a:extLst>
                <a:ext uri="{FF2B5EF4-FFF2-40B4-BE49-F238E27FC236}">
                  <a16:creationId xmlns:a16="http://schemas.microsoft.com/office/drawing/2014/main" id="{392CB0FD-E558-F723-E447-171895C4FFB8}"/>
                </a:ext>
              </a:extLst>
            </p:cNvPr>
            <p:cNvGrpSpPr>
              <a:grpSpLocks/>
            </p:cNvGrpSpPr>
            <p:nvPr/>
          </p:nvGrpSpPr>
          <p:grpSpPr bwMode="auto">
            <a:xfrm rot="20388376">
              <a:off x="1592930" y="6081194"/>
              <a:ext cx="407987" cy="422275"/>
              <a:chOff x="1342" y="3560"/>
              <a:chExt cx="257" cy="266"/>
            </a:xfrm>
          </p:grpSpPr>
          <p:sp>
            <p:nvSpPr>
              <p:cNvPr id="62" name="Line 54">
                <a:extLst>
                  <a:ext uri="{FF2B5EF4-FFF2-40B4-BE49-F238E27FC236}">
                    <a16:creationId xmlns:a16="http://schemas.microsoft.com/office/drawing/2014/main" id="{535BC9BC-24B7-1C45-5D7E-FA6FEFD32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2" y="3560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3" name="Line 55">
                <a:extLst>
                  <a:ext uri="{FF2B5EF4-FFF2-40B4-BE49-F238E27FC236}">
                    <a16:creationId xmlns:a16="http://schemas.microsoft.com/office/drawing/2014/main" id="{FE785FEA-5788-2ACC-FCB6-E7D041C53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371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62592" name="Oval 56">
                <a:extLst>
                  <a:ext uri="{FF2B5EF4-FFF2-40B4-BE49-F238E27FC236}">
                    <a16:creationId xmlns:a16="http://schemas.microsoft.com/office/drawing/2014/main" id="{76A21F98-CA5E-24A4-CA0B-4F7C771E1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4" y="3596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147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ángulo 62">
            <a:extLst>
              <a:ext uri="{FF2B5EF4-FFF2-40B4-BE49-F238E27FC236}">
                <a16:creationId xmlns:a16="http://schemas.microsoft.com/office/drawing/2014/main" id="{0BB6F2F5-D203-41CC-9F8A-B0D83B39A87F}"/>
              </a:ext>
            </a:extLst>
          </p:cNvPr>
          <p:cNvSpPr/>
          <p:nvPr/>
        </p:nvSpPr>
        <p:spPr bwMode="auto">
          <a:xfrm>
            <a:off x="1263250" y="326830"/>
            <a:ext cx="5287979" cy="432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85" name="Freeform 149"/>
          <p:cNvSpPr>
            <a:spLocks/>
          </p:cNvSpPr>
          <p:nvPr/>
        </p:nvSpPr>
        <p:spPr bwMode="auto">
          <a:xfrm flipH="1">
            <a:off x="4093838" y="423725"/>
            <a:ext cx="1308010" cy="3983038"/>
          </a:xfrm>
          <a:custGeom>
            <a:avLst/>
            <a:gdLst>
              <a:gd name="T0" fmla="*/ 0 w 824"/>
              <a:gd name="T1" fmla="*/ 0 h 2509"/>
              <a:gd name="T2" fmla="*/ 2147483646 w 824"/>
              <a:gd name="T3" fmla="*/ 2147483646 h 2509"/>
              <a:gd name="T4" fmla="*/ 2147483646 w 824"/>
              <a:gd name="T5" fmla="*/ 2147483646 h 2509"/>
              <a:gd name="T6" fmla="*/ 2147483646 w 824"/>
              <a:gd name="T7" fmla="*/ 2147483646 h 2509"/>
              <a:gd name="T8" fmla="*/ 0 w 824"/>
              <a:gd name="T9" fmla="*/ 0 h 25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24" h="2509">
                <a:moveTo>
                  <a:pt x="0" y="0"/>
                </a:moveTo>
                <a:lnTo>
                  <a:pt x="7" y="1969"/>
                </a:lnTo>
                <a:lnTo>
                  <a:pt x="824" y="2509"/>
                </a:lnTo>
                <a:lnTo>
                  <a:pt x="824" y="453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67" name="Group 182"/>
          <p:cNvGrpSpPr>
            <a:grpSpLocks/>
          </p:cNvGrpSpPr>
          <p:nvPr/>
        </p:nvGrpSpPr>
        <p:grpSpPr bwMode="auto">
          <a:xfrm>
            <a:off x="1433457" y="632168"/>
            <a:ext cx="4402137" cy="3471863"/>
            <a:chOff x="2939" y="1020"/>
            <a:chExt cx="2773" cy="2187"/>
          </a:xfrm>
        </p:grpSpPr>
        <p:sp>
          <p:nvSpPr>
            <p:cNvPr id="68" name="Freeform 93"/>
            <p:cNvSpPr>
              <a:spLocks/>
            </p:cNvSpPr>
            <p:nvPr/>
          </p:nvSpPr>
          <p:spPr bwMode="auto">
            <a:xfrm flipV="1">
              <a:off x="4163" y="2410"/>
              <a:ext cx="688" cy="719"/>
            </a:xfrm>
            <a:custGeom>
              <a:avLst/>
              <a:gdLst>
                <a:gd name="T0" fmla="*/ 0 w 749"/>
                <a:gd name="T1" fmla="*/ 8 h 893"/>
                <a:gd name="T2" fmla="*/ 71 w 749"/>
                <a:gd name="T3" fmla="*/ 5 h 893"/>
                <a:gd name="T4" fmla="*/ 117 w 749"/>
                <a:gd name="T5" fmla="*/ 0 h 8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893">
                  <a:moveTo>
                    <a:pt x="0" y="893"/>
                  </a:moveTo>
                  <a:cubicBezTo>
                    <a:pt x="168" y="799"/>
                    <a:pt x="336" y="706"/>
                    <a:pt x="461" y="557"/>
                  </a:cubicBezTo>
                  <a:cubicBezTo>
                    <a:pt x="586" y="408"/>
                    <a:pt x="667" y="204"/>
                    <a:pt x="7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70" name="Group 181"/>
            <p:cNvGrpSpPr>
              <a:grpSpLocks/>
            </p:cNvGrpSpPr>
            <p:nvPr/>
          </p:nvGrpSpPr>
          <p:grpSpPr bwMode="auto">
            <a:xfrm>
              <a:off x="2939" y="1020"/>
              <a:ext cx="2773" cy="2187"/>
              <a:chOff x="2840" y="1020"/>
              <a:chExt cx="2773" cy="2187"/>
            </a:xfrm>
          </p:grpSpPr>
          <p:grpSp>
            <p:nvGrpSpPr>
              <p:cNvPr id="71" name="Group 180"/>
              <p:cNvGrpSpPr>
                <a:grpSpLocks/>
              </p:cNvGrpSpPr>
              <p:nvPr/>
            </p:nvGrpSpPr>
            <p:grpSpPr bwMode="auto">
              <a:xfrm>
                <a:off x="4059" y="1090"/>
                <a:ext cx="1554" cy="2117"/>
                <a:chOff x="4142" y="1090"/>
                <a:chExt cx="1554" cy="2117"/>
              </a:xfrm>
            </p:grpSpPr>
            <p:sp>
              <p:nvSpPr>
                <p:cNvPr id="79" name="Freeform 86"/>
                <p:cNvSpPr>
                  <a:spLocks/>
                </p:cNvSpPr>
                <p:nvPr/>
              </p:nvSpPr>
              <p:spPr bwMode="auto">
                <a:xfrm>
                  <a:off x="4170" y="1829"/>
                  <a:ext cx="1526" cy="269"/>
                </a:xfrm>
                <a:custGeom>
                  <a:avLst/>
                  <a:gdLst>
                    <a:gd name="T0" fmla="*/ 0 w 1526"/>
                    <a:gd name="T1" fmla="*/ 269 h 269"/>
                    <a:gd name="T2" fmla="*/ 556 w 1526"/>
                    <a:gd name="T3" fmla="*/ 221 h 269"/>
                    <a:gd name="T4" fmla="*/ 1526 w 1526"/>
                    <a:gd name="T5" fmla="*/ 0 h 26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26" h="269">
                      <a:moveTo>
                        <a:pt x="0" y="269"/>
                      </a:moveTo>
                      <a:cubicBezTo>
                        <a:pt x="151" y="267"/>
                        <a:pt x="302" y="266"/>
                        <a:pt x="556" y="221"/>
                      </a:cubicBezTo>
                      <a:cubicBezTo>
                        <a:pt x="810" y="176"/>
                        <a:pt x="1168" y="88"/>
                        <a:pt x="1526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0" name="Freeform 87"/>
                <p:cNvSpPr>
                  <a:spLocks/>
                </p:cNvSpPr>
                <p:nvPr/>
              </p:nvSpPr>
              <p:spPr bwMode="auto">
                <a:xfrm>
                  <a:off x="4160" y="1484"/>
                  <a:ext cx="1449" cy="547"/>
                </a:xfrm>
                <a:custGeom>
                  <a:avLst/>
                  <a:gdLst>
                    <a:gd name="T0" fmla="*/ 0 w 1449"/>
                    <a:gd name="T1" fmla="*/ 547 h 547"/>
                    <a:gd name="T2" fmla="*/ 873 w 1449"/>
                    <a:gd name="T3" fmla="*/ 355 h 547"/>
                    <a:gd name="T4" fmla="*/ 1449 w 1449"/>
                    <a:gd name="T5" fmla="*/ 0 h 54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9" h="547">
                      <a:moveTo>
                        <a:pt x="0" y="547"/>
                      </a:moveTo>
                      <a:cubicBezTo>
                        <a:pt x="316" y="496"/>
                        <a:pt x="632" y="446"/>
                        <a:pt x="873" y="355"/>
                      </a:cubicBezTo>
                      <a:cubicBezTo>
                        <a:pt x="1114" y="264"/>
                        <a:pt x="1281" y="132"/>
                        <a:pt x="1449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1" name="Freeform 89"/>
                <p:cNvSpPr>
                  <a:spLocks/>
                </p:cNvSpPr>
                <p:nvPr/>
              </p:nvSpPr>
              <p:spPr bwMode="auto">
                <a:xfrm flipV="1">
                  <a:off x="4163" y="2199"/>
                  <a:ext cx="1526" cy="269"/>
                </a:xfrm>
                <a:custGeom>
                  <a:avLst/>
                  <a:gdLst>
                    <a:gd name="T0" fmla="*/ 0 w 1526"/>
                    <a:gd name="T1" fmla="*/ 269 h 269"/>
                    <a:gd name="T2" fmla="*/ 556 w 1526"/>
                    <a:gd name="T3" fmla="*/ 221 h 269"/>
                    <a:gd name="T4" fmla="*/ 1526 w 1526"/>
                    <a:gd name="T5" fmla="*/ 0 h 26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26" h="269">
                      <a:moveTo>
                        <a:pt x="0" y="269"/>
                      </a:moveTo>
                      <a:cubicBezTo>
                        <a:pt x="151" y="267"/>
                        <a:pt x="302" y="266"/>
                        <a:pt x="556" y="221"/>
                      </a:cubicBezTo>
                      <a:cubicBezTo>
                        <a:pt x="810" y="176"/>
                        <a:pt x="1168" y="88"/>
                        <a:pt x="1526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2" name="Freeform 90"/>
                <p:cNvSpPr>
                  <a:spLocks/>
                </p:cNvSpPr>
                <p:nvPr/>
              </p:nvSpPr>
              <p:spPr bwMode="auto">
                <a:xfrm flipV="1">
                  <a:off x="4153" y="2266"/>
                  <a:ext cx="1449" cy="547"/>
                </a:xfrm>
                <a:custGeom>
                  <a:avLst/>
                  <a:gdLst>
                    <a:gd name="T0" fmla="*/ 0 w 1449"/>
                    <a:gd name="T1" fmla="*/ 547 h 547"/>
                    <a:gd name="T2" fmla="*/ 873 w 1449"/>
                    <a:gd name="T3" fmla="*/ 355 h 547"/>
                    <a:gd name="T4" fmla="*/ 1449 w 1449"/>
                    <a:gd name="T5" fmla="*/ 0 h 54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9" h="547">
                      <a:moveTo>
                        <a:pt x="0" y="547"/>
                      </a:moveTo>
                      <a:cubicBezTo>
                        <a:pt x="316" y="496"/>
                        <a:pt x="632" y="446"/>
                        <a:pt x="873" y="355"/>
                      </a:cubicBezTo>
                      <a:cubicBezTo>
                        <a:pt x="1114" y="264"/>
                        <a:pt x="1281" y="132"/>
                        <a:pt x="1449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3" name="Freeform 91"/>
                <p:cNvSpPr>
                  <a:spLocks/>
                </p:cNvSpPr>
                <p:nvPr/>
              </p:nvSpPr>
              <p:spPr bwMode="auto">
                <a:xfrm flipV="1">
                  <a:off x="4142" y="2334"/>
                  <a:ext cx="1133" cy="873"/>
                </a:xfrm>
                <a:custGeom>
                  <a:avLst/>
                  <a:gdLst>
                    <a:gd name="T0" fmla="*/ 0 w 1133"/>
                    <a:gd name="T1" fmla="*/ 873 h 873"/>
                    <a:gd name="T2" fmla="*/ 615 w 1133"/>
                    <a:gd name="T3" fmla="*/ 605 h 873"/>
                    <a:gd name="T4" fmla="*/ 1133 w 1133"/>
                    <a:gd name="T5" fmla="*/ 0 h 8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133" h="873">
                      <a:moveTo>
                        <a:pt x="0" y="873"/>
                      </a:moveTo>
                      <a:cubicBezTo>
                        <a:pt x="213" y="811"/>
                        <a:pt x="426" y="750"/>
                        <a:pt x="615" y="605"/>
                      </a:cubicBezTo>
                      <a:cubicBezTo>
                        <a:pt x="804" y="460"/>
                        <a:pt x="968" y="230"/>
                        <a:pt x="1133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4" name="Freeform 88"/>
                <p:cNvSpPr>
                  <a:spLocks/>
                </p:cNvSpPr>
                <p:nvPr/>
              </p:nvSpPr>
              <p:spPr bwMode="auto">
                <a:xfrm>
                  <a:off x="4149" y="1090"/>
                  <a:ext cx="1133" cy="873"/>
                </a:xfrm>
                <a:custGeom>
                  <a:avLst/>
                  <a:gdLst>
                    <a:gd name="T0" fmla="*/ 0 w 1133"/>
                    <a:gd name="T1" fmla="*/ 873 h 873"/>
                    <a:gd name="T2" fmla="*/ 615 w 1133"/>
                    <a:gd name="T3" fmla="*/ 605 h 873"/>
                    <a:gd name="T4" fmla="*/ 1133 w 1133"/>
                    <a:gd name="T5" fmla="*/ 0 h 8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133" h="873">
                      <a:moveTo>
                        <a:pt x="0" y="873"/>
                      </a:moveTo>
                      <a:cubicBezTo>
                        <a:pt x="213" y="811"/>
                        <a:pt x="426" y="750"/>
                        <a:pt x="615" y="605"/>
                      </a:cubicBezTo>
                      <a:cubicBezTo>
                        <a:pt x="804" y="460"/>
                        <a:pt x="968" y="230"/>
                        <a:pt x="1133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72" name="Group 179"/>
              <p:cNvGrpSpPr>
                <a:grpSpLocks/>
              </p:cNvGrpSpPr>
              <p:nvPr/>
            </p:nvGrpSpPr>
            <p:grpSpPr bwMode="auto">
              <a:xfrm>
                <a:off x="2840" y="1020"/>
                <a:ext cx="1968" cy="1404"/>
                <a:chOff x="2923" y="1020"/>
                <a:chExt cx="1968" cy="1404"/>
              </a:xfrm>
            </p:grpSpPr>
            <p:sp>
              <p:nvSpPr>
                <p:cNvPr id="73" name="Freeform 92"/>
                <p:cNvSpPr>
                  <a:spLocks/>
                </p:cNvSpPr>
                <p:nvPr/>
              </p:nvSpPr>
              <p:spPr bwMode="auto">
                <a:xfrm>
                  <a:off x="4142" y="1020"/>
                  <a:ext cx="749" cy="893"/>
                </a:xfrm>
                <a:custGeom>
                  <a:avLst/>
                  <a:gdLst>
                    <a:gd name="T0" fmla="*/ 0 w 749"/>
                    <a:gd name="T1" fmla="*/ 893 h 893"/>
                    <a:gd name="T2" fmla="*/ 461 w 749"/>
                    <a:gd name="T3" fmla="*/ 557 h 893"/>
                    <a:gd name="T4" fmla="*/ 749 w 749"/>
                    <a:gd name="T5" fmla="*/ 0 h 89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49" h="893">
                      <a:moveTo>
                        <a:pt x="0" y="893"/>
                      </a:moveTo>
                      <a:cubicBezTo>
                        <a:pt x="168" y="799"/>
                        <a:pt x="336" y="706"/>
                        <a:pt x="461" y="557"/>
                      </a:cubicBezTo>
                      <a:cubicBezTo>
                        <a:pt x="586" y="408"/>
                        <a:pt x="667" y="204"/>
                        <a:pt x="749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74" name="Group 94"/>
                <p:cNvGrpSpPr>
                  <a:grpSpLocks/>
                </p:cNvGrpSpPr>
                <p:nvPr/>
              </p:nvGrpSpPr>
              <p:grpSpPr bwMode="auto">
                <a:xfrm>
                  <a:off x="2923" y="1967"/>
                  <a:ext cx="1174" cy="457"/>
                  <a:chOff x="1087" y="1341"/>
                  <a:chExt cx="1174" cy="457"/>
                </a:xfrm>
              </p:grpSpPr>
              <p:sp>
                <p:nvSpPr>
                  <p:cNvPr id="75" name="AutoShape 95"/>
                  <p:cNvSpPr>
                    <a:spLocks noChangeArrowheads="1"/>
                  </p:cNvSpPr>
                  <p:nvPr/>
                </p:nvSpPr>
                <p:spPr bwMode="auto">
                  <a:xfrm>
                    <a:off x="1087" y="1341"/>
                    <a:ext cx="680" cy="453"/>
                  </a:xfrm>
                  <a:prstGeom prst="cube">
                    <a:avLst>
                      <a:gd name="adj" fmla="val 41773"/>
                    </a:avLst>
                  </a:prstGeom>
                  <a:solidFill>
                    <a:srgbClr val="3366FF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endParaRPr lang="en-US"/>
                  </a:p>
                </p:txBody>
              </p:sp>
              <p:sp>
                <p:nvSpPr>
                  <p:cNvPr id="76" name="AutoShape 96"/>
                  <p:cNvSpPr>
                    <a:spLocks noChangeArrowheads="1"/>
                  </p:cNvSpPr>
                  <p:nvPr/>
                </p:nvSpPr>
                <p:spPr bwMode="auto">
                  <a:xfrm>
                    <a:off x="1581" y="1341"/>
                    <a:ext cx="680" cy="453"/>
                  </a:xfrm>
                  <a:prstGeom prst="cube">
                    <a:avLst>
                      <a:gd name="adj" fmla="val 40296"/>
                    </a:avLst>
                  </a:prstGeom>
                  <a:solidFill>
                    <a:srgbClr val="FF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endParaRPr lang="en-US"/>
                  </a:p>
                </p:txBody>
              </p:sp>
              <p:sp>
                <p:nvSpPr>
                  <p:cNvPr id="77" name="Text Box 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6" y="1531"/>
                    <a:ext cx="315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defTabSz="1008063"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836613" indent="-322263" defTabSz="1008063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285875" indent="-257175" defTabSz="1008063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800225" indent="-257175" defTabSz="1008063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314575" indent="-257175" defTabSz="1008063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7717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32289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6861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41433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sz="2000" b="1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N</a:t>
                    </a:r>
                  </a:p>
                </p:txBody>
              </p:sp>
              <p:sp>
                <p:nvSpPr>
                  <p:cNvPr id="78" name="Text Box 9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8" y="1535"/>
                    <a:ext cx="315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defTabSz="1008063"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836613" indent="-322263" defTabSz="1008063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285875" indent="-257175" defTabSz="1008063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800225" indent="-257175" defTabSz="1008063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314575" indent="-257175" defTabSz="1008063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7717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32289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6861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4143375" indent="-257175" defTabSz="1008063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sz="2000" b="1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S</a:t>
                    </a:r>
                  </a:p>
                </p:txBody>
              </p:sp>
            </p:grpSp>
          </p:grpSp>
        </p:grpSp>
      </p:grpSp>
      <p:sp>
        <p:nvSpPr>
          <p:cNvPr id="100" name="Oval 85"/>
          <p:cNvSpPr>
            <a:spLocks noChangeArrowheads="1"/>
          </p:cNvSpPr>
          <p:nvPr/>
        </p:nvSpPr>
        <p:spPr bwMode="auto">
          <a:xfrm>
            <a:off x="4481100" y="1242216"/>
            <a:ext cx="500062" cy="2233612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01" name="Text Box 105"/>
          <p:cNvSpPr txBox="1">
            <a:spLocks noChangeArrowheads="1"/>
          </p:cNvSpPr>
          <p:nvPr/>
        </p:nvSpPr>
        <p:spPr bwMode="auto">
          <a:xfrm>
            <a:off x="4940066" y="2093808"/>
            <a:ext cx="422777" cy="681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8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26000" tIns="154800" rIns="126000" bIns="154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grpSp>
        <p:nvGrpSpPr>
          <p:cNvPr id="129" name="Group 158"/>
          <p:cNvGrpSpPr>
            <a:grpSpLocks/>
          </p:cNvGrpSpPr>
          <p:nvPr/>
        </p:nvGrpSpPr>
        <p:grpSpPr bwMode="auto">
          <a:xfrm>
            <a:off x="4458875" y="3210716"/>
            <a:ext cx="461962" cy="514350"/>
            <a:chOff x="4807" y="1312"/>
            <a:chExt cx="291" cy="324"/>
          </a:xfrm>
        </p:grpSpPr>
        <p:sp>
          <p:nvSpPr>
            <p:cNvPr id="15401" name="Oval 159"/>
            <p:cNvSpPr>
              <a:spLocks noChangeArrowheads="1"/>
            </p:cNvSpPr>
            <p:nvPr/>
          </p:nvSpPr>
          <p:spPr bwMode="auto">
            <a:xfrm>
              <a:off x="4807" y="1312"/>
              <a:ext cx="291" cy="32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5402" name="Line 160"/>
            <p:cNvSpPr>
              <a:spLocks noChangeShapeType="1"/>
            </p:cNvSpPr>
            <p:nvPr/>
          </p:nvSpPr>
          <p:spPr bwMode="auto">
            <a:xfrm rot="16200000" flipH="1">
              <a:off x="4973" y="1259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03" name="Line 161"/>
            <p:cNvSpPr>
              <a:spLocks noChangeShapeType="1"/>
            </p:cNvSpPr>
            <p:nvPr/>
          </p:nvSpPr>
          <p:spPr bwMode="auto">
            <a:xfrm rot="5400000" flipH="1">
              <a:off x="4931" y="1571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04" name="Oval 162"/>
            <p:cNvSpPr>
              <a:spLocks noChangeArrowheads="1"/>
            </p:cNvSpPr>
            <p:nvPr/>
          </p:nvSpPr>
          <p:spPr bwMode="auto">
            <a:xfrm>
              <a:off x="4898" y="1422"/>
              <a:ext cx="120" cy="11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5405" name="Text Box 163"/>
            <p:cNvSpPr txBox="1">
              <a:spLocks noChangeArrowheads="1"/>
            </p:cNvSpPr>
            <p:nvPr/>
          </p:nvSpPr>
          <p:spPr bwMode="auto">
            <a:xfrm>
              <a:off x="4865" y="136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x</a:t>
              </a:r>
            </a:p>
          </p:txBody>
        </p:sp>
      </p:grpSp>
      <p:grpSp>
        <p:nvGrpSpPr>
          <p:cNvPr id="135" name="Group 164"/>
          <p:cNvGrpSpPr>
            <a:grpSpLocks/>
          </p:cNvGrpSpPr>
          <p:nvPr/>
        </p:nvGrpSpPr>
        <p:grpSpPr bwMode="auto">
          <a:xfrm>
            <a:off x="4496975" y="1005678"/>
            <a:ext cx="461962" cy="514350"/>
            <a:chOff x="4825" y="2707"/>
            <a:chExt cx="291" cy="324"/>
          </a:xfrm>
        </p:grpSpPr>
        <p:sp>
          <p:nvSpPr>
            <p:cNvPr id="15396" name="Oval 165"/>
            <p:cNvSpPr>
              <a:spLocks noChangeArrowheads="1"/>
            </p:cNvSpPr>
            <p:nvPr/>
          </p:nvSpPr>
          <p:spPr bwMode="auto">
            <a:xfrm>
              <a:off x="4825" y="2707"/>
              <a:ext cx="291" cy="32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5397" name="Line 166"/>
            <p:cNvSpPr>
              <a:spLocks noChangeShapeType="1"/>
            </p:cNvSpPr>
            <p:nvPr/>
          </p:nvSpPr>
          <p:spPr bwMode="auto">
            <a:xfrm rot="5400000">
              <a:off x="4961" y="2654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98" name="Line 167"/>
            <p:cNvSpPr>
              <a:spLocks noChangeShapeType="1"/>
            </p:cNvSpPr>
            <p:nvPr/>
          </p:nvSpPr>
          <p:spPr bwMode="auto">
            <a:xfrm rot="-5400000">
              <a:off x="4985" y="2966"/>
              <a:ext cx="0" cy="1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99" name="Oval 168"/>
            <p:cNvSpPr>
              <a:spLocks noChangeArrowheads="1"/>
            </p:cNvSpPr>
            <p:nvPr/>
          </p:nvSpPr>
          <p:spPr bwMode="auto">
            <a:xfrm>
              <a:off x="4909" y="2817"/>
              <a:ext cx="120" cy="11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5400" name="Oval 169"/>
            <p:cNvSpPr>
              <a:spLocks noChangeArrowheads="1"/>
            </p:cNvSpPr>
            <p:nvPr/>
          </p:nvSpPr>
          <p:spPr bwMode="auto">
            <a:xfrm>
              <a:off x="4948" y="2854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44047" name="Group 171"/>
          <p:cNvGrpSpPr>
            <a:grpSpLocks/>
          </p:cNvGrpSpPr>
          <p:nvPr/>
        </p:nvGrpSpPr>
        <p:grpSpPr bwMode="auto">
          <a:xfrm>
            <a:off x="6635310" y="2071037"/>
            <a:ext cx="1306512" cy="503238"/>
            <a:chOff x="5704" y="1990"/>
            <a:chExt cx="823" cy="317"/>
          </a:xfrm>
        </p:grpSpPr>
        <p:sp>
          <p:nvSpPr>
            <p:cNvPr id="15392" name="AutoShape 172"/>
            <p:cNvSpPr>
              <a:spLocks noChangeArrowheads="1"/>
            </p:cNvSpPr>
            <p:nvPr/>
          </p:nvSpPr>
          <p:spPr bwMode="auto">
            <a:xfrm>
              <a:off x="5704" y="1990"/>
              <a:ext cx="477" cy="317"/>
            </a:xfrm>
            <a:prstGeom prst="cube">
              <a:avLst>
                <a:gd name="adj" fmla="val 41773"/>
              </a:avLst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5393" name="AutoShape 173"/>
            <p:cNvSpPr>
              <a:spLocks noChangeArrowheads="1"/>
            </p:cNvSpPr>
            <p:nvPr/>
          </p:nvSpPr>
          <p:spPr bwMode="auto">
            <a:xfrm>
              <a:off x="6050" y="1990"/>
              <a:ext cx="477" cy="317"/>
            </a:xfrm>
            <a:prstGeom prst="cube">
              <a:avLst>
                <a:gd name="adj" fmla="val 40296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5394" name="Text Box 174"/>
            <p:cNvSpPr txBox="1">
              <a:spLocks noChangeArrowheads="1"/>
            </p:cNvSpPr>
            <p:nvPr/>
          </p:nvSpPr>
          <p:spPr bwMode="auto">
            <a:xfrm>
              <a:off x="6124" y="2107"/>
              <a:ext cx="221" cy="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836613" indent="-322263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285875" indent="-257175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00225" indent="-257175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314575" indent="-257175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717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289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861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433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1600" b="1">
                  <a:solidFill>
                    <a:srgbClr val="FFFFFF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5395" name="Text Box 175"/>
            <p:cNvSpPr txBox="1">
              <a:spLocks noChangeArrowheads="1"/>
            </p:cNvSpPr>
            <p:nvPr/>
          </p:nvSpPr>
          <p:spPr bwMode="auto">
            <a:xfrm>
              <a:off x="5761" y="2097"/>
              <a:ext cx="221" cy="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836613" indent="-322263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285875" indent="-257175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00225" indent="-257175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314575" indent="-257175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717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289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861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43375" indent="-257175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1600" b="1">
                  <a:solidFill>
                    <a:srgbClr val="FFFFFF"/>
                  </a:solidFill>
                  <a:latin typeface="Arial" panose="020B0604020202020204" pitchFamily="34" charset="0"/>
                </a:rPr>
                <a:t>S</a:t>
              </a:r>
            </a:p>
          </p:txBody>
        </p:sp>
      </p:grpSp>
      <p:sp>
        <p:nvSpPr>
          <p:cNvPr id="146" name="Line 176"/>
          <p:cNvSpPr>
            <a:spLocks noChangeShapeType="1"/>
          </p:cNvSpPr>
          <p:nvPr/>
        </p:nvSpPr>
        <p:spPr bwMode="auto">
          <a:xfrm>
            <a:off x="4474750" y="2396328"/>
            <a:ext cx="0" cy="23018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47" name="Line 177"/>
          <p:cNvSpPr>
            <a:spLocks noChangeShapeType="1"/>
          </p:cNvSpPr>
          <p:nvPr/>
        </p:nvSpPr>
        <p:spPr bwMode="auto">
          <a:xfrm flipV="1">
            <a:off x="4977987" y="2093116"/>
            <a:ext cx="0" cy="2301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150" name="Group 197"/>
          <p:cNvGrpSpPr>
            <a:grpSpLocks/>
          </p:cNvGrpSpPr>
          <p:nvPr/>
        </p:nvGrpSpPr>
        <p:grpSpPr bwMode="auto">
          <a:xfrm>
            <a:off x="4552537" y="3821423"/>
            <a:ext cx="365125" cy="536575"/>
            <a:chOff x="4853" y="3192"/>
            <a:chExt cx="230" cy="338"/>
          </a:xfrm>
        </p:grpSpPr>
        <p:sp>
          <p:nvSpPr>
            <p:cNvPr id="15390" name="Text Box 195"/>
            <p:cNvSpPr txBox="1">
              <a:spLocks noChangeArrowheads="1"/>
            </p:cNvSpPr>
            <p:nvPr/>
          </p:nvSpPr>
          <p:spPr bwMode="auto">
            <a:xfrm>
              <a:off x="4853" y="3192"/>
              <a:ext cx="230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008000"/>
                  </a:solidFill>
                </a:rPr>
                <a:t>B</a:t>
              </a:r>
            </a:p>
          </p:txBody>
        </p:sp>
        <p:sp>
          <p:nvSpPr>
            <p:cNvPr id="15391" name="Line 196"/>
            <p:cNvSpPr>
              <a:spLocks noChangeShapeType="1"/>
            </p:cNvSpPr>
            <p:nvPr/>
          </p:nvSpPr>
          <p:spPr bwMode="auto">
            <a:xfrm>
              <a:off x="4912" y="3256"/>
              <a:ext cx="113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153" name="Group 198"/>
          <p:cNvGrpSpPr>
            <a:grpSpLocks/>
          </p:cNvGrpSpPr>
          <p:nvPr/>
        </p:nvGrpSpPr>
        <p:grpSpPr bwMode="auto">
          <a:xfrm>
            <a:off x="4641447" y="464341"/>
            <a:ext cx="404813" cy="536575"/>
            <a:chOff x="4853" y="3192"/>
            <a:chExt cx="255" cy="338"/>
          </a:xfrm>
        </p:grpSpPr>
        <p:sp>
          <p:nvSpPr>
            <p:cNvPr id="15388" name="Text Box 199"/>
            <p:cNvSpPr txBox="1">
              <a:spLocks noChangeArrowheads="1"/>
            </p:cNvSpPr>
            <p:nvPr/>
          </p:nvSpPr>
          <p:spPr bwMode="auto">
            <a:xfrm>
              <a:off x="4853" y="3192"/>
              <a:ext cx="25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008000"/>
                  </a:solidFill>
                </a:rPr>
                <a:t>B</a:t>
              </a:r>
            </a:p>
          </p:txBody>
        </p:sp>
        <p:sp>
          <p:nvSpPr>
            <p:cNvPr id="15389" name="Line 200"/>
            <p:cNvSpPr>
              <a:spLocks noChangeShapeType="1"/>
            </p:cNvSpPr>
            <p:nvPr/>
          </p:nvSpPr>
          <p:spPr bwMode="auto">
            <a:xfrm>
              <a:off x="4912" y="3256"/>
              <a:ext cx="113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157" name="Text Box 147"/>
          <p:cNvSpPr txBox="1">
            <a:spLocks noChangeArrowheads="1"/>
          </p:cNvSpPr>
          <p:nvPr/>
        </p:nvSpPr>
        <p:spPr bwMode="auto">
          <a:xfrm>
            <a:off x="1254020" y="5389909"/>
            <a:ext cx="9413980" cy="169543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08000" rIns="144000" bIns="108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Sucede lo mismo, p.ej.: si se aleja o acerca el conductor; si se mueve uno respecto al otro lateralmente, con el imán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>
                <a:solidFill>
                  <a:srgbClr val="3333FF"/>
                </a:solidFill>
              </a:rPr>
              <a:t>(levitación: tren)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o // </a:t>
            </a:r>
            <a:r>
              <a:rPr lang="es-ES" sz="2400" dirty="0">
                <a:solidFill>
                  <a:srgbClr val="3333FF"/>
                </a:solidFill>
              </a:rPr>
              <a:t>(</a:t>
            </a:r>
            <a:r>
              <a:rPr lang="es-ES" sz="2400">
                <a:solidFill>
                  <a:srgbClr val="3333FF"/>
                </a:solidFill>
              </a:rPr>
              <a:t>freno magnético: ascensor)</a:t>
            </a:r>
            <a:r>
              <a:rPr lang="es-ES" sz="2400">
                <a:solidFill>
                  <a:schemeClr val="tx1"/>
                </a:solidFill>
              </a:rPr>
              <a:t>; </a:t>
            </a:r>
            <a:r>
              <a:rPr lang="es-ES" sz="2400" dirty="0">
                <a:solidFill>
                  <a:schemeClr val="tx1"/>
                </a:solidFill>
              </a:rPr>
              <a:t>si se tiene en vez del imán una bobina fija con </a:t>
            </a:r>
            <a:r>
              <a:rPr lang="es-ES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 err="1">
                <a:solidFill>
                  <a:schemeClr val="tx1"/>
                </a:solidFill>
              </a:rPr>
              <a:t>variable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>
                <a:solidFill>
                  <a:schemeClr val="tx1"/>
                </a:solidFill>
              </a:rPr>
              <a:t>inclinada </a:t>
            </a:r>
            <a:r>
              <a:rPr lang="es-ES" sz="2400">
                <a:solidFill>
                  <a:srgbClr val="3333FF"/>
                </a:solidFill>
              </a:rPr>
              <a:t>(girar disco: contador luz)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64" name="Text Box 112"/>
          <p:cNvSpPr txBox="1">
            <a:spLocks noChangeArrowheads="1"/>
          </p:cNvSpPr>
          <p:nvPr/>
        </p:nvSpPr>
        <p:spPr bwMode="auto">
          <a:xfrm>
            <a:off x="1389014" y="431340"/>
            <a:ext cx="2406727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 baseline="-25000"/>
              <a:t>0</a:t>
            </a:r>
            <a:r>
              <a:rPr lang="es-ES" sz="2400"/>
              <a:t> = 0 en lámina</a:t>
            </a:r>
          </a:p>
        </p:txBody>
      </p:sp>
      <p:sp>
        <p:nvSpPr>
          <p:cNvPr id="66" name="AutoShape 99"/>
          <p:cNvSpPr>
            <a:spLocks noChangeArrowheads="1"/>
          </p:cNvSpPr>
          <p:nvPr/>
        </p:nvSpPr>
        <p:spPr bwMode="auto">
          <a:xfrm flipH="1">
            <a:off x="2216631" y="1464018"/>
            <a:ext cx="773113" cy="508000"/>
          </a:xfrm>
          <a:prstGeom prst="rightArrow">
            <a:avLst>
              <a:gd name="adj1" fmla="val 40620"/>
              <a:gd name="adj2" fmla="val 4714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86" name="CuadroTexto 85"/>
          <p:cNvSpPr txBox="1">
            <a:spLocks noChangeArrowheads="1"/>
          </p:cNvSpPr>
          <p:nvPr/>
        </p:nvSpPr>
        <p:spPr bwMode="auto">
          <a:xfrm>
            <a:off x="1354932" y="3026884"/>
            <a:ext cx="2150688" cy="46166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Baja el flujo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89" name="Text Box 80"/>
          <p:cNvSpPr txBox="1">
            <a:spLocks noChangeArrowheads="1"/>
          </p:cNvSpPr>
          <p:nvPr/>
        </p:nvSpPr>
        <p:spPr bwMode="auto">
          <a:xfrm>
            <a:off x="8197395" y="2075452"/>
            <a:ext cx="1922358" cy="5147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>
                <a:solidFill>
                  <a:schemeClr val="tx1"/>
                </a:solidFill>
              </a:rPr>
              <a:t>SE ATRAEN</a:t>
            </a:r>
          </a:p>
        </p:txBody>
      </p:sp>
      <p:sp>
        <p:nvSpPr>
          <p:cNvPr id="91" name="Text Box 144"/>
          <p:cNvSpPr txBox="1">
            <a:spLocks noChangeArrowheads="1"/>
          </p:cNvSpPr>
          <p:nvPr/>
        </p:nvSpPr>
        <p:spPr bwMode="auto">
          <a:xfrm>
            <a:off x="6056842" y="3262663"/>
            <a:ext cx="4294859" cy="132610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08000" rIns="144000" bIns="108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Pasa energía del movimiento del imán (se frena) a la corriente y se disipa si R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 0</a:t>
            </a:r>
          </a:p>
        </p:txBody>
      </p:sp>
      <p:sp>
        <p:nvSpPr>
          <p:cNvPr id="93" name="Text Box 80"/>
          <p:cNvSpPr txBox="1">
            <a:spLocks noChangeArrowheads="1"/>
          </p:cNvSpPr>
          <p:nvPr/>
        </p:nvSpPr>
        <p:spPr bwMode="auto">
          <a:xfrm>
            <a:off x="1359195" y="4733521"/>
            <a:ext cx="4923057" cy="5147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chemeClr val="tx1"/>
                </a:solidFill>
              </a:rPr>
              <a:t>SE VERIFICA LA LEY DE LENZ</a:t>
            </a:r>
          </a:p>
        </p:txBody>
      </p:sp>
      <p:sp>
        <p:nvSpPr>
          <p:cNvPr id="98" name="Text Box 115">
            <a:extLst>
              <a:ext uri="{FF2B5EF4-FFF2-40B4-BE49-F238E27FC236}">
                <a16:creationId xmlns:a16="http://schemas.microsoft.com/office/drawing/2014/main" id="{9D27E8D7-C41B-46A9-9314-3D87BAF43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982" y="504346"/>
            <a:ext cx="3303372" cy="88407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La espira se comporta como un imán</a:t>
            </a:r>
          </a:p>
        </p:txBody>
      </p:sp>
      <p:sp>
        <p:nvSpPr>
          <p:cNvPr id="102" name="Line 116">
            <a:extLst>
              <a:ext uri="{FF2B5EF4-FFF2-40B4-BE49-F238E27FC236}">
                <a16:creationId xmlns:a16="http://schemas.microsoft.com/office/drawing/2014/main" id="{17246D18-C307-4CB1-B872-DD3BC84906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5740" y="1509408"/>
            <a:ext cx="0" cy="416254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26000" tIns="154800" rIns="126000" bIns="154800" anchor="ctr" anchorCtr="1">
            <a:spAutoFit/>
          </a:bodyPr>
          <a:lstStyle/>
          <a:p>
            <a:endParaRPr lang="en-GB"/>
          </a:p>
        </p:txBody>
      </p:sp>
      <p:sp>
        <p:nvSpPr>
          <p:cNvPr id="103" name="Line 116">
            <a:extLst>
              <a:ext uri="{FF2B5EF4-FFF2-40B4-BE49-F238E27FC236}">
                <a16:creationId xmlns:a16="http://schemas.microsoft.com/office/drawing/2014/main" id="{736C5B53-BE46-4E1D-95AD-38B4D14C94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728" y="2725234"/>
            <a:ext cx="0" cy="416254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26000" tIns="154800" rIns="126000" bIns="154800" anchor="ctr" anchorCtr="1">
            <a:spAutoFit/>
          </a:bodyPr>
          <a:lstStyle/>
          <a:p>
            <a:endParaRPr lang="en-GB"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82D2F45-2BBF-473C-BAD6-55A9CAD93051}"/>
              </a:ext>
            </a:extLst>
          </p:cNvPr>
          <p:cNvGrpSpPr/>
          <p:nvPr/>
        </p:nvGrpSpPr>
        <p:grpSpPr>
          <a:xfrm rot="11983254">
            <a:off x="5762736" y="2129999"/>
            <a:ext cx="531319" cy="562500"/>
            <a:chOff x="1555026" y="6007645"/>
            <a:chExt cx="531319" cy="562500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428BE162-9AF4-4A04-BFFD-F765453986D5}"/>
                </a:ext>
              </a:extLst>
            </p:cNvPr>
            <p:cNvSpPr/>
            <p:nvPr/>
          </p:nvSpPr>
          <p:spPr bwMode="auto">
            <a:xfrm rot="20388315">
              <a:off x="1555026" y="6007645"/>
              <a:ext cx="531319" cy="56250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59" name="Group 53">
              <a:extLst>
                <a:ext uri="{FF2B5EF4-FFF2-40B4-BE49-F238E27FC236}">
                  <a16:creationId xmlns:a16="http://schemas.microsoft.com/office/drawing/2014/main" id="{2DF6CBCC-B651-40F9-9EF6-417FE115B43A}"/>
                </a:ext>
              </a:extLst>
            </p:cNvPr>
            <p:cNvGrpSpPr>
              <a:grpSpLocks/>
            </p:cNvGrpSpPr>
            <p:nvPr/>
          </p:nvGrpSpPr>
          <p:grpSpPr bwMode="auto">
            <a:xfrm rot="20388376">
              <a:off x="1592930" y="6081194"/>
              <a:ext cx="407987" cy="422275"/>
              <a:chOff x="1342" y="3560"/>
              <a:chExt cx="257" cy="266"/>
            </a:xfrm>
          </p:grpSpPr>
          <p:sp>
            <p:nvSpPr>
              <p:cNvPr id="60" name="Line 54">
                <a:extLst>
                  <a:ext uri="{FF2B5EF4-FFF2-40B4-BE49-F238E27FC236}">
                    <a16:creationId xmlns:a16="http://schemas.microsoft.com/office/drawing/2014/main" id="{EBDE799D-08BA-4F59-96BD-75B9074AD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2" y="3560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1" name="Line 55">
                <a:extLst>
                  <a:ext uri="{FF2B5EF4-FFF2-40B4-BE49-F238E27FC236}">
                    <a16:creationId xmlns:a16="http://schemas.microsoft.com/office/drawing/2014/main" id="{5F729E9B-A9E3-405B-B9CC-0C93F988C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371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2" name="Oval 56">
                <a:extLst>
                  <a:ext uri="{FF2B5EF4-FFF2-40B4-BE49-F238E27FC236}">
                    <a16:creationId xmlns:a16="http://schemas.microsoft.com/office/drawing/2014/main" id="{C798F435-26EA-41FA-BA21-7152D7713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4" y="3596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  <p:sp>
        <p:nvSpPr>
          <p:cNvPr id="2" name="Text Box 144">
            <a:extLst>
              <a:ext uri="{FF2B5EF4-FFF2-40B4-BE49-F238E27FC236}">
                <a16:creationId xmlns:a16="http://schemas.microsoft.com/office/drawing/2014/main" id="{5ACF90AF-85C8-86EF-0FAD-D9F10E10B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46" y="3605390"/>
            <a:ext cx="2519623" cy="95677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08000" rIns="144000" bIns="108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Se induce </a:t>
            </a:r>
            <a:r>
              <a:rPr lang="es-ES" sz="2400">
                <a:solidFill>
                  <a:schemeClr val="tx1"/>
                </a:solidFill>
              </a:rPr>
              <a:t>una corr. antihoraria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/>
      <p:bldP spid="146" grpId="0" animBg="1"/>
      <p:bldP spid="147" grpId="0" animBg="1"/>
      <p:bldP spid="157" grpId="0" animBg="1"/>
      <p:bldP spid="66" grpId="0" animBg="1"/>
      <p:bldP spid="86" grpId="0" animBg="1"/>
      <p:bldP spid="89" grpId="0" animBg="1"/>
      <p:bldP spid="91" grpId="0" animBg="1"/>
      <p:bldP spid="93" grpId="0" animBg="1"/>
      <p:bldP spid="98" grpId="0" animBg="1"/>
      <p:bldP spid="102" grpId="0" animBg="1"/>
      <p:bldP spid="103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89BE9FBB-D0D1-41D7-A28C-4A3B6B07FF19}"/>
              </a:ext>
            </a:extLst>
          </p:cNvPr>
          <p:cNvGrpSpPr/>
          <p:nvPr/>
        </p:nvGrpSpPr>
        <p:grpSpPr>
          <a:xfrm>
            <a:off x="2258576" y="1158850"/>
            <a:ext cx="7335450" cy="3624262"/>
            <a:chOff x="2238912" y="952378"/>
            <a:chExt cx="7335450" cy="3624262"/>
          </a:xfrm>
        </p:grpSpPr>
        <p:grpSp>
          <p:nvGrpSpPr>
            <p:cNvPr id="7" name="Grupo 6"/>
            <p:cNvGrpSpPr>
              <a:grpSpLocks/>
            </p:cNvGrpSpPr>
            <p:nvPr/>
          </p:nvGrpSpPr>
          <p:grpSpPr bwMode="auto">
            <a:xfrm>
              <a:off x="4833683" y="952378"/>
              <a:ext cx="2641600" cy="3624262"/>
              <a:chOff x="-1455416" y="1096168"/>
              <a:chExt cx="2640965" cy="3624263"/>
            </a:xfrm>
          </p:grpSpPr>
          <p:sp>
            <p:nvSpPr>
              <p:cNvPr id="17462" name="Line 8"/>
              <p:cNvSpPr>
                <a:spLocks noChangeShapeType="1"/>
              </p:cNvSpPr>
              <p:nvPr/>
            </p:nvSpPr>
            <p:spPr bwMode="auto">
              <a:xfrm>
                <a:off x="-1402076" y="2912268"/>
                <a:ext cx="2587625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3" name="Freeform 10"/>
              <p:cNvSpPr>
                <a:spLocks/>
              </p:cNvSpPr>
              <p:nvPr/>
            </p:nvSpPr>
            <p:spPr bwMode="auto">
              <a:xfrm>
                <a:off x="-1403664" y="2396331"/>
                <a:ext cx="2422525" cy="427038"/>
              </a:xfrm>
              <a:custGeom>
                <a:avLst/>
                <a:gdLst>
                  <a:gd name="T0" fmla="*/ 0 w 1526"/>
                  <a:gd name="T1" fmla="*/ 2147483646 h 269"/>
                  <a:gd name="T2" fmla="*/ 2147483646 w 1526"/>
                  <a:gd name="T3" fmla="*/ 2147483646 h 269"/>
                  <a:gd name="T4" fmla="*/ 2147483646 w 1526"/>
                  <a:gd name="T5" fmla="*/ 0 h 269"/>
                  <a:gd name="T6" fmla="*/ 0 60000 65536"/>
                  <a:gd name="T7" fmla="*/ 0 60000 65536"/>
                  <a:gd name="T8" fmla="*/ 0 60000 65536"/>
                  <a:gd name="T9" fmla="*/ 0 w 1526"/>
                  <a:gd name="T10" fmla="*/ 0 h 269"/>
                  <a:gd name="T11" fmla="*/ 1526 w 1526"/>
                  <a:gd name="T12" fmla="*/ 269 h 2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4" name="Freeform 11"/>
              <p:cNvSpPr>
                <a:spLocks/>
              </p:cNvSpPr>
              <p:nvPr/>
            </p:nvSpPr>
            <p:spPr bwMode="auto">
              <a:xfrm>
                <a:off x="-1419539" y="1848643"/>
                <a:ext cx="2300288" cy="868363"/>
              </a:xfrm>
              <a:custGeom>
                <a:avLst/>
                <a:gdLst>
                  <a:gd name="T0" fmla="*/ 0 w 1449"/>
                  <a:gd name="T1" fmla="*/ 2147483646 h 547"/>
                  <a:gd name="T2" fmla="*/ 2147483646 w 1449"/>
                  <a:gd name="T3" fmla="*/ 2147483646 h 547"/>
                  <a:gd name="T4" fmla="*/ 2147483646 w 1449"/>
                  <a:gd name="T5" fmla="*/ 0 h 547"/>
                  <a:gd name="T6" fmla="*/ 0 60000 65536"/>
                  <a:gd name="T7" fmla="*/ 0 60000 65536"/>
                  <a:gd name="T8" fmla="*/ 0 60000 65536"/>
                  <a:gd name="T9" fmla="*/ 0 w 1449"/>
                  <a:gd name="T10" fmla="*/ 0 h 547"/>
                  <a:gd name="T11" fmla="*/ 1449 w 1449"/>
                  <a:gd name="T12" fmla="*/ 547 h 5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5" name="Freeform 12"/>
              <p:cNvSpPr>
                <a:spLocks/>
              </p:cNvSpPr>
              <p:nvPr/>
            </p:nvSpPr>
            <p:spPr bwMode="auto">
              <a:xfrm>
                <a:off x="-1437001" y="1223168"/>
                <a:ext cx="1798638" cy="1385888"/>
              </a:xfrm>
              <a:custGeom>
                <a:avLst/>
                <a:gdLst>
                  <a:gd name="T0" fmla="*/ 0 w 1133"/>
                  <a:gd name="T1" fmla="*/ 2147483646 h 873"/>
                  <a:gd name="T2" fmla="*/ 2147483646 w 1133"/>
                  <a:gd name="T3" fmla="*/ 2147483646 h 873"/>
                  <a:gd name="T4" fmla="*/ 2147483646 w 1133"/>
                  <a:gd name="T5" fmla="*/ 0 h 873"/>
                  <a:gd name="T6" fmla="*/ 0 60000 65536"/>
                  <a:gd name="T7" fmla="*/ 0 60000 65536"/>
                  <a:gd name="T8" fmla="*/ 0 60000 65536"/>
                  <a:gd name="T9" fmla="*/ 0 w 1133"/>
                  <a:gd name="T10" fmla="*/ 0 h 873"/>
                  <a:gd name="T11" fmla="*/ 1133 w 1133"/>
                  <a:gd name="T12" fmla="*/ 873 h 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6" name="Freeform 13"/>
              <p:cNvSpPr>
                <a:spLocks/>
              </p:cNvSpPr>
              <p:nvPr/>
            </p:nvSpPr>
            <p:spPr bwMode="auto">
              <a:xfrm flipV="1">
                <a:off x="-1414776" y="2983706"/>
                <a:ext cx="2422525" cy="427038"/>
              </a:xfrm>
              <a:custGeom>
                <a:avLst/>
                <a:gdLst>
                  <a:gd name="T0" fmla="*/ 0 w 1526"/>
                  <a:gd name="T1" fmla="*/ 2147483646 h 269"/>
                  <a:gd name="T2" fmla="*/ 2147483646 w 1526"/>
                  <a:gd name="T3" fmla="*/ 2147483646 h 269"/>
                  <a:gd name="T4" fmla="*/ 2147483646 w 1526"/>
                  <a:gd name="T5" fmla="*/ 0 h 269"/>
                  <a:gd name="T6" fmla="*/ 0 60000 65536"/>
                  <a:gd name="T7" fmla="*/ 0 60000 65536"/>
                  <a:gd name="T8" fmla="*/ 0 60000 65536"/>
                  <a:gd name="T9" fmla="*/ 0 w 1526"/>
                  <a:gd name="T10" fmla="*/ 0 h 269"/>
                  <a:gd name="T11" fmla="*/ 1526 w 1526"/>
                  <a:gd name="T12" fmla="*/ 269 h 2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7" name="Freeform 14"/>
              <p:cNvSpPr>
                <a:spLocks/>
              </p:cNvSpPr>
              <p:nvPr/>
            </p:nvSpPr>
            <p:spPr bwMode="auto">
              <a:xfrm flipV="1">
                <a:off x="-1437954" y="3096418"/>
                <a:ext cx="2300288" cy="868363"/>
              </a:xfrm>
              <a:custGeom>
                <a:avLst/>
                <a:gdLst>
                  <a:gd name="T0" fmla="*/ 0 w 1449"/>
                  <a:gd name="T1" fmla="*/ 2147483646 h 547"/>
                  <a:gd name="T2" fmla="*/ 2147483646 w 1449"/>
                  <a:gd name="T3" fmla="*/ 2147483646 h 547"/>
                  <a:gd name="T4" fmla="*/ 2147483646 w 1449"/>
                  <a:gd name="T5" fmla="*/ 0 h 547"/>
                  <a:gd name="T6" fmla="*/ 0 60000 65536"/>
                  <a:gd name="T7" fmla="*/ 0 60000 65536"/>
                  <a:gd name="T8" fmla="*/ 0 60000 65536"/>
                  <a:gd name="T9" fmla="*/ 0 w 1449"/>
                  <a:gd name="T10" fmla="*/ 0 h 547"/>
                  <a:gd name="T11" fmla="*/ 1449 w 1449"/>
                  <a:gd name="T12" fmla="*/ 547 h 5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8" name="Freeform 15"/>
              <p:cNvSpPr>
                <a:spLocks/>
              </p:cNvSpPr>
              <p:nvPr/>
            </p:nvSpPr>
            <p:spPr bwMode="auto">
              <a:xfrm flipV="1">
                <a:off x="-1427794" y="3198018"/>
                <a:ext cx="1798638" cy="1385888"/>
              </a:xfrm>
              <a:custGeom>
                <a:avLst/>
                <a:gdLst>
                  <a:gd name="T0" fmla="*/ 0 w 1133"/>
                  <a:gd name="T1" fmla="*/ 2147483646 h 873"/>
                  <a:gd name="T2" fmla="*/ 2147483646 w 1133"/>
                  <a:gd name="T3" fmla="*/ 2147483646 h 873"/>
                  <a:gd name="T4" fmla="*/ 2147483646 w 1133"/>
                  <a:gd name="T5" fmla="*/ 0 h 873"/>
                  <a:gd name="T6" fmla="*/ 0 60000 65536"/>
                  <a:gd name="T7" fmla="*/ 0 60000 65536"/>
                  <a:gd name="T8" fmla="*/ 0 60000 65536"/>
                  <a:gd name="T9" fmla="*/ 0 w 1133"/>
                  <a:gd name="T10" fmla="*/ 0 h 873"/>
                  <a:gd name="T11" fmla="*/ 1133 w 1133"/>
                  <a:gd name="T12" fmla="*/ 873 h 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9" name="Freeform 16"/>
              <p:cNvSpPr>
                <a:spLocks/>
              </p:cNvSpPr>
              <p:nvPr/>
            </p:nvSpPr>
            <p:spPr bwMode="auto">
              <a:xfrm>
                <a:off x="-1448114" y="1096168"/>
                <a:ext cx="1189038" cy="1417638"/>
              </a:xfrm>
              <a:custGeom>
                <a:avLst/>
                <a:gdLst>
                  <a:gd name="T0" fmla="*/ 0 w 749"/>
                  <a:gd name="T1" fmla="*/ 2147483646 h 893"/>
                  <a:gd name="T2" fmla="*/ 2147483646 w 749"/>
                  <a:gd name="T3" fmla="*/ 2147483646 h 893"/>
                  <a:gd name="T4" fmla="*/ 2147483646 w 749"/>
                  <a:gd name="T5" fmla="*/ 0 h 893"/>
                  <a:gd name="T6" fmla="*/ 0 60000 65536"/>
                  <a:gd name="T7" fmla="*/ 0 60000 65536"/>
                  <a:gd name="T8" fmla="*/ 0 60000 65536"/>
                  <a:gd name="T9" fmla="*/ 0 w 749"/>
                  <a:gd name="T10" fmla="*/ 0 h 893"/>
                  <a:gd name="T11" fmla="*/ 749 w 749"/>
                  <a:gd name="T12" fmla="*/ 893 h 8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70" name="Freeform 17"/>
              <p:cNvSpPr>
                <a:spLocks/>
              </p:cNvSpPr>
              <p:nvPr/>
            </p:nvSpPr>
            <p:spPr bwMode="auto">
              <a:xfrm flipV="1">
                <a:off x="-1455416" y="3302793"/>
                <a:ext cx="1189038" cy="1417638"/>
              </a:xfrm>
              <a:custGeom>
                <a:avLst/>
                <a:gdLst>
                  <a:gd name="T0" fmla="*/ 0 w 749"/>
                  <a:gd name="T1" fmla="*/ 2147483646 h 893"/>
                  <a:gd name="T2" fmla="*/ 2147483646 w 749"/>
                  <a:gd name="T3" fmla="*/ 2147483646 h 893"/>
                  <a:gd name="T4" fmla="*/ 2147483646 w 749"/>
                  <a:gd name="T5" fmla="*/ 0 h 893"/>
                  <a:gd name="T6" fmla="*/ 0 60000 65536"/>
                  <a:gd name="T7" fmla="*/ 0 60000 65536"/>
                  <a:gd name="T8" fmla="*/ 0 60000 65536"/>
                  <a:gd name="T9" fmla="*/ 0 w 749"/>
                  <a:gd name="T10" fmla="*/ 0 h 893"/>
                  <a:gd name="T11" fmla="*/ 749 w 749"/>
                  <a:gd name="T12" fmla="*/ 893 h 8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</p:grpSp>
        <p:grpSp>
          <p:nvGrpSpPr>
            <p:cNvPr id="17411" name="Grupo 7"/>
            <p:cNvGrpSpPr>
              <a:grpSpLocks/>
            </p:cNvGrpSpPr>
            <p:nvPr/>
          </p:nvGrpSpPr>
          <p:grpSpPr bwMode="auto">
            <a:xfrm>
              <a:off x="3293808" y="1650878"/>
              <a:ext cx="3757867" cy="2233612"/>
              <a:chOff x="-3118164" y="1804193"/>
              <a:chExt cx="3757867" cy="2233613"/>
            </a:xfrm>
          </p:grpSpPr>
          <p:sp>
            <p:nvSpPr>
              <p:cNvPr id="17451" name="Text Box 48"/>
              <p:cNvSpPr txBox="1">
                <a:spLocks noChangeArrowheads="1"/>
              </p:cNvSpPr>
              <p:nvPr/>
            </p:nvSpPr>
            <p:spPr bwMode="auto">
              <a:xfrm>
                <a:off x="274578" y="2469535"/>
                <a:ext cx="365125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7452" name="Oval 9"/>
              <p:cNvSpPr>
                <a:spLocks noChangeArrowheads="1"/>
              </p:cNvSpPr>
              <p:nvPr/>
            </p:nvSpPr>
            <p:spPr bwMode="auto">
              <a:xfrm>
                <a:off x="-290826" y="1804193"/>
                <a:ext cx="500063" cy="2233613"/>
              </a:xfrm>
              <a:prstGeom prst="ellips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17453" name="Group 22"/>
              <p:cNvGrpSpPr>
                <a:grpSpLocks/>
              </p:cNvGrpSpPr>
              <p:nvPr/>
            </p:nvGrpSpPr>
            <p:grpSpPr bwMode="auto">
              <a:xfrm>
                <a:off x="-3118164" y="2642393"/>
                <a:ext cx="1468438" cy="896938"/>
                <a:chOff x="1123" y="1412"/>
                <a:chExt cx="925" cy="565"/>
              </a:xfrm>
            </p:grpSpPr>
            <p:sp>
              <p:nvSpPr>
                <p:cNvPr id="17454" name="Rectangle 23"/>
                <p:cNvSpPr>
                  <a:spLocks noChangeArrowheads="1"/>
                </p:cNvSpPr>
                <p:nvPr/>
              </p:nvSpPr>
              <p:spPr bwMode="auto">
                <a:xfrm rot="10800000">
                  <a:off x="1123" y="1452"/>
                  <a:ext cx="925" cy="269"/>
                </a:xfrm>
                <a:prstGeom prst="rect">
                  <a:avLst/>
                </a:prstGeom>
                <a:solidFill>
                  <a:srgbClr val="80808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55" name="Line 24"/>
                <p:cNvSpPr>
                  <a:spLocks noChangeShapeType="1"/>
                </p:cNvSpPr>
                <p:nvPr/>
              </p:nvSpPr>
              <p:spPr bwMode="auto">
                <a:xfrm rot="10800000">
                  <a:off x="1965" y="1732"/>
                  <a:ext cx="0" cy="243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6" name="Line 25"/>
                <p:cNvSpPr>
                  <a:spLocks noChangeShapeType="1"/>
                </p:cNvSpPr>
                <p:nvPr/>
              </p:nvSpPr>
              <p:spPr bwMode="auto">
                <a:xfrm>
                  <a:off x="1823" y="1420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7" name="Line 26"/>
                <p:cNvSpPr>
                  <a:spLocks noChangeShapeType="1"/>
                </p:cNvSpPr>
                <p:nvPr/>
              </p:nvSpPr>
              <p:spPr bwMode="auto">
                <a:xfrm>
                  <a:off x="1697" y="1412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8" name="Line 27"/>
                <p:cNvSpPr>
                  <a:spLocks noChangeShapeType="1"/>
                </p:cNvSpPr>
                <p:nvPr/>
              </p:nvSpPr>
              <p:spPr bwMode="auto">
                <a:xfrm>
                  <a:off x="1572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9" name="Line 28"/>
                <p:cNvSpPr>
                  <a:spLocks noChangeShapeType="1"/>
                </p:cNvSpPr>
                <p:nvPr/>
              </p:nvSpPr>
              <p:spPr bwMode="auto">
                <a:xfrm>
                  <a:off x="1446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60" name="Line 29"/>
                <p:cNvSpPr>
                  <a:spLocks noChangeShapeType="1"/>
                </p:cNvSpPr>
                <p:nvPr/>
              </p:nvSpPr>
              <p:spPr bwMode="auto">
                <a:xfrm>
                  <a:off x="1321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61" name="Line 30"/>
                <p:cNvSpPr>
                  <a:spLocks noChangeShapeType="1"/>
                </p:cNvSpPr>
                <p:nvPr/>
              </p:nvSpPr>
              <p:spPr bwMode="auto">
                <a:xfrm rot="10800000">
                  <a:off x="1205" y="1413"/>
                  <a:ext cx="0" cy="564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</p:grpSp>
        <p:sp>
          <p:nvSpPr>
            <p:cNvPr id="748576" name="Text Box 32"/>
            <p:cNvSpPr txBox="1">
              <a:spLocks noChangeArrowheads="1"/>
            </p:cNvSpPr>
            <p:nvPr/>
          </p:nvSpPr>
          <p:spPr bwMode="auto">
            <a:xfrm>
              <a:off x="6683006" y="1653762"/>
              <a:ext cx="1361120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rPr>
                <a:t>ALTERNA </a:t>
              </a:r>
            </a:p>
          </p:txBody>
        </p:sp>
        <p:grpSp>
          <p:nvGrpSpPr>
            <p:cNvPr id="1126" name="Group 102"/>
            <p:cNvGrpSpPr>
              <a:grpSpLocks/>
            </p:cNvGrpSpPr>
            <p:nvPr/>
          </p:nvGrpSpPr>
          <p:grpSpPr bwMode="auto">
            <a:xfrm>
              <a:off x="6659710" y="1121072"/>
              <a:ext cx="2914652" cy="536575"/>
              <a:chOff x="4161" y="908"/>
              <a:chExt cx="1836" cy="338"/>
            </a:xfrm>
          </p:grpSpPr>
          <p:sp>
            <p:nvSpPr>
              <p:cNvPr id="17437" name="Text Box 32"/>
              <p:cNvSpPr txBox="1">
                <a:spLocks noChangeArrowheads="1"/>
              </p:cNvSpPr>
              <p:nvPr/>
            </p:nvSpPr>
            <p:spPr bwMode="auto">
              <a:xfrm>
                <a:off x="4161" y="908"/>
                <a:ext cx="1836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ALTERNO INDUCIDO </a:t>
                </a:r>
                <a:endPara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38" name="Line 101"/>
              <p:cNvSpPr>
                <a:spLocks noChangeShapeType="1"/>
              </p:cNvSpPr>
              <p:nvPr/>
            </p:nvSpPr>
            <p:spPr bwMode="auto">
              <a:xfrm>
                <a:off x="4234" y="959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grpSp>
          <p:nvGrpSpPr>
            <p:cNvPr id="1127" name="Group 103"/>
            <p:cNvGrpSpPr>
              <a:grpSpLocks/>
            </p:cNvGrpSpPr>
            <p:nvPr/>
          </p:nvGrpSpPr>
          <p:grpSpPr bwMode="auto">
            <a:xfrm>
              <a:off x="4923783" y="1683022"/>
              <a:ext cx="1071563" cy="536575"/>
              <a:chOff x="3817" y="517"/>
              <a:chExt cx="675" cy="338"/>
            </a:xfrm>
          </p:grpSpPr>
          <p:sp>
            <p:nvSpPr>
              <p:cNvPr id="17435" name="Text Box 32"/>
              <p:cNvSpPr txBox="1">
                <a:spLocks noChangeArrowheads="1"/>
              </p:cNvSpPr>
              <p:nvPr/>
            </p:nvSpPr>
            <p:spPr bwMode="auto">
              <a:xfrm>
                <a:off x="3817" y="517"/>
                <a:ext cx="67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B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alterno </a:t>
                </a:r>
              </a:p>
            </p:txBody>
          </p:sp>
          <p:sp>
            <p:nvSpPr>
              <p:cNvPr id="17436" name="Line 105"/>
              <p:cNvSpPr>
                <a:spLocks noChangeShapeType="1"/>
              </p:cNvSpPr>
              <p:nvPr/>
            </p:nvSpPr>
            <p:spPr bwMode="auto">
              <a:xfrm>
                <a:off x="3867" y="592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2238912" y="2448297"/>
              <a:ext cx="11080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 err="1">
                  <a:solidFill>
                    <a:srgbClr val="3333FF"/>
                  </a:solidFill>
                  <a:latin typeface="Arial" panose="020B0604020202020204" pitchFamily="34" charset="0"/>
                </a:rPr>
                <a:t>alterna</a:t>
              </a:r>
              <a:endPara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2531" name="Rectangle 121"/>
          <p:cNvSpPr>
            <a:spLocks noChangeArrowheads="1"/>
          </p:cNvSpPr>
          <p:nvPr/>
        </p:nvSpPr>
        <p:spPr bwMode="auto">
          <a:xfrm>
            <a:off x="2873829" y="374349"/>
            <a:ext cx="2545636" cy="463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sz="2400" b="1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7413" name="Rectangle 18"/>
          <p:cNvSpPr>
            <a:spLocks noChangeArrowheads="1"/>
          </p:cNvSpPr>
          <p:nvPr/>
        </p:nvSpPr>
        <p:spPr bwMode="auto">
          <a:xfrm>
            <a:off x="1326277" y="374349"/>
            <a:ext cx="45227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5.4.3 FEM POR INDUCCIÓN</a:t>
            </a:r>
          </a:p>
        </p:txBody>
      </p: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6396401" y="3640114"/>
            <a:ext cx="3806827" cy="1168205"/>
            <a:chOff x="6435737" y="3587752"/>
            <a:chExt cx="3806831" cy="1168205"/>
          </a:xfrm>
        </p:grpSpPr>
        <p:sp>
          <p:nvSpPr>
            <p:cNvPr id="17439" name="Line 4"/>
            <p:cNvSpPr>
              <a:spLocks noChangeShapeType="1"/>
            </p:cNvSpPr>
            <p:nvPr/>
          </p:nvSpPr>
          <p:spPr bwMode="auto">
            <a:xfrm rot="16200000" flipV="1">
              <a:off x="9639070" y="4349749"/>
              <a:ext cx="81241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pSp>
          <p:nvGrpSpPr>
            <p:cNvPr id="17440" name="Group 113"/>
            <p:cNvGrpSpPr>
              <a:grpSpLocks/>
            </p:cNvGrpSpPr>
            <p:nvPr/>
          </p:nvGrpSpPr>
          <p:grpSpPr bwMode="auto">
            <a:xfrm>
              <a:off x="6435737" y="3587752"/>
              <a:ext cx="3806831" cy="1157288"/>
              <a:chOff x="4054" y="2435"/>
              <a:chExt cx="2398" cy="729"/>
            </a:xfrm>
          </p:grpSpPr>
          <p:grpSp>
            <p:nvGrpSpPr>
              <p:cNvPr id="17441" name="Group 3"/>
              <p:cNvGrpSpPr>
                <a:grpSpLocks/>
              </p:cNvGrpSpPr>
              <p:nvPr/>
            </p:nvGrpSpPr>
            <p:grpSpPr bwMode="auto">
              <a:xfrm>
                <a:off x="5020" y="2661"/>
                <a:ext cx="1432" cy="503"/>
                <a:chOff x="4977" y="2884"/>
                <a:chExt cx="1432" cy="503"/>
              </a:xfrm>
            </p:grpSpPr>
            <p:sp>
              <p:nvSpPr>
                <p:cNvPr id="17447" name="Line 4"/>
                <p:cNvSpPr>
                  <a:spLocks noChangeShapeType="1"/>
                </p:cNvSpPr>
                <p:nvPr/>
              </p:nvSpPr>
              <p:spPr bwMode="auto">
                <a:xfrm flipV="1">
                  <a:off x="4977" y="2884"/>
                  <a:ext cx="1315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/>
                <a:lstStyle/>
                <a:p>
                  <a:endParaRPr lang="en-GB"/>
                </a:p>
              </p:txBody>
            </p:sp>
            <p:sp>
              <p:nvSpPr>
                <p:cNvPr id="17448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5019" y="3387"/>
                  <a:ext cx="127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/>
                <a:lstStyle/>
                <a:p>
                  <a:endParaRPr lang="en-GB"/>
                </a:p>
              </p:txBody>
            </p:sp>
            <p:sp>
              <p:nvSpPr>
                <p:cNvPr id="17449" name="Rectangle 6"/>
                <p:cNvSpPr>
                  <a:spLocks noChangeArrowheads="1"/>
                </p:cNvSpPr>
                <p:nvPr/>
              </p:nvSpPr>
              <p:spPr bwMode="auto">
                <a:xfrm>
                  <a:off x="6200" y="2927"/>
                  <a:ext cx="185" cy="423"/>
                </a:xfrm>
                <a:prstGeom prst="rect">
                  <a:avLst/>
                </a:prstGeom>
                <a:solidFill>
                  <a:srgbClr val="FFFFFF"/>
                </a:solidFill>
                <a:ln w="25400" algn="ctr">
                  <a:solidFill>
                    <a:srgbClr val="0000FF"/>
                  </a:solidFill>
                  <a:miter lim="800000"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5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6179" y="2975"/>
                  <a:ext cx="230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 b="1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R</a:t>
                  </a:r>
                </a:p>
              </p:txBody>
            </p:sp>
          </p:grpSp>
          <p:sp>
            <p:nvSpPr>
              <p:cNvPr id="17442" name="Rectangle 35"/>
              <p:cNvSpPr>
                <a:spLocks noChangeArrowheads="1"/>
              </p:cNvSpPr>
              <p:nvPr/>
            </p:nvSpPr>
            <p:spPr bwMode="auto">
              <a:xfrm rot="2165897">
                <a:off x="4054" y="2532"/>
                <a:ext cx="380" cy="117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43" name="Line 36"/>
              <p:cNvSpPr>
                <a:spLocks noChangeShapeType="1"/>
              </p:cNvSpPr>
              <p:nvPr/>
            </p:nvSpPr>
            <p:spPr bwMode="auto">
              <a:xfrm>
                <a:off x="4178" y="2467"/>
                <a:ext cx="852" cy="20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17444" name="Line 37"/>
              <p:cNvSpPr>
                <a:spLocks noChangeShapeType="1"/>
              </p:cNvSpPr>
              <p:nvPr/>
            </p:nvSpPr>
            <p:spPr bwMode="auto">
              <a:xfrm>
                <a:off x="4139" y="2595"/>
                <a:ext cx="926" cy="56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17445" name="Oval 38"/>
              <p:cNvSpPr>
                <a:spLocks noChangeArrowheads="1"/>
              </p:cNvSpPr>
              <p:nvPr/>
            </p:nvSpPr>
            <p:spPr bwMode="auto">
              <a:xfrm>
                <a:off x="4134" y="2435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46" name="Oval 39"/>
              <p:cNvSpPr>
                <a:spLocks noChangeArrowheads="1"/>
              </p:cNvSpPr>
              <p:nvPr/>
            </p:nvSpPr>
            <p:spPr bwMode="auto">
              <a:xfrm>
                <a:off x="4110" y="2575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48584" name="Text Box 40"/>
          <p:cNvSpPr txBox="1">
            <a:spLocks noChangeArrowheads="1"/>
          </p:cNvSpPr>
          <p:nvPr/>
        </p:nvSpPr>
        <p:spPr bwMode="auto">
          <a:xfrm>
            <a:off x="1406287" y="3840835"/>
            <a:ext cx="4013178" cy="12752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Aparecen excesos de carga variando de forma alterna en los terminales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7418" name="Text Box 64"/>
          <p:cNvSpPr txBox="1">
            <a:spLocks noChangeArrowheads="1"/>
          </p:cNvSpPr>
          <p:nvPr/>
        </p:nvSpPr>
        <p:spPr bwMode="auto">
          <a:xfrm>
            <a:off x="1817360" y="5249446"/>
            <a:ext cx="7900231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Crean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y V </a:t>
            </a:r>
            <a:r>
              <a:rPr lang="es-ES" sz="2400">
                <a:latin typeface="Arial" panose="020B0604020202020204" pitchFamily="34" charset="0"/>
              </a:rPr>
              <a:t>alternos, en C</a:t>
            </a:r>
            <a:r>
              <a:rPr lang="es-ES" sz="2400" baseline="-25000">
                <a:latin typeface="Arial" panose="020B0604020202020204" pitchFamily="34" charset="0"/>
              </a:rPr>
              <a:t>1</a:t>
            </a:r>
            <a:r>
              <a:rPr lang="es-ES" sz="2400">
                <a:latin typeface="Arial" panose="020B0604020202020204" pitchFamily="34" charset="0"/>
              </a:rPr>
              <a:t> y en C</a:t>
            </a:r>
            <a:r>
              <a:rPr lang="es-ES" sz="2400" baseline="-25000">
                <a:latin typeface="Arial" panose="020B0604020202020204" pitchFamily="34" charset="0"/>
              </a:rPr>
              <a:t>2</a:t>
            </a:r>
            <a:r>
              <a:rPr lang="es-ES" sz="2400">
                <a:latin typeface="Arial" panose="020B0604020202020204" pitchFamily="34" charset="0"/>
              </a:rPr>
              <a:t>, en sentido opuesto, y producen una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 alterna en C</a:t>
            </a:r>
            <a:r>
              <a:rPr lang="es-ES" sz="2400" baseline="-25000">
                <a:latin typeface="Arial" panose="020B0604020202020204" pitchFamily="34" charset="0"/>
              </a:rPr>
              <a:t>2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748658" name="Text Box 114"/>
          <p:cNvSpPr txBox="1">
            <a:spLocks noChangeArrowheads="1"/>
          </p:cNvSpPr>
          <p:nvPr/>
        </p:nvSpPr>
        <p:spPr bwMode="auto">
          <a:xfrm>
            <a:off x="6901694" y="2693962"/>
            <a:ext cx="295572" cy="41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48669" name="Text Box 125"/>
          <p:cNvSpPr txBox="1">
            <a:spLocks noChangeArrowheads="1"/>
          </p:cNvSpPr>
          <p:nvPr/>
        </p:nvSpPr>
        <p:spPr bwMode="auto">
          <a:xfrm>
            <a:off x="6720286" y="3200558"/>
            <a:ext cx="129142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125"/>
          <p:cNvSpPr txBox="1">
            <a:spLocks noChangeArrowheads="1"/>
          </p:cNvSpPr>
          <p:nvPr/>
        </p:nvSpPr>
        <p:spPr bwMode="auto">
          <a:xfrm>
            <a:off x="3588948" y="3191655"/>
            <a:ext cx="99089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114"/>
          <p:cNvSpPr txBox="1">
            <a:spLocks noChangeArrowheads="1"/>
          </p:cNvSpPr>
          <p:nvPr/>
        </p:nvSpPr>
        <p:spPr bwMode="auto">
          <a:xfrm>
            <a:off x="7808198" y="4102201"/>
            <a:ext cx="51838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C</a:t>
            </a:r>
            <a:r>
              <a:rPr lang="es-ES" sz="2400" baseline="-2500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C84E9E1B-AAEB-45A5-836E-34A2DBA745DB}"/>
              </a:ext>
            </a:extLst>
          </p:cNvPr>
          <p:cNvGrpSpPr>
            <a:grpSpLocks/>
          </p:cNvGrpSpPr>
          <p:nvPr/>
        </p:nvGrpSpPr>
        <p:grpSpPr bwMode="auto">
          <a:xfrm>
            <a:off x="1431338" y="1172886"/>
            <a:ext cx="3352308" cy="1054100"/>
            <a:chOff x="6453981" y="1128713"/>
            <a:chExt cx="3351213" cy="1054100"/>
          </a:xfrm>
        </p:grpSpPr>
        <p:sp>
          <p:nvSpPr>
            <p:cNvPr id="64" name="Rectangle 5">
              <a:extLst>
                <a:ext uri="{FF2B5EF4-FFF2-40B4-BE49-F238E27FC236}">
                  <a16:creationId xmlns:a16="http://schemas.microsoft.com/office/drawing/2014/main" id="{376AAC3F-A05B-417B-A042-7B6DB1F3E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3981" y="1128713"/>
              <a:ext cx="3351213" cy="10541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65" name="Object 7">
              <a:extLst>
                <a:ext uri="{FF2B5EF4-FFF2-40B4-BE49-F238E27FC236}">
                  <a16:creationId xmlns:a16="http://schemas.microsoft.com/office/drawing/2014/main" id="{B9862348-80CE-4CBF-BC0A-19875439EB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34966" y="1149288"/>
            <a:ext cx="2872580" cy="1007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18671" imgH="431613" progId="Equation.3">
                    <p:embed/>
                  </p:oleObj>
                </mc:Choice>
                <mc:Fallback>
                  <p:oleObj name="Ecuación" r:id="rId3" imgW="1218671" imgH="431613" progId="Equation.3">
                    <p:embed/>
                    <p:pic>
                      <p:nvPicPr>
                        <p:cNvPr id="65" name="Object 7">
                          <a:extLst>
                            <a:ext uri="{FF2B5EF4-FFF2-40B4-BE49-F238E27FC236}">
                              <a16:creationId xmlns:a16="http://schemas.microsoft.com/office/drawing/2014/main" id="{B9862348-80CE-4CBF-BC0A-19875439EB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4966" y="1149288"/>
                          <a:ext cx="2872580" cy="1007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" name="Text Box 114">
            <a:extLst>
              <a:ext uri="{FF2B5EF4-FFF2-40B4-BE49-F238E27FC236}">
                <a16:creationId xmlns:a16="http://schemas.microsoft.com/office/drawing/2014/main" id="{A82C0E48-9C0D-4580-BAC0-C35FFA16E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9056" y="2523196"/>
            <a:ext cx="183445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C = C</a:t>
            </a:r>
            <a:r>
              <a:rPr lang="es-ES" sz="2400" b="1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 + C</a:t>
            </a:r>
            <a:r>
              <a:rPr lang="es-E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8422080" y="4102741"/>
            <a:ext cx="131104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</a:p>
        </p:txBody>
      </p:sp>
      <p:sp>
        <p:nvSpPr>
          <p:cNvPr id="60" name="Text Box 119">
            <a:extLst>
              <a:ext uri="{FF2B5EF4-FFF2-40B4-BE49-F238E27FC236}">
                <a16:creationId xmlns:a16="http://schemas.microsoft.com/office/drawing/2014/main" id="{32C2C5E1-0F3A-4F3D-A300-9584944A2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6300" y="350097"/>
            <a:ext cx="4578825" cy="884070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(generación de un voltaje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                        por inducción)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6" name="Text Box 106">
            <a:extLst>
              <a:ext uri="{FF2B5EF4-FFF2-40B4-BE49-F238E27FC236}">
                <a16:creationId xmlns:a16="http://schemas.microsoft.com/office/drawing/2014/main" id="{59F15133-2CF6-422A-9759-DC5C32F7B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1559" y="6310999"/>
            <a:ext cx="7626032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ha generado un voltaje alterno a partir de inducción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48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48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4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48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48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/>
      <p:bldP spid="748584" grpId="0" animBg="1"/>
      <p:bldP spid="17418" grpId="0" animBg="1"/>
      <p:bldP spid="748658" grpId="0"/>
      <p:bldP spid="748669" grpId="0"/>
      <p:bldP spid="3" grpId="0"/>
      <p:bldP spid="4" grpId="0"/>
      <p:bldP spid="66" grpId="0"/>
      <p:bldP spid="5" grpId="0"/>
      <p:bldP spid="60" grpId="0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89BE9FBB-D0D1-41D7-A28C-4A3B6B07FF19}"/>
              </a:ext>
            </a:extLst>
          </p:cNvPr>
          <p:cNvGrpSpPr/>
          <p:nvPr/>
        </p:nvGrpSpPr>
        <p:grpSpPr>
          <a:xfrm>
            <a:off x="2268408" y="323112"/>
            <a:ext cx="7335450" cy="3624262"/>
            <a:chOff x="2238912" y="952378"/>
            <a:chExt cx="7335450" cy="3624262"/>
          </a:xfrm>
        </p:grpSpPr>
        <p:grpSp>
          <p:nvGrpSpPr>
            <p:cNvPr id="7" name="Grupo 6"/>
            <p:cNvGrpSpPr>
              <a:grpSpLocks/>
            </p:cNvGrpSpPr>
            <p:nvPr/>
          </p:nvGrpSpPr>
          <p:grpSpPr bwMode="auto">
            <a:xfrm>
              <a:off x="4833683" y="952378"/>
              <a:ext cx="2641600" cy="3624262"/>
              <a:chOff x="-1455416" y="1096168"/>
              <a:chExt cx="2640965" cy="3624263"/>
            </a:xfrm>
          </p:grpSpPr>
          <p:sp>
            <p:nvSpPr>
              <p:cNvPr id="17462" name="Line 8"/>
              <p:cNvSpPr>
                <a:spLocks noChangeShapeType="1"/>
              </p:cNvSpPr>
              <p:nvPr/>
            </p:nvSpPr>
            <p:spPr bwMode="auto">
              <a:xfrm>
                <a:off x="-1402076" y="2912268"/>
                <a:ext cx="2587625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3" name="Freeform 10"/>
              <p:cNvSpPr>
                <a:spLocks/>
              </p:cNvSpPr>
              <p:nvPr/>
            </p:nvSpPr>
            <p:spPr bwMode="auto">
              <a:xfrm>
                <a:off x="-1403664" y="2396331"/>
                <a:ext cx="2422525" cy="427038"/>
              </a:xfrm>
              <a:custGeom>
                <a:avLst/>
                <a:gdLst>
                  <a:gd name="T0" fmla="*/ 0 w 1526"/>
                  <a:gd name="T1" fmla="*/ 2147483646 h 269"/>
                  <a:gd name="T2" fmla="*/ 2147483646 w 1526"/>
                  <a:gd name="T3" fmla="*/ 2147483646 h 269"/>
                  <a:gd name="T4" fmla="*/ 2147483646 w 1526"/>
                  <a:gd name="T5" fmla="*/ 0 h 269"/>
                  <a:gd name="T6" fmla="*/ 0 60000 65536"/>
                  <a:gd name="T7" fmla="*/ 0 60000 65536"/>
                  <a:gd name="T8" fmla="*/ 0 60000 65536"/>
                  <a:gd name="T9" fmla="*/ 0 w 1526"/>
                  <a:gd name="T10" fmla="*/ 0 h 269"/>
                  <a:gd name="T11" fmla="*/ 1526 w 1526"/>
                  <a:gd name="T12" fmla="*/ 269 h 2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4" name="Freeform 11"/>
              <p:cNvSpPr>
                <a:spLocks/>
              </p:cNvSpPr>
              <p:nvPr/>
            </p:nvSpPr>
            <p:spPr bwMode="auto">
              <a:xfrm>
                <a:off x="-1419539" y="1848643"/>
                <a:ext cx="2300288" cy="868363"/>
              </a:xfrm>
              <a:custGeom>
                <a:avLst/>
                <a:gdLst>
                  <a:gd name="T0" fmla="*/ 0 w 1449"/>
                  <a:gd name="T1" fmla="*/ 2147483646 h 547"/>
                  <a:gd name="T2" fmla="*/ 2147483646 w 1449"/>
                  <a:gd name="T3" fmla="*/ 2147483646 h 547"/>
                  <a:gd name="T4" fmla="*/ 2147483646 w 1449"/>
                  <a:gd name="T5" fmla="*/ 0 h 547"/>
                  <a:gd name="T6" fmla="*/ 0 60000 65536"/>
                  <a:gd name="T7" fmla="*/ 0 60000 65536"/>
                  <a:gd name="T8" fmla="*/ 0 60000 65536"/>
                  <a:gd name="T9" fmla="*/ 0 w 1449"/>
                  <a:gd name="T10" fmla="*/ 0 h 547"/>
                  <a:gd name="T11" fmla="*/ 1449 w 1449"/>
                  <a:gd name="T12" fmla="*/ 547 h 5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5" name="Freeform 12"/>
              <p:cNvSpPr>
                <a:spLocks/>
              </p:cNvSpPr>
              <p:nvPr/>
            </p:nvSpPr>
            <p:spPr bwMode="auto">
              <a:xfrm>
                <a:off x="-1437001" y="1223168"/>
                <a:ext cx="1798638" cy="1385888"/>
              </a:xfrm>
              <a:custGeom>
                <a:avLst/>
                <a:gdLst>
                  <a:gd name="T0" fmla="*/ 0 w 1133"/>
                  <a:gd name="T1" fmla="*/ 2147483646 h 873"/>
                  <a:gd name="T2" fmla="*/ 2147483646 w 1133"/>
                  <a:gd name="T3" fmla="*/ 2147483646 h 873"/>
                  <a:gd name="T4" fmla="*/ 2147483646 w 1133"/>
                  <a:gd name="T5" fmla="*/ 0 h 873"/>
                  <a:gd name="T6" fmla="*/ 0 60000 65536"/>
                  <a:gd name="T7" fmla="*/ 0 60000 65536"/>
                  <a:gd name="T8" fmla="*/ 0 60000 65536"/>
                  <a:gd name="T9" fmla="*/ 0 w 1133"/>
                  <a:gd name="T10" fmla="*/ 0 h 873"/>
                  <a:gd name="T11" fmla="*/ 1133 w 1133"/>
                  <a:gd name="T12" fmla="*/ 873 h 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6" name="Freeform 13"/>
              <p:cNvSpPr>
                <a:spLocks/>
              </p:cNvSpPr>
              <p:nvPr/>
            </p:nvSpPr>
            <p:spPr bwMode="auto">
              <a:xfrm flipV="1">
                <a:off x="-1414776" y="2983706"/>
                <a:ext cx="2422525" cy="427038"/>
              </a:xfrm>
              <a:custGeom>
                <a:avLst/>
                <a:gdLst>
                  <a:gd name="T0" fmla="*/ 0 w 1526"/>
                  <a:gd name="T1" fmla="*/ 2147483646 h 269"/>
                  <a:gd name="T2" fmla="*/ 2147483646 w 1526"/>
                  <a:gd name="T3" fmla="*/ 2147483646 h 269"/>
                  <a:gd name="T4" fmla="*/ 2147483646 w 1526"/>
                  <a:gd name="T5" fmla="*/ 0 h 269"/>
                  <a:gd name="T6" fmla="*/ 0 60000 65536"/>
                  <a:gd name="T7" fmla="*/ 0 60000 65536"/>
                  <a:gd name="T8" fmla="*/ 0 60000 65536"/>
                  <a:gd name="T9" fmla="*/ 0 w 1526"/>
                  <a:gd name="T10" fmla="*/ 0 h 269"/>
                  <a:gd name="T11" fmla="*/ 1526 w 1526"/>
                  <a:gd name="T12" fmla="*/ 269 h 2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7" name="Freeform 14"/>
              <p:cNvSpPr>
                <a:spLocks/>
              </p:cNvSpPr>
              <p:nvPr/>
            </p:nvSpPr>
            <p:spPr bwMode="auto">
              <a:xfrm flipV="1">
                <a:off x="-1437954" y="3096418"/>
                <a:ext cx="2300288" cy="868363"/>
              </a:xfrm>
              <a:custGeom>
                <a:avLst/>
                <a:gdLst>
                  <a:gd name="T0" fmla="*/ 0 w 1449"/>
                  <a:gd name="T1" fmla="*/ 2147483646 h 547"/>
                  <a:gd name="T2" fmla="*/ 2147483646 w 1449"/>
                  <a:gd name="T3" fmla="*/ 2147483646 h 547"/>
                  <a:gd name="T4" fmla="*/ 2147483646 w 1449"/>
                  <a:gd name="T5" fmla="*/ 0 h 547"/>
                  <a:gd name="T6" fmla="*/ 0 60000 65536"/>
                  <a:gd name="T7" fmla="*/ 0 60000 65536"/>
                  <a:gd name="T8" fmla="*/ 0 60000 65536"/>
                  <a:gd name="T9" fmla="*/ 0 w 1449"/>
                  <a:gd name="T10" fmla="*/ 0 h 547"/>
                  <a:gd name="T11" fmla="*/ 1449 w 1449"/>
                  <a:gd name="T12" fmla="*/ 547 h 5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8" name="Freeform 15"/>
              <p:cNvSpPr>
                <a:spLocks/>
              </p:cNvSpPr>
              <p:nvPr/>
            </p:nvSpPr>
            <p:spPr bwMode="auto">
              <a:xfrm flipV="1">
                <a:off x="-1427794" y="3198018"/>
                <a:ext cx="1798638" cy="1385888"/>
              </a:xfrm>
              <a:custGeom>
                <a:avLst/>
                <a:gdLst>
                  <a:gd name="T0" fmla="*/ 0 w 1133"/>
                  <a:gd name="T1" fmla="*/ 2147483646 h 873"/>
                  <a:gd name="T2" fmla="*/ 2147483646 w 1133"/>
                  <a:gd name="T3" fmla="*/ 2147483646 h 873"/>
                  <a:gd name="T4" fmla="*/ 2147483646 w 1133"/>
                  <a:gd name="T5" fmla="*/ 0 h 873"/>
                  <a:gd name="T6" fmla="*/ 0 60000 65536"/>
                  <a:gd name="T7" fmla="*/ 0 60000 65536"/>
                  <a:gd name="T8" fmla="*/ 0 60000 65536"/>
                  <a:gd name="T9" fmla="*/ 0 w 1133"/>
                  <a:gd name="T10" fmla="*/ 0 h 873"/>
                  <a:gd name="T11" fmla="*/ 1133 w 1133"/>
                  <a:gd name="T12" fmla="*/ 873 h 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9" name="Freeform 16"/>
              <p:cNvSpPr>
                <a:spLocks/>
              </p:cNvSpPr>
              <p:nvPr/>
            </p:nvSpPr>
            <p:spPr bwMode="auto">
              <a:xfrm>
                <a:off x="-1448114" y="1096168"/>
                <a:ext cx="1189038" cy="1417638"/>
              </a:xfrm>
              <a:custGeom>
                <a:avLst/>
                <a:gdLst>
                  <a:gd name="T0" fmla="*/ 0 w 749"/>
                  <a:gd name="T1" fmla="*/ 2147483646 h 893"/>
                  <a:gd name="T2" fmla="*/ 2147483646 w 749"/>
                  <a:gd name="T3" fmla="*/ 2147483646 h 893"/>
                  <a:gd name="T4" fmla="*/ 2147483646 w 749"/>
                  <a:gd name="T5" fmla="*/ 0 h 893"/>
                  <a:gd name="T6" fmla="*/ 0 60000 65536"/>
                  <a:gd name="T7" fmla="*/ 0 60000 65536"/>
                  <a:gd name="T8" fmla="*/ 0 60000 65536"/>
                  <a:gd name="T9" fmla="*/ 0 w 749"/>
                  <a:gd name="T10" fmla="*/ 0 h 893"/>
                  <a:gd name="T11" fmla="*/ 749 w 749"/>
                  <a:gd name="T12" fmla="*/ 893 h 8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70" name="Freeform 17"/>
              <p:cNvSpPr>
                <a:spLocks/>
              </p:cNvSpPr>
              <p:nvPr/>
            </p:nvSpPr>
            <p:spPr bwMode="auto">
              <a:xfrm flipV="1">
                <a:off x="-1455416" y="3302793"/>
                <a:ext cx="1189038" cy="1417638"/>
              </a:xfrm>
              <a:custGeom>
                <a:avLst/>
                <a:gdLst>
                  <a:gd name="T0" fmla="*/ 0 w 749"/>
                  <a:gd name="T1" fmla="*/ 2147483646 h 893"/>
                  <a:gd name="T2" fmla="*/ 2147483646 w 749"/>
                  <a:gd name="T3" fmla="*/ 2147483646 h 893"/>
                  <a:gd name="T4" fmla="*/ 2147483646 w 749"/>
                  <a:gd name="T5" fmla="*/ 0 h 893"/>
                  <a:gd name="T6" fmla="*/ 0 60000 65536"/>
                  <a:gd name="T7" fmla="*/ 0 60000 65536"/>
                  <a:gd name="T8" fmla="*/ 0 60000 65536"/>
                  <a:gd name="T9" fmla="*/ 0 w 749"/>
                  <a:gd name="T10" fmla="*/ 0 h 893"/>
                  <a:gd name="T11" fmla="*/ 749 w 749"/>
                  <a:gd name="T12" fmla="*/ 893 h 8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</p:grpSp>
        <p:grpSp>
          <p:nvGrpSpPr>
            <p:cNvPr id="17411" name="Grupo 7"/>
            <p:cNvGrpSpPr>
              <a:grpSpLocks/>
            </p:cNvGrpSpPr>
            <p:nvPr/>
          </p:nvGrpSpPr>
          <p:grpSpPr bwMode="auto">
            <a:xfrm>
              <a:off x="3293808" y="1650878"/>
              <a:ext cx="3757867" cy="2233612"/>
              <a:chOff x="-3118164" y="1804193"/>
              <a:chExt cx="3757867" cy="2233613"/>
            </a:xfrm>
          </p:grpSpPr>
          <p:sp>
            <p:nvSpPr>
              <p:cNvPr id="17451" name="Text Box 48"/>
              <p:cNvSpPr txBox="1">
                <a:spLocks noChangeArrowheads="1"/>
              </p:cNvSpPr>
              <p:nvPr/>
            </p:nvSpPr>
            <p:spPr bwMode="auto">
              <a:xfrm>
                <a:off x="274578" y="2469535"/>
                <a:ext cx="365125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7452" name="Oval 9"/>
              <p:cNvSpPr>
                <a:spLocks noChangeArrowheads="1"/>
              </p:cNvSpPr>
              <p:nvPr/>
            </p:nvSpPr>
            <p:spPr bwMode="auto">
              <a:xfrm>
                <a:off x="-290826" y="1804193"/>
                <a:ext cx="500063" cy="2233613"/>
              </a:xfrm>
              <a:prstGeom prst="ellips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17453" name="Group 22"/>
              <p:cNvGrpSpPr>
                <a:grpSpLocks/>
              </p:cNvGrpSpPr>
              <p:nvPr/>
            </p:nvGrpSpPr>
            <p:grpSpPr bwMode="auto">
              <a:xfrm>
                <a:off x="-3118164" y="2642393"/>
                <a:ext cx="1468438" cy="896938"/>
                <a:chOff x="1123" y="1412"/>
                <a:chExt cx="925" cy="565"/>
              </a:xfrm>
            </p:grpSpPr>
            <p:sp>
              <p:nvSpPr>
                <p:cNvPr id="17454" name="Rectangle 23"/>
                <p:cNvSpPr>
                  <a:spLocks noChangeArrowheads="1"/>
                </p:cNvSpPr>
                <p:nvPr/>
              </p:nvSpPr>
              <p:spPr bwMode="auto">
                <a:xfrm rot="10800000">
                  <a:off x="1123" y="1452"/>
                  <a:ext cx="925" cy="269"/>
                </a:xfrm>
                <a:prstGeom prst="rect">
                  <a:avLst/>
                </a:prstGeom>
                <a:solidFill>
                  <a:srgbClr val="80808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55" name="Line 24"/>
                <p:cNvSpPr>
                  <a:spLocks noChangeShapeType="1"/>
                </p:cNvSpPr>
                <p:nvPr/>
              </p:nvSpPr>
              <p:spPr bwMode="auto">
                <a:xfrm rot="10800000">
                  <a:off x="1965" y="1732"/>
                  <a:ext cx="0" cy="243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6" name="Line 25"/>
                <p:cNvSpPr>
                  <a:spLocks noChangeShapeType="1"/>
                </p:cNvSpPr>
                <p:nvPr/>
              </p:nvSpPr>
              <p:spPr bwMode="auto">
                <a:xfrm>
                  <a:off x="1823" y="1420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7" name="Line 26"/>
                <p:cNvSpPr>
                  <a:spLocks noChangeShapeType="1"/>
                </p:cNvSpPr>
                <p:nvPr/>
              </p:nvSpPr>
              <p:spPr bwMode="auto">
                <a:xfrm>
                  <a:off x="1697" y="1412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8" name="Line 27"/>
                <p:cNvSpPr>
                  <a:spLocks noChangeShapeType="1"/>
                </p:cNvSpPr>
                <p:nvPr/>
              </p:nvSpPr>
              <p:spPr bwMode="auto">
                <a:xfrm>
                  <a:off x="1572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9" name="Line 28"/>
                <p:cNvSpPr>
                  <a:spLocks noChangeShapeType="1"/>
                </p:cNvSpPr>
                <p:nvPr/>
              </p:nvSpPr>
              <p:spPr bwMode="auto">
                <a:xfrm>
                  <a:off x="1446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60" name="Line 29"/>
                <p:cNvSpPr>
                  <a:spLocks noChangeShapeType="1"/>
                </p:cNvSpPr>
                <p:nvPr/>
              </p:nvSpPr>
              <p:spPr bwMode="auto">
                <a:xfrm>
                  <a:off x="1321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61" name="Line 30"/>
                <p:cNvSpPr>
                  <a:spLocks noChangeShapeType="1"/>
                </p:cNvSpPr>
                <p:nvPr/>
              </p:nvSpPr>
              <p:spPr bwMode="auto">
                <a:xfrm rot="10800000">
                  <a:off x="1205" y="1413"/>
                  <a:ext cx="0" cy="564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</p:grpSp>
        <p:sp>
          <p:nvSpPr>
            <p:cNvPr id="748576" name="Text Box 32"/>
            <p:cNvSpPr txBox="1">
              <a:spLocks noChangeArrowheads="1"/>
            </p:cNvSpPr>
            <p:nvPr/>
          </p:nvSpPr>
          <p:spPr bwMode="auto">
            <a:xfrm>
              <a:off x="6683006" y="1653762"/>
              <a:ext cx="1361120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rPr>
                <a:t>ALTERNA </a:t>
              </a:r>
            </a:p>
          </p:txBody>
        </p:sp>
        <p:grpSp>
          <p:nvGrpSpPr>
            <p:cNvPr id="1126" name="Group 102"/>
            <p:cNvGrpSpPr>
              <a:grpSpLocks/>
            </p:cNvGrpSpPr>
            <p:nvPr/>
          </p:nvGrpSpPr>
          <p:grpSpPr bwMode="auto">
            <a:xfrm>
              <a:off x="6659710" y="1121072"/>
              <a:ext cx="2914652" cy="536575"/>
              <a:chOff x="4161" y="908"/>
              <a:chExt cx="1836" cy="338"/>
            </a:xfrm>
          </p:grpSpPr>
          <p:sp>
            <p:nvSpPr>
              <p:cNvPr id="17437" name="Text Box 32"/>
              <p:cNvSpPr txBox="1">
                <a:spLocks noChangeArrowheads="1"/>
              </p:cNvSpPr>
              <p:nvPr/>
            </p:nvSpPr>
            <p:spPr bwMode="auto">
              <a:xfrm>
                <a:off x="4161" y="908"/>
                <a:ext cx="1836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ALTERNO INDUCIDO </a:t>
                </a:r>
                <a:endPara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38" name="Line 101"/>
              <p:cNvSpPr>
                <a:spLocks noChangeShapeType="1"/>
              </p:cNvSpPr>
              <p:nvPr/>
            </p:nvSpPr>
            <p:spPr bwMode="auto">
              <a:xfrm>
                <a:off x="4234" y="959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grpSp>
          <p:nvGrpSpPr>
            <p:cNvPr id="1127" name="Group 103"/>
            <p:cNvGrpSpPr>
              <a:grpSpLocks/>
            </p:cNvGrpSpPr>
            <p:nvPr/>
          </p:nvGrpSpPr>
          <p:grpSpPr bwMode="auto">
            <a:xfrm>
              <a:off x="4923783" y="1683022"/>
              <a:ext cx="1071563" cy="536575"/>
              <a:chOff x="3817" y="517"/>
              <a:chExt cx="675" cy="338"/>
            </a:xfrm>
          </p:grpSpPr>
          <p:sp>
            <p:nvSpPr>
              <p:cNvPr id="17435" name="Text Box 32"/>
              <p:cNvSpPr txBox="1">
                <a:spLocks noChangeArrowheads="1"/>
              </p:cNvSpPr>
              <p:nvPr/>
            </p:nvSpPr>
            <p:spPr bwMode="auto">
              <a:xfrm>
                <a:off x="3817" y="517"/>
                <a:ext cx="67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B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alterno </a:t>
                </a:r>
              </a:p>
            </p:txBody>
          </p:sp>
          <p:sp>
            <p:nvSpPr>
              <p:cNvPr id="17436" name="Line 105"/>
              <p:cNvSpPr>
                <a:spLocks noChangeShapeType="1"/>
              </p:cNvSpPr>
              <p:nvPr/>
            </p:nvSpPr>
            <p:spPr bwMode="auto">
              <a:xfrm>
                <a:off x="3867" y="592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2238912" y="2448297"/>
              <a:ext cx="11080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 err="1">
                  <a:solidFill>
                    <a:srgbClr val="3333FF"/>
                  </a:solidFill>
                  <a:latin typeface="Arial" panose="020B0604020202020204" pitchFamily="34" charset="0"/>
                </a:rPr>
                <a:t>alterna</a:t>
              </a:r>
              <a:endPara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7440" name="Group 113"/>
          <p:cNvGrpSpPr>
            <a:grpSpLocks/>
          </p:cNvGrpSpPr>
          <p:nvPr/>
        </p:nvGrpSpPr>
        <p:grpSpPr bwMode="auto">
          <a:xfrm>
            <a:off x="6406230" y="2804374"/>
            <a:ext cx="603250" cy="339725"/>
            <a:chOff x="4054" y="2435"/>
            <a:chExt cx="380" cy="214"/>
          </a:xfrm>
        </p:grpSpPr>
        <p:sp>
          <p:nvSpPr>
            <p:cNvPr id="17442" name="Rectangle 35"/>
            <p:cNvSpPr>
              <a:spLocks noChangeArrowheads="1"/>
            </p:cNvSpPr>
            <p:nvPr/>
          </p:nvSpPr>
          <p:spPr bwMode="auto">
            <a:xfrm rot="2165897">
              <a:off x="4054" y="2532"/>
              <a:ext cx="380" cy="117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5" name="Oval 38"/>
            <p:cNvSpPr>
              <a:spLocks noChangeArrowheads="1"/>
            </p:cNvSpPr>
            <p:nvPr/>
          </p:nvSpPr>
          <p:spPr bwMode="auto">
            <a:xfrm>
              <a:off x="4134" y="2435"/>
              <a:ext cx="68" cy="68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6" name="Oval 39"/>
            <p:cNvSpPr>
              <a:spLocks noChangeArrowheads="1"/>
            </p:cNvSpPr>
            <p:nvPr/>
          </p:nvSpPr>
          <p:spPr bwMode="auto">
            <a:xfrm>
              <a:off x="4110" y="2575"/>
              <a:ext cx="68" cy="68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48658" name="Text Box 114"/>
          <p:cNvSpPr txBox="1">
            <a:spLocks noChangeArrowheads="1"/>
          </p:cNvSpPr>
          <p:nvPr/>
        </p:nvSpPr>
        <p:spPr bwMode="auto">
          <a:xfrm>
            <a:off x="6911526" y="1858224"/>
            <a:ext cx="295572" cy="41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48669" name="Text Box 125"/>
          <p:cNvSpPr txBox="1">
            <a:spLocks noChangeArrowheads="1"/>
          </p:cNvSpPr>
          <p:nvPr/>
        </p:nvSpPr>
        <p:spPr bwMode="auto">
          <a:xfrm>
            <a:off x="6730118" y="2364820"/>
            <a:ext cx="129142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125"/>
          <p:cNvSpPr txBox="1">
            <a:spLocks noChangeArrowheads="1"/>
          </p:cNvSpPr>
          <p:nvPr/>
        </p:nvSpPr>
        <p:spPr bwMode="auto">
          <a:xfrm>
            <a:off x="3598780" y="2355917"/>
            <a:ext cx="99089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114"/>
          <p:cNvSpPr txBox="1">
            <a:spLocks noChangeArrowheads="1"/>
          </p:cNvSpPr>
          <p:nvPr/>
        </p:nvSpPr>
        <p:spPr bwMode="auto">
          <a:xfrm>
            <a:off x="7818030" y="3266463"/>
            <a:ext cx="51838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C</a:t>
            </a:r>
            <a:r>
              <a:rPr lang="es-ES" sz="2400" baseline="-2500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6" name="Text Box 114">
            <a:extLst>
              <a:ext uri="{FF2B5EF4-FFF2-40B4-BE49-F238E27FC236}">
                <a16:creationId xmlns:a16="http://schemas.microsoft.com/office/drawing/2014/main" id="{A82C0E48-9C0D-4580-BAC0-C35FFA16E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888" y="1687458"/>
            <a:ext cx="183445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C = C</a:t>
            </a:r>
            <a:r>
              <a:rPr lang="es-ES" sz="2400" b="1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 + C</a:t>
            </a:r>
            <a:r>
              <a:rPr lang="es-E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E8F47CB2-B55B-4607-829A-391E242DD4F4}"/>
              </a:ext>
            </a:extLst>
          </p:cNvPr>
          <p:cNvGrpSpPr>
            <a:grpSpLocks/>
          </p:cNvGrpSpPr>
          <p:nvPr/>
        </p:nvGrpSpPr>
        <p:grpSpPr bwMode="auto">
          <a:xfrm>
            <a:off x="1451002" y="415820"/>
            <a:ext cx="3352308" cy="1054100"/>
            <a:chOff x="6453981" y="1128713"/>
            <a:chExt cx="3351213" cy="1054100"/>
          </a:xfrm>
        </p:grpSpPr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4B19B8D2-DA8E-4B44-9ADF-1E7565E37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3981" y="1128713"/>
              <a:ext cx="3351213" cy="10541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59" name="Object 7">
              <a:extLst>
                <a:ext uri="{FF2B5EF4-FFF2-40B4-BE49-F238E27FC236}">
                  <a16:creationId xmlns:a16="http://schemas.microsoft.com/office/drawing/2014/main" id="{F6C06BF7-542C-41B4-BD02-4B891EAAE5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34966" y="1149288"/>
            <a:ext cx="2872580" cy="1007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18671" imgH="431613" progId="Equation.3">
                    <p:embed/>
                  </p:oleObj>
                </mc:Choice>
                <mc:Fallback>
                  <p:oleObj name="Ecuación" r:id="rId3" imgW="1218671" imgH="431613" progId="Equation.3">
                    <p:embed/>
                    <p:pic>
                      <p:nvPicPr>
                        <p:cNvPr id="59" name="Object 7">
                          <a:extLst>
                            <a:ext uri="{FF2B5EF4-FFF2-40B4-BE49-F238E27FC236}">
                              <a16:creationId xmlns:a16="http://schemas.microsoft.com/office/drawing/2014/main" id="{F6C06BF7-542C-41B4-BD02-4B891EAAE5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4966" y="1149288"/>
                          <a:ext cx="2872580" cy="1007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85">
            <a:extLst>
              <a:ext uri="{FF2B5EF4-FFF2-40B4-BE49-F238E27FC236}">
                <a16:creationId xmlns:a16="http://schemas.microsoft.com/office/drawing/2014/main" id="{92EAE07C-C347-0405-C074-A418C81C9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6694" y="4235275"/>
            <a:ext cx="8762054" cy="88407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Sin C</a:t>
            </a:r>
            <a:r>
              <a:rPr lang="es-ES" sz="2400" baseline="-25000" dirty="0">
                <a:latin typeface="Arial" panose="020B0604020202020204" pitchFamily="34" charset="0"/>
              </a:rPr>
              <a:t>2</a:t>
            </a:r>
            <a:r>
              <a:rPr lang="es-ES" sz="2400">
                <a:latin typeface="Arial" panose="020B0604020202020204" pitchFamily="34" charset="0"/>
              </a:rPr>
              <a:t>, al ir variando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</a:t>
            </a:r>
            <a:r>
              <a:rPr lang="es-ES" sz="2400">
                <a:latin typeface="Arial" panose="020B0604020202020204" pitchFamily="34" charset="0"/>
              </a:rPr>
              <a:t>,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varía los excesos de carga tendiendo a </a:t>
            </a:r>
            <a:r>
              <a:rPr lang="es-ES" sz="2400">
                <a:latin typeface="Arial" panose="020B0604020202020204" pitchFamily="34" charset="0"/>
              </a:rPr>
              <a:t>igualar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EXC </a:t>
            </a:r>
            <a:r>
              <a:rPr lang="es-ES" sz="2400">
                <a:latin typeface="Arial" panose="020B0604020202020204" pitchFamily="34" charset="0"/>
              </a:rPr>
              <a:t>y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</a:t>
            </a:r>
            <a:r>
              <a:rPr lang="es-ES" sz="2400">
                <a:latin typeface="Arial" panose="020B0604020202020204" pitchFamily="34" charset="0"/>
              </a:rPr>
              <a:t> en C</a:t>
            </a:r>
            <a:r>
              <a:rPr lang="es-ES" sz="2400" baseline="-25000">
                <a:latin typeface="Arial" panose="020B0604020202020204" pitchFamily="34" charset="0"/>
              </a:rPr>
              <a:t>1</a:t>
            </a:r>
            <a:r>
              <a:rPr lang="es-ES" sz="2400">
                <a:latin typeface="Arial" panose="020B0604020202020204" pitchFamily="34" charset="0"/>
              </a:rPr>
              <a:t> (tienen sentido contrario)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85">
            <a:extLst>
              <a:ext uri="{FF2B5EF4-FFF2-40B4-BE49-F238E27FC236}">
                <a16:creationId xmlns:a16="http://schemas.microsoft.com/office/drawing/2014/main" id="{4CF53E12-531C-1FDF-8F2E-21DAACDD4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739" y="6332939"/>
            <a:ext cx="8042581" cy="5147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</a:t>
            </a:r>
            <a:r>
              <a:rPr lang="es-ES" sz="2400">
                <a:latin typeface="Arial" panose="020B0604020202020204" pitchFamily="34" charset="0"/>
              </a:rPr>
              <a:t> es menor que 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EXC</a:t>
            </a:r>
            <a:r>
              <a:rPr lang="es-ES" sz="2400">
                <a:latin typeface="Arial" panose="020B0604020202020204" pitchFamily="34" charset="0"/>
              </a:rPr>
              <a:t>, ocurre lo contrario 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 Box 85">
            <a:extLst>
              <a:ext uri="{FF2B5EF4-FFF2-40B4-BE49-F238E27FC236}">
                <a16:creationId xmlns:a16="http://schemas.microsoft.com/office/drawing/2014/main" id="{66C669B6-CB9B-8AD8-179A-15BC3794D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953" y="5325940"/>
            <a:ext cx="8046367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</a:t>
            </a:r>
            <a:r>
              <a:rPr lang="es-ES" sz="2400">
                <a:latin typeface="Arial" panose="020B0604020202020204" pitchFamily="34" charset="0"/>
              </a:rPr>
              <a:t> es mayor que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EXC</a:t>
            </a:r>
            <a:r>
              <a:rPr lang="es-ES" sz="2400">
                <a:latin typeface="Arial" panose="020B0604020202020204" pitchFamily="34" charset="0"/>
              </a:rPr>
              <a:t>, </a:t>
            </a:r>
            <a:r>
              <a:rPr lang="es-ES" sz="2400">
                <a:latin typeface="Comic Sans MS" panose="030F0702030302020204" pitchFamily="66" charset="0"/>
              </a:rPr>
              <a:t>I </a:t>
            </a:r>
            <a:r>
              <a:rPr lang="es-ES" sz="2400">
                <a:latin typeface="Arial" panose="020B0604020202020204" pitchFamily="34" charset="0"/>
              </a:rPr>
              <a:t>circula en sentido de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</a:t>
            </a:r>
            <a:r>
              <a:rPr lang="es-ES" sz="2400">
                <a:latin typeface="Arial" panose="020B0604020202020204" pitchFamily="34" charset="0"/>
              </a:rPr>
              <a:t>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aumenta los excesos de carga y con ello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EXC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Box 106">
            <a:extLst>
              <a:ext uri="{FF2B5EF4-FFF2-40B4-BE49-F238E27FC236}">
                <a16:creationId xmlns:a16="http://schemas.microsoft.com/office/drawing/2014/main" id="{9AAEDD7F-AC3E-6E94-E903-3BF0A40A9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624" y="3321682"/>
            <a:ext cx="2642896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ANÁLISIS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4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35C7-3033-96DF-AB9A-E73596946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8C80596A-6AB2-4229-6B18-E9FFB7D2E1B6}"/>
              </a:ext>
            </a:extLst>
          </p:cNvPr>
          <p:cNvGrpSpPr/>
          <p:nvPr/>
        </p:nvGrpSpPr>
        <p:grpSpPr>
          <a:xfrm>
            <a:off x="2268408" y="323112"/>
            <a:ext cx="7335450" cy="3624262"/>
            <a:chOff x="2238912" y="952378"/>
            <a:chExt cx="7335450" cy="3624262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F35AA9E9-A44F-E293-0A3F-B37A722C63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3683" y="952378"/>
              <a:ext cx="2641600" cy="3624262"/>
              <a:chOff x="-1455416" y="1096168"/>
              <a:chExt cx="2640965" cy="3624263"/>
            </a:xfrm>
          </p:grpSpPr>
          <p:sp>
            <p:nvSpPr>
              <p:cNvPr id="17462" name="Line 8">
                <a:extLst>
                  <a:ext uri="{FF2B5EF4-FFF2-40B4-BE49-F238E27FC236}">
                    <a16:creationId xmlns:a16="http://schemas.microsoft.com/office/drawing/2014/main" id="{9630A6B8-2D5D-3A4E-5692-79AC2D8ED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402076" y="2912268"/>
                <a:ext cx="2587625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3" name="Freeform 10">
                <a:extLst>
                  <a:ext uri="{FF2B5EF4-FFF2-40B4-BE49-F238E27FC236}">
                    <a16:creationId xmlns:a16="http://schemas.microsoft.com/office/drawing/2014/main" id="{1CE11D25-13E0-3A39-66EF-2171552C9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403664" y="2396331"/>
                <a:ext cx="2422525" cy="427038"/>
              </a:xfrm>
              <a:custGeom>
                <a:avLst/>
                <a:gdLst>
                  <a:gd name="T0" fmla="*/ 0 w 1526"/>
                  <a:gd name="T1" fmla="*/ 2147483646 h 269"/>
                  <a:gd name="T2" fmla="*/ 2147483646 w 1526"/>
                  <a:gd name="T3" fmla="*/ 2147483646 h 269"/>
                  <a:gd name="T4" fmla="*/ 2147483646 w 1526"/>
                  <a:gd name="T5" fmla="*/ 0 h 269"/>
                  <a:gd name="T6" fmla="*/ 0 60000 65536"/>
                  <a:gd name="T7" fmla="*/ 0 60000 65536"/>
                  <a:gd name="T8" fmla="*/ 0 60000 65536"/>
                  <a:gd name="T9" fmla="*/ 0 w 1526"/>
                  <a:gd name="T10" fmla="*/ 0 h 269"/>
                  <a:gd name="T11" fmla="*/ 1526 w 1526"/>
                  <a:gd name="T12" fmla="*/ 269 h 2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4" name="Freeform 11">
                <a:extLst>
                  <a:ext uri="{FF2B5EF4-FFF2-40B4-BE49-F238E27FC236}">
                    <a16:creationId xmlns:a16="http://schemas.microsoft.com/office/drawing/2014/main" id="{20A6408F-5164-B493-879C-34195E253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419539" y="1848643"/>
                <a:ext cx="2300288" cy="868363"/>
              </a:xfrm>
              <a:custGeom>
                <a:avLst/>
                <a:gdLst>
                  <a:gd name="T0" fmla="*/ 0 w 1449"/>
                  <a:gd name="T1" fmla="*/ 2147483646 h 547"/>
                  <a:gd name="T2" fmla="*/ 2147483646 w 1449"/>
                  <a:gd name="T3" fmla="*/ 2147483646 h 547"/>
                  <a:gd name="T4" fmla="*/ 2147483646 w 1449"/>
                  <a:gd name="T5" fmla="*/ 0 h 547"/>
                  <a:gd name="T6" fmla="*/ 0 60000 65536"/>
                  <a:gd name="T7" fmla="*/ 0 60000 65536"/>
                  <a:gd name="T8" fmla="*/ 0 60000 65536"/>
                  <a:gd name="T9" fmla="*/ 0 w 1449"/>
                  <a:gd name="T10" fmla="*/ 0 h 547"/>
                  <a:gd name="T11" fmla="*/ 1449 w 1449"/>
                  <a:gd name="T12" fmla="*/ 547 h 5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5" name="Freeform 12">
                <a:extLst>
                  <a:ext uri="{FF2B5EF4-FFF2-40B4-BE49-F238E27FC236}">
                    <a16:creationId xmlns:a16="http://schemas.microsoft.com/office/drawing/2014/main" id="{22AC4CF1-7CC0-D1DA-3ADC-B14E51F34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437001" y="1223168"/>
                <a:ext cx="1798638" cy="1385888"/>
              </a:xfrm>
              <a:custGeom>
                <a:avLst/>
                <a:gdLst>
                  <a:gd name="T0" fmla="*/ 0 w 1133"/>
                  <a:gd name="T1" fmla="*/ 2147483646 h 873"/>
                  <a:gd name="T2" fmla="*/ 2147483646 w 1133"/>
                  <a:gd name="T3" fmla="*/ 2147483646 h 873"/>
                  <a:gd name="T4" fmla="*/ 2147483646 w 1133"/>
                  <a:gd name="T5" fmla="*/ 0 h 873"/>
                  <a:gd name="T6" fmla="*/ 0 60000 65536"/>
                  <a:gd name="T7" fmla="*/ 0 60000 65536"/>
                  <a:gd name="T8" fmla="*/ 0 60000 65536"/>
                  <a:gd name="T9" fmla="*/ 0 w 1133"/>
                  <a:gd name="T10" fmla="*/ 0 h 873"/>
                  <a:gd name="T11" fmla="*/ 1133 w 1133"/>
                  <a:gd name="T12" fmla="*/ 873 h 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6" name="Freeform 13">
                <a:extLst>
                  <a:ext uri="{FF2B5EF4-FFF2-40B4-BE49-F238E27FC236}">
                    <a16:creationId xmlns:a16="http://schemas.microsoft.com/office/drawing/2014/main" id="{A733470A-10F1-F393-5B87-1E7684111F4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-1414776" y="2983706"/>
                <a:ext cx="2422525" cy="427038"/>
              </a:xfrm>
              <a:custGeom>
                <a:avLst/>
                <a:gdLst>
                  <a:gd name="T0" fmla="*/ 0 w 1526"/>
                  <a:gd name="T1" fmla="*/ 2147483646 h 269"/>
                  <a:gd name="T2" fmla="*/ 2147483646 w 1526"/>
                  <a:gd name="T3" fmla="*/ 2147483646 h 269"/>
                  <a:gd name="T4" fmla="*/ 2147483646 w 1526"/>
                  <a:gd name="T5" fmla="*/ 0 h 269"/>
                  <a:gd name="T6" fmla="*/ 0 60000 65536"/>
                  <a:gd name="T7" fmla="*/ 0 60000 65536"/>
                  <a:gd name="T8" fmla="*/ 0 60000 65536"/>
                  <a:gd name="T9" fmla="*/ 0 w 1526"/>
                  <a:gd name="T10" fmla="*/ 0 h 269"/>
                  <a:gd name="T11" fmla="*/ 1526 w 1526"/>
                  <a:gd name="T12" fmla="*/ 269 h 2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7" name="Freeform 14">
                <a:extLst>
                  <a:ext uri="{FF2B5EF4-FFF2-40B4-BE49-F238E27FC236}">
                    <a16:creationId xmlns:a16="http://schemas.microsoft.com/office/drawing/2014/main" id="{1548682A-9F9F-A660-A29D-22EEA7965D1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-1437954" y="3096418"/>
                <a:ext cx="2300288" cy="868363"/>
              </a:xfrm>
              <a:custGeom>
                <a:avLst/>
                <a:gdLst>
                  <a:gd name="T0" fmla="*/ 0 w 1449"/>
                  <a:gd name="T1" fmla="*/ 2147483646 h 547"/>
                  <a:gd name="T2" fmla="*/ 2147483646 w 1449"/>
                  <a:gd name="T3" fmla="*/ 2147483646 h 547"/>
                  <a:gd name="T4" fmla="*/ 2147483646 w 1449"/>
                  <a:gd name="T5" fmla="*/ 0 h 547"/>
                  <a:gd name="T6" fmla="*/ 0 60000 65536"/>
                  <a:gd name="T7" fmla="*/ 0 60000 65536"/>
                  <a:gd name="T8" fmla="*/ 0 60000 65536"/>
                  <a:gd name="T9" fmla="*/ 0 w 1449"/>
                  <a:gd name="T10" fmla="*/ 0 h 547"/>
                  <a:gd name="T11" fmla="*/ 1449 w 1449"/>
                  <a:gd name="T12" fmla="*/ 547 h 5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8" name="Freeform 15">
                <a:extLst>
                  <a:ext uri="{FF2B5EF4-FFF2-40B4-BE49-F238E27FC236}">
                    <a16:creationId xmlns:a16="http://schemas.microsoft.com/office/drawing/2014/main" id="{09E72F5B-78FC-B508-E5AE-EFE040800F2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-1427794" y="3198018"/>
                <a:ext cx="1798638" cy="1385888"/>
              </a:xfrm>
              <a:custGeom>
                <a:avLst/>
                <a:gdLst>
                  <a:gd name="T0" fmla="*/ 0 w 1133"/>
                  <a:gd name="T1" fmla="*/ 2147483646 h 873"/>
                  <a:gd name="T2" fmla="*/ 2147483646 w 1133"/>
                  <a:gd name="T3" fmla="*/ 2147483646 h 873"/>
                  <a:gd name="T4" fmla="*/ 2147483646 w 1133"/>
                  <a:gd name="T5" fmla="*/ 0 h 873"/>
                  <a:gd name="T6" fmla="*/ 0 60000 65536"/>
                  <a:gd name="T7" fmla="*/ 0 60000 65536"/>
                  <a:gd name="T8" fmla="*/ 0 60000 65536"/>
                  <a:gd name="T9" fmla="*/ 0 w 1133"/>
                  <a:gd name="T10" fmla="*/ 0 h 873"/>
                  <a:gd name="T11" fmla="*/ 1133 w 1133"/>
                  <a:gd name="T12" fmla="*/ 873 h 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9" name="Freeform 16">
                <a:extLst>
                  <a:ext uri="{FF2B5EF4-FFF2-40B4-BE49-F238E27FC236}">
                    <a16:creationId xmlns:a16="http://schemas.microsoft.com/office/drawing/2014/main" id="{975BD7F7-9035-6B3C-04A5-678B00D82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448114" y="1096168"/>
                <a:ext cx="1189038" cy="1417638"/>
              </a:xfrm>
              <a:custGeom>
                <a:avLst/>
                <a:gdLst>
                  <a:gd name="T0" fmla="*/ 0 w 749"/>
                  <a:gd name="T1" fmla="*/ 2147483646 h 893"/>
                  <a:gd name="T2" fmla="*/ 2147483646 w 749"/>
                  <a:gd name="T3" fmla="*/ 2147483646 h 893"/>
                  <a:gd name="T4" fmla="*/ 2147483646 w 749"/>
                  <a:gd name="T5" fmla="*/ 0 h 893"/>
                  <a:gd name="T6" fmla="*/ 0 60000 65536"/>
                  <a:gd name="T7" fmla="*/ 0 60000 65536"/>
                  <a:gd name="T8" fmla="*/ 0 60000 65536"/>
                  <a:gd name="T9" fmla="*/ 0 w 749"/>
                  <a:gd name="T10" fmla="*/ 0 h 893"/>
                  <a:gd name="T11" fmla="*/ 749 w 749"/>
                  <a:gd name="T12" fmla="*/ 893 h 8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70" name="Freeform 17">
                <a:extLst>
                  <a:ext uri="{FF2B5EF4-FFF2-40B4-BE49-F238E27FC236}">
                    <a16:creationId xmlns:a16="http://schemas.microsoft.com/office/drawing/2014/main" id="{F90B4DAD-E033-7EEC-3B2A-FC13A73DC71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-1455416" y="3302793"/>
                <a:ext cx="1189038" cy="1417638"/>
              </a:xfrm>
              <a:custGeom>
                <a:avLst/>
                <a:gdLst>
                  <a:gd name="T0" fmla="*/ 0 w 749"/>
                  <a:gd name="T1" fmla="*/ 2147483646 h 893"/>
                  <a:gd name="T2" fmla="*/ 2147483646 w 749"/>
                  <a:gd name="T3" fmla="*/ 2147483646 h 893"/>
                  <a:gd name="T4" fmla="*/ 2147483646 w 749"/>
                  <a:gd name="T5" fmla="*/ 0 h 893"/>
                  <a:gd name="T6" fmla="*/ 0 60000 65536"/>
                  <a:gd name="T7" fmla="*/ 0 60000 65536"/>
                  <a:gd name="T8" fmla="*/ 0 60000 65536"/>
                  <a:gd name="T9" fmla="*/ 0 w 749"/>
                  <a:gd name="T10" fmla="*/ 0 h 893"/>
                  <a:gd name="T11" fmla="*/ 749 w 749"/>
                  <a:gd name="T12" fmla="*/ 893 h 8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</p:grpSp>
        <p:grpSp>
          <p:nvGrpSpPr>
            <p:cNvPr id="17411" name="Grupo 7">
              <a:extLst>
                <a:ext uri="{FF2B5EF4-FFF2-40B4-BE49-F238E27FC236}">
                  <a16:creationId xmlns:a16="http://schemas.microsoft.com/office/drawing/2014/main" id="{E3A8345E-3E20-3C81-88B4-73BE225490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3808" y="1650878"/>
              <a:ext cx="3757867" cy="2233612"/>
              <a:chOff x="-3118164" y="1804193"/>
              <a:chExt cx="3757867" cy="2233613"/>
            </a:xfrm>
          </p:grpSpPr>
          <p:sp>
            <p:nvSpPr>
              <p:cNvPr id="17451" name="Text Box 48">
                <a:extLst>
                  <a:ext uri="{FF2B5EF4-FFF2-40B4-BE49-F238E27FC236}">
                    <a16:creationId xmlns:a16="http://schemas.microsoft.com/office/drawing/2014/main" id="{EA7FF043-2A75-69C1-36A8-1D63F36820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578" y="2469535"/>
                <a:ext cx="365125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7452" name="Oval 9">
                <a:extLst>
                  <a:ext uri="{FF2B5EF4-FFF2-40B4-BE49-F238E27FC236}">
                    <a16:creationId xmlns:a16="http://schemas.microsoft.com/office/drawing/2014/main" id="{B74EFDB1-EA7C-F80B-6B4B-4ABEA8E23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90826" y="1804193"/>
                <a:ext cx="500063" cy="2233613"/>
              </a:xfrm>
              <a:prstGeom prst="ellips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17453" name="Group 22">
                <a:extLst>
                  <a:ext uri="{FF2B5EF4-FFF2-40B4-BE49-F238E27FC236}">
                    <a16:creationId xmlns:a16="http://schemas.microsoft.com/office/drawing/2014/main" id="{51A40768-B28A-2336-4C5A-85ADF45AC3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118164" y="2642393"/>
                <a:ext cx="1468438" cy="896938"/>
                <a:chOff x="1123" y="1412"/>
                <a:chExt cx="925" cy="565"/>
              </a:xfrm>
            </p:grpSpPr>
            <p:sp>
              <p:nvSpPr>
                <p:cNvPr id="17454" name="Rectangle 23">
                  <a:extLst>
                    <a:ext uri="{FF2B5EF4-FFF2-40B4-BE49-F238E27FC236}">
                      <a16:creationId xmlns:a16="http://schemas.microsoft.com/office/drawing/2014/main" id="{8227AECE-429B-BB7F-9664-802B43027E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1123" y="1452"/>
                  <a:ext cx="925" cy="269"/>
                </a:xfrm>
                <a:prstGeom prst="rect">
                  <a:avLst/>
                </a:prstGeom>
                <a:solidFill>
                  <a:srgbClr val="80808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55" name="Line 24">
                  <a:extLst>
                    <a:ext uri="{FF2B5EF4-FFF2-40B4-BE49-F238E27FC236}">
                      <a16:creationId xmlns:a16="http://schemas.microsoft.com/office/drawing/2014/main" id="{77978E08-2596-7FF1-0993-32D5617A8F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1965" y="1732"/>
                  <a:ext cx="0" cy="243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6" name="Line 25">
                  <a:extLst>
                    <a:ext uri="{FF2B5EF4-FFF2-40B4-BE49-F238E27FC236}">
                      <a16:creationId xmlns:a16="http://schemas.microsoft.com/office/drawing/2014/main" id="{AE635277-F266-E0AA-C97A-20A419D154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3" y="1420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7" name="Line 26">
                  <a:extLst>
                    <a:ext uri="{FF2B5EF4-FFF2-40B4-BE49-F238E27FC236}">
                      <a16:creationId xmlns:a16="http://schemas.microsoft.com/office/drawing/2014/main" id="{533F628A-2923-CFCA-B746-7A2A91739C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97" y="1412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8" name="Line 27">
                  <a:extLst>
                    <a:ext uri="{FF2B5EF4-FFF2-40B4-BE49-F238E27FC236}">
                      <a16:creationId xmlns:a16="http://schemas.microsoft.com/office/drawing/2014/main" id="{AC85D48C-4F7E-938C-F99A-81C598E0D0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72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9" name="Line 28">
                  <a:extLst>
                    <a:ext uri="{FF2B5EF4-FFF2-40B4-BE49-F238E27FC236}">
                      <a16:creationId xmlns:a16="http://schemas.microsoft.com/office/drawing/2014/main" id="{EFD052C1-8D1D-C297-8752-524AC6F8D2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6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60" name="Line 29">
                  <a:extLst>
                    <a:ext uri="{FF2B5EF4-FFF2-40B4-BE49-F238E27FC236}">
                      <a16:creationId xmlns:a16="http://schemas.microsoft.com/office/drawing/2014/main" id="{3515FA89-FB00-1A9D-DAF9-21FB627510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21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61" name="Line 30">
                  <a:extLst>
                    <a:ext uri="{FF2B5EF4-FFF2-40B4-BE49-F238E27FC236}">
                      <a16:creationId xmlns:a16="http://schemas.microsoft.com/office/drawing/2014/main" id="{8EF70973-F524-FC18-FBD4-88DB529A9C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1205" y="1413"/>
                  <a:ext cx="0" cy="564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</p:grpSp>
        <p:sp>
          <p:nvSpPr>
            <p:cNvPr id="748576" name="Text Box 32">
              <a:extLst>
                <a:ext uri="{FF2B5EF4-FFF2-40B4-BE49-F238E27FC236}">
                  <a16:creationId xmlns:a16="http://schemas.microsoft.com/office/drawing/2014/main" id="{BAF25111-5548-8C03-6F8B-5A0B27745B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3006" y="1653762"/>
              <a:ext cx="1361120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rPr>
                <a:t>ALTERNA </a:t>
              </a:r>
            </a:p>
          </p:txBody>
        </p:sp>
        <p:grpSp>
          <p:nvGrpSpPr>
            <p:cNvPr id="1126" name="Group 102">
              <a:extLst>
                <a:ext uri="{FF2B5EF4-FFF2-40B4-BE49-F238E27FC236}">
                  <a16:creationId xmlns:a16="http://schemas.microsoft.com/office/drawing/2014/main" id="{47F8B91E-D516-6CBB-ABA0-76549FD70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59710" y="1121072"/>
              <a:ext cx="2914652" cy="536575"/>
              <a:chOff x="4161" y="908"/>
              <a:chExt cx="1836" cy="338"/>
            </a:xfrm>
          </p:grpSpPr>
          <p:sp>
            <p:nvSpPr>
              <p:cNvPr id="17437" name="Text Box 32">
                <a:extLst>
                  <a:ext uri="{FF2B5EF4-FFF2-40B4-BE49-F238E27FC236}">
                    <a16:creationId xmlns:a16="http://schemas.microsoft.com/office/drawing/2014/main" id="{DA2A4846-3A6D-6FCE-FB1A-A37F46BDC5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61" y="908"/>
                <a:ext cx="1836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ALTERNO INDUCIDO </a:t>
                </a:r>
                <a:endPara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38" name="Line 101">
                <a:extLst>
                  <a:ext uri="{FF2B5EF4-FFF2-40B4-BE49-F238E27FC236}">
                    <a16:creationId xmlns:a16="http://schemas.microsoft.com/office/drawing/2014/main" id="{3C4900F9-FA2B-B955-CA76-55E6401F5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" y="959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grpSp>
          <p:nvGrpSpPr>
            <p:cNvPr id="1127" name="Group 103">
              <a:extLst>
                <a:ext uri="{FF2B5EF4-FFF2-40B4-BE49-F238E27FC236}">
                  <a16:creationId xmlns:a16="http://schemas.microsoft.com/office/drawing/2014/main" id="{B4EBD92A-4C31-E6DA-8348-4538AAEBA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3783" y="1683022"/>
              <a:ext cx="1071563" cy="536575"/>
              <a:chOff x="3817" y="517"/>
              <a:chExt cx="675" cy="338"/>
            </a:xfrm>
          </p:grpSpPr>
          <p:sp>
            <p:nvSpPr>
              <p:cNvPr id="17435" name="Text Box 32">
                <a:extLst>
                  <a:ext uri="{FF2B5EF4-FFF2-40B4-BE49-F238E27FC236}">
                    <a16:creationId xmlns:a16="http://schemas.microsoft.com/office/drawing/2014/main" id="{78D5F490-6145-902A-20A5-B788C3F303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7" y="517"/>
                <a:ext cx="67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B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alterno </a:t>
                </a:r>
              </a:p>
            </p:txBody>
          </p:sp>
          <p:sp>
            <p:nvSpPr>
              <p:cNvPr id="17436" name="Line 105">
                <a:extLst>
                  <a:ext uri="{FF2B5EF4-FFF2-40B4-BE49-F238E27FC236}">
                    <a16:creationId xmlns:a16="http://schemas.microsoft.com/office/drawing/2014/main" id="{F640688A-09F5-48E2-6D0C-A551731D8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" y="592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61" name="Text Box 31">
              <a:extLst>
                <a:ext uri="{FF2B5EF4-FFF2-40B4-BE49-F238E27FC236}">
                  <a16:creationId xmlns:a16="http://schemas.microsoft.com/office/drawing/2014/main" id="{F29E7CE3-7505-FDCE-5EC4-A27550D09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8912" y="2448297"/>
              <a:ext cx="11080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 err="1">
                  <a:solidFill>
                    <a:srgbClr val="3333FF"/>
                  </a:solidFill>
                  <a:latin typeface="Arial" panose="020B0604020202020204" pitchFamily="34" charset="0"/>
                </a:rPr>
                <a:t>alterna</a:t>
              </a:r>
              <a:endPara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487492F2-D0A5-4B01-0E98-82F272775F7B}"/>
              </a:ext>
            </a:extLst>
          </p:cNvPr>
          <p:cNvGrpSpPr>
            <a:grpSpLocks/>
          </p:cNvGrpSpPr>
          <p:nvPr/>
        </p:nvGrpSpPr>
        <p:grpSpPr bwMode="auto">
          <a:xfrm>
            <a:off x="6406233" y="2804374"/>
            <a:ext cx="3806827" cy="1168400"/>
            <a:chOff x="6435737" y="3587750"/>
            <a:chExt cx="3806831" cy="1168400"/>
          </a:xfrm>
        </p:grpSpPr>
        <p:sp>
          <p:nvSpPr>
            <p:cNvPr id="17439" name="Line 4">
              <a:extLst>
                <a:ext uri="{FF2B5EF4-FFF2-40B4-BE49-F238E27FC236}">
                  <a16:creationId xmlns:a16="http://schemas.microsoft.com/office/drawing/2014/main" id="{78315BBC-CA6D-E9AE-C542-76958A49D6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9639070" y="4349749"/>
              <a:ext cx="81241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pSp>
          <p:nvGrpSpPr>
            <p:cNvPr id="17440" name="Group 113">
              <a:extLst>
                <a:ext uri="{FF2B5EF4-FFF2-40B4-BE49-F238E27FC236}">
                  <a16:creationId xmlns:a16="http://schemas.microsoft.com/office/drawing/2014/main" id="{E0142342-A2AF-85E4-07B5-B49D44CF4E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5737" y="3587750"/>
              <a:ext cx="3806831" cy="1168400"/>
              <a:chOff x="4054" y="2435"/>
              <a:chExt cx="2398" cy="736"/>
            </a:xfrm>
          </p:grpSpPr>
          <p:grpSp>
            <p:nvGrpSpPr>
              <p:cNvPr id="17441" name="Group 3">
                <a:extLst>
                  <a:ext uri="{FF2B5EF4-FFF2-40B4-BE49-F238E27FC236}">
                    <a16:creationId xmlns:a16="http://schemas.microsoft.com/office/drawing/2014/main" id="{B851C29E-50A5-9D85-A4C4-0B51DE5202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20" y="2668"/>
                <a:ext cx="1432" cy="503"/>
                <a:chOff x="4977" y="2891"/>
                <a:chExt cx="1432" cy="503"/>
              </a:xfrm>
            </p:grpSpPr>
            <p:sp>
              <p:nvSpPr>
                <p:cNvPr id="17447" name="Line 4">
                  <a:extLst>
                    <a:ext uri="{FF2B5EF4-FFF2-40B4-BE49-F238E27FC236}">
                      <a16:creationId xmlns:a16="http://schemas.microsoft.com/office/drawing/2014/main" id="{8F5E9644-9974-EAA2-4976-138E71DDD1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77" y="2891"/>
                  <a:ext cx="1315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/>
                <a:lstStyle/>
                <a:p>
                  <a:endParaRPr lang="en-GB"/>
                </a:p>
              </p:txBody>
            </p:sp>
            <p:sp>
              <p:nvSpPr>
                <p:cNvPr id="17448" name="Line 5">
                  <a:extLst>
                    <a:ext uri="{FF2B5EF4-FFF2-40B4-BE49-F238E27FC236}">
                      <a16:creationId xmlns:a16="http://schemas.microsoft.com/office/drawing/2014/main" id="{7FE580B8-98BC-C6A9-526B-A4CFB4C39B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19" y="3394"/>
                  <a:ext cx="127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/>
                <a:lstStyle/>
                <a:p>
                  <a:endParaRPr lang="en-GB"/>
                </a:p>
              </p:txBody>
            </p:sp>
            <p:sp>
              <p:nvSpPr>
                <p:cNvPr id="17449" name="Rectangle 6">
                  <a:extLst>
                    <a:ext uri="{FF2B5EF4-FFF2-40B4-BE49-F238E27FC236}">
                      <a16:creationId xmlns:a16="http://schemas.microsoft.com/office/drawing/2014/main" id="{FF8F1F54-188B-D9E6-6E1C-7760207B4C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0" y="2927"/>
                  <a:ext cx="185" cy="423"/>
                </a:xfrm>
                <a:prstGeom prst="rect">
                  <a:avLst/>
                </a:prstGeom>
                <a:solidFill>
                  <a:srgbClr val="FFFFFF"/>
                </a:solidFill>
                <a:ln w="25400" algn="ctr">
                  <a:solidFill>
                    <a:srgbClr val="0000FF"/>
                  </a:solidFill>
                  <a:miter lim="800000"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50" name="Text Box 7">
                  <a:extLst>
                    <a:ext uri="{FF2B5EF4-FFF2-40B4-BE49-F238E27FC236}">
                      <a16:creationId xmlns:a16="http://schemas.microsoft.com/office/drawing/2014/main" id="{3D98BBD6-96E8-9B1C-38EB-550D750550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79" y="2975"/>
                  <a:ext cx="230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 b="1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R</a:t>
                  </a:r>
                </a:p>
              </p:txBody>
            </p:sp>
          </p:grpSp>
          <p:sp>
            <p:nvSpPr>
              <p:cNvPr id="17442" name="Rectangle 35">
                <a:extLst>
                  <a:ext uri="{FF2B5EF4-FFF2-40B4-BE49-F238E27FC236}">
                    <a16:creationId xmlns:a16="http://schemas.microsoft.com/office/drawing/2014/main" id="{800DD0F6-B509-94F5-A7CA-AF20861D5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165897">
                <a:off x="4054" y="2532"/>
                <a:ext cx="380" cy="117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43" name="Line 36">
                <a:extLst>
                  <a:ext uri="{FF2B5EF4-FFF2-40B4-BE49-F238E27FC236}">
                    <a16:creationId xmlns:a16="http://schemas.microsoft.com/office/drawing/2014/main" id="{CD1780DB-4908-838F-73CA-58B3FE79D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8" y="2467"/>
                <a:ext cx="852" cy="20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17444" name="Line 37">
                <a:extLst>
                  <a:ext uri="{FF2B5EF4-FFF2-40B4-BE49-F238E27FC236}">
                    <a16:creationId xmlns:a16="http://schemas.microsoft.com/office/drawing/2014/main" id="{69366A13-67E4-9F74-B1D9-B6D208466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9" y="2595"/>
                <a:ext cx="926" cy="56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17445" name="Oval 38">
                <a:extLst>
                  <a:ext uri="{FF2B5EF4-FFF2-40B4-BE49-F238E27FC236}">
                    <a16:creationId xmlns:a16="http://schemas.microsoft.com/office/drawing/2014/main" id="{AAF0B1B9-4F52-7031-934F-2B9D85B1F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4" y="2435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46" name="Oval 39">
                <a:extLst>
                  <a:ext uri="{FF2B5EF4-FFF2-40B4-BE49-F238E27FC236}">
                    <a16:creationId xmlns:a16="http://schemas.microsoft.com/office/drawing/2014/main" id="{C4951016-5F5B-4707-60E6-A8F9D4A0D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2575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48658" name="Text Box 114">
            <a:extLst>
              <a:ext uri="{FF2B5EF4-FFF2-40B4-BE49-F238E27FC236}">
                <a16:creationId xmlns:a16="http://schemas.microsoft.com/office/drawing/2014/main" id="{FD1EF371-208C-8CBA-E041-32B7760DD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526" y="1858224"/>
            <a:ext cx="295572" cy="41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48669" name="Text Box 125">
            <a:extLst>
              <a:ext uri="{FF2B5EF4-FFF2-40B4-BE49-F238E27FC236}">
                <a16:creationId xmlns:a16="http://schemas.microsoft.com/office/drawing/2014/main" id="{D77B74BE-B313-C623-228B-1155124D8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0118" y="2364820"/>
            <a:ext cx="129142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125">
            <a:extLst>
              <a:ext uri="{FF2B5EF4-FFF2-40B4-BE49-F238E27FC236}">
                <a16:creationId xmlns:a16="http://schemas.microsoft.com/office/drawing/2014/main" id="{49158E9F-F7C2-BA5D-705D-0D8AC4D31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780" y="2355917"/>
            <a:ext cx="99089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114">
            <a:extLst>
              <a:ext uri="{FF2B5EF4-FFF2-40B4-BE49-F238E27FC236}">
                <a16:creationId xmlns:a16="http://schemas.microsoft.com/office/drawing/2014/main" id="{3EBF3993-ECA8-BF4A-70D1-F2DE99989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030" y="3266463"/>
            <a:ext cx="51838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C</a:t>
            </a:r>
            <a:r>
              <a:rPr lang="es-ES" sz="2400" baseline="-2500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6" name="Text Box 114">
            <a:extLst>
              <a:ext uri="{FF2B5EF4-FFF2-40B4-BE49-F238E27FC236}">
                <a16:creationId xmlns:a16="http://schemas.microsoft.com/office/drawing/2014/main" id="{57F3B366-0F13-4A2F-2154-1D5205C62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888" y="1687458"/>
            <a:ext cx="183445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C = C</a:t>
            </a:r>
            <a:r>
              <a:rPr lang="es-ES" sz="2400" b="1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 + C</a:t>
            </a:r>
            <a:r>
              <a:rPr lang="es-E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" name="Text Box 32">
            <a:extLst>
              <a:ext uri="{FF2B5EF4-FFF2-40B4-BE49-F238E27FC236}">
                <a16:creationId xmlns:a16="http://schemas.microsoft.com/office/drawing/2014/main" id="{A3B0A764-F937-5554-F4FF-B5EBA4C3B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1912" y="3267003"/>
            <a:ext cx="131104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</a:p>
        </p:txBody>
      </p:sp>
      <p:sp>
        <p:nvSpPr>
          <p:cNvPr id="68" name="Text Box 2">
            <a:extLst>
              <a:ext uri="{FF2B5EF4-FFF2-40B4-BE49-F238E27FC236}">
                <a16:creationId xmlns:a16="http://schemas.microsoft.com/office/drawing/2014/main" id="{D935FCBB-45E8-F2F2-0392-3F535276F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02" y="4521609"/>
            <a:ext cx="8930350" cy="169543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108000" rIns="144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 C</a:t>
            </a:r>
            <a:r>
              <a:rPr lang="es-ES" sz="2400" baseline="-25000">
                <a:latin typeface="Arial" panose="020B0604020202020204" pitchFamily="34" charset="0"/>
              </a:rPr>
              <a:t>2</a:t>
            </a:r>
            <a:r>
              <a:rPr lang="es-ES" sz="2400">
                <a:latin typeface="Arial" panose="020B0604020202020204" pitchFamily="34" charset="0"/>
              </a:rPr>
              <a:t>, al circular </a:t>
            </a:r>
            <a:r>
              <a:rPr lang="es-ES" sz="2400">
                <a:latin typeface="Comic Sans MS" panose="030F0702030302020204" pitchFamily="66" charset="0"/>
              </a:rPr>
              <a:t>I </a:t>
            </a:r>
            <a:r>
              <a:rPr lang="es-ES" sz="2400">
                <a:latin typeface="Arial" panose="020B0604020202020204" pitchFamily="34" charset="0"/>
              </a:rPr>
              <a:t>en C</a:t>
            </a:r>
            <a:r>
              <a:rPr lang="es-ES" sz="2400" baseline="-25000">
                <a:latin typeface="Arial" panose="020B0604020202020204" pitchFamily="34" charset="0"/>
              </a:rPr>
              <a:t>2</a:t>
            </a:r>
            <a:r>
              <a:rPr lang="es-ES" sz="2400">
                <a:latin typeface="Arial" panose="020B0604020202020204" pitchFamily="34" charset="0"/>
              </a:rPr>
              <a:t>, los </a:t>
            </a:r>
            <a:r>
              <a:rPr lang="es-ES" sz="2400" dirty="0">
                <a:latin typeface="Arial" panose="020B0604020202020204" pitchFamily="34" charset="0"/>
              </a:rPr>
              <a:t>excesos decrecen</a:t>
            </a:r>
            <a:r>
              <a:rPr lang="es-ES" sz="2400">
                <a:latin typeface="Arial" panose="020B0604020202020204" pitchFamily="34" charset="0"/>
              </a:rPr>
              <a:t>.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EXC</a:t>
            </a:r>
            <a:r>
              <a:rPr lang="es-ES" sz="2400">
                <a:latin typeface="Arial" panose="020B0604020202020204" pitchFamily="34" charset="0"/>
              </a:rPr>
              <a:t> y </a:t>
            </a:r>
            <a:r>
              <a:rPr lang="es-ES" sz="2400" dirty="0"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</a:rPr>
              <a:t>ALT</a:t>
            </a:r>
            <a:r>
              <a:rPr lang="es-ES" sz="2400" dirty="0">
                <a:latin typeface="Arial" panose="020B0604020202020204" pitchFamily="34" charset="0"/>
              </a:rPr>
              <a:t> se debilitan</a:t>
            </a:r>
            <a:r>
              <a:rPr lang="es-ES" sz="2400">
                <a:latin typeface="Arial" panose="020B0604020202020204" pitchFamily="34" charset="0"/>
              </a:rPr>
              <a:t>.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</a:t>
            </a:r>
            <a:r>
              <a:rPr lang="es-ES" sz="2400">
                <a:latin typeface="Arial" panose="020B0604020202020204" pitchFamily="34" charset="0"/>
              </a:rPr>
              <a:t> es siempre más fuerte, marca el sentido de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 y trabaja en C</a:t>
            </a:r>
            <a:r>
              <a:rPr lang="es-ES" sz="2400" baseline="-25000">
                <a:latin typeface="Arial" panose="020B0604020202020204" pitchFamily="34" charset="0"/>
              </a:rPr>
              <a:t>1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tendiendo a restaurar la situación. Da </a:t>
            </a:r>
            <a:r>
              <a:rPr lang="es-ES" sz="2400">
                <a:latin typeface="Arial" panose="020B0604020202020204" pitchFamily="34" charset="0"/>
              </a:rPr>
              <a:t>lugar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en C</a:t>
            </a:r>
            <a:r>
              <a:rPr lang="es-ES" sz="2400" baseline="-2500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2400">
                <a:latin typeface="Arial" panose="020B0604020202020204" pitchFamily="34" charset="0"/>
              </a:rPr>
              <a:t>a </a:t>
            </a:r>
            <a:r>
              <a:rPr lang="es-ES" sz="2400" dirty="0">
                <a:latin typeface="Arial" panose="020B0604020202020204" pitchFamily="34" charset="0"/>
              </a:rPr>
              <a:t>la </a:t>
            </a:r>
            <a:r>
              <a:rPr lang="es-ES" sz="2400">
                <a:latin typeface="Arial" panose="020B0604020202020204" pitchFamily="34" charset="0"/>
              </a:rPr>
              <a:t>misma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que circula en C</a:t>
            </a:r>
            <a:r>
              <a:rPr lang="es-ES" sz="24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EXC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se opone</a:t>
            </a:r>
            <a:endParaRPr lang="es-ES" sz="2400" i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9" name="Text Box 85">
            <a:extLst>
              <a:ext uri="{FF2B5EF4-FFF2-40B4-BE49-F238E27FC236}">
                <a16:creationId xmlns:a16="http://schemas.microsoft.com/office/drawing/2014/main" id="{C0CA9263-4D74-BC17-2C05-CE07F76B8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067" y="6280998"/>
            <a:ext cx="768990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(la situación es similar a la que se tiene en una pila)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EF94604D-121B-8604-F3DA-7A7E96AA476E}"/>
              </a:ext>
            </a:extLst>
          </p:cNvPr>
          <p:cNvGrpSpPr>
            <a:grpSpLocks/>
          </p:cNvGrpSpPr>
          <p:nvPr/>
        </p:nvGrpSpPr>
        <p:grpSpPr bwMode="auto">
          <a:xfrm>
            <a:off x="1451002" y="415820"/>
            <a:ext cx="3352308" cy="1054100"/>
            <a:chOff x="6453981" y="1128713"/>
            <a:chExt cx="3351213" cy="1054100"/>
          </a:xfrm>
        </p:grpSpPr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7E3E38EA-28DA-26C9-370E-3B887FC0A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3981" y="1128713"/>
              <a:ext cx="3351213" cy="10541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59" name="Object 7">
              <a:extLst>
                <a:ext uri="{FF2B5EF4-FFF2-40B4-BE49-F238E27FC236}">
                  <a16:creationId xmlns:a16="http://schemas.microsoft.com/office/drawing/2014/main" id="{4CEA44CC-38B4-1ED3-CF01-EC74CBD854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34966" y="1149288"/>
            <a:ext cx="2872580" cy="1007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18671" imgH="431613" progId="Equation.3">
                    <p:embed/>
                  </p:oleObj>
                </mc:Choice>
                <mc:Fallback>
                  <p:oleObj name="Ecuación" r:id="rId3" imgW="1218671" imgH="431613" progId="Equation.3">
                    <p:embed/>
                    <p:pic>
                      <p:nvPicPr>
                        <p:cNvPr id="59" name="Object 7">
                          <a:extLst>
                            <a:ext uri="{FF2B5EF4-FFF2-40B4-BE49-F238E27FC236}">
                              <a16:creationId xmlns:a16="http://schemas.microsoft.com/office/drawing/2014/main" id="{F6C06BF7-542C-41B4-BD02-4B891EAAE5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4966" y="1149288"/>
                          <a:ext cx="2872580" cy="1007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106">
            <a:extLst>
              <a:ext uri="{FF2B5EF4-FFF2-40B4-BE49-F238E27FC236}">
                <a16:creationId xmlns:a16="http://schemas.microsoft.com/office/drawing/2014/main" id="{380E9E6D-4F35-3864-ACEF-B4EBDF866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624" y="3321682"/>
            <a:ext cx="2642896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ANÁLISIS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56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89BE9FBB-D0D1-41D7-A28C-4A3B6B07FF19}"/>
              </a:ext>
            </a:extLst>
          </p:cNvPr>
          <p:cNvGrpSpPr/>
          <p:nvPr/>
        </p:nvGrpSpPr>
        <p:grpSpPr>
          <a:xfrm>
            <a:off x="2268408" y="323112"/>
            <a:ext cx="7335450" cy="3624262"/>
            <a:chOff x="2238912" y="952378"/>
            <a:chExt cx="7335450" cy="3624262"/>
          </a:xfrm>
        </p:grpSpPr>
        <p:grpSp>
          <p:nvGrpSpPr>
            <p:cNvPr id="7" name="Grupo 6"/>
            <p:cNvGrpSpPr>
              <a:grpSpLocks/>
            </p:cNvGrpSpPr>
            <p:nvPr/>
          </p:nvGrpSpPr>
          <p:grpSpPr bwMode="auto">
            <a:xfrm>
              <a:off x="4833683" y="952378"/>
              <a:ext cx="2641600" cy="3624262"/>
              <a:chOff x="-1455416" y="1096168"/>
              <a:chExt cx="2640965" cy="3624263"/>
            </a:xfrm>
          </p:grpSpPr>
          <p:sp>
            <p:nvSpPr>
              <p:cNvPr id="17462" name="Line 8"/>
              <p:cNvSpPr>
                <a:spLocks noChangeShapeType="1"/>
              </p:cNvSpPr>
              <p:nvPr/>
            </p:nvSpPr>
            <p:spPr bwMode="auto">
              <a:xfrm>
                <a:off x="-1402076" y="2912268"/>
                <a:ext cx="2587625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3" name="Freeform 10"/>
              <p:cNvSpPr>
                <a:spLocks/>
              </p:cNvSpPr>
              <p:nvPr/>
            </p:nvSpPr>
            <p:spPr bwMode="auto">
              <a:xfrm>
                <a:off x="-1403664" y="2396331"/>
                <a:ext cx="2422525" cy="427038"/>
              </a:xfrm>
              <a:custGeom>
                <a:avLst/>
                <a:gdLst>
                  <a:gd name="T0" fmla="*/ 0 w 1526"/>
                  <a:gd name="T1" fmla="*/ 2147483646 h 269"/>
                  <a:gd name="T2" fmla="*/ 2147483646 w 1526"/>
                  <a:gd name="T3" fmla="*/ 2147483646 h 269"/>
                  <a:gd name="T4" fmla="*/ 2147483646 w 1526"/>
                  <a:gd name="T5" fmla="*/ 0 h 269"/>
                  <a:gd name="T6" fmla="*/ 0 60000 65536"/>
                  <a:gd name="T7" fmla="*/ 0 60000 65536"/>
                  <a:gd name="T8" fmla="*/ 0 60000 65536"/>
                  <a:gd name="T9" fmla="*/ 0 w 1526"/>
                  <a:gd name="T10" fmla="*/ 0 h 269"/>
                  <a:gd name="T11" fmla="*/ 1526 w 1526"/>
                  <a:gd name="T12" fmla="*/ 269 h 2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4" name="Freeform 11"/>
              <p:cNvSpPr>
                <a:spLocks/>
              </p:cNvSpPr>
              <p:nvPr/>
            </p:nvSpPr>
            <p:spPr bwMode="auto">
              <a:xfrm>
                <a:off x="-1419539" y="1848643"/>
                <a:ext cx="2300288" cy="868363"/>
              </a:xfrm>
              <a:custGeom>
                <a:avLst/>
                <a:gdLst>
                  <a:gd name="T0" fmla="*/ 0 w 1449"/>
                  <a:gd name="T1" fmla="*/ 2147483646 h 547"/>
                  <a:gd name="T2" fmla="*/ 2147483646 w 1449"/>
                  <a:gd name="T3" fmla="*/ 2147483646 h 547"/>
                  <a:gd name="T4" fmla="*/ 2147483646 w 1449"/>
                  <a:gd name="T5" fmla="*/ 0 h 547"/>
                  <a:gd name="T6" fmla="*/ 0 60000 65536"/>
                  <a:gd name="T7" fmla="*/ 0 60000 65536"/>
                  <a:gd name="T8" fmla="*/ 0 60000 65536"/>
                  <a:gd name="T9" fmla="*/ 0 w 1449"/>
                  <a:gd name="T10" fmla="*/ 0 h 547"/>
                  <a:gd name="T11" fmla="*/ 1449 w 1449"/>
                  <a:gd name="T12" fmla="*/ 547 h 5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5" name="Freeform 12"/>
              <p:cNvSpPr>
                <a:spLocks/>
              </p:cNvSpPr>
              <p:nvPr/>
            </p:nvSpPr>
            <p:spPr bwMode="auto">
              <a:xfrm>
                <a:off x="-1437001" y="1223168"/>
                <a:ext cx="1798638" cy="1385888"/>
              </a:xfrm>
              <a:custGeom>
                <a:avLst/>
                <a:gdLst>
                  <a:gd name="T0" fmla="*/ 0 w 1133"/>
                  <a:gd name="T1" fmla="*/ 2147483646 h 873"/>
                  <a:gd name="T2" fmla="*/ 2147483646 w 1133"/>
                  <a:gd name="T3" fmla="*/ 2147483646 h 873"/>
                  <a:gd name="T4" fmla="*/ 2147483646 w 1133"/>
                  <a:gd name="T5" fmla="*/ 0 h 873"/>
                  <a:gd name="T6" fmla="*/ 0 60000 65536"/>
                  <a:gd name="T7" fmla="*/ 0 60000 65536"/>
                  <a:gd name="T8" fmla="*/ 0 60000 65536"/>
                  <a:gd name="T9" fmla="*/ 0 w 1133"/>
                  <a:gd name="T10" fmla="*/ 0 h 873"/>
                  <a:gd name="T11" fmla="*/ 1133 w 1133"/>
                  <a:gd name="T12" fmla="*/ 873 h 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6" name="Freeform 13"/>
              <p:cNvSpPr>
                <a:spLocks/>
              </p:cNvSpPr>
              <p:nvPr/>
            </p:nvSpPr>
            <p:spPr bwMode="auto">
              <a:xfrm flipV="1">
                <a:off x="-1414776" y="2983706"/>
                <a:ext cx="2422525" cy="427038"/>
              </a:xfrm>
              <a:custGeom>
                <a:avLst/>
                <a:gdLst>
                  <a:gd name="T0" fmla="*/ 0 w 1526"/>
                  <a:gd name="T1" fmla="*/ 2147483646 h 269"/>
                  <a:gd name="T2" fmla="*/ 2147483646 w 1526"/>
                  <a:gd name="T3" fmla="*/ 2147483646 h 269"/>
                  <a:gd name="T4" fmla="*/ 2147483646 w 1526"/>
                  <a:gd name="T5" fmla="*/ 0 h 269"/>
                  <a:gd name="T6" fmla="*/ 0 60000 65536"/>
                  <a:gd name="T7" fmla="*/ 0 60000 65536"/>
                  <a:gd name="T8" fmla="*/ 0 60000 65536"/>
                  <a:gd name="T9" fmla="*/ 0 w 1526"/>
                  <a:gd name="T10" fmla="*/ 0 h 269"/>
                  <a:gd name="T11" fmla="*/ 1526 w 1526"/>
                  <a:gd name="T12" fmla="*/ 269 h 2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7" name="Freeform 14"/>
              <p:cNvSpPr>
                <a:spLocks/>
              </p:cNvSpPr>
              <p:nvPr/>
            </p:nvSpPr>
            <p:spPr bwMode="auto">
              <a:xfrm flipV="1">
                <a:off x="-1437954" y="3096418"/>
                <a:ext cx="2300288" cy="868363"/>
              </a:xfrm>
              <a:custGeom>
                <a:avLst/>
                <a:gdLst>
                  <a:gd name="T0" fmla="*/ 0 w 1449"/>
                  <a:gd name="T1" fmla="*/ 2147483646 h 547"/>
                  <a:gd name="T2" fmla="*/ 2147483646 w 1449"/>
                  <a:gd name="T3" fmla="*/ 2147483646 h 547"/>
                  <a:gd name="T4" fmla="*/ 2147483646 w 1449"/>
                  <a:gd name="T5" fmla="*/ 0 h 547"/>
                  <a:gd name="T6" fmla="*/ 0 60000 65536"/>
                  <a:gd name="T7" fmla="*/ 0 60000 65536"/>
                  <a:gd name="T8" fmla="*/ 0 60000 65536"/>
                  <a:gd name="T9" fmla="*/ 0 w 1449"/>
                  <a:gd name="T10" fmla="*/ 0 h 547"/>
                  <a:gd name="T11" fmla="*/ 1449 w 1449"/>
                  <a:gd name="T12" fmla="*/ 547 h 5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8" name="Freeform 15"/>
              <p:cNvSpPr>
                <a:spLocks/>
              </p:cNvSpPr>
              <p:nvPr/>
            </p:nvSpPr>
            <p:spPr bwMode="auto">
              <a:xfrm flipV="1">
                <a:off x="-1427794" y="3198018"/>
                <a:ext cx="1798638" cy="1385888"/>
              </a:xfrm>
              <a:custGeom>
                <a:avLst/>
                <a:gdLst>
                  <a:gd name="T0" fmla="*/ 0 w 1133"/>
                  <a:gd name="T1" fmla="*/ 2147483646 h 873"/>
                  <a:gd name="T2" fmla="*/ 2147483646 w 1133"/>
                  <a:gd name="T3" fmla="*/ 2147483646 h 873"/>
                  <a:gd name="T4" fmla="*/ 2147483646 w 1133"/>
                  <a:gd name="T5" fmla="*/ 0 h 873"/>
                  <a:gd name="T6" fmla="*/ 0 60000 65536"/>
                  <a:gd name="T7" fmla="*/ 0 60000 65536"/>
                  <a:gd name="T8" fmla="*/ 0 60000 65536"/>
                  <a:gd name="T9" fmla="*/ 0 w 1133"/>
                  <a:gd name="T10" fmla="*/ 0 h 873"/>
                  <a:gd name="T11" fmla="*/ 1133 w 1133"/>
                  <a:gd name="T12" fmla="*/ 873 h 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9" name="Freeform 16"/>
              <p:cNvSpPr>
                <a:spLocks/>
              </p:cNvSpPr>
              <p:nvPr/>
            </p:nvSpPr>
            <p:spPr bwMode="auto">
              <a:xfrm>
                <a:off x="-1448114" y="1096168"/>
                <a:ext cx="1189038" cy="1417638"/>
              </a:xfrm>
              <a:custGeom>
                <a:avLst/>
                <a:gdLst>
                  <a:gd name="T0" fmla="*/ 0 w 749"/>
                  <a:gd name="T1" fmla="*/ 2147483646 h 893"/>
                  <a:gd name="T2" fmla="*/ 2147483646 w 749"/>
                  <a:gd name="T3" fmla="*/ 2147483646 h 893"/>
                  <a:gd name="T4" fmla="*/ 2147483646 w 749"/>
                  <a:gd name="T5" fmla="*/ 0 h 893"/>
                  <a:gd name="T6" fmla="*/ 0 60000 65536"/>
                  <a:gd name="T7" fmla="*/ 0 60000 65536"/>
                  <a:gd name="T8" fmla="*/ 0 60000 65536"/>
                  <a:gd name="T9" fmla="*/ 0 w 749"/>
                  <a:gd name="T10" fmla="*/ 0 h 893"/>
                  <a:gd name="T11" fmla="*/ 749 w 749"/>
                  <a:gd name="T12" fmla="*/ 893 h 8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70" name="Freeform 17"/>
              <p:cNvSpPr>
                <a:spLocks/>
              </p:cNvSpPr>
              <p:nvPr/>
            </p:nvSpPr>
            <p:spPr bwMode="auto">
              <a:xfrm flipV="1">
                <a:off x="-1455416" y="3302793"/>
                <a:ext cx="1189038" cy="1417638"/>
              </a:xfrm>
              <a:custGeom>
                <a:avLst/>
                <a:gdLst>
                  <a:gd name="T0" fmla="*/ 0 w 749"/>
                  <a:gd name="T1" fmla="*/ 2147483646 h 893"/>
                  <a:gd name="T2" fmla="*/ 2147483646 w 749"/>
                  <a:gd name="T3" fmla="*/ 2147483646 h 893"/>
                  <a:gd name="T4" fmla="*/ 2147483646 w 749"/>
                  <a:gd name="T5" fmla="*/ 0 h 893"/>
                  <a:gd name="T6" fmla="*/ 0 60000 65536"/>
                  <a:gd name="T7" fmla="*/ 0 60000 65536"/>
                  <a:gd name="T8" fmla="*/ 0 60000 65536"/>
                  <a:gd name="T9" fmla="*/ 0 w 749"/>
                  <a:gd name="T10" fmla="*/ 0 h 893"/>
                  <a:gd name="T11" fmla="*/ 749 w 749"/>
                  <a:gd name="T12" fmla="*/ 893 h 8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</p:grpSp>
        <p:grpSp>
          <p:nvGrpSpPr>
            <p:cNvPr id="17411" name="Grupo 7"/>
            <p:cNvGrpSpPr>
              <a:grpSpLocks/>
            </p:cNvGrpSpPr>
            <p:nvPr/>
          </p:nvGrpSpPr>
          <p:grpSpPr bwMode="auto">
            <a:xfrm>
              <a:off x="3293808" y="1650878"/>
              <a:ext cx="3757867" cy="2233612"/>
              <a:chOff x="-3118164" y="1804193"/>
              <a:chExt cx="3757867" cy="2233613"/>
            </a:xfrm>
          </p:grpSpPr>
          <p:sp>
            <p:nvSpPr>
              <p:cNvPr id="17451" name="Text Box 48"/>
              <p:cNvSpPr txBox="1">
                <a:spLocks noChangeArrowheads="1"/>
              </p:cNvSpPr>
              <p:nvPr/>
            </p:nvSpPr>
            <p:spPr bwMode="auto">
              <a:xfrm>
                <a:off x="274578" y="2469535"/>
                <a:ext cx="365125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7452" name="Oval 9"/>
              <p:cNvSpPr>
                <a:spLocks noChangeArrowheads="1"/>
              </p:cNvSpPr>
              <p:nvPr/>
            </p:nvSpPr>
            <p:spPr bwMode="auto">
              <a:xfrm>
                <a:off x="-290826" y="1804193"/>
                <a:ext cx="500063" cy="2233613"/>
              </a:xfrm>
              <a:prstGeom prst="ellips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17453" name="Group 22"/>
              <p:cNvGrpSpPr>
                <a:grpSpLocks/>
              </p:cNvGrpSpPr>
              <p:nvPr/>
            </p:nvGrpSpPr>
            <p:grpSpPr bwMode="auto">
              <a:xfrm>
                <a:off x="-3118164" y="2642393"/>
                <a:ext cx="1468438" cy="896938"/>
                <a:chOff x="1123" y="1412"/>
                <a:chExt cx="925" cy="565"/>
              </a:xfrm>
            </p:grpSpPr>
            <p:sp>
              <p:nvSpPr>
                <p:cNvPr id="17454" name="Rectangle 23"/>
                <p:cNvSpPr>
                  <a:spLocks noChangeArrowheads="1"/>
                </p:cNvSpPr>
                <p:nvPr/>
              </p:nvSpPr>
              <p:spPr bwMode="auto">
                <a:xfrm rot="10800000">
                  <a:off x="1123" y="1452"/>
                  <a:ext cx="925" cy="269"/>
                </a:xfrm>
                <a:prstGeom prst="rect">
                  <a:avLst/>
                </a:prstGeom>
                <a:solidFill>
                  <a:srgbClr val="80808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55" name="Line 24"/>
                <p:cNvSpPr>
                  <a:spLocks noChangeShapeType="1"/>
                </p:cNvSpPr>
                <p:nvPr/>
              </p:nvSpPr>
              <p:spPr bwMode="auto">
                <a:xfrm rot="10800000">
                  <a:off x="1965" y="1732"/>
                  <a:ext cx="0" cy="243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6" name="Line 25"/>
                <p:cNvSpPr>
                  <a:spLocks noChangeShapeType="1"/>
                </p:cNvSpPr>
                <p:nvPr/>
              </p:nvSpPr>
              <p:spPr bwMode="auto">
                <a:xfrm>
                  <a:off x="1823" y="1420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7" name="Line 26"/>
                <p:cNvSpPr>
                  <a:spLocks noChangeShapeType="1"/>
                </p:cNvSpPr>
                <p:nvPr/>
              </p:nvSpPr>
              <p:spPr bwMode="auto">
                <a:xfrm>
                  <a:off x="1697" y="1412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8" name="Line 27"/>
                <p:cNvSpPr>
                  <a:spLocks noChangeShapeType="1"/>
                </p:cNvSpPr>
                <p:nvPr/>
              </p:nvSpPr>
              <p:spPr bwMode="auto">
                <a:xfrm>
                  <a:off x="1572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9" name="Line 28"/>
                <p:cNvSpPr>
                  <a:spLocks noChangeShapeType="1"/>
                </p:cNvSpPr>
                <p:nvPr/>
              </p:nvSpPr>
              <p:spPr bwMode="auto">
                <a:xfrm>
                  <a:off x="1446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60" name="Line 29"/>
                <p:cNvSpPr>
                  <a:spLocks noChangeShapeType="1"/>
                </p:cNvSpPr>
                <p:nvPr/>
              </p:nvSpPr>
              <p:spPr bwMode="auto">
                <a:xfrm>
                  <a:off x="1321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61" name="Line 30"/>
                <p:cNvSpPr>
                  <a:spLocks noChangeShapeType="1"/>
                </p:cNvSpPr>
                <p:nvPr/>
              </p:nvSpPr>
              <p:spPr bwMode="auto">
                <a:xfrm rot="10800000">
                  <a:off x="1205" y="1413"/>
                  <a:ext cx="0" cy="564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</p:grpSp>
        <p:sp>
          <p:nvSpPr>
            <p:cNvPr id="748576" name="Text Box 32"/>
            <p:cNvSpPr txBox="1">
              <a:spLocks noChangeArrowheads="1"/>
            </p:cNvSpPr>
            <p:nvPr/>
          </p:nvSpPr>
          <p:spPr bwMode="auto">
            <a:xfrm>
              <a:off x="6683006" y="1653762"/>
              <a:ext cx="1361120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rPr>
                <a:t>ALTERNA </a:t>
              </a:r>
            </a:p>
          </p:txBody>
        </p:sp>
        <p:grpSp>
          <p:nvGrpSpPr>
            <p:cNvPr id="1126" name="Group 102"/>
            <p:cNvGrpSpPr>
              <a:grpSpLocks/>
            </p:cNvGrpSpPr>
            <p:nvPr/>
          </p:nvGrpSpPr>
          <p:grpSpPr bwMode="auto">
            <a:xfrm>
              <a:off x="6659710" y="1121072"/>
              <a:ext cx="2914652" cy="536575"/>
              <a:chOff x="4161" y="908"/>
              <a:chExt cx="1836" cy="338"/>
            </a:xfrm>
          </p:grpSpPr>
          <p:sp>
            <p:nvSpPr>
              <p:cNvPr id="17437" name="Text Box 32"/>
              <p:cNvSpPr txBox="1">
                <a:spLocks noChangeArrowheads="1"/>
              </p:cNvSpPr>
              <p:nvPr/>
            </p:nvSpPr>
            <p:spPr bwMode="auto">
              <a:xfrm>
                <a:off x="4161" y="908"/>
                <a:ext cx="1836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ALTERNO INDUCIDO </a:t>
                </a:r>
                <a:endPara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38" name="Line 101"/>
              <p:cNvSpPr>
                <a:spLocks noChangeShapeType="1"/>
              </p:cNvSpPr>
              <p:nvPr/>
            </p:nvSpPr>
            <p:spPr bwMode="auto">
              <a:xfrm>
                <a:off x="4234" y="959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grpSp>
          <p:nvGrpSpPr>
            <p:cNvPr id="1127" name="Group 103"/>
            <p:cNvGrpSpPr>
              <a:grpSpLocks/>
            </p:cNvGrpSpPr>
            <p:nvPr/>
          </p:nvGrpSpPr>
          <p:grpSpPr bwMode="auto">
            <a:xfrm>
              <a:off x="4923783" y="1683022"/>
              <a:ext cx="1071563" cy="536575"/>
              <a:chOff x="3817" y="517"/>
              <a:chExt cx="675" cy="338"/>
            </a:xfrm>
          </p:grpSpPr>
          <p:sp>
            <p:nvSpPr>
              <p:cNvPr id="17435" name="Text Box 32"/>
              <p:cNvSpPr txBox="1">
                <a:spLocks noChangeArrowheads="1"/>
              </p:cNvSpPr>
              <p:nvPr/>
            </p:nvSpPr>
            <p:spPr bwMode="auto">
              <a:xfrm>
                <a:off x="3817" y="517"/>
                <a:ext cx="67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B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alterno </a:t>
                </a:r>
              </a:p>
            </p:txBody>
          </p:sp>
          <p:sp>
            <p:nvSpPr>
              <p:cNvPr id="17436" name="Line 105"/>
              <p:cNvSpPr>
                <a:spLocks noChangeShapeType="1"/>
              </p:cNvSpPr>
              <p:nvPr/>
            </p:nvSpPr>
            <p:spPr bwMode="auto">
              <a:xfrm>
                <a:off x="3867" y="592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2238912" y="2448297"/>
              <a:ext cx="11080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 err="1">
                  <a:solidFill>
                    <a:srgbClr val="3333FF"/>
                  </a:solidFill>
                  <a:latin typeface="Arial" panose="020B0604020202020204" pitchFamily="34" charset="0"/>
                </a:rPr>
                <a:t>alterna</a:t>
              </a:r>
              <a:endPara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6406233" y="2804374"/>
            <a:ext cx="3806827" cy="1168400"/>
            <a:chOff x="6435737" y="3587750"/>
            <a:chExt cx="3806831" cy="1168400"/>
          </a:xfrm>
        </p:grpSpPr>
        <p:sp>
          <p:nvSpPr>
            <p:cNvPr id="17439" name="Line 4"/>
            <p:cNvSpPr>
              <a:spLocks noChangeShapeType="1"/>
            </p:cNvSpPr>
            <p:nvPr/>
          </p:nvSpPr>
          <p:spPr bwMode="auto">
            <a:xfrm rot="16200000" flipV="1">
              <a:off x="9639070" y="4349749"/>
              <a:ext cx="81241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pSp>
          <p:nvGrpSpPr>
            <p:cNvPr id="17440" name="Group 113"/>
            <p:cNvGrpSpPr>
              <a:grpSpLocks/>
            </p:cNvGrpSpPr>
            <p:nvPr/>
          </p:nvGrpSpPr>
          <p:grpSpPr bwMode="auto">
            <a:xfrm>
              <a:off x="6435737" y="3587750"/>
              <a:ext cx="3806831" cy="1168400"/>
              <a:chOff x="4054" y="2435"/>
              <a:chExt cx="2398" cy="736"/>
            </a:xfrm>
          </p:grpSpPr>
          <p:grpSp>
            <p:nvGrpSpPr>
              <p:cNvPr id="17441" name="Group 3"/>
              <p:cNvGrpSpPr>
                <a:grpSpLocks/>
              </p:cNvGrpSpPr>
              <p:nvPr/>
            </p:nvGrpSpPr>
            <p:grpSpPr bwMode="auto">
              <a:xfrm>
                <a:off x="5020" y="2668"/>
                <a:ext cx="1432" cy="503"/>
                <a:chOff x="4977" y="2891"/>
                <a:chExt cx="1432" cy="503"/>
              </a:xfrm>
            </p:grpSpPr>
            <p:sp>
              <p:nvSpPr>
                <p:cNvPr id="17447" name="Line 4"/>
                <p:cNvSpPr>
                  <a:spLocks noChangeShapeType="1"/>
                </p:cNvSpPr>
                <p:nvPr/>
              </p:nvSpPr>
              <p:spPr bwMode="auto">
                <a:xfrm flipV="1">
                  <a:off x="4977" y="2891"/>
                  <a:ext cx="1315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/>
                <a:lstStyle/>
                <a:p>
                  <a:endParaRPr lang="en-GB"/>
                </a:p>
              </p:txBody>
            </p:sp>
            <p:sp>
              <p:nvSpPr>
                <p:cNvPr id="17448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5019" y="3394"/>
                  <a:ext cx="127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/>
                <a:lstStyle/>
                <a:p>
                  <a:endParaRPr lang="en-GB"/>
                </a:p>
              </p:txBody>
            </p:sp>
            <p:sp>
              <p:nvSpPr>
                <p:cNvPr id="17449" name="Rectangle 6"/>
                <p:cNvSpPr>
                  <a:spLocks noChangeArrowheads="1"/>
                </p:cNvSpPr>
                <p:nvPr/>
              </p:nvSpPr>
              <p:spPr bwMode="auto">
                <a:xfrm>
                  <a:off x="6200" y="2927"/>
                  <a:ext cx="185" cy="423"/>
                </a:xfrm>
                <a:prstGeom prst="rect">
                  <a:avLst/>
                </a:prstGeom>
                <a:solidFill>
                  <a:srgbClr val="FFFFFF"/>
                </a:solidFill>
                <a:ln w="25400" algn="ctr">
                  <a:solidFill>
                    <a:srgbClr val="0000FF"/>
                  </a:solidFill>
                  <a:miter lim="800000"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5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6179" y="2975"/>
                  <a:ext cx="230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 b="1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R</a:t>
                  </a:r>
                </a:p>
              </p:txBody>
            </p:sp>
          </p:grpSp>
          <p:sp>
            <p:nvSpPr>
              <p:cNvPr id="17442" name="Rectangle 35"/>
              <p:cNvSpPr>
                <a:spLocks noChangeArrowheads="1"/>
              </p:cNvSpPr>
              <p:nvPr/>
            </p:nvSpPr>
            <p:spPr bwMode="auto">
              <a:xfrm rot="2165897">
                <a:off x="4054" y="2532"/>
                <a:ext cx="380" cy="117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43" name="Line 36"/>
              <p:cNvSpPr>
                <a:spLocks noChangeShapeType="1"/>
              </p:cNvSpPr>
              <p:nvPr/>
            </p:nvSpPr>
            <p:spPr bwMode="auto">
              <a:xfrm>
                <a:off x="4178" y="2467"/>
                <a:ext cx="852" cy="20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17444" name="Line 37"/>
              <p:cNvSpPr>
                <a:spLocks noChangeShapeType="1"/>
              </p:cNvSpPr>
              <p:nvPr/>
            </p:nvSpPr>
            <p:spPr bwMode="auto">
              <a:xfrm>
                <a:off x="4139" y="2595"/>
                <a:ext cx="926" cy="56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17445" name="Oval 38"/>
              <p:cNvSpPr>
                <a:spLocks noChangeArrowheads="1"/>
              </p:cNvSpPr>
              <p:nvPr/>
            </p:nvSpPr>
            <p:spPr bwMode="auto">
              <a:xfrm>
                <a:off x="4134" y="2435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46" name="Oval 39"/>
              <p:cNvSpPr>
                <a:spLocks noChangeArrowheads="1"/>
              </p:cNvSpPr>
              <p:nvPr/>
            </p:nvSpPr>
            <p:spPr bwMode="auto">
              <a:xfrm>
                <a:off x="4110" y="2575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48658" name="Text Box 114"/>
          <p:cNvSpPr txBox="1">
            <a:spLocks noChangeArrowheads="1"/>
          </p:cNvSpPr>
          <p:nvPr/>
        </p:nvSpPr>
        <p:spPr bwMode="auto">
          <a:xfrm>
            <a:off x="6911526" y="1858224"/>
            <a:ext cx="295572" cy="41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48669" name="Text Box 125"/>
          <p:cNvSpPr txBox="1">
            <a:spLocks noChangeArrowheads="1"/>
          </p:cNvSpPr>
          <p:nvPr/>
        </p:nvSpPr>
        <p:spPr bwMode="auto">
          <a:xfrm>
            <a:off x="6730118" y="2364820"/>
            <a:ext cx="129142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125"/>
          <p:cNvSpPr txBox="1">
            <a:spLocks noChangeArrowheads="1"/>
          </p:cNvSpPr>
          <p:nvPr/>
        </p:nvSpPr>
        <p:spPr bwMode="auto">
          <a:xfrm>
            <a:off x="3598780" y="2355917"/>
            <a:ext cx="99089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114"/>
          <p:cNvSpPr txBox="1">
            <a:spLocks noChangeArrowheads="1"/>
          </p:cNvSpPr>
          <p:nvPr/>
        </p:nvSpPr>
        <p:spPr bwMode="auto">
          <a:xfrm>
            <a:off x="7818030" y="3266463"/>
            <a:ext cx="51838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C</a:t>
            </a:r>
            <a:r>
              <a:rPr lang="es-ES" sz="2400" baseline="-2500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6" name="Text Box 114">
            <a:extLst>
              <a:ext uri="{FF2B5EF4-FFF2-40B4-BE49-F238E27FC236}">
                <a16:creationId xmlns:a16="http://schemas.microsoft.com/office/drawing/2014/main" id="{A82C0E48-9C0D-4580-BAC0-C35FFA16E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888" y="1687458"/>
            <a:ext cx="183445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C = C</a:t>
            </a:r>
            <a:r>
              <a:rPr lang="es-ES" sz="2400" b="1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 + C</a:t>
            </a:r>
            <a:r>
              <a:rPr lang="es-E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8431912" y="3267003"/>
            <a:ext cx="131104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</a:p>
        </p:txBody>
      </p:sp>
      <p:sp>
        <p:nvSpPr>
          <p:cNvPr id="57" name="Text Box 106">
            <a:extLst>
              <a:ext uri="{FF2B5EF4-FFF2-40B4-BE49-F238E27FC236}">
                <a16:creationId xmlns:a16="http://schemas.microsoft.com/office/drawing/2014/main" id="{C3FA8648-2170-4E50-B113-7938C5137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652" y="4134463"/>
            <a:ext cx="8863393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inducción puede mantener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una V alterna. Por tanto, puede usarse para construir un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generador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de corriente alterna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 Box 106">
            <a:extLst>
              <a:ext uri="{FF2B5EF4-FFF2-40B4-BE49-F238E27FC236}">
                <a16:creationId xmlns:a16="http://schemas.microsoft.com/office/drawing/2014/main" id="{1F7CAFB5-28E4-4682-8D42-4F15B4B23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624" y="3321682"/>
            <a:ext cx="2642896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CONCLUSIÓN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9" name="Text Box 106">
            <a:extLst>
              <a:ext uri="{FF2B5EF4-FFF2-40B4-BE49-F238E27FC236}">
                <a16:creationId xmlns:a16="http://schemas.microsoft.com/office/drawing/2014/main" id="{11EF9BE1-E4E9-4125-BB96-B5D72D637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5071" y="5547717"/>
            <a:ext cx="5124867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¿Cuánto vale su FEM (su voltaje)?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1BA91528-DF2A-4852-A7B4-8EC136376BB2}"/>
              </a:ext>
            </a:extLst>
          </p:cNvPr>
          <p:cNvGrpSpPr>
            <a:grpSpLocks/>
          </p:cNvGrpSpPr>
          <p:nvPr/>
        </p:nvGrpSpPr>
        <p:grpSpPr bwMode="auto">
          <a:xfrm>
            <a:off x="1451002" y="415820"/>
            <a:ext cx="3352308" cy="1054100"/>
            <a:chOff x="6453981" y="1128713"/>
            <a:chExt cx="3351213" cy="1054100"/>
          </a:xfrm>
        </p:grpSpPr>
        <p:sp>
          <p:nvSpPr>
            <p:cNvPr id="63" name="Rectangle 5">
              <a:extLst>
                <a:ext uri="{FF2B5EF4-FFF2-40B4-BE49-F238E27FC236}">
                  <a16:creationId xmlns:a16="http://schemas.microsoft.com/office/drawing/2014/main" id="{F1E51796-C4DB-40CA-89EB-BF80F4E78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3981" y="1128713"/>
              <a:ext cx="3351213" cy="10541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67" name="Object 7">
              <a:extLst>
                <a:ext uri="{FF2B5EF4-FFF2-40B4-BE49-F238E27FC236}">
                  <a16:creationId xmlns:a16="http://schemas.microsoft.com/office/drawing/2014/main" id="{9974F454-8BC4-4D2A-B645-04D7CBA6FB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34966" y="1149288"/>
            <a:ext cx="2872580" cy="1007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18671" imgH="431613" progId="Equation.3">
                    <p:embed/>
                  </p:oleObj>
                </mc:Choice>
                <mc:Fallback>
                  <p:oleObj name="Ecuación" r:id="rId3" imgW="1218671" imgH="431613" progId="Equation.3">
                    <p:embed/>
                    <p:pic>
                      <p:nvPicPr>
                        <p:cNvPr id="65" name="Object 7">
                          <a:extLst>
                            <a:ext uri="{FF2B5EF4-FFF2-40B4-BE49-F238E27FC236}">
                              <a16:creationId xmlns:a16="http://schemas.microsoft.com/office/drawing/2014/main" id="{B9862348-80CE-4CBF-BC0A-19875439EB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4966" y="1149288"/>
                          <a:ext cx="2872580" cy="1007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114">
            <a:extLst>
              <a:ext uri="{FF2B5EF4-FFF2-40B4-BE49-F238E27FC236}">
                <a16:creationId xmlns:a16="http://schemas.microsoft.com/office/drawing/2014/main" id="{DF139366-B6C8-1446-3590-E028FFF06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535" y="6259646"/>
            <a:ext cx="6253933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es-ES" sz="2400">
                <a:latin typeface="Arial" panose="020B0604020202020204" pitchFamily="34" charset="0"/>
              </a:rPr>
              <a:t>= W</a:t>
            </a:r>
            <a:r>
              <a:rPr lang="es-ES" sz="2400" b="1" baseline="-25000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inducido(C1)</a:t>
            </a:r>
            <a:r>
              <a:rPr lang="es-ES" sz="2400">
                <a:latin typeface="Arial" panose="020B0604020202020204" pitchFamily="34" charset="0"/>
              </a:rPr>
              <a:t>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latin typeface="Arial" panose="020B0604020202020204" pitchFamily="34" charset="0"/>
              </a:rPr>
              <a:t> W</a:t>
            </a:r>
            <a:r>
              <a:rPr lang="es-ES" sz="2400" b="1" baseline="-25000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excesos(C1)</a:t>
            </a:r>
            <a:r>
              <a:rPr lang="es-ES" sz="2400">
                <a:latin typeface="Arial" panose="020B0604020202020204" pitchFamily="34" charset="0"/>
              </a:rPr>
              <a:t>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latin typeface="Arial" panose="020B0604020202020204" pitchFamily="34" charset="0"/>
              </a:rPr>
              <a:t>(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latin typeface="Arial" panose="020B0604020202020204" pitchFamily="34" charset="0"/>
              </a:rPr>
              <a:t>V) = V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10" name="Text Box 85">
            <a:extLst>
              <a:ext uri="{FF2B5EF4-FFF2-40B4-BE49-F238E27FC236}">
                <a16:creationId xmlns:a16="http://schemas.microsoft.com/office/drawing/2014/main" id="{4E7AE716-F4EE-7292-A893-626B4FABD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9948" y="6250824"/>
            <a:ext cx="294418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(como en una pila)</a:t>
            </a:r>
          </a:p>
        </p:txBody>
      </p:sp>
      <p:sp>
        <p:nvSpPr>
          <p:cNvPr id="6" name="Text Box 85">
            <a:extLst>
              <a:ext uri="{FF2B5EF4-FFF2-40B4-BE49-F238E27FC236}">
                <a16:creationId xmlns:a16="http://schemas.microsoft.com/office/drawing/2014/main" id="{0389D578-DDEE-37E1-6B4D-4B3694F9F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535" y="4965286"/>
            <a:ext cx="886339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(p.ej.: el que tenemos aquí: bobina + espira con 2 terminales)</a:t>
            </a:r>
          </a:p>
        </p:txBody>
      </p:sp>
    </p:spTree>
    <p:extLst>
      <p:ext uri="{BB962C8B-B14F-4D97-AF65-F5344CB8AC3E}">
        <p14:creationId xmlns:p14="http://schemas.microsoft.com/office/powerpoint/2010/main" val="125682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8" grpId="0" animBg="1"/>
      <p:bldP spid="10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89BE9FBB-D0D1-41D7-A28C-4A3B6B07FF19}"/>
              </a:ext>
            </a:extLst>
          </p:cNvPr>
          <p:cNvGrpSpPr/>
          <p:nvPr/>
        </p:nvGrpSpPr>
        <p:grpSpPr>
          <a:xfrm>
            <a:off x="2268408" y="323122"/>
            <a:ext cx="7335450" cy="3624262"/>
            <a:chOff x="2238912" y="952378"/>
            <a:chExt cx="7335450" cy="3624262"/>
          </a:xfrm>
        </p:grpSpPr>
        <p:grpSp>
          <p:nvGrpSpPr>
            <p:cNvPr id="7" name="Grupo 6"/>
            <p:cNvGrpSpPr>
              <a:grpSpLocks/>
            </p:cNvGrpSpPr>
            <p:nvPr/>
          </p:nvGrpSpPr>
          <p:grpSpPr bwMode="auto">
            <a:xfrm>
              <a:off x="4833683" y="952378"/>
              <a:ext cx="2641600" cy="3624262"/>
              <a:chOff x="-1455416" y="1096168"/>
              <a:chExt cx="2640965" cy="3624263"/>
            </a:xfrm>
          </p:grpSpPr>
          <p:sp>
            <p:nvSpPr>
              <p:cNvPr id="17462" name="Line 8"/>
              <p:cNvSpPr>
                <a:spLocks noChangeShapeType="1"/>
              </p:cNvSpPr>
              <p:nvPr/>
            </p:nvSpPr>
            <p:spPr bwMode="auto">
              <a:xfrm>
                <a:off x="-1402076" y="2912268"/>
                <a:ext cx="2587625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3" name="Freeform 10"/>
              <p:cNvSpPr>
                <a:spLocks/>
              </p:cNvSpPr>
              <p:nvPr/>
            </p:nvSpPr>
            <p:spPr bwMode="auto">
              <a:xfrm>
                <a:off x="-1403664" y="2396331"/>
                <a:ext cx="2422525" cy="427038"/>
              </a:xfrm>
              <a:custGeom>
                <a:avLst/>
                <a:gdLst>
                  <a:gd name="T0" fmla="*/ 0 w 1526"/>
                  <a:gd name="T1" fmla="*/ 2147483646 h 269"/>
                  <a:gd name="T2" fmla="*/ 2147483646 w 1526"/>
                  <a:gd name="T3" fmla="*/ 2147483646 h 269"/>
                  <a:gd name="T4" fmla="*/ 2147483646 w 1526"/>
                  <a:gd name="T5" fmla="*/ 0 h 269"/>
                  <a:gd name="T6" fmla="*/ 0 60000 65536"/>
                  <a:gd name="T7" fmla="*/ 0 60000 65536"/>
                  <a:gd name="T8" fmla="*/ 0 60000 65536"/>
                  <a:gd name="T9" fmla="*/ 0 w 1526"/>
                  <a:gd name="T10" fmla="*/ 0 h 269"/>
                  <a:gd name="T11" fmla="*/ 1526 w 1526"/>
                  <a:gd name="T12" fmla="*/ 269 h 2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4" name="Freeform 11"/>
              <p:cNvSpPr>
                <a:spLocks/>
              </p:cNvSpPr>
              <p:nvPr/>
            </p:nvSpPr>
            <p:spPr bwMode="auto">
              <a:xfrm>
                <a:off x="-1419539" y="1848643"/>
                <a:ext cx="2300288" cy="868363"/>
              </a:xfrm>
              <a:custGeom>
                <a:avLst/>
                <a:gdLst>
                  <a:gd name="T0" fmla="*/ 0 w 1449"/>
                  <a:gd name="T1" fmla="*/ 2147483646 h 547"/>
                  <a:gd name="T2" fmla="*/ 2147483646 w 1449"/>
                  <a:gd name="T3" fmla="*/ 2147483646 h 547"/>
                  <a:gd name="T4" fmla="*/ 2147483646 w 1449"/>
                  <a:gd name="T5" fmla="*/ 0 h 547"/>
                  <a:gd name="T6" fmla="*/ 0 60000 65536"/>
                  <a:gd name="T7" fmla="*/ 0 60000 65536"/>
                  <a:gd name="T8" fmla="*/ 0 60000 65536"/>
                  <a:gd name="T9" fmla="*/ 0 w 1449"/>
                  <a:gd name="T10" fmla="*/ 0 h 547"/>
                  <a:gd name="T11" fmla="*/ 1449 w 1449"/>
                  <a:gd name="T12" fmla="*/ 547 h 5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5" name="Freeform 12"/>
              <p:cNvSpPr>
                <a:spLocks/>
              </p:cNvSpPr>
              <p:nvPr/>
            </p:nvSpPr>
            <p:spPr bwMode="auto">
              <a:xfrm>
                <a:off x="-1437001" y="1223168"/>
                <a:ext cx="1798638" cy="1385888"/>
              </a:xfrm>
              <a:custGeom>
                <a:avLst/>
                <a:gdLst>
                  <a:gd name="T0" fmla="*/ 0 w 1133"/>
                  <a:gd name="T1" fmla="*/ 2147483646 h 873"/>
                  <a:gd name="T2" fmla="*/ 2147483646 w 1133"/>
                  <a:gd name="T3" fmla="*/ 2147483646 h 873"/>
                  <a:gd name="T4" fmla="*/ 2147483646 w 1133"/>
                  <a:gd name="T5" fmla="*/ 0 h 873"/>
                  <a:gd name="T6" fmla="*/ 0 60000 65536"/>
                  <a:gd name="T7" fmla="*/ 0 60000 65536"/>
                  <a:gd name="T8" fmla="*/ 0 60000 65536"/>
                  <a:gd name="T9" fmla="*/ 0 w 1133"/>
                  <a:gd name="T10" fmla="*/ 0 h 873"/>
                  <a:gd name="T11" fmla="*/ 1133 w 1133"/>
                  <a:gd name="T12" fmla="*/ 873 h 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66" name="Freeform 13"/>
              <p:cNvSpPr>
                <a:spLocks/>
              </p:cNvSpPr>
              <p:nvPr/>
            </p:nvSpPr>
            <p:spPr bwMode="auto">
              <a:xfrm flipV="1">
                <a:off x="-1414776" y="2983706"/>
                <a:ext cx="2422525" cy="427038"/>
              </a:xfrm>
              <a:custGeom>
                <a:avLst/>
                <a:gdLst>
                  <a:gd name="T0" fmla="*/ 0 w 1526"/>
                  <a:gd name="T1" fmla="*/ 2147483646 h 269"/>
                  <a:gd name="T2" fmla="*/ 2147483646 w 1526"/>
                  <a:gd name="T3" fmla="*/ 2147483646 h 269"/>
                  <a:gd name="T4" fmla="*/ 2147483646 w 1526"/>
                  <a:gd name="T5" fmla="*/ 0 h 269"/>
                  <a:gd name="T6" fmla="*/ 0 60000 65536"/>
                  <a:gd name="T7" fmla="*/ 0 60000 65536"/>
                  <a:gd name="T8" fmla="*/ 0 60000 65536"/>
                  <a:gd name="T9" fmla="*/ 0 w 1526"/>
                  <a:gd name="T10" fmla="*/ 0 h 269"/>
                  <a:gd name="T11" fmla="*/ 1526 w 1526"/>
                  <a:gd name="T12" fmla="*/ 269 h 2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6" h="269">
                    <a:moveTo>
                      <a:pt x="0" y="269"/>
                    </a:moveTo>
                    <a:cubicBezTo>
                      <a:pt x="151" y="267"/>
                      <a:pt x="302" y="266"/>
                      <a:pt x="556" y="221"/>
                    </a:cubicBezTo>
                    <a:cubicBezTo>
                      <a:pt x="810" y="176"/>
                      <a:pt x="1168" y="88"/>
                      <a:pt x="1526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7" name="Freeform 14"/>
              <p:cNvSpPr>
                <a:spLocks/>
              </p:cNvSpPr>
              <p:nvPr/>
            </p:nvSpPr>
            <p:spPr bwMode="auto">
              <a:xfrm flipV="1">
                <a:off x="-1437954" y="3096418"/>
                <a:ext cx="2300288" cy="868363"/>
              </a:xfrm>
              <a:custGeom>
                <a:avLst/>
                <a:gdLst>
                  <a:gd name="T0" fmla="*/ 0 w 1449"/>
                  <a:gd name="T1" fmla="*/ 2147483646 h 547"/>
                  <a:gd name="T2" fmla="*/ 2147483646 w 1449"/>
                  <a:gd name="T3" fmla="*/ 2147483646 h 547"/>
                  <a:gd name="T4" fmla="*/ 2147483646 w 1449"/>
                  <a:gd name="T5" fmla="*/ 0 h 547"/>
                  <a:gd name="T6" fmla="*/ 0 60000 65536"/>
                  <a:gd name="T7" fmla="*/ 0 60000 65536"/>
                  <a:gd name="T8" fmla="*/ 0 60000 65536"/>
                  <a:gd name="T9" fmla="*/ 0 w 1449"/>
                  <a:gd name="T10" fmla="*/ 0 h 547"/>
                  <a:gd name="T11" fmla="*/ 1449 w 1449"/>
                  <a:gd name="T12" fmla="*/ 547 h 5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9" h="547">
                    <a:moveTo>
                      <a:pt x="0" y="547"/>
                    </a:moveTo>
                    <a:cubicBezTo>
                      <a:pt x="316" y="496"/>
                      <a:pt x="632" y="446"/>
                      <a:pt x="873" y="355"/>
                    </a:cubicBezTo>
                    <a:cubicBezTo>
                      <a:pt x="1114" y="264"/>
                      <a:pt x="1281" y="132"/>
                      <a:pt x="14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8" name="Freeform 15"/>
              <p:cNvSpPr>
                <a:spLocks/>
              </p:cNvSpPr>
              <p:nvPr/>
            </p:nvSpPr>
            <p:spPr bwMode="auto">
              <a:xfrm flipV="1">
                <a:off x="-1427794" y="3198018"/>
                <a:ext cx="1798638" cy="1385888"/>
              </a:xfrm>
              <a:custGeom>
                <a:avLst/>
                <a:gdLst>
                  <a:gd name="T0" fmla="*/ 0 w 1133"/>
                  <a:gd name="T1" fmla="*/ 2147483646 h 873"/>
                  <a:gd name="T2" fmla="*/ 2147483646 w 1133"/>
                  <a:gd name="T3" fmla="*/ 2147483646 h 873"/>
                  <a:gd name="T4" fmla="*/ 2147483646 w 1133"/>
                  <a:gd name="T5" fmla="*/ 0 h 873"/>
                  <a:gd name="T6" fmla="*/ 0 60000 65536"/>
                  <a:gd name="T7" fmla="*/ 0 60000 65536"/>
                  <a:gd name="T8" fmla="*/ 0 60000 65536"/>
                  <a:gd name="T9" fmla="*/ 0 w 1133"/>
                  <a:gd name="T10" fmla="*/ 0 h 873"/>
                  <a:gd name="T11" fmla="*/ 1133 w 1133"/>
                  <a:gd name="T12" fmla="*/ 873 h 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3" h="873">
                    <a:moveTo>
                      <a:pt x="0" y="873"/>
                    </a:moveTo>
                    <a:cubicBezTo>
                      <a:pt x="213" y="811"/>
                      <a:pt x="426" y="750"/>
                      <a:pt x="615" y="605"/>
                    </a:cubicBezTo>
                    <a:cubicBezTo>
                      <a:pt x="804" y="460"/>
                      <a:pt x="968" y="230"/>
                      <a:pt x="1133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  <p:sp>
            <p:nvSpPr>
              <p:cNvPr id="17469" name="Freeform 16"/>
              <p:cNvSpPr>
                <a:spLocks/>
              </p:cNvSpPr>
              <p:nvPr/>
            </p:nvSpPr>
            <p:spPr bwMode="auto">
              <a:xfrm>
                <a:off x="-1448114" y="1096168"/>
                <a:ext cx="1189038" cy="1417638"/>
              </a:xfrm>
              <a:custGeom>
                <a:avLst/>
                <a:gdLst>
                  <a:gd name="T0" fmla="*/ 0 w 749"/>
                  <a:gd name="T1" fmla="*/ 2147483646 h 893"/>
                  <a:gd name="T2" fmla="*/ 2147483646 w 749"/>
                  <a:gd name="T3" fmla="*/ 2147483646 h 893"/>
                  <a:gd name="T4" fmla="*/ 2147483646 w 749"/>
                  <a:gd name="T5" fmla="*/ 0 h 893"/>
                  <a:gd name="T6" fmla="*/ 0 60000 65536"/>
                  <a:gd name="T7" fmla="*/ 0 60000 65536"/>
                  <a:gd name="T8" fmla="*/ 0 60000 65536"/>
                  <a:gd name="T9" fmla="*/ 0 w 749"/>
                  <a:gd name="T10" fmla="*/ 0 h 893"/>
                  <a:gd name="T11" fmla="*/ 749 w 749"/>
                  <a:gd name="T12" fmla="*/ 893 h 8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7470" name="Freeform 17"/>
              <p:cNvSpPr>
                <a:spLocks/>
              </p:cNvSpPr>
              <p:nvPr/>
            </p:nvSpPr>
            <p:spPr bwMode="auto">
              <a:xfrm flipV="1">
                <a:off x="-1455416" y="3302793"/>
                <a:ext cx="1189038" cy="1417638"/>
              </a:xfrm>
              <a:custGeom>
                <a:avLst/>
                <a:gdLst>
                  <a:gd name="T0" fmla="*/ 0 w 749"/>
                  <a:gd name="T1" fmla="*/ 2147483646 h 893"/>
                  <a:gd name="T2" fmla="*/ 2147483646 w 749"/>
                  <a:gd name="T3" fmla="*/ 2147483646 h 893"/>
                  <a:gd name="T4" fmla="*/ 2147483646 w 749"/>
                  <a:gd name="T5" fmla="*/ 0 h 893"/>
                  <a:gd name="T6" fmla="*/ 0 60000 65536"/>
                  <a:gd name="T7" fmla="*/ 0 60000 65536"/>
                  <a:gd name="T8" fmla="*/ 0 60000 65536"/>
                  <a:gd name="T9" fmla="*/ 0 w 749"/>
                  <a:gd name="T10" fmla="*/ 0 h 893"/>
                  <a:gd name="T11" fmla="*/ 749 w 749"/>
                  <a:gd name="T12" fmla="*/ 893 h 8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9" h="893">
                    <a:moveTo>
                      <a:pt x="0" y="893"/>
                    </a:moveTo>
                    <a:cubicBezTo>
                      <a:pt x="168" y="799"/>
                      <a:pt x="336" y="706"/>
                      <a:pt x="461" y="557"/>
                    </a:cubicBezTo>
                    <a:cubicBezTo>
                      <a:pt x="586" y="408"/>
                      <a:pt x="667" y="204"/>
                      <a:pt x="749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/>
              <a:lstStyle/>
              <a:p>
                <a:endParaRPr lang="en-GB"/>
              </a:p>
            </p:txBody>
          </p:sp>
        </p:grpSp>
        <p:grpSp>
          <p:nvGrpSpPr>
            <p:cNvPr id="17411" name="Grupo 7"/>
            <p:cNvGrpSpPr>
              <a:grpSpLocks/>
            </p:cNvGrpSpPr>
            <p:nvPr/>
          </p:nvGrpSpPr>
          <p:grpSpPr bwMode="auto">
            <a:xfrm>
              <a:off x="3293808" y="1650878"/>
              <a:ext cx="3757867" cy="2233612"/>
              <a:chOff x="-3118164" y="1804193"/>
              <a:chExt cx="3757867" cy="2233613"/>
            </a:xfrm>
          </p:grpSpPr>
          <p:sp>
            <p:nvSpPr>
              <p:cNvPr id="17451" name="Text Box 48"/>
              <p:cNvSpPr txBox="1">
                <a:spLocks noChangeArrowheads="1"/>
              </p:cNvSpPr>
              <p:nvPr/>
            </p:nvSpPr>
            <p:spPr bwMode="auto">
              <a:xfrm>
                <a:off x="274578" y="2469535"/>
                <a:ext cx="365125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7452" name="Oval 9"/>
              <p:cNvSpPr>
                <a:spLocks noChangeArrowheads="1"/>
              </p:cNvSpPr>
              <p:nvPr/>
            </p:nvSpPr>
            <p:spPr bwMode="auto">
              <a:xfrm>
                <a:off x="-290826" y="1804193"/>
                <a:ext cx="500063" cy="2233613"/>
              </a:xfrm>
              <a:prstGeom prst="ellips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17453" name="Group 22"/>
              <p:cNvGrpSpPr>
                <a:grpSpLocks/>
              </p:cNvGrpSpPr>
              <p:nvPr/>
            </p:nvGrpSpPr>
            <p:grpSpPr bwMode="auto">
              <a:xfrm>
                <a:off x="-3118164" y="2642393"/>
                <a:ext cx="1468438" cy="896938"/>
                <a:chOff x="1123" y="1412"/>
                <a:chExt cx="925" cy="565"/>
              </a:xfrm>
            </p:grpSpPr>
            <p:sp>
              <p:nvSpPr>
                <p:cNvPr id="17454" name="Rectangle 23"/>
                <p:cNvSpPr>
                  <a:spLocks noChangeArrowheads="1"/>
                </p:cNvSpPr>
                <p:nvPr/>
              </p:nvSpPr>
              <p:spPr bwMode="auto">
                <a:xfrm rot="10800000">
                  <a:off x="1123" y="1452"/>
                  <a:ext cx="925" cy="269"/>
                </a:xfrm>
                <a:prstGeom prst="rect">
                  <a:avLst/>
                </a:prstGeom>
                <a:solidFill>
                  <a:srgbClr val="80808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55" name="Line 24"/>
                <p:cNvSpPr>
                  <a:spLocks noChangeShapeType="1"/>
                </p:cNvSpPr>
                <p:nvPr/>
              </p:nvSpPr>
              <p:spPr bwMode="auto">
                <a:xfrm rot="10800000">
                  <a:off x="1965" y="1732"/>
                  <a:ext cx="0" cy="243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6" name="Line 25"/>
                <p:cNvSpPr>
                  <a:spLocks noChangeShapeType="1"/>
                </p:cNvSpPr>
                <p:nvPr/>
              </p:nvSpPr>
              <p:spPr bwMode="auto">
                <a:xfrm>
                  <a:off x="1823" y="1420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7" name="Line 26"/>
                <p:cNvSpPr>
                  <a:spLocks noChangeShapeType="1"/>
                </p:cNvSpPr>
                <p:nvPr/>
              </p:nvSpPr>
              <p:spPr bwMode="auto">
                <a:xfrm>
                  <a:off x="1697" y="1412"/>
                  <a:ext cx="45" cy="331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8" name="Line 27"/>
                <p:cNvSpPr>
                  <a:spLocks noChangeShapeType="1"/>
                </p:cNvSpPr>
                <p:nvPr/>
              </p:nvSpPr>
              <p:spPr bwMode="auto">
                <a:xfrm>
                  <a:off x="1572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59" name="Line 28"/>
                <p:cNvSpPr>
                  <a:spLocks noChangeShapeType="1"/>
                </p:cNvSpPr>
                <p:nvPr/>
              </p:nvSpPr>
              <p:spPr bwMode="auto">
                <a:xfrm>
                  <a:off x="1446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60" name="Line 29"/>
                <p:cNvSpPr>
                  <a:spLocks noChangeShapeType="1"/>
                </p:cNvSpPr>
                <p:nvPr/>
              </p:nvSpPr>
              <p:spPr bwMode="auto">
                <a:xfrm>
                  <a:off x="1321" y="1414"/>
                  <a:ext cx="45" cy="33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461" name="Line 30"/>
                <p:cNvSpPr>
                  <a:spLocks noChangeShapeType="1"/>
                </p:cNvSpPr>
                <p:nvPr/>
              </p:nvSpPr>
              <p:spPr bwMode="auto">
                <a:xfrm rot="10800000">
                  <a:off x="1205" y="1413"/>
                  <a:ext cx="0" cy="564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</p:grpSp>
        <p:sp>
          <p:nvSpPr>
            <p:cNvPr id="748576" name="Text Box 32"/>
            <p:cNvSpPr txBox="1">
              <a:spLocks noChangeArrowheads="1"/>
            </p:cNvSpPr>
            <p:nvPr/>
          </p:nvSpPr>
          <p:spPr bwMode="auto">
            <a:xfrm>
              <a:off x="6683006" y="1653762"/>
              <a:ext cx="1361120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rPr>
                <a:t>ALTERNA </a:t>
              </a:r>
            </a:p>
          </p:txBody>
        </p:sp>
        <p:grpSp>
          <p:nvGrpSpPr>
            <p:cNvPr id="1126" name="Group 102"/>
            <p:cNvGrpSpPr>
              <a:grpSpLocks/>
            </p:cNvGrpSpPr>
            <p:nvPr/>
          </p:nvGrpSpPr>
          <p:grpSpPr bwMode="auto">
            <a:xfrm>
              <a:off x="6659710" y="1121072"/>
              <a:ext cx="2914652" cy="536575"/>
              <a:chOff x="4161" y="908"/>
              <a:chExt cx="1836" cy="338"/>
            </a:xfrm>
          </p:grpSpPr>
          <p:sp>
            <p:nvSpPr>
              <p:cNvPr id="17437" name="Text Box 32"/>
              <p:cNvSpPr txBox="1">
                <a:spLocks noChangeArrowheads="1"/>
              </p:cNvSpPr>
              <p:nvPr/>
            </p:nvSpPr>
            <p:spPr bwMode="auto">
              <a:xfrm>
                <a:off x="4161" y="908"/>
                <a:ext cx="1836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ALTERNO INDUCIDO </a:t>
                </a:r>
                <a:endPara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38" name="Line 101"/>
              <p:cNvSpPr>
                <a:spLocks noChangeShapeType="1"/>
              </p:cNvSpPr>
              <p:nvPr/>
            </p:nvSpPr>
            <p:spPr bwMode="auto">
              <a:xfrm>
                <a:off x="4234" y="959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grpSp>
          <p:nvGrpSpPr>
            <p:cNvPr id="1127" name="Group 103"/>
            <p:cNvGrpSpPr>
              <a:grpSpLocks/>
            </p:cNvGrpSpPr>
            <p:nvPr/>
          </p:nvGrpSpPr>
          <p:grpSpPr bwMode="auto">
            <a:xfrm>
              <a:off x="4923783" y="1683022"/>
              <a:ext cx="1071563" cy="536575"/>
              <a:chOff x="3817" y="517"/>
              <a:chExt cx="675" cy="338"/>
            </a:xfrm>
          </p:grpSpPr>
          <p:sp>
            <p:nvSpPr>
              <p:cNvPr id="17435" name="Text Box 32"/>
              <p:cNvSpPr txBox="1">
                <a:spLocks noChangeArrowheads="1"/>
              </p:cNvSpPr>
              <p:nvPr/>
            </p:nvSpPr>
            <p:spPr bwMode="auto">
              <a:xfrm>
                <a:off x="3817" y="517"/>
                <a:ext cx="67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B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alterno </a:t>
                </a:r>
              </a:p>
            </p:txBody>
          </p:sp>
          <p:sp>
            <p:nvSpPr>
              <p:cNvPr id="17436" name="Line 105"/>
              <p:cNvSpPr>
                <a:spLocks noChangeShapeType="1"/>
              </p:cNvSpPr>
              <p:nvPr/>
            </p:nvSpPr>
            <p:spPr bwMode="auto">
              <a:xfrm>
                <a:off x="3867" y="592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2238912" y="2448297"/>
              <a:ext cx="11080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 err="1">
                  <a:solidFill>
                    <a:srgbClr val="3333FF"/>
                  </a:solidFill>
                  <a:latin typeface="Arial" panose="020B0604020202020204" pitchFamily="34" charset="0"/>
                </a:rPr>
                <a:t>alterna</a:t>
              </a:r>
              <a:endPara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6406233" y="2804384"/>
            <a:ext cx="3806827" cy="1168400"/>
            <a:chOff x="6435737" y="3587750"/>
            <a:chExt cx="3806831" cy="1168400"/>
          </a:xfrm>
        </p:grpSpPr>
        <p:sp>
          <p:nvSpPr>
            <p:cNvPr id="17439" name="Line 4"/>
            <p:cNvSpPr>
              <a:spLocks noChangeShapeType="1"/>
            </p:cNvSpPr>
            <p:nvPr/>
          </p:nvSpPr>
          <p:spPr bwMode="auto">
            <a:xfrm rot="16200000" flipV="1">
              <a:off x="9639070" y="4349749"/>
              <a:ext cx="81241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pSp>
          <p:nvGrpSpPr>
            <p:cNvPr id="17440" name="Group 113"/>
            <p:cNvGrpSpPr>
              <a:grpSpLocks/>
            </p:cNvGrpSpPr>
            <p:nvPr/>
          </p:nvGrpSpPr>
          <p:grpSpPr bwMode="auto">
            <a:xfrm>
              <a:off x="6435737" y="3587750"/>
              <a:ext cx="3806831" cy="1168400"/>
              <a:chOff x="4054" y="2435"/>
              <a:chExt cx="2398" cy="736"/>
            </a:xfrm>
          </p:grpSpPr>
          <p:grpSp>
            <p:nvGrpSpPr>
              <p:cNvPr id="17441" name="Group 3"/>
              <p:cNvGrpSpPr>
                <a:grpSpLocks/>
              </p:cNvGrpSpPr>
              <p:nvPr/>
            </p:nvGrpSpPr>
            <p:grpSpPr bwMode="auto">
              <a:xfrm>
                <a:off x="5020" y="2668"/>
                <a:ext cx="1432" cy="503"/>
                <a:chOff x="4977" y="2891"/>
                <a:chExt cx="1432" cy="503"/>
              </a:xfrm>
            </p:grpSpPr>
            <p:sp>
              <p:nvSpPr>
                <p:cNvPr id="17447" name="Line 4"/>
                <p:cNvSpPr>
                  <a:spLocks noChangeShapeType="1"/>
                </p:cNvSpPr>
                <p:nvPr/>
              </p:nvSpPr>
              <p:spPr bwMode="auto">
                <a:xfrm flipV="1">
                  <a:off x="4977" y="2891"/>
                  <a:ext cx="1315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/>
                <a:lstStyle/>
                <a:p>
                  <a:endParaRPr lang="en-GB"/>
                </a:p>
              </p:txBody>
            </p:sp>
            <p:sp>
              <p:nvSpPr>
                <p:cNvPr id="17448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5019" y="3394"/>
                  <a:ext cx="127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/>
                <a:lstStyle/>
                <a:p>
                  <a:endParaRPr lang="en-GB"/>
                </a:p>
              </p:txBody>
            </p:sp>
            <p:sp>
              <p:nvSpPr>
                <p:cNvPr id="17449" name="Rectangle 6"/>
                <p:cNvSpPr>
                  <a:spLocks noChangeArrowheads="1"/>
                </p:cNvSpPr>
                <p:nvPr/>
              </p:nvSpPr>
              <p:spPr bwMode="auto">
                <a:xfrm>
                  <a:off x="6200" y="2927"/>
                  <a:ext cx="185" cy="423"/>
                </a:xfrm>
                <a:prstGeom prst="rect">
                  <a:avLst/>
                </a:prstGeom>
                <a:solidFill>
                  <a:srgbClr val="FFFFFF"/>
                </a:solidFill>
                <a:ln w="25400" algn="ctr">
                  <a:solidFill>
                    <a:srgbClr val="0000FF"/>
                  </a:solidFill>
                  <a:miter lim="800000"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5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6179" y="2975"/>
                  <a:ext cx="230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 b="1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R</a:t>
                  </a:r>
                </a:p>
              </p:txBody>
            </p:sp>
          </p:grpSp>
          <p:sp>
            <p:nvSpPr>
              <p:cNvPr id="17442" name="Rectangle 35"/>
              <p:cNvSpPr>
                <a:spLocks noChangeArrowheads="1"/>
              </p:cNvSpPr>
              <p:nvPr/>
            </p:nvSpPr>
            <p:spPr bwMode="auto">
              <a:xfrm rot="2165897">
                <a:off x="4054" y="2532"/>
                <a:ext cx="380" cy="117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43" name="Line 36"/>
              <p:cNvSpPr>
                <a:spLocks noChangeShapeType="1"/>
              </p:cNvSpPr>
              <p:nvPr/>
            </p:nvSpPr>
            <p:spPr bwMode="auto">
              <a:xfrm>
                <a:off x="4178" y="2467"/>
                <a:ext cx="852" cy="20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17444" name="Line 37"/>
              <p:cNvSpPr>
                <a:spLocks noChangeShapeType="1"/>
              </p:cNvSpPr>
              <p:nvPr/>
            </p:nvSpPr>
            <p:spPr bwMode="auto">
              <a:xfrm>
                <a:off x="4139" y="2595"/>
                <a:ext cx="926" cy="56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17445" name="Oval 38"/>
              <p:cNvSpPr>
                <a:spLocks noChangeArrowheads="1"/>
              </p:cNvSpPr>
              <p:nvPr/>
            </p:nvSpPr>
            <p:spPr bwMode="auto">
              <a:xfrm>
                <a:off x="4134" y="2435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46" name="Oval 39"/>
              <p:cNvSpPr>
                <a:spLocks noChangeArrowheads="1"/>
              </p:cNvSpPr>
              <p:nvPr/>
            </p:nvSpPr>
            <p:spPr bwMode="auto">
              <a:xfrm>
                <a:off x="4110" y="2575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48658" name="Text Box 114"/>
          <p:cNvSpPr txBox="1">
            <a:spLocks noChangeArrowheads="1"/>
          </p:cNvSpPr>
          <p:nvPr/>
        </p:nvSpPr>
        <p:spPr bwMode="auto">
          <a:xfrm>
            <a:off x="6911526" y="1858234"/>
            <a:ext cx="295572" cy="41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48669" name="Text Box 125"/>
          <p:cNvSpPr txBox="1">
            <a:spLocks noChangeArrowheads="1"/>
          </p:cNvSpPr>
          <p:nvPr/>
        </p:nvSpPr>
        <p:spPr bwMode="auto">
          <a:xfrm>
            <a:off x="6730118" y="2364830"/>
            <a:ext cx="129142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125"/>
          <p:cNvSpPr txBox="1">
            <a:spLocks noChangeArrowheads="1"/>
          </p:cNvSpPr>
          <p:nvPr/>
        </p:nvSpPr>
        <p:spPr bwMode="auto">
          <a:xfrm>
            <a:off x="3598780" y="2355927"/>
            <a:ext cx="99089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66" name="Text Box 114">
            <a:extLst>
              <a:ext uri="{FF2B5EF4-FFF2-40B4-BE49-F238E27FC236}">
                <a16:creationId xmlns:a16="http://schemas.microsoft.com/office/drawing/2014/main" id="{A82C0E48-9C0D-4580-BAC0-C35FFA16E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888" y="1687468"/>
            <a:ext cx="183445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C = C</a:t>
            </a:r>
            <a:r>
              <a:rPr lang="es-ES" sz="2400" b="1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 + C</a:t>
            </a:r>
            <a:r>
              <a:rPr lang="es-E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8431912" y="3267013"/>
            <a:ext cx="131104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</a:p>
        </p:txBody>
      </p:sp>
      <p:sp>
        <p:nvSpPr>
          <p:cNvPr id="56" name="Text Box 106">
            <a:extLst>
              <a:ext uri="{FF2B5EF4-FFF2-40B4-BE49-F238E27FC236}">
                <a16:creationId xmlns:a16="http://schemas.microsoft.com/office/drawing/2014/main" id="{7DA025C8-3536-439F-96CE-D820F0C82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6690" y="4625741"/>
            <a:ext cx="4223339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V en C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   –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C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y 0 en C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 Box 85">
            <a:extLst>
              <a:ext uri="{FF2B5EF4-FFF2-40B4-BE49-F238E27FC236}">
                <a16:creationId xmlns:a16="http://schemas.microsoft.com/office/drawing/2014/main" id="{50E90116-C99C-4368-8E74-B4E7971DC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7236" y="5115173"/>
            <a:ext cx="183523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(lo crea Q)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 Box 85">
            <a:extLst>
              <a:ext uri="{FF2B5EF4-FFF2-40B4-BE49-F238E27FC236}">
                <a16:creationId xmlns:a16="http://schemas.microsoft.com/office/drawing/2014/main" id="{9139E0DA-5D8F-4210-847D-58B032850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5632" y="6413146"/>
            <a:ext cx="194136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(lo crea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(t))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CCFA1BF-DC9E-4357-917E-E34724F85712}"/>
              </a:ext>
            </a:extLst>
          </p:cNvPr>
          <p:cNvGrpSpPr/>
          <p:nvPr/>
        </p:nvGrpSpPr>
        <p:grpSpPr>
          <a:xfrm>
            <a:off x="3028147" y="5923496"/>
            <a:ext cx="4263606" cy="536549"/>
            <a:chOff x="4305969" y="5649677"/>
            <a:chExt cx="4263606" cy="536549"/>
          </a:xfrm>
        </p:grpSpPr>
        <p:sp>
          <p:nvSpPr>
            <p:cNvPr id="60" name="Text Box 106">
              <a:extLst>
                <a:ext uri="{FF2B5EF4-FFF2-40B4-BE49-F238E27FC236}">
                  <a16:creationId xmlns:a16="http://schemas.microsoft.com/office/drawing/2014/main" id="{329891ED-44FE-4E58-A7A8-3F721D3DC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969" y="5649677"/>
              <a:ext cx="4263606" cy="5365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0" tIns="82800" rIns="90000" bIns="82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0 en C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(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), V en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y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V en C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74FE8820-0FF7-45A0-B3AC-06E71B3E53E8}"/>
                </a:ext>
              </a:extLst>
            </p:cNvPr>
            <p:cNvCxnSpPr/>
            <p:nvPr/>
          </p:nvCxnSpPr>
          <p:spPr bwMode="auto">
            <a:xfrm flipH="1">
              <a:off x="5741325" y="5766461"/>
              <a:ext cx="102354" cy="3117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sp>
        <p:nvSpPr>
          <p:cNvPr id="67" name="Text Box 106">
            <a:extLst>
              <a:ext uri="{FF2B5EF4-FFF2-40B4-BE49-F238E27FC236}">
                <a16:creationId xmlns:a16="http://schemas.microsoft.com/office/drawing/2014/main" id="{178C2984-7B3B-4117-B83C-AF1E81713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6047" y="4622515"/>
            <a:ext cx="2977151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EXC </a:t>
            </a:r>
            <a:r>
              <a:rPr lang="es-ES" sz="2400">
                <a:latin typeface="Arial" panose="020B0604020202020204" pitchFamily="34" charset="0"/>
              </a:rPr>
              <a:t>conservativo 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69" name="Text Box 106">
            <a:extLst>
              <a:ext uri="{FF2B5EF4-FFF2-40B4-BE49-F238E27FC236}">
                <a16:creationId xmlns:a16="http://schemas.microsoft.com/office/drawing/2014/main" id="{1DDDB54C-FF2F-4CE3-AB3C-419AA27B6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823" y="5956652"/>
            <a:ext cx="2984376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 </a:t>
            </a:r>
            <a:r>
              <a:rPr lang="es-ES" sz="2400">
                <a:latin typeface="Arial" panose="020B0604020202020204" pitchFamily="34" charset="0"/>
              </a:rPr>
              <a:t>no conservativo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0" name="Text Box 106">
            <a:extLst>
              <a:ext uri="{FF2B5EF4-FFF2-40B4-BE49-F238E27FC236}">
                <a16:creationId xmlns:a16="http://schemas.microsoft.com/office/drawing/2014/main" id="{17BDDB30-DF1F-4BC2-A8F4-2AB8A926A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590" y="3973731"/>
            <a:ext cx="2824192" cy="53654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216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El W de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EXC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vale: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71" name="Text Box 106">
            <a:extLst>
              <a:ext uri="{FF2B5EF4-FFF2-40B4-BE49-F238E27FC236}">
                <a16:creationId xmlns:a16="http://schemas.microsoft.com/office/drawing/2014/main" id="{F24AC9A2-03E8-4D8A-BF4E-6F4EE6C14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3032" y="5305682"/>
            <a:ext cx="2834028" cy="53654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216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El W de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IND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vale: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41669796-3E4F-4812-A3BD-404327B8BEE2}"/>
              </a:ext>
            </a:extLst>
          </p:cNvPr>
          <p:cNvGrpSpPr>
            <a:grpSpLocks/>
          </p:cNvGrpSpPr>
          <p:nvPr/>
        </p:nvGrpSpPr>
        <p:grpSpPr bwMode="auto">
          <a:xfrm>
            <a:off x="1451002" y="415820"/>
            <a:ext cx="3352308" cy="1054100"/>
            <a:chOff x="6453981" y="1128713"/>
            <a:chExt cx="3351213" cy="1054100"/>
          </a:xfrm>
        </p:grpSpPr>
        <p:sp>
          <p:nvSpPr>
            <p:cNvPr id="72" name="Rectangle 5">
              <a:extLst>
                <a:ext uri="{FF2B5EF4-FFF2-40B4-BE49-F238E27FC236}">
                  <a16:creationId xmlns:a16="http://schemas.microsoft.com/office/drawing/2014/main" id="{BFC84E67-FB55-4CD8-912D-632D23557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3981" y="1128713"/>
              <a:ext cx="3351213" cy="10541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73" name="Object 7">
              <a:extLst>
                <a:ext uri="{FF2B5EF4-FFF2-40B4-BE49-F238E27FC236}">
                  <a16:creationId xmlns:a16="http://schemas.microsoft.com/office/drawing/2014/main" id="{308C2E43-526E-4FE6-8B4A-DB93523299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34966" y="1149288"/>
            <a:ext cx="2872580" cy="1007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18671" imgH="431613" progId="Equation.3">
                    <p:embed/>
                  </p:oleObj>
                </mc:Choice>
                <mc:Fallback>
                  <p:oleObj name="Ecuación" r:id="rId3" imgW="1218671" imgH="431613" progId="Equation.3">
                    <p:embed/>
                    <p:pic>
                      <p:nvPicPr>
                        <p:cNvPr id="73" name="Object 7">
                          <a:extLst>
                            <a:ext uri="{FF2B5EF4-FFF2-40B4-BE49-F238E27FC236}">
                              <a16:creationId xmlns:a16="http://schemas.microsoft.com/office/drawing/2014/main" id="{308C2E43-526E-4FE6-8B4A-DB93523299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4966" y="1149288"/>
                          <a:ext cx="2872580" cy="1007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114">
            <a:extLst>
              <a:ext uri="{FF2B5EF4-FFF2-40B4-BE49-F238E27FC236}">
                <a16:creationId xmlns:a16="http://schemas.microsoft.com/office/drawing/2014/main" id="{73AE26A5-282A-E63C-E605-EA7DF5D28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030" y="3266463"/>
            <a:ext cx="51838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C</a:t>
            </a:r>
            <a:r>
              <a:rPr lang="es-ES" sz="2400" baseline="-2500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 Box 114">
            <a:extLst>
              <a:ext uri="{FF2B5EF4-FFF2-40B4-BE49-F238E27FC236}">
                <a16:creationId xmlns:a16="http://schemas.microsoft.com/office/drawing/2014/main" id="{EF47C651-8812-DADF-C1FB-1200EC296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558" y="3155045"/>
            <a:ext cx="3322041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W</a:t>
            </a:r>
            <a:r>
              <a:rPr lang="es-ES" sz="2400" b="1" baseline="-25000" dirty="0">
                <a:latin typeface="Arial" panose="020B0604020202020204" pitchFamily="34" charset="0"/>
              </a:rPr>
              <a:t>E</a:t>
            </a:r>
            <a:r>
              <a:rPr lang="es-ES" sz="2400" baseline="-25000" dirty="0">
                <a:latin typeface="Arial" panose="020B0604020202020204" pitchFamily="34" charset="0"/>
              </a:rPr>
              <a:t> </a:t>
            </a:r>
            <a:r>
              <a:rPr lang="es-ES" sz="2400" baseline="-25000">
                <a:latin typeface="Arial" panose="020B0604020202020204" pitchFamily="34" charset="0"/>
              </a:rPr>
              <a:t>EN C</a:t>
            </a:r>
            <a:r>
              <a:rPr lang="es-ES" sz="2400">
                <a:latin typeface="Arial" panose="020B0604020202020204" pitchFamily="34" charset="0"/>
              </a:rPr>
              <a:t> = W</a:t>
            </a:r>
            <a:r>
              <a:rPr lang="es-ES" sz="2400" b="1" baseline="-25000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</a:t>
            </a:r>
            <a:r>
              <a:rPr lang="es-ES" sz="2400">
                <a:latin typeface="Arial" panose="020B0604020202020204" pitchFamily="34" charset="0"/>
              </a:rPr>
              <a:t> = V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endParaRPr lang="es-ES" sz="2800" baseline="-25000" dirty="0">
              <a:latin typeface="Arial" panose="020B0604020202020204" pitchFamily="34" charset="0"/>
            </a:endParaRPr>
          </a:p>
        </p:txBody>
      </p:sp>
      <p:sp>
        <p:nvSpPr>
          <p:cNvPr id="18" name="Abrir llave 17">
            <a:extLst>
              <a:ext uri="{FF2B5EF4-FFF2-40B4-BE49-F238E27FC236}">
                <a16:creationId xmlns:a16="http://schemas.microsoft.com/office/drawing/2014/main" id="{DBFAEECE-273D-9D01-17E0-DA507712CC00}"/>
              </a:ext>
            </a:extLst>
          </p:cNvPr>
          <p:cNvSpPr/>
          <p:nvPr/>
        </p:nvSpPr>
        <p:spPr bwMode="auto">
          <a:xfrm>
            <a:off x="2607432" y="3908833"/>
            <a:ext cx="288167" cy="2551212"/>
          </a:xfrm>
          <a:prstGeom prst="leftBrace">
            <a:avLst>
              <a:gd name="adj1" fmla="val 8333"/>
              <a:gd name="adj2" fmla="val 48621"/>
            </a:avLst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E86FAA24-AD4D-ED4F-AB5C-45D6DE634233}"/>
              </a:ext>
            </a:extLst>
          </p:cNvPr>
          <p:cNvSpPr/>
          <p:nvPr/>
        </p:nvSpPr>
        <p:spPr bwMode="auto">
          <a:xfrm>
            <a:off x="1969477" y="3872805"/>
            <a:ext cx="445477" cy="1266092"/>
          </a:xfrm>
          <a:custGeom>
            <a:avLst/>
            <a:gdLst>
              <a:gd name="connsiteX0" fmla="*/ 445477 w 445477"/>
              <a:gd name="connsiteY0" fmla="*/ 1266092 h 1266092"/>
              <a:gd name="connsiteX1" fmla="*/ 0 w 445477"/>
              <a:gd name="connsiteY1" fmla="*/ 1266092 h 1266092"/>
              <a:gd name="connsiteX2" fmla="*/ 11723 w 445477"/>
              <a:gd name="connsiteY2" fmla="*/ 0 h 1266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477" h="1266092">
                <a:moveTo>
                  <a:pt x="445477" y="1266092"/>
                </a:moveTo>
                <a:lnTo>
                  <a:pt x="0" y="1266092"/>
                </a:lnTo>
                <a:lnTo>
                  <a:pt x="11723" y="0"/>
                </a:ln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17CA765C-147D-C1C2-ADE2-31211ED55A24}"/>
              </a:ext>
            </a:extLst>
          </p:cNvPr>
          <p:cNvGrpSpPr/>
          <p:nvPr/>
        </p:nvGrpSpPr>
        <p:grpSpPr>
          <a:xfrm>
            <a:off x="1981200" y="123656"/>
            <a:ext cx="703271" cy="2981121"/>
            <a:chOff x="1981200" y="123656"/>
            <a:chExt cx="703271" cy="2981121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E739D458-BC80-709A-CCA7-D6E1C1D1E4DD}"/>
                </a:ext>
              </a:extLst>
            </p:cNvPr>
            <p:cNvSpPr/>
            <p:nvPr/>
          </p:nvSpPr>
          <p:spPr bwMode="auto">
            <a:xfrm>
              <a:off x="1981200" y="603072"/>
              <a:ext cx="351692" cy="2501705"/>
            </a:xfrm>
            <a:custGeom>
              <a:avLst/>
              <a:gdLst>
                <a:gd name="connsiteX0" fmla="*/ 11723 w 351692"/>
                <a:gd name="connsiteY0" fmla="*/ 2274277 h 2274277"/>
                <a:gd name="connsiteX1" fmla="*/ 0 w 351692"/>
                <a:gd name="connsiteY1" fmla="*/ 961292 h 2274277"/>
                <a:gd name="connsiteX2" fmla="*/ 351692 w 351692"/>
                <a:gd name="connsiteY2" fmla="*/ 0 h 227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692" h="2274277">
                  <a:moveTo>
                    <a:pt x="11723" y="2274277"/>
                  </a:moveTo>
                  <a:lnTo>
                    <a:pt x="0" y="961292"/>
                  </a:lnTo>
                  <a:lnTo>
                    <a:pt x="351692" y="0"/>
                  </a:lnTo>
                </a:path>
              </a:pathLst>
            </a:cu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Text Box 114">
              <a:extLst>
                <a:ext uri="{FF2B5EF4-FFF2-40B4-BE49-F238E27FC236}">
                  <a16:creationId xmlns:a16="http://schemas.microsoft.com/office/drawing/2014/main" id="{C738B4C9-6A7E-5E1D-9D2D-0C5A7C137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8061" y="123656"/>
              <a:ext cx="316410" cy="40311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none" lIns="90000" tIns="82800" rIns="90000" bIns="82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endParaRPr lang="es-ES" sz="2800" baseline="-250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873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67" grpId="0" animBg="1"/>
      <p:bldP spid="69" grpId="0" animBg="1"/>
      <p:bldP spid="70" grpId="0" animBg="1"/>
      <p:bldP spid="71" grpId="0" animBg="1"/>
      <p:bldP spid="15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0" name="Rectangle 56"/>
          <p:cNvSpPr>
            <a:spLocks noChangeArrowheads="1"/>
          </p:cNvSpPr>
          <p:nvPr/>
        </p:nvSpPr>
        <p:spPr bwMode="auto">
          <a:xfrm>
            <a:off x="5757337" y="733881"/>
            <a:ext cx="4503681" cy="4421188"/>
          </a:xfrm>
          <a:prstGeom prst="rect">
            <a:avLst/>
          </a:prstGeom>
          <a:solidFill>
            <a:srgbClr val="FFFFFF"/>
          </a:solidFill>
          <a:ln w="38100" algn="ctr">
            <a:solidFill>
              <a:srgbClr val="008000"/>
            </a:solidFill>
            <a:prstDash val="dash"/>
            <a:miter lim="800000"/>
            <a:headEnd/>
            <a:tailEnd type="none" w="lg" len="lg"/>
          </a:ln>
        </p:spPr>
        <p:txBody>
          <a:bodyPr lIns="90000" tIns="82800" rIns="90000" bIns="82800" anchor="ctr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20A930D-8D9B-4181-93D6-A95E547DD932}"/>
              </a:ext>
            </a:extLst>
          </p:cNvPr>
          <p:cNvGrpSpPr/>
          <p:nvPr/>
        </p:nvGrpSpPr>
        <p:grpSpPr>
          <a:xfrm>
            <a:off x="3739114" y="860880"/>
            <a:ext cx="4532313" cy="3624263"/>
            <a:chOff x="3998611" y="1339850"/>
            <a:chExt cx="4532313" cy="3624263"/>
          </a:xfrm>
        </p:grpSpPr>
        <p:sp>
          <p:nvSpPr>
            <p:cNvPr id="21512" name="Line 30"/>
            <p:cNvSpPr>
              <a:spLocks noChangeShapeType="1"/>
            </p:cNvSpPr>
            <p:nvPr/>
          </p:nvSpPr>
          <p:spPr bwMode="auto">
            <a:xfrm>
              <a:off x="5651199" y="3168650"/>
              <a:ext cx="287972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1513" name="Freeform 31"/>
            <p:cNvSpPr>
              <a:spLocks/>
            </p:cNvSpPr>
            <p:nvPr/>
          </p:nvSpPr>
          <p:spPr bwMode="auto">
            <a:xfrm>
              <a:off x="5713111" y="2640013"/>
              <a:ext cx="2422525" cy="427037"/>
            </a:xfrm>
            <a:custGeom>
              <a:avLst/>
              <a:gdLst>
                <a:gd name="T0" fmla="*/ 0 w 1526"/>
                <a:gd name="T1" fmla="*/ 2147483646 h 269"/>
                <a:gd name="T2" fmla="*/ 2147483646 w 1526"/>
                <a:gd name="T3" fmla="*/ 2147483646 h 269"/>
                <a:gd name="T4" fmla="*/ 2147483646 w 1526"/>
                <a:gd name="T5" fmla="*/ 0 h 269"/>
                <a:gd name="T6" fmla="*/ 0 60000 65536"/>
                <a:gd name="T7" fmla="*/ 0 60000 65536"/>
                <a:gd name="T8" fmla="*/ 0 60000 65536"/>
                <a:gd name="T9" fmla="*/ 0 w 1526"/>
                <a:gd name="T10" fmla="*/ 0 h 269"/>
                <a:gd name="T11" fmla="*/ 1526 w 1526"/>
                <a:gd name="T12" fmla="*/ 269 h 2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6" h="269">
                  <a:moveTo>
                    <a:pt x="0" y="269"/>
                  </a:moveTo>
                  <a:cubicBezTo>
                    <a:pt x="151" y="267"/>
                    <a:pt x="302" y="266"/>
                    <a:pt x="556" y="221"/>
                  </a:cubicBezTo>
                  <a:cubicBezTo>
                    <a:pt x="810" y="176"/>
                    <a:pt x="1168" y="88"/>
                    <a:pt x="1526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1514" name="Freeform 32"/>
            <p:cNvSpPr>
              <a:spLocks/>
            </p:cNvSpPr>
            <p:nvPr/>
          </p:nvSpPr>
          <p:spPr bwMode="auto">
            <a:xfrm>
              <a:off x="5697236" y="2092325"/>
              <a:ext cx="2300288" cy="868363"/>
            </a:xfrm>
            <a:custGeom>
              <a:avLst/>
              <a:gdLst>
                <a:gd name="T0" fmla="*/ 0 w 1449"/>
                <a:gd name="T1" fmla="*/ 2147483646 h 547"/>
                <a:gd name="T2" fmla="*/ 2147483646 w 1449"/>
                <a:gd name="T3" fmla="*/ 2147483646 h 547"/>
                <a:gd name="T4" fmla="*/ 2147483646 w 1449"/>
                <a:gd name="T5" fmla="*/ 0 h 547"/>
                <a:gd name="T6" fmla="*/ 0 60000 65536"/>
                <a:gd name="T7" fmla="*/ 0 60000 65536"/>
                <a:gd name="T8" fmla="*/ 0 60000 65536"/>
                <a:gd name="T9" fmla="*/ 0 w 1449"/>
                <a:gd name="T10" fmla="*/ 0 h 547"/>
                <a:gd name="T11" fmla="*/ 1449 w 1449"/>
                <a:gd name="T12" fmla="*/ 547 h 5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9" h="547">
                  <a:moveTo>
                    <a:pt x="0" y="547"/>
                  </a:moveTo>
                  <a:cubicBezTo>
                    <a:pt x="316" y="496"/>
                    <a:pt x="632" y="446"/>
                    <a:pt x="873" y="355"/>
                  </a:cubicBezTo>
                  <a:cubicBezTo>
                    <a:pt x="1114" y="264"/>
                    <a:pt x="1281" y="132"/>
                    <a:pt x="14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1515" name="Freeform 33"/>
            <p:cNvSpPr>
              <a:spLocks/>
            </p:cNvSpPr>
            <p:nvPr/>
          </p:nvSpPr>
          <p:spPr bwMode="auto">
            <a:xfrm>
              <a:off x="5679774" y="1466850"/>
              <a:ext cx="1798637" cy="1385888"/>
            </a:xfrm>
            <a:custGeom>
              <a:avLst/>
              <a:gdLst>
                <a:gd name="T0" fmla="*/ 0 w 1133"/>
                <a:gd name="T1" fmla="*/ 2147483646 h 873"/>
                <a:gd name="T2" fmla="*/ 2147483646 w 1133"/>
                <a:gd name="T3" fmla="*/ 2147483646 h 873"/>
                <a:gd name="T4" fmla="*/ 2147483646 w 1133"/>
                <a:gd name="T5" fmla="*/ 0 h 873"/>
                <a:gd name="T6" fmla="*/ 0 60000 65536"/>
                <a:gd name="T7" fmla="*/ 0 60000 65536"/>
                <a:gd name="T8" fmla="*/ 0 60000 65536"/>
                <a:gd name="T9" fmla="*/ 0 w 1133"/>
                <a:gd name="T10" fmla="*/ 0 h 873"/>
                <a:gd name="T11" fmla="*/ 1133 w 1133"/>
                <a:gd name="T12" fmla="*/ 873 h 8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3" h="873">
                  <a:moveTo>
                    <a:pt x="0" y="873"/>
                  </a:moveTo>
                  <a:cubicBezTo>
                    <a:pt x="213" y="811"/>
                    <a:pt x="426" y="750"/>
                    <a:pt x="615" y="605"/>
                  </a:cubicBezTo>
                  <a:cubicBezTo>
                    <a:pt x="804" y="460"/>
                    <a:pt x="968" y="230"/>
                    <a:pt x="113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1516" name="Freeform 34"/>
            <p:cNvSpPr>
              <a:spLocks/>
            </p:cNvSpPr>
            <p:nvPr/>
          </p:nvSpPr>
          <p:spPr bwMode="auto">
            <a:xfrm flipV="1">
              <a:off x="5701999" y="3227388"/>
              <a:ext cx="2422525" cy="427037"/>
            </a:xfrm>
            <a:custGeom>
              <a:avLst/>
              <a:gdLst>
                <a:gd name="T0" fmla="*/ 0 w 1526"/>
                <a:gd name="T1" fmla="*/ 2147483646 h 269"/>
                <a:gd name="T2" fmla="*/ 2147483646 w 1526"/>
                <a:gd name="T3" fmla="*/ 2147483646 h 269"/>
                <a:gd name="T4" fmla="*/ 2147483646 w 1526"/>
                <a:gd name="T5" fmla="*/ 0 h 269"/>
                <a:gd name="T6" fmla="*/ 0 60000 65536"/>
                <a:gd name="T7" fmla="*/ 0 60000 65536"/>
                <a:gd name="T8" fmla="*/ 0 60000 65536"/>
                <a:gd name="T9" fmla="*/ 0 w 1526"/>
                <a:gd name="T10" fmla="*/ 0 h 269"/>
                <a:gd name="T11" fmla="*/ 1526 w 1526"/>
                <a:gd name="T12" fmla="*/ 269 h 2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6" h="269">
                  <a:moveTo>
                    <a:pt x="0" y="269"/>
                  </a:moveTo>
                  <a:cubicBezTo>
                    <a:pt x="151" y="267"/>
                    <a:pt x="302" y="266"/>
                    <a:pt x="556" y="221"/>
                  </a:cubicBezTo>
                  <a:cubicBezTo>
                    <a:pt x="810" y="176"/>
                    <a:pt x="1168" y="88"/>
                    <a:pt x="1526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/>
            <a:lstStyle/>
            <a:p>
              <a:endParaRPr lang="en-GB"/>
            </a:p>
          </p:txBody>
        </p:sp>
        <p:sp>
          <p:nvSpPr>
            <p:cNvPr id="21517" name="Freeform 35"/>
            <p:cNvSpPr>
              <a:spLocks/>
            </p:cNvSpPr>
            <p:nvPr/>
          </p:nvSpPr>
          <p:spPr bwMode="auto">
            <a:xfrm flipV="1">
              <a:off x="5668661" y="3340100"/>
              <a:ext cx="2300288" cy="868363"/>
            </a:xfrm>
            <a:custGeom>
              <a:avLst/>
              <a:gdLst>
                <a:gd name="T0" fmla="*/ 0 w 1449"/>
                <a:gd name="T1" fmla="*/ 2147483646 h 547"/>
                <a:gd name="T2" fmla="*/ 2147483646 w 1449"/>
                <a:gd name="T3" fmla="*/ 2147483646 h 547"/>
                <a:gd name="T4" fmla="*/ 2147483646 w 1449"/>
                <a:gd name="T5" fmla="*/ 0 h 547"/>
                <a:gd name="T6" fmla="*/ 0 60000 65536"/>
                <a:gd name="T7" fmla="*/ 0 60000 65536"/>
                <a:gd name="T8" fmla="*/ 0 60000 65536"/>
                <a:gd name="T9" fmla="*/ 0 w 1449"/>
                <a:gd name="T10" fmla="*/ 0 h 547"/>
                <a:gd name="T11" fmla="*/ 1449 w 1449"/>
                <a:gd name="T12" fmla="*/ 547 h 5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9" h="547">
                  <a:moveTo>
                    <a:pt x="0" y="547"/>
                  </a:moveTo>
                  <a:cubicBezTo>
                    <a:pt x="316" y="496"/>
                    <a:pt x="632" y="446"/>
                    <a:pt x="873" y="355"/>
                  </a:cubicBezTo>
                  <a:cubicBezTo>
                    <a:pt x="1114" y="264"/>
                    <a:pt x="1281" y="132"/>
                    <a:pt x="14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/>
            <a:lstStyle/>
            <a:p>
              <a:endParaRPr lang="en-GB"/>
            </a:p>
          </p:txBody>
        </p:sp>
        <p:sp>
          <p:nvSpPr>
            <p:cNvPr id="21518" name="Freeform 36"/>
            <p:cNvSpPr>
              <a:spLocks/>
            </p:cNvSpPr>
            <p:nvPr/>
          </p:nvSpPr>
          <p:spPr bwMode="auto">
            <a:xfrm flipV="1">
              <a:off x="5668661" y="3441700"/>
              <a:ext cx="1798638" cy="1385888"/>
            </a:xfrm>
            <a:custGeom>
              <a:avLst/>
              <a:gdLst>
                <a:gd name="T0" fmla="*/ 0 w 1133"/>
                <a:gd name="T1" fmla="*/ 2147483646 h 873"/>
                <a:gd name="T2" fmla="*/ 2147483646 w 1133"/>
                <a:gd name="T3" fmla="*/ 2147483646 h 873"/>
                <a:gd name="T4" fmla="*/ 2147483646 w 1133"/>
                <a:gd name="T5" fmla="*/ 0 h 873"/>
                <a:gd name="T6" fmla="*/ 0 60000 65536"/>
                <a:gd name="T7" fmla="*/ 0 60000 65536"/>
                <a:gd name="T8" fmla="*/ 0 60000 65536"/>
                <a:gd name="T9" fmla="*/ 0 w 1133"/>
                <a:gd name="T10" fmla="*/ 0 h 873"/>
                <a:gd name="T11" fmla="*/ 1133 w 1133"/>
                <a:gd name="T12" fmla="*/ 873 h 8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3" h="873">
                  <a:moveTo>
                    <a:pt x="0" y="873"/>
                  </a:moveTo>
                  <a:cubicBezTo>
                    <a:pt x="213" y="811"/>
                    <a:pt x="426" y="750"/>
                    <a:pt x="615" y="605"/>
                  </a:cubicBezTo>
                  <a:cubicBezTo>
                    <a:pt x="804" y="460"/>
                    <a:pt x="968" y="230"/>
                    <a:pt x="113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/>
            <a:lstStyle/>
            <a:p>
              <a:endParaRPr lang="en-GB"/>
            </a:p>
          </p:txBody>
        </p:sp>
        <p:sp>
          <p:nvSpPr>
            <p:cNvPr id="21519" name="Freeform 37"/>
            <p:cNvSpPr>
              <a:spLocks/>
            </p:cNvSpPr>
            <p:nvPr/>
          </p:nvSpPr>
          <p:spPr bwMode="auto">
            <a:xfrm>
              <a:off x="5668661" y="1339850"/>
              <a:ext cx="1189038" cy="1417638"/>
            </a:xfrm>
            <a:custGeom>
              <a:avLst/>
              <a:gdLst>
                <a:gd name="T0" fmla="*/ 0 w 749"/>
                <a:gd name="T1" fmla="*/ 2147483646 h 893"/>
                <a:gd name="T2" fmla="*/ 2147483646 w 749"/>
                <a:gd name="T3" fmla="*/ 2147483646 h 893"/>
                <a:gd name="T4" fmla="*/ 2147483646 w 749"/>
                <a:gd name="T5" fmla="*/ 0 h 893"/>
                <a:gd name="T6" fmla="*/ 0 60000 65536"/>
                <a:gd name="T7" fmla="*/ 0 60000 65536"/>
                <a:gd name="T8" fmla="*/ 0 60000 65536"/>
                <a:gd name="T9" fmla="*/ 0 w 749"/>
                <a:gd name="T10" fmla="*/ 0 h 893"/>
                <a:gd name="T11" fmla="*/ 749 w 749"/>
                <a:gd name="T12" fmla="*/ 893 h 8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9" h="893">
                  <a:moveTo>
                    <a:pt x="0" y="893"/>
                  </a:moveTo>
                  <a:cubicBezTo>
                    <a:pt x="168" y="799"/>
                    <a:pt x="336" y="706"/>
                    <a:pt x="461" y="557"/>
                  </a:cubicBezTo>
                  <a:cubicBezTo>
                    <a:pt x="586" y="408"/>
                    <a:pt x="667" y="204"/>
                    <a:pt x="7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1520" name="Freeform 38"/>
            <p:cNvSpPr>
              <a:spLocks/>
            </p:cNvSpPr>
            <p:nvPr/>
          </p:nvSpPr>
          <p:spPr bwMode="auto">
            <a:xfrm flipV="1">
              <a:off x="5701999" y="3546475"/>
              <a:ext cx="1189037" cy="1417638"/>
            </a:xfrm>
            <a:custGeom>
              <a:avLst/>
              <a:gdLst>
                <a:gd name="T0" fmla="*/ 0 w 749"/>
                <a:gd name="T1" fmla="*/ 2147483646 h 893"/>
                <a:gd name="T2" fmla="*/ 2147483646 w 749"/>
                <a:gd name="T3" fmla="*/ 2147483646 h 893"/>
                <a:gd name="T4" fmla="*/ 2147483646 w 749"/>
                <a:gd name="T5" fmla="*/ 0 h 893"/>
                <a:gd name="T6" fmla="*/ 0 60000 65536"/>
                <a:gd name="T7" fmla="*/ 0 60000 65536"/>
                <a:gd name="T8" fmla="*/ 0 60000 65536"/>
                <a:gd name="T9" fmla="*/ 0 w 749"/>
                <a:gd name="T10" fmla="*/ 0 h 893"/>
                <a:gd name="T11" fmla="*/ 749 w 749"/>
                <a:gd name="T12" fmla="*/ 893 h 8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9" h="893">
                  <a:moveTo>
                    <a:pt x="0" y="893"/>
                  </a:moveTo>
                  <a:cubicBezTo>
                    <a:pt x="168" y="799"/>
                    <a:pt x="336" y="706"/>
                    <a:pt x="461" y="557"/>
                  </a:cubicBezTo>
                  <a:cubicBezTo>
                    <a:pt x="586" y="408"/>
                    <a:pt x="667" y="204"/>
                    <a:pt x="749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/>
            <a:lstStyle/>
            <a:p>
              <a:endParaRPr lang="en-GB"/>
            </a:p>
          </p:txBody>
        </p:sp>
        <p:grpSp>
          <p:nvGrpSpPr>
            <p:cNvPr id="21521" name="Group 43"/>
            <p:cNvGrpSpPr>
              <a:grpSpLocks/>
            </p:cNvGrpSpPr>
            <p:nvPr/>
          </p:nvGrpSpPr>
          <p:grpSpPr bwMode="auto">
            <a:xfrm>
              <a:off x="3998611" y="2897188"/>
              <a:ext cx="1468438" cy="896937"/>
              <a:chOff x="1123" y="1412"/>
              <a:chExt cx="925" cy="565"/>
            </a:xfrm>
          </p:grpSpPr>
          <p:sp>
            <p:nvSpPr>
              <p:cNvPr id="21532" name="Rectangle 44"/>
              <p:cNvSpPr>
                <a:spLocks noChangeArrowheads="1"/>
              </p:cNvSpPr>
              <p:nvPr/>
            </p:nvSpPr>
            <p:spPr bwMode="auto">
              <a:xfrm rot="10800000">
                <a:off x="1123" y="1452"/>
                <a:ext cx="925" cy="269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533" name="Line 45"/>
              <p:cNvSpPr>
                <a:spLocks noChangeShapeType="1"/>
              </p:cNvSpPr>
              <p:nvPr/>
            </p:nvSpPr>
            <p:spPr bwMode="auto">
              <a:xfrm rot="10800000">
                <a:off x="1965" y="1732"/>
                <a:ext cx="0" cy="24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34" name="Line 46"/>
              <p:cNvSpPr>
                <a:spLocks noChangeShapeType="1"/>
              </p:cNvSpPr>
              <p:nvPr/>
            </p:nvSpPr>
            <p:spPr bwMode="auto">
              <a:xfrm>
                <a:off x="1823" y="1420"/>
                <a:ext cx="45" cy="331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35" name="Line 47"/>
              <p:cNvSpPr>
                <a:spLocks noChangeShapeType="1"/>
              </p:cNvSpPr>
              <p:nvPr/>
            </p:nvSpPr>
            <p:spPr bwMode="auto">
              <a:xfrm>
                <a:off x="1697" y="1412"/>
                <a:ext cx="45" cy="331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36" name="Line 48"/>
              <p:cNvSpPr>
                <a:spLocks noChangeShapeType="1"/>
              </p:cNvSpPr>
              <p:nvPr/>
            </p:nvSpPr>
            <p:spPr bwMode="auto">
              <a:xfrm>
                <a:off x="1572" y="1414"/>
                <a:ext cx="45" cy="33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37" name="Line 49"/>
              <p:cNvSpPr>
                <a:spLocks noChangeShapeType="1"/>
              </p:cNvSpPr>
              <p:nvPr/>
            </p:nvSpPr>
            <p:spPr bwMode="auto">
              <a:xfrm>
                <a:off x="1446" y="1414"/>
                <a:ext cx="45" cy="33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38" name="Line 50"/>
              <p:cNvSpPr>
                <a:spLocks noChangeShapeType="1"/>
              </p:cNvSpPr>
              <p:nvPr/>
            </p:nvSpPr>
            <p:spPr bwMode="auto">
              <a:xfrm>
                <a:off x="1321" y="1414"/>
                <a:ext cx="45" cy="33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39" name="Line 51"/>
              <p:cNvSpPr>
                <a:spLocks noChangeShapeType="1"/>
              </p:cNvSpPr>
              <p:nvPr/>
            </p:nvSpPr>
            <p:spPr bwMode="auto">
              <a:xfrm rot="10800000">
                <a:off x="1205" y="1413"/>
                <a:ext cx="0" cy="564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1522" name="Text Box 52"/>
            <p:cNvSpPr txBox="1">
              <a:spLocks noChangeArrowheads="1"/>
            </p:cNvSpPr>
            <p:nvPr/>
          </p:nvSpPr>
          <p:spPr bwMode="auto">
            <a:xfrm>
              <a:off x="4279270" y="2301876"/>
              <a:ext cx="862012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alterna</a:t>
              </a:r>
            </a:p>
          </p:txBody>
        </p:sp>
        <p:sp>
          <p:nvSpPr>
            <p:cNvPr id="21523" name="Text Box 58"/>
            <p:cNvSpPr txBox="1">
              <a:spLocks noChangeArrowheads="1"/>
            </p:cNvSpPr>
            <p:nvPr/>
          </p:nvSpPr>
          <p:spPr bwMode="auto">
            <a:xfrm>
              <a:off x="4270074" y="3643825"/>
              <a:ext cx="893762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alterna</a:t>
              </a:r>
            </a:p>
          </p:txBody>
        </p:sp>
        <p:sp>
          <p:nvSpPr>
            <p:cNvPr id="21524" name="Oval 59"/>
            <p:cNvSpPr>
              <a:spLocks noChangeArrowheads="1"/>
            </p:cNvSpPr>
            <p:nvPr/>
          </p:nvSpPr>
          <p:spPr bwMode="auto">
            <a:xfrm>
              <a:off x="4066874" y="3740150"/>
              <a:ext cx="107950" cy="107950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25" name="Oval 60"/>
            <p:cNvSpPr>
              <a:spLocks noChangeArrowheads="1"/>
            </p:cNvSpPr>
            <p:nvPr/>
          </p:nvSpPr>
          <p:spPr bwMode="auto">
            <a:xfrm>
              <a:off x="5281311" y="3784600"/>
              <a:ext cx="107950" cy="107950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6255307" y="3393210"/>
            <a:ext cx="3959227" cy="1493838"/>
            <a:chOff x="6514804" y="3702052"/>
            <a:chExt cx="3959227" cy="1493838"/>
          </a:xfrm>
        </p:grpSpPr>
        <p:grpSp>
          <p:nvGrpSpPr>
            <p:cNvPr id="2" name="Group 2"/>
            <p:cNvGrpSpPr>
              <a:grpSpLocks/>
            </p:cNvGrpSpPr>
            <p:nvPr/>
          </p:nvGrpSpPr>
          <p:grpSpPr bwMode="auto">
            <a:xfrm>
              <a:off x="6514804" y="3702052"/>
              <a:ext cx="3959227" cy="1493838"/>
              <a:chOff x="4239" y="2537"/>
              <a:chExt cx="2494" cy="941"/>
            </a:xfrm>
          </p:grpSpPr>
          <p:grpSp>
            <p:nvGrpSpPr>
              <p:cNvPr id="21553" name="Group 3"/>
              <p:cNvGrpSpPr>
                <a:grpSpLocks/>
              </p:cNvGrpSpPr>
              <p:nvPr/>
            </p:nvGrpSpPr>
            <p:grpSpPr bwMode="auto">
              <a:xfrm>
                <a:off x="5167" y="3055"/>
                <a:ext cx="1566" cy="423"/>
                <a:chOff x="5167" y="3055"/>
                <a:chExt cx="1566" cy="423"/>
              </a:xfrm>
            </p:grpSpPr>
            <p:sp>
              <p:nvSpPr>
                <p:cNvPr id="21558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5809" y="3116"/>
                  <a:ext cx="924" cy="3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 dirty="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V</a:t>
                  </a:r>
                  <a:r>
                    <a:rPr lang="es-ES" sz="2400" baseline="-25000" dirty="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CONTINUA</a:t>
                  </a:r>
                </a:p>
              </p:txBody>
            </p:sp>
            <p:sp>
              <p:nvSpPr>
                <p:cNvPr id="21559" name="Line 5"/>
                <p:cNvSpPr>
                  <a:spLocks noChangeShapeType="1"/>
                </p:cNvSpPr>
                <p:nvPr/>
              </p:nvSpPr>
              <p:spPr bwMode="auto">
                <a:xfrm>
                  <a:off x="5439" y="3200"/>
                  <a:ext cx="30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82800" rIns="90000" bIns="82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1560" name="Line 6"/>
                <p:cNvSpPr>
                  <a:spLocks noChangeShapeType="1"/>
                </p:cNvSpPr>
                <p:nvPr/>
              </p:nvSpPr>
              <p:spPr bwMode="auto">
                <a:xfrm>
                  <a:off x="5429" y="3365"/>
                  <a:ext cx="30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82800" rIns="90000" bIns="82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1561" name="Oval 7"/>
                <p:cNvSpPr>
                  <a:spLocks noChangeArrowheads="1"/>
                </p:cNvSpPr>
                <p:nvPr/>
              </p:nvSpPr>
              <p:spPr bwMode="auto">
                <a:xfrm>
                  <a:off x="5727" y="3165"/>
                  <a:ext cx="68" cy="68"/>
                </a:xfrm>
                <a:prstGeom prst="ellipse">
                  <a:avLst/>
                </a:prstGeom>
                <a:solidFill>
                  <a:srgbClr val="FF0000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562" name="Oval 8"/>
                <p:cNvSpPr>
                  <a:spLocks noChangeArrowheads="1"/>
                </p:cNvSpPr>
                <p:nvPr/>
              </p:nvSpPr>
              <p:spPr bwMode="auto">
                <a:xfrm>
                  <a:off x="5734" y="3337"/>
                  <a:ext cx="68" cy="68"/>
                </a:xfrm>
                <a:prstGeom prst="ellipse">
                  <a:avLst/>
                </a:prstGeom>
                <a:solidFill>
                  <a:srgbClr val="FF0000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563" name="Line 9"/>
                <p:cNvSpPr>
                  <a:spLocks noChangeShapeType="1"/>
                </p:cNvSpPr>
                <p:nvPr/>
              </p:nvSpPr>
              <p:spPr bwMode="auto">
                <a:xfrm>
                  <a:off x="5167" y="3191"/>
                  <a:ext cx="30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82800" rIns="90000" bIns="82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1564" name="Line 10"/>
                <p:cNvSpPr>
                  <a:spLocks noChangeShapeType="1"/>
                </p:cNvSpPr>
                <p:nvPr/>
              </p:nvSpPr>
              <p:spPr bwMode="auto">
                <a:xfrm>
                  <a:off x="5167" y="3362"/>
                  <a:ext cx="30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82800" rIns="90000" bIns="82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1565" name="Rectangle 11"/>
                <p:cNvSpPr>
                  <a:spLocks noChangeArrowheads="1"/>
                </p:cNvSpPr>
                <p:nvPr/>
              </p:nvSpPr>
              <p:spPr bwMode="auto">
                <a:xfrm>
                  <a:off x="5281" y="3055"/>
                  <a:ext cx="379" cy="423"/>
                </a:xfrm>
                <a:prstGeom prst="rect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</p:spPr>
              <p:txBody>
                <a:bodyPr wrap="none" lIns="90000" tIns="82800" rIns="90000" bIns="82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554" name="Line 12"/>
              <p:cNvSpPr>
                <a:spLocks noChangeShapeType="1"/>
              </p:cNvSpPr>
              <p:nvPr/>
            </p:nvSpPr>
            <p:spPr bwMode="auto">
              <a:xfrm>
                <a:off x="5011" y="2563"/>
                <a:ext cx="173" cy="609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1555" name="Line 13"/>
              <p:cNvSpPr>
                <a:spLocks noChangeShapeType="1"/>
              </p:cNvSpPr>
              <p:nvPr/>
            </p:nvSpPr>
            <p:spPr bwMode="auto">
              <a:xfrm>
                <a:off x="4239" y="2537"/>
                <a:ext cx="14" cy="80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1556" name="Oval 14"/>
              <p:cNvSpPr>
                <a:spLocks noChangeArrowheads="1"/>
              </p:cNvSpPr>
              <p:nvPr/>
            </p:nvSpPr>
            <p:spPr bwMode="auto">
              <a:xfrm>
                <a:off x="5148" y="3151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557" name="Oval 15"/>
              <p:cNvSpPr>
                <a:spLocks noChangeArrowheads="1"/>
              </p:cNvSpPr>
              <p:nvPr/>
            </p:nvSpPr>
            <p:spPr bwMode="auto">
              <a:xfrm>
                <a:off x="5152" y="3320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2" name="Line 13"/>
            <p:cNvSpPr>
              <a:spLocks noChangeShapeType="1"/>
            </p:cNvSpPr>
            <p:nvPr/>
          </p:nvSpPr>
          <p:spPr bwMode="auto">
            <a:xfrm flipH="1" flipV="1">
              <a:off x="6537025" y="4970463"/>
              <a:ext cx="1427162" cy="3145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2087" name="Text Box 26"/>
          <p:cNvSpPr txBox="1">
            <a:spLocks noChangeArrowheads="1"/>
          </p:cNvSpPr>
          <p:nvPr/>
        </p:nvSpPr>
        <p:spPr bwMode="auto">
          <a:xfrm>
            <a:off x="6232410" y="1720221"/>
            <a:ext cx="11080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</a:p>
        </p:txBody>
      </p:sp>
      <p:grpSp>
        <p:nvGrpSpPr>
          <p:cNvPr id="2117" name="Group 69"/>
          <p:cNvGrpSpPr>
            <a:grpSpLocks/>
          </p:cNvGrpSpPr>
          <p:nvPr/>
        </p:nvGrpSpPr>
        <p:grpSpPr bwMode="auto">
          <a:xfrm>
            <a:off x="6128302" y="2430918"/>
            <a:ext cx="1468437" cy="995362"/>
            <a:chOff x="5762" y="1884"/>
            <a:chExt cx="925" cy="627"/>
          </a:xfrm>
        </p:grpSpPr>
        <p:grpSp>
          <p:nvGrpSpPr>
            <p:cNvPr id="21542" name="Group 17"/>
            <p:cNvGrpSpPr>
              <a:grpSpLocks/>
            </p:cNvGrpSpPr>
            <p:nvPr/>
          </p:nvGrpSpPr>
          <p:grpSpPr bwMode="auto">
            <a:xfrm>
              <a:off x="5762" y="1884"/>
              <a:ext cx="925" cy="565"/>
              <a:chOff x="1123" y="1412"/>
              <a:chExt cx="925" cy="565"/>
            </a:xfrm>
          </p:grpSpPr>
          <p:sp>
            <p:nvSpPr>
              <p:cNvPr id="21545" name="Rectangle 18"/>
              <p:cNvSpPr>
                <a:spLocks noChangeArrowheads="1"/>
              </p:cNvSpPr>
              <p:nvPr/>
            </p:nvSpPr>
            <p:spPr bwMode="auto">
              <a:xfrm rot="10800000">
                <a:off x="1123" y="1452"/>
                <a:ext cx="925" cy="269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546" name="Line 19"/>
              <p:cNvSpPr>
                <a:spLocks noChangeShapeType="1"/>
              </p:cNvSpPr>
              <p:nvPr/>
            </p:nvSpPr>
            <p:spPr bwMode="auto">
              <a:xfrm rot="10800000">
                <a:off x="1965" y="1732"/>
                <a:ext cx="0" cy="24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47" name="Line 20"/>
              <p:cNvSpPr>
                <a:spLocks noChangeShapeType="1"/>
              </p:cNvSpPr>
              <p:nvPr/>
            </p:nvSpPr>
            <p:spPr bwMode="auto">
              <a:xfrm>
                <a:off x="1823" y="1420"/>
                <a:ext cx="45" cy="331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48" name="Line 21"/>
              <p:cNvSpPr>
                <a:spLocks noChangeShapeType="1"/>
              </p:cNvSpPr>
              <p:nvPr/>
            </p:nvSpPr>
            <p:spPr bwMode="auto">
              <a:xfrm>
                <a:off x="1697" y="1412"/>
                <a:ext cx="45" cy="331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49" name="Line 22"/>
              <p:cNvSpPr>
                <a:spLocks noChangeShapeType="1"/>
              </p:cNvSpPr>
              <p:nvPr/>
            </p:nvSpPr>
            <p:spPr bwMode="auto">
              <a:xfrm>
                <a:off x="1572" y="1414"/>
                <a:ext cx="45" cy="33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50" name="Line 23"/>
              <p:cNvSpPr>
                <a:spLocks noChangeShapeType="1"/>
              </p:cNvSpPr>
              <p:nvPr/>
            </p:nvSpPr>
            <p:spPr bwMode="auto">
              <a:xfrm>
                <a:off x="1446" y="1414"/>
                <a:ext cx="45" cy="33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51" name="Line 24"/>
              <p:cNvSpPr>
                <a:spLocks noChangeShapeType="1"/>
              </p:cNvSpPr>
              <p:nvPr/>
            </p:nvSpPr>
            <p:spPr bwMode="auto">
              <a:xfrm>
                <a:off x="1321" y="1414"/>
                <a:ext cx="45" cy="33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1552" name="Line 25"/>
              <p:cNvSpPr>
                <a:spLocks noChangeShapeType="1"/>
              </p:cNvSpPr>
              <p:nvPr/>
            </p:nvSpPr>
            <p:spPr bwMode="auto">
              <a:xfrm rot="10800000">
                <a:off x="1205" y="1413"/>
                <a:ext cx="0" cy="564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1543" name="Oval 28"/>
            <p:cNvSpPr>
              <a:spLocks noChangeArrowheads="1"/>
            </p:cNvSpPr>
            <p:nvPr/>
          </p:nvSpPr>
          <p:spPr bwMode="auto">
            <a:xfrm>
              <a:off x="5806" y="2415"/>
              <a:ext cx="68" cy="68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44" name="Oval 29"/>
            <p:cNvSpPr>
              <a:spLocks noChangeArrowheads="1"/>
            </p:cNvSpPr>
            <p:nvPr/>
          </p:nvSpPr>
          <p:spPr bwMode="auto">
            <a:xfrm>
              <a:off x="6568" y="2443"/>
              <a:ext cx="68" cy="68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50645" name="Text Box 53"/>
          <p:cNvSpPr txBox="1">
            <a:spLocks noChangeArrowheads="1"/>
          </p:cNvSpPr>
          <p:nvPr/>
        </p:nvSpPr>
        <p:spPr bwMode="auto">
          <a:xfrm>
            <a:off x="2688640" y="5377402"/>
            <a:ext cx="6146188" cy="90588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Permite recargar la batería del dispositivo sin entrar en contacto con la bobina exterior</a:t>
            </a:r>
          </a:p>
        </p:txBody>
      </p:sp>
      <p:sp>
        <p:nvSpPr>
          <p:cNvPr id="750646" name="Text Box 54"/>
          <p:cNvSpPr txBox="1">
            <a:spLocks noChangeArrowheads="1"/>
          </p:cNvSpPr>
          <p:nvPr/>
        </p:nvSpPr>
        <p:spPr bwMode="auto">
          <a:xfrm>
            <a:off x="3063171" y="6319828"/>
            <a:ext cx="538510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La batería de un móvil, de un coche…</a:t>
            </a:r>
          </a:p>
        </p:txBody>
      </p:sp>
      <p:sp>
        <p:nvSpPr>
          <p:cNvPr id="21541" name="Text Box 57"/>
          <p:cNvSpPr txBox="1">
            <a:spLocks noChangeArrowheads="1"/>
          </p:cNvSpPr>
          <p:nvPr/>
        </p:nvSpPr>
        <p:spPr bwMode="auto">
          <a:xfrm>
            <a:off x="8237191" y="908506"/>
            <a:ext cx="1876854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Dentro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de un dispositivo</a:t>
            </a:r>
          </a:p>
        </p:txBody>
      </p:sp>
      <p:sp>
        <p:nvSpPr>
          <p:cNvPr id="21527" name="Text Box 63"/>
          <p:cNvSpPr txBox="1">
            <a:spLocks noChangeArrowheads="1"/>
          </p:cNvSpPr>
          <p:nvPr/>
        </p:nvSpPr>
        <p:spPr bwMode="auto">
          <a:xfrm>
            <a:off x="1802083" y="4499879"/>
            <a:ext cx="2097347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APLICACIÓN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247649" y="366281"/>
            <a:ext cx="2086292" cy="1159510"/>
            <a:chOff x="2392759" y="1256983"/>
            <a:chExt cx="2086292" cy="1159510"/>
          </a:xfrm>
        </p:grpSpPr>
        <p:sp>
          <p:nvSpPr>
            <p:cNvPr id="21528" name="Rectangle 20"/>
            <p:cNvSpPr>
              <a:spLocks noChangeArrowheads="1"/>
            </p:cNvSpPr>
            <p:nvPr/>
          </p:nvSpPr>
          <p:spPr bwMode="auto">
            <a:xfrm>
              <a:off x="2392759" y="1256983"/>
              <a:ext cx="2086292" cy="115951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21529" name="Object 21"/>
            <p:cNvGraphicFramePr>
              <a:graphicFrameLocks noChangeAspect="1"/>
            </p:cNvGraphicFramePr>
            <p:nvPr/>
          </p:nvGraphicFramePr>
          <p:xfrm>
            <a:off x="2571433" y="1323261"/>
            <a:ext cx="1718310" cy="1028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672840" imgH="406080" progId="Equation.3">
                    <p:embed/>
                  </p:oleObj>
                </mc:Choice>
                <mc:Fallback>
                  <p:oleObj name="Ecuación" r:id="rId3" imgW="672840" imgH="406080" progId="Equation.3">
                    <p:embed/>
                    <p:pic>
                      <p:nvPicPr>
                        <p:cNvPr id="2152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1433" y="1323261"/>
                          <a:ext cx="1718310" cy="1028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88" name="Text Box 27"/>
          <p:cNvSpPr txBox="1">
            <a:spLocks noChangeArrowheads="1"/>
          </p:cNvSpPr>
          <p:nvPr/>
        </p:nvSpPr>
        <p:spPr bwMode="auto">
          <a:xfrm>
            <a:off x="6258475" y="3323970"/>
            <a:ext cx="11398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ALTERNA</a:t>
            </a:r>
          </a:p>
        </p:txBody>
      </p:sp>
      <p:sp>
        <p:nvSpPr>
          <p:cNvPr id="2118" name="Text Box 70"/>
          <p:cNvSpPr txBox="1">
            <a:spLocks noChangeArrowheads="1"/>
          </p:cNvSpPr>
          <p:nvPr/>
        </p:nvSpPr>
        <p:spPr bwMode="auto">
          <a:xfrm>
            <a:off x="7042965" y="3756864"/>
            <a:ext cx="648232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>
                <a:solidFill>
                  <a:srgbClr val="3333FF"/>
                </a:solidFill>
              </a:rPr>
              <a:t>= </a:t>
            </a:r>
            <a:r>
              <a:rPr lang="es-ES" sz="2800">
                <a:solidFill>
                  <a:srgbClr val="3333FF"/>
                </a:solidFill>
                <a:sym typeface="Symbol" panose="05050102010706020507" pitchFamily="18" charset="2"/>
              </a:rPr>
              <a:t></a:t>
            </a:r>
            <a:endParaRPr lang="es-ES" sz="2800">
              <a:solidFill>
                <a:srgbClr val="3333FF"/>
              </a:solidFill>
            </a:endParaRPr>
          </a:p>
        </p:txBody>
      </p:sp>
      <p:sp>
        <p:nvSpPr>
          <p:cNvPr id="64" name="Text Box 57"/>
          <p:cNvSpPr txBox="1">
            <a:spLocks noChangeArrowheads="1"/>
          </p:cNvSpPr>
          <p:nvPr/>
        </p:nvSpPr>
        <p:spPr bwMode="auto">
          <a:xfrm>
            <a:off x="8051600" y="3211998"/>
            <a:ext cx="2062163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Fuente de alimentación</a:t>
            </a:r>
          </a:p>
        </p:txBody>
      </p:sp>
      <p:sp>
        <p:nvSpPr>
          <p:cNvPr id="6" name="Text Box 54">
            <a:extLst>
              <a:ext uri="{FF2B5EF4-FFF2-40B4-BE49-F238E27FC236}">
                <a16:creationId xmlns:a16="http://schemas.microsoft.com/office/drawing/2014/main" id="{946C73BD-BCFA-8083-3A72-FBA1A37A4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1438" y="339968"/>
            <a:ext cx="2000422" cy="127521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Así queda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 ley para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un generador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5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750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5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40" grpId="0" animBg="1"/>
      <p:bldP spid="2087" grpId="0"/>
      <p:bldP spid="750645" grpId="0" animBg="1"/>
      <p:bldP spid="750646" grpId="0"/>
      <p:bldP spid="21541" grpId="0"/>
      <p:bldP spid="21527" grpId="0" animBg="1"/>
      <p:bldP spid="2088" grpId="0"/>
      <p:bldP spid="2118" grpId="0"/>
      <p:bldP spid="64" grpId="0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16195</TotalTime>
  <Words>2609</Words>
  <Application>Microsoft Office PowerPoint</Application>
  <PresentationFormat>Personalizado</PresentationFormat>
  <Paragraphs>533</Paragraphs>
  <Slides>27</Slides>
  <Notes>26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5" baseType="lpstr">
      <vt:lpstr>Arial</vt:lpstr>
      <vt:lpstr>Cambria Math</vt:lpstr>
      <vt:lpstr>Comic Sans MS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2373</cp:revision>
  <dcterms:created xsi:type="dcterms:W3CDTF">2012-02-20T13:06:36Z</dcterms:created>
  <dcterms:modified xsi:type="dcterms:W3CDTF">2024-11-25T14:22:41Z</dcterms:modified>
</cp:coreProperties>
</file>