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542" r:id="rId2"/>
    <p:sldId id="584" r:id="rId3"/>
    <p:sldId id="577" r:id="rId4"/>
    <p:sldId id="665" r:id="rId5"/>
    <p:sldId id="646" r:id="rId6"/>
    <p:sldId id="601" r:id="rId7"/>
    <p:sldId id="606" r:id="rId8"/>
    <p:sldId id="666" r:id="rId9"/>
    <p:sldId id="602" r:id="rId10"/>
    <p:sldId id="635" r:id="rId11"/>
    <p:sldId id="609" r:id="rId12"/>
    <p:sldId id="636" r:id="rId13"/>
    <p:sldId id="640" r:id="rId14"/>
    <p:sldId id="658" r:id="rId15"/>
    <p:sldId id="638" r:id="rId16"/>
    <p:sldId id="667" r:id="rId17"/>
    <p:sldId id="616" r:id="rId18"/>
    <p:sldId id="641" r:id="rId19"/>
    <p:sldId id="647" r:id="rId20"/>
    <p:sldId id="655" r:id="rId21"/>
    <p:sldId id="659" r:id="rId22"/>
    <p:sldId id="656" r:id="rId23"/>
    <p:sldId id="649" r:id="rId24"/>
    <p:sldId id="544" r:id="rId25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1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3333FF"/>
    <a:srgbClr val="FF00FF"/>
    <a:srgbClr val="FFFFFF"/>
    <a:srgbClr val="CCFFCC"/>
    <a:srgbClr val="FFCC99"/>
    <a:srgbClr val="FFFF99"/>
    <a:srgbClr val="00FFFF"/>
    <a:srgbClr val="D6009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6283" autoAdjust="0"/>
  </p:normalViewPr>
  <p:slideViewPr>
    <p:cSldViewPr snapToGrid="0" showGuides="1">
      <p:cViewPr varScale="1">
        <p:scale>
          <a:sx n="103" d="100"/>
          <a:sy n="103" d="100"/>
        </p:scale>
        <p:origin x="1326" y="108"/>
      </p:cViewPr>
      <p:guideLst>
        <p:guide orient="horz" pos="2291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65E96FE-60F1-4FB9-A8EF-422D0562467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635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5AA1872-A331-49EA-B68A-FA79AFAA7C9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838807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17C198-4A67-4CE0-8961-6209CA6DE244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029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2AFC573-7D24-419D-B378-5D2F917ED19A}" type="slidenum">
              <a:rPr lang="es-ES"/>
              <a:pPr algn="r" eaLnBrk="1" hangingPunct="1"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782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A1872-A331-49EA-B68A-FA79AFAA7C98}" type="slidenum">
              <a:rPr lang="es-ES" smtClean="0"/>
              <a:pPr>
                <a:defRPr/>
              </a:pPr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8367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A1872-A331-49EA-B68A-FA79AFAA7C98}" type="slidenum">
              <a:rPr lang="es-ES" smtClean="0"/>
              <a:pPr>
                <a:defRPr/>
              </a:pPr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0842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A1872-A331-49EA-B68A-FA79AFAA7C98}" type="slidenum">
              <a:rPr lang="es-ES" smtClean="0"/>
              <a:pPr>
                <a:defRPr/>
              </a:pPr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5327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AA1872-A331-49EA-B68A-FA79AFAA7C98}" type="slidenum">
              <a:rPr lang="es-ES" smtClean="0"/>
              <a:pPr>
                <a:defRPr/>
              </a:pPr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4796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AA1872-A331-49EA-B68A-FA79AFAA7C98}" type="slidenum">
              <a:rPr lang="es-ES" smtClean="0"/>
              <a:pPr>
                <a:defRPr/>
              </a:pPr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2402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A1872-A331-49EA-B68A-FA79AFAA7C98}" type="slidenum">
              <a:rPr lang="es-ES" smtClean="0"/>
              <a:pPr>
                <a:defRPr/>
              </a:pPr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5257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A1872-A331-49EA-B68A-FA79AFAA7C98}" type="slidenum">
              <a:rPr lang="es-ES" smtClean="0"/>
              <a:pPr>
                <a:defRPr/>
              </a:pPr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7276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162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880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78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78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AA7219-1F48-44C1-BF04-3A2174827264}" type="slidenum">
              <a:rPr lang="es-ES" smtClean="0"/>
              <a:pPr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378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530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78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78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AA7219-1F48-44C1-BF04-3A2174827264}" type="slidenum">
              <a:rPr lang="es-ES" smtClean="0"/>
              <a:pPr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378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499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78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78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AA7219-1F48-44C1-BF04-3A2174827264}" type="slidenum">
              <a:rPr lang="es-ES" smtClean="0"/>
              <a:pPr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378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9742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78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78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AA7219-1F48-44C1-BF04-3A2174827264}" type="slidenum">
              <a:rPr lang="es-ES" smtClean="0"/>
              <a:pPr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378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234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DB1F1-C3E0-4D26-9840-C6976CEDAAC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5957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058E34-0C94-4425-B5E7-058D88FB8CF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8927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9820EB-C39D-4034-BD18-4BD8E0E36DE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0785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4B7373-5477-4758-A07F-55A9BC71B0B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2787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63F3D-8C3B-428C-8AE1-643B8C37196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1054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6D18BC-B8C2-48CC-AE91-80A5DEF61BE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6003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9D2B3-E2B8-44B7-80D7-E8039E40F03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227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44CE3A-AEE7-45D5-AC9B-483C41CAFED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0219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B98B7-3BDD-4B17-B15A-91104792CEE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2419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3ED4C-4253-4B9B-BEB4-518A581F6A1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0636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5760F-0AC7-4081-A41F-3B28B549F0F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6881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4BC3A-C145-4B72-9D90-8DF0EB40596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402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CD85CA2-7618-40A4-9C5A-E76098247EA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909780" y="3251633"/>
            <a:ext cx="7678705" cy="94519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GENERADORES. TEOREMAS DE REDES.</a:t>
            </a: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RESOLUCIÓN SISTEMATIZADA DE CIRCUITOS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291138" y="4763799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(2/2)</a:t>
            </a:r>
            <a:endParaRPr lang="es-ES" sz="2400" b="1" dirty="0">
              <a:latin typeface="Comic Sans MS" panose="030F0702030302020204" pitchFamily="66" charset="0"/>
            </a:endParaRP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5065713" y="229870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8</a:t>
            </a:r>
          </a:p>
        </p:txBody>
      </p:sp>
      <p:grpSp>
        <p:nvGrpSpPr>
          <p:cNvPr id="10" name="Group 23">
            <a:extLst>
              <a:ext uri="{FF2B5EF4-FFF2-40B4-BE49-F238E27FC236}">
                <a16:creationId xmlns:a16="http://schemas.microsoft.com/office/drawing/2014/main" id="{BCC9AC48-3EBC-417F-BFFC-353477E3D542}"/>
              </a:ext>
            </a:extLst>
          </p:cNvPr>
          <p:cNvGrpSpPr>
            <a:grpSpLocks/>
          </p:cNvGrpSpPr>
          <p:nvPr/>
        </p:nvGrpSpPr>
        <p:grpSpPr bwMode="auto">
          <a:xfrm>
            <a:off x="7248650" y="294237"/>
            <a:ext cx="3209926" cy="1868488"/>
            <a:chOff x="4896" y="276"/>
            <a:chExt cx="2022" cy="1177"/>
          </a:xfrm>
        </p:grpSpPr>
        <p:sp>
          <p:nvSpPr>
            <p:cNvPr id="11" name="AutoShape 1067">
              <a:extLst>
                <a:ext uri="{FF2B5EF4-FFF2-40B4-BE49-F238E27FC236}">
                  <a16:creationId xmlns:a16="http://schemas.microsoft.com/office/drawing/2014/main" id="{B017DC9E-EEEE-4F72-8C9F-964C64723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76"/>
              <a:ext cx="2022" cy="1177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Text Box 1068">
              <a:extLst>
                <a:ext uri="{FF2B5EF4-FFF2-40B4-BE49-F238E27FC236}">
                  <a16:creationId xmlns:a16="http://schemas.microsoft.com/office/drawing/2014/main" id="{FAFF6D79-0338-4999-AB6D-86FC8BB2A0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" y="392"/>
              <a:ext cx="1786" cy="352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PRÁCTICA 6</a:t>
              </a:r>
              <a:endParaRPr lang="es-ES" sz="2400" b="1" dirty="0">
                <a:latin typeface="Trebuchet MS" panose="020B0603020202020204" pitchFamily="34" charset="0"/>
              </a:endParaRPr>
            </a:p>
          </p:txBody>
        </p:sp>
        <p:sp>
          <p:nvSpPr>
            <p:cNvPr id="13" name="Text Box 1069">
              <a:extLst>
                <a:ext uri="{FF2B5EF4-FFF2-40B4-BE49-F238E27FC236}">
                  <a16:creationId xmlns:a16="http://schemas.microsoft.com/office/drawing/2014/main" id="{4152A09E-6063-41B3-BAC1-DB6CB611C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" y="839"/>
              <a:ext cx="1786" cy="2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solidFill>
                    <a:srgbClr val="FFFFFF"/>
                  </a:solidFill>
                  <a:latin typeface="Trebuchet MS" panose="020B0603020202020204" pitchFamily="34" charset="0"/>
                </a:rPr>
                <a:t>16-20/12/2024</a:t>
              </a:r>
            </a:p>
          </p:txBody>
        </p:sp>
        <p:sp>
          <p:nvSpPr>
            <p:cNvPr id="14" name="Text Box 1062">
              <a:extLst>
                <a:ext uri="{FF2B5EF4-FFF2-40B4-BE49-F238E27FC236}">
                  <a16:creationId xmlns:a16="http://schemas.microsoft.com/office/drawing/2014/main" id="{488F8241-A9CC-4473-B46B-935AF72200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9" y="1125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Trebuchet MS" panose="020B0603020202020204" pitchFamily="34" charset="0"/>
                </a:rPr>
                <a:t>Boletín </a:t>
              </a: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en Moodle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E77B2732-6CBC-4BDA-983D-490DE5A57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5579" y="5195967"/>
            <a:ext cx="7712075" cy="77826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1" name="Rectangle 17"/>
          <p:cNvSpPr>
            <a:spLocks noChangeArrowheads="1"/>
          </p:cNvSpPr>
          <p:nvPr/>
        </p:nvSpPr>
        <p:spPr bwMode="auto">
          <a:xfrm>
            <a:off x="2463800" y="4098082"/>
            <a:ext cx="7712075" cy="7937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3" name="Rectangle 2"/>
          <p:cNvSpPr>
            <a:spLocks noChangeArrowheads="1"/>
          </p:cNvSpPr>
          <p:nvPr/>
        </p:nvSpPr>
        <p:spPr bwMode="auto">
          <a:xfrm>
            <a:off x="1693863" y="5201250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3"/>
          <p:cNvSpPr>
            <a:spLocks noChangeArrowheads="1"/>
          </p:cNvSpPr>
          <p:nvPr/>
        </p:nvSpPr>
        <p:spPr bwMode="auto">
          <a:xfrm>
            <a:off x="1693863" y="4096350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4"/>
          <p:cNvSpPr>
            <a:spLocks noChangeArrowheads="1"/>
          </p:cNvSpPr>
          <p:nvPr/>
        </p:nvSpPr>
        <p:spPr bwMode="auto">
          <a:xfrm>
            <a:off x="1709738" y="2670775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7" name="Rectangle 6"/>
          <p:cNvSpPr>
            <a:spLocks noChangeArrowheads="1"/>
          </p:cNvSpPr>
          <p:nvPr/>
        </p:nvSpPr>
        <p:spPr bwMode="auto">
          <a:xfrm>
            <a:off x="1670050" y="2613625"/>
            <a:ext cx="708025" cy="3055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8.1.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8.2.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8.3.</a:t>
            </a:r>
          </a:p>
        </p:txBody>
      </p:sp>
      <p:sp>
        <p:nvSpPr>
          <p:cNvPr id="7178" name="Rectangle 7"/>
          <p:cNvSpPr>
            <a:spLocks noChangeArrowheads="1"/>
          </p:cNvSpPr>
          <p:nvPr/>
        </p:nvSpPr>
        <p:spPr bwMode="auto">
          <a:xfrm>
            <a:off x="2419350" y="2602513"/>
            <a:ext cx="7969250" cy="3424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Generadores Ideales y Reales.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Teorema de Máxima Transferencia de Potencia. Fuentes de Tensión e Intensidad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Teoremas de </a:t>
            </a:r>
            <a:r>
              <a:rPr lang="es-ES" sz="2400" b="1" dirty="0" err="1">
                <a:latin typeface="Arial" panose="020B0604020202020204" pitchFamily="34" charset="0"/>
              </a:rPr>
              <a:t>Thevenin</a:t>
            </a:r>
            <a:r>
              <a:rPr lang="es-ES" sz="2400" b="1" dirty="0">
                <a:latin typeface="Arial" panose="020B0604020202020204" pitchFamily="34" charset="0"/>
              </a:rPr>
              <a:t> y Norton.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Asociaciones en Serie y en Paralelo de Generadores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ES" sz="2400" b="1" dirty="0">
                <a:latin typeface="Arial" panose="020B0604020202020204" pitchFamily="34" charset="0"/>
              </a:rPr>
              <a:t>Resolución de Circuitos: Teorema </a:t>
            </a:r>
            <a:r>
              <a:rPr lang="es-ES" sz="2400" b="1">
                <a:latin typeface="Arial" panose="020B0604020202020204" pitchFamily="34" charset="0"/>
              </a:rPr>
              <a:t>de Superposición,</a:t>
            </a: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Resolución por Mallas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CC718E13-DFE6-C5F2-21E9-D8D54480B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893" y="274032"/>
            <a:ext cx="8901112" cy="1393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8: GENERADORES. TEOREMAS DE REDES.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                RESOLUCIÓN SISTEMATIZADA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                DE CIRCUITOS</a:t>
            </a: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B8F4A9AB-38CF-11C6-44D4-1E94360B5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8311" y="1223365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T1: 12/12/24</a:t>
            </a:r>
          </a:p>
          <a:p>
            <a:pPr algn="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T2: 11/12/24</a:t>
            </a:r>
          </a:p>
          <a:p>
            <a:pPr algn="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T3: 11/12/24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181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268463" y="352525"/>
            <a:ext cx="875823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569" tIns="49785" rIns="99569" bIns="49785" anchor="ctr"/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8.2.1 TEOREMAS DE THEVENIN Y NORTON</a:t>
            </a:r>
          </a:p>
        </p:txBody>
      </p:sp>
      <p:sp>
        <p:nvSpPr>
          <p:cNvPr id="19496" name="Text Box 6"/>
          <p:cNvSpPr txBox="1">
            <a:spLocks noChangeArrowheads="1"/>
          </p:cNvSpPr>
          <p:nvPr/>
        </p:nvSpPr>
        <p:spPr bwMode="auto">
          <a:xfrm>
            <a:off x="6669611" y="4200990"/>
            <a:ext cx="2341562" cy="7620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535" tIns="75600" rIns="76535" bIns="756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rgbClr val="FFFFFF"/>
                </a:solidFill>
                <a:latin typeface="Comic Sans MS" panose="030F0702030302020204" pitchFamily="66" charset="0"/>
              </a:rPr>
              <a:t>EQUIVALENTE NORTON</a:t>
            </a:r>
          </a:p>
        </p:txBody>
      </p:sp>
      <p:grpSp>
        <p:nvGrpSpPr>
          <p:cNvPr id="19497" name="Group 105"/>
          <p:cNvGrpSpPr>
            <a:grpSpLocks/>
          </p:cNvGrpSpPr>
          <p:nvPr/>
        </p:nvGrpSpPr>
        <p:grpSpPr bwMode="auto">
          <a:xfrm>
            <a:off x="8980488" y="2299255"/>
            <a:ext cx="1243012" cy="2157412"/>
            <a:chOff x="5453" y="1417"/>
            <a:chExt cx="783" cy="1359"/>
          </a:xfrm>
        </p:grpSpPr>
        <p:sp>
          <p:nvSpPr>
            <p:cNvPr id="19498" name="Line 29"/>
            <p:cNvSpPr>
              <a:spLocks noChangeShapeType="1"/>
            </p:cNvSpPr>
            <p:nvPr/>
          </p:nvSpPr>
          <p:spPr bwMode="auto">
            <a:xfrm flipV="1">
              <a:off x="6119" y="2298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9499" name="Line 30"/>
            <p:cNvSpPr>
              <a:spLocks noChangeShapeType="1"/>
            </p:cNvSpPr>
            <p:nvPr/>
          </p:nvSpPr>
          <p:spPr bwMode="auto">
            <a:xfrm rot="5400000">
              <a:off x="5933" y="2409"/>
              <a:ext cx="0" cy="37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9500" name="Line 31"/>
            <p:cNvSpPr>
              <a:spLocks noChangeShapeType="1"/>
            </p:cNvSpPr>
            <p:nvPr/>
          </p:nvSpPr>
          <p:spPr bwMode="auto">
            <a:xfrm flipV="1">
              <a:off x="6112" y="1675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grpSp>
          <p:nvGrpSpPr>
            <p:cNvPr id="19501" name="Group 129"/>
            <p:cNvGrpSpPr>
              <a:grpSpLocks/>
            </p:cNvGrpSpPr>
            <p:nvPr/>
          </p:nvGrpSpPr>
          <p:grpSpPr bwMode="auto">
            <a:xfrm>
              <a:off x="5832" y="1709"/>
              <a:ext cx="404" cy="585"/>
              <a:chOff x="5824" y="1588"/>
              <a:chExt cx="404" cy="585"/>
            </a:xfrm>
          </p:grpSpPr>
          <p:sp>
            <p:nvSpPr>
              <p:cNvPr id="19511" name="Freeform 32"/>
              <p:cNvSpPr>
                <a:spLocks/>
              </p:cNvSpPr>
              <p:nvPr/>
            </p:nvSpPr>
            <p:spPr bwMode="auto">
              <a:xfrm>
                <a:off x="5992" y="1868"/>
                <a:ext cx="236" cy="305"/>
              </a:xfrm>
              <a:custGeom>
                <a:avLst/>
                <a:gdLst>
                  <a:gd name="T0" fmla="*/ 2 w 288"/>
                  <a:gd name="T1" fmla="*/ 2 h 384"/>
                  <a:gd name="T2" fmla="*/ 0 w 288"/>
                  <a:gd name="T3" fmla="*/ 2 h 384"/>
                  <a:gd name="T4" fmla="*/ 3 w 288"/>
                  <a:gd name="T5" fmla="*/ 2 h 384"/>
                  <a:gd name="T6" fmla="*/ 0 w 288"/>
                  <a:gd name="T7" fmla="*/ 2 h 384"/>
                  <a:gd name="T8" fmla="*/ 3 w 288"/>
                  <a:gd name="T9" fmla="*/ 2 h 384"/>
                  <a:gd name="T10" fmla="*/ 0 w 288"/>
                  <a:gd name="T11" fmla="*/ 0 h 384"/>
                  <a:gd name="T12" fmla="*/ 2 w 288"/>
                  <a:gd name="T13" fmla="*/ 0 h 3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8"/>
                  <a:gd name="T22" fmla="*/ 0 h 384"/>
                  <a:gd name="T23" fmla="*/ 288 w 288"/>
                  <a:gd name="T24" fmla="*/ 384 h 3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8" h="384">
                    <a:moveTo>
                      <a:pt x="144" y="384"/>
                    </a:moveTo>
                    <a:lnTo>
                      <a:pt x="0" y="288"/>
                    </a:lnTo>
                    <a:lnTo>
                      <a:pt x="288" y="288"/>
                    </a:lnTo>
                    <a:lnTo>
                      <a:pt x="0" y="144"/>
                    </a:lnTo>
                    <a:lnTo>
                      <a:pt x="288" y="144"/>
                    </a:lnTo>
                    <a:lnTo>
                      <a:pt x="0" y="0"/>
                    </a:lnTo>
                    <a:lnTo>
                      <a:pt x="144" y="0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9512" name="Text Box 33"/>
              <p:cNvSpPr txBox="1">
                <a:spLocks noChangeArrowheads="1"/>
              </p:cNvSpPr>
              <p:nvPr/>
            </p:nvSpPr>
            <p:spPr bwMode="auto">
              <a:xfrm>
                <a:off x="5824" y="1588"/>
                <a:ext cx="25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r</a:t>
                </a:r>
                <a:r>
                  <a:rPr lang="es-ES" sz="2000" baseline="-250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N</a:t>
                </a:r>
                <a:endParaRPr lang="es-ES" sz="2000">
                  <a:solidFill>
                    <a:srgbClr val="008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9502" name="Oval 34"/>
            <p:cNvSpPr>
              <a:spLocks noChangeArrowheads="1"/>
            </p:cNvSpPr>
            <p:nvPr/>
          </p:nvSpPr>
          <p:spPr bwMode="auto">
            <a:xfrm>
              <a:off x="5722" y="1417"/>
              <a:ext cx="57" cy="61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03" name="Oval 35"/>
            <p:cNvSpPr>
              <a:spLocks noChangeArrowheads="1"/>
            </p:cNvSpPr>
            <p:nvPr/>
          </p:nvSpPr>
          <p:spPr bwMode="auto">
            <a:xfrm>
              <a:off x="5725" y="2716"/>
              <a:ext cx="55" cy="60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04" name="Line 43"/>
            <p:cNvSpPr>
              <a:spLocks noChangeShapeType="1"/>
            </p:cNvSpPr>
            <p:nvPr/>
          </p:nvSpPr>
          <p:spPr bwMode="auto">
            <a:xfrm flipV="1">
              <a:off x="5754" y="1452"/>
              <a:ext cx="0" cy="5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9505" name="Line 44"/>
            <p:cNvSpPr>
              <a:spLocks noChangeShapeType="1"/>
            </p:cNvSpPr>
            <p:nvPr/>
          </p:nvSpPr>
          <p:spPr bwMode="auto">
            <a:xfrm>
              <a:off x="5748" y="2242"/>
              <a:ext cx="0" cy="5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grpSp>
          <p:nvGrpSpPr>
            <p:cNvPr id="19506" name="Group 116"/>
            <p:cNvGrpSpPr>
              <a:grpSpLocks/>
            </p:cNvGrpSpPr>
            <p:nvPr/>
          </p:nvGrpSpPr>
          <p:grpSpPr bwMode="auto">
            <a:xfrm>
              <a:off x="5453" y="1715"/>
              <a:ext cx="414" cy="514"/>
              <a:chOff x="5445" y="1594"/>
              <a:chExt cx="414" cy="514"/>
            </a:xfrm>
          </p:grpSpPr>
          <p:sp>
            <p:nvSpPr>
              <p:cNvPr id="19508" name="Text Box 28"/>
              <p:cNvSpPr txBox="1">
                <a:spLocks noChangeArrowheads="1"/>
              </p:cNvSpPr>
              <p:nvPr/>
            </p:nvSpPr>
            <p:spPr bwMode="auto">
              <a:xfrm>
                <a:off x="5445" y="1594"/>
                <a:ext cx="26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I</a:t>
                </a:r>
                <a:r>
                  <a:rPr lang="es-ES" sz="2000" baseline="-25000">
                    <a:solidFill>
                      <a:srgbClr val="3333FF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N</a:t>
                </a:r>
                <a:endParaRPr lang="es-ES" sz="200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9509" name="Oval 45"/>
              <p:cNvSpPr>
                <a:spLocks noChangeArrowheads="1"/>
              </p:cNvSpPr>
              <p:nvPr/>
            </p:nvSpPr>
            <p:spPr bwMode="auto">
              <a:xfrm rot="-5400000">
                <a:off x="5623" y="1874"/>
                <a:ext cx="244" cy="224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510" name="Text Box 46"/>
              <p:cNvSpPr txBox="1">
                <a:spLocks noChangeArrowheads="1"/>
              </p:cNvSpPr>
              <p:nvPr/>
            </p:nvSpPr>
            <p:spPr bwMode="auto">
              <a:xfrm rot="-5400000">
                <a:off x="5636" y="1871"/>
                <a:ext cx="22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Comic Sans MS" panose="030F0702030302020204" pitchFamily="66" charset="0"/>
                    <a:sym typeface="Wingdings 3" panose="05040102010807070707" pitchFamily="18" charset="2"/>
                  </a:rPr>
                  <a:t></a:t>
                </a:r>
              </a:p>
            </p:txBody>
          </p:sp>
        </p:grpSp>
        <p:sp>
          <p:nvSpPr>
            <p:cNvPr id="19507" name="Line 47"/>
            <p:cNvSpPr>
              <a:spLocks noChangeShapeType="1"/>
            </p:cNvSpPr>
            <p:nvPr/>
          </p:nvSpPr>
          <p:spPr bwMode="auto">
            <a:xfrm rot="5400000">
              <a:off x="5933" y="1494"/>
              <a:ext cx="0" cy="37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</p:grpSp>
      <p:grpSp>
        <p:nvGrpSpPr>
          <p:cNvPr id="11382" name="Group 118"/>
          <p:cNvGrpSpPr>
            <a:grpSpLocks/>
          </p:cNvGrpSpPr>
          <p:nvPr/>
        </p:nvGrpSpPr>
        <p:grpSpPr bwMode="auto">
          <a:xfrm>
            <a:off x="2527301" y="2694543"/>
            <a:ext cx="2573338" cy="1347788"/>
            <a:chOff x="1592" y="1612"/>
            <a:chExt cx="1621" cy="849"/>
          </a:xfrm>
        </p:grpSpPr>
        <p:sp>
          <p:nvSpPr>
            <p:cNvPr id="19494" name="AutoShape 19"/>
            <p:cNvSpPr>
              <a:spLocks noChangeArrowheads="1"/>
            </p:cNvSpPr>
            <p:nvPr/>
          </p:nvSpPr>
          <p:spPr bwMode="auto">
            <a:xfrm flipH="1">
              <a:off x="2938" y="1809"/>
              <a:ext cx="275" cy="431"/>
            </a:xfrm>
            <a:prstGeom prst="rightArrow">
              <a:avLst>
                <a:gd name="adj1" fmla="val 50000"/>
                <a:gd name="adj2" fmla="val 46431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5" name="Text Box 79"/>
            <p:cNvSpPr txBox="1">
              <a:spLocks noChangeArrowheads="1"/>
            </p:cNvSpPr>
            <p:nvPr/>
          </p:nvSpPr>
          <p:spPr bwMode="auto">
            <a:xfrm>
              <a:off x="1592" y="1612"/>
              <a:ext cx="1258" cy="849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000000"/>
                  </a:solidFill>
                </a:rPr>
                <a:t>A una fuente de tensión real</a:t>
              </a:r>
            </a:p>
          </p:txBody>
        </p:sp>
      </p:grpSp>
      <p:grpSp>
        <p:nvGrpSpPr>
          <p:cNvPr id="11386" name="Group 122"/>
          <p:cNvGrpSpPr>
            <a:grpSpLocks/>
          </p:cNvGrpSpPr>
          <p:nvPr/>
        </p:nvGrpSpPr>
        <p:grpSpPr bwMode="auto">
          <a:xfrm>
            <a:off x="6440488" y="2677081"/>
            <a:ext cx="2571750" cy="1347788"/>
            <a:chOff x="4057" y="1601"/>
            <a:chExt cx="1620" cy="849"/>
          </a:xfrm>
        </p:grpSpPr>
        <p:sp>
          <p:nvSpPr>
            <p:cNvPr id="19492" name="AutoShape 19"/>
            <p:cNvSpPr>
              <a:spLocks noChangeArrowheads="1"/>
            </p:cNvSpPr>
            <p:nvPr/>
          </p:nvSpPr>
          <p:spPr bwMode="auto">
            <a:xfrm>
              <a:off x="4057" y="1809"/>
              <a:ext cx="275" cy="431"/>
            </a:xfrm>
            <a:prstGeom prst="rightArrow">
              <a:avLst>
                <a:gd name="adj1" fmla="val 50000"/>
                <a:gd name="adj2" fmla="val 46431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3" name="Text Box 82"/>
            <p:cNvSpPr txBox="1">
              <a:spLocks noChangeArrowheads="1"/>
            </p:cNvSpPr>
            <p:nvPr/>
          </p:nvSpPr>
          <p:spPr bwMode="auto">
            <a:xfrm>
              <a:off x="4410" y="1601"/>
              <a:ext cx="1267" cy="849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000000"/>
                  </a:solidFill>
                </a:rPr>
                <a:t>A una fuente de intensidad real</a:t>
              </a:r>
            </a:p>
          </p:txBody>
        </p:sp>
      </p:grpSp>
      <p:sp>
        <p:nvSpPr>
          <p:cNvPr id="11373" name="Text Box 109"/>
          <p:cNvSpPr txBox="1">
            <a:spLocks noChangeArrowheads="1"/>
          </p:cNvSpPr>
          <p:nvPr/>
        </p:nvSpPr>
        <p:spPr bwMode="auto">
          <a:xfrm>
            <a:off x="1876926" y="818262"/>
            <a:ext cx="7787614" cy="134791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 dirty="0">
                <a:solidFill>
                  <a:srgbClr val="000000"/>
                </a:solidFill>
              </a:rPr>
              <a:t>¿En corriente continua, a qué generador es equivalente un conjunto de generadores y resistencias que sean una porción de circuito con dos terminales al exterior?</a:t>
            </a:r>
          </a:p>
        </p:txBody>
      </p:sp>
      <p:grpSp>
        <p:nvGrpSpPr>
          <p:cNvPr id="11341" name="Group 77"/>
          <p:cNvGrpSpPr>
            <a:grpSpLocks/>
          </p:cNvGrpSpPr>
          <p:nvPr/>
        </p:nvGrpSpPr>
        <p:grpSpPr bwMode="auto">
          <a:xfrm>
            <a:off x="5272088" y="2261155"/>
            <a:ext cx="998537" cy="2176462"/>
            <a:chOff x="5296" y="-684"/>
            <a:chExt cx="629" cy="1371"/>
          </a:xfrm>
        </p:grpSpPr>
        <p:sp>
          <p:nvSpPr>
            <p:cNvPr id="19486" name="Rectangle 20"/>
            <p:cNvSpPr>
              <a:spLocks noChangeArrowheads="1"/>
            </p:cNvSpPr>
            <p:nvPr/>
          </p:nvSpPr>
          <p:spPr bwMode="auto">
            <a:xfrm>
              <a:off x="5296" y="-453"/>
              <a:ext cx="629" cy="905"/>
            </a:xfrm>
            <a:prstGeom prst="rect">
              <a:avLst/>
            </a:prstGeom>
            <a:solidFill>
              <a:srgbClr val="CCFFCC"/>
            </a:solidFill>
            <a:ln w="254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87" name="Line 21"/>
            <p:cNvSpPr>
              <a:spLocks noChangeShapeType="1"/>
            </p:cNvSpPr>
            <p:nvPr/>
          </p:nvSpPr>
          <p:spPr bwMode="auto">
            <a:xfrm>
              <a:off x="5611" y="447"/>
              <a:ext cx="0" cy="20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9488" name="Line 22"/>
            <p:cNvSpPr>
              <a:spLocks noChangeShapeType="1"/>
            </p:cNvSpPr>
            <p:nvPr/>
          </p:nvSpPr>
          <p:spPr bwMode="auto">
            <a:xfrm flipV="1">
              <a:off x="5611" y="-655"/>
              <a:ext cx="0" cy="20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9489" name="Oval 23"/>
            <p:cNvSpPr>
              <a:spLocks noChangeArrowheads="1"/>
            </p:cNvSpPr>
            <p:nvPr/>
          </p:nvSpPr>
          <p:spPr bwMode="auto">
            <a:xfrm>
              <a:off x="5583" y="-684"/>
              <a:ext cx="56" cy="60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0" name="Oval 24"/>
            <p:cNvSpPr>
              <a:spLocks noChangeArrowheads="1"/>
            </p:cNvSpPr>
            <p:nvPr/>
          </p:nvSpPr>
          <p:spPr bwMode="auto">
            <a:xfrm>
              <a:off x="5583" y="626"/>
              <a:ext cx="56" cy="61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1" name="Text Box 25"/>
            <p:cNvSpPr txBox="1">
              <a:spLocks noChangeArrowheads="1"/>
            </p:cNvSpPr>
            <p:nvPr/>
          </p:nvSpPr>
          <p:spPr bwMode="auto">
            <a:xfrm>
              <a:off x="5306" y="-291"/>
              <a:ext cx="612" cy="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Porción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de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circuito</a:t>
              </a:r>
            </a:p>
          </p:txBody>
        </p:sp>
      </p:grpSp>
      <p:sp>
        <p:nvSpPr>
          <p:cNvPr id="19471" name="Text Box 5"/>
          <p:cNvSpPr txBox="1">
            <a:spLocks noChangeArrowheads="1"/>
          </p:cNvSpPr>
          <p:nvPr/>
        </p:nvSpPr>
        <p:spPr bwMode="auto">
          <a:xfrm>
            <a:off x="2528888" y="4204255"/>
            <a:ext cx="2355850" cy="762000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535" tIns="75600" rIns="76535" bIns="756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rgbClr val="FFFFFF"/>
                </a:solidFill>
                <a:latin typeface="Comic Sans MS" panose="030F0702030302020204" pitchFamily="66" charset="0"/>
              </a:rPr>
              <a:t>EQUIVALENTE THEVENIN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1330325" y="2294492"/>
            <a:ext cx="1001713" cy="2159000"/>
            <a:chOff x="1330325" y="2417780"/>
            <a:chExt cx="1001713" cy="2159000"/>
          </a:xfrm>
        </p:grpSpPr>
        <p:grpSp>
          <p:nvGrpSpPr>
            <p:cNvPr id="19472" name="Group 103"/>
            <p:cNvGrpSpPr>
              <a:grpSpLocks/>
            </p:cNvGrpSpPr>
            <p:nvPr/>
          </p:nvGrpSpPr>
          <p:grpSpPr bwMode="auto">
            <a:xfrm>
              <a:off x="1330325" y="2417780"/>
              <a:ext cx="1001713" cy="2159000"/>
              <a:chOff x="982" y="1384"/>
              <a:chExt cx="631" cy="1360"/>
            </a:xfrm>
          </p:grpSpPr>
          <p:grpSp>
            <p:nvGrpSpPr>
              <p:cNvPr id="19473" name="Group 114"/>
              <p:cNvGrpSpPr>
                <a:grpSpLocks/>
              </p:cNvGrpSpPr>
              <p:nvPr/>
            </p:nvGrpSpPr>
            <p:grpSpPr bwMode="auto">
              <a:xfrm>
                <a:off x="989" y="2189"/>
                <a:ext cx="624" cy="242"/>
                <a:chOff x="2221" y="2085"/>
                <a:chExt cx="624" cy="242"/>
              </a:xfrm>
            </p:grpSpPr>
            <p:grpSp>
              <p:nvGrpSpPr>
                <p:cNvPr id="19482" name="Group 8"/>
                <p:cNvGrpSpPr>
                  <a:grpSpLocks/>
                </p:cNvGrpSpPr>
                <p:nvPr/>
              </p:nvGrpSpPr>
              <p:grpSpPr bwMode="auto">
                <a:xfrm>
                  <a:off x="2567" y="2251"/>
                  <a:ext cx="278" cy="48"/>
                  <a:chOff x="1619" y="2634"/>
                  <a:chExt cx="340" cy="54"/>
                </a:xfrm>
              </p:grpSpPr>
              <p:sp>
                <p:nvSpPr>
                  <p:cNvPr id="19484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1619" y="2634"/>
                    <a:ext cx="340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90000" tIns="46800" rIns="90000" bIns="46800" anchorCtr="1"/>
                  <a:lstStyle/>
                  <a:p>
                    <a:endParaRPr lang="en-GB"/>
                  </a:p>
                </p:txBody>
              </p:sp>
              <p:sp>
                <p:nvSpPr>
                  <p:cNvPr id="19485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1676" y="2688"/>
                    <a:ext cx="206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90000" tIns="46800" rIns="90000" bIns="46800" anchorCtr="1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948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221" y="2085"/>
                  <a:ext cx="297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6535" tIns="39797" rIns="76535" bIns="39797" anchorCtr="1"/>
                <a:lstStyle>
                  <a:lvl1pPr defTabSz="777875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777875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777875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777875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77875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FF3300"/>
                      </a:solidFill>
                      <a:latin typeface="Comic Sans MS" panose="030F0702030302020204" pitchFamily="66" charset="0"/>
                      <a:sym typeface="Symbol" panose="05050102010706020507" pitchFamily="18" charset="2"/>
                    </a:rPr>
                    <a:t></a:t>
                  </a:r>
                  <a:r>
                    <a:rPr lang="es-ES" sz="2000" baseline="-25000">
                      <a:solidFill>
                        <a:srgbClr val="FF3300"/>
                      </a:solidFill>
                      <a:latin typeface="Comic Sans MS" panose="030F0702030302020204" pitchFamily="66" charset="0"/>
                      <a:sym typeface="Symbol" panose="05050102010706020507" pitchFamily="18" charset="2"/>
                    </a:rPr>
                    <a:t>Th</a:t>
                  </a:r>
                  <a:endParaRPr lang="es-ES" sz="2000">
                    <a:solidFill>
                      <a:srgbClr val="FF33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19474" name="Line 12"/>
              <p:cNvSpPr>
                <a:spLocks noChangeShapeType="1"/>
              </p:cNvSpPr>
              <p:nvPr/>
            </p:nvSpPr>
            <p:spPr bwMode="auto">
              <a:xfrm flipV="1">
                <a:off x="1460" y="2037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9475" name="Line 13"/>
              <p:cNvSpPr>
                <a:spLocks noChangeShapeType="1"/>
              </p:cNvSpPr>
              <p:nvPr/>
            </p:nvSpPr>
            <p:spPr bwMode="auto">
              <a:xfrm>
                <a:off x="1460" y="2393"/>
                <a:ext cx="0" cy="306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9476" name="Line 14"/>
              <p:cNvSpPr>
                <a:spLocks noChangeShapeType="1"/>
              </p:cNvSpPr>
              <p:nvPr/>
            </p:nvSpPr>
            <p:spPr bwMode="auto">
              <a:xfrm flipV="1">
                <a:off x="1460" y="1414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grpSp>
            <p:nvGrpSpPr>
              <p:cNvPr id="19477" name="Group 117"/>
              <p:cNvGrpSpPr>
                <a:grpSpLocks/>
              </p:cNvGrpSpPr>
              <p:nvPr/>
            </p:nvGrpSpPr>
            <p:grpSpPr bwMode="auto">
              <a:xfrm>
                <a:off x="982" y="1702"/>
                <a:ext cx="606" cy="330"/>
                <a:chOff x="2214" y="1597"/>
                <a:chExt cx="606" cy="330"/>
              </a:xfrm>
            </p:grpSpPr>
            <p:sp>
              <p:nvSpPr>
                <p:cNvPr id="19480" name="Freeform 15"/>
                <p:cNvSpPr>
                  <a:spLocks/>
                </p:cNvSpPr>
                <p:nvPr/>
              </p:nvSpPr>
              <p:spPr bwMode="auto">
                <a:xfrm>
                  <a:off x="2583" y="1622"/>
                  <a:ext cx="237" cy="305"/>
                </a:xfrm>
                <a:custGeom>
                  <a:avLst/>
                  <a:gdLst>
                    <a:gd name="T0" fmla="*/ 2 w 288"/>
                    <a:gd name="T1" fmla="*/ 2 h 384"/>
                    <a:gd name="T2" fmla="*/ 0 w 288"/>
                    <a:gd name="T3" fmla="*/ 2 h 384"/>
                    <a:gd name="T4" fmla="*/ 4 w 288"/>
                    <a:gd name="T5" fmla="*/ 2 h 384"/>
                    <a:gd name="T6" fmla="*/ 0 w 288"/>
                    <a:gd name="T7" fmla="*/ 2 h 384"/>
                    <a:gd name="T8" fmla="*/ 4 w 288"/>
                    <a:gd name="T9" fmla="*/ 2 h 384"/>
                    <a:gd name="T10" fmla="*/ 0 w 288"/>
                    <a:gd name="T11" fmla="*/ 0 h 384"/>
                    <a:gd name="T12" fmla="*/ 2 w 288"/>
                    <a:gd name="T13" fmla="*/ 0 h 38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8"/>
                    <a:gd name="T22" fmla="*/ 0 h 384"/>
                    <a:gd name="T23" fmla="*/ 288 w 288"/>
                    <a:gd name="T24" fmla="*/ 384 h 38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8" h="384">
                      <a:moveTo>
                        <a:pt x="144" y="384"/>
                      </a:moveTo>
                      <a:lnTo>
                        <a:pt x="0" y="288"/>
                      </a:lnTo>
                      <a:lnTo>
                        <a:pt x="288" y="288"/>
                      </a:lnTo>
                      <a:lnTo>
                        <a:pt x="0" y="144"/>
                      </a:lnTo>
                      <a:lnTo>
                        <a:pt x="288" y="144"/>
                      </a:lnTo>
                      <a:lnTo>
                        <a:pt x="0" y="0"/>
                      </a:lnTo>
                      <a:lnTo>
                        <a:pt x="144" y="0"/>
                      </a:lnTo>
                    </a:path>
                  </a:pathLst>
                </a:cu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19481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2214" y="1597"/>
                  <a:ext cx="304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6535" tIns="39797" rIns="76535" bIns="39797" anchorCtr="1"/>
                <a:lstStyle>
                  <a:lvl1pPr defTabSz="777875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777875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777875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777875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77875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8000"/>
                      </a:solidFill>
                      <a:latin typeface="Comic Sans MS" panose="030F0702030302020204" pitchFamily="66" charset="0"/>
                    </a:rPr>
                    <a:t>r</a:t>
                  </a:r>
                  <a:r>
                    <a:rPr lang="es-ES" sz="2000" baseline="-25000">
                      <a:solidFill>
                        <a:srgbClr val="008000"/>
                      </a:solidFill>
                      <a:latin typeface="Comic Sans MS" panose="030F0702030302020204" pitchFamily="66" charset="0"/>
                    </a:rPr>
                    <a:t>Th</a:t>
                  </a:r>
                  <a:endParaRPr lang="es-ES" sz="2000">
                    <a:solidFill>
                      <a:srgbClr val="008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19478" name="Oval 17"/>
              <p:cNvSpPr>
                <a:spLocks noChangeArrowheads="1"/>
              </p:cNvSpPr>
              <p:nvPr/>
            </p:nvSpPr>
            <p:spPr bwMode="auto">
              <a:xfrm>
                <a:off x="1428" y="1384"/>
                <a:ext cx="56" cy="61"/>
              </a:xfrm>
              <a:prstGeom prst="ellipse">
                <a:avLst/>
              </a:prstGeom>
              <a:solidFill>
                <a:srgbClr val="0000FF"/>
              </a:solidFill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79" name="Oval 18"/>
              <p:cNvSpPr>
                <a:spLocks noChangeArrowheads="1"/>
              </p:cNvSpPr>
              <p:nvPr/>
            </p:nvSpPr>
            <p:spPr bwMode="auto">
              <a:xfrm>
                <a:off x="1432" y="2682"/>
                <a:ext cx="56" cy="62"/>
              </a:xfrm>
              <a:prstGeom prst="ellipse">
                <a:avLst/>
              </a:prstGeom>
              <a:solidFill>
                <a:srgbClr val="0000FF"/>
              </a:solidFill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469" name="CuadroTexto 4"/>
            <p:cNvSpPr txBox="1">
              <a:spLocks noChangeArrowheads="1"/>
            </p:cNvSpPr>
            <p:nvPr/>
          </p:nvSpPr>
          <p:spPr bwMode="auto">
            <a:xfrm>
              <a:off x="1681281" y="3635393"/>
              <a:ext cx="3333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/>
                <a:t>+</a:t>
              </a:r>
            </a:p>
          </p:txBody>
        </p:sp>
        <p:sp>
          <p:nvSpPr>
            <p:cNvPr id="19470" name="CuadroTexto 131"/>
            <p:cNvSpPr txBox="1">
              <a:spLocks noChangeArrowheads="1"/>
            </p:cNvSpPr>
            <p:nvPr/>
          </p:nvSpPr>
          <p:spPr bwMode="auto">
            <a:xfrm>
              <a:off x="1707440" y="3913308"/>
              <a:ext cx="2698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/>
                <a:t>-</a:t>
              </a:r>
            </a:p>
          </p:txBody>
        </p:sp>
      </p:grpSp>
      <p:sp>
        <p:nvSpPr>
          <p:cNvPr id="61" name="Text Box 92">
            <a:extLst>
              <a:ext uri="{FF2B5EF4-FFF2-40B4-BE49-F238E27FC236}">
                <a16:creationId xmlns:a16="http://schemas.microsoft.com/office/drawing/2014/main" id="{431B582E-6A4D-4ADC-8318-99512B8F5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7977" y="5058537"/>
            <a:ext cx="6612206" cy="97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="ctr" anchorCtr="0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</a:rPr>
              <a:t>Los Teoremas de </a:t>
            </a:r>
            <a:r>
              <a:rPr lang="es-ES" sz="2400" dirty="0" err="1">
                <a:solidFill>
                  <a:srgbClr val="000000"/>
                </a:solidFill>
              </a:rPr>
              <a:t>Thevenin</a:t>
            </a:r>
            <a:r>
              <a:rPr lang="es-ES" sz="2400" dirty="0">
                <a:solidFill>
                  <a:srgbClr val="000000"/>
                </a:solidFill>
              </a:rPr>
              <a:t> y Norton indican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000000"/>
                </a:solidFill>
              </a:rPr>
              <a:t>  como obtener los equivalentes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3" name="Text Box 100">
            <a:extLst>
              <a:ext uri="{FF2B5EF4-FFF2-40B4-BE49-F238E27FC236}">
                <a16:creationId xmlns:a16="http://schemas.microsoft.com/office/drawing/2014/main" id="{D94B67E1-01AE-6C8F-9B54-4A7EC7B10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873" y="5974226"/>
            <a:ext cx="9479227" cy="97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chemeClr val="tx1"/>
                </a:solidFill>
              </a:rPr>
              <a:t>En </a:t>
            </a:r>
            <a:r>
              <a:rPr lang="es-ES" sz="2400" dirty="0"/>
              <a:t>alterna</a:t>
            </a:r>
            <a:r>
              <a:rPr lang="es-ES" sz="2400" dirty="0">
                <a:solidFill>
                  <a:schemeClr val="tx1"/>
                </a:solidFill>
              </a:rPr>
              <a:t> también </a:t>
            </a:r>
            <a:r>
              <a:rPr lang="es-ES" sz="2400">
                <a:solidFill>
                  <a:schemeClr val="tx1"/>
                </a:solidFill>
              </a:rPr>
              <a:t>se aplican: </a:t>
            </a:r>
            <a:r>
              <a:rPr lang="es-ES" sz="2400" dirty="0">
                <a:solidFill>
                  <a:schemeClr val="tx1"/>
                </a:solidFill>
              </a:rPr>
              <a:t>Aparecen impedancias de R, C y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  L, y valores eficaces, o amplitudes, de tensiones e intensidades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96" grpId="0" animBg="1"/>
      <p:bldP spid="11373" grpId="0" animBg="1"/>
      <p:bldP spid="19471" grpId="0" animBg="1"/>
      <p:bldP spid="61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100">
            <a:extLst>
              <a:ext uri="{FF2B5EF4-FFF2-40B4-BE49-F238E27FC236}">
                <a16:creationId xmlns:a16="http://schemas.microsoft.com/office/drawing/2014/main" id="{A4BBDE1E-B2C3-4CB7-9FEA-8F34F54EB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9573" y="402022"/>
            <a:ext cx="8960556" cy="97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chemeClr val="tx1"/>
                </a:solidFill>
              </a:rPr>
              <a:t>Se </a:t>
            </a:r>
            <a:r>
              <a:rPr lang="es-ES" sz="2400" dirty="0">
                <a:solidFill>
                  <a:schemeClr val="tx1"/>
                </a:solidFill>
              </a:rPr>
              <a:t>verifican si los </a:t>
            </a:r>
            <a:r>
              <a:rPr lang="es-ES" sz="2400" dirty="0"/>
              <a:t>componentes</a:t>
            </a:r>
            <a:r>
              <a:rPr lang="es-ES" sz="2400" dirty="0">
                <a:solidFill>
                  <a:schemeClr val="tx1"/>
                </a:solidFill>
              </a:rPr>
              <a:t> de la porción </a:t>
            </a:r>
            <a:r>
              <a:rPr lang="es-ES" sz="2400">
                <a:solidFill>
                  <a:schemeClr val="tx1"/>
                </a:solidFill>
              </a:rPr>
              <a:t>son </a:t>
            </a:r>
            <a:r>
              <a:rPr lang="es-ES" sz="2400"/>
              <a:t>lineales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 si en una gráfica V-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hay una recta, un comportamiento lineal</a:t>
            </a:r>
            <a:endParaRPr lang="es-ES" sz="2400" dirty="0"/>
          </a:p>
        </p:txBody>
      </p:sp>
      <p:sp>
        <p:nvSpPr>
          <p:cNvPr id="4" name="Text Box 92">
            <a:extLst>
              <a:ext uri="{FF2B5EF4-FFF2-40B4-BE49-F238E27FC236}">
                <a16:creationId xmlns:a16="http://schemas.microsoft.com/office/drawing/2014/main" id="{A1BDDE68-09C2-5033-D00B-F6FE4D486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537" y="4000189"/>
            <a:ext cx="9158941" cy="97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="ctr" anchorCtr="0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En </a:t>
            </a:r>
            <a:r>
              <a:rPr lang="es-ES" sz="2400" dirty="0">
                <a:sym typeface="Symbol" panose="05050102010706020507" pitchFamily="18" charset="2"/>
              </a:rPr>
              <a:t>continua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se pueden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incluir condensadores y bobinas, porque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 las L </a:t>
            </a:r>
            <a:r>
              <a:rPr lang="es-ES" sz="2400">
                <a:solidFill>
                  <a:schemeClr val="tx1"/>
                </a:solidFill>
              </a:rPr>
              <a:t>serían equivalentes a una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R = 0 y l</a:t>
            </a:r>
            <a:r>
              <a:rPr lang="es-ES" sz="2400">
                <a:solidFill>
                  <a:schemeClr val="tx1"/>
                </a:solidFill>
              </a:rPr>
              <a:t>os C a una R =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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14" name="Text Box 79">
            <a:extLst>
              <a:ext uri="{FF2B5EF4-FFF2-40B4-BE49-F238E27FC236}">
                <a16:creationId xmlns:a16="http://schemas.microsoft.com/office/drawing/2014/main" id="{D4C65C1A-1639-243D-E71B-037386494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813" y="1414773"/>
            <a:ext cx="2655887" cy="609252"/>
          </a:xfrm>
          <a:prstGeom prst="rect">
            <a:avLst/>
          </a:prstGeom>
          <a:solidFill>
            <a:srgbClr val="3333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FFFFFF"/>
                </a:solidFill>
              </a:rPr>
              <a:t>Fuente de V ideal</a:t>
            </a:r>
          </a:p>
        </p:txBody>
      </p:sp>
      <p:sp>
        <p:nvSpPr>
          <p:cNvPr id="15" name="Text Box 79">
            <a:extLst>
              <a:ext uri="{FF2B5EF4-FFF2-40B4-BE49-F238E27FC236}">
                <a16:creationId xmlns:a16="http://schemas.microsoft.com/office/drawing/2014/main" id="{761ABC75-703F-1BE6-8D03-2BA2A5C1A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6438" y="1414773"/>
            <a:ext cx="2655887" cy="609252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FFFFFF"/>
                </a:solidFill>
              </a:rPr>
              <a:t>Fuente de </a:t>
            </a:r>
            <a:r>
              <a:rPr lang="es-ES" sz="2400">
                <a:solidFill>
                  <a:srgbClr val="FFFFFF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rgbClr val="FFFFFF"/>
                </a:solidFill>
              </a:rPr>
              <a:t> ideal</a:t>
            </a:r>
          </a:p>
        </p:txBody>
      </p:sp>
      <p:sp>
        <p:nvSpPr>
          <p:cNvPr id="16" name="Text Box 79">
            <a:extLst>
              <a:ext uri="{FF2B5EF4-FFF2-40B4-BE49-F238E27FC236}">
                <a16:creationId xmlns:a16="http://schemas.microsoft.com/office/drawing/2014/main" id="{2BFE39FF-C5C7-F264-388D-3C97DF31E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2063" y="1414773"/>
            <a:ext cx="2655887" cy="609252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000000"/>
                </a:solidFill>
              </a:rPr>
              <a:t>R óhmica</a:t>
            </a:r>
          </a:p>
        </p:txBody>
      </p:sp>
      <p:sp>
        <p:nvSpPr>
          <p:cNvPr id="17" name="Text Box 79">
            <a:extLst>
              <a:ext uri="{FF2B5EF4-FFF2-40B4-BE49-F238E27FC236}">
                <a16:creationId xmlns:a16="http://schemas.microsoft.com/office/drawing/2014/main" id="{97739FF8-7ADC-478E-9A0E-EE12909E9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465" y="5450247"/>
            <a:ext cx="1259703" cy="978584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000000"/>
                </a:solidFill>
              </a:rPr>
              <a:t>C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000000"/>
                </a:solidFill>
              </a:rPr>
              <a:t>(R </a:t>
            </a:r>
            <a:r>
              <a:rPr lang="es-ES" sz="2400">
                <a:solidFill>
                  <a:schemeClr val="tx1"/>
                </a:solidFill>
              </a:rPr>
              <a:t>=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)</a:t>
            </a:r>
            <a:endParaRPr lang="es-ES" sz="2400">
              <a:solidFill>
                <a:srgbClr val="000000"/>
              </a:solidFill>
            </a:endParaRPr>
          </a:p>
        </p:txBody>
      </p:sp>
      <p:sp>
        <p:nvSpPr>
          <p:cNvPr id="18" name="Text Box 79">
            <a:extLst>
              <a:ext uri="{FF2B5EF4-FFF2-40B4-BE49-F238E27FC236}">
                <a16:creationId xmlns:a16="http://schemas.microsoft.com/office/drawing/2014/main" id="{19E4A525-244B-FB88-1F53-AF5083ACB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2619" y="5450247"/>
            <a:ext cx="1259702" cy="978584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000000"/>
                </a:solidFill>
              </a:rPr>
              <a:t>L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000000"/>
                </a:solidFill>
              </a:rPr>
              <a:t>(R = 0)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C6CA672D-F426-BC2D-C9D8-96AF702F6E39}"/>
              </a:ext>
            </a:extLst>
          </p:cNvPr>
          <p:cNvGrpSpPr/>
          <p:nvPr/>
        </p:nvGrpSpPr>
        <p:grpSpPr>
          <a:xfrm>
            <a:off x="7775230" y="2060524"/>
            <a:ext cx="2254595" cy="1695265"/>
            <a:chOff x="1622427" y="1892182"/>
            <a:chExt cx="2254595" cy="1695265"/>
          </a:xfrm>
        </p:grpSpPr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89E4BE64-F735-3469-5D03-0784D37AF041}"/>
                </a:ext>
              </a:extLst>
            </p:cNvPr>
            <p:cNvSpPr/>
            <p:nvPr/>
          </p:nvSpPr>
          <p:spPr bwMode="auto">
            <a:xfrm>
              <a:off x="1631952" y="1939807"/>
              <a:ext cx="2245070" cy="164764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A05638E8-0974-7271-881D-555D522ED89B}"/>
                </a:ext>
              </a:extLst>
            </p:cNvPr>
            <p:cNvGrpSpPr/>
            <p:nvPr/>
          </p:nvGrpSpPr>
          <p:grpSpPr>
            <a:xfrm>
              <a:off x="1622427" y="1892182"/>
              <a:ext cx="2254595" cy="1647640"/>
              <a:chOff x="1508127" y="2235082"/>
              <a:chExt cx="2254595" cy="1647640"/>
            </a:xfrm>
          </p:grpSpPr>
          <p:grpSp>
            <p:nvGrpSpPr>
              <p:cNvPr id="43" name="Grupo 42">
                <a:extLst>
                  <a:ext uri="{FF2B5EF4-FFF2-40B4-BE49-F238E27FC236}">
                    <a16:creationId xmlns:a16="http://schemas.microsoft.com/office/drawing/2014/main" id="{5AA94113-CC5A-95FC-EE35-E59015195CED}"/>
                  </a:ext>
                </a:extLst>
              </p:cNvPr>
              <p:cNvGrpSpPr/>
              <p:nvPr/>
            </p:nvGrpSpPr>
            <p:grpSpPr>
              <a:xfrm>
                <a:off x="1508127" y="2235082"/>
                <a:ext cx="2254595" cy="1647640"/>
                <a:chOff x="1508127" y="2244607"/>
                <a:chExt cx="2254595" cy="1647640"/>
              </a:xfrm>
            </p:grpSpPr>
            <p:cxnSp>
              <p:nvCxnSpPr>
                <p:cNvPr id="46" name="Conector recto 45">
                  <a:extLst>
                    <a:ext uri="{FF2B5EF4-FFF2-40B4-BE49-F238E27FC236}">
                      <a16:creationId xmlns:a16="http://schemas.microsoft.com/office/drawing/2014/main" id="{AFA2D497-165A-E5DA-00DF-54727F798D29}"/>
                    </a:ext>
                  </a:extLst>
                </p:cNvPr>
                <p:cNvCxnSpPr/>
                <p:nvPr/>
              </p:nvCxnSpPr>
              <p:spPr bwMode="auto">
                <a:xfrm>
                  <a:off x="1952625" y="2521990"/>
                  <a:ext cx="0" cy="1080597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cxnSp>
              <p:nvCxnSpPr>
                <p:cNvPr id="47" name="Conector recto 46">
                  <a:extLst>
                    <a:ext uri="{FF2B5EF4-FFF2-40B4-BE49-F238E27FC236}">
                      <a16:creationId xmlns:a16="http://schemas.microsoft.com/office/drawing/2014/main" id="{48835E27-A872-6AA8-55E1-6CA4ECBA45E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5400000">
                  <a:off x="2665761" y="2893954"/>
                  <a:ext cx="0" cy="1438275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sp>
              <p:nvSpPr>
                <p:cNvPr id="48" name="Text Box 79">
                  <a:extLst>
                    <a:ext uri="{FF2B5EF4-FFF2-40B4-BE49-F238E27FC236}">
                      <a16:creationId xmlns:a16="http://schemas.microsoft.com/office/drawing/2014/main" id="{7D24DE14-0CBF-9F98-1005-1F39B81C8B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08127" y="2244607"/>
                  <a:ext cx="455612" cy="5476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square" lIns="90000" tIns="118800" rIns="90000" bIns="118800" anchorCtr="1">
                  <a:spAutoFit/>
                </a:bodyPr>
                <a:lstStyle>
                  <a:lvl1pPr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s-ES">
                      <a:solidFill>
                        <a:srgbClr val="000000"/>
                      </a:solidFill>
                    </a:rPr>
                    <a:t>V</a:t>
                  </a:r>
                </a:p>
              </p:txBody>
            </p:sp>
            <p:sp>
              <p:nvSpPr>
                <p:cNvPr id="49" name="Text Box 79">
                  <a:extLst>
                    <a:ext uri="{FF2B5EF4-FFF2-40B4-BE49-F238E27FC236}">
                      <a16:creationId xmlns:a16="http://schemas.microsoft.com/office/drawing/2014/main" id="{5D46319C-7B90-930A-B54F-A8BA65692D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07110" y="3344550"/>
                  <a:ext cx="455612" cy="5476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square" lIns="90000" tIns="118800" rIns="90000" bIns="118800" anchorCtr="1">
                  <a:spAutoFit/>
                </a:bodyPr>
                <a:lstStyle>
                  <a:lvl1pPr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s-ES" sz="2000">
                      <a:solidFill>
                        <a:srgbClr val="000000"/>
                      </a:solidFill>
                      <a:latin typeface="Comic Sans MS" panose="030F0702030302020204" pitchFamily="66" charset="0"/>
                    </a:rPr>
                    <a:t>I</a:t>
                  </a:r>
                  <a:endParaRPr lang="es-ES">
                    <a:solidFill>
                      <a:srgbClr val="000000"/>
                    </a:solidFill>
                  </a:endParaRPr>
                </a:p>
              </p:txBody>
            </p:sp>
          </p:grpSp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FF3CEF12-A138-8AB3-5BB1-EE16ECF5059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962152" y="2943096"/>
                <a:ext cx="1362420" cy="653915"/>
              </a:xfrm>
              <a:prstGeom prst="line">
                <a:avLst/>
              </a:prstGeom>
              <a:noFill/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lg" len="lg"/>
              </a:ln>
              <a:effectLst/>
            </p:spPr>
          </p:cxnSp>
          <p:sp>
            <p:nvSpPr>
              <p:cNvPr id="45" name="Text Box 79">
                <a:extLst>
                  <a:ext uri="{FF2B5EF4-FFF2-40B4-BE49-F238E27FC236}">
                    <a16:creationId xmlns:a16="http://schemas.microsoft.com/office/drawing/2014/main" id="{B82F0C6A-5C2C-4E84-639C-28450934F5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5692" y="2616220"/>
                <a:ext cx="1188687" cy="5476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118800" rIns="90000" bIns="118800" anchorCtr="1">
                <a:spAutoFit/>
              </a:bodyPr>
              <a:lstStyle>
                <a:lvl1pPr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>
                    <a:latin typeface="Comic Sans MS" panose="030F0702030302020204" pitchFamily="66" charset="0"/>
                    <a:sym typeface="Symbol" panose="05050102010706020507" pitchFamily="18" charset="2"/>
                  </a:rPr>
                  <a:t>V = R I</a:t>
                </a:r>
                <a:endParaRPr lang="es-ES" sz="2400">
                  <a:latin typeface="Comic Sans MS" panose="030F0702030302020204" pitchFamily="66" charset="0"/>
                </a:endParaRPr>
              </a:p>
            </p:txBody>
          </p:sp>
        </p:grp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3AC301F7-0737-E8DF-266F-19A40D8F385F}"/>
              </a:ext>
            </a:extLst>
          </p:cNvPr>
          <p:cNvGrpSpPr/>
          <p:nvPr/>
        </p:nvGrpSpPr>
        <p:grpSpPr>
          <a:xfrm>
            <a:off x="7783610" y="5070851"/>
            <a:ext cx="2254595" cy="1695265"/>
            <a:chOff x="1622427" y="1892182"/>
            <a:chExt cx="2254595" cy="1695265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BBE76082-6293-EEC0-09FC-23610E781F7F}"/>
                </a:ext>
              </a:extLst>
            </p:cNvPr>
            <p:cNvSpPr/>
            <p:nvPr/>
          </p:nvSpPr>
          <p:spPr bwMode="auto">
            <a:xfrm>
              <a:off x="1631952" y="1939807"/>
              <a:ext cx="2245070" cy="164764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761889E6-060F-AFD9-657A-65AE9205A3F4}"/>
                </a:ext>
              </a:extLst>
            </p:cNvPr>
            <p:cNvGrpSpPr/>
            <p:nvPr/>
          </p:nvGrpSpPr>
          <p:grpSpPr>
            <a:xfrm>
              <a:off x="1622427" y="1892182"/>
              <a:ext cx="2254595" cy="1647640"/>
              <a:chOff x="1508127" y="2235082"/>
              <a:chExt cx="2254595" cy="1647640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866783E9-15C8-F804-F8DF-7F8DD01B35B0}"/>
                  </a:ext>
                </a:extLst>
              </p:cNvPr>
              <p:cNvGrpSpPr/>
              <p:nvPr/>
            </p:nvGrpSpPr>
            <p:grpSpPr>
              <a:xfrm>
                <a:off x="1508127" y="2235082"/>
                <a:ext cx="2254595" cy="1647640"/>
                <a:chOff x="1508127" y="2244607"/>
                <a:chExt cx="2254595" cy="1647640"/>
              </a:xfrm>
            </p:grpSpPr>
            <p:cxnSp>
              <p:nvCxnSpPr>
                <p:cNvPr id="57" name="Conector recto 56">
                  <a:extLst>
                    <a:ext uri="{FF2B5EF4-FFF2-40B4-BE49-F238E27FC236}">
                      <a16:creationId xmlns:a16="http://schemas.microsoft.com/office/drawing/2014/main" id="{166BD392-DAC6-8FD9-C06D-34C1616E389D}"/>
                    </a:ext>
                  </a:extLst>
                </p:cNvPr>
                <p:cNvCxnSpPr/>
                <p:nvPr/>
              </p:nvCxnSpPr>
              <p:spPr bwMode="auto">
                <a:xfrm>
                  <a:off x="1952625" y="2521990"/>
                  <a:ext cx="0" cy="1080597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cxnSp>
              <p:nvCxnSpPr>
                <p:cNvPr id="58" name="Conector recto 57">
                  <a:extLst>
                    <a:ext uri="{FF2B5EF4-FFF2-40B4-BE49-F238E27FC236}">
                      <a16:creationId xmlns:a16="http://schemas.microsoft.com/office/drawing/2014/main" id="{EA36A3DD-BAED-9B81-BE36-DC744B8AAD9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5400000">
                  <a:off x="2665761" y="2893954"/>
                  <a:ext cx="0" cy="1438275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sp>
              <p:nvSpPr>
                <p:cNvPr id="59" name="Text Box 79">
                  <a:extLst>
                    <a:ext uri="{FF2B5EF4-FFF2-40B4-BE49-F238E27FC236}">
                      <a16:creationId xmlns:a16="http://schemas.microsoft.com/office/drawing/2014/main" id="{42764027-599B-6761-1B90-316FFA5F15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08127" y="2244607"/>
                  <a:ext cx="455612" cy="5476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square" lIns="90000" tIns="118800" rIns="90000" bIns="118800" anchorCtr="1">
                  <a:spAutoFit/>
                </a:bodyPr>
                <a:lstStyle>
                  <a:lvl1pPr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s-ES">
                      <a:solidFill>
                        <a:srgbClr val="000000"/>
                      </a:solidFill>
                    </a:rPr>
                    <a:t>V</a:t>
                  </a:r>
                </a:p>
              </p:txBody>
            </p:sp>
            <p:sp>
              <p:nvSpPr>
                <p:cNvPr id="60" name="Text Box 79">
                  <a:extLst>
                    <a:ext uri="{FF2B5EF4-FFF2-40B4-BE49-F238E27FC236}">
                      <a16:creationId xmlns:a16="http://schemas.microsoft.com/office/drawing/2014/main" id="{54F8890D-C85F-3E15-0FF7-E81BA4E7BD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07110" y="3344550"/>
                  <a:ext cx="455612" cy="5476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square" lIns="90000" tIns="118800" rIns="90000" bIns="118800" anchorCtr="1">
                  <a:spAutoFit/>
                </a:bodyPr>
                <a:lstStyle>
                  <a:lvl1pPr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s-ES" sz="2000">
                      <a:solidFill>
                        <a:srgbClr val="000000"/>
                      </a:solidFill>
                      <a:latin typeface="Comic Sans MS" panose="030F0702030302020204" pitchFamily="66" charset="0"/>
                    </a:rPr>
                    <a:t>I</a:t>
                  </a:r>
                  <a:endParaRPr lang="es-ES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56" name="Text Box 79">
                <a:extLst>
                  <a:ext uri="{FF2B5EF4-FFF2-40B4-BE49-F238E27FC236}">
                    <a16:creationId xmlns:a16="http://schemas.microsoft.com/office/drawing/2014/main" id="{E923C4DA-27DB-7123-23D1-81D0B85F35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79704" y="2771107"/>
                <a:ext cx="1188687" cy="5476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118800" rIns="90000" bIns="118800" anchorCtr="1">
                <a:spAutoFit/>
              </a:bodyPr>
              <a:lstStyle>
                <a:lvl1pPr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>
                    <a:latin typeface="Comic Sans MS" panose="030F0702030302020204" pitchFamily="66" charset="0"/>
                    <a:sym typeface="Symbol" panose="05050102010706020507" pitchFamily="18" charset="2"/>
                  </a:rPr>
                  <a:t>I = 0 V</a:t>
                </a:r>
                <a:endParaRPr lang="es-ES" sz="2400">
                  <a:latin typeface="Comic Sans MS" panose="030F0702030302020204" pitchFamily="66" charset="0"/>
                </a:endParaRPr>
              </a:p>
            </p:txBody>
          </p:sp>
        </p:grp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CB1212E7-3723-5515-7738-394B08857A21}"/>
              </a:ext>
            </a:extLst>
          </p:cNvPr>
          <p:cNvGrpSpPr/>
          <p:nvPr/>
        </p:nvGrpSpPr>
        <p:grpSpPr>
          <a:xfrm>
            <a:off x="3234594" y="5081840"/>
            <a:ext cx="2254595" cy="1695265"/>
            <a:chOff x="1622427" y="1892182"/>
            <a:chExt cx="2254595" cy="1695265"/>
          </a:xfrm>
        </p:grpSpPr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5F09F556-7A31-9877-4373-7BFECCC7F077}"/>
                </a:ext>
              </a:extLst>
            </p:cNvPr>
            <p:cNvSpPr/>
            <p:nvPr/>
          </p:nvSpPr>
          <p:spPr bwMode="auto">
            <a:xfrm>
              <a:off x="1631952" y="1939807"/>
              <a:ext cx="2245070" cy="164764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1328" name="Grupo 11327">
              <a:extLst>
                <a:ext uri="{FF2B5EF4-FFF2-40B4-BE49-F238E27FC236}">
                  <a16:creationId xmlns:a16="http://schemas.microsoft.com/office/drawing/2014/main" id="{2109C214-E946-AD72-BA81-2FA45C4C913B}"/>
                </a:ext>
              </a:extLst>
            </p:cNvPr>
            <p:cNvGrpSpPr/>
            <p:nvPr/>
          </p:nvGrpSpPr>
          <p:grpSpPr>
            <a:xfrm>
              <a:off x="1622427" y="1892182"/>
              <a:ext cx="2254595" cy="1647640"/>
              <a:chOff x="1508127" y="2235082"/>
              <a:chExt cx="2254595" cy="1647640"/>
            </a:xfrm>
          </p:grpSpPr>
          <p:grpSp>
            <p:nvGrpSpPr>
              <p:cNvPr id="11329" name="Grupo 11328">
                <a:extLst>
                  <a:ext uri="{FF2B5EF4-FFF2-40B4-BE49-F238E27FC236}">
                    <a16:creationId xmlns:a16="http://schemas.microsoft.com/office/drawing/2014/main" id="{498DFBA7-0684-A077-88C4-05A2AD7DFBC5}"/>
                  </a:ext>
                </a:extLst>
              </p:cNvPr>
              <p:cNvGrpSpPr/>
              <p:nvPr/>
            </p:nvGrpSpPr>
            <p:grpSpPr>
              <a:xfrm>
                <a:off x="1508127" y="2235082"/>
                <a:ext cx="2254595" cy="1647640"/>
                <a:chOff x="1508127" y="2244607"/>
                <a:chExt cx="2254595" cy="1647640"/>
              </a:xfrm>
            </p:grpSpPr>
            <p:cxnSp>
              <p:nvCxnSpPr>
                <p:cNvPr id="11331" name="Conector recto 11330">
                  <a:extLst>
                    <a:ext uri="{FF2B5EF4-FFF2-40B4-BE49-F238E27FC236}">
                      <a16:creationId xmlns:a16="http://schemas.microsoft.com/office/drawing/2014/main" id="{2C5469FC-AD80-879A-030B-47747AD7FCF9}"/>
                    </a:ext>
                  </a:extLst>
                </p:cNvPr>
                <p:cNvCxnSpPr/>
                <p:nvPr/>
              </p:nvCxnSpPr>
              <p:spPr bwMode="auto">
                <a:xfrm>
                  <a:off x="1952625" y="2521990"/>
                  <a:ext cx="0" cy="1080597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cxnSp>
              <p:nvCxnSpPr>
                <p:cNvPr id="11332" name="Conector recto 11331">
                  <a:extLst>
                    <a:ext uri="{FF2B5EF4-FFF2-40B4-BE49-F238E27FC236}">
                      <a16:creationId xmlns:a16="http://schemas.microsoft.com/office/drawing/2014/main" id="{4E5500FE-2F2D-0492-73EA-76F58CDA1E4B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5400000">
                  <a:off x="2665761" y="2893954"/>
                  <a:ext cx="0" cy="1438275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sp>
              <p:nvSpPr>
                <p:cNvPr id="11333" name="Text Box 79">
                  <a:extLst>
                    <a:ext uri="{FF2B5EF4-FFF2-40B4-BE49-F238E27FC236}">
                      <a16:creationId xmlns:a16="http://schemas.microsoft.com/office/drawing/2014/main" id="{728F5867-A2EB-21C1-63BB-5A5FB19CCE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08127" y="2244607"/>
                  <a:ext cx="455612" cy="5476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square" lIns="90000" tIns="118800" rIns="90000" bIns="118800" anchorCtr="1">
                  <a:spAutoFit/>
                </a:bodyPr>
                <a:lstStyle>
                  <a:lvl1pPr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s-ES">
                      <a:solidFill>
                        <a:srgbClr val="000000"/>
                      </a:solidFill>
                    </a:rPr>
                    <a:t>V</a:t>
                  </a:r>
                </a:p>
              </p:txBody>
            </p:sp>
            <p:sp>
              <p:nvSpPr>
                <p:cNvPr id="11334" name="Text Box 79">
                  <a:extLst>
                    <a:ext uri="{FF2B5EF4-FFF2-40B4-BE49-F238E27FC236}">
                      <a16:creationId xmlns:a16="http://schemas.microsoft.com/office/drawing/2014/main" id="{103EA436-00DB-A8F7-BB62-28F83BC08E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07110" y="3344550"/>
                  <a:ext cx="455612" cy="5476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square" lIns="90000" tIns="118800" rIns="90000" bIns="118800" anchorCtr="1">
                  <a:spAutoFit/>
                </a:bodyPr>
                <a:lstStyle>
                  <a:lvl1pPr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s-ES" sz="2000">
                      <a:solidFill>
                        <a:srgbClr val="000000"/>
                      </a:solidFill>
                      <a:latin typeface="Comic Sans MS" panose="030F0702030302020204" pitchFamily="66" charset="0"/>
                    </a:rPr>
                    <a:t>I</a:t>
                  </a:r>
                  <a:endParaRPr lang="es-ES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1330" name="Text Box 79">
                <a:extLst>
                  <a:ext uri="{FF2B5EF4-FFF2-40B4-BE49-F238E27FC236}">
                    <a16:creationId xmlns:a16="http://schemas.microsoft.com/office/drawing/2014/main" id="{0E6B4421-C910-C9DF-E834-8FAB76E777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2554" y="2790157"/>
                <a:ext cx="1305194" cy="5476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118800" rIns="90000" bIns="118800" anchorCtr="1">
                <a:spAutoFit/>
              </a:bodyPr>
              <a:lstStyle>
                <a:lvl1pPr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>
                    <a:latin typeface="Comic Sans MS" panose="030F0702030302020204" pitchFamily="66" charset="0"/>
                    <a:sym typeface="Symbol" panose="05050102010706020507" pitchFamily="18" charset="2"/>
                  </a:rPr>
                  <a:t>V = 0 I</a:t>
                </a:r>
                <a:endParaRPr lang="es-ES" sz="2400">
                  <a:latin typeface="Comic Sans MS" panose="030F0702030302020204" pitchFamily="66" charset="0"/>
                </a:endParaRPr>
              </a:p>
            </p:txBody>
          </p:sp>
        </p:grpSp>
      </p:grpSp>
      <p:grpSp>
        <p:nvGrpSpPr>
          <p:cNvPr id="11338" name="Grupo 11337">
            <a:extLst>
              <a:ext uri="{FF2B5EF4-FFF2-40B4-BE49-F238E27FC236}">
                <a16:creationId xmlns:a16="http://schemas.microsoft.com/office/drawing/2014/main" id="{9821DB3D-4481-AA14-DEF2-212C72508746}"/>
              </a:ext>
            </a:extLst>
          </p:cNvPr>
          <p:cNvGrpSpPr/>
          <p:nvPr/>
        </p:nvGrpSpPr>
        <p:grpSpPr>
          <a:xfrm>
            <a:off x="4698033" y="2060265"/>
            <a:ext cx="2254595" cy="1831939"/>
            <a:chOff x="4698033" y="1917279"/>
            <a:chExt cx="2254595" cy="1831939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46F3C7EC-E452-AF45-24CF-C75E08C9CF6D}"/>
                </a:ext>
              </a:extLst>
            </p:cNvPr>
            <p:cNvGrpSpPr/>
            <p:nvPr/>
          </p:nvGrpSpPr>
          <p:grpSpPr>
            <a:xfrm>
              <a:off x="4698033" y="1917279"/>
              <a:ext cx="2254595" cy="1831939"/>
              <a:chOff x="1622427" y="1892182"/>
              <a:chExt cx="2254595" cy="1831939"/>
            </a:xfrm>
          </p:grpSpPr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BF671F3C-8E28-6788-CD83-87140982340F}"/>
                  </a:ext>
                </a:extLst>
              </p:cNvPr>
              <p:cNvSpPr/>
              <p:nvPr/>
            </p:nvSpPr>
            <p:spPr bwMode="auto">
              <a:xfrm>
                <a:off x="1631952" y="1939807"/>
                <a:ext cx="2245070" cy="164764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none" lIns="90000" tIns="118800" rIns="90000" bIns="118800" numCol="1" rtlCol="0" anchor="ctr" anchorCtr="1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grpSp>
            <p:nvGrpSpPr>
              <p:cNvPr id="32" name="Grupo 31">
                <a:extLst>
                  <a:ext uri="{FF2B5EF4-FFF2-40B4-BE49-F238E27FC236}">
                    <a16:creationId xmlns:a16="http://schemas.microsoft.com/office/drawing/2014/main" id="{275DD1BB-FB4B-90B9-CE34-C5DB061D3797}"/>
                  </a:ext>
                </a:extLst>
              </p:cNvPr>
              <p:cNvGrpSpPr/>
              <p:nvPr/>
            </p:nvGrpSpPr>
            <p:grpSpPr>
              <a:xfrm>
                <a:off x="1622427" y="1892182"/>
                <a:ext cx="2254595" cy="1831939"/>
                <a:chOff x="1508127" y="2235082"/>
                <a:chExt cx="2254595" cy="1831939"/>
              </a:xfrm>
            </p:grpSpPr>
            <p:grpSp>
              <p:nvGrpSpPr>
                <p:cNvPr id="33" name="Grupo 32">
                  <a:extLst>
                    <a:ext uri="{FF2B5EF4-FFF2-40B4-BE49-F238E27FC236}">
                      <a16:creationId xmlns:a16="http://schemas.microsoft.com/office/drawing/2014/main" id="{E2482FDE-DB31-24E2-EDFA-D45BCF2193F0}"/>
                    </a:ext>
                  </a:extLst>
                </p:cNvPr>
                <p:cNvGrpSpPr/>
                <p:nvPr/>
              </p:nvGrpSpPr>
              <p:grpSpPr>
                <a:xfrm>
                  <a:off x="1508127" y="2235082"/>
                  <a:ext cx="2254595" cy="1647640"/>
                  <a:chOff x="1508127" y="2244607"/>
                  <a:chExt cx="2254595" cy="1647640"/>
                </a:xfrm>
              </p:grpSpPr>
              <p:cxnSp>
                <p:nvCxnSpPr>
                  <p:cNvPr id="36" name="Conector recto 35">
                    <a:extLst>
                      <a:ext uri="{FF2B5EF4-FFF2-40B4-BE49-F238E27FC236}">
                        <a16:creationId xmlns:a16="http://schemas.microsoft.com/office/drawing/2014/main" id="{1AB63844-3EE9-9DFF-9F9E-BED8A365D8BD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1952625" y="2521990"/>
                    <a:ext cx="0" cy="1080597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lg" len="lg"/>
                  </a:ln>
                  <a:effectLst/>
                </p:spPr>
              </p:cxnSp>
              <p:cxnSp>
                <p:nvCxnSpPr>
                  <p:cNvPr id="37" name="Conector recto 36">
                    <a:extLst>
                      <a:ext uri="{FF2B5EF4-FFF2-40B4-BE49-F238E27FC236}">
                        <a16:creationId xmlns:a16="http://schemas.microsoft.com/office/drawing/2014/main" id="{01CAC775-F280-7F0D-C6D3-BF786D2D6F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rot="5400000">
                    <a:off x="2665761" y="2893954"/>
                    <a:ext cx="0" cy="1438275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lg" len="lg"/>
                  </a:ln>
                  <a:effectLst/>
                </p:spPr>
              </p:cxnSp>
              <p:sp>
                <p:nvSpPr>
                  <p:cNvPr id="38" name="Text Box 79">
                    <a:extLst>
                      <a:ext uri="{FF2B5EF4-FFF2-40B4-BE49-F238E27FC236}">
                        <a16:creationId xmlns:a16="http://schemas.microsoft.com/office/drawing/2014/main" id="{CF0D0A8B-ECAA-86F2-AD89-687E2FF5064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08127" y="2244607"/>
                    <a:ext cx="455612" cy="54769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square" lIns="90000" tIns="118800" rIns="90000" bIns="118800" anchorCtr="1">
                    <a:spAutoFit/>
                  </a:bodyPr>
                  <a:lstStyle>
                    <a:lvl1pPr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s-ES">
                        <a:solidFill>
                          <a:srgbClr val="000000"/>
                        </a:solidFill>
                      </a:rPr>
                      <a:t>V</a:t>
                    </a:r>
                  </a:p>
                </p:txBody>
              </p:sp>
              <p:sp>
                <p:nvSpPr>
                  <p:cNvPr id="39" name="Text Box 79">
                    <a:extLst>
                      <a:ext uri="{FF2B5EF4-FFF2-40B4-BE49-F238E27FC236}">
                        <a16:creationId xmlns:a16="http://schemas.microsoft.com/office/drawing/2014/main" id="{F2CCBC12-4841-CF2E-6029-EC2A14AA2B4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07110" y="3344550"/>
                    <a:ext cx="455612" cy="54769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square" lIns="90000" tIns="118800" rIns="90000" bIns="118800" anchorCtr="1">
                    <a:spAutoFit/>
                  </a:bodyPr>
                  <a:lstStyle>
                    <a:lvl1pPr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s-ES" sz="2000">
                        <a:solidFill>
                          <a:srgbClr val="000000"/>
                        </a:solidFill>
                        <a:latin typeface="Comic Sans MS" panose="030F0702030302020204" pitchFamily="66" charset="0"/>
                      </a:rPr>
                      <a:t>I</a:t>
                    </a:r>
                    <a:endParaRPr lang="es-ES">
                      <a:solidFill>
                        <a:srgbClr val="000000"/>
                      </a:solidFill>
                    </a:endParaRPr>
                  </a:p>
                </p:txBody>
              </p:sp>
            </p:grpSp>
            <p:cxnSp>
              <p:nvCxnSpPr>
                <p:cNvPr id="34" name="Conector recto 33">
                  <a:extLst>
                    <a:ext uri="{FF2B5EF4-FFF2-40B4-BE49-F238E27FC236}">
                      <a16:creationId xmlns:a16="http://schemas.microsoft.com/office/drawing/2014/main" id="{94B24975-35B9-BF1A-4ECA-B7F4C46F414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418111" y="2520344"/>
                  <a:ext cx="0" cy="1080597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sp>
              <p:nvSpPr>
                <p:cNvPr id="35" name="Text Box 79">
                  <a:extLst>
                    <a:ext uri="{FF2B5EF4-FFF2-40B4-BE49-F238E27FC236}">
                      <a16:creationId xmlns:a16="http://schemas.microsoft.com/office/drawing/2014/main" id="{6A5083F9-7E30-79AC-DDCF-923E1EE413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93034" y="3519324"/>
                  <a:ext cx="455612" cy="5476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square" lIns="90000" tIns="118800" rIns="90000" bIns="118800" anchorCtr="1">
                  <a:spAutoFit/>
                </a:bodyPr>
                <a:lstStyle>
                  <a:lvl1pPr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s-ES">
                      <a:latin typeface="Comic Sans MS" panose="030F0702030302020204" pitchFamily="66" charset="0"/>
                      <a:sym typeface="Symbol" panose="05050102010706020507" pitchFamily="18" charset="2"/>
                    </a:rPr>
                    <a:t>i</a:t>
                  </a:r>
                  <a:endParaRPr lang="es-ES" sz="2400">
                    <a:latin typeface="Comic Sans MS" panose="030F0702030302020204" pitchFamily="66" charset="0"/>
                  </a:endParaRPr>
                </a:p>
              </p:txBody>
            </p:sp>
          </p:grpSp>
        </p:grpSp>
        <p:sp>
          <p:nvSpPr>
            <p:cNvPr id="11335" name="Text Box 79">
              <a:extLst>
                <a:ext uri="{FF2B5EF4-FFF2-40B4-BE49-F238E27FC236}">
                  <a16:creationId xmlns:a16="http://schemas.microsoft.com/office/drawing/2014/main" id="{17BE6F4A-44E6-40A0-DAF0-0B9D87D1D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1092" y="2497322"/>
              <a:ext cx="1188687" cy="547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latin typeface="Comic Sans MS" panose="030F0702030302020204" pitchFamily="66" charset="0"/>
                  <a:sym typeface="Symbol" panose="05050102010706020507" pitchFamily="18" charset="2"/>
                </a:rPr>
                <a:t>I = i V</a:t>
              </a:r>
              <a:endParaRPr lang="es-ES" sz="240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1337" name="Grupo 11336">
            <a:extLst>
              <a:ext uri="{FF2B5EF4-FFF2-40B4-BE49-F238E27FC236}">
                <a16:creationId xmlns:a16="http://schemas.microsoft.com/office/drawing/2014/main" id="{B11E17AE-36BB-EE47-77EC-B264C3E91F29}"/>
              </a:ext>
            </a:extLst>
          </p:cNvPr>
          <p:cNvGrpSpPr/>
          <p:nvPr/>
        </p:nvGrpSpPr>
        <p:grpSpPr>
          <a:xfrm>
            <a:off x="1622427" y="2054218"/>
            <a:ext cx="2254595" cy="1695265"/>
            <a:chOff x="1622427" y="1911232"/>
            <a:chExt cx="2254595" cy="1695265"/>
          </a:xfrm>
        </p:grpSpPr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46A55D49-F44B-A319-D444-11A38F2B0EC6}"/>
                </a:ext>
              </a:extLst>
            </p:cNvPr>
            <p:cNvGrpSpPr/>
            <p:nvPr/>
          </p:nvGrpSpPr>
          <p:grpSpPr>
            <a:xfrm>
              <a:off x="1622427" y="1911232"/>
              <a:ext cx="2254595" cy="1695265"/>
              <a:chOff x="1622427" y="1892182"/>
              <a:chExt cx="2254595" cy="1695265"/>
            </a:xfrm>
          </p:grpSpPr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5695572C-A18E-BCB1-C0A6-A55DAA93BDF0}"/>
                  </a:ext>
                </a:extLst>
              </p:cNvPr>
              <p:cNvSpPr/>
              <p:nvPr/>
            </p:nvSpPr>
            <p:spPr bwMode="auto">
              <a:xfrm>
                <a:off x="1631952" y="1939807"/>
                <a:ext cx="2245070" cy="164764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none" lIns="90000" tIns="118800" rIns="90000" bIns="118800" numCol="1" rtlCol="0" anchor="ctr" anchorCtr="1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FB9DDA32-0AC7-94E3-6A9C-504538A6C679}"/>
                  </a:ext>
                </a:extLst>
              </p:cNvPr>
              <p:cNvGrpSpPr/>
              <p:nvPr/>
            </p:nvGrpSpPr>
            <p:grpSpPr>
              <a:xfrm>
                <a:off x="1622427" y="1892182"/>
                <a:ext cx="2254595" cy="1647640"/>
                <a:chOff x="1508127" y="2235082"/>
                <a:chExt cx="2254595" cy="1647640"/>
              </a:xfrm>
            </p:grpSpPr>
            <p:grpSp>
              <p:nvGrpSpPr>
                <p:cNvPr id="24" name="Grupo 23">
                  <a:extLst>
                    <a:ext uri="{FF2B5EF4-FFF2-40B4-BE49-F238E27FC236}">
                      <a16:creationId xmlns:a16="http://schemas.microsoft.com/office/drawing/2014/main" id="{E973782F-D12B-126F-CE8D-4245B5EB95CD}"/>
                    </a:ext>
                  </a:extLst>
                </p:cNvPr>
                <p:cNvGrpSpPr/>
                <p:nvPr/>
              </p:nvGrpSpPr>
              <p:grpSpPr>
                <a:xfrm>
                  <a:off x="1508127" y="2235082"/>
                  <a:ext cx="2254595" cy="1647640"/>
                  <a:chOff x="1508127" y="2244607"/>
                  <a:chExt cx="2254595" cy="1647640"/>
                </a:xfrm>
              </p:grpSpPr>
              <p:cxnSp>
                <p:nvCxnSpPr>
                  <p:cNvPr id="20" name="Conector recto 19">
                    <a:extLst>
                      <a:ext uri="{FF2B5EF4-FFF2-40B4-BE49-F238E27FC236}">
                        <a16:creationId xmlns:a16="http://schemas.microsoft.com/office/drawing/2014/main" id="{160C77C7-4759-5D86-F531-6598CA04E14F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1952625" y="2521990"/>
                    <a:ext cx="0" cy="1080597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lg" len="lg"/>
                  </a:ln>
                  <a:effectLst/>
                </p:spPr>
              </p:cxnSp>
              <p:cxnSp>
                <p:nvCxnSpPr>
                  <p:cNvPr id="21" name="Conector recto 20">
                    <a:extLst>
                      <a:ext uri="{FF2B5EF4-FFF2-40B4-BE49-F238E27FC236}">
                        <a16:creationId xmlns:a16="http://schemas.microsoft.com/office/drawing/2014/main" id="{2C279223-72F6-E5EB-6095-50E8DFC071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rot="5400000">
                    <a:off x="2665761" y="2893954"/>
                    <a:ext cx="0" cy="1438275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lg" len="lg"/>
                  </a:ln>
                  <a:effectLst/>
                </p:spPr>
              </p:cxnSp>
              <p:sp>
                <p:nvSpPr>
                  <p:cNvPr id="22" name="Text Box 79">
                    <a:extLst>
                      <a:ext uri="{FF2B5EF4-FFF2-40B4-BE49-F238E27FC236}">
                        <a16:creationId xmlns:a16="http://schemas.microsoft.com/office/drawing/2014/main" id="{F3672F7F-A4DB-B87B-DFEF-CB690F8A338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08127" y="2244607"/>
                    <a:ext cx="455612" cy="54769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square" lIns="90000" tIns="118800" rIns="90000" bIns="118800" anchorCtr="1">
                    <a:spAutoFit/>
                  </a:bodyPr>
                  <a:lstStyle>
                    <a:lvl1pPr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s-ES">
                        <a:solidFill>
                          <a:srgbClr val="000000"/>
                        </a:solidFill>
                      </a:rPr>
                      <a:t>V</a:t>
                    </a:r>
                  </a:p>
                </p:txBody>
              </p:sp>
              <p:sp>
                <p:nvSpPr>
                  <p:cNvPr id="23" name="Text Box 79">
                    <a:extLst>
                      <a:ext uri="{FF2B5EF4-FFF2-40B4-BE49-F238E27FC236}">
                        <a16:creationId xmlns:a16="http://schemas.microsoft.com/office/drawing/2014/main" id="{C5CCD4D7-CFA7-1A38-1D4B-D20ABBB2E4B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07110" y="3344550"/>
                    <a:ext cx="455612" cy="54769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square" lIns="90000" tIns="118800" rIns="90000" bIns="118800" anchorCtr="1">
                    <a:spAutoFit/>
                  </a:bodyPr>
                  <a:lstStyle>
                    <a:lvl1pPr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FF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s-ES" sz="2000">
                        <a:solidFill>
                          <a:srgbClr val="000000"/>
                        </a:solidFill>
                        <a:latin typeface="Comic Sans MS" panose="030F0702030302020204" pitchFamily="66" charset="0"/>
                      </a:rPr>
                      <a:t>I</a:t>
                    </a:r>
                    <a:endParaRPr lang="es-ES">
                      <a:solidFill>
                        <a:srgbClr val="000000"/>
                      </a:solidFill>
                    </a:endParaRPr>
                  </a:p>
                </p:txBody>
              </p:sp>
            </p:grpSp>
            <p:cxnSp>
              <p:nvCxnSpPr>
                <p:cNvPr id="25" name="Conector recto 24">
                  <a:extLst>
                    <a:ext uri="{FF2B5EF4-FFF2-40B4-BE49-F238E27FC236}">
                      <a16:creationId xmlns:a16="http://schemas.microsoft.com/office/drawing/2014/main" id="{B287BED1-A146-FB72-3C1D-65274AE5F68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5400000">
                  <a:off x="2665761" y="2474855"/>
                  <a:ext cx="0" cy="1438275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sp>
              <p:nvSpPr>
                <p:cNvPr id="26" name="Text Box 79">
                  <a:extLst>
                    <a:ext uri="{FF2B5EF4-FFF2-40B4-BE49-F238E27FC236}">
                      <a16:creationId xmlns:a16="http://schemas.microsoft.com/office/drawing/2014/main" id="{198DFF34-C4C6-0B64-990B-7165D1566C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17652" y="2869983"/>
                  <a:ext cx="455612" cy="609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square" lIns="90000" tIns="118800" rIns="90000" bIns="118800" anchorCtr="1">
                  <a:spAutoFit/>
                </a:bodyPr>
                <a:lstStyle>
                  <a:lvl1pPr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FF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s-ES" sz="2400">
                      <a:sym typeface="Symbol" panose="05050102010706020507" pitchFamily="18" charset="2"/>
                    </a:rPr>
                    <a:t></a:t>
                  </a:r>
                  <a:endParaRPr lang="es-ES" sz="2400"/>
                </a:p>
              </p:txBody>
            </p:sp>
          </p:grpSp>
        </p:grpSp>
        <p:sp>
          <p:nvSpPr>
            <p:cNvPr id="11336" name="Text Box 79">
              <a:extLst>
                <a:ext uri="{FF2B5EF4-FFF2-40B4-BE49-F238E27FC236}">
                  <a16:creationId xmlns:a16="http://schemas.microsoft.com/office/drawing/2014/main" id="{272F0CEB-A80B-929F-1801-30FF10A02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3342" y="2154055"/>
              <a:ext cx="1235692" cy="609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latin typeface="Comic Sans MS" panose="030F0702030302020204" pitchFamily="66" charset="0"/>
                  <a:sym typeface="Symbol" panose="05050102010706020507" pitchFamily="18" charset="2"/>
                </a:rPr>
                <a:t>V = </a:t>
              </a:r>
              <a:r>
                <a:rPr lang="es-ES" sz="2400">
                  <a:sym typeface="Symbol" panose="05050102010706020507" pitchFamily="18" charset="2"/>
                </a:rPr>
                <a:t></a:t>
              </a:r>
              <a:r>
                <a:rPr lang="es-ES">
                  <a:latin typeface="Comic Sans MS" panose="030F0702030302020204" pitchFamily="66" charset="0"/>
                  <a:sym typeface="Symbol" panose="05050102010706020507" pitchFamily="18" charset="2"/>
                </a:rPr>
                <a:t> I</a:t>
              </a:r>
              <a:endParaRPr lang="es-ES" sz="2000"/>
            </a:p>
          </p:txBody>
        </p:sp>
      </p:grpSp>
    </p:spTree>
    <p:extLst>
      <p:ext uri="{BB962C8B-B14F-4D97-AF65-F5344CB8AC3E}">
        <p14:creationId xmlns:p14="http://schemas.microsoft.com/office/powerpoint/2010/main" val="32483537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4" grpId="0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6" name="Text Box 6"/>
          <p:cNvSpPr txBox="1">
            <a:spLocks noChangeArrowheads="1"/>
          </p:cNvSpPr>
          <p:nvPr/>
        </p:nvSpPr>
        <p:spPr bwMode="auto">
          <a:xfrm>
            <a:off x="6659563" y="2328963"/>
            <a:ext cx="2341562" cy="7620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535" tIns="75600" rIns="76535" bIns="756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rgbClr val="FFFFFF"/>
                </a:solidFill>
                <a:latin typeface="Comic Sans MS" panose="030F0702030302020204" pitchFamily="66" charset="0"/>
              </a:rPr>
              <a:t>EQUIVALENTE NORTON</a:t>
            </a:r>
          </a:p>
        </p:txBody>
      </p:sp>
      <p:grpSp>
        <p:nvGrpSpPr>
          <p:cNvPr id="19497" name="Group 105"/>
          <p:cNvGrpSpPr>
            <a:grpSpLocks/>
          </p:cNvGrpSpPr>
          <p:nvPr/>
        </p:nvGrpSpPr>
        <p:grpSpPr bwMode="auto">
          <a:xfrm>
            <a:off x="8980488" y="427228"/>
            <a:ext cx="1243012" cy="2157412"/>
            <a:chOff x="5453" y="1417"/>
            <a:chExt cx="783" cy="1359"/>
          </a:xfrm>
        </p:grpSpPr>
        <p:sp>
          <p:nvSpPr>
            <p:cNvPr id="19498" name="Line 29"/>
            <p:cNvSpPr>
              <a:spLocks noChangeShapeType="1"/>
            </p:cNvSpPr>
            <p:nvPr/>
          </p:nvSpPr>
          <p:spPr bwMode="auto">
            <a:xfrm flipV="1">
              <a:off x="6119" y="2298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9499" name="Line 30"/>
            <p:cNvSpPr>
              <a:spLocks noChangeShapeType="1"/>
            </p:cNvSpPr>
            <p:nvPr/>
          </p:nvSpPr>
          <p:spPr bwMode="auto">
            <a:xfrm rot="5400000">
              <a:off x="5933" y="2409"/>
              <a:ext cx="0" cy="37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9500" name="Line 31"/>
            <p:cNvSpPr>
              <a:spLocks noChangeShapeType="1"/>
            </p:cNvSpPr>
            <p:nvPr/>
          </p:nvSpPr>
          <p:spPr bwMode="auto">
            <a:xfrm flipV="1">
              <a:off x="6112" y="1675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grpSp>
          <p:nvGrpSpPr>
            <p:cNvPr id="19501" name="Group 129"/>
            <p:cNvGrpSpPr>
              <a:grpSpLocks/>
            </p:cNvGrpSpPr>
            <p:nvPr/>
          </p:nvGrpSpPr>
          <p:grpSpPr bwMode="auto">
            <a:xfrm>
              <a:off x="5832" y="1709"/>
              <a:ext cx="404" cy="585"/>
              <a:chOff x="5824" y="1588"/>
              <a:chExt cx="404" cy="585"/>
            </a:xfrm>
          </p:grpSpPr>
          <p:sp>
            <p:nvSpPr>
              <p:cNvPr id="19511" name="Freeform 32"/>
              <p:cNvSpPr>
                <a:spLocks/>
              </p:cNvSpPr>
              <p:nvPr/>
            </p:nvSpPr>
            <p:spPr bwMode="auto">
              <a:xfrm>
                <a:off x="5992" y="1868"/>
                <a:ext cx="236" cy="305"/>
              </a:xfrm>
              <a:custGeom>
                <a:avLst/>
                <a:gdLst>
                  <a:gd name="T0" fmla="*/ 2 w 288"/>
                  <a:gd name="T1" fmla="*/ 2 h 384"/>
                  <a:gd name="T2" fmla="*/ 0 w 288"/>
                  <a:gd name="T3" fmla="*/ 2 h 384"/>
                  <a:gd name="T4" fmla="*/ 3 w 288"/>
                  <a:gd name="T5" fmla="*/ 2 h 384"/>
                  <a:gd name="T6" fmla="*/ 0 w 288"/>
                  <a:gd name="T7" fmla="*/ 2 h 384"/>
                  <a:gd name="T8" fmla="*/ 3 w 288"/>
                  <a:gd name="T9" fmla="*/ 2 h 384"/>
                  <a:gd name="T10" fmla="*/ 0 w 288"/>
                  <a:gd name="T11" fmla="*/ 0 h 384"/>
                  <a:gd name="T12" fmla="*/ 2 w 288"/>
                  <a:gd name="T13" fmla="*/ 0 h 3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8"/>
                  <a:gd name="T22" fmla="*/ 0 h 384"/>
                  <a:gd name="T23" fmla="*/ 288 w 288"/>
                  <a:gd name="T24" fmla="*/ 384 h 3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8" h="384">
                    <a:moveTo>
                      <a:pt x="144" y="384"/>
                    </a:moveTo>
                    <a:lnTo>
                      <a:pt x="0" y="288"/>
                    </a:lnTo>
                    <a:lnTo>
                      <a:pt x="288" y="288"/>
                    </a:lnTo>
                    <a:lnTo>
                      <a:pt x="0" y="144"/>
                    </a:lnTo>
                    <a:lnTo>
                      <a:pt x="288" y="144"/>
                    </a:lnTo>
                    <a:lnTo>
                      <a:pt x="0" y="0"/>
                    </a:lnTo>
                    <a:lnTo>
                      <a:pt x="144" y="0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9512" name="Text Box 33"/>
              <p:cNvSpPr txBox="1">
                <a:spLocks noChangeArrowheads="1"/>
              </p:cNvSpPr>
              <p:nvPr/>
            </p:nvSpPr>
            <p:spPr bwMode="auto">
              <a:xfrm>
                <a:off x="5824" y="1588"/>
                <a:ext cx="25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r</a:t>
                </a:r>
                <a:r>
                  <a:rPr lang="es-ES" sz="2000" baseline="-250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N</a:t>
                </a:r>
                <a:endParaRPr lang="es-ES" sz="2000">
                  <a:solidFill>
                    <a:srgbClr val="008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9502" name="Oval 34"/>
            <p:cNvSpPr>
              <a:spLocks noChangeArrowheads="1"/>
            </p:cNvSpPr>
            <p:nvPr/>
          </p:nvSpPr>
          <p:spPr bwMode="auto">
            <a:xfrm>
              <a:off x="5722" y="1417"/>
              <a:ext cx="57" cy="61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03" name="Oval 35"/>
            <p:cNvSpPr>
              <a:spLocks noChangeArrowheads="1"/>
            </p:cNvSpPr>
            <p:nvPr/>
          </p:nvSpPr>
          <p:spPr bwMode="auto">
            <a:xfrm>
              <a:off x="5725" y="2716"/>
              <a:ext cx="55" cy="60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04" name="Line 43"/>
            <p:cNvSpPr>
              <a:spLocks noChangeShapeType="1"/>
            </p:cNvSpPr>
            <p:nvPr/>
          </p:nvSpPr>
          <p:spPr bwMode="auto">
            <a:xfrm flipV="1">
              <a:off x="5754" y="1452"/>
              <a:ext cx="0" cy="5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9505" name="Line 44"/>
            <p:cNvSpPr>
              <a:spLocks noChangeShapeType="1"/>
            </p:cNvSpPr>
            <p:nvPr/>
          </p:nvSpPr>
          <p:spPr bwMode="auto">
            <a:xfrm>
              <a:off x="5748" y="2242"/>
              <a:ext cx="0" cy="5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grpSp>
          <p:nvGrpSpPr>
            <p:cNvPr id="19506" name="Group 116"/>
            <p:cNvGrpSpPr>
              <a:grpSpLocks/>
            </p:cNvGrpSpPr>
            <p:nvPr/>
          </p:nvGrpSpPr>
          <p:grpSpPr bwMode="auto">
            <a:xfrm>
              <a:off x="5453" y="1715"/>
              <a:ext cx="414" cy="514"/>
              <a:chOff x="5445" y="1594"/>
              <a:chExt cx="414" cy="514"/>
            </a:xfrm>
          </p:grpSpPr>
          <p:sp>
            <p:nvSpPr>
              <p:cNvPr id="19508" name="Text Box 28"/>
              <p:cNvSpPr txBox="1">
                <a:spLocks noChangeArrowheads="1"/>
              </p:cNvSpPr>
              <p:nvPr/>
            </p:nvSpPr>
            <p:spPr bwMode="auto">
              <a:xfrm>
                <a:off x="5445" y="1594"/>
                <a:ext cx="26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I</a:t>
                </a:r>
                <a:r>
                  <a:rPr lang="es-ES" sz="2000" baseline="-25000">
                    <a:solidFill>
                      <a:srgbClr val="3333FF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N</a:t>
                </a:r>
                <a:endParaRPr lang="es-ES" sz="200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9509" name="Oval 45"/>
              <p:cNvSpPr>
                <a:spLocks noChangeArrowheads="1"/>
              </p:cNvSpPr>
              <p:nvPr/>
            </p:nvSpPr>
            <p:spPr bwMode="auto">
              <a:xfrm rot="-5400000">
                <a:off x="5623" y="1874"/>
                <a:ext cx="244" cy="224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510" name="Text Box 46"/>
              <p:cNvSpPr txBox="1">
                <a:spLocks noChangeArrowheads="1"/>
              </p:cNvSpPr>
              <p:nvPr/>
            </p:nvSpPr>
            <p:spPr bwMode="auto">
              <a:xfrm rot="-5400000">
                <a:off x="5636" y="1871"/>
                <a:ext cx="22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Comic Sans MS" panose="030F0702030302020204" pitchFamily="66" charset="0"/>
                    <a:sym typeface="Wingdings 3" panose="05040102010807070707" pitchFamily="18" charset="2"/>
                  </a:rPr>
                  <a:t></a:t>
                </a:r>
              </a:p>
            </p:txBody>
          </p:sp>
        </p:grpSp>
        <p:sp>
          <p:nvSpPr>
            <p:cNvPr id="19507" name="Line 47"/>
            <p:cNvSpPr>
              <a:spLocks noChangeShapeType="1"/>
            </p:cNvSpPr>
            <p:nvPr/>
          </p:nvSpPr>
          <p:spPr bwMode="auto">
            <a:xfrm rot="5400000">
              <a:off x="5933" y="1494"/>
              <a:ext cx="0" cy="37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</p:grpSp>
      <p:grpSp>
        <p:nvGrpSpPr>
          <p:cNvPr id="11382" name="Group 118"/>
          <p:cNvGrpSpPr>
            <a:grpSpLocks/>
          </p:cNvGrpSpPr>
          <p:nvPr/>
        </p:nvGrpSpPr>
        <p:grpSpPr bwMode="auto">
          <a:xfrm>
            <a:off x="2527301" y="822516"/>
            <a:ext cx="2573338" cy="1347788"/>
            <a:chOff x="1592" y="1612"/>
            <a:chExt cx="1621" cy="849"/>
          </a:xfrm>
        </p:grpSpPr>
        <p:sp>
          <p:nvSpPr>
            <p:cNvPr id="19494" name="AutoShape 19"/>
            <p:cNvSpPr>
              <a:spLocks noChangeArrowheads="1"/>
            </p:cNvSpPr>
            <p:nvPr/>
          </p:nvSpPr>
          <p:spPr bwMode="auto">
            <a:xfrm flipH="1">
              <a:off x="2938" y="1809"/>
              <a:ext cx="275" cy="431"/>
            </a:xfrm>
            <a:prstGeom prst="rightArrow">
              <a:avLst>
                <a:gd name="adj1" fmla="val 50000"/>
                <a:gd name="adj2" fmla="val 46431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5" name="Text Box 79"/>
            <p:cNvSpPr txBox="1">
              <a:spLocks noChangeArrowheads="1"/>
            </p:cNvSpPr>
            <p:nvPr/>
          </p:nvSpPr>
          <p:spPr bwMode="auto">
            <a:xfrm>
              <a:off x="1592" y="1612"/>
              <a:ext cx="1258" cy="849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000000"/>
                  </a:solidFill>
                </a:rPr>
                <a:t>A una fuente de tensión real</a:t>
              </a:r>
            </a:p>
          </p:txBody>
        </p:sp>
      </p:grpSp>
      <p:grpSp>
        <p:nvGrpSpPr>
          <p:cNvPr id="11386" name="Group 122"/>
          <p:cNvGrpSpPr>
            <a:grpSpLocks/>
          </p:cNvGrpSpPr>
          <p:nvPr/>
        </p:nvGrpSpPr>
        <p:grpSpPr bwMode="auto">
          <a:xfrm>
            <a:off x="6440488" y="805054"/>
            <a:ext cx="2571750" cy="1347788"/>
            <a:chOff x="4057" y="1601"/>
            <a:chExt cx="1620" cy="849"/>
          </a:xfrm>
        </p:grpSpPr>
        <p:sp>
          <p:nvSpPr>
            <p:cNvPr id="19492" name="AutoShape 19"/>
            <p:cNvSpPr>
              <a:spLocks noChangeArrowheads="1"/>
            </p:cNvSpPr>
            <p:nvPr/>
          </p:nvSpPr>
          <p:spPr bwMode="auto">
            <a:xfrm>
              <a:off x="4057" y="1809"/>
              <a:ext cx="275" cy="431"/>
            </a:xfrm>
            <a:prstGeom prst="rightArrow">
              <a:avLst>
                <a:gd name="adj1" fmla="val 50000"/>
                <a:gd name="adj2" fmla="val 46431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3" name="Text Box 82"/>
            <p:cNvSpPr txBox="1">
              <a:spLocks noChangeArrowheads="1"/>
            </p:cNvSpPr>
            <p:nvPr/>
          </p:nvSpPr>
          <p:spPr bwMode="auto">
            <a:xfrm>
              <a:off x="4410" y="1601"/>
              <a:ext cx="1267" cy="849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000000"/>
                  </a:solidFill>
                </a:rPr>
                <a:t>A una fuente de intensidad real</a:t>
              </a:r>
            </a:p>
          </p:txBody>
        </p:sp>
      </p:grpSp>
      <p:sp>
        <p:nvSpPr>
          <p:cNvPr id="11356" name="Text Box 92"/>
          <p:cNvSpPr txBox="1">
            <a:spLocks noChangeArrowheads="1"/>
          </p:cNvSpPr>
          <p:nvPr/>
        </p:nvSpPr>
        <p:spPr bwMode="auto">
          <a:xfrm>
            <a:off x="2527300" y="3442325"/>
            <a:ext cx="6473825" cy="978584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Como representan a la misma porción de </a:t>
            </a:r>
            <a:r>
              <a:rPr lang="es-ES" sz="2400" dirty="0">
                <a:solidFill>
                  <a:schemeClr val="tx1"/>
                </a:solidFill>
              </a:rPr>
              <a:t>circuito,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s</a:t>
            </a:r>
            <a:r>
              <a:rPr lang="es-ES" sz="2400" dirty="0">
                <a:solidFill>
                  <a:schemeClr val="tx1"/>
                </a:solidFill>
              </a:rPr>
              <a:t>on equivalentes entre sí</a:t>
            </a:r>
          </a:p>
        </p:txBody>
      </p:sp>
      <p:sp>
        <p:nvSpPr>
          <p:cNvPr id="11364" name="Text Box 100"/>
          <p:cNvSpPr txBox="1">
            <a:spLocks noChangeArrowheads="1"/>
          </p:cNvSpPr>
          <p:nvPr/>
        </p:nvSpPr>
        <p:spPr bwMode="auto">
          <a:xfrm>
            <a:off x="3105987" y="4563643"/>
            <a:ext cx="5299950" cy="97858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Al </a:t>
            </a:r>
            <a:r>
              <a:rPr lang="es-ES" sz="2400" dirty="0">
                <a:solidFill>
                  <a:schemeClr val="tx1"/>
                </a:solidFill>
              </a:rPr>
              <a:t>ser </a:t>
            </a:r>
            <a:r>
              <a:rPr lang="es-ES" sz="2400">
                <a:solidFill>
                  <a:schemeClr val="tx1"/>
                </a:solidFill>
              </a:rPr>
              <a:t>fuentes, </a:t>
            </a:r>
            <a:r>
              <a:rPr lang="es-ES" sz="2400" dirty="0">
                <a:solidFill>
                  <a:schemeClr val="tx1"/>
                </a:solidFill>
              </a:rPr>
              <a:t>para ser equivalentes</a:t>
            </a:r>
            <a:r>
              <a:rPr lang="es-ES" sz="2400">
                <a:solidFill>
                  <a:schemeClr val="tx1"/>
                </a:solidFill>
              </a:rPr>
              <a:t>,   se deben cumplir 3 cosas: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15379" name="Text Box 189"/>
          <p:cNvSpPr txBox="1">
            <a:spLocks noChangeArrowheads="1"/>
          </p:cNvSpPr>
          <p:nvPr/>
        </p:nvSpPr>
        <p:spPr bwMode="auto">
          <a:xfrm>
            <a:off x="1811338" y="5910521"/>
            <a:ext cx="1619250" cy="55086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90000" rIns="90000" bIns="90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dirty="0" err="1">
                <a:latin typeface="Arial" panose="020B0604020202020204" pitchFamily="34" charset="0"/>
              </a:rPr>
              <a:t>r</a:t>
            </a:r>
            <a:r>
              <a:rPr lang="es-ES" sz="2400" baseline="-25000" dirty="0" err="1">
                <a:latin typeface="Arial" panose="020B0604020202020204" pitchFamily="34" charset="0"/>
              </a:rPr>
              <a:t>Th</a:t>
            </a:r>
            <a:r>
              <a:rPr lang="es-ES" sz="2400" dirty="0">
                <a:latin typeface="Arial" panose="020B0604020202020204" pitchFamily="34" charset="0"/>
              </a:rPr>
              <a:t> = </a:t>
            </a:r>
            <a:r>
              <a:rPr lang="es-ES" sz="2400" dirty="0" err="1">
                <a:latin typeface="Arial" panose="020B0604020202020204" pitchFamily="34" charset="0"/>
              </a:rPr>
              <a:t>r</a:t>
            </a:r>
            <a:r>
              <a:rPr lang="es-ES" sz="2400" baseline="-25000" dirty="0" err="1">
                <a:latin typeface="Arial" panose="020B0604020202020204" pitchFamily="34" charset="0"/>
              </a:rPr>
              <a:t>N</a:t>
            </a:r>
            <a:r>
              <a:rPr lang="es-ES" sz="2400" dirty="0">
                <a:latin typeface="Arial" panose="020B0604020202020204" pitchFamily="34" charset="0"/>
              </a:rPr>
              <a:t> =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r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5380" name="Text Box 205"/>
          <p:cNvSpPr txBox="1">
            <a:spLocks noChangeArrowheads="1"/>
          </p:cNvSpPr>
          <p:nvPr/>
        </p:nvSpPr>
        <p:spPr bwMode="auto">
          <a:xfrm>
            <a:off x="4032904" y="5925144"/>
            <a:ext cx="3461502" cy="55109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90000" rIns="90000" bIns="90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Sentido - + = Sentido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</a:p>
        </p:txBody>
      </p:sp>
      <p:sp>
        <p:nvSpPr>
          <p:cNvPr id="15381" name="Text Box 62"/>
          <p:cNvSpPr txBox="1">
            <a:spLocks noChangeArrowheads="1"/>
          </p:cNvSpPr>
          <p:nvPr/>
        </p:nvSpPr>
        <p:spPr bwMode="auto">
          <a:xfrm>
            <a:off x="8151071" y="5905392"/>
            <a:ext cx="1574800" cy="57626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54000" rIns="90000" bIns="900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s-ES" sz="2800" dirty="0"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r>
              <a:rPr lang="es-E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Th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r I</a:t>
            </a:r>
            <a:r>
              <a:rPr lang="es-E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endParaRPr lang="es-ES" sz="2400" baseline="-25000" dirty="0">
              <a:latin typeface="Comic Sans MS" panose="030F0702030302020204" pitchFamily="66" charset="0"/>
            </a:endParaRPr>
          </a:p>
        </p:txBody>
      </p:sp>
      <p:grpSp>
        <p:nvGrpSpPr>
          <p:cNvPr id="11341" name="Group 77"/>
          <p:cNvGrpSpPr>
            <a:grpSpLocks/>
          </p:cNvGrpSpPr>
          <p:nvPr/>
        </p:nvGrpSpPr>
        <p:grpSpPr bwMode="auto">
          <a:xfrm>
            <a:off x="5272088" y="389128"/>
            <a:ext cx="998537" cy="2176462"/>
            <a:chOff x="5296" y="-684"/>
            <a:chExt cx="629" cy="1371"/>
          </a:xfrm>
        </p:grpSpPr>
        <p:sp>
          <p:nvSpPr>
            <p:cNvPr id="19486" name="Rectangle 20"/>
            <p:cNvSpPr>
              <a:spLocks noChangeArrowheads="1"/>
            </p:cNvSpPr>
            <p:nvPr/>
          </p:nvSpPr>
          <p:spPr bwMode="auto">
            <a:xfrm>
              <a:off x="5296" y="-453"/>
              <a:ext cx="629" cy="905"/>
            </a:xfrm>
            <a:prstGeom prst="rect">
              <a:avLst/>
            </a:prstGeom>
            <a:solidFill>
              <a:srgbClr val="CCFFCC"/>
            </a:solidFill>
            <a:ln w="254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87" name="Line 21"/>
            <p:cNvSpPr>
              <a:spLocks noChangeShapeType="1"/>
            </p:cNvSpPr>
            <p:nvPr/>
          </p:nvSpPr>
          <p:spPr bwMode="auto">
            <a:xfrm>
              <a:off x="5611" y="447"/>
              <a:ext cx="0" cy="20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9488" name="Line 22"/>
            <p:cNvSpPr>
              <a:spLocks noChangeShapeType="1"/>
            </p:cNvSpPr>
            <p:nvPr/>
          </p:nvSpPr>
          <p:spPr bwMode="auto">
            <a:xfrm flipV="1">
              <a:off x="5611" y="-655"/>
              <a:ext cx="0" cy="20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9489" name="Oval 23"/>
            <p:cNvSpPr>
              <a:spLocks noChangeArrowheads="1"/>
            </p:cNvSpPr>
            <p:nvPr/>
          </p:nvSpPr>
          <p:spPr bwMode="auto">
            <a:xfrm>
              <a:off x="5583" y="-684"/>
              <a:ext cx="56" cy="60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0" name="Oval 24"/>
            <p:cNvSpPr>
              <a:spLocks noChangeArrowheads="1"/>
            </p:cNvSpPr>
            <p:nvPr/>
          </p:nvSpPr>
          <p:spPr bwMode="auto">
            <a:xfrm>
              <a:off x="5583" y="626"/>
              <a:ext cx="56" cy="61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1" name="Text Box 25"/>
            <p:cNvSpPr txBox="1">
              <a:spLocks noChangeArrowheads="1"/>
            </p:cNvSpPr>
            <p:nvPr/>
          </p:nvSpPr>
          <p:spPr bwMode="auto">
            <a:xfrm>
              <a:off x="5306" y="-291"/>
              <a:ext cx="612" cy="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Porción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de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circuito</a:t>
              </a:r>
            </a:p>
          </p:txBody>
        </p:sp>
      </p:grpSp>
      <p:sp>
        <p:nvSpPr>
          <p:cNvPr id="19471" name="Text Box 5"/>
          <p:cNvSpPr txBox="1">
            <a:spLocks noChangeArrowheads="1"/>
          </p:cNvSpPr>
          <p:nvPr/>
        </p:nvSpPr>
        <p:spPr bwMode="auto">
          <a:xfrm>
            <a:off x="2528888" y="2332228"/>
            <a:ext cx="2355850" cy="762000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535" tIns="75600" rIns="76535" bIns="756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rgbClr val="FFFFFF"/>
                </a:solidFill>
                <a:latin typeface="Comic Sans MS" panose="030F0702030302020204" pitchFamily="66" charset="0"/>
              </a:rPr>
              <a:t>EQUIVALENTE THEVENIN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1330325" y="422465"/>
            <a:ext cx="1001713" cy="2159000"/>
            <a:chOff x="1330325" y="2417780"/>
            <a:chExt cx="1001713" cy="2159000"/>
          </a:xfrm>
        </p:grpSpPr>
        <p:grpSp>
          <p:nvGrpSpPr>
            <p:cNvPr id="19472" name="Group 103"/>
            <p:cNvGrpSpPr>
              <a:grpSpLocks/>
            </p:cNvGrpSpPr>
            <p:nvPr/>
          </p:nvGrpSpPr>
          <p:grpSpPr bwMode="auto">
            <a:xfrm>
              <a:off x="1330325" y="2417780"/>
              <a:ext cx="1001713" cy="2159000"/>
              <a:chOff x="982" y="1384"/>
              <a:chExt cx="631" cy="1360"/>
            </a:xfrm>
          </p:grpSpPr>
          <p:grpSp>
            <p:nvGrpSpPr>
              <p:cNvPr id="19473" name="Group 114"/>
              <p:cNvGrpSpPr>
                <a:grpSpLocks/>
              </p:cNvGrpSpPr>
              <p:nvPr/>
            </p:nvGrpSpPr>
            <p:grpSpPr bwMode="auto">
              <a:xfrm>
                <a:off x="989" y="2189"/>
                <a:ext cx="624" cy="242"/>
                <a:chOff x="2221" y="2085"/>
                <a:chExt cx="624" cy="242"/>
              </a:xfrm>
            </p:grpSpPr>
            <p:grpSp>
              <p:nvGrpSpPr>
                <p:cNvPr id="19482" name="Group 8"/>
                <p:cNvGrpSpPr>
                  <a:grpSpLocks/>
                </p:cNvGrpSpPr>
                <p:nvPr/>
              </p:nvGrpSpPr>
              <p:grpSpPr bwMode="auto">
                <a:xfrm>
                  <a:off x="2567" y="2251"/>
                  <a:ext cx="278" cy="48"/>
                  <a:chOff x="1619" y="2634"/>
                  <a:chExt cx="340" cy="54"/>
                </a:xfrm>
              </p:grpSpPr>
              <p:sp>
                <p:nvSpPr>
                  <p:cNvPr id="19484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1619" y="2634"/>
                    <a:ext cx="340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90000" tIns="46800" rIns="90000" bIns="46800" anchorCtr="1"/>
                  <a:lstStyle/>
                  <a:p>
                    <a:endParaRPr lang="en-GB"/>
                  </a:p>
                </p:txBody>
              </p:sp>
              <p:sp>
                <p:nvSpPr>
                  <p:cNvPr id="19485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1676" y="2688"/>
                    <a:ext cx="206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90000" tIns="46800" rIns="90000" bIns="46800" anchorCtr="1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948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221" y="2085"/>
                  <a:ext cx="297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6535" tIns="39797" rIns="76535" bIns="39797" anchorCtr="1"/>
                <a:lstStyle>
                  <a:lvl1pPr defTabSz="777875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777875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777875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777875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77875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FF3300"/>
                      </a:solidFill>
                      <a:latin typeface="Comic Sans MS" panose="030F0702030302020204" pitchFamily="66" charset="0"/>
                      <a:sym typeface="Symbol" panose="05050102010706020507" pitchFamily="18" charset="2"/>
                    </a:rPr>
                    <a:t></a:t>
                  </a:r>
                  <a:r>
                    <a:rPr lang="es-ES" sz="2000" baseline="-25000">
                      <a:solidFill>
                        <a:srgbClr val="FF3300"/>
                      </a:solidFill>
                      <a:latin typeface="Comic Sans MS" panose="030F0702030302020204" pitchFamily="66" charset="0"/>
                      <a:sym typeface="Symbol" panose="05050102010706020507" pitchFamily="18" charset="2"/>
                    </a:rPr>
                    <a:t>Th</a:t>
                  </a:r>
                  <a:endParaRPr lang="es-ES" sz="2000">
                    <a:solidFill>
                      <a:srgbClr val="FF33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19474" name="Line 12"/>
              <p:cNvSpPr>
                <a:spLocks noChangeShapeType="1"/>
              </p:cNvSpPr>
              <p:nvPr/>
            </p:nvSpPr>
            <p:spPr bwMode="auto">
              <a:xfrm flipV="1">
                <a:off x="1460" y="2037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9475" name="Line 13"/>
              <p:cNvSpPr>
                <a:spLocks noChangeShapeType="1"/>
              </p:cNvSpPr>
              <p:nvPr/>
            </p:nvSpPr>
            <p:spPr bwMode="auto">
              <a:xfrm>
                <a:off x="1460" y="2393"/>
                <a:ext cx="0" cy="306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9476" name="Line 14"/>
              <p:cNvSpPr>
                <a:spLocks noChangeShapeType="1"/>
              </p:cNvSpPr>
              <p:nvPr/>
            </p:nvSpPr>
            <p:spPr bwMode="auto">
              <a:xfrm flipV="1">
                <a:off x="1460" y="1414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grpSp>
            <p:nvGrpSpPr>
              <p:cNvPr id="19477" name="Group 117"/>
              <p:cNvGrpSpPr>
                <a:grpSpLocks/>
              </p:cNvGrpSpPr>
              <p:nvPr/>
            </p:nvGrpSpPr>
            <p:grpSpPr bwMode="auto">
              <a:xfrm>
                <a:off x="982" y="1702"/>
                <a:ext cx="606" cy="330"/>
                <a:chOff x="2214" y="1597"/>
                <a:chExt cx="606" cy="330"/>
              </a:xfrm>
            </p:grpSpPr>
            <p:sp>
              <p:nvSpPr>
                <p:cNvPr id="19480" name="Freeform 15"/>
                <p:cNvSpPr>
                  <a:spLocks/>
                </p:cNvSpPr>
                <p:nvPr/>
              </p:nvSpPr>
              <p:spPr bwMode="auto">
                <a:xfrm>
                  <a:off x="2583" y="1622"/>
                  <a:ext cx="237" cy="305"/>
                </a:xfrm>
                <a:custGeom>
                  <a:avLst/>
                  <a:gdLst>
                    <a:gd name="T0" fmla="*/ 2 w 288"/>
                    <a:gd name="T1" fmla="*/ 2 h 384"/>
                    <a:gd name="T2" fmla="*/ 0 w 288"/>
                    <a:gd name="T3" fmla="*/ 2 h 384"/>
                    <a:gd name="T4" fmla="*/ 4 w 288"/>
                    <a:gd name="T5" fmla="*/ 2 h 384"/>
                    <a:gd name="T6" fmla="*/ 0 w 288"/>
                    <a:gd name="T7" fmla="*/ 2 h 384"/>
                    <a:gd name="T8" fmla="*/ 4 w 288"/>
                    <a:gd name="T9" fmla="*/ 2 h 384"/>
                    <a:gd name="T10" fmla="*/ 0 w 288"/>
                    <a:gd name="T11" fmla="*/ 0 h 384"/>
                    <a:gd name="T12" fmla="*/ 2 w 288"/>
                    <a:gd name="T13" fmla="*/ 0 h 38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8"/>
                    <a:gd name="T22" fmla="*/ 0 h 384"/>
                    <a:gd name="T23" fmla="*/ 288 w 288"/>
                    <a:gd name="T24" fmla="*/ 384 h 38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8" h="384">
                      <a:moveTo>
                        <a:pt x="144" y="384"/>
                      </a:moveTo>
                      <a:lnTo>
                        <a:pt x="0" y="288"/>
                      </a:lnTo>
                      <a:lnTo>
                        <a:pt x="288" y="288"/>
                      </a:lnTo>
                      <a:lnTo>
                        <a:pt x="0" y="144"/>
                      </a:lnTo>
                      <a:lnTo>
                        <a:pt x="288" y="144"/>
                      </a:lnTo>
                      <a:lnTo>
                        <a:pt x="0" y="0"/>
                      </a:lnTo>
                      <a:lnTo>
                        <a:pt x="144" y="0"/>
                      </a:lnTo>
                    </a:path>
                  </a:pathLst>
                </a:cu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19481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2214" y="1597"/>
                  <a:ext cx="304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6535" tIns="39797" rIns="76535" bIns="39797" anchorCtr="1"/>
                <a:lstStyle>
                  <a:lvl1pPr defTabSz="777875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777875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777875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777875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77875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8000"/>
                      </a:solidFill>
                      <a:latin typeface="Comic Sans MS" panose="030F0702030302020204" pitchFamily="66" charset="0"/>
                    </a:rPr>
                    <a:t>r</a:t>
                  </a:r>
                  <a:r>
                    <a:rPr lang="es-ES" sz="2000" baseline="-25000">
                      <a:solidFill>
                        <a:srgbClr val="008000"/>
                      </a:solidFill>
                      <a:latin typeface="Comic Sans MS" panose="030F0702030302020204" pitchFamily="66" charset="0"/>
                    </a:rPr>
                    <a:t>Th</a:t>
                  </a:r>
                  <a:endParaRPr lang="es-ES" sz="2000">
                    <a:solidFill>
                      <a:srgbClr val="008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19478" name="Oval 17"/>
              <p:cNvSpPr>
                <a:spLocks noChangeArrowheads="1"/>
              </p:cNvSpPr>
              <p:nvPr/>
            </p:nvSpPr>
            <p:spPr bwMode="auto">
              <a:xfrm>
                <a:off x="1428" y="1384"/>
                <a:ext cx="56" cy="61"/>
              </a:xfrm>
              <a:prstGeom prst="ellipse">
                <a:avLst/>
              </a:prstGeom>
              <a:solidFill>
                <a:srgbClr val="0000FF"/>
              </a:solidFill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79" name="Oval 18"/>
              <p:cNvSpPr>
                <a:spLocks noChangeArrowheads="1"/>
              </p:cNvSpPr>
              <p:nvPr/>
            </p:nvSpPr>
            <p:spPr bwMode="auto">
              <a:xfrm>
                <a:off x="1432" y="2682"/>
                <a:ext cx="56" cy="62"/>
              </a:xfrm>
              <a:prstGeom prst="ellipse">
                <a:avLst/>
              </a:prstGeom>
              <a:solidFill>
                <a:srgbClr val="0000FF"/>
              </a:solidFill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469" name="CuadroTexto 4"/>
            <p:cNvSpPr txBox="1">
              <a:spLocks noChangeArrowheads="1"/>
            </p:cNvSpPr>
            <p:nvPr/>
          </p:nvSpPr>
          <p:spPr bwMode="auto">
            <a:xfrm>
              <a:off x="1681281" y="3635393"/>
              <a:ext cx="3333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/>
                <a:t>+</a:t>
              </a:r>
            </a:p>
          </p:txBody>
        </p:sp>
        <p:sp>
          <p:nvSpPr>
            <p:cNvPr id="19470" name="CuadroTexto 131"/>
            <p:cNvSpPr txBox="1">
              <a:spLocks noChangeArrowheads="1"/>
            </p:cNvSpPr>
            <p:nvPr/>
          </p:nvSpPr>
          <p:spPr bwMode="auto">
            <a:xfrm>
              <a:off x="1707440" y="3913308"/>
              <a:ext cx="2698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/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24598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56" grpId="0" animBg="1"/>
      <p:bldP spid="11364" grpId="0" animBg="1"/>
      <p:bldP spid="15379" grpId="0" animBg="1"/>
      <p:bldP spid="15380" grpId="0" animBg="1"/>
      <p:bldP spid="1538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2833079A-0EDA-A95F-0A82-494247C4E795}"/>
              </a:ext>
            </a:extLst>
          </p:cNvPr>
          <p:cNvSpPr/>
          <p:nvPr/>
        </p:nvSpPr>
        <p:spPr bwMode="auto">
          <a:xfrm>
            <a:off x="1349829" y="2699657"/>
            <a:ext cx="3995057" cy="4082143"/>
          </a:xfrm>
          <a:custGeom>
            <a:avLst/>
            <a:gdLst>
              <a:gd name="connsiteX0" fmla="*/ 119742 w 3995057"/>
              <a:gd name="connsiteY0" fmla="*/ 21772 h 4082143"/>
              <a:gd name="connsiteX1" fmla="*/ 3995057 w 3995057"/>
              <a:gd name="connsiteY1" fmla="*/ 0 h 4082143"/>
              <a:gd name="connsiteX2" fmla="*/ 3341914 w 3995057"/>
              <a:gd name="connsiteY2" fmla="*/ 914400 h 4082143"/>
              <a:gd name="connsiteX3" fmla="*/ 3341914 w 3995057"/>
              <a:gd name="connsiteY3" fmla="*/ 3396343 h 4082143"/>
              <a:gd name="connsiteX4" fmla="*/ 3929742 w 3995057"/>
              <a:gd name="connsiteY4" fmla="*/ 4060372 h 4082143"/>
              <a:gd name="connsiteX5" fmla="*/ 0 w 3995057"/>
              <a:gd name="connsiteY5" fmla="*/ 4082143 h 4082143"/>
              <a:gd name="connsiteX6" fmla="*/ 21771 w 3995057"/>
              <a:gd name="connsiteY6" fmla="*/ 21772 h 4082143"/>
              <a:gd name="connsiteX7" fmla="*/ 21771 w 3995057"/>
              <a:gd name="connsiteY7" fmla="*/ 21772 h 4082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5057" h="4082143">
                <a:moveTo>
                  <a:pt x="119742" y="21772"/>
                </a:moveTo>
                <a:lnTo>
                  <a:pt x="3995057" y="0"/>
                </a:lnTo>
                <a:lnTo>
                  <a:pt x="3341914" y="914400"/>
                </a:lnTo>
                <a:lnTo>
                  <a:pt x="3341914" y="3396343"/>
                </a:lnTo>
                <a:lnTo>
                  <a:pt x="3929742" y="4060372"/>
                </a:lnTo>
                <a:lnTo>
                  <a:pt x="0" y="4082143"/>
                </a:lnTo>
                <a:lnTo>
                  <a:pt x="21771" y="21772"/>
                </a:lnTo>
                <a:lnTo>
                  <a:pt x="21771" y="21772"/>
                </a:lnTo>
              </a:path>
            </a:pathLst>
          </a:custGeom>
          <a:solidFill>
            <a:schemeClr val="accent3">
              <a:lumMod val="90000"/>
            </a:schemeClr>
          </a:solidFill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lg" len="lg"/>
          </a:ln>
          <a:effectLst/>
        </p:spPr>
        <p:txBody>
          <a:bodyPr vert="horz" wrap="non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BA64097-DE71-443E-A2CD-0A7BFFCF1958}"/>
              </a:ext>
            </a:extLst>
          </p:cNvPr>
          <p:cNvGrpSpPr/>
          <p:nvPr/>
        </p:nvGrpSpPr>
        <p:grpSpPr>
          <a:xfrm>
            <a:off x="1410897" y="2449810"/>
            <a:ext cx="4548187" cy="4221163"/>
            <a:chOff x="1410897" y="2449810"/>
            <a:chExt cx="4548187" cy="4221163"/>
          </a:xfrm>
        </p:grpSpPr>
        <p:sp>
          <p:nvSpPr>
            <p:cNvPr id="20482" name="Line 44"/>
            <p:cNvSpPr>
              <a:spLocks noChangeShapeType="1"/>
            </p:cNvSpPr>
            <p:nvPr/>
          </p:nvSpPr>
          <p:spPr bwMode="auto">
            <a:xfrm rot="10800000">
              <a:off x="5022459" y="3159423"/>
              <a:ext cx="0" cy="322103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83" name="Line 7"/>
            <p:cNvSpPr>
              <a:spLocks noChangeShapeType="1"/>
            </p:cNvSpPr>
            <p:nvPr/>
          </p:nvSpPr>
          <p:spPr bwMode="auto">
            <a:xfrm rot="10800000" flipV="1">
              <a:off x="1683947" y="6455073"/>
              <a:ext cx="333692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84" name="Line 8"/>
            <p:cNvSpPr>
              <a:spLocks noChangeShapeType="1"/>
            </p:cNvSpPr>
            <p:nvPr/>
          </p:nvSpPr>
          <p:spPr bwMode="auto">
            <a:xfrm rot="10800000">
              <a:off x="1698234" y="3137198"/>
              <a:ext cx="0" cy="17018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85" name="Line 10"/>
            <p:cNvSpPr>
              <a:spLocks noChangeShapeType="1"/>
            </p:cNvSpPr>
            <p:nvPr/>
          </p:nvSpPr>
          <p:spPr bwMode="auto">
            <a:xfrm rot="10800000">
              <a:off x="1679184" y="3146723"/>
              <a:ext cx="325755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86" name="Text Box 12"/>
            <p:cNvSpPr txBox="1">
              <a:spLocks noChangeArrowheads="1"/>
            </p:cNvSpPr>
            <p:nvPr/>
          </p:nvSpPr>
          <p:spPr bwMode="auto">
            <a:xfrm>
              <a:off x="3700072" y="2449810"/>
              <a:ext cx="938212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latin typeface="Comic Sans MS" panose="030F0702030302020204" pitchFamily="66" charset="0"/>
                </a:rPr>
                <a:t>4</a:t>
              </a:r>
              <a:endParaRPr lang="es-ES" sz="2800">
                <a:latin typeface="Comic Sans MS" panose="030F0702030302020204" pitchFamily="66" charset="0"/>
              </a:endParaRPr>
            </a:p>
          </p:txBody>
        </p:sp>
        <p:sp>
          <p:nvSpPr>
            <p:cNvPr id="20487" name="Rectangle 18"/>
            <p:cNvSpPr>
              <a:spLocks noChangeArrowheads="1"/>
            </p:cNvSpPr>
            <p:nvPr/>
          </p:nvSpPr>
          <p:spPr bwMode="auto">
            <a:xfrm>
              <a:off x="3687372" y="2994323"/>
              <a:ext cx="984250" cy="328612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488" name="Line 20"/>
            <p:cNvSpPr>
              <a:spLocks noChangeShapeType="1"/>
            </p:cNvSpPr>
            <p:nvPr/>
          </p:nvSpPr>
          <p:spPr bwMode="auto">
            <a:xfrm rot="10800000">
              <a:off x="3349234" y="3137198"/>
              <a:ext cx="0" cy="32766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89" name="Rectangle 21"/>
            <p:cNvSpPr>
              <a:spLocks noChangeArrowheads="1"/>
            </p:cNvSpPr>
            <p:nvPr/>
          </p:nvSpPr>
          <p:spPr bwMode="auto">
            <a:xfrm rot="16200000">
              <a:off x="2873778" y="4661991"/>
              <a:ext cx="984250" cy="32543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490" name="Text Box 22"/>
            <p:cNvSpPr txBox="1">
              <a:spLocks noChangeArrowheads="1"/>
            </p:cNvSpPr>
            <p:nvPr/>
          </p:nvSpPr>
          <p:spPr bwMode="auto">
            <a:xfrm>
              <a:off x="3320659" y="4600873"/>
              <a:ext cx="941388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latin typeface="Comic Sans MS" panose="030F0702030302020204" pitchFamily="66" charset="0"/>
                </a:rPr>
                <a:t>2</a:t>
              </a:r>
              <a:endParaRPr lang="es-ES" sz="2800">
                <a:latin typeface="Comic Sans MS" panose="030F0702030302020204" pitchFamily="66" charset="0"/>
              </a:endParaRPr>
            </a:p>
          </p:txBody>
        </p:sp>
        <p:sp>
          <p:nvSpPr>
            <p:cNvPr id="20491" name="Text Box 23"/>
            <p:cNvSpPr txBox="1">
              <a:spLocks noChangeArrowheads="1"/>
            </p:cNvSpPr>
            <p:nvPr/>
          </p:nvSpPr>
          <p:spPr bwMode="auto">
            <a:xfrm>
              <a:off x="2082409" y="2449810"/>
              <a:ext cx="938213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latin typeface="Comic Sans MS" panose="030F0702030302020204" pitchFamily="66" charset="0"/>
                </a:rPr>
                <a:t>1</a:t>
              </a:r>
              <a:endParaRPr lang="es-ES" sz="2800">
                <a:latin typeface="Comic Sans MS" panose="030F0702030302020204" pitchFamily="66" charset="0"/>
              </a:endParaRPr>
            </a:p>
          </p:txBody>
        </p:sp>
        <p:sp>
          <p:nvSpPr>
            <p:cNvPr id="20492" name="Rectangle 45"/>
            <p:cNvSpPr>
              <a:spLocks noChangeArrowheads="1"/>
            </p:cNvSpPr>
            <p:nvPr/>
          </p:nvSpPr>
          <p:spPr bwMode="auto">
            <a:xfrm rot="16200000">
              <a:off x="4555735" y="4718347"/>
              <a:ext cx="984250" cy="327025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493" name="Text Box 46"/>
            <p:cNvSpPr txBox="1">
              <a:spLocks noChangeArrowheads="1"/>
            </p:cNvSpPr>
            <p:nvPr/>
          </p:nvSpPr>
          <p:spPr bwMode="auto">
            <a:xfrm>
              <a:off x="5020872" y="4634210"/>
              <a:ext cx="938212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latin typeface="Comic Sans MS" panose="030F0702030302020204" pitchFamily="66" charset="0"/>
                </a:rPr>
                <a:t>3</a:t>
              </a:r>
              <a:endParaRPr lang="es-ES" sz="2800">
                <a:latin typeface="Comic Sans MS" panose="030F0702030302020204" pitchFamily="66" charset="0"/>
              </a:endParaRPr>
            </a:p>
          </p:txBody>
        </p:sp>
        <p:sp>
          <p:nvSpPr>
            <p:cNvPr id="20494" name="Text Box 54"/>
            <p:cNvSpPr txBox="1">
              <a:spLocks noChangeArrowheads="1"/>
            </p:cNvSpPr>
            <p:nvPr/>
          </p:nvSpPr>
          <p:spPr bwMode="auto">
            <a:xfrm>
              <a:off x="5090722" y="2884785"/>
              <a:ext cx="525462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20495" name="Text Box 55"/>
            <p:cNvSpPr txBox="1">
              <a:spLocks noChangeArrowheads="1"/>
            </p:cNvSpPr>
            <p:nvPr/>
          </p:nvSpPr>
          <p:spPr bwMode="auto">
            <a:xfrm>
              <a:off x="5090722" y="6185198"/>
              <a:ext cx="522287" cy="485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20496" name="Oval 60"/>
            <p:cNvSpPr>
              <a:spLocks noChangeArrowheads="1"/>
            </p:cNvSpPr>
            <p:nvPr/>
          </p:nvSpPr>
          <p:spPr bwMode="auto">
            <a:xfrm rot="10800000">
              <a:off x="4963722" y="3070523"/>
              <a:ext cx="130175" cy="13176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497" name="Oval 61"/>
            <p:cNvSpPr>
              <a:spLocks noChangeArrowheads="1"/>
            </p:cNvSpPr>
            <p:nvPr/>
          </p:nvSpPr>
          <p:spPr bwMode="auto">
            <a:xfrm rot="10800000">
              <a:off x="4949434" y="6358235"/>
              <a:ext cx="131763" cy="13176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498" name="Line 68"/>
            <p:cNvSpPr>
              <a:spLocks noChangeShapeType="1"/>
            </p:cNvSpPr>
            <p:nvPr/>
          </p:nvSpPr>
          <p:spPr bwMode="auto">
            <a:xfrm>
              <a:off x="1410897" y="4834235"/>
              <a:ext cx="53975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0499" name="Line 69"/>
            <p:cNvSpPr>
              <a:spLocks noChangeShapeType="1"/>
            </p:cNvSpPr>
            <p:nvPr/>
          </p:nvSpPr>
          <p:spPr bwMode="auto">
            <a:xfrm>
              <a:off x="1549009" y="4927898"/>
              <a:ext cx="28733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0500" name="Line 70"/>
            <p:cNvSpPr>
              <a:spLocks noChangeShapeType="1"/>
            </p:cNvSpPr>
            <p:nvPr/>
          </p:nvSpPr>
          <p:spPr bwMode="auto">
            <a:xfrm rot="10800000">
              <a:off x="1683947" y="4935835"/>
              <a:ext cx="0" cy="150653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1" name="Rectangle 71"/>
            <p:cNvSpPr>
              <a:spLocks noChangeArrowheads="1"/>
            </p:cNvSpPr>
            <p:nvPr/>
          </p:nvSpPr>
          <p:spPr bwMode="auto">
            <a:xfrm>
              <a:off x="2093522" y="2980035"/>
              <a:ext cx="984250" cy="32861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02" name="Text Box 72"/>
            <p:cNvSpPr txBox="1">
              <a:spLocks noChangeArrowheads="1"/>
            </p:cNvSpPr>
            <p:nvPr/>
          </p:nvSpPr>
          <p:spPr bwMode="auto">
            <a:xfrm>
              <a:off x="1680772" y="4575473"/>
              <a:ext cx="941387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67FCD640-6D7F-421D-B6A4-B816E9AC466E}"/>
              </a:ext>
            </a:extLst>
          </p:cNvPr>
          <p:cNvGrpSpPr/>
          <p:nvPr/>
        </p:nvGrpSpPr>
        <p:grpSpPr>
          <a:xfrm>
            <a:off x="5884201" y="3134023"/>
            <a:ext cx="2533650" cy="3422650"/>
            <a:chOff x="6273083" y="3134023"/>
            <a:chExt cx="2533650" cy="3422650"/>
          </a:xfrm>
        </p:grpSpPr>
        <p:sp>
          <p:nvSpPr>
            <p:cNvPr id="20503" name="Text Box 74"/>
            <p:cNvSpPr txBox="1">
              <a:spLocks noChangeArrowheads="1"/>
            </p:cNvSpPr>
            <p:nvPr/>
          </p:nvSpPr>
          <p:spPr bwMode="auto">
            <a:xfrm>
              <a:off x="6360396" y="3134023"/>
              <a:ext cx="243205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800" baseline="-25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1</a:t>
              </a:r>
              <a:r>
                <a:rPr lang="es-ES" sz="28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 = 4,7 k</a:t>
              </a:r>
              <a:r>
                <a:rPr lang="es-ES" sz="2800" dirty="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</a:t>
              </a:r>
            </a:p>
          </p:txBody>
        </p:sp>
        <p:sp>
          <p:nvSpPr>
            <p:cNvPr id="20504" name="Text Box 75"/>
            <p:cNvSpPr txBox="1">
              <a:spLocks noChangeArrowheads="1"/>
            </p:cNvSpPr>
            <p:nvPr/>
          </p:nvSpPr>
          <p:spPr bwMode="auto">
            <a:xfrm>
              <a:off x="6365158" y="3843635"/>
              <a:ext cx="243205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solidFill>
                    <a:srgbClr val="3333FF"/>
                  </a:solidFill>
                  <a:latin typeface="Comic Sans MS" panose="030F0702030302020204" pitchFamily="66" charset="0"/>
                </a:rPr>
                <a:t>2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 = 5,6 k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</a:t>
              </a:r>
            </a:p>
          </p:txBody>
        </p:sp>
        <p:sp>
          <p:nvSpPr>
            <p:cNvPr id="20505" name="Text Box 76"/>
            <p:cNvSpPr txBox="1">
              <a:spLocks noChangeArrowheads="1"/>
            </p:cNvSpPr>
            <p:nvPr/>
          </p:nvSpPr>
          <p:spPr bwMode="auto">
            <a:xfrm>
              <a:off x="6426087" y="4554835"/>
              <a:ext cx="235585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800" baseline="-25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3</a:t>
              </a:r>
              <a:r>
                <a:rPr lang="es-ES" sz="28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 = 6,8 k</a:t>
              </a:r>
              <a:r>
                <a:rPr lang="es-ES" sz="2800" dirty="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</a:t>
              </a:r>
            </a:p>
          </p:txBody>
        </p:sp>
        <p:sp>
          <p:nvSpPr>
            <p:cNvPr id="20506" name="Text Box 77"/>
            <p:cNvSpPr txBox="1">
              <a:spLocks noChangeArrowheads="1"/>
            </p:cNvSpPr>
            <p:nvPr/>
          </p:nvSpPr>
          <p:spPr bwMode="auto">
            <a:xfrm>
              <a:off x="6374683" y="5264448"/>
              <a:ext cx="243205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solidFill>
                    <a:srgbClr val="3333FF"/>
                  </a:solidFill>
                  <a:latin typeface="Comic Sans MS" panose="030F0702030302020204" pitchFamily="66" charset="0"/>
                </a:rPr>
                <a:t>4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 = 1,0 k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</a:t>
              </a:r>
            </a:p>
          </p:txBody>
        </p:sp>
        <p:sp>
          <p:nvSpPr>
            <p:cNvPr id="20507" name="Text Box 78"/>
            <p:cNvSpPr txBox="1">
              <a:spLocks noChangeArrowheads="1"/>
            </p:cNvSpPr>
            <p:nvPr/>
          </p:nvSpPr>
          <p:spPr bwMode="auto">
            <a:xfrm>
              <a:off x="6273083" y="5975648"/>
              <a:ext cx="243205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 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= 15 V</a:t>
              </a:r>
              <a:endPara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</p:grpSp>
      <p:sp>
        <p:nvSpPr>
          <p:cNvPr id="20508" name="Text Box 80"/>
          <p:cNvSpPr txBox="1">
            <a:spLocks noChangeArrowheads="1"/>
          </p:cNvSpPr>
          <p:nvPr/>
        </p:nvSpPr>
        <p:spPr bwMode="auto">
          <a:xfrm>
            <a:off x="1578662" y="1266552"/>
            <a:ext cx="8386018" cy="97858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Obtener los Equivalentes </a:t>
            </a:r>
            <a:r>
              <a:rPr lang="es-ES" sz="2400" dirty="0" err="1">
                <a:latin typeface="Arial" panose="020B0604020202020204" pitchFamily="34" charset="0"/>
              </a:rPr>
              <a:t>Thevenin</a:t>
            </a:r>
            <a:r>
              <a:rPr lang="es-ES" sz="2400" dirty="0">
                <a:latin typeface="Arial" panose="020B0604020202020204" pitchFamily="34" charset="0"/>
              </a:rPr>
              <a:t> y Norton de la porción de circuito entre los puntos G y H a su izquierda</a:t>
            </a:r>
          </a:p>
        </p:txBody>
      </p:sp>
      <p:sp>
        <p:nvSpPr>
          <p:cNvPr id="20511" name="CuadroTexto 30"/>
          <p:cNvSpPr txBox="1">
            <a:spLocks noChangeArrowheads="1"/>
          </p:cNvSpPr>
          <p:nvPr/>
        </p:nvSpPr>
        <p:spPr bwMode="auto">
          <a:xfrm>
            <a:off x="1578662" y="575518"/>
            <a:ext cx="8386018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tIns="72000" bIns="72000" anchor="ctr" anchorCtr="0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Veamos los teoremas aplicándolos </a:t>
            </a:r>
            <a:r>
              <a:rPr lang="es-ES" sz="2400" dirty="0">
                <a:solidFill>
                  <a:schemeClr val="tx1"/>
                </a:solidFill>
              </a:rPr>
              <a:t>a una situación concreta</a:t>
            </a:r>
          </a:p>
        </p:txBody>
      </p:sp>
      <p:sp>
        <p:nvSpPr>
          <p:cNvPr id="32" name="Text Box 76">
            <a:extLst>
              <a:ext uri="{FF2B5EF4-FFF2-40B4-BE49-F238E27FC236}">
                <a16:creationId xmlns:a16="http://schemas.microsoft.com/office/drawing/2014/main" id="{BCA02880-A631-471F-B6AE-C68FC5EEB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167" y="4581078"/>
            <a:ext cx="2186149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(hace el papel de carga)</a:t>
            </a:r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68D8640C-70F6-4BAF-EF0E-12FA755437A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555731" y="4719704"/>
            <a:ext cx="984250" cy="327025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eaVert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 Box 76">
            <a:extLst>
              <a:ext uri="{FF2B5EF4-FFF2-40B4-BE49-F238E27FC236}">
                <a16:creationId xmlns:a16="http://schemas.microsoft.com/office/drawing/2014/main" id="{2E483EA6-81B6-5C59-9662-84FFCAE31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9124" y="4556232"/>
            <a:ext cx="23558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 dirty="0">
                <a:solidFill>
                  <a:srgbClr val="008000"/>
                </a:solidFill>
                <a:latin typeface="Comic Sans MS" panose="030F0702030302020204" pitchFamily="66" charset="0"/>
              </a:rPr>
              <a:t>R</a:t>
            </a:r>
            <a:r>
              <a:rPr lang="es-ES" sz="2800" baseline="-25000" dirty="0">
                <a:solidFill>
                  <a:srgbClr val="008000"/>
                </a:solidFill>
                <a:latin typeface="Comic Sans MS" panose="030F0702030302020204" pitchFamily="66" charset="0"/>
              </a:rPr>
              <a:t>3</a:t>
            </a:r>
            <a:r>
              <a:rPr lang="es-ES" sz="2800" dirty="0">
                <a:solidFill>
                  <a:srgbClr val="008000"/>
                </a:solidFill>
                <a:latin typeface="Comic Sans MS" panose="030F0702030302020204" pitchFamily="66" charset="0"/>
              </a:rPr>
              <a:t> = 6,8 k</a:t>
            </a:r>
            <a:r>
              <a:rPr lang="es-ES" sz="2800" dirty="0">
                <a:solidFill>
                  <a:srgbClr val="008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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508" grpId="0" animBg="1"/>
      <p:bldP spid="20511" grpId="0" animBg="1"/>
      <p:bldP spid="32" grpId="0"/>
      <p:bldP spid="5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58" name="Text Box 107"/>
          <p:cNvSpPr txBox="1">
            <a:spLocks noChangeArrowheads="1"/>
          </p:cNvSpPr>
          <p:nvPr/>
        </p:nvSpPr>
        <p:spPr bwMode="auto">
          <a:xfrm>
            <a:off x="1646982" y="3607186"/>
            <a:ext cx="6692897" cy="90588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Es la </a:t>
            </a:r>
            <a:r>
              <a:rPr lang="es-ES" sz="2400" dirty="0" err="1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 baseline="-25000" dirty="0" err="1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eq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de la porción de circuito, vista desde los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terminales (desde G y H), tras sustituir: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9534" name="Group 142"/>
          <p:cNvGrpSpPr>
            <a:grpSpLocks/>
          </p:cNvGrpSpPr>
          <p:nvPr/>
        </p:nvGrpSpPr>
        <p:grpSpPr bwMode="auto">
          <a:xfrm>
            <a:off x="1698425" y="5148646"/>
            <a:ext cx="6134101" cy="536574"/>
            <a:chOff x="3928" y="3628"/>
            <a:chExt cx="3864" cy="338"/>
          </a:xfrm>
        </p:grpSpPr>
        <p:sp>
          <p:nvSpPr>
            <p:cNvPr id="21542" name="Oval 123"/>
            <p:cNvSpPr>
              <a:spLocks noChangeArrowheads="1"/>
            </p:cNvSpPr>
            <p:nvPr/>
          </p:nvSpPr>
          <p:spPr bwMode="auto">
            <a:xfrm>
              <a:off x="4642" y="3703"/>
              <a:ext cx="227" cy="227"/>
            </a:xfrm>
            <a:prstGeom prst="ellipse">
              <a:avLst/>
            </a:prstGeom>
            <a:noFill/>
            <a:ln w="25400" algn="ctr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43" name="Text Box 107"/>
            <p:cNvSpPr txBox="1">
              <a:spLocks noChangeArrowheads="1"/>
            </p:cNvSpPr>
            <p:nvPr/>
          </p:nvSpPr>
          <p:spPr bwMode="auto">
            <a:xfrm>
              <a:off x="3928" y="3628"/>
              <a:ext cx="3864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Cada    </a:t>
              </a: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</a:t>
              </a:r>
              <a:r>
                <a:rPr lang="es-ES" sz="2400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    </a:t>
              </a: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(independiente)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por una</a:t>
              </a: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R =  </a:t>
              </a:r>
            </a:p>
          </p:txBody>
        </p:sp>
        <p:sp>
          <p:nvSpPr>
            <p:cNvPr id="21544" name="Line 124"/>
            <p:cNvSpPr>
              <a:spLocks noChangeShapeType="1"/>
            </p:cNvSpPr>
            <p:nvPr/>
          </p:nvSpPr>
          <p:spPr bwMode="auto">
            <a:xfrm rot="-5400000">
              <a:off x="4589" y="3753"/>
              <a:ext cx="0" cy="11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sp>
          <p:nvSpPr>
            <p:cNvPr id="21545" name="Line 124"/>
            <p:cNvSpPr>
              <a:spLocks noChangeShapeType="1"/>
            </p:cNvSpPr>
            <p:nvPr/>
          </p:nvSpPr>
          <p:spPr bwMode="auto">
            <a:xfrm rot="16200000">
              <a:off x="4941" y="3751"/>
              <a:ext cx="0" cy="11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</p:grpSp>
      <p:sp>
        <p:nvSpPr>
          <p:cNvPr id="59538" name="Text Box 146"/>
          <p:cNvSpPr txBox="1">
            <a:spLocks noChangeArrowheads="1"/>
          </p:cNvSpPr>
          <p:nvPr/>
        </p:nvSpPr>
        <p:spPr bwMode="auto">
          <a:xfrm>
            <a:off x="7637343" y="5140333"/>
            <a:ext cx="2867792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(un circuito abierto)</a:t>
            </a:r>
          </a:p>
        </p:txBody>
      </p:sp>
      <p:sp>
        <p:nvSpPr>
          <p:cNvPr id="88" name="Text Box 146"/>
          <p:cNvSpPr txBox="1">
            <a:spLocks noChangeArrowheads="1"/>
          </p:cNvSpPr>
          <p:nvPr/>
        </p:nvSpPr>
        <p:spPr bwMode="auto">
          <a:xfrm>
            <a:off x="7664885" y="4581504"/>
            <a:ext cx="2289707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/>
              <a:t>(un cable ideal)</a:t>
            </a:r>
          </a:p>
        </p:txBody>
      </p:sp>
      <p:sp>
        <p:nvSpPr>
          <p:cNvPr id="21514" name="Line 4"/>
          <p:cNvSpPr>
            <a:spLocks noChangeShapeType="1"/>
          </p:cNvSpPr>
          <p:nvPr/>
        </p:nvSpPr>
        <p:spPr bwMode="auto">
          <a:xfrm rot="10800000" flipV="1">
            <a:off x="1776413" y="3171776"/>
            <a:ext cx="33369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15" name="Line 6"/>
          <p:cNvSpPr>
            <a:spLocks noChangeShapeType="1"/>
          </p:cNvSpPr>
          <p:nvPr/>
        </p:nvSpPr>
        <p:spPr bwMode="auto">
          <a:xfrm rot="10800000">
            <a:off x="1771650" y="941338"/>
            <a:ext cx="325755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16" name="Text Box 7"/>
          <p:cNvSpPr txBox="1">
            <a:spLocks noChangeArrowheads="1"/>
          </p:cNvSpPr>
          <p:nvPr/>
        </p:nvSpPr>
        <p:spPr bwMode="auto">
          <a:xfrm>
            <a:off x="3792538" y="244426"/>
            <a:ext cx="9382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4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1517" name="Rectangle 8"/>
          <p:cNvSpPr>
            <a:spLocks noChangeArrowheads="1"/>
          </p:cNvSpPr>
          <p:nvPr/>
        </p:nvSpPr>
        <p:spPr bwMode="auto">
          <a:xfrm>
            <a:off x="3779838" y="788938"/>
            <a:ext cx="984250" cy="328613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518" name="Line 9"/>
          <p:cNvSpPr>
            <a:spLocks noChangeShapeType="1"/>
          </p:cNvSpPr>
          <p:nvPr/>
        </p:nvSpPr>
        <p:spPr bwMode="auto">
          <a:xfrm rot="10800000">
            <a:off x="3441700" y="931813"/>
            <a:ext cx="0" cy="226853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19" name="Rectangle 10"/>
          <p:cNvSpPr>
            <a:spLocks noChangeArrowheads="1"/>
          </p:cNvSpPr>
          <p:nvPr/>
        </p:nvSpPr>
        <p:spPr bwMode="auto">
          <a:xfrm rot="-5400000">
            <a:off x="2966244" y="1934319"/>
            <a:ext cx="984250" cy="325438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520" name="Text Box 11"/>
          <p:cNvSpPr txBox="1">
            <a:spLocks noChangeArrowheads="1"/>
          </p:cNvSpPr>
          <p:nvPr/>
        </p:nvSpPr>
        <p:spPr bwMode="auto">
          <a:xfrm>
            <a:off x="3413125" y="1873201"/>
            <a:ext cx="9413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2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1521" name="Text Box 12"/>
          <p:cNvSpPr txBox="1">
            <a:spLocks noChangeArrowheads="1"/>
          </p:cNvSpPr>
          <p:nvPr/>
        </p:nvSpPr>
        <p:spPr bwMode="auto">
          <a:xfrm>
            <a:off x="2174875" y="244426"/>
            <a:ext cx="9382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1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1522" name="Text Box 15"/>
          <p:cNvSpPr txBox="1">
            <a:spLocks noChangeArrowheads="1"/>
          </p:cNvSpPr>
          <p:nvPr/>
        </p:nvSpPr>
        <p:spPr bwMode="auto">
          <a:xfrm>
            <a:off x="5183188" y="679401"/>
            <a:ext cx="525462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21523" name="Text Box 16"/>
          <p:cNvSpPr txBox="1">
            <a:spLocks noChangeArrowheads="1"/>
          </p:cNvSpPr>
          <p:nvPr/>
        </p:nvSpPr>
        <p:spPr bwMode="auto">
          <a:xfrm>
            <a:off x="5183188" y="2901901"/>
            <a:ext cx="5222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21524" name="Oval 17"/>
          <p:cNvSpPr>
            <a:spLocks noChangeArrowheads="1"/>
          </p:cNvSpPr>
          <p:nvPr/>
        </p:nvSpPr>
        <p:spPr bwMode="auto">
          <a:xfrm rot="10800000">
            <a:off x="5056188" y="865138"/>
            <a:ext cx="130175" cy="13176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525" name="Line 21"/>
          <p:cNvSpPr>
            <a:spLocks noChangeShapeType="1"/>
          </p:cNvSpPr>
          <p:nvPr/>
        </p:nvSpPr>
        <p:spPr bwMode="auto">
          <a:xfrm rot="10800000">
            <a:off x="1790700" y="2168476"/>
            <a:ext cx="0" cy="98583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2185988" y="774651"/>
            <a:ext cx="984250" cy="328612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79" name="Group 34"/>
          <p:cNvGrpSpPr>
            <a:grpSpLocks/>
          </p:cNvGrpSpPr>
          <p:nvPr/>
        </p:nvGrpSpPr>
        <p:grpSpPr bwMode="auto">
          <a:xfrm>
            <a:off x="1503363" y="1792238"/>
            <a:ext cx="1211262" cy="584200"/>
            <a:chOff x="947" y="1969"/>
            <a:chExt cx="763" cy="368"/>
          </a:xfrm>
        </p:grpSpPr>
        <p:sp>
          <p:nvSpPr>
            <p:cNvPr id="21539" name="Line 19"/>
            <p:cNvSpPr>
              <a:spLocks noChangeShapeType="1"/>
            </p:cNvSpPr>
            <p:nvPr/>
          </p:nvSpPr>
          <p:spPr bwMode="auto">
            <a:xfrm>
              <a:off x="947" y="2132"/>
              <a:ext cx="34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1540" name="Line 20"/>
            <p:cNvSpPr>
              <a:spLocks noChangeShapeType="1"/>
            </p:cNvSpPr>
            <p:nvPr/>
          </p:nvSpPr>
          <p:spPr bwMode="auto">
            <a:xfrm>
              <a:off x="1034" y="2191"/>
              <a:ext cx="18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1541" name="Text Box 23"/>
            <p:cNvSpPr txBox="1">
              <a:spLocks noChangeArrowheads="1"/>
            </p:cNvSpPr>
            <p:nvPr/>
          </p:nvSpPr>
          <p:spPr bwMode="auto">
            <a:xfrm>
              <a:off x="1117" y="1969"/>
              <a:ext cx="59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21528" name="Group 20"/>
          <p:cNvGrpSpPr>
            <a:grpSpLocks/>
          </p:cNvGrpSpPr>
          <p:nvPr/>
        </p:nvGrpSpPr>
        <p:grpSpPr bwMode="auto">
          <a:xfrm>
            <a:off x="5902325" y="1006426"/>
            <a:ext cx="2473325" cy="2141537"/>
            <a:chOff x="3718" y="683"/>
            <a:chExt cx="1558" cy="1349"/>
          </a:xfrm>
        </p:grpSpPr>
        <p:sp>
          <p:nvSpPr>
            <p:cNvPr id="21536" name="Text Box 24"/>
            <p:cNvSpPr txBox="1">
              <a:spLocks noChangeArrowheads="1"/>
            </p:cNvSpPr>
            <p:nvPr/>
          </p:nvSpPr>
          <p:spPr bwMode="auto">
            <a:xfrm>
              <a:off x="3744" y="683"/>
              <a:ext cx="15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solidFill>
                    <a:srgbClr val="3333FF"/>
                  </a:solidFill>
                  <a:latin typeface="Comic Sans MS" panose="030F0702030302020204" pitchFamily="66" charset="0"/>
                </a:rPr>
                <a:t>1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 = 4,7 k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</a:t>
              </a:r>
            </a:p>
          </p:txBody>
        </p:sp>
        <p:sp>
          <p:nvSpPr>
            <p:cNvPr id="21537" name="Text Box 25"/>
            <p:cNvSpPr txBox="1">
              <a:spLocks noChangeArrowheads="1"/>
            </p:cNvSpPr>
            <p:nvPr/>
          </p:nvSpPr>
          <p:spPr bwMode="auto">
            <a:xfrm>
              <a:off x="3726" y="1153"/>
              <a:ext cx="15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solidFill>
                    <a:srgbClr val="3333FF"/>
                  </a:solidFill>
                  <a:latin typeface="Comic Sans MS" panose="030F0702030302020204" pitchFamily="66" charset="0"/>
                </a:rPr>
                <a:t>2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 = 5,6 k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</a:t>
              </a:r>
            </a:p>
          </p:txBody>
        </p:sp>
        <p:sp>
          <p:nvSpPr>
            <p:cNvPr id="21538" name="Text Box 27"/>
            <p:cNvSpPr txBox="1">
              <a:spLocks noChangeArrowheads="1"/>
            </p:cNvSpPr>
            <p:nvPr/>
          </p:nvSpPr>
          <p:spPr bwMode="auto">
            <a:xfrm>
              <a:off x="3718" y="1666"/>
              <a:ext cx="15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solidFill>
                    <a:srgbClr val="3333FF"/>
                  </a:solidFill>
                  <a:latin typeface="Comic Sans MS" panose="030F0702030302020204" pitchFamily="66" charset="0"/>
                </a:rPr>
                <a:t>4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 = 1,0 k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</a:t>
              </a:r>
            </a:p>
          </p:txBody>
        </p:sp>
      </p:grpSp>
      <p:sp>
        <p:nvSpPr>
          <p:cNvPr id="95" name="Text Box 36"/>
          <p:cNvSpPr txBox="1">
            <a:spLocks noChangeArrowheads="1"/>
          </p:cNvSpPr>
          <p:nvPr/>
        </p:nvSpPr>
        <p:spPr bwMode="auto">
          <a:xfrm>
            <a:off x="9020827" y="1677068"/>
            <a:ext cx="698500" cy="677863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320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21531" name="Line 49"/>
          <p:cNvSpPr>
            <a:spLocks noChangeShapeType="1"/>
          </p:cNvSpPr>
          <p:nvPr/>
        </p:nvSpPr>
        <p:spPr bwMode="auto">
          <a:xfrm rot="10800000">
            <a:off x="1790700" y="931813"/>
            <a:ext cx="0" cy="112236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97" name="Group 52"/>
          <p:cNvGrpSpPr>
            <a:grpSpLocks/>
          </p:cNvGrpSpPr>
          <p:nvPr/>
        </p:nvGrpSpPr>
        <p:grpSpPr bwMode="auto">
          <a:xfrm>
            <a:off x="4816479" y="1138188"/>
            <a:ext cx="631826" cy="1828800"/>
            <a:chOff x="3034" y="766"/>
            <a:chExt cx="398" cy="1152"/>
          </a:xfrm>
        </p:grpSpPr>
        <p:sp>
          <p:nvSpPr>
            <p:cNvPr id="21534" name="Line 51"/>
            <p:cNvSpPr>
              <a:spLocks noChangeShapeType="1"/>
            </p:cNvSpPr>
            <p:nvPr/>
          </p:nvSpPr>
          <p:spPr bwMode="auto">
            <a:xfrm flipV="1">
              <a:off x="3225" y="766"/>
              <a:ext cx="0" cy="115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dash"/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1535" name="Text Box 50"/>
            <p:cNvSpPr txBox="1">
              <a:spLocks noChangeArrowheads="1"/>
            </p:cNvSpPr>
            <p:nvPr/>
          </p:nvSpPr>
          <p:spPr bwMode="auto">
            <a:xfrm>
              <a:off x="3034" y="1161"/>
              <a:ext cx="398" cy="338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  <a:r>
                <a:rPr lang="es-ES" sz="2400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eq</a:t>
              </a:r>
            </a:p>
          </p:txBody>
        </p:sp>
      </p:grpSp>
      <p:sp>
        <p:nvSpPr>
          <p:cNvPr id="21533" name="Oval 17"/>
          <p:cNvSpPr>
            <a:spLocks noChangeArrowheads="1"/>
          </p:cNvSpPr>
          <p:nvPr/>
        </p:nvSpPr>
        <p:spPr bwMode="auto">
          <a:xfrm rot="10800000">
            <a:off x="5056188" y="3087638"/>
            <a:ext cx="130175" cy="13176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 rot="108000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Box 108">
            <a:extLst>
              <a:ext uri="{FF2B5EF4-FFF2-40B4-BE49-F238E27FC236}">
                <a16:creationId xmlns:a16="http://schemas.microsoft.com/office/drawing/2014/main" id="{8FBB1269-BF58-B03B-EFD1-4B3A9A8BC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3016" y="5842089"/>
            <a:ext cx="4843976" cy="95677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44000" tIns="108000" rIns="144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u="sng">
                <a:latin typeface="Arial" panose="020B0604020202020204" pitchFamily="34" charset="0"/>
                <a:sym typeface="Symbol" panose="05050102010706020507" pitchFamily="18" charset="2"/>
              </a:rPr>
              <a:t>Lógico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 r es lo que queda de una fuente real con estos cambios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9533" name="Group 141"/>
          <p:cNvGrpSpPr>
            <a:grpSpLocks/>
          </p:cNvGrpSpPr>
          <p:nvPr/>
        </p:nvGrpSpPr>
        <p:grpSpPr bwMode="auto">
          <a:xfrm>
            <a:off x="1680700" y="4599082"/>
            <a:ext cx="6040436" cy="536576"/>
            <a:chOff x="3905" y="3263"/>
            <a:chExt cx="3805" cy="338"/>
          </a:xfrm>
        </p:grpSpPr>
        <p:sp>
          <p:nvSpPr>
            <p:cNvPr id="21546" name="Line 124"/>
            <p:cNvSpPr>
              <a:spLocks noChangeShapeType="1"/>
            </p:cNvSpPr>
            <p:nvPr/>
          </p:nvSpPr>
          <p:spPr bwMode="auto">
            <a:xfrm>
              <a:off x="4742" y="3366"/>
              <a:ext cx="0" cy="11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sp>
          <p:nvSpPr>
            <p:cNvPr id="21547" name="Line 125"/>
            <p:cNvSpPr>
              <a:spLocks noChangeShapeType="1"/>
            </p:cNvSpPr>
            <p:nvPr/>
          </p:nvSpPr>
          <p:spPr bwMode="auto">
            <a:xfrm>
              <a:off x="4772" y="3308"/>
              <a:ext cx="0" cy="24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sp>
          <p:nvSpPr>
            <p:cNvPr id="21548" name="Text Box 107"/>
            <p:cNvSpPr txBox="1">
              <a:spLocks noChangeArrowheads="1"/>
            </p:cNvSpPr>
            <p:nvPr/>
          </p:nvSpPr>
          <p:spPr bwMode="auto">
            <a:xfrm>
              <a:off x="3905" y="3263"/>
              <a:ext cx="380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Cada            </a:t>
              </a: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(independiente)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por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una </a:t>
              </a: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R = 0</a:t>
              </a:r>
            </a:p>
          </p:txBody>
        </p:sp>
        <p:sp>
          <p:nvSpPr>
            <p:cNvPr id="21549" name="Line 124"/>
            <p:cNvSpPr>
              <a:spLocks noChangeShapeType="1"/>
            </p:cNvSpPr>
            <p:nvPr/>
          </p:nvSpPr>
          <p:spPr bwMode="auto">
            <a:xfrm rot="-5400000">
              <a:off x="4836" y="3370"/>
              <a:ext cx="0" cy="11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sp>
          <p:nvSpPr>
            <p:cNvPr id="21550" name="Line 124"/>
            <p:cNvSpPr>
              <a:spLocks noChangeShapeType="1"/>
            </p:cNvSpPr>
            <p:nvPr/>
          </p:nvSpPr>
          <p:spPr bwMode="auto">
            <a:xfrm rot="-5400000">
              <a:off x="4672" y="3374"/>
              <a:ext cx="0" cy="11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2B26301-C1F1-0C5C-D6B4-F8C59601F6C5}"/>
              </a:ext>
            </a:extLst>
          </p:cNvPr>
          <p:cNvGrpSpPr/>
          <p:nvPr/>
        </p:nvGrpSpPr>
        <p:grpSpPr>
          <a:xfrm>
            <a:off x="6702557" y="5987249"/>
            <a:ext cx="1495833" cy="790848"/>
            <a:chOff x="6983910" y="6218364"/>
            <a:chExt cx="1495833" cy="790848"/>
          </a:xfrm>
        </p:grpSpPr>
        <p:sp>
          <p:nvSpPr>
            <p:cNvPr id="6" name="Text Box 11">
              <a:extLst>
                <a:ext uri="{FF2B5EF4-FFF2-40B4-BE49-F238E27FC236}">
                  <a16:creationId xmlns:a16="http://schemas.microsoft.com/office/drawing/2014/main" id="{CFC7AE72-AA49-258E-F0F7-99B773431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4411" y="6543669"/>
              <a:ext cx="471488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r>
                <a:rPr lang="es-ES" sz="2000" baseline="-25000">
                  <a:solidFill>
                    <a:srgbClr val="FF33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Th</a:t>
              </a:r>
              <a:endParaRPr lang="es-ES" sz="2000">
                <a:solidFill>
                  <a:srgbClr val="FF33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" name="Text Box 16">
              <a:extLst>
                <a:ext uri="{FF2B5EF4-FFF2-40B4-BE49-F238E27FC236}">
                  <a16:creationId xmlns:a16="http://schemas.microsoft.com/office/drawing/2014/main" id="{A24BA727-C1E1-056B-6704-C507A99E0B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7835" y="6625037"/>
              <a:ext cx="376772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A826617-CCD2-4348-DD44-144B855B6CA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7151773" y="6400927"/>
              <a:ext cx="441325" cy="76200"/>
              <a:chOff x="1619" y="2634"/>
              <a:chExt cx="340" cy="54"/>
            </a:xfrm>
          </p:grpSpPr>
          <p:sp>
            <p:nvSpPr>
              <p:cNvPr id="16" name="Line 9">
                <a:extLst>
                  <a:ext uri="{FF2B5EF4-FFF2-40B4-BE49-F238E27FC236}">
                    <a16:creationId xmlns:a16="http://schemas.microsoft.com/office/drawing/2014/main" id="{CBE102E1-5C32-C366-4BD7-85BE7E2F5D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9" y="2634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7" name="Line 10">
                <a:extLst>
                  <a:ext uri="{FF2B5EF4-FFF2-40B4-BE49-F238E27FC236}">
                    <a16:creationId xmlns:a16="http://schemas.microsoft.com/office/drawing/2014/main" id="{1A023BAF-56BA-A8CE-8C1A-F0B9890987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6" y="2688"/>
                <a:ext cx="20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</p:grp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C3CCD0B3-A6D8-7B98-A11A-5E23032D72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522547" y="6303864"/>
              <a:ext cx="0" cy="22587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789B955B-1380-D167-E201-32131C14C4D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07803" y="6303493"/>
              <a:ext cx="0" cy="22661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28731339-34BB-4925-5595-2D549609D5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260360" y="6303864"/>
              <a:ext cx="0" cy="22587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FD484A14-2C30-B581-1271-5350578F2E5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7695929" y="6189790"/>
              <a:ext cx="376238" cy="484188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4 w 288"/>
                <a:gd name="T5" fmla="*/ 2 h 384"/>
                <a:gd name="T6" fmla="*/ 0 w 288"/>
                <a:gd name="T7" fmla="*/ 2 h 384"/>
                <a:gd name="T8" fmla="*/ 4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4" name="Oval 17">
              <a:extLst>
                <a:ext uri="{FF2B5EF4-FFF2-40B4-BE49-F238E27FC236}">
                  <a16:creationId xmlns:a16="http://schemas.microsoft.com/office/drawing/2014/main" id="{BD177933-974A-CC96-22FB-6F010C73A3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386874" y="6362033"/>
              <a:ext cx="88900" cy="96838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74E4506D-F630-61F2-4B95-6B1BAB3B8B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988673" y="6367589"/>
              <a:ext cx="88900" cy="98425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8326ED27-78D7-D63E-2109-5F1FD2CF5B61}"/>
              </a:ext>
            </a:extLst>
          </p:cNvPr>
          <p:cNvGrpSpPr/>
          <p:nvPr/>
        </p:nvGrpSpPr>
        <p:grpSpPr>
          <a:xfrm>
            <a:off x="8577141" y="5805844"/>
            <a:ext cx="1373646" cy="1073095"/>
            <a:chOff x="9442519" y="3076708"/>
            <a:chExt cx="1373646" cy="1073095"/>
          </a:xfrm>
        </p:grpSpPr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129CBD82-42D6-8528-94B3-4A0C0C556E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0290" y="3765628"/>
              <a:ext cx="4064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58BF67DC-68F7-60C3-D040-E84AA8942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53749" y="3076708"/>
              <a:ext cx="422275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000" baseline="-250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N</a:t>
              </a:r>
              <a:endParaRPr lang="es-ES" sz="2000">
                <a:solidFill>
                  <a:srgbClr val="3333FF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0" name="Line 29">
              <a:extLst>
                <a:ext uri="{FF2B5EF4-FFF2-40B4-BE49-F238E27FC236}">
                  <a16:creationId xmlns:a16="http://schemas.microsoft.com/office/drawing/2014/main" id="{FDC8599F-2417-CC8A-1893-EBDD6CA64E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9758282" y="3691710"/>
              <a:ext cx="0" cy="22587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21" name="Line 30">
              <a:extLst>
                <a:ext uri="{FF2B5EF4-FFF2-40B4-BE49-F238E27FC236}">
                  <a16:creationId xmlns:a16="http://schemas.microsoft.com/office/drawing/2014/main" id="{226C07C5-A52A-2710-63BC-70B482CE47D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9639418" y="3463277"/>
              <a:ext cx="0" cy="3333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22" name="Line 31">
              <a:extLst>
                <a:ext uri="{FF2B5EF4-FFF2-40B4-BE49-F238E27FC236}">
                  <a16:creationId xmlns:a16="http://schemas.microsoft.com/office/drawing/2014/main" id="{4BB4FED5-4D73-83F6-0002-6F3AF9DC43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0465944" y="3690864"/>
              <a:ext cx="0" cy="20534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B238F0BF-4066-7495-7F3E-FAD198F226D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990248" y="3560966"/>
              <a:ext cx="255891" cy="484188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3 w 288"/>
                <a:gd name="T5" fmla="*/ 2 h 384"/>
                <a:gd name="T6" fmla="*/ 0 w 288"/>
                <a:gd name="T7" fmla="*/ 2 h 384"/>
                <a:gd name="T8" fmla="*/ 3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24" name="Oval 34">
              <a:extLst>
                <a:ext uri="{FF2B5EF4-FFF2-40B4-BE49-F238E27FC236}">
                  <a16:creationId xmlns:a16="http://schemas.microsoft.com/office/drawing/2014/main" id="{00F7DB8C-5953-2BFC-756C-36ECF830B6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722503" y="3412389"/>
              <a:ext cx="90487" cy="96837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Oval 35">
              <a:extLst>
                <a:ext uri="{FF2B5EF4-FFF2-40B4-BE49-F238E27FC236}">
                  <a16:creationId xmlns:a16="http://schemas.microsoft.com/office/drawing/2014/main" id="{81F9ABA0-8B81-6EC5-E3E5-664307829A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446488" y="3406310"/>
              <a:ext cx="87312" cy="95250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Line 43">
              <a:extLst>
                <a:ext uri="{FF2B5EF4-FFF2-40B4-BE49-F238E27FC236}">
                  <a16:creationId xmlns:a16="http://schemas.microsoft.com/office/drawing/2014/main" id="{723DE663-BFDA-67FA-1B41-81AD9337E3E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0556755" y="3248583"/>
              <a:ext cx="0" cy="41546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27" name="Line 44">
              <a:extLst>
                <a:ext uri="{FF2B5EF4-FFF2-40B4-BE49-F238E27FC236}">
                  <a16:creationId xmlns:a16="http://schemas.microsoft.com/office/drawing/2014/main" id="{5B8FBA87-8A7B-C85B-8ECA-C6DCBB054E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714611" y="3228333"/>
              <a:ext cx="0" cy="45701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31" name="Oval 45">
              <a:extLst>
                <a:ext uri="{FF2B5EF4-FFF2-40B4-BE49-F238E27FC236}">
                  <a16:creationId xmlns:a16="http://schemas.microsoft.com/office/drawing/2014/main" id="{C9E32C7C-15E8-9495-A1A6-268349CFD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9142" y="3276929"/>
              <a:ext cx="387350" cy="35560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" name="Text Box 46">
              <a:extLst>
                <a:ext uri="{FF2B5EF4-FFF2-40B4-BE49-F238E27FC236}">
                  <a16:creationId xmlns:a16="http://schemas.microsoft.com/office/drawing/2014/main" id="{BA8AD919-B35F-179B-930F-291557D97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0573" y="3282486"/>
              <a:ext cx="355600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  <a:sym typeface="Wingdings 3" panose="05040102010807070707" pitchFamily="18" charset="2"/>
                </a:rPr>
                <a:t></a:t>
              </a:r>
            </a:p>
          </p:txBody>
        </p:sp>
        <p:sp>
          <p:nvSpPr>
            <p:cNvPr id="29" name="Line 47">
              <a:extLst>
                <a:ext uri="{FF2B5EF4-FFF2-40B4-BE49-F238E27FC236}">
                  <a16:creationId xmlns:a16="http://schemas.microsoft.com/office/drawing/2014/main" id="{63D4A7A9-E780-CD70-E5B8-74FC5D6CAF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0579519" y="3463277"/>
              <a:ext cx="0" cy="3333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9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9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58" grpId="0" animBg="1"/>
      <p:bldP spid="59538" grpId="0"/>
      <p:bldP spid="88" grpId="0"/>
      <p:bldP spid="95" grpId="0" animBg="1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58" name="Text Box 107"/>
          <p:cNvSpPr txBox="1">
            <a:spLocks noChangeArrowheads="1"/>
          </p:cNvSpPr>
          <p:nvPr/>
        </p:nvSpPr>
        <p:spPr bwMode="auto">
          <a:xfrm>
            <a:off x="532365" y="3687149"/>
            <a:ext cx="8953477" cy="905881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Si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hay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fuentes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ideales dependientes (rombos),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         lineales (equivalentes a resistencias)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1514" name="Line 4"/>
          <p:cNvSpPr>
            <a:spLocks noChangeShapeType="1"/>
          </p:cNvSpPr>
          <p:nvPr/>
        </p:nvSpPr>
        <p:spPr bwMode="auto">
          <a:xfrm rot="10800000" flipV="1">
            <a:off x="1776413" y="3171776"/>
            <a:ext cx="33369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15" name="Line 6"/>
          <p:cNvSpPr>
            <a:spLocks noChangeShapeType="1"/>
          </p:cNvSpPr>
          <p:nvPr/>
        </p:nvSpPr>
        <p:spPr bwMode="auto">
          <a:xfrm rot="10800000">
            <a:off x="1771650" y="941338"/>
            <a:ext cx="325755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16" name="Text Box 7"/>
          <p:cNvSpPr txBox="1">
            <a:spLocks noChangeArrowheads="1"/>
          </p:cNvSpPr>
          <p:nvPr/>
        </p:nvSpPr>
        <p:spPr bwMode="auto">
          <a:xfrm>
            <a:off x="3792538" y="244426"/>
            <a:ext cx="9382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4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1517" name="Rectangle 8"/>
          <p:cNvSpPr>
            <a:spLocks noChangeArrowheads="1"/>
          </p:cNvSpPr>
          <p:nvPr/>
        </p:nvSpPr>
        <p:spPr bwMode="auto">
          <a:xfrm>
            <a:off x="3779838" y="788938"/>
            <a:ext cx="984250" cy="328613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518" name="Line 9"/>
          <p:cNvSpPr>
            <a:spLocks noChangeShapeType="1"/>
          </p:cNvSpPr>
          <p:nvPr/>
        </p:nvSpPr>
        <p:spPr bwMode="auto">
          <a:xfrm rot="10800000">
            <a:off x="3441700" y="931813"/>
            <a:ext cx="0" cy="226853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19" name="Rectangle 10"/>
          <p:cNvSpPr>
            <a:spLocks noChangeArrowheads="1"/>
          </p:cNvSpPr>
          <p:nvPr/>
        </p:nvSpPr>
        <p:spPr bwMode="auto">
          <a:xfrm rot="-5400000">
            <a:off x="2966244" y="1934319"/>
            <a:ext cx="984250" cy="325438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520" name="Text Box 11"/>
          <p:cNvSpPr txBox="1">
            <a:spLocks noChangeArrowheads="1"/>
          </p:cNvSpPr>
          <p:nvPr/>
        </p:nvSpPr>
        <p:spPr bwMode="auto">
          <a:xfrm>
            <a:off x="3413125" y="1873201"/>
            <a:ext cx="9413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2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1521" name="Text Box 12"/>
          <p:cNvSpPr txBox="1">
            <a:spLocks noChangeArrowheads="1"/>
          </p:cNvSpPr>
          <p:nvPr/>
        </p:nvSpPr>
        <p:spPr bwMode="auto">
          <a:xfrm>
            <a:off x="2174875" y="244426"/>
            <a:ext cx="9382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1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1522" name="Text Box 15"/>
          <p:cNvSpPr txBox="1">
            <a:spLocks noChangeArrowheads="1"/>
          </p:cNvSpPr>
          <p:nvPr/>
        </p:nvSpPr>
        <p:spPr bwMode="auto">
          <a:xfrm>
            <a:off x="5183188" y="679401"/>
            <a:ext cx="525462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21523" name="Text Box 16"/>
          <p:cNvSpPr txBox="1">
            <a:spLocks noChangeArrowheads="1"/>
          </p:cNvSpPr>
          <p:nvPr/>
        </p:nvSpPr>
        <p:spPr bwMode="auto">
          <a:xfrm>
            <a:off x="5183188" y="2901901"/>
            <a:ext cx="5222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21524" name="Oval 17"/>
          <p:cNvSpPr>
            <a:spLocks noChangeArrowheads="1"/>
          </p:cNvSpPr>
          <p:nvPr/>
        </p:nvSpPr>
        <p:spPr bwMode="auto">
          <a:xfrm rot="10800000">
            <a:off x="5056188" y="865138"/>
            <a:ext cx="130175" cy="13176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525" name="Line 21"/>
          <p:cNvSpPr>
            <a:spLocks noChangeShapeType="1"/>
          </p:cNvSpPr>
          <p:nvPr/>
        </p:nvSpPr>
        <p:spPr bwMode="auto">
          <a:xfrm rot="10800000">
            <a:off x="1790700" y="2168476"/>
            <a:ext cx="0" cy="98583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2185988" y="774651"/>
            <a:ext cx="984250" cy="328612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79" name="Group 34"/>
          <p:cNvGrpSpPr>
            <a:grpSpLocks/>
          </p:cNvGrpSpPr>
          <p:nvPr/>
        </p:nvGrpSpPr>
        <p:grpSpPr bwMode="auto">
          <a:xfrm>
            <a:off x="1503363" y="1792238"/>
            <a:ext cx="1211262" cy="584200"/>
            <a:chOff x="947" y="1969"/>
            <a:chExt cx="763" cy="368"/>
          </a:xfrm>
        </p:grpSpPr>
        <p:sp>
          <p:nvSpPr>
            <p:cNvPr id="21539" name="Line 19"/>
            <p:cNvSpPr>
              <a:spLocks noChangeShapeType="1"/>
            </p:cNvSpPr>
            <p:nvPr/>
          </p:nvSpPr>
          <p:spPr bwMode="auto">
            <a:xfrm>
              <a:off x="947" y="2132"/>
              <a:ext cx="34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1540" name="Line 20"/>
            <p:cNvSpPr>
              <a:spLocks noChangeShapeType="1"/>
            </p:cNvSpPr>
            <p:nvPr/>
          </p:nvSpPr>
          <p:spPr bwMode="auto">
            <a:xfrm>
              <a:off x="1034" y="2191"/>
              <a:ext cx="18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1541" name="Text Box 23"/>
            <p:cNvSpPr txBox="1">
              <a:spLocks noChangeArrowheads="1"/>
            </p:cNvSpPr>
            <p:nvPr/>
          </p:nvSpPr>
          <p:spPr bwMode="auto">
            <a:xfrm>
              <a:off x="1117" y="1969"/>
              <a:ext cx="59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21528" name="Group 20"/>
          <p:cNvGrpSpPr>
            <a:grpSpLocks/>
          </p:cNvGrpSpPr>
          <p:nvPr/>
        </p:nvGrpSpPr>
        <p:grpSpPr bwMode="auto">
          <a:xfrm>
            <a:off x="5902325" y="1006426"/>
            <a:ext cx="2473325" cy="2141537"/>
            <a:chOff x="3718" y="683"/>
            <a:chExt cx="1558" cy="1349"/>
          </a:xfrm>
        </p:grpSpPr>
        <p:sp>
          <p:nvSpPr>
            <p:cNvPr id="21536" name="Text Box 24"/>
            <p:cNvSpPr txBox="1">
              <a:spLocks noChangeArrowheads="1"/>
            </p:cNvSpPr>
            <p:nvPr/>
          </p:nvSpPr>
          <p:spPr bwMode="auto">
            <a:xfrm>
              <a:off x="3744" y="683"/>
              <a:ext cx="15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solidFill>
                    <a:srgbClr val="3333FF"/>
                  </a:solidFill>
                  <a:latin typeface="Comic Sans MS" panose="030F0702030302020204" pitchFamily="66" charset="0"/>
                </a:rPr>
                <a:t>1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 = 4,7 k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</a:t>
              </a:r>
            </a:p>
          </p:txBody>
        </p:sp>
        <p:sp>
          <p:nvSpPr>
            <p:cNvPr id="21537" name="Text Box 25"/>
            <p:cNvSpPr txBox="1">
              <a:spLocks noChangeArrowheads="1"/>
            </p:cNvSpPr>
            <p:nvPr/>
          </p:nvSpPr>
          <p:spPr bwMode="auto">
            <a:xfrm>
              <a:off x="3726" y="1153"/>
              <a:ext cx="15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solidFill>
                    <a:srgbClr val="3333FF"/>
                  </a:solidFill>
                  <a:latin typeface="Comic Sans MS" panose="030F0702030302020204" pitchFamily="66" charset="0"/>
                </a:rPr>
                <a:t>2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 = 5,6 k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</a:t>
              </a:r>
            </a:p>
          </p:txBody>
        </p:sp>
        <p:sp>
          <p:nvSpPr>
            <p:cNvPr id="21538" name="Text Box 27"/>
            <p:cNvSpPr txBox="1">
              <a:spLocks noChangeArrowheads="1"/>
            </p:cNvSpPr>
            <p:nvPr/>
          </p:nvSpPr>
          <p:spPr bwMode="auto">
            <a:xfrm>
              <a:off x="3718" y="1666"/>
              <a:ext cx="15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solidFill>
                    <a:srgbClr val="3333FF"/>
                  </a:solidFill>
                  <a:latin typeface="Comic Sans MS" panose="030F0702030302020204" pitchFamily="66" charset="0"/>
                </a:rPr>
                <a:t>4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 = 1,0 k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</a:t>
              </a:r>
            </a:p>
          </p:txBody>
        </p:sp>
      </p:grpSp>
      <p:sp>
        <p:nvSpPr>
          <p:cNvPr id="95" name="Text Box 36"/>
          <p:cNvSpPr txBox="1">
            <a:spLocks noChangeArrowheads="1"/>
          </p:cNvSpPr>
          <p:nvPr/>
        </p:nvSpPr>
        <p:spPr bwMode="auto">
          <a:xfrm>
            <a:off x="9020827" y="1677068"/>
            <a:ext cx="698500" cy="677863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320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21531" name="Line 49"/>
          <p:cNvSpPr>
            <a:spLocks noChangeShapeType="1"/>
          </p:cNvSpPr>
          <p:nvPr/>
        </p:nvSpPr>
        <p:spPr bwMode="auto">
          <a:xfrm rot="10800000">
            <a:off x="1790700" y="931813"/>
            <a:ext cx="0" cy="112236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97" name="Group 52"/>
          <p:cNvGrpSpPr>
            <a:grpSpLocks/>
          </p:cNvGrpSpPr>
          <p:nvPr/>
        </p:nvGrpSpPr>
        <p:grpSpPr bwMode="auto">
          <a:xfrm>
            <a:off x="4816479" y="1138188"/>
            <a:ext cx="631826" cy="1828800"/>
            <a:chOff x="3034" y="766"/>
            <a:chExt cx="398" cy="1152"/>
          </a:xfrm>
        </p:grpSpPr>
        <p:sp>
          <p:nvSpPr>
            <p:cNvPr id="21534" name="Line 51"/>
            <p:cNvSpPr>
              <a:spLocks noChangeShapeType="1"/>
            </p:cNvSpPr>
            <p:nvPr/>
          </p:nvSpPr>
          <p:spPr bwMode="auto">
            <a:xfrm flipV="1">
              <a:off x="3225" y="766"/>
              <a:ext cx="0" cy="115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dash"/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1535" name="Text Box 50"/>
            <p:cNvSpPr txBox="1">
              <a:spLocks noChangeArrowheads="1"/>
            </p:cNvSpPr>
            <p:nvPr/>
          </p:nvSpPr>
          <p:spPr bwMode="auto">
            <a:xfrm>
              <a:off x="3034" y="1161"/>
              <a:ext cx="398" cy="338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  <a:r>
                <a:rPr lang="es-ES" sz="2400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eq</a:t>
              </a:r>
            </a:p>
          </p:txBody>
        </p:sp>
      </p:grpSp>
      <p:sp>
        <p:nvSpPr>
          <p:cNvPr id="21533" name="Oval 17"/>
          <p:cNvSpPr>
            <a:spLocks noChangeArrowheads="1"/>
          </p:cNvSpPr>
          <p:nvPr/>
        </p:nvSpPr>
        <p:spPr bwMode="auto">
          <a:xfrm rot="10800000">
            <a:off x="5056188" y="3087638"/>
            <a:ext cx="130175" cy="13176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 rot="108000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 Box 107">
            <a:extLst>
              <a:ext uri="{FF2B5EF4-FFF2-40B4-BE49-F238E27FC236}">
                <a16:creationId xmlns:a16="http://schemas.microsoft.com/office/drawing/2014/main" id="{CBC59184-5EA6-4683-9701-12D5F7055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4198" y="6121376"/>
            <a:ext cx="1577925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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Th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s-ES" sz="2400" dirty="0"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33" name="Text Box 107">
            <a:extLst>
              <a:ext uri="{FF2B5EF4-FFF2-40B4-BE49-F238E27FC236}">
                <a16:creationId xmlns:a16="http://schemas.microsoft.com/office/drawing/2014/main" id="{0431C814-E0C6-4BC8-9485-C9B3852F6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157" y="4645932"/>
            <a:ext cx="2420535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No se eliminan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Text Box 107">
            <a:extLst>
              <a:ext uri="{FF2B5EF4-FFF2-40B4-BE49-F238E27FC236}">
                <a16:creationId xmlns:a16="http://schemas.microsoft.com/office/drawing/2014/main" id="{9B934279-60EF-6CB2-C84F-2A923A167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926" y="5367192"/>
            <a:ext cx="7770851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Aquello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 lo que dependan debe estar en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porción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Text Box 107">
            <a:extLst>
              <a:ext uri="{FF2B5EF4-FFF2-40B4-BE49-F238E27FC236}">
                <a16:creationId xmlns:a16="http://schemas.microsoft.com/office/drawing/2014/main" id="{90B5296B-AFBA-085D-F577-2094C81F0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406" y="6104515"/>
            <a:ext cx="2839331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Y r se obtiene así: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515447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58" grpId="0"/>
      <p:bldP spid="44" grpId="0"/>
      <p:bldP spid="33" grpId="0"/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1" name="Text Box 42"/>
          <p:cNvSpPr txBox="1">
            <a:spLocks noChangeArrowheads="1"/>
          </p:cNvSpPr>
          <p:nvPr/>
        </p:nvSpPr>
        <p:spPr bwMode="auto">
          <a:xfrm>
            <a:off x="6584715" y="6236741"/>
            <a:ext cx="1433704" cy="53654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 3,6 k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</a:t>
            </a:r>
            <a:endParaRPr lang="es-ES" sz="2400" baseline="-250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84419" name="Text Box 35"/>
          <p:cNvSpPr txBox="1">
            <a:spLocks noChangeArrowheads="1"/>
          </p:cNvSpPr>
          <p:nvPr/>
        </p:nvSpPr>
        <p:spPr bwMode="auto">
          <a:xfrm>
            <a:off x="1782763" y="3607497"/>
            <a:ext cx="274796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1/R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1/R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+ 1/R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84421" name="Text Box 37"/>
          <p:cNvSpPr txBox="1">
            <a:spLocks noChangeArrowheads="1"/>
          </p:cNvSpPr>
          <p:nvPr/>
        </p:nvSpPr>
        <p:spPr bwMode="auto">
          <a:xfrm>
            <a:off x="2016125" y="4256443"/>
            <a:ext cx="347592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/ (R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s-ES" sz="24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84422" name="Text Box 38"/>
          <p:cNvSpPr txBox="1">
            <a:spLocks noChangeArrowheads="1"/>
          </p:cNvSpPr>
          <p:nvPr/>
        </p:nvSpPr>
        <p:spPr bwMode="auto">
          <a:xfrm>
            <a:off x="2359025" y="4911713"/>
            <a:ext cx="177033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 =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784424" name="Text Box 40"/>
          <p:cNvSpPr txBox="1">
            <a:spLocks noChangeArrowheads="1"/>
          </p:cNvSpPr>
          <p:nvPr/>
        </p:nvSpPr>
        <p:spPr bwMode="auto">
          <a:xfrm>
            <a:off x="2346025" y="6222253"/>
            <a:ext cx="435597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 = 1,0 + 4,7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5,6 / (4,7 + 5,6) </a:t>
            </a:r>
            <a:endParaRPr lang="es-ES" sz="2400" baseline="-250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6" name="CuadroTexto 35"/>
          <p:cNvSpPr txBox="1">
            <a:spLocks noChangeArrowheads="1"/>
          </p:cNvSpPr>
          <p:nvPr/>
        </p:nvSpPr>
        <p:spPr bwMode="auto">
          <a:xfrm>
            <a:off x="4572217" y="3614145"/>
            <a:ext cx="1915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/>
              <a:t>(en paralelo)</a:t>
            </a: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 rot="10800000" flipV="1">
            <a:off x="1776413" y="3171776"/>
            <a:ext cx="33369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 rot="10800000">
            <a:off x="1771650" y="941338"/>
            <a:ext cx="325755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" name="Text Box 7"/>
          <p:cNvSpPr txBox="1">
            <a:spLocks noChangeArrowheads="1"/>
          </p:cNvSpPr>
          <p:nvPr/>
        </p:nvSpPr>
        <p:spPr bwMode="auto">
          <a:xfrm>
            <a:off x="3792538" y="244426"/>
            <a:ext cx="9382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4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40" name="Rectangle 8"/>
          <p:cNvSpPr>
            <a:spLocks noChangeArrowheads="1"/>
          </p:cNvSpPr>
          <p:nvPr/>
        </p:nvSpPr>
        <p:spPr bwMode="auto">
          <a:xfrm>
            <a:off x="3779838" y="788938"/>
            <a:ext cx="984250" cy="328613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1" name="Line 9"/>
          <p:cNvSpPr>
            <a:spLocks noChangeShapeType="1"/>
          </p:cNvSpPr>
          <p:nvPr/>
        </p:nvSpPr>
        <p:spPr bwMode="auto">
          <a:xfrm rot="10800000">
            <a:off x="3441700" y="931813"/>
            <a:ext cx="0" cy="226853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" name="Rectangle 10"/>
          <p:cNvSpPr>
            <a:spLocks noChangeArrowheads="1"/>
          </p:cNvSpPr>
          <p:nvPr/>
        </p:nvSpPr>
        <p:spPr bwMode="auto">
          <a:xfrm rot="-5400000">
            <a:off x="2966244" y="1934319"/>
            <a:ext cx="984250" cy="325438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3413125" y="1873201"/>
            <a:ext cx="9413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2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44" name="Text Box 12"/>
          <p:cNvSpPr txBox="1">
            <a:spLocks noChangeArrowheads="1"/>
          </p:cNvSpPr>
          <p:nvPr/>
        </p:nvSpPr>
        <p:spPr bwMode="auto">
          <a:xfrm>
            <a:off x="2174875" y="244426"/>
            <a:ext cx="9382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1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45" name="Text Box 15"/>
          <p:cNvSpPr txBox="1">
            <a:spLocks noChangeArrowheads="1"/>
          </p:cNvSpPr>
          <p:nvPr/>
        </p:nvSpPr>
        <p:spPr bwMode="auto">
          <a:xfrm>
            <a:off x="5183188" y="679401"/>
            <a:ext cx="525462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46" name="Text Box 16"/>
          <p:cNvSpPr txBox="1">
            <a:spLocks noChangeArrowheads="1"/>
          </p:cNvSpPr>
          <p:nvPr/>
        </p:nvSpPr>
        <p:spPr bwMode="auto">
          <a:xfrm>
            <a:off x="5183188" y="2901901"/>
            <a:ext cx="5222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47" name="Oval 17"/>
          <p:cNvSpPr>
            <a:spLocks noChangeArrowheads="1"/>
          </p:cNvSpPr>
          <p:nvPr/>
        </p:nvSpPr>
        <p:spPr bwMode="auto">
          <a:xfrm rot="10800000">
            <a:off x="5056188" y="865138"/>
            <a:ext cx="130175" cy="13176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" name="Line 21"/>
          <p:cNvSpPr>
            <a:spLocks noChangeShapeType="1"/>
          </p:cNvSpPr>
          <p:nvPr/>
        </p:nvSpPr>
        <p:spPr bwMode="auto">
          <a:xfrm rot="10800000">
            <a:off x="1790700" y="2168476"/>
            <a:ext cx="0" cy="98583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9" name="Rectangle 22"/>
          <p:cNvSpPr>
            <a:spLocks noChangeArrowheads="1"/>
          </p:cNvSpPr>
          <p:nvPr/>
        </p:nvSpPr>
        <p:spPr bwMode="auto">
          <a:xfrm>
            <a:off x="2185988" y="774651"/>
            <a:ext cx="984250" cy="328612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54" name="Group 20"/>
          <p:cNvGrpSpPr>
            <a:grpSpLocks/>
          </p:cNvGrpSpPr>
          <p:nvPr/>
        </p:nvGrpSpPr>
        <p:grpSpPr bwMode="auto">
          <a:xfrm>
            <a:off x="5902325" y="1006426"/>
            <a:ext cx="2473325" cy="2141537"/>
            <a:chOff x="3718" y="683"/>
            <a:chExt cx="1558" cy="1349"/>
          </a:xfrm>
        </p:grpSpPr>
        <p:sp>
          <p:nvSpPr>
            <p:cNvPr id="55" name="Text Box 24"/>
            <p:cNvSpPr txBox="1">
              <a:spLocks noChangeArrowheads="1"/>
            </p:cNvSpPr>
            <p:nvPr/>
          </p:nvSpPr>
          <p:spPr bwMode="auto">
            <a:xfrm>
              <a:off x="3744" y="683"/>
              <a:ext cx="15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solidFill>
                    <a:srgbClr val="3333FF"/>
                  </a:solidFill>
                  <a:latin typeface="Comic Sans MS" panose="030F0702030302020204" pitchFamily="66" charset="0"/>
                </a:rPr>
                <a:t>1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 = 4,7 k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</a:t>
              </a:r>
            </a:p>
          </p:txBody>
        </p:sp>
        <p:sp>
          <p:nvSpPr>
            <p:cNvPr id="56" name="Text Box 25"/>
            <p:cNvSpPr txBox="1">
              <a:spLocks noChangeArrowheads="1"/>
            </p:cNvSpPr>
            <p:nvPr/>
          </p:nvSpPr>
          <p:spPr bwMode="auto">
            <a:xfrm>
              <a:off x="3726" y="1153"/>
              <a:ext cx="15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solidFill>
                    <a:srgbClr val="3333FF"/>
                  </a:solidFill>
                  <a:latin typeface="Comic Sans MS" panose="030F0702030302020204" pitchFamily="66" charset="0"/>
                </a:rPr>
                <a:t>2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 = 5,6 k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</a:t>
              </a:r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3718" y="1666"/>
              <a:ext cx="15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800" baseline="-25000">
                  <a:solidFill>
                    <a:srgbClr val="3333FF"/>
                  </a:solidFill>
                  <a:latin typeface="Comic Sans MS" panose="030F0702030302020204" pitchFamily="66" charset="0"/>
                </a:rPr>
                <a:t>4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</a:rPr>
                <a:t> = 1,0 k</a:t>
              </a:r>
              <a:r>
                <a:rPr lang="es-ES" sz="28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</a:t>
              </a:r>
            </a:p>
          </p:txBody>
        </p:sp>
      </p:grpSp>
      <p:sp>
        <p:nvSpPr>
          <p:cNvPr id="58" name="Line 33"/>
          <p:cNvSpPr>
            <a:spLocks noChangeShapeType="1"/>
          </p:cNvSpPr>
          <p:nvPr/>
        </p:nvSpPr>
        <p:spPr bwMode="auto">
          <a:xfrm>
            <a:off x="1792288" y="1663651"/>
            <a:ext cx="0" cy="11811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 anchorCtr="1">
            <a:spAutoFit/>
          </a:bodyPr>
          <a:lstStyle/>
          <a:p>
            <a:endParaRPr lang="en-GB"/>
          </a:p>
        </p:txBody>
      </p:sp>
      <p:sp>
        <p:nvSpPr>
          <p:cNvPr id="59" name="Text Box 36"/>
          <p:cNvSpPr txBox="1">
            <a:spLocks noChangeArrowheads="1"/>
          </p:cNvSpPr>
          <p:nvPr/>
        </p:nvSpPr>
        <p:spPr bwMode="auto">
          <a:xfrm>
            <a:off x="9020827" y="1677068"/>
            <a:ext cx="698500" cy="677863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320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60" name="Line 49"/>
          <p:cNvSpPr>
            <a:spLocks noChangeShapeType="1"/>
          </p:cNvSpPr>
          <p:nvPr/>
        </p:nvSpPr>
        <p:spPr bwMode="auto">
          <a:xfrm rot="10800000">
            <a:off x="1790700" y="931813"/>
            <a:ext cx="0" cy="112236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61" name="Group 52"/>
          <p:cNvGrpSpPr>
            <a:grpSpLocks/>
          </p:cNvGrpSpPr>
          <p:nvPr/>
        </p:nvGrpSpPr>
        <p:grpSpPr bwMode="auto">
          <a:xfrm>
            <a:off x="4816479" y="1138188"/>
            <a:ext cx="631826" cy="1828800"/>
            <a:chOff x="3034" y="766"/>
            <a:chExt cx="398" cy="1152"/>
          </a:xfrm>
        </p:grpSpPr>
        <p:sp>
          <p:nvSpPr>
            <p:cNvPr id="62" name="Line 51"/>
            <p:cNvSpPr>
              <a:spLocks noChangeShapeType="1"/>
            </p:cNvSpPr>
            <p:nvPr/>
          </p:nvSpPr>
          <p:spPr bwMode="auto">
            <a:xfrm flipV="1">
              <a:off x="3225" y="766"/>
              <a:ext cx="0" cy="115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dash"/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63" name="Text Box 50"/>
            <p:cNvSpPr txBox="1">
              <a:spLocks noChangeArrowheads="1"/>
            </p:cNvSpPr>
            <p:nvPr/>
          </p:nvSpPr>
          <p:spPr bwMode="auto">
            <a:xfrm>
              <a:off x="3034" y="1161"/>
              <a:ext cx="398" cy="338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  <a:r>
                <a:rPr lang="es-ES" sz="2400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eq</a:t>
              </a:r>
            </a:p>
          </p:txBody>
        </p:sp>
      </p:grpSp>
      <p:sp>
        <p:nvSpPr>
          <p:cNvPr id="64" name="Oval 17"/>
          <p:cNvSpPr>
            <a:spLocks noChangeArrowheads="1"/>
          </p:cNvSpPr>
          <p:nvPr/>
        </p:nvSpPr>
        <p:spPr bwMode="auto">
          <a:xfrm rot="10800000">
            <a:off x="5056188" y="3087638"/>
            <a:ext cx="130175" cy="13176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 rot="108000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5" name="CuadroTexto 64"/>
          <p:cNvSpPr txBox="1">
            <a:spLocks noChangeArrowheads="1"/>
          </p:cNvSpPr>
          <p:nvPr/>
        </p:nvSpPr>
        <p:spPr bwMode="auto">
          <a:xfrm>
            <a:off x="4555114" y="4975186"/>
            <a:ext cx="1486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/>
              <a:t>(en serie)</a:t>
            </a:r>
          </a:p>
        </p:txBody>
      </p:sp>
      <p:sp>
        <p:nvSpPr>
          <p:cNvPr id="2" name="Text Box 38">
            <a:extLst>
              <a:ext uri="{FF2B5EF4-FFF2-40B4-BE49-F238E27FC236}">
                <a16:creationId xmlns:a16="http://schemas.microsoft.com/office/drawing/2014/main" id="{CCC93F28-12F7-0E41-48E6-B087C1382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2535" y="5566983"/>
            <a:ext cx="389110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 =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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/ (R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s-ES" sz="24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ECB22AB-6E6E-0062-D9D0-E9EADDF62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3976" y="1834344"/>
            <a:ext cx="9284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rgbClr val="008000"/>
                </a:solidFill>
              </a:rPr>
              <a:t>R = 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8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8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84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8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51" grpId="0" animBg="1"/>
      <p:bldP spid="784419" grpId="0"/>
      <p:bldP spid="784421" grpId="0"/>
      <p:bldP spid="784422" grpId="0"/>
      <p:bldP spid="784424" grpId="0"/>
      <p:bldP spid="36" grpId="0"/>
      <p:bldP spid="65" grpId="0"/>
      <p:bldP spid="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1" name="Text Box 22"/>
          <p:cNvSpPr txBox="1">
            <a:spLocks noChangeArrowheads="1"/>
          </p:cNvSpPr>
          <p:nvPr/>
        </p:nvSpPr>
        <p:spPr bwMode="auto">
          <a:xfrm>
            <a:off x="6146800" y="1112302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solidFill>
                  <a:srgbClr val="3333FF"/>
                </a:solidFill>
                <a:latin typeface="Comic Sans MS" panose="030F0702030302020204" pitchFamily="66" charset="0"/>
              </a:rPr>
              <a:t>1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 = 4,7 k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</a:t>
            </a:r>
          </a:p>
        </p:txBody>
      </p:sp>
      <p:sp>
        <p:nvSpPr>
          <p:cNvPr id="23572" name="Text Box 23"/>
          <p:cNvSpPr txBox="1">
            <a:spLocks noChangeArrowheads="1"/>
          </p:cNvSpPr>
          <p:nvPr/>
        </p:nvSpPr>
        <p:spPr bwMode="auto">
          <a:xfrm>
            <a:off x="6118225" y="1858427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solidFill>
                  <a:srgbClr val="3333FF"/>
                </a:solidFill>
                <a:latin typeface="Comic Sans MS" panose="030F0702030302020204" pitchFamily="66" charset="0"/>
              </a:rPr>
              <a:t>2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 = 5,6 k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</a:t>
            </a:r>
          </a:p>
        </p:txBody>
      </p:sp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8993188" y="1619803"/>
            <a:ext cx="719137" cy="765175"/>
            <a:chOff x="5665" y="1081"/>
            <a:chExt cx="453" cy="482"/>
          </a:xfrm>
        </p:grpSpPr>
        <p:sp>
          <p:nvSpPr>
            <p:cNvPr id="23603" name="Rectangle 38"/>
            <p:cNvSpPr>
              <a:spLocks noChangeArrowheads="1"/>
            </p:cNvSpPr>
            <p:nvPr/>
          </p:nvSpPr>
          <p:spPr bwMode="auto">
            <a:xfrm>
              <a:off x="5665" y="1110"/>
              <a:ext cx="453" cy="453"/>
            </a:xfrm>
            <a:prstGeom prst="rect">
              <a:avLst/>
            </a:prstGeom>
            <a:solidFill>
              <a:srgbClr val="FFFF00"/>
            </a:solidFill>
            <a:ln w="254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04" name="Text Box 27"/>
            <p:cNvSpPr txBox="1">
              <a:spLocks noChangeArrowheads="1"/>
            </p:cNvSpPr>
            <p:nvPr/>
          </p:nvSpPr>
          <p:spPr bwMode="auto">
            <a:xfrm>
              <a:off x="5667" y="1081"/>
              <a:ext cx="440" cy="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32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0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Th</a:t>
              </a:r>
            </a:p>
          </p:txBody>
        </p:sp>
      </p:grpSp>
      <p:sp>
        <p:nvSpPr>
          <p:cNvPr id="23574" name="Text Box 48"/>
          <p:cNvSpPr txBox="1">
            <a:spLocks noChangeArrowheads="1"/>
          </p:cNvSpPr>
          <p:nvPr/>
        </p:nvSpPr>
        <p:spPr bwMode="auto">
          <a:xfrm>
            <a:off x="5984875" y="2649002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 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= 15 V</a:t>
            </a:r>
            <a:endParaRPr lang="es-ES" sz="2800">
              <a:solidFill>
                <a:srgbClr val="3333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49" name="Text Box 108"/>
          <p:cNvSpPr txBox="1">
            <a:spLocks noChangeArrowheads="1"/>
          </p:cNvSpPr>
          <p:nvPr/>
        </p:nvSpPr>
        <p:spPr bwMode="auto">
          <a:xfrm>
            <a:off x="1813721" y="3847936"/>
            <a:ext cx="7927177" cy="9567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Es la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caída de potencial, V,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entre los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dos terminales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la porción de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circuito,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circuito abierto</a:t>
            </a:r>
          </a:p>
        </p:txBody>
      </p:sp>
      <p:sp>
        <p:nvSpPr>
          <p:cNvPr id="50" name="Text Box 108"/>
          <p:cNvSpPr txBox="1">
            <a:spLocks noChangeArrowheads="1"/>
          </p:cNvSpPr>
          <p:nvPr/>
        </p:nvSpPr>
        <p:spPr bwMode="auto">
          <a:xfrm>
            <a:off x="1556546" y="6210127"/>
            <a:ext cx="844470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sentido de la caída de potencial indica la polaridad de </a:t>
            </a:r>
            <a:r>
              <a:rPr lang="es-ES" sz="2400" baseline="-250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Th</a:t>
            </a:r>
            <a:endParaRPr lang="es-ES" sz="2400" dirty="0">
              <a:solidFill>
                <a:srgbClr val="D60093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74" name="Group 32"/>
          <p:cNvGrpSpPr>
            <a:grpSpLocks/>
          </p:cNvGrpSpPr>
          <p:nvPr/>
        </p:nvGrpSpPr>
        <p:grpSpPr bwMode="auto">
          <a:xfrm>
            <a:off x="4929982" y="1136701"/>
            <a:ext cx="1287462" cy="1828800"/>
            <a:chOff x="3117" y="766"/>
            <a:chExt cx="811" cy="1152"/>
          </a:xfrm>
        </p:grpSpPr>
        <p:sp>
          <p:nvSpPr>
            <p:cNvPr id="23581" name="Line 39"/>
            <p:cNvSpPr>
              <a:spLocks noChangeShapeType="1"/>
            </p:cNvSpPr>
            <p:nvPr/>
          </p:nvSpPr>
          <p:spPr bwMode="auto">
            <a:xfrm flipV="1">
              <a:off x="3236" y="766"/>
              <a:ext cx="0" cy="115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3582" name="Text Box 40"/>
            <p:cNvSpPr txBox="1">
              <a:spLocks noChangeArrowheads="1"/>
            </p:cNvSpPr>
            <p:nvPr/>
          </p:nvSpPr>
          <p:spPr bwMode="auto">
            <a:xfrm>
              <a:off x="3117" y="1158"/>
              <a:ext cx="811" cy="334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FF0000"/>
                  </a:solidFill>
                  <a:latin typeface="Arial" panose="020B0604020202020204" pitchFamily="34" charset="0"/>
                </a:rPr>
                <a:t>en abierto</a:t>
              </a:r>
              <a:endParaRPr lang="es-E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6" name="Line 4"/>
          <p:cNvSpPr>
            <a:spLocks noChangeShapeType="1"/>
          </p:cNvSpPr>
          <p:nvPr/>
        </p:nvSpPr>
        <p:spPr bwMode="auto">
          <a:xfrm rot="10800000" flipV="1">
            <a:off x="1796962" y="3171776"/>
            <a:ext cx="33369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7" name="Line 6"/>
          <p:cNvSpPr>
            <a:spLocks noChangeShapeType="1"/>
          </p:cNvSpPr>
          <p:nvPr/>
        </p:nvSpPr>
        <p:spPr bwMode="auto">
          <a:xfrm rot="10800000">
            <a:off x="1771650" y="941338"/>
            <a:ext cx="325755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8" name="Text Box 7"/>
          <p:cNvSpPr txBox="1">
            <a:spLocks noChangeArrowheads="1"/>
          </p:cNvSpPr>
          <p:nvPr/>
        </p:nvSpPr>
        <p:spPr bwMode="auto">
          <a:xfrm>
            <a:off x="3792538" y="244426"/>
            <a:ext cx="9382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4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59" name="Rectangle 8"/>
          <p:cNvSpPr>
            <a:spLocks noChangeArrowheads="1"/>
          </p:cNvSpPr>
          <p:nvPr/>
        </p:nvSpPr>
        <p:spPr bwMode="auto">
          <a:xfrm>
            <a:off x="3779838" y="788938"/>
            <a:ext cx="984250" cy="328613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0" name="Line 9"/>
          <p:cNvSpPr>
            <a:spLocks noChangeShapeType="1"/>
          </p:cNvSpPr>
          <p:nvPr/>
        </p:nvSpPr>
        <p:spPr bwMode="auto">
          <a:xfrm rot="10800000">
            <a:off x="3441700" y="931813"/>
            <a:ext cx="0" cy="226853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" name="Rectangle 10"/>
          <p:cNvSpPr>
            <a:spLocks noChangeArrowheads="1"/>
          </p:cNvSpPr>
          <p:nvPr/>
        </p:nvSpPr>
        <p:spPr bwMode="auto">
          <a:xfrm rot="-5400000">
            <a:off x="2966244" y="1934319"/>
            <a:ext cx="984250" cy="325438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2" name="Text Box 11"/>
          <p:cNvSpPr txBox="1">
            <a:spLocks noChangeArrowheads="1"/>
          </p:cNvSpPr>
          <p:nvPr/>
        </p:nvSpPr>
        <p:spPr bwMode="auto">
          <a:xfrm>
            <a:off x="3413125" y="1873201"/>
            <a:ext cx="9413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2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63" name="Text Box 12"/>
          <p:cNvSpPr txBox="1">
            <a:spLocks noChangeArrowheads="1"/>
          </p:cNvSpPr>
          <p:nvPr/>
        </p:nvSpPr>
        <p:spPr bwMode="auto">
          <a:xfrm>
            <a:off x="2174875" y="244426"/>
            <a:ext cx="9382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1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64" name="Text Box 15"/>
          <p:cNvSpPr txBox="1">
            <a:spLocks noChangeArrowheads="1"/>
          </p:cNvSpPr>
          <p:nvPr/>
        </p:nvSpPr>
        <p:spPr bwMode="auto">
          <a:xfrm>
            <a:off x="5183188" y="679401"/>
            <a:ext cx="525462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65" name="Text Box 16"/>
          <p:cNvSpPr txBox="1">
            <a:spLocks noChangeArrowheads="1"/>
          </p:cNvSpPr>
          <p:nvPr/>
        </p:nvSpPr>
        <p:spPr bwMode="auto">
          <a:xfrm>
            <a:off x="5183188" y="2901901"/>
            <a:ext cx="5222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66" name="Oval 17"/>
          <p:cNvSpPr>
            <a:spLocks noChangeArrowheads="1"/>
          </p:cNvSpPr>
          <p:nvPr/>
        </p:nvSpPr>
        <p:spPr bwMode="auto">
          <a:xfrm rot="10800000">
            <a:off x="5056188" y="865138"/>
            <a:ext cx="130175" cy="13176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7" name="Line 21"/>
          <p:cNvSpPr>
            <a:spLocks noChangeShapeType="1"/>
          </p:cNvSpPr>
          <p:nvPr/>
        </p:nvSpPr>
        <p:spPr bwMode="auto">
          <a:xfrm rot="10800000">
            <a:off x="1790700" y="2168476"/>
            <a:ext cx="0" cy="98583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8" name="Rectangle 22"/>
          <p:cNvSpPr>
            <a:spLocks noChangeArrowheads="1"/>
          </p:cNvSpPr>
          <p:nvPr/>
        </p:nvSpPr>
        <p:spPr bwMode="auto">
          <a:xfrm>
            <a:off x="2185988" y="774651"/>
            <a:ext cx="984250" cy="328612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69" name="Group 34"/>
          <p:cNvGrpSpPr>
            <a:grpSpLocks/>
          </p:cNvGrpSpPr>
          <p:nvPr/>
        </p:nvGrpSpPr>
        <p:grpSpPr bwMode="auto">
          <a:xfrm>
            <a:off x="1503363" y="1792238"/>
            <a:ext cx="1211262" cy="584200"/>
            <a:chOff x="947" y="1969"/>
            <a:chExt cx="763" cy="368"/>
          </a:xfrm>
        </p:grpSpPr>
        <p:sp>
          <p:nvSpPr>
            <p:cNvPr id="70" name="Line 19"/>
            <p:cNvSpPr>
              <a:spLocks noChangeShapeType="1"/>
            </p:cNvSpPr>
            <p:nvPr/>
          </p:nvSpPr>
          <p:spPr bwMode="auto">
            <a:xfrm>
              <a:off x="947" y="2132"/>
              <a:ext cx="34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71" name="Line 20"/>
            <p:cNvSpPr>
              <a:spLocks noChangeShapeType="1"/>
            </p:cNvSpPr>
            <p:nvPr/>
          </p:nvSpPr>
          <p:spPr bwMode="auto">
            <a:xfrm>
              <a:off x="1034" y="2191"/>
              <a:ext cx="18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72" name="Text Box 23"/>
            <p:cNvSpPr txBox="1">
              <a:spLocks noChangeArrowheads="1"/>
            </p:cNvSpPr>
            <p:nvPr/>
          </p:nvSpPr>
          <p:spPr bwMode="auto">
            <a:xfrm>
              <a:off x="1117" y="1969"/>
              <a:ext cx="59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75" name="Line 49"/>
          <p:cNvSpPr>
            <a:spLocks noChangeShapeType="1"/>
          </p:cNvSpPr>
          <p:nvPr/>
        </p:nvSpPr>
        <p:spPr bwMode="auto">
          <a:xfrm rot="10800000">
            <a:off x="1790700" y="931813"/>
            <a:ext cx="0" cy="112236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8" name="CuadroTexto 5"/>
          <p:cNvSpPr txBox="1">
            <a:spLocks noChangeArrowheads="1"/>
          </p:cNvSpPr>
          <p:nvPr/>
        </p:nvSpPr>
        <p:spPr bwMode="auto">
          <a:xfrm>
            <a:off x="8578850" y="370859"/>
            <a:ext cx="1456895" cy="830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Voltaje Thevenin</a:t>
            </a:r>
          </a:p>
        </p:txBody>
      </p:sp>
      <p:sp>
        <p:nvSpPr>
          <p:cNvPr id="2" name="Text Box 108">
            <a:extLst>
              <a:ext uri="{FF2B5EF4-FFF2-40B4-BE49-F238E27FC236}">
                <a16:creationId xmlns:a16="http://schemas.microsoft.com/office/drawing/2014/main" id="{7D4033E1-DF02-965F-079A-C18CD7588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6493" y="5050191"/>
            <a:ext cx="6029326" cy="95677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44000" tIns="108000" rIns="144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u="sng">
                <a:latin typeface="Arial" panose="020B0604020202020204" pitchFamily="34" charset="0"/>
                <a:sym typeface="Symbol" panose="05050102010706020507" pitchFamily="18" charset="2"/>
              </a:rPr>
              <a:t>Lógico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 Es lo que se tiene con una fuente de tensión real en circuito abierto: V = 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Th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Oval 20">
            <a:extLst>
              <a:ext uri="{FF2B5EF4-FFF2-40B4-BE49-F238E27FC236}">
                <a16:creationId xmlns:a16="http://schemas.microsoft.com/office/drawing/2014/main" id="{771F67F5-D822-2ED0-1659-F77B346F7F2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041900" y="3093545"/>
            <a:ext cx="131763" cy="13176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CCAC25C-D53E-20BC-50AC-01C01DD3B72B}"/>
              </a:ext>
            </a:extLst>
          </p:cNvPr>
          <p:cNvGrpSpPr/>
          <p:nvPr/>
        </p:nvGrpSpPr>
        <p:grpSpPr>
          <a:xfrm>
            <a:off x="7908361" y="5177174"/>
            <a:ext cx="1495833" cy="790848"/>
            <a:chOff x="6983910" y="6218364"/>
            <a:chExt cx="1495833" cy="790848"/>
          </a:xfrm>
        </p:grpSpPr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6B3110FD-B470-A887-B174-DF63A4087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4411" y="6543669"/>
              <a:ext cx="471488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r>
                <a:rPr lang="es-ES" sz="2000" baseline="-25000">
                  <a:solidFill>
                    <a:srgbClr val="FF33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Th</a:t>
              </a:r>
              <a:endParaRPr lang="es-ES" sz="2000">
                <a:solidFill>
                  <a:srgbClr val="FF33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" name="Text Box 16">
              <a:extLst>
                <a:ext uri="{FF2B5EF4-FFF2-40B4-BE49-F238E27FC236}">
                  <a16:creationId xmlns:a16="http://schemas.microsoft.com/office/drawing/2014/main" id="{FA1BDEBC-6B7D-481A-8D61-120D5272C8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7835" y="6625037"/>
              <a:ext cx="376772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grpSp>
          <p:nvGrpSpPr>
            <p:cNvPr id="27" name="Group 8">
              <a:extLst>
                <a:ext uri="{FF2B5EF4-FFF2-40B4-BE49-F238E27FC236}">
                  <a16:creationId xmlns:a16="http://schemas.microsoft.com/office/drawing/2014/main" id="{A452CB98-087D-BEC1-D374-651150FA8F4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7151773" y="6400927"/>
              <a:ext cx="441325" cy="76200"/>
              <a:chOff x="1619" y="2634"/>
              <a:chExt cx="340" cy="54"/>
            </a:xfrm>
          </p:grpSpPr>
          <p:sp>
            <p:nvSpPr>
              <p:cNvPr id="34" name="Line 9">
                <a:extLst>
                  <a:ext uri="{FF2B5EF4-FFF2-40B4-BE49-F238E27FC236}">
                    <a16:creationId xmlns:a16="http://schemas.microsoft.com/office/drawing/2014/main" id="{EC925D19-89E2-EFEA-C8AF-1963A0C8CF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9" y="2634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35" name="Line 10">
                <a:extLst>
                  <a:ext uri="{FF2B5EF4-FFF2-40B4-BE49-F238E27FC236}">
                    <a16:creationId xmlns:a16="http://schemas.microsoft.com/office/drawing/2014/main" id="{74D2607C-7960-2334-D3EE-DF9088BEF5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6" y="2688"/>
                <a:ext cx="20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</p:grp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5AC41C95-2B13-CFCE-34E3-798AAD228C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522547" y="6303864"/>
              <a:ext cx="0" cy="22587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29" name="Line 13">
              <a:extLst>
                <a:ext uri="{FF2B5EF4-FFF2-40B4-BE49-F238E27FC236}">
                  <a16:creationId xmlns:a16="http://schemas.microsoft.com/office/drawing/2014/main" id="{C6C966C2-ED80-A3E1-921E-6BF92F48A5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07803" y="6303493"/>
              <a:ext cx="0" cy="22661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30" name="Line 14">
              <a:extLst>
                <a:ext uri="{FF2B5EF4-FFF2-40B4-BE49-F238E27FC236}">
                  <a16:creationId xmlns:a16="http://schemas.microsoft.com/office/drawing/2014/main" id="{31A4EFFD-FFF7-E9C0-E32D-03F2DEC0B91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260360" y="6303864"/>
              <a:ext cx="0" cy="22587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7C1E94E4-64C9-EA0D-44C0-3B141B9F775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7695929" y="6189790"/>
              <a:ext cx="376238" cy="484188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4 w 288"/>
                <a:gd name="T5" fmla="*/ 2 h 384"/>
                <a:gd name="T6" fmla="*/ 0 w 288"/>
                <a:gd name="T7" fmla="*/ 2 h 384"/>
                <a:gd name="T8" fmla="*/ 4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32" name="Oval 17">
              <a:extLst>
                <a:ext uri="{FF2B5EF4-FFF2-40B4-BE49-F238E27FC236}">
                  <a16:creationId xmlns:a16="http://schemas.microsoft.com/office/drawing/2014/main" id="{F214DA92-F6BD-710D-C660-9E940CF25F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386874" y="6362033"/>
              <a:ext cx="88900" cy="96838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" name="Oval 18">
              <a:extLst>
                <a:ext uri="{FF2B5EF4-FFF2-40B4-BE49-F238E27FC236}">
                  <a16:creationId xmlns:a16="http://schemas.microsoft.com/office/drawing/2014/main" id="{6A1378F3-E700-A3C3-1E20-4DD09F0400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988673" y="6367589"/>
              <a:ext cx="88900" cy="98425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F853FA2B-CED5-991A-C172-F4C8A190D8C6}"/>
              </a:ext>
            </a:extLst>
          </p:cNvPr>
          <p:cNvGrpSpPr/>
          <p:nvPr/>
        </p:nvGrpSpPr>
        <p:grpSpPr>
          <a:xfrm>
            <a:off x="7816426" y="4869955"/>
            <a:ext cx="1729022" cy="949911"/>
            <a:chOff x="7816426" y="4859907"/>
            <a:chExt cx="1729022" cy="949911"/>
          </a:xfrm>
        </p:grpSpPr>
        <p:sp>
          <p:nvSpPr>
            <p:cNvPr id="36" name="Text Box 46">
              <a:extLst>
                <a:ext uri="{FF2B5EF4-FFF2-40B4-BE49-F238E27FC236}">
                  <a16:creationId xmlns:a16="http://schemas.microsoft.com/office/drawing/2014/main" id="{EF2FA5DE-40FD-2525-5E77-ACA894945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84154" y="5273269"/>
              <a:ext cx="36129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FF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7" name="Text Box 47">
              <a:extLst>
                <a:ext uri="{FF2B5EF4-FFF2-40B4-BE49-F238E27FC236}">
                  <a16:creationId xmlns:a16="http://schemas.microsoft.com/office/drawing/2014/main" id="{90E7770F-A3DA-60F8-B78C-28BFA84EDE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6426" y="5231691"/>
              <a:ext cx="284350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FF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38" name="Text Box 46">
              <a:extLst>
                <a:ext uri="{FF2B5EF4-FFF2-40B4-BE49-F238E27FC236}">
                  <a16:creationId xmlns:a16="http://schemas.microsoft.com/office/drawing/2014/main" id="{480851EC-8FDD-61E5-2CC5-36AC5F4AB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8975" y="4859907"/>
              <a:ext cx="36129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FF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9" name="Text Box 47">
              <a:extLst>
                <a:ext uri="{FF2B5EF4-FFF2-40B4-BE49-F238E27FC236}">
                  <a16:creationId xmlns:a16="http://schemas.microsoft.com/office/drawing/2014/main" id="{2E42B438-F1B2-E907-C42C-234B77E718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98970" y="4861583"/>
              <a:ext cx="284350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FF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69611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/>
      <p:bldP spid="78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8624447" y="6123565"/>
            <a:ext cx="1163638" cy="552450"/>
            <a:chOff x="3116" y="3897"/>
            <a:chExt cx="733" cy="348"/>
          </a:xfrm>
        </p:grpSpPr>
        <p:sp>
          <p:nvSpPr>
            <p:cNvPr id="24624" name="Rectangle 2"/>
            <p:cNvSpPr>
              <a:spLocks noChangeArrowheads="1"/>
            </p:cNvSpPr>
            <p:nvPr/>
          </p:nvSpPr>
          <p:spPr bwMode="auto">
            <a:xfrm>
              <a:off x="3116" y="3897"/>
              <a:ext cx="733" cy="33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625" name="Text Box 31"/>
            <p:cNvSpPr txBox="1">
              <a:spLocks noChangeArrowheads="1"/>
            </p:cNvSpPr>
            <p:nvPr/>
          </p:nvSpPr>
          <p:spPr bwMode="auto">
            <a:xfrm>
              <a:off x="3116" y="3907"/>
              <a:ext cx="733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= 8,2 V</a:t>
              </a:r>
              <a:endPara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24579" name="Group 18"/>
          <p:cNvGrpSpPr>
            <a:grpSpLocks/>
          </p:cNvGrpSpPr>
          <p:nvPr/>
        </p:nvGrpSpPr>
        <p:grpSpPr bwMode="auto">
          <a:xfrm>
            <a:off x="1503363" y="1790753"/>
            <a:ext cx="1211262" cy="584200"/>
            <a:chOff x="947" y="1969"/>
            <a:chExt cx="763" cy="368"/>
          </a:xfrm>
        </p:grpSpPr>
        <p:sp>
          <p:nvSpPr>
            <p:cNvPr id="24621" name="Line 19"/>
            <p:cNvSpPr>
              <a:spLocks noChangeShapeType="1"/>
            </p:cNvSpPr>
            <p:nvPr/>
          </p:nvSpPr>
          <p:spPr bwMode="auto">
            <a:xfrm>
              <a:off x="947" y="2132"/>
              <a:ext cx="34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4622" name="Line 20"/>
            <p:cNvSpPr>
              <a:spLocks noChangeShapeType="1"/>
            </p:cNvSpPr>
            <p:nvPr/>
          </p:nvSpPr>
          <p:spPr bwMode="auto">
            <a:xfrm>
              <a:off x="1034" y="2191"/>
              <a:ext cx="18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4623" name="Text Box 21"/>
            <p:cNvSpPr txBox="1">
              <a:spLocks noChangeArrowheads="1"/>
            </p:cNvSpPr>
            <p:nvPr/>
          </p:nvSpPr>
          <p:spPr bwMode="auto">
            <a:xfrm>
              <a:off x="1117" y="1969"/>
              <a:ext cx="59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24580" name="Line 3"/>
          <p:cNvSpPr>
            <a:spLocks noChangeShapeType="1"/>
          </p:cNvSpPr>
          <p:nvPr/>
        </p:nvSpPr>
        <p:spPr bwMode="auto">
          <a:xfrm rot="10800000" flipV="1">
            <a:off x="1776413" y="3170290"/>
            <a:ext cx="33369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81" name="Line 4"/>
          <p:cNvSpPr>
            <a:spLocks noChangeShapeType="1"/>
          </p:cNvSpPr>
          <p:nvPr/>
        </p:nvSpPr>
        <p:spPr bwMode="auto">
          <a:xfrm rot="10800000">
            <a:off x="1790700" y="930328"/>
            <a:ext cx="0" cy="112236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82" name="Line 5"/>
          <p:cNvSpPr>
            <a:spLocks noChangeShapeType="1"/>
          </p:cNvSpPr>
          <p:nvPr/>
        </p:nvSpPr>
        <p:spPr bwMode="auto">
          <a:xfrm rot="10800000">
            <a:off x="1771650" y="939853"/>
            <a:ext cx="325755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83" name="Text Box 6"/>
          <p:cNvSpPr txBox="1">
            <a:spLocks noChangeArrowheads="1"/>
          </p:cNvSpPr>
          <p:nvPr/>
        </p:nvSpPr>
        <p:spPr bwMode="auto">
          <a:xfrm>
            <a:off x="3792538" y="242940"/>
            <a:ext cx="9382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4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4584" name="Rectangle 7"/>
          <p:cNvSpPr>
            <a:spLocks noChangeArrowheads="1"/>
          </p:cNvSpPr>
          <p:nvPr/>
        </p:nvSpPr>
        <p:spPr bwMode="auto">
          <a:xfrm>
            <a:off x="3779838" y="787453"/>
            <a:ext cx="984250" cy="328612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585" name="Line 8"/>
          <p:cNvSpPr>
            <a:spLocks noChangeShapeType="1"/>
          </p:cNvSpPr>
          <p:nvPr/>
        </p:nvSpPr>
        <p:spPr bwMode="auto">
          <a:xfrm rot="10800000">
            <a:off x="3441700" y="930328"/>
            <a:ext cx="0" cy="226853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86" name="Rectangle 9"/>
          <p:cNvSpPr>
            <a:spLocks noChangeArrowheads="1"/>
          </p:cNvSpPr>
          <p:nvPr/>
        </p:nvSpPr>
        <p:spPr bwMode="auto">
          <a:xfrm rot="-5400000">
            <a:off x="2966244" y="1932834"/>
            <a:ext cx="984250" cy="325438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587" name="Text Box 10"/>
          <p:cNvSpPr txBox="1">
            <a:spLocks noChangeArrowheads="1"/>
          </p:cNvSpPr>
          <p:nvPr/>
        </p:nvSpPr>
        <p:spPr bwMode="auto">
          <a:xfrm>
            <a:off x="3413125" y="1871715"/>
            <a:ext cx="9413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2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4588" name="Text Box 11"/>
          <p:cNvSpPr txBox="1">
            <a:spLocks noChangeArrowheads="1"/>
          </p:cNvSpPr>
          <p:nvPr/>
        </p:nvSpPr>
        <p:spPr bwMode="auto">
          <a:xfrm>
            <a:off x="2174875" y="242940"/>
            <a:ext cx="9382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1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4589" name="Text Box 12"/>
          <p:cNvSpPr txBox="1">
            <a:spLocks noChangeArrowheads="1"/>
          </p:cNvSpPr>
          <p:nvPr/>
        </p:nvSpPr>
        <p:spPr bwMode="auto">
          <a:xfrm>
            <a:off x="5183188" y="677915"/>
            <a:ext cx="525462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24590" name="Text Box 13"/>
          <p:cNvSpPr txBox="1">
            <a:spLocks noChangeArrowheads="1"/>
          </p:cNvSpPr>
          <p:nvPr/>
        </p:nvSpPr>
        <p:spPr bwMode="auto">
          <a:xfrm>
            <a:off x="5183188" y="2900415"/>
            <a:ext cx="5222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24591" name="Oval 14"/>
          <p:cNvSpPr>
            <a:spLocks noChangeArrowheads="1"/>
          </p:cNvSpPr>
          <p:nvPr/>
        </p:nvSpPr>
        <p:spPr bwMode="auto">
          <a:xfrm rot="10800000">
            <a:off x="5056188" y="863653"/>
            <a:ext cx="130175" cy="13176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593" name="Line 16"/>
          <p:cNvSpPr>
            <a:spLocks noChangeShapeType="1"/>
          </p:cNvSpPr>
          <p:nvPr/>
        </p:nvSpPr>
        <p:spPr bwMode="auto">
          <a:xfrm rot="10800000">
            <a:off x="1790700" y="2166990"/>
            <a:ext cx="0" cy="98583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94" name="Rectangle 17"/>
          <p:cNvSpPr>
            <a:spLocks noChangeArrowheads="1"/>
          </p:cNvSpPr>
          <p:nvPr/>
        </p:nvSpPr>
        <p:spPr bwMode="auto">
          <a:xfrm>
            <a:off x="2185988" y="773165"/>
            <a:ext cx="984250" cy="328613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89530" name="Text Box 26"/>
          <p:cNvSpPr txBox="1">
            <a:spLocks noChangeArrowheads="1"/>
          </p:cNvSpPr>
          <p:nvPr/>
        </p:nvSpPr>
        <p:spPr bwMode="auto">
          <a:xfrm>
            <a:off x="1530407" y="3792033"/>
            <a:ext cx="2454816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Circuito abierto</a:t>
            </a:r>
            <a:endParaRPr lang="es-ES" sz="2400" b="1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24598" name="Group 60"/>
          <p:cNvGrpSpPr>
            <a:grpSpLocks/>
          </p:cNvGrpSpPr>
          <p:nvPr/>
        </p:nvGrpSpPr>
        <p:grpSpPr bwMode="auto">
          <a:xfrm>
            <a:off x="8993188" y="1618315"/>
            <a:ext cx="719137" cy="765175"/>
            <a:chOff x="5665" y="1081"/>
            <a:chExt cx="453" cy="482"/>
          </a:xfrm>
        </p:grpSpPr>
        <p:sp>
          <p:nvSpPr>
            <p:cNvPr id="24619" name="Rectangle 38"/>
            <p:cNvSpPr>
              <a:spLocks noChangeArrowheads="1"/>
            </p:cNvSpPr>
            <p:nvPr/>
          </p:nvSpPr>
          <p:spPr bwMode="auto">
            <a:xfrm>
              <a:off x="5665" y="1110"/>
              <a:ext cx="453" cy="453"/>
            </a:xfrm>
            <a:prstGeom prst="rect">
              <a:avLst/>
            </a:prstGeom>
            <a:solidFill>
              <a:srgbClr val="FFFF00"/>
            </a:solidFill>
            <a:ln w="254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620" name="Text Box 27"/>
            <p:cNvSpPr txBox="1">
              <a:spLocks noChangeArrowheads="1"/>
            </p:cNvSpPr>
            <p:nvPr/>
          </p:nvSpPr>
          <p:spPr bwMode="auto">
            <a:xfrm>
              <a:off x="5667" y="1081"/>
              <a:ext cx="440" cy="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32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0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Th</a:t>
              </a:r>
            </a:p>
          </p:txBody>
        </p:sp>
      </p:grpSp>
      <p:sp>
        <p:nvSpPr>
          <p:cNvPr id="789532" name="Text Box 28"/>
          <p:cNvSpPr txBox="1">
            <a:spLocks noChangeArrowheads="1"/>
          </p:cNvSpPr>
          <p:nvPr/>
        </p:nvSpPr>
        <p:spPr bwMode="auto">
          <a:xfrm>
            <a:off x="1814513" y="5568319"/>
            <a:ext cx="2611919" cy="905881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Circuito Divisor </a:t>
            </a:r>
            <a:r>
              <a:rPr lang="es-ES" sz="2400">
                <a:latin typeface="Arial" panose="020B0604020202020204" pitchFamily="34" charset="0"/>
              </a:rPr>
              <a:t>de Tensión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  <p:sp>
        <p:nvSpPr>
          <p:cNvPr id="789533" name="Text Box 29"/>
          <p:cNvSpPr txBox="1">
            <a:spLocks noChangeArrowheads="1"/>
          </p:cNvSpPr>
          <p:nvPr/>
        </p:nvSpPr>
        <p:spPr bwMode="auto">
          <a:xfrm>
            <a:off x="4895410" y="5336349"/>
            <a:ext cx="3622675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Th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/ (R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s-ES" sz="24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4601" name="Group 32"/>
          <p:cNvGrpSpPr>
            <a:grpSpLocks/>
          </p:cNvGrpSpPr>
          <p:nvPr/>
        </p:nvGrpSpPr>
        <p:grpSpPr bwMode="auto">
          <a:xfrm>
            <a:off x="4928988" y="1136703"/>
            <a:ext cx="1287462" cy="1828800"/>
            <a:chOff x="3117" y="766"/>
            <a:chExt cx="811" cy="1152"/>
          </a:xfrm>
        </p:grpSpPr>
        <p:sp>
          <p:nvSpPr>
            <p:cNvPr id="24617" name="Line 39"/>
            <p:cNvSpPr>
              <a:spLocks noChangeShapeType="1"/>
            </p:cNvSpPr>
            <p:nvPr/>
          </p:nvSpPr>
          <p:spPr bwMode="auto">
            <a:xfrm flipV="1">
              <a:off x="3236" y="766"/>
              <a:ext cx="0" cy="115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4618" name="Text Box 40"/>
            <p:cNvSpPr txBox="1">
              <a:spLocks noChangeArrowheads="1"/>
            </p:cNvSpPr>
            <p:nvPr/>
          </p:nvSpPr>
          <p:spPr bwMode="auto">
            <a:xfrm>
              <a:off x="3117" y="1158"/>
              <a:ext cx="811" cy="334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FF0000"/>
                  </a:solidFill>
                  <a:latin typeface="Arial" panose="020B0604020202020204" pitchFamily="34" charset="0"/>
                </a:rPr>
                <a:t>en abierto</a:t>
              </a:r>
              <a:endParaRPr lang="es-E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62"/>
          <p:cNvGrpSpPr>
            <a:grpSpLocks/>
          </p:cNvGrpSpPr>
          <p:nvPr/>
        </p:nvGrpSpPr>
        <p:grpSpPr bwMode="auto">
          <a:xfrm>
            <a:off x="1793875" y="1262115"/>
            <a:ext cx="1639888" cy="1911350"/>
            <a:chOff x="1130" y="845"/>
            <a:chExt cx="1033" cy="1204"/>
          </a:xfrm>
        </p:grpSpPr>
        <p:sp>
          <p:nvSpPr>
            <p:cNvPr id="24614" name="Line 41"/>
            <p:cNvSpPr>
              <a:spLocks noChangeShapeType="1"/>
            </p:cNvSpPr>
            <p:nvPr/>
          </p:nvSpPr>
          <p:spPr bwMode="auto">
            <a:xfrm flipV="1">
              <a:off x="1130" y="891"/>
              <a:ext cx="0" cy="12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4615" name="Line 42"/>
            <p:cNvSpPr>
              <a:spLocks noChangeShapeType="1"/>
            </p:cNvSpPr>
            <p:nvPr/>
          </p:nvSpPr>
          <p:spPr bwMode="auto">
            <a:xfrm>
              <a:off x="2163" y="845"/>
              <a:ext cx="0" cy="12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4616" name="Line 43"/>
            <p:cNvSpPr>
              <a:spLocks noChangeShapeType="1"/>
            </p:cNvSpPr>
            <p:nvPr/>
          </p:nvSpPr>
          <p:spPr bwMode="auto">
            <a:xfrm rot="16200000" flipV="1">
              <a:off x="1659" y="1987"/>
              <a:ext cx="0" cy="12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789548" name="Text Box 44"/>
          <p:cNvSpPr txBox="1">
            <a:spLocks noChangeArrowheads="1"/>
          </p:cNvSpPr>
          <p:nvPr/>
        </p:nvSpPr>
        <p:spPr bwMode="auto">
          <a:xfrm>
            <a:off x="5372592" y="6088185"/>
            <a:ext cx="322105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15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5,6 / (4,7 + 5,6)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89550" name="Text Box 46"/>
          <p:cNvSpPr txBox="1">
            <a:spLocks noChangeArrowheads="1"/>
          </p:cNvSpPr>
          <p:nvPr/>
        </p:nvSpPr>
        <p:spPr bwMode="auto">
          <a:xfrm>
            <a:off x="4946650" y="349303"/>
            <a:ext cx="36129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FF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789551" name="Text Box 47"/>
          <p:cNvSpPr txBox="1">
            <a:spLocks noChangeArrowheads="1"/>
          </p:cNvSpPr>
          <p:nvPr/>
        </p:nvSpPr>
        <p:spPr bwMode="auto">
          <a:xfrm>
            <a:off x="4970463" y="3154415"/>
            <a:ext cx="28435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FF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48" name="Text Box 26"/>
          <p:cNvSpPr txBox="1">
            <a:spLocks noChangeArrowheads="1"/>
          </p:cNvSpPr>
          <p:nvPr/>
        </p:nvSpPr>
        <p:spPr bwMode="auto">
          <a:xfrm>
            <a:off x="3961012" y="3783518"/>
            <a:ext cx="145774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 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0</a:t>
            </a:r>
            <a:endParaRPr lang="es-ES" sz="2400" baseline="-250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9" name="Text Box 26"/>
          <p:cNvSpPr txBox="1">
            <a:spLocks noChangeArrowheads="1"/>
          </p:cNvSpPr>
          <p:nvPr/>
        </p:nvSpPr>
        <p:spPr bwMode="auto">
          <a:xfrm>
            <a:off x="5396324" y="3779395"/>
            <a:ext cx="149461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0</a:t>
            </a:r>
            <a:endParaRPr lang="es-ES" sz="2400" baseline="-250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0" name="Text Box 26"/>
          <p:cNvSpPr txBox="1">
            <a:spLocks noChangeArrowheads="1"/>
          </p:cNvSpPr>
          <p:nvPr/>
        </p:nvSpPr>
        <p:spPr bwMode="auto">
          <a:xfrm>
            <a:off x="8437021" y="3721963"/>
            <a:ext cx="1719038" cy="59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 </a:t>
            </a: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Th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1" name="Text Box 108">
            <a:extLst>
              <a:ext uri="{FF2B5EF4-FFF2-40B4-BE49-F238E27FC236}">
                <a16:creationId xmlns:a16="http://schemas.microsoft.com/office/drawing/2014/main" id="{6DFB8D42-1C1A-4DF7-8426-05B1E3AE1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3638" y="4403783"/>
            <a:ext cx="8524214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sentido de la corriente indica que la caída de potencial V</a:t>
            </a:r>
            <a:r>
              <a:rPr lang="es-ES" sz="2400" baseline="-250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es hacia abajo. Ese será el sentido de la polaridad de </a:t>
            </a:r>
            <a:r>
              <a:rPr lang="es-ES" sz="2400" baseline="-250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Th</a:t>
            </a:r>
            <a:endParaRPr lang="es-ES" sz="2400" dirty="0">
              <a:solidFill>
                <a:srgbClr val="D60093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2" name="Text Box 46">
            <a:extLst>
              <a:ext uri="{FF2B5EF4-FFF2-40B4-BE49-F238E27FC236}">
                <a16:creationId xmlns:a16="http://schemas.microsoft.com/office/drawing/2014/main" id="{984AD65B-46D7-4D40-952F-D6EE9F0D0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0386" y="364249"/>
            <a:ext cx="36129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FF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53" name="Text Box 47">
            <a:extLst>
              <a:ext uri="{FF2B5EF4-FFF2-40B4-BE49-F238E27FC236}">
                <a16:creationId xmlns:a16="http://schemas.microsoft.com/office/drawing/2014/main" id="{2410B0D6-C072-4134-9DF0-B4CED0DE6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4199" y="3169361"/>
            <a:ext cx="28435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FF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54" name="CuadroTexto 5">
            <a:extLst>
              <a:ext uri="{FF2B5EF4-FFF2-40B4-BE49-F238E27FC236}">
                <a16:creationId xmlns:a16="http://schemas.microsoft.com/office/drawing/2014/main" id="{ECD7F749-AFB3-4BC8-BFA3-1CFC07D2B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8850" y="370859"/>
            <a:ext cx="1456895" cy="830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Voltaje Thevenin</a:t>
            </a:r>
          </a:p>
        </p:txBody>
      </p:sp>
      <p:sp>
        <p:nvSpPr>
          <p:cNvPr id="3" name="Text Box 40">
            <a:extLst>
              <a:ext uri="{FF2B5EF4-FFF2-40B4-BE49-F238E27FC236}">
                <a16:creationId xmlns:a16="http://schemas.microsoft.com/office/drawing/2014/main" id="{46E60389-2C60-74CD-1269-9D3563A78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2168" y="2951228"/>
            <a:ext cx="1159590" cy="536549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</a:rPr>
              <a:t>cable ideal</a:t>
            </a:r>
            <a:endParaRPr lang="es-E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 Box 26">
            <a:extLst>
              <a:ext uri="{FF2B5EF4-FFF2-40B4-BE49-F238E27FC236}">
                <a16:creationId xmlns:a16="http://schemas.microsoft.com/office/drawing/2014/main" id="{07235EBE-E881-3CEB-C779-E9D3B0DAB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4072" y="3775272"/>
            <a:ext cx="163568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y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cable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0</a:t>
            </a:r>
            <a:endParaRPr lang="es-ES" sz="2400" baseline="-250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F492E56-3334-0BFE-6174-0DB6B4DB6542}"/>
              </a:ext>
            </a:extLst>
          </p:cNvPr>
          <p:cNvGrpSpPr/>
          <p:nvPr/>
        </p:nvGrpSpPr>
        <p:grpSpPr>
          <a:xfrm>
            <a:off x="3919165" y="1499209"/>
            <a:ext cx="879951" cy="893206"/>
            <a:chOff x="3919165" y="1499209"/>
            <a:chExt cx="879951" cy="893206"/>
          </a:xfrm>
        </p:grpSpPr>
        <p:grpSp>
          <p:nvGrpSpPr>
            <p:cNvPr id="7" name="Group 66"/>
            <p:cNvGrpSpPr>
              <a:grpSpLocks/>
            </p:cNvGrpSpPr>
            <p:nvPr/>
          </p:nvGrpSpPr>
          <p:grpSpPr bwMode="auto">
            <a:xfrm>
              <a:off x="4259366" y="1847903"/>
              <a:ext cx="539750" cy="544512"/>
              <a:chOff x="2681" y="1214"/>
              <a:chExt cx="340" cy="343"/>
            </a:xfrm>
          </p:grpSpPr>
          <p:sp>
            <p:nvSpPr>
              <p:cNvPr id="24610" name="Line 51"/>
              <p:cNvSpPr>
                <a:spLocks noChangeShapeType="1"/>
              </p:cNvSpPr>
              <p:nvPr/>
            </p:nvSpPr>
            <p:spPr bwMode="auto">
              <a:xfrm>
                <a:off x="2681" y="1360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4611" name="Line 52"/>
              <p:cNvSpPr>
                <a:spLocks noChangeShapeType="1"/>
              </p:cNvSpPr>
              <p:nvPr/>
            </p:nvSpPr>
            <p:spPr bwMode="auto">
              <a:xfrm>
                <a:off x="2768" y="1419"/>
                <a:ext cx="181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4612" name="Line 54"/>
              <p:cNvSpPr>
                <a:spLocks noChangeShapeType="1"/>
              </p:cNvSpPr>
              <p:nvPr/>
            </p:nvSpPr>
            <p:spPr bwMode="auto">
              <a:xfrm>
                <a:off x="2859" y="1421"/>
                <a:ext cx="0" cy="136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4613" name="Line 55"/>
              <p:cNvSpPr>
                <a:spLocks noChangeShapeType="1"/>
              </p:cNvSpPr>
              <p:nvPr/>
            </p:nvSpPr>
            <p:spPr bwMode="auto">
              <a:xfrm>
                <a:off x="2862" y="1214"/>
                <a:ext cx="0" cy="136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5" name="Text Box 108">
              <a:extLst>
                <a:ext uri="{FF2B5EF4-FFF2-40B4-BE49-F238E27FC236}">
                  <a16:creationId xmlns:a16="http://schemas.microsoft.com/office/drawing/2014/main" id="{438D9839-1F2D-F464-B88D-FAC5284665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9165" y="1499209"/>
              <a:ext cx="623226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400" baseline="-25000" dirty="0">
                  <a:solidFill>
                    <a:srgbClr val="FF00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Th</a:t>
              </a:r>
              <a:endParaRPr lang="es-ES" sz="2400" dirty="0">
                <a:solidFill>
                  <a:srgbClr val="FF00FF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9" name="Text Box 22">
            <a:extLst>
              <a:ext uri="{FF2B5EF4-FFF2-40B4-BE49-F238E27FC236}">
                <a16:creationId xmlns:a16="http://schemas.microsoft.com/office/drawing/2014/main" id="{48E8AD56-5992-D6A9-8101-F0D184B92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800" y="1112302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solidFill>
                  <a:srgbClr val="3333FF"/>
                </a:solidFill>
                <a:latin typeface="Comic Sans MS" panose="030F0702030302020204" pitchFamily="66" charset="0"/>
              </a:rPr>
              <a:t>1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 = 4,7 k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</a:t>
            </a:r>
          </a:p>
        </p:txBody>
      </p:sp>
      <p:sp>
        <p:nvSpPr>
          <p:cNvPr id="10" name="Text Box 23">
            <a:extLst>
              <a:ext uri="{FF2B5EF4-FFF2-40B4-BE49-F238E27FC236}">
                <a16:creationId xmlns:a16="http://schemas.microsoft.com/office/drawing/2014/main" id="{D116A459-7C21-DF78-5BEC-EAC63FCA2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8225" y="1858427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solidFill>
                  <a:srgbClr val="3333FF"/>
                </a:solidFill>
                <a:latin typeface="Comic Sans MS" panose="030F0702030302020204" pitchFamily="66" charset="0"/>
              </a:rPr>
              <a:t>2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 = 5,6 k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</a:t>
            </a:r>
          </a:p>
        </p:txBody>
      </p:sp>
      <p:sp>
        <p:nvSpPr>
          <p:cNvPr id="11" name="Text Box 48">
            <a:extLst>
              <a:ext uri="{FF2B5EF4-FFF2-40B4-BE49-F238E27FC236}">
                <a16:creationId xmlns:a16="http://schemas.microsoft.com/office/drawing/2014/main" id="{24B72203-38E0-3788-413B-92D1FF45D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75" y="2649002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 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= 15 V</a:t>
            </a:r>
            <a:endParaRPr lang="es-ES" sz="2800">
              <a:solidFill>
                <a:srgbClr val="3333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13" name="Oval 20">
            <a:extLst>
              <a:ext uri="{FF2B5EF4-FFF2-40B4-BE49-F238E27FC236}">
                <a16:creationId xmlns:a16="http://schemas.microsoft.com/office/drawing/2014/main" id="{F4AF8E16-93BD-7D6E-E9DA-D2419267E4E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041900" y="3093545"/>
            <a:ext cx="131763" cy="13176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89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89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89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89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89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89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789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8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89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8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530" grpId="0" animBg="1"/>
      <p:bldP spid="789532" grpId="0" animBg="1"/>
      <p:bldP spid="789533" grpId="0"/>
      <p:bldP spid="789548" grpId="0"/>
      <p:bldP spid="789550" grpId="0"/>
      <p:bldP spid="789551" grpId="0"/>
      <p:bldP spid="48" grpId="0"/>
      <p:bldP spid="49" grpId="0"/>
      <p:bldP spid="50" grpId="0"/>
      <p:bldP spid="51" grpId="0"/>
      <p:bldP spid="52" grpId="0"/>
      <p:bldP spid="53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5114925" y="949374"/>
            <a:ext cx="1112901" cy="2141537"/>
            <a:chOff x="5114925" y="1592905"/>
            <a:chExt cx="1112901" cy="2141538"/>
          </a:xfrm>
        </p:grpSpPr>
        <p:sp>
          <p:nvSpPr>
            <p:cNvPr id="25653" name="Line 43"/>
            <p:cNvSpPr>
              <a:spLocks noChangeShapeType="1"/>
            </p:cNvSpPr>
            <p:nvPr/>
          </p:nvSpPr>
          <p:spPr bwMode="auto">
            <a:xfrm flipH="1">
              <a:off x="5114925" y="1592905"/>
              <a:ext cx="0" cy="214153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5654" name="Text Box 37"/>
            <p:cNvSpPr txBox="1">
              <a:spLocks noChangeArrowheads="1"/>
            </p:cNvSpPr>
            <p:nvPr/>
          </p:nvSpPr>
          <p:spPr bwMode="auto">
            <a:xfrm>
              <a:off x="5135563" y="2400943"/>
              <a:ext cx="1092263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DE7E3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en corto</a:t>
              </a:r>
            </a:p>
          </p:txBody>
        </p:sp>
      </p:grpSp>
      <p:grpSp>
        <p:nvGrpSpPr>
          <p:cNvPr id="25604" name="Group 2"/>
          <p:cNvGrpSpPr>
            <a:grpSpLocks/>
          </p:cNvGrpSpPr>
          <p:nvPr/>
        </p:nvGrpSpPr>
        <p:grpSpPr bwMode="auto">
          <a:xfrm>
            <a:off x="1503363" y="1790749"/>
            <a:ext cx="1211262" cy="584200"/>
            <a:chOff x="947" y="1969"/>
            <a:chExt cx="763" cy="368"/>
          </a:xfrm>
        </p:grpSpPr>
        <p:sp>
          <p:nvSpPr>
            <p:cNvPr id="25650" name="Line 3"/>
            <p:cNvSpPr>
              <a:spLocks noChangeShapeType="1"/>
            </p:cNvSpPr>
            <p:nvPr/>
          </p:nvSpPr>
          <p:spPr bwMode="auto">
            <a:xfrm>
              <a:off x="947" y="2132"/>
              <a:ext cx="34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5651" name="Line 4"/>
            <p:cNvSpPr>
              <a:spLocks noChangeShapeType="1"/>
            </p:cNvSpPr>
            <p:nvPr/>
          </p:nvSpPr>
          <p:spPr bwMode="auto">
            <a:xfrm>
              <a:off x="1034" y="2191"/>
              <a:ext cx="18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5652" name="Text Box 5"/>
            <p:cNvSpPr txBox="1">
              <a:spLocks noChangeArrowheads="1"/>
            </p:cNvSpPr>
            <p:nvPr/>
          </p:nvSpPr>
          <p:spPr bwMode="auto">
            <a:xfrm>
              <a:off x="1117" y="1969"/>
              <a:ext cx="59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25605" name="Line 8"/>
          <p:cNvSpPr>
            <a:spLocks noChangeShapeType="1"/>
          </p:cNvSpPr>
          <p:nvPr/>
        </p:nvSpPr>
        <p:spPr bwMode="auto">
          <a:xfrm rot="10800000" flipV="1">
            <a:off x="1776413" y="3170286"/>
            <a:ext cx="33369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06" name="Line 9"/>
          <p:cNvSpPr>
            <a:spLocks noChangeShapeType="1"/>
          </p:cNvSpPr>
          <p:nvPr/>
        </p:nvSpPr>
        <p:spPr bwMode="auto">
          <a:xfrm rot="10800000">
            <a:off x="1790700" y="930324"/>
            <a:ext cx="0" cy="112236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07" name="Line 10"/>
          <p:cNvSpPr>
            <a:spLocks noChangeShapeType="1"/>
          </p:cNvSpPr>
          <p:nvPr/>
        </p:nvSpPr>
        <p:spPr bwMode="auto">
          <a:xfrm rot="10800000">
            <a:off x="1771650" y="939849"/>
            <a:ext cx="325755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08" name="Text Box 11"/>
          <p:cNvSpPr txBox="1">
            <a:spLocks noChangeArrowheads="1"/>
          </p:cNvSpPr>
          <p:nvPr/>
        </p:nvSpPr>
        <p:spPr bwMode="auto">
          <a:xfrm>
            <a:off x="3792538" y="242936"/>
            <a:ext cx="9382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4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5609" name="Rectangle 12"/>
          <p:cNvSpPr>
            <a:spLocks noChangeArrowheads="1"/>
          </p:cNvSpPr>
          <p:nvPr/>
        </p:nvSpPr>
        <p:spPr bwMode="auto">
          <a:xfrm>
            <a:off x="3779838" y="787449"/>
            <a:ext cx="984250" cy="328612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10" name="Line 13"/>
          <p:cNvSpPr>
            <a:spLocks noChangeShapeType="1"/>
          </p:cNvSpPr>
          <p:nvPr/>
        </p:nvSpPr>
        <p:spPr bwMode="auto">
          <a:xfrm rot="10800000">
            <a:off x="3441700" y="919211"/>
            <a:ext cx="0" cy="226853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11" name="Rectangle 14"/>
          <p:cNvSpPr>
            <a:spLocks noChangeArrowheads="1"/>
          </p:cNvSpPr>
          <p:nvPr/>
        </p:nvSpPr>
        <p:spPr bwMode="auto">
          <a:xfrm rot="-5400000">
            <a:off x="2966244" y="1932830"/>
            <a:ext cx="984250" cy="325438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12" name="Text Box 15"/>
          <p:cNvSpPr txBox="1">
            <a:spLocks noChangeArrowheads="1"/>
          </p:cNvSpPr>
          <p:nvPr/>
        </p:nvSpPr>
        <p:spPr bwMode="auto">
          <a:xfrm>
            <a:off x="3413125" y="1871711"/>
            <a:ext cx="9413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2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5613" name="Text Box 16"/>
          <p:cNvSpPr txBox="1">
            <a:spLocks noChangeArrowheads="1"/>
          </p:cNvSpPr>
          <p:nvPr/>
        </p:nvSpPr>
        <p:spPr bwMode="auto">
          <a:xfrm>
            <a:off x="2174875" y="242936"/>
            <a:ext cx="9382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1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5614" name="Text Box 17"/>
          <p:cNvSpPr txBox="1">
            <a:spLocks noChangeArrowheads="1"/>
          </p:cNvSpPr>
          <p:nvPr/>
        </p:nvSpPr>
        <p:spPr bwMode="auto">
          <a:xfrm>
            <a:off x="5183188" y="677911"/>
            <a:ext cx="525462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25615" name="Text Box 18"/>
          <p:cNvSpPr txBox="1">
            <a:spLocks noChangeArrowheads="1"/>
          </p:cNvSpPr>
          <p:nvPr/>
        </p:nvSpPr>
        <p:spPr bwMode="auto">
          <a:xfrm>
            <a:off x="5183188" y="2900411"/>
            <a:ext cx="5222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25616" name="Oval 19"/>
          <p:cNvSpPr>
            <a:spLocks noChangeArrowheads="1"/>
          </p:cNvSpPr>
          <p:nvPr/>
        </p:nvSpPr>
        <p:spPr bwMode="auto">
          <a:xfrm rot="10800000">
            <a:off x="5056188" y="863649"/>
            <a:ext cx="130175" cy="13176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17" name="Oval 20"/>
          <p:cNvSpPr>
            <a:spLocks noChangeArrowheads="1"/>
          </p:cNvSpPr>
          <p:nvPr/>
        </p:nvSpPr>
        <p:spPr bwMode="auto">
          <a:xfrm rot="10800000">
            <a:off x="5041900" y="3093545"/>
            <a:ext cx="131763" cy="13176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18" name="Line 21"/>
          <p:cNvSpPr>
            <a:spLocks noChangeShapeType="1"/>
          </p:cNvSpPr>
          <p:nvPr/>
        </p:nvSpPr>
        <p:spPr bwMode="auto">
          <a:xfrm rot="10800000">
            <a:off x="1790700" y="2166986"/>
            <a:ext cx="0" cy="98583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19" name="Rectangle 22"/>
          <p:cNvSpPr>
            <a:spLocks noChangeArrowheads="1"/>
          </p:cNvSpPr>
          <p:nvPr/>
        </p:nvSpPr>
        <p:spPr bwMode="auto">
          <a:xfrm>
            <a:off x="2185988" y="773161"/>
            <a:ext cx="984250" cy="328613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oup 57"/>
          <p:cNvGrpSpPr>
            <a:grpSpLocks/>
          </p:cNvGrpSpPr>
          <p:nvPr/>
        </p:nvGrpSpPr>
        <p:grpSpPr bwMode="auto">
          <a:xfrm>
            <a:off x="8993188" y="1663749"/>
            <a:ext cx="719137" cy="719137"/>
            <a:chOff x="5665" y="1110"/>
            <a:chExt cx="453" cy="453"/>
          </a:xfrm>
        </p:grpSpPr>
        <p:sp>
          <p:nvSpPr>
            <p:cNvPr id="25648" name="Rectangle 6"/>
            <p:cNvSpPr>
              <a:spLocks noChangeArrowheads="1"/>
            </p:cNvSpPr>
            <p:nvPr/>
          </p:nvSpPr>
          <p:spPr bwMode="auto">
            <a:xfrm>
              <a:off x="5665" y="1110"/>
              <a:ext cx="453" cy="453"/>
            </a:xfrm>
            <a:prstGeom prst="rect">
              <a:avLst/>
            </a:prstGeom>
            <a:solidFill>
              <a:srgbClr val="FFFF00"/>
            </a:solidFill>
            <a:ln w="254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49" name="Text Box 27"/>
            <p:cNvSpPr txBox="1">
              <a:spLocks noChangeArrowheads="1"/>
            </p:cNvSpPr>
            <p:nvPr/>
          </p:nvSpPr>
          <p:spPr bwMode="auto">
            <a:xfrm>
              <a:off x="5667" y="1158"/>
              <a:ext cx="440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0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N</a:t>
              </a:r>
            </a:p>
          </p:txBody>
        </p:sp>
      </p:grpSp>
      <p:sp>
        <p:nvSpPr>
          <p:cNvPr id="61" name="Text Box 113"/>
          <p:cNvSpPr txBox="1">
            <a:spLocks noChangeArrowheads="1"/>
          </p:cNvSpPr>
          <p:nvPr/>
        </p:nvSpPr>
        <p:spPr bwMode="auto">
          <a:xfrm>
            <a:off x="1675068" y="3827512"/>
            <a:ext cx="8180132" cy="9567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Es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intensidad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corriente,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entre los dos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terminales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de la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porción de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circuito,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en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cortocircuito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2" name="Text Box 113"/>
          <p:cNvSpPr txBox="1">
            <a:spLocks noChangeArrowheads="1"/>
          </p:cNvSpPr>
          <p:nvPr/>
        </p:nvSpPr>
        <p:spPr bwMode="auto">
          <a:xfrm>
            <a:off x="2647950" y="5046725"/>
            <a:ext cx="623594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sentido de </a:t>
            </a:r>
            <a:r>
              <a:rPr lang="es-ES" sz="2400" dirty="0">
                <a:solidFill>
                  <a:srgbClr val="D60093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es el contrario al de </a:t>
            </a:r>
            <a:r>
              <a:rPr lang="es-ES" sz="2400" dirty="0">
                <a:solidFill>
                  <a:srgbClr val="D60093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endParaRPr lang="es-ES" sz="2400" dirty="0">
              <a:solidFill>
                <a:srgbClr val="D60093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7" name="Text Box 23"/>
          <p:cNvSpPr txBox="1">
            <a:spLocks noChangeArrowheads="1"/>
          </p:cNvSpPr>
          <p:nvPr/>
        </p:nvSpPr>
        <p:spPr bwMode="auto">
          <a:xfrm>
            <a:off x="6146800" y="804813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solidFill>
                  <a:srgbClr val="3333FF"/>
                </a:solidFill>
                <a:latin typeface="Comic Sans MS" panose="030F0702030302020204" pitchFamily="66" charset="0"/>
              </a:rPr>
              <a:t>1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 = 4,7 k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</a:t>
            </a:r>
          </a:p>
        </p:txBody>
      </p:sp>
      <p:sp>
        <p:nvSpPr>
          <p:cNvPr id="58" name="Text Box 24"/>
          <p:cNvSpPr txBox="1">
            <a:spLocks noChangeArrowheads="1"/>
          </p:cNvSpPr>
          <p:nvPr/>
        </p:nvSpPr>
        <p:spPr bwMode="auto">
          <a:xfrm>
            <a:off x="6118225" y="1411238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solidFill>
                  <a:srgbClr val="3333FF"/>
                </a:solidFill>
                <a:latin typeface="Comic Sans MS" panose="030F0702030302020204" pitchFamily="66" charset="0"/>
              </a:rPr>
              <a:t>2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 = 5,6 k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</a:t>
            </a:r>
          </a:p>
        </p:txBody>
      </p:sp>
      <p:sp>
        <p:nvSpPr>
          <p:cNvPr id="59" name="Text Box 25"/>
          <p:cNvSpPr txBox="1">
            <a:spLocks noChangeArrowheads="1"/>
          </p:cNvSpPr>
          <p:nvPr/>
        </p:nvSpPr>
        <p:spPr bwMode="auto">
          <a:xfrm>
            <a:off x="6105525" y="2066876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solidFill>
                  <a:srgbClr val="3333FF"/>
                </a:solidFill>
                <a:latin typeface="Comic Sans MS" panose="030F0702030302020204" pitchFamily="66" charset="0"/>
              </a:rPr>
              <a:t>4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 = 1,0 k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</a:t>
            </a:r>
          </a:p>
        </p:txBody>
      </p:sp>
      <p:sp>
        <p:nvSpPr>
          <p:cNvPr id="60" name="Text Box 44"/>
          <p:cNvSpPr txBox="1">
            <a:spLocks noChangeArrowheads="1"/>
          </p:cNvSpPr>
          <p:nvPr/>
        </p:nvSpPr>
        <p:spPr bwMode="auto">
          <a:xfrm>
            <a:off x="6010275" y="2647901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 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= 15 V</a:t>
            </a:r>
            <a:endParaRPr lang="es-ES" sz="2800">
              <a:solidFill>
                <a:srgbClr val="3333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55" name="CuadroTexto 5"/>
          <p:cNvSpPr txBox="1">
            <a:spLocks noChangeArrowheads="1"/>
          </p:cNvSpPr>
          <p:nvPr/>
        </p:nvSpPr>
        <p:spPr bwMode="auto">
          <a:xfrm>
            <a:off x="8548370" y="370859"/>
            <a:ext cx="1601470" cy="830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Intensidad Norton</a:t>
            </a:r>
          </a:p>
        </p:txBody>
      </p:sp>
      <p:sp>
        <p:nvSpPr>
          <p:cNvPr id="2" name="Text Box 108">
            <a:extLst>
              <a:ext uri="{FF2B5EF4-FFF2-40B4-BE49-F238E27FC236}">
                <a16:creationId xmlns:a16="http://schemas.microsoft.com/office/drawing/2014/main" id="{2F2CA3A1-C9AC-A074-446A-5A8DB14C3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2395" y="5763093"/>
            <a:ext cx="7792782" cy="95677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44000" tIns="108000" rIns="144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u="sng">
                <a:latin typeface="Arial" panose="020B0604020202020204" pitchFamily="34" charset="0"/>
                <a:sym typeface="Symbol" panose="05050102010706020507" pitchFamily="18" charset="2"/>
              </a:rPr>
              <a:t>Lógico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 Es lo que se tiene con una fuente de intensidad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      real en cortocircuito: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y sentido al revés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8BA334AB-F8DA-E4C1-BC7C-B7FDA3AC1353}"/>
              </a:ext>
            </a:extLst>
          </p:cNvPr>
          <p:cNvGrpSpPr/>
          <p:nvPr/>
        </p:nvGrpSpPr>
        <p:grpSpPr>
          <a:xfrm>
            <a:off x="9074073" y="5304640"/>
            <a:ext cx="1467607" cy="1373646"/>
            <a:chOff x="9074073" y="5304640"/>
            <a:chExt cx="1467607" cy="1373646"/>
          </a:xfrm>
        </p:grpSpPr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EA8BC770-54ED-0196-AF6C-2EE02E0BB1B1}"/>
                </a:ext>
              </a:extLst>
            </p:cNvPr>
            <p:cNvGrpSpPr/>
            <p:nvPr/>
          </p:nvGrpSpPr>
          <p:grpSpPr>
            <a:xfrm>
              <a:off x="9074073" y="5304640"/>
              <a:ext cx="1119796" cy="1373646"/>
              <a:chOff x="9053976" y="5455363"/>
              <a:chExt cx="1119796" cy="1373646"/>
            </a:xfrm>
          </p:grpSpPr>
          <p:sp>
            <p:nvSpPr>
              <p:cNvPr id="4" name="Text Box 33">
                <a:extLst>
                  <a:ext uri="{FF2B5EF4-FFF2-40B4-BE49-F238E27FC236}">
                    <a16:creationId xmlns:a16="http://schemas.microsoft.com/office/drawing/2014/main" id="{7D9A5E2E-084E-7809-94A0-638642C0CC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67372" y="5569314"/>
                <a:ext cx="406400" cy="384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r</a:t>
                </a:r>
              </a:p>
            </p:txBody>
          </p:sp>
          <p:sp>
            <p:nvSpPr>
              <p:cNvPr id="7" name="Text Box 28">
                <a:extLst>
                  <a:ext uri="{FF2B5EF4-FFF2-40B4-BE49-F238E27FC236}">
                    <a16:creationId xmlns:a16="http://schemas.microsoft.com/office/drawing/2014/main" id="{BCBA0F2F-3D12-A1A5-FA39-2EC824BB88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53976" y="5571969"/>
                <a:ext cx="422275" cy="384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I</a:t>
                </a:r>
                <a:r>
                  <a:rPr lang="es-ES" sz="2000" baseline="-25000">
                    <a:solidFill>
                      <a:srgbClr val="3333FF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N</a:t>
                </a:r>
                <a:endParaRPr lang="es-ES" sz="200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19" name="Grupo 18">
                <a:extLst>
                  <a:ext uri="{FF2B5EF4-FFF2-40B4-BE49-F238E27FC236}">
                    <a16:creationId xmlns:a16="http://schemas.microsoft.com/office/drawing/2014/main" id="{C5D9BA01-AC98-D164-21F6-DF7AF96E6230}"/>
                  </a:ext>
                </a:extLst>
              </p:cNvPr>
              <p:cNvGrpSpPr/>
              <p:nvPr/>
            </p:nvGrpSpPr>
            <p:grpSpPr>
              <a:xfrm rot="16200000">
                <a:off x="8926587" y="5812902"/>
                <a:ext cx="1373646" cy="658567"/>
                <a:chOff x="9220233" y="6001574"/>
                <a:chExt cx="1373646" cy="658567"/>
              </a:xfrm>
            </p:grpSpPr>
            <p:sp>
              <p:nvSpPr>
                <p:cNvPr id="8" name="Line 29">
                  <a:extLst>
                    <a:ext uri="{FF2B5EF4-FFF2-40B4-BE49-F238E27FC236}">
                      <a16:creationId xmlns:a16="http://schemas.microsoft.com/office/drawing/2014/main" id="{7752D0DD-5CB5-311C-FC2E-AC2BD74031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9535996" y="6420846"/>
                  <a:ext cx="0" cy="225877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9" name="Line 30">
                  <a:extLst>
                    <a:ext uri="{FF2B5EF4-FFF2-40B4-BE49-F238E27FC236}">
                      <a16:creationId xmlns:a16="http://schemas.microsoft.com/office/drawing/2014/main" id="{AA51B623-C2DD-E37C-1F20-73DB1C4F73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9417132" y="6192413"/>
                  <a:ext cx="0" cy="33335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10" name="Line 31">
                  <a:extLst>
                    <a:ext uri="{FF2B5EF4-FFF2-40B4-BE49-F238E27FC236}">
                      <a16:creationId xmlns:a16="http://schemas.microsoft.com/office/drawing/2014/main" id="{AB8FC13F-4396-FD3D-476F-D06839573E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10243658" y="6420000"/>
                  <a:ext cx="0" cy="205343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11" name="Freeform 32">
                  <a:extLst>
                    <a:ext uri="{FF2B5EF4-FFF2-40B4-BE49-F238E27FC236}">
                      <a16:creationId xmlns:a16="http://schemas.microsoft.com/office/drawing/2014/main" id="{1CA3AD0C-11F2-C230-02C5-53DE2EE6E2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9767962" y="6290102"/>
                  <a:ext cx="255891" cy="484188"/>
                </a:xfrm>
                <a:custGeom>
                  <a:avLst/>
                  <a:gdLst>
                    <a:gd name="T0" fmla="*/ 2 w 288"/>
                    <a:gd name="T1" fmla="*/ 2 h 384"/>
                    <a:gd name="T2" fmla="*/ 0 w 288"/>
                    <a:gd name="T3" fmla="*/ 2 h 384"/>
                    <a:gd name="T4" fmla="*/ 3 w 288"/>
                    <a:gd name="T5" fmla="*/ 2 h 384"/>
                    <a:gd name="T6" fmla="*/ 0 w 288"/>
                    <a:gd name="T7" fmla="*/ 2 h 384"/>
                    <a:gd name="T8" fmla="*/ 3 w 288"/>
                    <a:gd name="T9" fmla="*/ 2 h 384"/>
                    <a:gd name="T10" fmla="*/ 0 w 288"/>
                    <a:gd name="T11" fmla="*/ 0 h 384"/>
                    <a:gd name="T12" fmla="*/ 2 w 288"/>
                    <a:gd name="T13" fmla="*/ 0 h 38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8"/>
                    <a:gd name="T22" fmla="*/ 0 h 384"/>
                    <a:gd name="T23" fmla="*/ 288 w 288"/>
                    <a:gd name="T24" fmla="*/ 384 h 38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8" h="384">
                      <a:moveTo>
                        <a:pt x="144" y="384"/>
                      </a:moveTo>
                      <a:lnTo>
                        <a:pt x="0" y="288"/>
                      </a:lnTo>
                      <a:lnTo>
                        <a:pt x="288" y="288"/>
                      </a:lnTo>
                      <a:lnTo>
                        <a:pt x="0" y="144"/>
                      </a:lnTo>
                      <a:lnTo>
                        <a:pt x="288" y="144"/>
                      </a:lnTo>
                      <a:lnTo>
                        <a:pt x="0" y="0"/>
                      </a:lnTo>
                      <a:lnTo>
                        <a:pt x="144" y="0"/>
                      </a:lnTo>
                    </a:path>
                  </a:pathLst>
                </a:cu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12" name="Oval 34">
                  <a:extLst>
                    <a:ext uri="{FF2B5EF4-FFF2-40B4-BE49-F238E27FC236}">
                      <a16:creationId xmlns:a16="http://schemas.microsoft.com/office/drawing/2014/main" id="{1EAEB7A0-2355-FD79-4784-ADC7C6ED5E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0500217" y="6141525"/>
                  <a:ext cx="90487" cy="96837"/>
                </a:xfrm>
                <a:prstGeom prst="ellipse">
                  <a:avLst/>
                </a:prstGeom>
                <a:solidFill>
                  <a:srgbClr val="0000FF"/>
                </a:solidFill>
                <a:ln w="2540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" name="Oval 35">
                  <a:extLst>
                    <a:ext uri="{FF2B5EF4-FFF2-40B4-BE49-F238E27FC236}">
                      <a16:creationId xmlns:a16="http://schemas.microsoft.com/office/drawing/2014/main" id="{D6DEE333-6FE5-355E-B6DA-1EEEDFA526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9224202" y="6135446"/>
                  <a:ext cx="87312" cy="95250"/>
                </a:xfrm>
                <a:prstGeom prst="ellipse">
                  <a:avLst/>
                </a:prstGeom>
                <a:solidFill>
                  <a:srgbClr val="0000FF"/>
                </a:solidFill>
                <a:ln w="2540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" name="Line 43">
                  <a:extLst>
                    <a:ext uri="{FF2B5EF4-FFF2-40B4-BE49-F238E27FC236}">
                      <a16:creationId xmlns:a16="http://schemas.microsoft.com/office/drawing/2014/main" id="{07CBF64B-CCFC-15E2-E6FC-AC318BE08F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10334469" y="5977719"/>
                  <a:ext cx="0" cy="415466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15" name="Line 44">
                  <a:extLst>
                    <a:ext uri="{FF2B5EF4-FFF2-40B4-BE49-F238E27FC236}">
                      <a16:creationId xmlns:a16="http://schemas.microsoft.com/office/drawing/2014/main" id="{11C68939-9AB9-7EE2-5340-18746848F1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9492325" y="5957469"/>
                  <a:ext cx="0" cy="457013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16" name="Oval 45">
                  <a:extLst>
                    <a:ext uri="{FF2B5EF4-FFF2-40B4-BE49-F238E27FC236}">
                      <a16:creationId xmlns:a16="http://schemas.microsoft.com/office/drawing/2014/main" id="{20AEC8E2-FE5C-BF60-7B26-D10C8D0625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26856" y="6006065"/>
                  <a:ext cx="387350" cy="355600"/>
                </a:xfrm>
                <a:prstGeom prst="ellips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eaVert" wrap="none" lIns="90000" tIns="46800" rIns="90000" bIns="46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" name="Text Box 46">
                  <a:extLst>
                    <a:ext uri="{FF2B5EF4-FFF2-40B4-BE49-F238E27FC236}">
                      <a16:creationId xmlns:a16="http://schemas.microsoft.com/office/drawing/2014/main" id="{E822C0C7-A45B-9AEE-F1FD-22312D0968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748287" y="6001574"/>
                  <a:ext cx="355600" cy="3540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6535" tIns="39797" rIns="76535" bIns="39797" anchorCtr="1"/>
                <a:lstStyle>
                  <a:lvl1pPr defTabSz="777875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777875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777875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777875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77875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3333FF"/>
                      </a:solidFill>
                      <a:latin typeface="Comic Sans MS" panose="030F0702030302020204" pitchFamily="66" charset="0"/>
                      <a:sym typeface="Wingdings 3" panose="05040102010807070707" pitchFamily="18" charset="2"/>
                    </a:rPr>
                    <a:t></a:t>
                  </a:r>
                </a:p>
              </p:txBody>
            </p:sp>
            <p:sp>
              <p:nvSpPr>
                <p:cNvPr id="18" name="Line 47">
                  <a:extLst>
                    <a:ext uri="{FF2B5EF4-FFF2-40B4-BE49-F238E27FC236}">
                      <a16:creationId xmlns:a16="http://schemas.microsoft.com/office/drawing/2014/main" id="{42C21EBC-F080-19D0-CA20-852D6EB742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10357233" y="6192413"/>
                  <a:ext cx="0" cy="33335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</p:grpSp>
          <p:sp>
            <p:nvSpPr>
              <p:cNvPr id="20" name="Line 47">
                <a:extLst>
                  <a:ext uri="{FF2B5EF4-FFF2-40B4-BE49-F238E27FC236}">
                    <a16:creationId xmlns:a16="http://schemas.microsoft.com/office/drawing/2014/main" id="{40166D4D-0C4D-7116-A8AD-C0C7D1F20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9804089" y="5197445"/>
                <a:ext cx="0" cy="59055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21" name="Line 47">
                <a:extLst>
                  <a:ext uri="{FF2B5EF4-FFF2-40B4-BE49-F238E27FC236}">
                    <a16:creationId xmlns:a16="http://schemas.microsoft.com/office/drawing/2014/main" id="{D6561E67-5C6A-DAE4-6AAE-82BA60BC36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9815815" y="6485305"/>
                <a:ext cx="0" cy="59055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22" name="Line 43">
                <a:extLst>
                  <a:ext uri="{FF2B5EF4-FFF2-40B4-BE49-F238E27FC236}">
                    <a16:creationId xmlns:a16="http://schemas.microsoft.com/office/drawing/2014/main" id="{80155679-7EFA-7DCD-A197-C51888681D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112773" y="5486520"/>
                <a:ext cx="0" cy="130391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</p:grpSp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BDAC741C-3A4D-C9A1-A251-E2ADE3BB7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19405" y="5810523"/>
              <a:ext cx="422275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FF00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endParaRPr lang="es-ES" sz="2000">
                <a:solidFill>
                  <a:srgbClr val="FF00FF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" name="Line 39">
              <a:extLst>
                <a:ext uri="{FF2B5EF4-FFF2-40B4-BE49-F238E27FC236}">
                  <a16:creationId xmlns:a16="http://schemas.microsoft.com/office/drawing/2014/main" id="{B72F45C3-ABDB-9FFB-131F-8B8CDC07C5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31187" y="5893094"/>
              <a:ext cx="0" cy="19685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953849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/>
      <p:bldP spid="55" grpId="0" animBg="1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5114925" y="950863"/>
            <a:ext cx="1112838" cy="2141538"/>
            <a:chOff x="3222" y="648"/>
            <a:chExt cx="701" cy="1349"/>
          </a:xfrm>
        </p:grpSpPr>
        <p:sp>
          <p:nvSpPr>
            <p:cNvPr id="26677" name="Line 43"/>
            <p:cNvSpPr>
              <a:spLocks noChangeShapeType="1"/>
            </p:cNvSpPr>
            <p:nvPr/>
          </p:nvSpPr>
          <p:spPr bwMode="auto">
            <a:xfrm flipH="1">
              <a:off x="3222" y="648"/>
              <a:ext cx="0" cy="134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6678" name="Text Box 37"/>
            <p:cNvSpPr txBox="1">
              <a:spLocks noChangeArrowheads="1"/>
            </p:cNvSpPr>
            <p:nvPr/>
          </p:nvSpPr>
          <p:spPr bwMode="auto">
            <a:xfrm>
              <a:off x="3235" y="1157"/>
              <a:ext cx="688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DE7E3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en corto</a:t>
              </a:r>
            </a:p>
          </p:txBody>
        </p:sp>
      </p:grpSp>
      <p:grpSp>
        <p:nvGrpSpPr>
          <p:cNvPr id="2" name="Group 62"/>
          <p:cNvGrpSpPr>
            <a:grpSpLocks/>
          </p:cNvGrpSpPr>
          <p:nvPr/>
        </p:nvGrpSpPr>
        <p:grpSpPr bwMode="auto">
          <a:xfrm>
            <a:off x="6021205" y="6313599"/>
            <a:ext cx="1420813" cy="576263"/>
            <a:chOff x="4698" y="3904"/>
            <a:chExt cx="895" cy="363"/>
          </a:xfrm>
        </p:grpSpPr>
        <p:sp>
          <p:nvSpPr>
            <p:cNvPr id="26675" name="Rectangle 7"/>
            <p:cNvSpPr>
              <a:spLocks noChangeArrowheads="1"/>
            </p:cNvSpPr>
            <p:nvPr/>
          </p:nvSpPr>
          <p:spPr bwMode="auto">
            <a:xfrm>
              <a:off x="4698" y="3904"/>
              <a:ext cx="877" cy="33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76" name="Text Box 30"/>
            <p:cNvSpPr txBox="1">
              <a:spLocks noChangeArrowheads="1"/>
            </p:cNvSpPr>
            <p:nvPr/>
          </p:nvSpPr>
          <p:spPr bwMode="auto">
            <a:xfrm>
              <a:off x="4698" y="3929"/>
              <a:ext cx="89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= 2,3 mA</a:t>
              </a:r>
              <a:endPara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26628" name="Group 2"/>
          <p:cNvGrpSpPr>
            <a:grpSpLocks/>
          </p:cNvGrpSpPr>
          <p:nvPr/>
        </p:nvGrpSpPr>
        <p:grpSpPr bwMode="auto">
          <a:xfrm>
            <a:off x="1503363" y="1792238"/>
            <a:ext cx="1211262" cy="584200"/>
            <a:chOff x="947" y="1969"/>
            <a:chExt cx="763" cy="368"/>
          </a:xfrm>
        </p:grpSpPr>
        <p:sp>
          <p:nvSpPr>
            <p:cNvPr id="26672" name="Line 3"/>
            <p:cNvSpPr>
              <a:spLocks noChangeShapeType="1"/>
            </p:cNvSpPr>
            <p:nvPr/>
          </p:nvSpPr>
          <p:spPr bwMode="auto">
            <a:xfrm>
              <a:off x="947" y="2132"/>
              <a:ext cx="34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6673" name="Line 4"/>
            <p:cNvSpPr>
              <a:spLocks noChangeShapeType="1"/>
            </p:cNvSpPr>
            <p:nvPr/>
          </p:nvSpPr>
          <p:spPr bwMode="auto">
            <a:xfrm>
              <a:off x="1034" y="2191"/>
              <a:ext cx="18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6674" name="Text Box 5"/>
            <p:cNvSpPr txBox="1">
              <a:spLocks noChangeArrowheads="1"/>
            </p:cNvSpPr>
            <p:nvPr/>
          </p:nvSpPr>
          <p:spPr bwMode="auto">
            <a:xfrm>
              <a:off x="1117" y="1969"/>
              <a:ext cx="59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26629" name="Line 8"/>
          <p:cNvSpPr>
            <a:spLocks noChangeShapeType="1"/>
          </p:cNvSpPr>
          <p:nvPr/>
        </p:nvSpPr>
        <p:spPr bwMode="auto">
          <a:xfrm rot="10800000" flipV="1">
            <a:off x="1776413" y="3171776"/>
            <a:ext cx="33369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0" name="Line 9"/>
          <p:cNvSpPr>
            <a:spLocks noChangeShapeType="1"/>
          </p:cNvSpPr>
          <p:nvPr/>
        </p:nvSpPr>
        <p:spPr bwMode="auto">
          <a:xfrm rot="10800000">
            <a:off x="1790700" y="931813"/>
            <a:ext cx="0" cy="112236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1" name="Line 10"/>
          <p:cNvSpPr>
            <a:spLocks noChangeShapeType="1"/>
          </p:cNvSpPr>
          <p:nvPr/>
        </p:nvSpPr>
        <p:spPr bwMode="auto">
          <a:xfrm rot="10800000">
            <a:off x="1771650" y="941338"/>
            <a:ext cx="325755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2" name="Text Box 11"/>
          <p:cNvSpPr txBox="1">
            <a:spLocks noChangeArrowheads="1"/>
          </p:cNvSpPr>
          <p:nvPr/>
        </p:nvSpPr>
        <p:spPr bwMode="auto">
          <a:xfrm>
            <a:off x="3792538" y="244426"/>
            <a:ext cx="9382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4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6633" name="Rectangle 12"/>
          <p:cNvSpPr>
            <a:spLocks noChangeArrowheads="1"/>
          </p:cNvSpPr>
          <p:nvPr/>
        </p:nvSpPr>
        <p:spPr bwMode="auto">
          <a:xfrm>
            <a:off x="3779838" y="788938"/>
            <a:ext cx="984250" cy="328613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634" name="Line 13"/>
          <p:cNvSpPr>
            <a:spLocks noChangeShapeType="1"/>
          </p:cNvSpPr>
          <p:nvPr/>
        </p:nvSpPr>
        <p:spPr bwMode="auto">
          <a:xfrm rot="10800000">
            <a:off x="3441700" y="920701"/>
            <a:ext cx="0" cy="226853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5" name="Rectangle 14"/>
          <p:cNvSpPr>
            <a:spLocks noChangeArrowheads="1"/>
          </p:cNvSpPr>
          <p:nvPr/>
        </p:nvSpPr>
        <p:spPr bwMode="auto">
          <a:xfrm rot="-5400000">
            <a:off x="2966244" y="1934319"/>
            <a:ext cx="984250" cy="325438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636" name="Text Box 15"/>
          <p:cNvSpPr txBox="1">
            <a:spLocks noChangeArrowheads="1"/>
          </p:cNvSpPr>
          <p:nvPr/>
        </p:nvSpPr>
        <p:spPr bwMode="auto">
          <a:xfrm>
            <a:off x="3413125" y="1873201"/>
            <a:ext cx="9413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2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6637" name="Text Box 16"/>
          <p:cNvSpPr txBox="1">
            <a:spLocks noChangeArrowheads="1"/>
          </p:cNvSpPr>
          <p:nvPr/>
        </p:nvSpPr>
        <p:spPr bwMode="auto">
          <a:xfrm>
            <a:off x="2174875" y="244426"/>
            <a:ext cx="9382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latin typeface="Comic Sans MS" panose="030F0702030302020204" pitchFamily="66" charset="0"/>
              </a:rPr>
              <a:t>1</a:t>
            </a:r>
            <a:endParaRPr lang="es-ES" sz="2800">
              <a:latin typeface="Comic Sans MS" panose="030F0702030302020204" pitchFamily="66" charset="0"/>
            </a:endParaRPr>
          </a:p>
        </p:txBody>
      </p:sp>
      <p:sp>
        <p:nvSpPr>
          <p:cNvPr id="26638" name="Text Box 17"/>
          <p:cNvSpPr txBox="1">
            <a:spLocks noChangeArrowheads="1"/>
          </p:cNvSpPr>
          <p:nvPr/>
        </p:nvSpPr>
        <p:spPr bwMode="auto">
          <a:xfrm>
            <a:off x="5183188" y="679401"/>
            <a:ext cx="525462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008000"/>
                </a:solidFill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26639" name="Text Box 18"/>
          <p:cNvSpPr txBox="1">
            <a:spLocks noChangeArrowheads="1"/>
          </p:cNvSpPr>
          <p:nvPr/>
        </p:nvSpPr>
        <p:spPr bwMode="auto">
          <a:xfrm>
            <a:off x="5183188" y="2901901"/>
            <a:ext cx="5222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008000"/>
                </a:solidFill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26640" name="Oval 19"/>
          <p:cNvSpPr>
            <a:spLocks noChangeArrowheads="1"/>
          </p:cNvSpPr>
          <p:nvPr/>
        </p:nvSpPr>
        <p:spPr bwMode="auto">
          <a:xfrm rot="10800000">
            <a:off x="5056188" y="865138"/>
            <a:ext cx="130175" cy="13176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642" name="Line 21"/>
          <p:cNvSpPr>
            <a:spLocks noChangeShapeType="1"/>
          </p:cNvSpPr>
          <p:nvPr/>
        </p:nvSpPr>
        <p:spPr bwMode="auto">
          <a:xfrm rot="10800000">
            <a:off x="1790700" y="2168476"/>
            <a:ext cx="0" cy="98583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43" name="Rectangle 22"/>
          <p:cNvSpPr>
            <a:spLocks noChangeArrowheads="1"/>
          </p:cNvSpPr>
          <p:nvPr/>
        </p:nvSpPr>
        <p:spPr bwMode="auto">
          <a:xfrm>
            <a:off x="2185988" y="774651"/>
            <a:ext cx="984250" cy="328612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644" name="Text Box 23"/>
          <p:cNvSpPr txBox="1">
            <a:spLocks noChangeArrowheads="1"/>
          </p:cNvSpPr>
          <p:nvPr/>
        </p:nvSpPr>
        <p:spPr bwMode="auto">
          <a:xfrm>
            <a:off x="6146800" y="804813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solidFill>
                  <a:srgbClr val="3333FF"/>
                </a:solidFill>
                <a:latin typeface="Comic Sans MS" panose="030F0702030302020204" pitchFamily="66" charset="0"/>
              </a:rPr>
              <a:t>1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 = 4,7 k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</a:t>
            </a:r>
          </a:p>
        </p:txBody>
      </p:sp>
      <p:sp>
        <p:nvSpPr>
          <p:cNvPr id="26645" name="Text Box 24"/>
          <p:cNvSpPr txBox="1">
            <a:spLocks noChangeArrowheads="1"/>
          </p:cNvSpPr>
          <p:nvPr/>
        </p:nvSpPr>
        <p:spPr bwMode="auto">
          <a:xfrm>
            <a:off x="6118225" y="1411238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solidFill>
                  <a:srgbClr val="3333FF"/>
                </a:solidFill>
                <a:latin typeface="Comic Sans MS" panose="030F0702030302020204" pitchFamily="66" charset="0"/>
              </a:rPr>
              <a:t>2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 = 5,6 k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</a:t>
            </a:r>
          </a:p>
        </p:txBody>
      </p:sp>
      <p:sp>
        <p:nvSpPr>
          <p:cNvPr id="26646" name="Text Box 25"/>
          <p:cNvSpPr txBox="1">
            <a:spLocks noChangeArrowheads="1"/>
          </p:cNvSpPr>
          <p:nvPr/>
        </p:nvSpPr>
        <p:spPr bwMode="auto">
          <a:xfrm>
            <a:off x="6105525" y="2066876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R</a:t>
            </a:r>
            <a:r>
              <a:rPr lang="es-ES" sz="2800" baseline="-25000">
                <a:solidFill>
                  <a:srgbClr val="3333FF"/>
                </a:solidFill>
                <a:latin typeface="Comic Sans MS" panose="030F0702030302020204" pitchFamily="66" charset="0"/>
              </a:rPr>
              <a:t>4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 = 1,0 k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</a:t>
            </a:r>
          </a:p>
        </p:txBody>
      </p:sp>
      <p:sp>
        <p:nvSpPr>
          <p:cNvPr id="790554" name="Text Box 26"/>
          <p:cNvSpPr txBox="1">
            <a:spLocks noChangeArrowheads="1"/>
          </p:cNvSpPr>
          <p:nvPr/>
        </p:nvSpPr>
        <p:spPr bwMode="auto">
          <a:xfrm>
            <a:off x="1310704" y="3576647"/>
            <a:ext cx="2113377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Cortocircuito</a:t>
            </a:r>
            <a:endParaRPr lang="es-ES" sz="2400" b="1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90556" name="Text Box 28"/>
          <p:cNvSpPr txBox="1">
            <a:spLocks noChangeArrowheads="1"/>
          </p:cNvSpPr>
          <p:nvPr/>
        </p:nvSpPr>
        <p:spPr bwMode="auto">
          <a:xfrm>
            <a:off x="1312291" y="4325960"/>
            <a:ext cx="4274225" cy="53654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Circuito Divisor </a:t>
            </a:r>
            <a:r>
              <a:rPr lang="es-ES" sz="2400">
                <a:latin typeface="Arial" panose="020B0604020202020204" pitchFamily="34" charset="0"/>
              </a:rPr>
              <a:t>de Intensidad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  <p:sp>
        <p:nvSpPr>
          <p:cNvPr id="790557" name="Text Box 29"/>
          <p:cNvSpPr txBox="1">
            <a:spLocks noChangeArrowheads="1"/>
          </p:cNvSpPr>
          <p:nvPr/>
        </p:nvSpPr>
        <p:spPr bwMode="auto">
          <a:xfrm>
            <a:off x="1489939" y="5013457"/>
            <a:ext cx="309441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/ (R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+ 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651" name="Text Box 44"/>
          <p:cNvSpPr txBox="1">
            <a:spLocks noChangeArrowheads="1"/>
          </p:cNvSpPr>
          <p:nvPr/>
        </p:nvSpPr>
        <p:spPr bwMode="auto">
          <a:xfrm>
            <a:off x="6010275" y="2647901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 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</a:rPr>
              <a:t>= 15 V</a:t>
            </a:r>
            <a:endParaRPr lang="es-ES" sz="2800">
              <a:solidFill>
                <a:srgbClr val="3333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grpSp>
        <p:nvGrpSpPr>
          <p:cNvPr id="8" name="Group 59"/>
          <p:cNvGrpSpPr>
            <a:grpSpLocks/>
          </p:cNvGrpSpPr>
          <p:nvPr/>
        </p:nvGrpSpPr>
        <p:grpSpPr bwMode="auto">
          <a:xfrm>
            <a:off x="1793875" y="939751"/>
            <a:ext cx="3322638" cy="2225675"/>
            <a:chOff x="1130" y="641"/>
            <a:chExt cx="2093" cy="1402"/>
          </a:xfrm>
        </p:grpSpPr>
        <p:sp>
          <p:nvSpPr>
            <p:cNvPr id="26661" name="Line 38"/>
            <p:cNvSpPr>
              <a:spLocks noChangeShapeType="1"/>
            </p:cNvSpPr>
            <p:nvPr/>
          </p:nvSpPr>
          <p:spPr bwMode="auto">
            <a:xfrm flipV="1">
              <a:off x="1130" y="891"/>
              <a:ext cx="0" cy="12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6662" name="Line 39"/>
            <p:cNvSpPr>
              <a:spLocks noChangeShapeType="1"/>
            </p:cNvSpPr>
            <p:nvPr/>
          </p:nvSpPr>
          <p:spPr bwMode="auto">
            <a:xfrm>
              <a:off x="2169" y="845"/>
              <a:ext cx="0" cy="12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6663" name="Line 40"/>
            <p:cNvSpPr>
              <a:spLocks noChangeShapeType="1"/>
            </p:cNvSpPr>
            <p:nvPr/>
          </p:nvSpPr>
          <p:spPr bwMode="auto">
            <a:xfrm rot="16200000" flipV="1">
              <a:off x="1659" y="1981"/>
              <a:ext cx="0" cy="12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6664" name="Line 45"/>
            <p:cNvSpPr>
              <a:spLocks noChangeShapeType="1"/>
            </p:cNvSpPr>
            <p:nvPr/>
          </p:nvSpPr>
          <p:spPr bwMode="auto">
            <a:xfrm>
              <a:off x="3223" y="859"/>
              <a:ext cx="0" cy="12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6665" name="Line 49"/>
            <p:cNvSpPr>
              <a:spLocks noChangeShapeType="1"/>
            </p:cNvSpPr>
            <p:nvPr/>
          </p:nvSpPr>
          <p:spPr bwMode="auto">
            <a:xfrm rot="5400000" flipH="1" flipV="1">
              <a:off x="2277" y="579"/>
              <a:ext cx="0" cy="12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6666" name="Line 50"/>
            <p:cNvSpPr>
              <a:spLocks noChangeShapeType="1"/>
            </p:cNvSpPr>
            <p:nvPr/>
          </p:nvSpPr>
          <p:spPr bwMode="auto">
            <a:xfrm rot="16200000" flipV="1">
              <a:off x="2677" y="1978"/>
              <a:ext cx="0" cy="12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790579" name="Text Box 51"/>
          <p:cNvSpPr txBox="1">
            <a:spLocks noChangeArrowheads="1"/>
          </p:cNvSpPr>
          <p:nvPr/>
        </p:nvSpPr>
        <p:spPr bwMode="auto">
          <a:xfrm>
            <a:off x="1959315" y="5594161"/>
            <a:ext cx="3636962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(</a:t>
            </a:r>
            <a:r>
              <a:rPr lang="es-ES" sz="2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/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/ (R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+ 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90580" name="Text Box 52"/>
          <p:cNvSpPr txBox="1">
            <a:spLocks noChangeArrowheads="1"/>
          </p:cNvSpPr>
          <p:nvPr/>
        </p:nvSpPr>
        <p:spPr bwMode="auto">
          <a:xfrm>
            <a:off x="5877853" y="4299322"/>
            <a:ext cx="211818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+ 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790581" name="Text Box 53"/>
          <p:cNvSpPr txBox="1">
            <a:spLocks noChangeArrowheads="1"/>
          </p:cNvSpPr>
          <p:nvPr/>
        </p:nvSpPr>
        <p:spPr bwMode="auto">
          <a:xfrm>
            <a:off x="6432713" y="5299628"/>
            <a:ext cx="404495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4,7 + 5,6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1,0 / (5,6 + 1,0)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90582" name="Text Box 54"/>
          <p:cNvSpPr txBox="1">
            <a:spLocks noChangeArrowheads="1"/>
          </p:cNvSpPr>
          <p:nvPr/>
        </p:nvSpPr>
        <p:spPr bwMode="auto">
          <a:xfrm>
            <a:off x="1927608" y="6330880"/>
            <a:ext cx="410911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(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15 /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5,6)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5,6 / (5,6 + 1,0)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53"/>
          <p:cNvSpPr txBox="1">
            <a:spLocks noChangeArrowheads="1"/>
          </p:cNvSpPr>
          <p:nvPr/>
        </p:nvSpPr>
        <p:spPr bwMode="auto">
          <a:xfrm>
            <a:off x="6420758" y="5751534"/>
            <a:ext cx="142557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5,6 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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cxnSp>
        <p:nvCxnSpPr>
          <p:cNvPr id="5" name="Conector recto 4"/>
          <p:cNvCxnSpPr/>
          <p:nvPr/>
        </p:nvCxnSpPr>
        <p:spPr bwMode="auto">
          <a:xfrm flipV="1">
            <a:off x="5765800" y="4385651"/>
            <a:ext cx="0" cy="180818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54" name="Text Box 26"/>
          <p:cNvSpPr txBox="1">
            <a:spLocks noChangeArrowheads="1"/>
          </p:cNvSpPr>
          <p:nvPr/>
        </p:nvSpPr>
        <p:spPr bwMode="auto">
          <a:xfrm>
            <a:off x="3410926" y="3584609"/>
            <a:ext cx="160201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 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</a:t>
            </a:r>
          </a:p>
        </p:txBody>
      </p:sp>
      <p:sp>
        <p:nvSpPr>
          <p:cNvPr id="57" name="Text Box 26">
            <a:extLst>
              <a:ext uri="{FF2B5EF4-FFF2-40B4-BE49-F238E27FC236}">
                <a16:creationId xmlns:a16="http://schemas.microsoft.com/office/drawing/2014/main" id="{F5EA5877-C4FF-485E-BFCF-08C6E3256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6075" y="3590116"/>
            <a:ext cx="521642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Como </a:t>
            </a:r>
            <a:r>
              <a:rPr lang="es-ES" sz="2400">
                <a:solidFill>
                  <a:srgbClr val="D60093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 </a:t>
            </a: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va de G a H, </a:t>
            </a:r>
            <a:r>
              <a:rPr lang="es-ES" sz="2400">
                <a:solidFill>
                  <a:srgbClr val="D60093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va al revés</a:t>
            </a:r>
            <a:endParaRPr lang="es-ES" sz="2400" baseline="-25000" dirty="0">
              <a:solidFill>
                <a:srgbClr val="D60093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9" name="Group 57">
            <a:extLst>
              <a:ext uri="{FF2B5EF4-FFF2-40B4-BE49-F238E27FC236}">
                <a16:creationId xmlns:a16="http://schemas.microsoft.com/office/drawing/2014/main" id="{C2959BF8-B4E9-443C-B442-B8E4D57B92ED}"/>
              </a:ext>
            </a:extLst>
          </p:cNvPr>
          <p:cNvGrpSpPr>
            <a:grpSpLocks/>
          </p:cNvGrpSpPr>
          <p:nvPr/>
        </p:nvGrpSpPr>
        <p:grpSpPr bwMode="auto">
          <a:xfrm>
            <a:off x="8993188" y="1663749"/>
            <a:ext cx="719137" cy="719137"/>
            <a:chOff x="5665" y="1110"/>
            <a:chExt cx="453" cy="453"/>
          </a:xfrm>
        </p:grpSpPr>
        <p:sp>
          <p:nvSpPr>
            <p:cNvPr id="60" name="Rectangle 6">
              <a:extLst>
                <a:ext uri="{FF2B5EF4-FFF2-40B4-BE49-F238E27FC236}">
                  <a16:creationId xmlns:a16="http://schemas.microsoft.com/office/drawing/2014/main" id="{A8C5A199-C091-46DC-8407-48290CE15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5" y="1110"/>
              <a:ext cx="453" cy="453"/>
            </a:xfrm>
            <a:prstGeom prst="rect">
              <a:avLst/>
            </a:prstGeom>
            <a:solidFill>
              <a:srgbClr val="FFFF00"/>
            </a:solidFill>
            <a:ln w="254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" name="Text Box 27">
              <a:extLst>
                <a:ext uri="{FF2B5EF4-FFF2-40B4-BE49-F238E27FC236}">
                  <a16:creationId xmlns:a16="http://schemas.microsoft.com/office/drawing/2014/main" id="{89F5D116-B216-4478-8A91-8AC5FE54CA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7" y="1158"/>
              <a:ext cx="440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0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N</a:t>
              </a:r>
            </a:p>
          </p:txBody>
        </p:sp>
      </p:grpSp>
      <p:sp>
        <p:nvSpPr>
          <p:cNvPr id="62" name="CuadroTexto 5">
            <a:extLst>
              <a:ext uri="{FF2B5EF4-FFF2-40B4-BE49-F238E27FC236}">
                <a16:creationId xmlns:a16="http://schemas.microsoft.com/office/drawing/2014/main" id="{A684EAF0-E415-4471-AB15-C4202EAD3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8370" y="370859"/>
            <a:ext cx="1601470" cy="830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Intensidad Norton</a:t>
            </a:r>
          </a:p>
        </p:txBody>
      </p:sp>
      <p:sp>
        <p:nvSpPr>
          <p:cNvPr id="4" name="Text Box 37">
            <a:extLst>
              <a:ext uri="{FF2B5EF4-FFF2-40B4-BE49-F238E27FC236}">
                <a16:creationId xmlns:a16="http://schemas.microsoft.com/office/drawing/2014/main" id="{7546D3F5-9754-6C98-0837-5A8A1BC8C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0941" y="4781851"/>
            <a:ext cx="362661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/ (R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s-ES" sz="24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4B28909-266E-1AD2-6614-2F49A299B2F5}"/>
              </a:ext>
            </a:extLst>
          </p:cNvPr>
          <p:cNvGrpSpPr/>
          <p:nvPr/>
        </p:nvGrpSpPr>
        <p:grpSpPr>
          <a:xfrm>
            <a:off x="3921785" y="1341225"/>
            <a:ext cx="852475" cy="1254288"/>
            <a:chOff x="3921785" y="1341225"/>
            <a:chExt cx="852475" cy="1254288"/>
          </a:xfrm>
        </p:grpSpPr>
        <p:grpSp>
          <p:nvGrpSpPr>
            <p:cNvPr id="7" name="Group 60"/>
            <p:cNvGrpSpPr>
              <a:grpSpLocks/>
            </p:cNvGrpSpPr>
            <p:nvPr/>
          </p:nvGrpSpPr>
          <p:grpSpPr bwMode="auto">
            <a:xfrm>
              <a:off x="4342459" y="1612851"/>
              <a:ext cx="431801" cy="982662"/>
              <a:chOff x="2761" y="1065"/>
              <a:chExt cx="272" cy="619"/>
            </a:xfrm>
          </p:grpSpPr>
          <p:sp>
            <p:nvSpPr>
              <p:cNvPr id="26667" name="Line 48"/>
              <p:cNvSpPr>
                <a:spLocks noChangeShapeType="1"/>
              </p:cNvSpPr>
              <p:nvPr/>
            </p:nvSpPr>
            <p:spPr bwMode="auto">
              <a:xfrm>
                <a:off x="2901" y="1065"/>
                <a:ext cx="0" cy="619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6668" name="Oval 46"/>
              <p:cNvSpPr>
                <a:spLocks noChangeArrowheads="1"/>
              </p:cNvSpPr>
              <p:nvPr/>
            </p:nvSpPr>
            <p:spPr bwMode="auto">
              <a:xfrm>
                <a:off x="2761" y="1228"/>
                <a:ext cx="272" cy="272"/>
              </a:xfrm>
              <a:prstGeom prst="ellipse">
                <a:avLst/>
              </a:prstGeom>
              <a:solidFill>
                <a:srgbClr val="EDE7E3"/>
              </a:solidFill>
              <a:ln w="25400" algn="ctr">
                <a:solidFill>
                  <a:srgbClr val="FF00FF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6669" name="Line 47"/>
              <p:cNvSpPr>
                <a:spLocks noChangeShapeType="1"/>
              </p:cNvSpPr>
              <p:nvPr/>
            </p:nvSpPr>
            <p:spPr bwMode="auto">
              <a:xfrm flipH="1" flipV="1">
                <a:off x="2897" y="1274"/>
                <a:ext cx="0" cy="181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6" name="Text Box 26">
              <a:extLst>
                <a:ext uri="{FF2B5EF4-FFF2-40B4-BE49-F238E27FC236}">
                  <a16:creationId xmlns:a16="http://schemas.microsoft.com/office/drawing/2014/main" id="{38B25853-03E6-777B-1426-6A41BC170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1785" y="1341225"/>
              <a:ext cx="754990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400" baseline="-25000">
                  <a:solidFill>
                    <a:srgbClr val="FF00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N</a:t>
              </a:r>
              <a:endParaRPr lang="es-ES" sz="2400" baseline="-25000" dirty="0">
                <a:solidFill>
                  <a:srgbClr val="FF00FF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10" name="Oval 20">
            <a:extLst>
              <a:ext uri="{FF2B5EF4-FFF2-40B4-BE49-F238E27FC236}">
                <a16:creationId xmlns:a16="http://schemas.microsoft.com/office/drawing/2014/main" id="{68AA5BAD-05FE-8695-D535-D801D158080F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041900" y="3093545"/>
            <a:ext cx="131763" cy="13176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B9F89904-2365-8C55-30A3-0474FE7789B0}"/>
              </a:ext>
            </a:extLst>
          </p:cNvPr>
          <p:cNvSpPr/>
          <p:nvPr/>
        </p:nvSpPr>
        <p:spPr bwMode="auto">
          <a:xfrm>
            <a:off x="3175280" y="4873451"/>
            <a:ext cx="2712622" cy="854109"/>
          </a:xfrm>
          <a:custGeom>
            <a:avLst/>
            <a:gdLst>
              <a:gd name="connsiteX0" fmla="*/ 0 w 2833635"/>
              <a:gd name="connsiteY0" fmla="*/ 854109 h 854109"/>
              <a:gd name="connsiteX1" fmla="*/ 914400 w 2833635"/>
              <a:gd name="connsiteY1" fmla="*/ 733529 h 854109"/>
              <a:gd name="connsiteX2" fmla="*/ 2090057 w 2833635"/>
              <a:gd name="connsiteY2" fmla="*/ 693336 h 854109"/>
              <a:gd name="connsiteX3" fmla="*/ 2833635 w 2833635"/>
              <a:gd name="connsiteY3" fmla="*/ 0 h 85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3635" h="854109">
                <a:moveTo>
                  <a:pt x="0" y="854109"/>
                </a:moveTo>
                <a:cubicBezTo>
                  <a:pt x="283028" y="807216"/>
                  <a:pt x="566057" y="760324"/>
                  <a:pt x="914400" y="733529"/>
                </a:cubicBezTo>
                <a:cubicBezTo>
                  <a:pt x="1262743" y="706734"/>
                  <a:pt x="1770185" y="815591"/>
                  <a:pt x="2090057" y="693336"/>
                </a:cubicBezTo>
                <a:cubicBezTo>
                  <a:pt x="2409929" y="571081"/>
                  <a:pt x="2621782" y="285540"/>
                  <a:pt x="2833635" y="0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52A7D3C-4696-8523-377C-68EF97D9D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340" y="4339853"/>
            <a:ext cx="22381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/>
              <a:t>(vista desde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r>
              <a:rPr lang="es-ES" sz="24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128497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90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90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790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90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90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9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9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9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9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0554" grpId="0" animBg="1"/>
      <p:bldP spid="790556" grpId="0" animBg="1"/>
      <p:bldP spid="790557" grpId="0"/>
      <p:bldP spid="790579" grpId="0"/>
      <p:bldP spid="790580" grpId="0"/>
      <p:bldP spid="790581" grpId="0"/>
      <p:bldP spid="790582" grpId="0"/>
      <p:bldP spid="3" grpId="0"/>
      <p:bldP spid="54" grpId="0"/>
      <p:bldP spid="57" grpId="0"/>
      <p:bldP spid="4" grpId="0"/>
      <p:bldP spid="11" grpId="0" animBg="1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6" name="Text Box 30"/>
          <p:cNvSpPr txBox="1">
            <a:spLocks noChangeArrowheads="1"/>
          </p:cNvSpPr>
          <p:nvPr/>
        </p:nvSpPr>
        <p:spPr bwMode="auto">
          <a:xfrm>
            <a:off x="8574547" y="1893984"/>
            <a:ext cx="1793876" cy="53657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2,3 mA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3" name="Text Box 62">
            <a:extLst>
              <a:ext uri="{FF2B5EF4-FFF2-40B4-BE49-F238E27FC236}">
                <a16:creationId xmlns:a16="http://schemas.microsoft.com/office/drawing/2014/main" id="{09436B49-9A26-48EC-AB9F-B33477A98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176" y="3815417"/>
            <a:ext cx="1625252" cy="612645"/>
          </a:xfrm>
          <a:prstGeom prst="rect">
            <a:avLst/>
          </a:prstGeom>
          <a:solidFill>
            <a:srgbClr val="FFCC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lIns="72000" tIns="36000" rIns="72000" bIns="1440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dirty="0"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r>
              <a:rPr lang="es-E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Th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r I</a:t>
            </a:r>
            <a:r>
              <a:rPr lang="es-ES" sz="24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endParaRPr lang="es-ES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4AC4E780-1BB3-4F28-9385-ADC9D91A125A}"/>
              </a:ext>
            </a:extLst>
          </p:cNvPr>
          <p:cNvGrpSpPr/>
          <p:nvPr/>
        </p:nvGrpSpPr>
        <p:grpSpPr>
          <a:xfrm>
            <a:off x="3201077" y="1326913"/>
            <a:ext cx="1001713" cy="2159000"/>
            <a:chOff x="1330325" y="2417780"/>
            <a:chExt cx="1001713" cy="2159000"/>
          </a:xfrm>
        </p:grpSpPr>
        <p:grpSp>
          <p:nvGrpSpPr>
            <p:cNvPr id="65" name="Group 103">
              <a:extLst>
                <a:ext uri="{FF2B5EF4-FFF2-40B4-BE49-F238E27FC236}">
                  <a16:creationId xmlns:a16="http://schemas.microsoft.com/office/drawing/2014/main" id="{3D4CB725-BFD2-41DD-8E70-0363D5A9E4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0325" y="2417780"/>
              <a:ext cx="1001713" cy="2159000"/>
              <a:chOff x="982" y="1384"/>
              <a:chExt cx="631" cy="1360"/>
            </a:xfrm>
          </p:grpSpPr>
          <p:grpSp>
            <p:nvGrpSpPr>
              <p:cNvPr id="68" name="Group 114">
                <a:extLst>
                  <a:ext uri="{FF2B5EF4-FFF2-40B4-BE49-F238E27FC236}">
                    <a16:creationId xmlns:a16="http://schemas.microsoft.com/office/drawing/2014/main" id="{BC2AC6FE-F08F-4298-B307-548026AE24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89" y="2189"/>
                <a:ext cx="624" cy="242"/>
                <a:chOff x="2221" y="2085"/>
                <a:chExt cx="624" cy="242"/>
              </a:xfrm>
            </p:grpSpPr>
            <p:grpSp>
              <p:nvGrpSpPr>
                <p:cNvPr id="77" name="Group 8">
                  <a:extLst>
                    <a:ext uri="{FF2B5EF4-FFF2-40B4-BE49-F238E27FC236}">
                      <a16:creationId xmlns:a16="http://schemas.microsoft.com/office/drawing/2014/main" id="{8129B9C0-5669-43F3-84E5-2179F28A7C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67" y="2251"/>
                  <a:ext cx="278" cy="48"/>
                  <a:chOff x="1619" y="2634"/>
                  <a:chExt cx="340" cy="54"/>
                </a:xfrm>
              </p:grpSpPr>
              <p:sp>
                <p:nvSpPr>
                  <p:cNvPr id="79" name="Line 9">
                    <a:extLst>
                      <a:ext uri="{FF2B5EF4-FFF2-40B4-BE49-F238E27FC236}">
                        <a16:creationId xmlns:a16="http://schemas.microsoft.com/office/drawing/2014/main" id="{C5760189-94B8-4488-8CEC-1366E122745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19" y="2634"/>
                    <a:ext cx="340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90000" tIns="46800" rIns="90000" bIns="46800" anchorCtr="1"/>
                  <a:lstStyle/>
                  <a:p>
                    <a:endParaRPr lang="en-GB"/>
                  </a:p>
                </p:txBody>
              </p:sp>
              <p:sp>
                <p:nvSpPr>
                  <p:cNvPr id="80" name="Line 10">
                    <a:extLst>
                      <a:ext uri="{FF2B5EF4-FFF2-40B4-BE49-F238E27FC236}">
                        <a16:creationId xmlns:a16="http://schemas.microsoft.com/office/drawing/2014/main" id="{579F66B3-4DAE-46E1-9FC1-DA8460F098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76" y="2688"/>
                    <a:ext cx="206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90000" tIns="46800" rIns="90000" bIns="46800" anchorCtr="1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78" name="Text Box 11">
                  <a:extLst>
                    <a:ext uri="{FF2B5EF4-FFF2-40B4-BE49-F238E27FC236}">
                      <a16:creationId xmlns:a16="http://schemas.microsoft.com/office/drawing/2014/main" id="{D0D38A0E-5570-4C02-87CF-53449F55C6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21" y="2085"/>
                  <a:ext cx="297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6535" tIns="39797" rIns="76535" bIns="39797" anchorCtr="1"/>
                <a:lstStyle>
                  <a:lvl1pPr defTabSz="777875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777875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777875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777875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77875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FF3300"/>
                      </a:solidFill>
                      <a:latin typeface="Comic Sans MS" panose="030F0702030302020204" pitchFamily="66" charset="0"/>
                      <a:sym typeface="Symbol" panose="05050102010706020507" pitchFamily="18" charset="2"/>
                    </a:rPr>
                    <a:t></a:t>
                  </a:r>
                  <a:r>
                    <a:rPr lang="es-ES" sz="2000" baseline="-25000">
                      <a:solidFill>
                        <a:srgbClr val="FF3300"/>
                      </a:solidFill>
                      <a:latin typeface="Comic Sans MS" panose="030F0702030302020204" pitchFamily="66" charset="0"/>
                      <a:sym typeface="Symbol" panose="05050102010706020507" pitchFamily="18" charset="2"/>
                    </a:rPr>
                    <a:t>Th</a:t>
                  </a:r>
                  <a:endParaRPr lang="es-ES" sz="2000">
                    <a:solidFill>
                      <a:srgbClr val="FF33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69" name="Line 12">
                <a:extLst>
                  <a:ext uri="{FF2B5EF4-FFF2-40B4-BE49-F238E27FC236}">
                    <a16:creationId xmlns:a16="http://schemas.microsoft.com/office/drawing/2014/main" id="{8F789827-FDB4-45E3-B2A7-F729B58E89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60" y="2037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70" name="Line 13">
                <a:extLst>
                  <a:ext uri="{FF2B5EF4-FFF2-40B4-BE49-F238E27FC236}">
                    <a16:creationId xmlns:a16="http://schemas.microsoft.com/office/drawing/2014/main" id="{F90DBE00-04EA-4C83-863F-92D68FA4F5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2393"/>
                <a:ext cx="0" cy="306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71" name="Line 14">
                <a:extLst>
                  <a:ext uri="{FF2B5EF4-FFF2-40B4-BE49-F238E27FC236}">
                    <a16:creationId xmlns:a16="http://schemas.microsoft.com/office/drawing/2014/main" id="{7156B7AD-61A9-4229-8DCA-A5D6FDD8E5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60" y="1414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grpSp>
            <p:nvGrpSpPr>
              <p:cNvPr id="72" name="Group 117">
                <a:extLst>
                  <a:ext uri="{FF2B5EF4-FFF2-40B4-BE49-F238E27FC236}">
                    <a16:creationId xmlns:a16="http://schemas.microsoft.com/office/drawing/2014/main" id="{8E7A5A55-B18F-4313-97E2-8AC1FE343B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82" y="1702"/>
                <a:ext cx="606" cy="330"/>
                <a:chOff x="2214" y="1597"/>
                <a:chExt cx="606" cy="330"/>
              </a:xfrm>
            </p:grpSpPr>
            <p:sp>
              <p:nvSpPr>
                <p:cNvPr id="75" name="Freeform 15">
                  <a:extLst>
                    <a:ext uri="{FF2B5EF4-FFF2-40B4-BE49-F238E27FC236}">
                      <a16:creationId xmlns:a16="http://schemas.microsoft.com/office/drawing/2014/main" id="{58251607-D9B7-4E6E-9350-57EA352A57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83" y="1622"/>
                  <a:ext cx="237" cy="305"/>
                </a:xfrm>
                <a:custGeom>
                  <a:avLst/>
                  <a:gdLst>
                    <a:gd name="T0" fmla="*/ 2 w 288"/>
                    <a:gd name="T1" fmla="*/ 2 h 384"/>
                    <a:gd name="T2" fmla="*/ 0 w 288"/>
                    <a:gd name="T3" fmla="*/ 2 h 384"/>
                    <a:gd name="T4" fmla="*/ 4 w 288"/>
                    <a:gd name="T5" fmla="*/ 2 h 384"/>
                    <a:gd name="T6" fmla="*/ 0 w 288"/>
                    <a:gd name="T7" fmla="*/ 2 h 384"/>
                    <a:gd name="T8" fmla="*/ 4 w 288"/>
                    <a:gd name="T9" fmla="*/ 2 h 384"/>
                    <a:gd name="T10" fmla="*/ 0 w 288"/>
                    <a:gd name="T11" fmla="*/ 0 h 384"/>
                    <a:gd name="T12" fmla="*/ 2 w 288"/>
                    <a:gd name="T13" fmla="*/ 0 h 38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8"/>
                    <a:gd name="T22" fmla="*/ 0 h 384"/>
                    <a:gd name="T23" fmla="*/ 288 w 288"/>
                    <a:gd name="T24" fmla="*/ 384 h 38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8" h="384">
                      <a:moveTo>
                        <a:pt x="144" y="384"/>
                      </a:moveTo>
                      <a:lnTo>
                        <a:pt x="0" y="288"/>
                      </a:lnTo>
                      <a:lnTo>
                        <a:pt x="288" y="288"/>
                      </a:lnTo>
                      <a:lnTo>
                        <a:pt x="0" y="144"/>
                      </a:lnTo>
                      <a:lnTo>
                        <a:pt x="288" y="144"/>
                      </a:lnTo>
                      <a:lnTo>
                        <a:pt x="0" y="0"/>
                      </a:lnTo>
                      <a:lnTo>
                        <a:pt x="144" y="0"/>
                      </a:lnTo>
                    </a:path>
                  </a:pathLst>
                </a:cu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76" name="Text Box 16">
                  <a:extLst>
                    <a:ext uri="{FF2B5EF4-FFF2-40B4-BE49-F238E27FC236}">
                      <a16:creationId xmlns:a16="http://schemas.microsoft.com/office/drawing/2014/main" id="{F0414870-A6C2-448C-BA15-358D544441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4" y="1597"/>
                  <a:ext cx="304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6535" tIns="39797" rIns="76535" bIns="39797" anchorCtr="1"/>
                <a:lstStyle>
                  <a:lvl1pPr defTabSz="777875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777875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777875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777875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77875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778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8000"/>
                      </a:solidFill>
                      <a:latin typeface="Comic Sans MS" panose="030F0702030302020204" pitchFamily="66" charset="0"/>
                    </a:rPr>
                    <a:t>r</a:t>
                  </a:r>
                  <a:r>
                    <a:rPr lang="es-ES" sz="2000" baseline="-25000">
                      <a:solidFill>
                        <a:srgbClr val="008000"/>
                      </a:solidFill>
                      <a:latin typeface="Comic Sans MS" panose="030F0702030302020204" pitchFamily="66" charset="0"/>
                    </a:rPr>
                    <a:t>Th</a:t>
                  </a:r>
                  <a:endParaRPr lang="es-ES" sz="2000">
                    <a:solidFill>
                      <a:srgbClr val="008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73" name="Oval 17">
                <a:extLst>
                  <a:ext uri="{FF2B5EF4-FFF2-40B4-BE49-F238E27FC236}">
                    <a16:creationId xmlns:a16="http://schemas.microsoft.com/office/drawing/2014/main" id="{749FA5AD-33F5-4BEE-B8D7-2F796BEB7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8" y="1384"/>
                <a:ext cx="56" cy="61"/>
              </a:xfrm>
              <a:prstGeom prst="ellipse">
                <a:avLst/>
              </a:prstGeom>
              <a:solidFill>
                <a:srgbClr val="0000FF"/>
              </a:solidFill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4" name="Oval 18">
                <a:extLst>
                  <a:ext uri="{FF2B5EF4-FFF2-40B4-BE49-F238E27FC236}">
                    <a16:creationId xmlns:a16="http://schemas.microsoft.com/office/drawing/2014/main" id="{B6C6987D-B470-4599-9DF8-882BBD0EB5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2" y="2682"/>
                <a:ext cx="56" cy="62"/>
              </a:xfrm>
              <a:prstGeom prst="ellipse">
                <a:avLst/>
              </a:prstGeom>
              <a:solidFill>
                <a:srgbClr val="0000FF"/>
              </a:solidFill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6" name="CuadroTexto 4">
              <a:extLst>
                <a:ext uri="{FF2B5EF4-FFF2-40B4-BE49-F238E27FC236}">
                  <a16:creationId xmlns:a16="http://schemas.microsoft.com/office/drawing/2014/main" id="{8746F0CF-E7AC-48B3-B7C4-AD9BEB6545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1281" y="3635393"/>
              <a:ext cx="3333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/>
                <a:t>+</a:t>
              </a:r>
            </a:p>
          </p:txBody>
        </p:sp>
        <p:sp>
          <p:nvSpPr>
            <p:cNvPr id="67" name="CuadroTexto 131">
              <a:extLst>
                <a:ext uri="{FF2B5EF4-FFF2-40B4-BE49-F238E27FC236}">
                  <a16:creationId xmlns:a16="http://schemas.microsoft.com/office/drawing/2014/main" id="{4BF101B4-8241-471C-AE58-B7C8493F3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7440" y="3913308"/>
              <a:ext cx="2698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/>
                <a:t>-</a:t>
              </a:r>
            </a:p>
          </p:txBody>
        </p:sp>
      </p:grpSp>
      <p:sp>
        <p:nvSpPr>
          <p:cNvPr id="81" name="Text Box 6">
            <a:extLst>
              <a:ext uri="{FF2B5EF4-FFF2-40B4-BE49-F238E27FC236}">
                <a16:creationId xmlns:a16="http://schemas.microsoft.com/office/drawing/2014/main" id="{F36391D1-746D-480B-A68E-C912C91B8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988" y="334112"/>
            <a:ext cx="2341562" cy="7620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535" tIns="75600" rIns="76535" bIns="756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rgbClr val="FFFFFF"/>
                </a:solidFill>
                <a:latin typeface="Comic Sans MS" panose="030F0702030302020204" pitchFamily="66" charset="0"/>
              </a:rPr>
              <a:t>EQUIVALENTE NORTON</a:t>
            </a:r>
          </a:p>
        </p:txBody>
      </p:sp>
      <p:grpSp>
        <p:nvGrpSpPr>
          <p:cNvPr id="82" name="Group 105">
            <a:extLst>
              <a:ext uri="{FF2B5EF4-FFF2-40B4-BE49-F238E27FC236}">
                <a16:creationId xmlns:a16="http://schemas.microsoft.com/office/drawing/2014/main" id="{2073DECE-6EE3-4294-BDAD-54CE4DA5AC8E}"/>
              </a:ext>
            </a:extLst>
          </p:cNvPr>
          <p:cNvGrpSpPr>
            <a:grpSpLocks/>
          </p:cNvGrpSpPr>
          <p:nvPr/>
        </p:nvGrpSpPr>
        <p:grpSpPr bwMode="auto">
          <a:xfrm>
            <a:off x="7096463" y="1300854"/>
            <a:ext cx="1243012" cy="2157412"/>
            <a:chOff x="5453" y="1417"/>
            <a:chExt cx="783" cy="1359"/>
          </a:xfrm>
        </p:grpSpPr>
        <p:sp>
          <p:nvSpPr>
            <p:cNvPr id="83" name="Line 29">
              <a:extLst>
                <a:ext uri="{FF2B5EF4-FFF2-40B4-BE49-F238E27FC236}">
                  <a16:creationId xmlns:a16="http://schemas.microsoft.com/office/drawing/2014/main" id="{74B8BA1B-0B02-4F53-91A8-52368C4F19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19" y="2298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84" name="Line 30">
              <a:extLst>
                <a:ext uri="{FF2B5EF4-FFF2-40B4-BE49-F238E27FC236}">
                  <a16:creationId xmlns:a16="http://schemas.microsoft.com/office/drawing/2014/main" id="{3D1DAEB5-ADE1-4E8B-9FCD-7FA4209354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933" y="2409"/>
              <a:ext cx="0" cy="37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85" name="Line 31">
              <a:extLst>
                <a:ext uri="{FF2B5EF4-FFF2-40B4-BE49-F238E27FC236}">
                  <a16:creationId xmlns:a16="http://schemas.microsoft.com/office/drawing/2014/main" id="{DB23D17B-4D07-4D82-9E6F-BD4DDAA5E9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12" y="1675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grpSp>
          <p:nvGrpSpPr>
            <p:cNvPr id="86" name="Group 129">
              <a:extLst>
                <a:ext uri="{FF2B5EF4-FFF2-40B4-BE49-F238E27FC236}">
                  <a16:creationId xmlns:a16="http://schemas.microsoft.com/office/drawing/2014/main" id="{3C8BD051-5DA4-4445-8BAB-9FC09AA686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32" y="1709"/>
              <a:ext cx="404" cy="585"/>
              <a:chOff x="5824" y="1588"/>
              <a:chExt cx="404" cy="585"/>
            </a:xfrm>
          </p:grpSpPr>
          <p:sp>
            <p:nvSpPr>
              <p:cNvPr id="96" name="Freeform 32">
                <a:extLst>
                  <a:ext uri="{FF2B5EF4-FFF2-40B4-BE49-F238E27FC236}">
                    <a16:creationId xmlns:a16="http://schemas.microsoft.com/office/drawing/2014/main" id="{8D6486E3-CF38-45A7-9A06-E00BE23AD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2" y="1868"/>
                <a:ext cx="236" cy="305"/>
              </a:xfrm>
              <a:custGeom>
                <a:avLst/>
                <a:gdLst>
                  <a:gd name="T0" fmla="*/ 2 w 288"/>
                  <a:gd name="T1" fmla="*/ 2 h 384"/>
                  <a:gd name="T2" fmla="*/ 0 w 288"/>
                  <a:gd name="T3" fmla="*/ 2 h 384"/>
                  <a:gd name="T4" fmla="*/ 3 w 288"/>
                  <a:gd name="T5" fmla="*/ 2 h 384"/>
                  <a:gd name="T6" fmla="*/ 0 w 288"/>
                  <a:gd name="T7" fmla="*/ 2 h 384"/>
                  <a:gd name="T8" fmla="*/ 3 w 288"/>
                  <a:gd name="T9" fmla="*/ 2 h 384"/>
                  <a:gd name="T10" fmla="*/ 0 w 288"/>
                  <a:gd name="T11" fmla="*/ 0 h 384"/>
                  <a:gd name="T12" fmla="*/ 2 w 288"/>
                  <a:gd name="T13" fmla="*/ 0 h 3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8"/>
                  <a:gd name="T22" fmla="*/ 0 h 384"/>
                  <a:gd name="T23" fmla="*/ 288 w 288"/>
                  <a:gd name="T24" fmla="*/ 384 h 3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8" h="384">
                    <a:moveTo>
                      <a:pt x="144" y="384"/>
                    </a:moveTo>
                    <a:lnTo>
                      <a:pt x="0" y="288"/>
                    </a:lnTo>
                    <a:lnTo>
                      <a:pt x="288" y="288"/>
                    </a:lnTo>
                    <a:lnTo>
                      <a:pt x="0" y="144"/>
                    </a:lnTo>
                    <a:lnTo>
                      <a:pt x="288" y="144"/>
                    </a:lnTo>
                    <a:lnTo>
                      <a:pt x="0" y="0"/>
                    </a:lnTo>
                    <a:lnTo>
                      <a:pt x="144" y="0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7" name="Text Box 33">
                <a:extLst>
                  <a:ext uri="{FF2B5EF4-FFF2-40B4-BE49-F238E27FC236}">
                    <a16:creationId xmlns:a16="http://schemas.microsoft.com/office/drawing/2014/main" id="{3D5A1B8C-7090-444F-BB05-477E22F4D2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24" y="1588"/>
                <a:ext cx="25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r</a:t>
                </a:r>
                <a:r>
                  <a:rPr lang="es-ES" sz="2000" baseline="-250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N</a:t>
                </a:r>
                <a:endParaRPr lang="es-ES" sz="2000">
                  <a:solidFill>
                    <a:srgbClr val="008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87" name="Oval 34">
              <a:extLst>
                <a:ext uri="{FF2B5EF4-FFF2-40B4-BE49-F238E27FC236}">
                  <a16:creationId xmlns:a16="http://schemas.microsoft.com/office/drawing/2014/main" id="{C82BC39B-E8FF-4049-9A78-EBA1884BB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2" y="1417"/>
              <a:ext cx="57" cy="61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8" name="Oval 35">
              <a:extLst>
                <a:ext uri="{FF2B5EF4-FFF2-40B4-BE49-F238E27FC236}">
                  <a16:creationId xmlns:a16="http://schemas.microsoft.com/office/drawing/2014/main" id="{26A32765-86B5-40F9-85C6-4E1A75632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5" y="2716"/>
              <a:ext cx="55" cy="60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9" name="Line 43">
              <a:extLst>
                <a:ext uri="{FF2B5EF4-FFF2-40B4-BE49-F238E27FC236}">
                  <a16:creationId xmlns:a16="http://schemas.microsoft.com/office/drawing/2014/main" id="{3450A44E-DA58-4872-9C94-C22DCB4FB8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54" y="1452"/>
              <a:ext cx="0" cy="5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0" name="Line 44">
              <a:extLst>
                <a:ext uri="{FF2B5EF4-FFF2-40B4-BE49-F238E27FC236}">
                  <a16:creationId xmlns:a16="http://schemas.microsoft.com/office/drawing/2014/main" id="{B708FAAD-4FF7-4A75-9C36-17B979F962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8" y="2242"/>
              <a:ext cx="0" cy="5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grpSp>
          <p:nvGrpSpPr>
            <p:cNvPr id="91" name="Group 116">
              <a:extLst>
                <a:ext uri="{FF2B5EF4-FFF2-40B4-BE49-F238E27FC236}">
                  <a16:creationId xmlns:a16="http://schemas.microsoft.com/office/drawing/2014/main" id="{AAD85650-A01C-4675-A761-596D3A4930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53" y="1715"/>
              <a:ext cx="414" cy="514"/>
              <a:chOff x="5445" y="1594"/>
              <a:chExt cx="414" cy="514"/>
            </a:xfrm>
          </p:grpSpPr>
          <p:sp>
            <p:nvSpPr>
              <p:cNvPr id="93" name="Text Box 28">
                <a:extLst>
                  <a:ext uri="{FF2B5EF4-FFF2-40B4-BE49-F238E27FC236}">
                    <a16:creationId xmlns:a16="http://schemas.microsoft.com/office/drawing/2014/main" id="{59B18712-36AC-4F89-B165-249673D536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45" y="1594"/>
                <a:ext cx="26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I</a:t>
                </a:r>
                <a:r>
                  <a:rPr lang="es-ES" sz="2000" baseline="-25000">
                    <a:solidFill>
                      <a:srgbClr val="3333FF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N</a:t>
                </a:r>
                <a:endParaRPr lang="es-ES" sz="200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94" name="Oval 45">
                <a:extLst>
                  <a:ext uri="{FF2B5EF4-FFF2-40B4-BE49-F238E27FC236}">
                    <a16:creationId xmlns:a16="http://schemas.microsoft.com/office/drawing/2014/main" id="{F33A94E3-088B-4CFE-AF8E-D9179BF7B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5623" y="1874"/>
                <a:ext cx="244" cy="224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5" name="Text Box 46">
                <a:extLst>
                  <a:ext uri="{FF2B5EF4-FFF2-40B4-BE49-F238E27FC236}">
                    <a16:creationId xmlns:a16="http://schemas.microsoft.com/office/drawing/2014/main" id="{F6DB1BB4-44FF-4463-8468-7C21F172D6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5400000">
                <a:off x="5636" y="1871"/>
                <a:ext cx="22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Comic Sans MS" panose="030F0702030302020204" pitchFamily="66" charset="0"/>
                    <a:sym typeface="Wingdings 3" panose="05040102010807070707" pitchFamily="18" charset="2"/>
                  </a:rPr>
                  <a:t></a:t>
                </a:r>
              </a:p>
            </p:txBody>
          </p:sp>
        </p:grpSp>
        <p:sp>
          <p:nvSpPr>
            <p:cNvPr id="92" name="Line 47">
              <a:extLst>
                <a:ext uri="{FF2B5EF4-FFF2-40B4-BE49-F238E27FC236}">
                  <a16:creationId xmlns:a16="http://schemas.microsoft.com/office/drawing/2014/main" id="{DECE541A-BBFF-4846-A5A9-984F196BCF2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933" y="1494"/>
              <a:ext cx="0" cy="37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</p:grpSp>
      <p:sp>
        <p:nvSpPr>
          <p:cNvPr id="98" name="Text Box 5">
            <a:extLst>
              <a:ext uri="{FF2B5EF4-FFF2-40B4-BE49-F238E27FC236}">
                <a16:creationId xmlns:a16="http://schemas.microsoft.com/office/drawing/2014/main" id="{9DD9315A-5844-4EBC-98F2-F903E510F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329" y="334112"/>
            <a:ext cx="2355850" cy="762000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535" tIns="75600" rIns="76535" bIns="756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rgbClr val="FFFFFF"/>
                </a:solidFill>
                <a:latin typeface="Comic Sans MS" panose="030F0702030302020204" pitchFamily="66" charset="0"/>
              </a:rPr>
              <a:t>EQUIVALENTE THEVENIN</a:t>
            </a:r>
          </a:p>
        </p:txBody>
      </p:sp>
      <p:sp>
        <p:nvSpPr>
          <p:cNvPr id="101" name="Text Box 31">
            <a:extLst>
              <a:ext uri="{FF2B5EF4-FFF2-40B4-BE49-F238E27FC236}">
                <a16:creationId xmlns:a16="http://schemas.microsoft.com/office/drawing/2014/main" id="{5394073A-B2C8-48FC-AB62-141839900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712" y="1858860"/>
            <a:ext cx="1793876" cy="59848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r>
              <a:rPr lang="es-E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Th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8,2 V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2" name="Text Box 42">
            <a:extLst>
              <a:ext uri="{FF2B5EF4-FFF2-40B4-BE49-F238E27FC236}">
                <a16:creationId xmlns:a16="http://schemas.microsoft.com/office/drawing/2014/main" id="{2696D884-A06B-4078-9C67-1F3EBF117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7911" y="1884526"/>
            <a:ext cx="1820839" cy="53654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 3,6 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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3" name="Text Box 113">
            <a:extLst>
              <a:ext uri="{FF2B5EF4-FFF2-40B4-BE49-F238E27FC236}">
                <a16:creationId xmlns:a16="http://schemas.microsoft.com/office/drawing/2014/main" id="{C40D9731-E5CC-40AF-8060-EFCC2BE31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8889" y="3668800"/>
            <a:ext cx="7217462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 verifica (8,2 = 8,3), la diferencia se debe al error asociado al redondeo de los resultados intermedios</a:t>
            </a:r>
          </a:p>
        </p:txBody>
      </p:sp>
      <p:sp>
        <p:nvSpPr>
          <p:cNvPr id="104" name="Text Box 113">
            <a:extLst>
              <a:ext uri="{FF2B5EF4-FFF2-40B4-BE49-F238E27FC236}">
                <a16:creationId xmlns:a16="http://schemas.microsoft.com/office/drawing/2014/main" id="{E619C5BD-BCFF-41BF-B73E-04B79C7E3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657" y="5548052"/>
            <a:ext cx="8710514" cy="127521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Al resolver un circuito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 Un equivalente, una fuente real de V o de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una ideal de V con una R en serie, o una de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 una R en paralelo, se puede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transformar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en el/la otro/a si interesa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Text Box 205">
            <a:extLst>
              <a:ext uri="{FF2B5EF4-FFF2-40B4-BE49-F238E27FC236}">
                <a16:creationId xmlns:a16="http://schemas.microsoft.com/office/drawing/2014/main" id="{66E00CF6-3676-F237-E0F2-03D602FC1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176" y="4677124"/>
            <a:ext cx="3461502" cy="606199"/>
          </a:xfrm>
          <a:prstGeom prst="rect">
            <a:avLst/>
          </a:prstGeom>
          <a:solidFill>
            <a:srgbClr val="FFCC99"/>
          </a:solidFill>
          <a:ln w="25400" algn="ctr">
            <a:solidFill>
              <a:srgbClr val="000000"/>
            </a:solidFill>
            <a:miter lim="800000"/>
            <a:headEnd/>
            <a:tailEnd type="none" w="lg" len="lg"/>
          </a:ln>
        </p:spPr>
        <p:txBody>
          <a:bodyPr wrap="none" lIns="90000" tIns="90000" rIns="90000" bIns="90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Sentido - + = Sentido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</a:p>
        </p:txBody>
      </p:sp>
      <p:sp>
        <p:nvSpPr>
          <p:cNvPr id="3" name="Text Box 113">
            <a:extLst>
              <a:ext uri="{FF2B5EF4-FFF2-40B4-BE49-F238E27FC236}">
                <a16:creationId xmlns:a16="http://schemas.microsoft.com/office/drawing/2014/main" id="{8BD7A65B-73E8-C3EA-7B0B-72EEA4A84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678" y="4737249"/>
            <a:ext cx="187573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 verifica</a:t>
            </a:r>
            <a:endParaRPr lang="es-ES" sz="2400" dirty="0">
              <a:solidFill>
                <a:srgbClr val="D60093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" name="Text Box 113">
            <a:extLst>
              <a:ext uri="{FF2B5EF4-FFF2-40B4-BE49-F238E27FC236}">
                <a16:creationId xmlns:a16="http://schemas.microsoft.com/office/drawing/2014/main" id="{364E7CF7-48D8-217C-6E87-A7BAF63E5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194" y="4722875"/>
            <a:ext cx="2590462" cy="5365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Son equivalentes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" name="Text Box 189">
            <a:extLst>
              <a:ext uri="{FF2B5EF4-FFF2-40B4-BE49-F238E27FC236}">
                <a16:creationId xmlns:a16="http://schemas.microsoft.com/office/drawing/2014/main" id="{9E663A4F-0BE6-6D01-9F2C-CD3B8302F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7937" y="2662325"/>
            <a:ext cx="1625252" cy="605617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</a:ln>
        </p:spPr>
        <p:txBody>
          <a:bodyPr wrap="square" lIns="90000" tIns="90000" rIns="90000" bIns="144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r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= r</a:t>
            </a:r>
            <a:r>
              <a:rPr lang="es-ES" sz="2400" baseline="-25000">
                <a:latin typeface="Arial" panose="020B0604020202020204" pitchFamily="34" charset="0"/>
              </a:rPr>
              <a:t>Th</a:t>
            </a:r>
            <a:r>
              <a:rPr lang="es-ES" sz="2400">
                <a:latin typeface="Arial" panose="020B0604020202020204" pitchFamily="34" charset="0"/>
              </a:rPr>
              <a:t> = r</a:t>
            </a:r>
            <a:r>
              <a:rPr lang="es-ES" sz="2400" baseline="-25000">
                <a:latin typeface="Arial" panose="020B0604020202020204" pitchFamily="34" charset="0"/>
              </a:rPr>
              <a:t>N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1510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103" grpId="0"/>
      <p:bldP spid="104" grpId="0" animBg="1"/>
      <p:bldP spid="2" grpId="0" animBg="1"/>
      <p:bldP spid="3" grpId="0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3"/>
          <p:cNvSpPr>
            <a:spLocks noChangeArrowheads="1"/>
          </p:cNvSpPr>
          <p:nvPr/>
        </p:nvSpPr>
        <p:spPr bwMode="auto">
          <a:xfrm>
            <a:off x="1280008" y="380166"/>
            <a:ext cx="8991882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8.2.2 ASOC. EN SERIE Y EN PARALELO DE GENERADORES</a:t>
            </a:r>
          </a:p>
        </p:txBody>
      </p:sp>
      <p:sp>
        <p:nvSpPr>
          <p:cNvPr id="818180" name="Text Box 4"/>
          <p:cNvSpPr txBox="1">
            <a:spLocks noChangeArrowheads="1"/>
          </p:cNvSpPr>
          <p:nvPr/>
        </p:nvSpPr>
        <p:spPr bwMode="auto">
          <a:xfrm>
            <a:off x="1421350" y="2522109"/>
            <a:ext cx="4055068" cy="536549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Equivalente en Serie</a:t>
            </a:r>
          </a:p>
        </p:txBody>
      </p:sp>
      <p:sp>
        <p:nvSpPr>
          <p:cNvPr id="818181" name="Text Box 5"/>
          <p:cNvSpPr txBox="1">
            <a:spLocks noChangeArrowheads="1"/>
          </p:cNvSpPr>
          <p:nvPr/>
        </p:nvSpPr>
        <p:spPr bwMode="auto">
          <a:xfrm>
            <a:off x="1406496" y="3843749"/>
            <a:ext cx="2568723" cy="609252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818221" name="Text Box 45"/>
          <p:cNvSpPr txBox="1">
            <a:spLocks noChangeArrowheads="1"/>
          </p:cNvSpPr>
          <p:nvPr/>
        </p:nvSpPr>
        <p:spPr bwMode="auto">
          <a:xfrm>
            <a:off x="1410689" y="5234711"/>
            <a:ext cx="2564530" cy="62355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72000" rIns="90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eq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</a:t>
            </a: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</a:t>
            </a: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449" name="Text Box 53"/>
          <p:cNvSpPr txBox="1">
            <a:spLocks noChangeArrowheads="1"/>
          </p:cNvSpPr>
          <p:nvPr/>
        </p:nvSpPr>
        <p:spPr bwMode="auto">
          <a:xfrm>
            <a:off x="4115844" y="3865170"/>
            <a:ext cx="1360574" cy="587441"/>
          </a:xfrm>
          <a:prstGeom prst="rect">
            <a:avLst/>
          </a:prstGeom>
          <a:solidFill>
            <a:srgbClr val="FFFF00"/>
          </a:solidFill>
          <a:ln w="12700" algn="ctr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square" lIns="90000" tIns="108000" rIns="90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Nr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50" name="Text Box 54"/>
          <p:cNvSpPr txBox="1">
            <a:spLocks noChangeArrowheads="1"/>
          </p:cNvSpPr>
          <p:nvPr/>
        </p:nvSpPr>
        <p:spPr bwMode="auto">
          <a:xfrm>
            <a:off x="4137292" y="5226508"/>
            <a:ext cx="1339126" cy="648997"/>
          </a:xfrm>
          <a:prstGeom prst="rect">
            <a:avLst/>
          </a:prstGeom>
          <a:solidFill>
            <a:srgbClr val="FFFF00"/>
          </a:solidFill>
          <a:ln w="12700" algn="ctr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square" lIns="90000" tIns="108000" rIns="90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N</a:t>
            </a: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818233" name="Text Box 57"/>
          <p:cNvSpPr txBox="1">
            <a:spLocks noChangeArrowheads="1"/>
          </p:cNvSpPr>
          <p:nvPr/>
        </p:nvSpPr>
        <p:spPr bwMode="auto">
          <a:xfrm>
            <a:off x="1319336" y="1031484"/>
            <a:ext cx="8952554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Aplicando </a:t>
            </a:r>
            <a:r>
              <a:rPr lang="es-ES" sz="2400">
                <a:latin typeface="Arial" panose="020B0604020202020204" pitchFamily="34" charset="0"/>
              </a:rPr>
              <a:t>el Teorema </a:t>
            </a:r>
            <a:r>
              <a:rPr lang="es-ES" sz="2400" dirty="0">
                <a:latin typeface="Arial" panose="020B0604020202020204" pitchFamily="34" charset="0"/>
              </a:rPr>
              <a:t>de </a:t>
            </a:r>
            <a:r>
              <a:rPr lang="es-ES" sz="2400" dirty="0" err="1">
                <a:solidFill>
                  <a:srgbClr val="3333FF"/>
                </a:solidFill>
                <a:latin typeface="Arial" panose="020B0604020202020204" pitchFamily="34" charset="0"/>
              </a:rPr>
              <a:t>Thevenin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en serie</a:t>
            </a:r>
            <a:r>
              <a:rPr lang="es-ES" sz="2400">
                <a:latin typeface="Arial" panose="020B0604020202020204" pitchFamily="34" charset="0"/>
              </a:rPr>
              <a:t>, </a:t>
            </a:r>
            <a:r>
              <a:rPr lang="es-ES" sz="2400" dirty="0">
                <a:latin typeface="Arial" panose="020B0604020202020204" pitchFamily="34" charset="0"/>
              </a:rPr>
              <a:t>representándolos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como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fuentes de tensión</a:t>
            </a:r>
            <a:r>
              <a:rPr lang="es-ES" sz="2400">
                <a:latin typeface="Arial" panose="020B0604020202020204" pitchFamily="34" charset="0"/>
              </a:rPr>
              <a:t>, y el Teorema de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Norton en paralelo</a:t>
            </a:r>
            <a:r>
              <a:rPr lang="es-ES" sz="2400">
                <a:latin typeface="Arial" panose="020B0604020202020204" pitchFamily="34" charset="0"/>
              </a:rPr>
              <a:t>, representándolos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como fuentes de intensidad</a:t>
            </a:r>
            <a:r>
              <a:rPr lang="es-ES" sz="2400">
                <a:latin typeface="Arial" panose="020B0604020202020204" pitchFamily="34" charset="0"/>
              </a:rPr>
              <a:t>, se tiene que: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54" name="Text Box 5"/>
          <p:cNvSpPr txBox="1">
            <a:spLocks noChangeArrowheads="1"/>
          </p:cNvSpPr>
          <p:nvPr/>
        </p:nvSpPr>
        <p:spPr bwMode="auto">
          <a:xfrm>
            <a:off x="5918854" y="3867901"/>
            <a:ext cx="2940526" cy="609252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-1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-1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+ 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-1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+ 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55" name="Text Box 8"/>
          <p:cNvSpPr txBox="1">
            <a:spLocks noChangeArrowheads="1"/>
          </p:cNvSpPr>
          <p:nvPr/>
        </p:nvSpPr>
        <p:spPr bwMode="auto">
          <a:xfrm>
            <a:off x="6541477" y="6118355"/>
            <a:ext cx="2317903" cy="62355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72000" rIns="90000" bIns="108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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 Box 41"/>
          <p:cNvSpPr txBox="1">
            <a:spLocks noChangeArrowheads="1"/>
          </p:cNvSpPr>
          <p:nvPr/>
        </p:nvSpPr>
        <p:spPr bwMode="auto">
          <a:xfrm>
            <a:off x="9000005" y="3883002"/>
            <a:ext cx="1299074" cy="587441"/>
          </a:xfrm>
          <a:prstGeom prst="rect">
            <a:avLst/>
          </a:prstGeom>
          <a:solidFill>
            <a:srgbClr val="FFFF00"/>
          </a:solidFill>
          <a:ln w="12700" algn="ctr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square" lIns="90000" tIns="108000" rIns="90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r/N</a:t>
            </a:r>
          </a:p>
        </p:txBody>
      </p:sp>
      <p:sp>
        <p:nvSpPr>
          <p:cNvPr id="57" name="Text Box 42"/>
          <p:cNvSpPr txBox="1">
            <a:spLocks noChangeArrowheads="1"/>
          </p:cNvSpPr>
          <p:nvPr/>
        </p:nvSpPr>
        <p:spPr bwMode="auto">
          <a:xfrm>
            <a:off x="9008043" y="6131746"/>
            <a:ext cx="1291036" cy="612645"/>
          </a:xfrm>
          <a:prstGeom prst="rect">
            <a:avLst/>
          </a:prstGeom>
          <a:solidFill>
            <a:srgbClr val="FFFF00"/>
          </a:solidFill>
          <a:ln w="12700" algn="ctr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square" lIns="90000" tIns="72000" rIns="90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eq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9" name="Text Box 6"/>
          <p:cNvSpPr txBox="1">
            <a:spLocks noChangeArrowheads="1"/>
          </p:cNvSpPr>
          <p:nvPr/>
        </p:nvSpPr>
        <p:spPr bwMode="auto">
          <a:xfrm>
            <a:off x="5918854" y="5246231"/>
            <a:ext cx="2940525" cy="609252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eq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+ 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+ 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1" name="Text Box 43"/>
          <p:cNvSpPr txBox="1">
            <a:spLocks noChangeArrowheads="1"/>
          </p:cNvSpPr>
          <p:nvPr/>
        </p:nvSpPr>
        <p:spPr bwMode="auto">
          <a:xfrm>
            <a:off x="9011784" y="5256701"/>
            <a:ext cx="1291036" cy="59020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N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63" name="Text Box 8"/>
          <p:cNvSpPr txBox="1">
            <a:spLocks noChangeArrowheads="1"/>
          </p:cNvSpPr>
          <p:nvPr/>
        </p:nvSpPr>
        <p:spPr bwMode="auto">
          <a:xfrm>
            <a:off x="1969479" y="6100877"/>
            <a:ext cx="1984992" cy="61264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72000" rIns="90000" bIns="108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/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4" name="Text Box 42"/>
          <p:cNvSpPr txBox="1">
            <a:spLocks noChangeArrowheads="1"/>
          </p:cNvSpPr>
          <p:nvPr/>
        </p:nvSpPr>
        <p:spPr bwMode="auto">
          <a:xfrm>
            <a:off x="4154309" y="6108815"/>
            <a:ext cx="1322109" cy="612645"/>
          </a:xfrm>
          <a:prstGeom prst="rect">
            <a:avLst/>
          </a:prstGeom>
          <a:solidFill>
            <a:srgbClr val="FFFF00"/>
          </a:solidFill>
          <a:ln w="12700" algn="ctr">
            <a:noFill/>
            <a:miter lim="800000"/>
            <a:headEnd/>
            <a:tailEnd type="none" w="lg" len="lg"/>
          </a:ln>
        </p:spPr>
        <p:txBody>
          <a:bodyPr wrap="square" lIns="90000" tIns="72000" rIns="90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/r</a:t>
            </a:r>
            <a:endParaRPr lang="es-ES" sz="28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5930330" y="2521807"/>
            <a:ext cx="4368749" cy="536549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Equivalente en Paralelo</a:t>
            </a:r>
          </a:p>
        </p:txBody>
      </p:sp>
      <p:sp>
        <p:nvSpPr>
          <p:cNvPr id="18448" name="Text Box 56"/>
          <p:cNvSpPr txBox="1">
            <a:spLocks noChangeArrowheads="1"/>
          </p:cNvSpPr>
          <p:nvPr/>
        </p:nvSpPr>
        <p:spPr bwMode="auto">
          <a:xfrm>
            <a:off x="4000771" y="3205637"/>
            <a:ext cx="1467366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N iguales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56">
            <a:extLst>
              <a:ext uri="{FF2B5EF4-FFF2-40B4-BE49-F238E27FC236}">
                <a16:creationId xmlns:a16="http://schemas.microsoft.com/office/drawing/2014/main" id="{17DB55D9-90C9-04D5-5AA6-B21FA1E27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2911" y="3197932"/>
            <a:ext cx="1467366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N iguales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Box 56">
            <a:extLst>
              <a:ext uri="{FF2B5EF4-FFF2-40B4-BE49-F238E27FC236}">
                <a16:creationId xmlns:a16="http://schemas.microsoft.com/office/drawing/2014/main" id="{4C30534A-F333-F164-1A7E-6CE067CBC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3052" y="4592613"/>
            <a:ext cx="2443595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Misma </a:t>
            </a:r>
            <a:r>
              <a:rPr lang="es-ES" sz="2400" dirty="0">
                <a:latin typeface="Arial" panose="020B0604020202020204" pitchFamily="34" charset="0"/>
              </a:rPr>
              <a:t>polaridad</a:t>
            </a:r>
          </a:p>
        </p:txBody>
      </p:sp>
      <p:sp>
        <p:nvSpPr>
          <p:cNvPr id="5" name="Text Box 56">
            <a:extLst>
              <a:ext uri="{FF2B5EF4-FFF2-40B4-BE49-F238E27FC236}">
                <a16:creationId xmlns:a16="http://schemas.microsoft.com/office/drawing/2014/main" id="{BED5470B-1ADA-E42F-65E6-300295F5F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7819" y="4585812"/>
            <a:ext cx="2443595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Misma </a:t>
            </a:r>
            <a:r>
              <a:rPr lang="es-ES" sz="2400" dirty="0">
                <a:latin typeface="Arial" panose="020B0604020202020204" pitchFamily="34" charset="0"/>
              </a:rPr>
              <a:t>polaridad</a:t>
            </a:r>
          </a:p>
        </p:txBody>
      </p:sp>
    </p:spTree>
    <p:extLst>
      <p:ext uri="{BB962C8B-B14F-4D97-AF65-F5344CB8AC3E}">
        <p14:creationId xmlns:p14="http://schemas.microsoft.com/office/powerpoint/2010/main" val="10457054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1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18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1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18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1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8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8180" grpId="0" animBg="1"/>
      <p:bldP spid="818181" grpId="0" animBg="1"/>
      <p:bldP spid="818221" grpId="0" animBg="1"/>
      <p:bldP spid="18449" grpId="0" animBg="1"/>
      <p:bldP spid="18450" grpId="0" animBg="1"/>
      <p:bldP spid="818233" grpId="0"/>
      <p:bldP spid="54" grpId="0" animBg="1"/>
      <p:bldP spid="55" grpId="0" animBg="1"/>
      <p:bldP spid="56" grpId="0" animBg="1"/>
      <p:bldP spid="57" grpId="0" animBg="1"/>
      <p:bldP spid="59" grpId="0" animBg="1"/>
      <p:bldP spid="61" grpId="0" animBg="1"/>
      <p:bldP spid="63" grpId="0" animBg="1"/>
      <p:bldP spid="64" grpId="0" animBg="1"/>
      <p:bldP spid="66" grpId="0" animBg="1"/>
      <p:bldP spid="18448" grpId="0" animBg="1"/>
      <p:bldP spid="3" grpId="0" animBg="1"/>
      <p:bldP spid="2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Box 11">
            <a:extLst>
              <a:ext uri="{FF2B5EF4-FFF2-40B4-BE49-F238E27FC236}">
                <a16:creationId xmlns:a16="http://schemas.microsoft.com/office/drawing/2014/main" id="{AF57B090-9EF0-4426-A344-B056A0F9A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044" y="2675873"/>
            <a:ext cx="8875818" cy="2752540"/>
          </a:xfrm>
          <a:prstGeom prst="rect">
            <a:avLst/>
          </a:prstGeom>
          <a:noFill/>
          <a:ln>
            <a:noFill/>
          </a:ln>
        </p:spPr>
        <p:txBody>
          <a:bodyPr wrap="square" lIns="126000" tIns="82800" rIns="126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Pilas y baterías </a:t>
            </a:r>
            <a:r>
              <a:rPr lang="es-ES" sz="2400">
                <a:latin typeface="Arial" panose="020B0604020202020204" pitchFamily="34" charset="0"/>
              </a:rPr>
              <a:t>se conectan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en serie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(ej.: mando de la TV)</a:t>
            </a:r>
            <a:r>
              <a:rPr lang="es-ES" sz="2400">
                <a:latin typeface="Arial" panose="020B0604020202020204" pitchFamily="34" charset="0"/>
              </a:rPr>
              <a:t>. En paralelo, como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nunca son iguales</a:t>
            </a:r>
            <a:r>
              <a:rPr lang="es-ES" sz="2400">
                <a:latin typeface="Arial" panose="020B0604020202020204" pitchFamily="34" charset="0"/>
              </a:rPr>
              <a:t>, podría ocurrir lo anterior en alguna estando conectadas con igual polaridad, si por ser “más débil”, por tener menor voltaje ideal, tendiera a circular la corriente en sentido contrario. Bloqueada no entraría en juego. Si se pusiesen con polaridad distinta, habría ya corriente en ellas con el aparato desconectado y se gastarían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" name="Text Box 11">
            <a:extLst>
              <a:ext uri="{FF2B5EF4-FFF2-40B4-BE49-F238E27FC236}">
                <a16:creationId xmlns:a16="http://schemas.microsoft.com/office/drawing/2014/main" id="{8DD8E75B-5A48-BEE4-5744-758422139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4722" y="436979"/>
            <a:ext cx="8875818" cy="905881"/>
          </a:xfrm>
          <a:prstGeom prst="rect">
            <a:avLst/>
          </a:prstGeom>
          <a:noFill/>
          <a:ln>
            <a:noFill/>
          </a:ln>
        </p:spPr>
        <p:txBody>
          <a:bodyPr wrap="square" lIns="126000" tIns="82800" rIns="126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Lo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lógico es con la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misma polaridad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se tendrá un 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eq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mayor, y con ello, se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suministrará una mayor potencia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20C6901B-822C-0B88-A429-087E2DAA8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924" y="1371760"/>
            <a:ext cx="8897590" cy="1275213"/>
          </a:xfrm>
          <a:prstGeom prst="rect">
            <a:avLst/>
          </a:prstGeom>
          <a:noFill/>
          <a:ln>
            <a:noFill/>
          </a:ln>
        </p:spPr>
        <p:txBody>
          <a:bodyPr wrap="square" lIns="126000" tIns="82800" rIns="126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Con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pilas y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baterías </a:t>
            </a:r>
            <a:r>
              <a:rPr lang="es-ES" sz="2400">
                <a:latin typeface="Arial" panose="020B0604020202020204" pitchFamily="34" charset="0"/>
              </a:rPr>
              <a:t>es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obligatorio en serie</a:t>
            </a:r>
            <a:r>
              <a:rPr lang="es-ES" sz="2400">
                <a:latin typeface="Arial" panose="020B0604020202020204" pitchFamily="34" charset="0"/>
              </a:rPr>
              <a:t>: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Si alguna está al revés</a:t>
            </a:r>
            <a:r>
              <a:rPr lang="es-ES" sz="2400">
                <a:latin typeface="Arial" panose="020B0604020202020204" pitchFamily="34" charset="0"/>
              </a:rPr>
              <a:t>,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si las reacciones no se invierten, bloquea el paso de 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>
                <a:latin typeface="Arial" panose="020B0604020202020204" pitchFamily="34" charset="0"/>
              </a:rPr>
              <a:t> y al sistema; si se invierten, se recarga y puede ser inseguro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DB6B854F-46CD-A6DB-078B-A64951F4A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4334" y="5457314"/>
            <a:ext cx="8416521" cy="1275213"/>
          </a:xfrm>
          <a:prstGeom prst="rect">
            <a:avLst/>
          </a:prstGeom>
          <a:noFill/>
          <a:ln>
            <a:noFill/>
          </a:ln>
        </p:spPr>
        <p:txBody>
          <a:bodyPr wrap="square" lIns="126000" tIns="82800" rIns="126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Pilas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y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baterías </a:t>
            </a:r>
            <a:r>
              <a:rPr lang="es-ES" sz="2400">
                <a:latin typeface="Arial" panose="020B0604020202020204" pitchFamily="34" charset="0"/>
              </a:rPr>
              <a:t>deberían ser del mismo tipo y de la misma edad para que tiendan a gastarse a la vez y así tiendan a ser un bloqueo a la vez por falta de reactivos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4338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" grpId="0"/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71" name="Text Box 3"/>
          <p:cNvSpPr txBox="1">
            <a:spLocks noChangeArrowheads="1"/>
          </p:cNvSpPr>
          <p:nvPr/>
        </p:nvSpPr>
        <p:spPr bwMode="auto">
          <a:xfrm>
            <a:off x="1355147" y="1803446"/>
            <a:ext cx="8850799" cy="248135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216000" tIns="108000" rIns="216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En cada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rama de un circuito</a:t>
            </a:r>
            <a:r>
              <a:rPr lang="es-ES" sz="2400" dirty="0">
                <a:latin typeface="Arial" panose="020B0604020202020204" pitchFamily="34" charset="0"/>
              </a:rPr>
              <a:t>, la intensidad que circula por ella, o la caída de potencial establecida en ella, es igual a la suma de las intensidades que circularían por la rama, o a la suma de las caídas de potencial que se establecerían en la rama, si se considerase cada fuente del circuito ideal e independiente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por separado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928772" name="Text Box 4"/>
          <p:cNvSpPr txBox="1">
            <a:spLocks noChangeArrowheads="1"/>
          </p:cNvSpPr>
          <p:nvPr/>
        </p:nvSpPr>
        <p:spPr bwMode="auto">
          <a:xfrm>
            <a:off x="1265034" y="938934"/>
            <a:ext cx="9019113" cy="60925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Consiste en la aplicación del </a:t>
            </a:r>
            <a:r>
              <a:rPr lang="es-ES" sz="2400">
                <a:latin typeface="Arial" panose="020B0604020202020204" pitchFamily="34" charset="0"/>
              </a:rPr>
              <a:t>Ppo. de Superposición a un circuito</a:t>
            </a:r>
          </a:p>
        </p:txBody>
      </p:sp>
      <p:sp>
        <p:nvSpPr>
          <p:cNvPr id="928774" name="Text Box 6"/>
          <p:cNvSpPr txBox="1">
            <a:spLocks noChangeArrowheads="1"/>
          </p:cNvSpPr>
          <p:nvPr/>
        </p:nvSpPr>
        <p:spPr bwMode="auto">
          <a:xfrm>
            <a:off x="1227441" y="4365450"/>
            <a:ext cx="8850798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Para considerar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por separado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hay que ir anulando las demás: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1451467" y="4967117"/>
            <a:ext cx="8426064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 Sustituyendo cada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fuente de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tensión ideal e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independiente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restante</a:t>
            </a:r>
            <a:r>
              <a:rPr lang="es-ES" sz="2400" dirty="0">
                <a:latin typeface="Arial" panose="020B0604020202020204" pitchFamily="34" charset="0"/>
              </a:rPr>
              <a:t> por un cable ideal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(R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= 0)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E65C2C0-42CB-449A-B635-3A40F1DB5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334831"/>
            <a:ext cx="8758237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8.3 </a:t>
            </a: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RESOL. CIRC. : TEOREMA DE SUPERPOSICIÓN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6A2D4223-F8BC-4F66-A7A9-5D15FBEDE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295" y="5966863"/>
            <a:ext cx="8931183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 Sustituyendo cada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fuente de intensidad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ideal e independiente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restante</a:t>
            </a:r>
            <a:r>
              <a:rPr lang="es-ES" sz="2400" dirty="0">
                <a:latin typeface="Arial" panose="020B0604020202020204" pitchFamily="34" charset="0"/>
              </a:rPr>
              <a:t> por un circuito abierto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(R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=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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)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681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8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28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28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28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771" grpId="0" animBg="1"/>
      <p:bldP spid="928772" grpId="0" animBg="1"/>
      <p:bldP spid="928774" grpId="0"/>
      <p:bldP spid="5128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Box 105">
            <a:extLst>
              <a:ext uri="{FF2B5EF4-FFF2-40B4-BE49-F238E27FC236}">
                <a16:creationId xmlns:a16="http://schemas.microsoft.com/office/drawing/2014/main" id="{6B844B1F-3F14-4396-BE92-59EFF4FF4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400" y="1689703"/>
            <a:ext cx="8517747" cy="1326105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Si en un circuito hay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fuentes de alterna y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continua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tensión aplicada es suma de una alterna más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una continua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el teorema de superposición se puede aplicar considerando:</a:t>
            </a:r>
            <a:endParaRPr lang="en-U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1C5FA4D5-853C-44AE-A9D7-FC97F5DEE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873" y="479578"/>
            <a:ext cx="9322542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Para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que se verifique el circuito debe ser lineal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es decir,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sus componentes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(el circuito es el "medio" en el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Ppo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. de </a:t>
            </a:r>
            <a:r>
              <a:rPr lang="es-ES" sz="2400" err="1">
                <a:latin typeface="Arial" panose="020B0604020202020204" pitchFamily="34" charset="0"/>
                <a:sym typeface="Symbol" panose="05050102010706020507" pitchFamily="18" charset="2"/>
              </a:rPr>
              <a:t>Sup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.).   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" name="Text Box 105">
            <a:extLst>
              <a:ext uri="{FF2B5EF4-FFF2-40B4-BE49-F238E27FC236}">
                <a16:creationId xmlns:a16="http://schemas.microsoft.com/office/drawing/2014/main" id="{77315F41-4374-4E2A-AEFA-594023616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824" y="3167120"/>
            <a:ext cx="8517747" cy="956773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1º) Solo las fuentes, o la tensión, de continua, anulando las fuentes, o la tensión,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de alterna.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" name="Text Box 105">
            <a:extLst>
              <a:ext uri="{FF2B5EF4-FFF2-40B4-BE49-F238E27FC236}">
                <a16:creationId xmlns:a16="http://schemas.microsoft.com/office/drawing/2014/main" id="{7D6AC6FE-38FA-4AB5-B277-A6E2251BE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776" y="4300869"/>
            <a:ext cx="8517747" cy="956773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2º) Solo las fuentes, o la tensión, de alterna, anulando las fuentes, o la tensión,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de continua.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Text Box 105">
            <a:extLst>
              <a:ext uri="{FF2B5EF4-FFF2-40B4-BE49-F238E27FC236}">
                <a16:creationId xmlns:a16="http://schemas.microsoft.com/office/drawing/2014/main" id="{1D40DDE0-64E4-4F85-B363-2E9F91993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669" y="5388620"/>
            <a:ext cx="8517747" cy="1326105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3º) Sumando en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cada rama, las 2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contribuciones a la caída de potencial y a la corriente de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rama,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obtenidas al resolver el circuito en continua y en alterna en los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pasos anteriores.</a:t>
            </a:r>
            <a:endParaRPr lang="en-U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874034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" grpId="0"/>
      <p:bldP spid="5" grpId="0"/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Line 20">
            <a:extLst>
              <a:ext uri="{FF2B5EF4-FFF2-40B4-BE49-F238E27FC236}">
                <a16:creationId xmlns:a16="http://schemas.microsoft.com/office/drawing/2014/main" id="{0699A547-89E3-44C2-AC59-645AB80D0EEC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786654" y="2030895"/>
            <a:ext cx="0" cy="32766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ext Box 80">
            <a:extLst>
              <a:ext uri="{FF2B5EF4-FFF2-40B4-BE49-F238E27FC236}">
                <a16:creationId xmlns:a16="http://schemas.microsoft.com/office/drawing/2014/main" id="{4F800DA8-AE86-43C6-BA69-A32D64DA4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8181" y="382114"/>
            <a:ext cx="8969472" cy="134791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Obtener las corrientes que circulan por cada una de </a:t>
            </a:r>
            <a:r>
              <a:rPr lang="es-ES" sz="2400">
                <a:latin typeface="Arial" panose="020B0604020202020204" pitchFamily="34" charset="0"/>
              </a:rPr>
              <a:t>las tres </a:t>
            </a:r>
            <a:r>
              <a:rPr lang="es-ES" sz="2400" dirty="0">
                <a:latin typeface="Arial" panose="020B0604020202020204" pitchFamily="34" charset="0"/>
              </a:rPr>
              <a:t>ramas del circuito</a:t>
            </a:r>
            <a:r>
              <a:rPr lang="es-ES" sz="2400">
                <a:latin typeface="Arial" panose="020B0604020202020204" pitchFamily="34" charset="0"/>
              </a:rPr>
              <a:t>: a) directamente, b) aplicando </a:t>
            </a:r>
            <a:r>
              <a:rPr lang="es-ES" sz="2400" dirty="0">
                <a:latin typeface="Arial" panose="020B0604020202020204" pitchFamily="34" charset="0"/>
              </a:rPr>
              <a:t>el Teorema </a:t>
            </a:r>
            <a:r>
              <a:rPr lang="es-ES" sz="2400">
                <a:latin typeface="Arial" panose="020B0604020202020204" pitchFamily="34" charset="0"/>
              </a:rPr>
              <a:t>de Superposición, y c) usando </a:t>
            </a:r>
            <a:r>
              <a:rPr lang="es-ES" sz="2400" dirty="0">
                <a:latin typeface="Arial" panose="020B0604020202020204" pitchFamily="34" charset="0"/>
              </a:rPr>
              <a:t>el concepto de corriente de malla</a:t>
            </a:r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8D96BACE-4046-4090-8F82-BA1735C5FF58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1554844" y="5309612"/>
            <a:ext cx="32400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ADE24516-D804-49F5-A801-6AD563A05E16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1542625" y="2040860"/>
            <a:ext cx="32400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0611D0E9-4D50-4637-A01D-0275FB31D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847" y="2593309"/>
            <a:ext cx="9382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</a:rPr>
              <a:t>R</a:t>
            </a:r>
            <a:r>
              <a:rPr lang="es-ES" sz="2400" baseline="-25000" dirty="0">
                <a:latin typeface="Comic Sans MS" panose="030F0702030302020204" pitchFamily="66" charset="0"/>
              </a:rPr>
              <a:t>2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10" name="Line 20">
            <a:extLst>
              <a:ext uri="{FF2B5EF4-FFF2-40B4-BE49-F238E27FC236}">
                <a16:creationId xmlns:a16="http://schemas.microsoft.com/office/drawing/2014/main" id="{E1D4CA7C-2D6E-42A7-9564-1710E6658CCF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205399" y="2031335"/>
            <a:ext cx="0" cy="32766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Rectangle 21">
            <a:extLst>
              <a:ext uri="{FF2B5EF4-FFF2-40B4-BE49-F238E27FC236}">
                <a16:creationId xmlns:a16="http://schemas.microsoft.com/office/drawing/2014/main" id="{E6725664-0D96-418D-BBE4-C894216D95D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758527" y="3350342"/>
            <a:ext cx="900000" cy="36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 Box 22">
            <a:extLst>
              <a:ext uri="{FF2B5EF4-FFF2-40B4-BE49-F238E27FC236}">
                <a16:creationId xmlns:a16="http://schemas.microsoft.com/office/drawing/2014/main" id="{F90E5F54-8D81-43D9-B77F-7B0C8BECA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762" y="3280696"/>
            <a:ext cx="714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</a:rPr>
              <a:t>R</a:t>
            </a:r>
            <a:r>
              <a:rPr lang="es-ES" sz="2400" baseline="-25000" dirty="0">
                <a:latin typeface="Comic Sans MS" panose="030F0702030302020204" pitchFamily="66" charset="0"/>
              </a:rPr>
              <a:t>1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15" name="Text Box 46">
            <a:extLst>
              <a:ext uri="{FF2B5EF4-FFF2-40B4-BE49-F238E27FC236}">
                <a16:creationId xmlns:a16="http://schemas.microsoft.com/office/drawing/2014/main" id="{CDDB4F46-F9AF-45D3-A061-1B9F2A71E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9571" y="4236484"/>
            <a:ext cx="72862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24" name="Text Box 72">
            <a:extLst>
              <a:ext uri="{FF2B5EF4-FFF2-40B4-BE49-F238E27FC236}">
                <a16:creationId xmlns:a16="http://schemas.microsoft.com/office/drawing/2014/main" id="{DDF25976-638A-412E-81F3-4A30F8034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391" y="3208247"/>
            <a:ext cx="516024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 dirty="0"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6" name="Text Box 74">
            <a:extLst>
              <a:ext uri="{FF2B5EF4-FFF2-40B4-BE49-F238E27FC236}">
                <a16:creationId xmlns:a16="http://schemas.microsoft.com/office/drawing/2014/main" id="{8A54E98F-B993-4234-B595-FFEF055E4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390" y="6184944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R</a:t>
            </a:r>
            <a:r>
              <a:rPr lang="es-ES" sz="2400" baseline="-25000" dirty="0">
                <a:solidFill>
                  <a:srgbClr val="3333FF"/>
                </a:solidFill>
                <a:latin typeface="Comic Sans MS" panose="030F0702030302020204" pitchFamily="66" charset="0"/>
              </a:rPr>
              <a:t>1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 = 2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</a:t>
            </a:r>
          </a:p>
        </p:txBody>
      </p:sp>
      <p:sp>
        <p:nvSpPr>
          <p:cNvPr id="27" name="Text Box 75">
            <a:extLst>
              <a:ext uri="{FF2B5EF4-FFF2-40B4-BE49-F238E27FC236}">
                <a16:creationId xmlns:a16="http://schemas.microsoft.com/office/drawing/2014/main" id="{0C3C961A-479A-4B14-B4FF-3CEBE9AC3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514" y="6228044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R</a:t>
            </a:r>
            <a:r>
              <a:rPr lang="es-ES" sz="2400" baseline="-25000" dirty="0">
                <a:solidFill>
                  <a:srgbClr val="3333FF"/>
                </a:solidFill>
                <a:latin typeface="Comic Sans MS" panose="030F0702030302020204" pitchFamily="66" charset="0"/>
              </a:rPr>
              <a:t>2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 = 2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</a:t>
            </a:r>
          </a:p>
        </p:txBody>
      </p:sp>
      <p:sp>
        <p:nvSpPr>
          <p:cNvPr id="29" name="Text Box 77">
            <a:extLst>
              <a:ext uri="{FF2B5EF4-FFF2-40B4-BE49-F238E27FC236}">
                <a16:creationId xmlns:a16="http://schemas.microsoft.com/office/drawing/2014/main" id="{3AF09632-C024-4532-B1C7-D21EC579F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1245" y="5634796"/>
            <a:ext cx="161391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 = 2 A</a:t>
            </a:r>
            <a:endParaRPr lang="es-ES" sz="2400" dirty="0">
              <a:solidFill>
                <a:srgbClr val="3333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30" name="Text Box 78">
            <a:extLst>
              <a:ext uri="{FF2B5EF4-FFF2-40B4-BE49-F238E27FC236}">
                <a16:creationId xmlns:a16="http://schemas.microsoft.com/office/drawing/2014/main" id="{6302C1E8-EB3B-4BE2-BE70-A9D090A6C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111" y="5603919"/>
            <a:ext cx="1731001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= 10 V</a:t>
            </a:r>
            <a:endParaRPr lang="es-ES" sz="2400" dirty="0">
              <a:solidFill>
                <a:srgbClr val="3333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095FE5C8-9D3C-430D-A06D-FD46CB5F407A}"/>
              </a:ext>
            </a:extLst>
          </p:cNvPr>
          <p:cNvSpPr/>
          <p:nvPr/>
        </p:nvSpPr>
        <p:spPr bwMode="auto">
          <a:xfrm>
            <a:off x="4526178" y="4194966"/>
            <a:ext cx="540000" cy="540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8" name="Line 110">
            <a:extLst>
              <a:ext uri="{FF2B5EF4-FFF2-40B4-BE49-F238E27FC236}">
                <a16:creationId xmlns:a16="http://schemas.microsoft.com/office/drawing/2014/main" id="{AEF8CAFD-EEEC-4691-BC91-17D770EAEB4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90897" y="4315544"/>
            <a:ext cx="0" cy="28733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Ctr="1"/>
          <a:lstStyle/>
          <a:p>
            <a:endParaRPr lang="en-GB"/>
          </a:p>
        </p:txBody>
      </p:sp>
      <p:sp>
        <p:nvSpPr>
          <p:cNvPr id="43" name="Line 20">
            <a:extLst>
              <a:ext uri="{FF2B5EF4-FFF2-40B4-BE49-F238E27FC236}">
                <a16:creationId xmlns:a16="http://schemas.microsoft.com/office/drawing/2014/main" id="{1B5FE9AD-A285-4A2B-9B8E-34D4DEA08B26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1539279" y="2048671"/>
            <a:ext cx="0" cy="32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11DA1FDC-DAA1-46E6-B5BD-92AFD9EB1116}"/>
              </a:ext>
            </a:extLst>
          </p:cNvPr>
          <p:cNvSpPr/>
          <p:nvPr/>
        </p:nvSpPr>
        <p:spPr bwMode="auto">
          <a:xfrm>
            <a:off x="1277989" y="3243976"/>
            <a:ext cx="540000" cy="540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9" name="Text Box 115">
            <a:extLst>
              <a:ext uri="{FF2B5EF4-FFF2-40B4-BE49-F238E27FC236}">
                <a16:creationId xmlns:a16="http://schemas.microsoft.com/office/drawing/2014/main" id="{2C141985-DDDD-4EB4-A5DE-F6D4EB61D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7670" y="3357991"/>
            <a:ext cx="397621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2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2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47" name="Rectangle 21">
            <a:extLst>
              <a:ext uri="{FF2B5EF4-FFF2-40B4-BE49-F238E27FC236}">
                <a16:creationId xmlns:a16="http://schemas.microsoft.com/office/drawing/2014/main" id="{8EFFE898-04E4-4382-8E7F-19C8BF8E362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328756" y="2681882"/>
            <a:ext cx="900000" cy="36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 Box 97">
            <a:extLst>
              <a:ext uri="{FF2B5EF4-FFF2-40B4-BE49-F238E27FC236}">
                <a16:creationId xmlns:a16="http://schemas.microsoft.com/office/drawing/2014/main" id="{4CB44BED-2807-4689-9C7F-BC01FA0C2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059" y="2029320"/>
            <a:ext cx="4479409" cy="536549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Wingdings" panose="05000000000000000000" pitchFamily="2" charset="2"/>
              </a:rPr>
              <a:t>Directamente (planteando </a:t>
            </a:r>
            <a:r>
              <a:rPr lang="es-ES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ecs</a:t>
            </a:r>
            <a:r>
              <a:rPr 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.)</a:t>
            </a:r>
          </a:p>
        </p:txBody>
      </p:sp>
      <p:sp>
        <p:nvSpPr>
          <p:cNvPr id="49" name="Text Box 105">
            <a:extLst>
              <a:ext uri="{FF2B5EF4-FFF2-40B4-BE49-F238E27FC236}">
                <a16:creationId xmlns:a16="http://schemas.microsoft.com/office/drawing/2014/main" id="{A308D590-70AC-46B4-A554-B719B1D67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185" y="2581583"/>
            <a:ext cx="4324582" cy="1326105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Por la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rama de la derecha</a:t>
            </a:r>
          </a:p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circula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2 A, hacia arriba.</a:t>
            </a:r>
          </a:p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Lo marca la fuente de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0" name="Text Box 105">
            <a:extLst>
              <a:ext uri="{FF2B5EF4-FFF2-40B4-BE49-F238E27FC236}">
                <a16:creationId xmlns:a16="http://schemas.microsoft.com/office/drawing/2014/main" id="{700604BF-6C55-4D7F-831A-87CE039BF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185" y="3850159"/>
            <a:ext cx="4663738" cy="1695437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Por la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rama central</a:t>
            </a:r>
          </a:p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circula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/R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(ley de Ohm),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5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A,</a:t>
            </a:r>
          </a:p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hacia abajo,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por estar</a:t>
            </a:r>
          </a:p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aplicada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a R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hacia abajo</a:t>
            </a:r>
          </a:p>
        </p:txBody>
      </p:sp>
      <p:sp>
        <p:nvSpPr>
          <p:cNvPr id="51" name="Text Box 105">
            <a:extLst>
              <a:ext uri="{FF2B5EF4-FFF2-40B4-BE49-F238E27FC236}">
                <a16:creationId xmlns:a16="http://schemas.microsoft.com/office/drawing/2014/main" id="{2A5E1A0B-4D41-47D1-80F1-0925CBAFF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184" y="5534333"/>
            <a:ext cx="4663737" cy="1326105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Por la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rama de la izquierda</a:t>
            </a:r>
          </a:p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circulan 3 A hacia arriba</a:t>
            </a:r>
          </a:p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(regla de los nudos)</a:t>
            </a:r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E59F84D4-12BD-4260-851E-ED1058BB2E90}"/>
              </a:ext>
            </a:extLst>
          </p:cNvPr>
          <p:cNvGrpSpPr/>
          <p:nvPr/>
        </p:nvGrpSpPr>
        <p:grpSpPr>
          <a:xfrm>
            <a:off x="3565569" y="2045923"/>
            <a:ext cx="853213" cy="652818"/>
            <a:chOff x="3565569" y="2083274"/>
            <a:chExt cx="853213" cy="652818"/>
          </a:xfrm>
        </p:grpSpPr>
        <p:sp>
          <p:nvSpPr>
            <p:cNvPr id="53" name="Line 38">
              <a:extLst>
                <a:ext uri="{FF2B5EF4-FFF2-40B4-BE49-F238E27FC236}">
                  <a16:creationId xmlns:a16="http://schemas.microsoft.com/office/drawing/2014/main" id="{0880F969-880A-409F-B49C-24AFA51821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994150" y="1984849"/>
              <a:ext cx="0" cy="196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 dirty="0"/>
            </a:p>
          </p:txBody>
        </p:sp>
        <p:sp>
          <p:nvSpPr>
            <p:cNvPr id="55" name="Text Box 77">
              <a:extLst>
                <a:ext uri="{FF2B5EF4-FFF2-40B4-BE49-F238E27FC236}">
                  <a16:creationId xmlns:a16="http://schemas.microsoft.com/office/drawing/2014/main" id="{411EC912-43BF-4A0E-A26E-A427D27AA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5569" y="2155067"/>
              <a:ext cx="853213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2 A</a:t>
              </a:r>
              <a:endParaRPr lang="es-ES" sz="2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97F28450-3D3C-4EE2-B66D-E7C98AAEC1B7}"/>
              </a:ext>
            </a:extLst>
          </p:cNvPr>
          <p:cNvGrpSpPr/>
          <p:nvPr/>
        </p:nvGrpSpPr>
        <p:grpSpPr>
          <a:xfrm>
            <a:off x="1975233" y="2045923"/>
            <a:ext cx="853213" cy="643293"/>
            <a:chOff x="1975233" y="2092799"/>
            <a:chExt cx="853213" cy="643293"/>
          </a:xfrm>
        </p:grpSpPr>
        <p:sp>
          <p:nvSpPr>
            <p:cNvPr id="52" name="Line 38">
              <a:extLst>
                <a:ext uri="{FF2B5EF4-FFF2-40B4-BE49-F238E27FC236}">
                  <a16:creationId xmlns:a16="http://schemas.microsoft.com/office/drawing/2014/main" id="{81FD911A-6A81-4C81-A5EC-B469E09C500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365375" y="1994374"/>
              <a:ext cx="0" cy="196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56" name="Text Box 77">
              <a:extLst>
                <a:ext uri="{FF2B5EF4-FFF2-40B4-BE49-F238E27FC236}">
                  <a16:creationId xmlns:a16="http://schemas.microsoft.com/office/drawing/2014/main" id="{1AE92E07-96BC-4AC6-97C0-7B383BBBA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5233" y="2155067"/>
              <a:ext cx="853213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3 A</a:t>
              </a:r>
              <a:endParaRPr lang="es-ES" sz="2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F39F22D4-BC01-49E9-B713-905241E5C861}"/>
              </a:ext>
            </a:extLst>
          </p:cNvPr>
          <p:cNvGrpSpPr/>
          <p:nvPr/>
        </p:nvGrpSpPr>
        <p:grpSpPr>
          <a:xfrm>
            <a:off x="3163986" y="2526818"/>
            <a:ext cx="853213" cy="581025"/>
            <a:chOff x="3174260" y="2583968"/>
            <a:chExt cx="853213" cy="581025"/>
          </a:xfrm>
        </p:grpSpPr>
        <p:sp>
          <p:nvSpPr>
            <p:cNvPr id="54" name="Line 38">
              <a:extLst>
                <a:ext uri="{FF2B5EF4-FFF2-40B4-BE49-F238E27FC236}">
                  <a16:creationId xmlns:a16="http://schemas.microsoft.com/office/drawing/2014/main" id="{D46409BF-2776-4594-9E01-C12E3663D27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3223148" y="2641551"/>
              <a:ext cx="0" cy="196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57" name="Text Box 77">
              <a:extLst>
                <a:ext uri="{FF2B5EF4-FFF2-40B4-BE49-F238E27FC236}">
                  <a16:creationId xmlns:a16="http://schemas.microsoft.com/office/drawing/2014/main" id="{9650F9CD-6818-4163-B437-A48987317F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4260" y="2583968"/>
              <a:ext cx="853213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5 A</a:t>
              </a:r>
              <a:endParaRPr lang="es-ES" sz="2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61761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8" grpId="0" animBg="1"/>
      <p:bldP spid="49" grpId="0"/>
      <p:bldP spid="50" grpId="0"/>
      <p:bldP spid="5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3CCB15EF-0942-61F1-97AE-C096345D5059}"/>
              </a:ext>
            </a:extLst>
          </p:cNvPr>
          <p:cNvGrpSpPr/>
          <p:nvPr/>
        </p:nvGrpSpPr>
        <p:grpSpPr>
          <a:xfrm>
            <a:off x="4611218" y="1145340"/>
            <a:ext cx="2432050" cy="1889880"/>
            <a:chOff x="684053" y="1473574"/>
            <a:chExt cx="2432050" cy="1889880"/>
          </a:xfrm>
        </p:grpSpPr>
        <p:sp>
          <p:nvSpPr>
            <p:cNvPr id="26" name="Text Box 74">
              <a:extLst>
                <a:ext uri="{FF2B5EF4-FFF2-40B4-BE49-F238E27FC236}">
                  <a16:creationId xmlns:a16="http://schemas.microsoft.com/office/drawing/2014/main" id="{8A54E98F-B993-4234-B595-FFEF055E4C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053" y="2328592"/>
              <a:ext cx="243205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400" baseline="-25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1</a:t>
              </a: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 = 2 </a:t>
              </a: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27" name="Text Box 75">
              <a:extLst>
                <a:ext uri="{FF2B5EF4-FFF2-40B4-BE49-F238E27FC236}">
                  <a16:creationId xmlns:a16="http://schemas.microsoft.com/office/drawing/2014/main" id="{0C3C961A-479A-4B14-B4FF-3CEBE9AC3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053" y="2782429"/>
              <a:ext cx="243205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400" baseline="-25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2</a:t>
              </a: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 = 2 </a:t>
              </a: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29" name="Text Box 77">
              <a:extLst>
                <a:ext uri="{FF2B5EF4-FFF2-40B4-BE49-F238E27FC236}">
                  <a16:creationId xmlns:a16="http://schemas.microsoft.com/office/drawing/2014/main" id="{3AF09632-C024-4532-B1C7-D21EC579F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3072" y="1883432"/>
              <a:ext cx="1613917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 = 2 A</a:t>
              </a:r>
              <a:endPara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  <p:sp>
          <p:nvSpPr>
            <p:cNvPr id="30" name="Text Box 78">
              <a:extLst>
                <a:ext uri="{FF2B5EF4-FFF2-40B4-BE49-F238E27FC236}">
                  <a16:creationId xmlns:a16="http://schemas.microsoft.com/office/drawing/2014/main" id="{6302C1E8-EB3B-4BE2-BE70-A9D090A6C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4578" y="1473574"/>
              <a:ext cx="1731001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 </a:t>
              </a: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= 10 V</a:t>
              </a:r>
              <a:endPara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71666DE5-F0F7-4175-B9CC-1BDF6EC95D1F}"/>
              </a:ext>
            </a:extLst>
          </p:cNvPr>
          <p:cNvGrpSpPr/>
          <p:nvPr/>
        </p:nvGrpSpPr>
        <p:grpSpPr>
          <a:xfrm>
            <a:off x="6691371" y="1294488"/>
            <a:ext cx="3603871" cy="1647825"/>
            <a:chOff x="1277989" y="2040860"/>
            <a:chExt cx="3603871" cy="1647825"/>
          </a:xfrm>
        </p:grpSpPr>
        <p:sp>
          <p:nvSpPr>
            <p:cNvPr id="81" name="Line 20">
              <a:extLst>
                <a:ext uri="{FF2B5EF4-FFF2-40B4-BE49-F238E27FC236}">
                  <a16:creationId xmlns:a16="http://schemas.microsoft.com/office/drawing/2014/main" id="{4E68461C-7FAB-4182-BB34-0860345AF55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786549" y="2047484"/>
              <a:ext cx="0" cy="9360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Line 20">
              <a:extLst>
                <a:ext uri="{FF2B5EF4-FFF2-40B4-BE49-F238E27FC236}">
                  <a16:creationId xmlns:a16="http://schemas.microsoft.com/office/drawing/2014/main" id="{0699A547-89E3-44C2-AC59-645AB80D0EE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786654" y="3498197"/>
              <a:ext cx="0" cy="1800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Line 7">
              <a:extLst>
                <a:ext uri="{FF2B5EF4-FFF2-40B4-BE49-F238E27FC236}">
                  <a16:creationId xmlns:a16="http://schemas.microsoft.com/office/drawing/2014/main" id="{8D96BACE-4046-4090-8F82-BA1735C5FF5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1554844" y="3680314"/>
              <a:ext cx="324000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ADE24516-D804-49F5-A801-6AD563A05E1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42625" y="2040860"/>
              <a:ext cx="324000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 Box 12">
              <a:extLst>
                <a:ext uri="{FF2B5EF4-FFF2-40B4-BE49-F238E27FC236}">
                  <a16:creationId xmlns:a16="http://schemas.microsoft.com/office/drawing/2014/main" id="{0611D0E9-4D50-4637-A01D-0275FB31D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3648" y="2303639"/>
              <a:ext cx="938212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Comic Sans MS" panose="030F0702030302020204" pitchFamily="66" charset="0"/>
                </a:rPr>
                <a:t>R</a:t>
              </a:r>
              <a:r>
                <a:rPr lang="es-ES" sz="2400" baseline="-25000" dirty="0">
                  <a:latin typeface="Comic Sans MS" panose="030F0702030302020204" pitchFamily="66" charset="0"/>
                </a:rPr>
                <a:t>2</a:t>
              </a:r>
              <a:endParaRPr lang="es-E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10" name="Line 20">
              <a:extLst>
                <a:ext uri="{FF2B5EF4-FFF2-40B4-BE49-F238E27FC236}">
                  <a16:creationId xmlns:a16="http://schemas.microsoft.com/office/drawing/2014/main" id="{E1D4CA7C-2D6E-42A7-9564-1710E6658CC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205399" y="2068685"/>
              <a:ext cx="0" cy="16200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Rectangle 21">
              <a:extLst>
                <a:ext uri="{FF2B5EF4-FFF2-40B4-BE49-F238E27FC236}">
                  <a16:creationId xmlns:a16="http://schemas.microsoft.com/office/drawing/2014/main" id="{E6725664-0D96-418D-BBE4-C894216D95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933202" y="2621267"/>
              <a:ext cx="540000" cy="21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Text Box 22">
              <a:extLst>
                <a:ext uri="{FF2B5EF4-FFF2-40B4-BE49-F238E27FC236}">
                  <a16:creationId xmlns:a16="http://schemas.microsoft.com/office/drawing/2014/main" id="{F90E5F54-8D81-43D9-B77F-7B0C8BECA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857" y="2499646"/>
              <a:ext cx="714012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Comic Sans MS" panose="030F0702030302020204" pitchFamily="66" charset="0"/>
                </a:rPr>
                <a:t>R</a:t>
              </a:r>
              <a:r>
                <a:rPr lang="es-ES" sz="2400" baseline="-25000" dirty="0">
                  <a:latin typeface="Comic Sans MS" panose="030F0702030302020204" pitchFamily="66" charset="0"/>
                </a:rPr>
                <a:t>1</a:t>
              </a:r>
              <a:endParaRPr lang="es-E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24" name="Text Box 72">
              <a:extLst>
                <a:ext uri="{FF2B5EF4-FFF2-40B4-BE49-F238E27FC236}">
                  <a16:creationId xmlns:a16="http://schemas.microsoft.com/office/drawing/2014/main" id="{DDF25976-638A-412E-81F3-4A30F8034F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7391" y="2398622"/>
              <a:ext cx="516024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 dirty="0"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3" name="Line 20">
              <a:extLst>
                <a:ext uri="{FF2B5EF4-FFF2-40B4-BE49-F238E27FC236}">
                  <a16:creationId xmlns:a16="http://schemas.microsoft.com/office/drawing/2014/main" id="{1B5FE9AD-A285-4A2B-9B8E-34D4DEA08B2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39279" y="2049421"/>
              <a:ext cx="0" cy="16200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11DA1FDC-DAA1-46E6-B5BD-92AFD9EB1116}"/>
                </a:ext>
              </a:extLst>
            </p:cNvPr>
            <p:cNvSpPr/>
            <p:nvPr/>
          </p:nvSpPr>
          <p:spPr bwMode="auto">
            <a:xfrm>
              <a:off x="1277989" y="2434351"/>
              <a:ext cx="540000" cy="540000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39" name="Text Box 115">
              <a:extLst>
                <a:ext uri="{FF2B5EF4-FFF2-40B4-BE49-F238E27FC236}">
                  <a16:creationId xmlns:a16="http://schemas.microsoft.com/office/drawing/2014/main" id="{2C141985-DDDD-4EB4-A5DE-F6D4EB61D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670" y="2548366"/>
              <a:ext cx="397621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20000"/>
                </a:lnSpc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+</a:t>
              </a:r>
            </a:p>
            <a:p>
              <a:pPr algn="ctr" eaLnBrk="1" hangingPunct="1">
                <a:lnSpc>
                  <a:spcPct val="20000"/>
                </a:lnSpc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47" name="Rectangle 21">
              <a:extLst>
                <a:ext uri="{FF2B5EF4-FFF2-40B4-BE49-F238E27FC236}">
                  <a16:creationId xmlns:a16="http://schemas.microsoft.com/office/drawing/2014/main" id="{8EFFE898-04E4-4382-8E7F-19C8BF8E36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503431" y="2457632"/>
              <a:ext cx="540000" cy="21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8" name="Text Box 97">
            <a:extLst>
              <a:ext uri="{FF2B5EF4-FFF2-40B4-BE49-F238E27FC236}">
                <a16:creationId xmlns:a16="http://schemas.microsoft.com/office/drawing/2014/main" id="{4CB44BED-2807-4689-9C7F-BC01FA0C2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222" y="99525"/>
            <a:ext cx="5074507" cy="536549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Wingdings" panose="05000000000000000000" pitchFamily="2" charset="2"/>
              </a:rPr>
              <a:t>Usando Teorema de </a:t>
            </a:r>
            <a:r>
              <a:rPr 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Superposición</a:t>
            </a:r>
          </a:p>
        </p:txBody>
      </p:sp>
      <p:sp>
        <p:nvSpPr>
          <p:cNvPr id="49" name="Text Box 105">
            <a:extLst>
              <a:ext uri="{FF2B5EF4-FFF2-40B4-BE49-F238E27FC236}">
                <a16:creationId xmlns:a16="http://schemas.microsoft.com/office/drawing/2014/main" id="{A308D590-70AC-46B4-A554-B719B1D67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05" y="3167611"/>
            <a:ext cx="8911813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Por la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rama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derecha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circulan 2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 hacia arriba. </a:t>
            </a:r>
            <a:r>
              <a:rPr lang="es-ES" sz="2400" u="sng" dirty="0">
                <a:latin typeface="Arial" panose="020B0604020202020204" pitchFamily="34" charset="0"/>
                <a:sym typeface="Symbol" panose="05050102010706020507" pitchFamily="18" charset="2"/>
              </a:rPr>
              <a:t>Aportaciones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0" name="Text Box 105">
            <a:extLst>
              <a:ext uri="{FF2B5EF4-FFF2-40B4-BE49-F238E27FC236}">
                <a16:creationId xmlns:a16="http://schemas.microsoft.com/office/drawing/2014/main" id="{700604BF-6C55-4D7F-831A-87CE039BF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075" y="4309173"/>
            <a:ext cx="8812510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Por la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rama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central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circulan 5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 hacia abajo. </a:t>
            </a:r>
            <a:r>
              <a:rPr lang="es-ES" sz="2400" u="sng" dirty="0">
                <a:latin typeface="Arial" panose="020B0604020202020204" pitchFamily="34" charset="0"/>
                <a:sym typeface="Symbol" panose="05050102010706020507" pitchFamily="18" charset="2"/>
              </a:rPr>
              <a:t>Aportaciones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1A42438D-75C5-4C0D-8B55-20188F3FE78D}"/>
              </a:ext>
            </a:extLst>
          </p:cNvPr>
          <p:cNvGrpSpPr/>
          <p:nvPr/>
        </p:nvGrpSpPr>
        <p:grpSpPr>
          <a:xfrm>
            <a:off x="1462148" y="1278341"/>
            <a:ext cx="3526899" cy="1649502"/>
            <a:chOff x="1539279" y="3927533"/>
            <a:chExt cx="3526899" cy="1649502"/>
          </a:xfrm>
        </p:grpSpPr>
        <p:sp>
          <p:nvSpPr>
            <p:cNvPr id="66" name="Line 20">
              <a:extLst>
                <a:ext uri="{FF2B5EF4-FFF2-40B4-BE49-F238E27FC236}">
                  <a16:creationId xmlns:a16="http://schemas.microsoft.com/office/drawing/2014/main" id="{013EE2A7-9D8B-44C8-9BCA-7E229A93C32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786654" y="3944870"/>
              <a:ext cx="0" cy="16200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Line 7">
              <a:extLst>
                <a:ext uri="{FF2B5EF4-FFF2-40B4-BE49-F238E27FC236}">
                  <a16:creationId xmlns:a16="http://schemas.microsoft.com/office/drawing/2014/main" id="{56A3257D-8A3C-4928-BD5B-C6AE914FA87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1554844" y="5577035"/>
              <a:ext cx="324000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435660C2-768D-48D5-912C-9BBBAD36CA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42625" y="3927533"/>
              <a:ext cx="324000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Text Box 12">
              <a:extLst>
                <a:ext uri="{FF2B5EF4-FFF2-40B4-BE49-F238E27FC236}">
                  <a16:creationId xmlns:a16="http://schemas.microsoft.com/office/drawing/2014/main" id="{B8405631-AE96-4124-BC69-501C4A440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4139" y="4143394"/>
              <a:ext cx="938212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Comic Sans MS" panose="030F0702030302020204" pitchFamily="66" charset="0"/>
                </a:rPr>
                <a:t>R</a:t>
              </a:r>
              <a:r>
                <a:rPr lang="es-ES" sz="2400" baseline="-25000" dirty="0">
                  <a:latin typeface="Comic Sans MS" panose="030F0702030302020204" pitchFamily="66" charset="0"/>
                </a:rPr>
                <a:t>2</a:t>
              </a:r>
              <a:endParaRPr lang="es-E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70" name="Line 20">
              <a:extLst>
                <a:ext uri="{FF2B5EF4-FFF2-40B4-BE49-F238E27FC236}">
                  <a16:creationId xmlns:a16="http://schemas.microsoft.com/office/drawing/2014/main" id="{833A92E7-3CD4-447C-A4D3-43D6BC79A8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205399" y="3955358"/>
              <a:ext cx="0" cy="16200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DB2EB39B-5D53-4980-B68A-3FB5AEC479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933202" y="4507940"/>
              <a:ext cx="540000" cy="21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Text Box 22">
              <a:extLst>
                <a:ext uri="{FF2B5EF4-FFF2-40B4-BE49-F238E27FC236}">
                  <a16:creationId xmlns:a16="http://schemas.microsoft.com/office/drawing/2014/main" id="{0B2AC1A4-7E5E-4D33-9193-69E620BE40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8343" y="4363874"/>
              <a:ext cx="714012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Comic Sans MS" panose="030F0702030302020204" pitchFamily="66" charset="0"/>
                </a:rPr>
                <a:t>R</a:t>
              </a:r>
              <a:r>
                <a:rPr lang="es-ES" sz="2400" baseline="-25000" dirty="0">
                  <a:latin typeface="Comic Sans MS" panose="030F0702030302020204" pitchFamily="66" charset="0"/>
                </a:rPr>
                <a:t>1</a:t>
              </a:r>
              <a:endParaRPr lang="es-E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74" name="Line 20">
              <a:extLst>
                <a:ext uri="{FF2B5EF4-FFF2-40B4-BE49-F238E27FC236}">
                  <a16:creationId xmlns:a16="http://schemas.microsoft.com/office/drawing/2014/main" id="{9BE9722F-0A55-4B80-86A9-1B025A5E65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39279" y="3936094"/>
              <a:ext cx="0" cy="16200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Rectangle 21">
              <a:extLst>
                <a:ext uri="{FF2B5EF4-FFF2-40B4-BE49-F238E27FC236}">
                  <a16:creationId xmlns:a16="http://schemas.microsoft.com/office/drawing/2014/main" id="{F953756C-F0C4-4217-82B1-6FF8759E67A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503431" y="4344305"/>
              <a:ext cx="540000" cy="21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" name="Text Box 46">
              <a:extLst>
                <a:ext uri="{FF2B5EF4-FFF2-40B4-BE49-F238E27FC236}">
                  <a16:creationId xmlns:a16="http://schemas.microsoft.com/office/drawing/2014/main" id="{9ED62DF6-C4E7-4D75-A237-BCDEF37C0E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802190" y="4912759"/>
              <a:ext cx="1107381" cy="441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CC5BEABE-FAF8-4B8A-A650-CB3BA6AA472F}"/>
                </a:ext>
              </a:extLst>
            </p:cNvPr>
            <p:cNvSpPr/>
            <p:nvPr/>
          </p:nvSpPr>
          <p:spPr bwMode="auto">
            <a:xfrm>
              <a:off x="4526178" y="4871241"/>
              <a:ext cx="540000" cy="540000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80" name="Line 110">
              <a:extLst>
                <a:ext uri="{FF2B5EF4-FFF2-40B4-BE49-F238E27FC236}">
                  <a16:creationId xmlns:a16="http://schemas.microsoft.com/office/drawing/2014/main" id="{D6419091-82E9-4026-A9E9-42568EE59D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90897" y="4991819"/>
              <a:ext cx="0" cy="28733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sp>
        <p:nvSpPr>
          <p:cNvPr id="82" name="Text Box 105">
            <a:extLst>
              <a:ext uri="{FF2B5EF4-FFF2-40B4-BE49-F238E27FC236}">
                <a16:creationId xmlns:a16="http://schemas.microsoft.com/office/drawing/2014/main" id="{14C93377-3204-4FD3-9A33-2C764C819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262" y="3674707"/>
            <a:ext cx="3034789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highlight>
                  <a:srgbClr val="FFFFFF"/>
                </a:highlight>
                <a:latin typeface="Arial" panose="020B0604020202020204" pitchFamily="34" charset="0"/>
                <a:sym typeface="Symbol" panose="05050102010706020507" pitchFamily="18" charset="2"/>
              </a:rPr>
              <a:t> Fuente </a:t>
            </a:r>
            <a:r>
              <a:rPr lang="es-ES" sz="2400" dirty="0">
                <a:highlight>
                  <a:srgbClr val="FFFFFF"/>
                </a:highlight>
                <a:latin typeface="Arial" panose="020B0604020202020204" pitchFamily="34" charset="0"/>
                <a:sym typeface="Symbol" panose="05050102010706020507" pitchFamily="18" charset="2"/>
              </a:rPr>
              <a:t>de </a:t>
            </a:r>
            <a:r>
              <a:rPr lang="es-ES" sz="2400">
                <a:highlight>
                  <a:srgbClr val="FFFFFF"/>
                </a:highlight>
                <a:latin typeface="Comic Sans MS" panose="030F0702030302020204" pitchFamily="66" charset="0"/>
                <a:sym typeface="Symbol" panose="05050102010706020507" pitchFamily="18" charset="2"/>
              </a:rPr>
              <a:t>I: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2 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 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3" name="Text Box 105">
            <a:extLst>
              <a:ext uri="{FF2B5EF4-FFF2-40B4-BE49-F238E27FC236}">
                <a16:creationId xmlns:a16="http://schemas.microsoft.com/office/drawing/2014/main" id="{02DD2D03-C6FF-43BB-BF00-BE5C681EE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9050" y="4809741"/>
            <a:ext cx="5806549" cy="956773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Fuente </a:t>
            </a:r>
            <a:r>
              <a:rPr lang="es-ES" sz="2400" dirty="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 </a:t>
            </a:r>
            <a:r>
              <a:rPr lang="es-ES" sz="240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V: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5 A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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hay sólo una  malla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en la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que circula 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/R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sentido horario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84" name="Text Box 105">
            <a:extLst>
              <a:ext uri="{FF2B5EF4-FFF2-40B4-BE49-F238E27FC236}">
                <a16:creationId xmlns:a16="http://schemas.microsoft.com/office/drawing/2014/main" id="{91EC26AD-6F70-40D6-BA7E-0DDCD3BBA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113" y="5774304"/>
            <a:ext cx="8935886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Por la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rama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izquierda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circulan 3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 hacia arriba. </a:t>
            </a:r>
            <a:r>
              <a:rPr lang="es-ES" sz="2400" u="sng" dirty="0">
                <a:latin typeface="Arial" panose="020B0604020202020204" pitchFamily="34" charset="0"/>
                <a:sym typeface="Symbol" panose="05050102010706020507" pitchFamily="18" charset="2"/>
              </a:rPr>
              <a:t>Aportaciones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85" name="Text Box 105">
            <a:extLst>
              <a:ext uri="{FF2B5EF4-FFF2-40B4-BE49-F238E27FC236}">
                <a16:creationId xmlns:a16="http://schemas.microsoft.com/office/drawing/2014/main" id="{89A534E5-986B-4017-82F0-27AB94A19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960" y="6291243"/>
            <a:ext cx="2948087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highlight>
                  <a:srgbClr val="FFFFFF"/>
                </a:highlight>
                <a:latin typeface="Arial" panose="020B0604020202020204" pitchFamily="34" charset="0"/>
                <a:sym typeface="Symbol" panose="05050102010706020507" pitchFamily="18" charset="2"/>
              </a:rPr>
              <a:t> Fuente </a:t>
            </a:r>
            <a:r>
              <a:rPr lang="es-ES" sz="2400" dirty="0">
                <a:highlight>
                  <a:srgbClr val="FFFFFF"/>
                </a:highlight>
                <a:latin typeface="Arial" panose="020B0604020202020204" pitchFamily="34" charset="0"/>
                <a:sym typeface="Symbol" panose="05050102010706020507" pitchFamily="18" charset="2"/>
              </a:rPr>
              <a:t>de </a:t>
            </a:r>
            <a:r>
              <a:rPr lang="es-ES" sz="2400">
                <a:highlight>
                  <a:srgbClr val="FFFFFF"/>
                </a:highlight>
                <a:latin typeface="Comic Sans MS" panose="030F0702030302020204" pitchFamily="66" charset="0"/>
                <a:sym typeface="Symbol" panose="05050102010706020507" pitchFamily="18" charset="2"/>
              </a:rPr>
              <a:t>I: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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86" name="Grupo 85">
            <a:extLst>
              <a:ext uri="{FF2B5EF4-FFF2-40B4-BE49-F238E27FC236}">
                <a16:creationId xmlns:a16="http://schemas.microsoft.com/office/drawing/2014/main" id="{4F11510C-DFEB-4D72-8BC3-3052515F3F1B}"/>
              </a:ext>
            </a:extLst>
          </p:cNvPr>
          <p:cNvGrpSpPr/>
          <p:nvPr/>
        </p:nvGrpSpPr>
        <p:grpSpPr>
          <a:xfrm>
            <a:off x="8588162" y="1332771"/>
            <a:ext cx="853213" cy="581025"/>
            <a:chOff x="3184305" y="2583968"/>
            <a:chExt cx="853213" cy="581025"/>
          </a:xfrm>
        </p:grpSpPr>
        <p:sp>
          <p:nvSpPr>
            <p:cNvPr id="87" name="Line 38">
              <a:extLst>
                <a:ext uri="{FF2B5EF4-FFF2-40B4-BE49-F238E27FC236}">
                  <a16:creationId xmlns:a16="http://schemas.microsoft.com/office/drawing/2014/main" id="{F80AAC76-D700-4AF0-A2CA-6EC7ABE121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3223148" y="2641551"/>
              <a:ext cx="0" cy="196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88" name="Text Box 77">
              <a:extLst>
                <a:ext uri="{FF2B5EF4-FFF2-40B4-BE49-F238E27FC236}">
                  <a16:creationId xmlns:a16="http://schemas.microsoft.com/office/drawing/2014/main" id="{1108079D-13AB-460F-A1E5-31E8825EDC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4305" y="2583968"/>
              <a:ext cx="853213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5 A</a:t>
              </a:r>
              <a:endParaRPr lang="es-ES" sz="2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233485F0-B12B-4A58-911D-A71ECE71F548}"/>
              </a:ext>
            </a:extLst>
          </p:cNvPr>
          <p:cNvGrpSpPr/>
          <p:nvPr/>
        </p:nvGrpSpPr>
        <p:grpSpPr>
          <a:xfrm>
            <a:off x="1387879" y="1792732"/>
            <a:ext cx="954340" cy="581025"/>
            <a:chOff x="3144112" y="2583968"/>
            <a:chExt cx="853213" cy="581025"/>
          </a:xfrm>
        </p:grpSpPr>
        <p:sp>
          <p:nvSpPr>
            <p:cNvPr id="90" name="Line 38">
              <a:extLst>
                <a:ext uri="{FF2B5EF4-FFF2-40B4-BE49-F238E27FC236}">
                  <a16:creationId xmlns:a16="http://schemas.microsoft.com/office/drawing/2014/main" id="{8C624FD3-BE4D-4BD2-AC67-4CE2A96E374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3213100" y="2641551"/>
              <a:ext cx="0" cy="196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91" name="Text Box 77">
              <a:extLst>
                <a:ext uri="{FF2B5EF4-FFF2-40B4-BE49-F238E27FC236}">
                  <a16:creationId xmlns:a16="http://schemas.microsoft.com/office/drawing/2014/main" id="{D9427D5B-A24C-43A9-9520-0413D0D7D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112" y="2583968"/>
              <a:ext cx="853213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2 A</a:t>
              </a:r>
              <a:endParaRPr lang="es-ES" sz="2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A2CC6907-3B67-4D4D-9F29-B24CDBF2320D}"/>
              </a:ext>
            </a:extLst>
          </p:cNvPr>
          <p:cNvGrpSpPr/>
          <p:nvPr/>
        </p:nvGrpSpPr>
        <p:grpSpPr>
          <a:xfrm>
            <a:off x="3431677" y="1278863"/>
            <a:ext cx="853213" cy="652818"/>
            <a:chOff x="3565569" y="2083274"/>
            <a:chExt cx="853213" cy="652818"/>
          </a:xfrm>
        </p:grpSpPr>
        <p:sp>
          <p:nvSpPr>
            <p:cNvPr id="93" name="Line 38">
              <a:extLst>
                <a:ext uri="{FF2B5EF4-FFF2-40B4-BE49-F238E27FC236}">
                  <a16:creationId xmlns:a16="http://schemas.microsoft.com/office/drawing/2014/main" id="{8FD90BB7-BFBC-4982-BABB-A1C6864E65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994150" y="1984849"/>
              <a:ext cx="0" cy="196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 dirty="0"/>
            </a:p>
          </p:txBody>
        </p:sp>
        <p:sp>
          <p:nvSpPr>
            <p:cNvPr id="94" name="Text Box 77">
              <a:extLst>
                <a:ext uri="{FF2B5EF4-FFF2-40B4-BE49-F238E27FC236}">
                  <a16:creationId xmlns:a16="http://schemas.microsoft.com/office/drawing/2014/main" id="{FED30188-79AD-4EDE-8B32-6BED48D845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5569" y="2155067"/>
              <a:ext cx="853213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2 A</a:t>
              </a:r>
              <a:endParaRPr lang="es-ES" sz="2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B045D70D-3A9E-4F8F-A001-EB4A4351DC49}"/>
              </a:ext>
            </a:extLst>
          </p:cNvPr>
          <p:cNvGrpSpPr/>
          <p:nvPr/>
        </p:nvGrpSpPr>
        <p:grpSpPr>
          <a:xfrm>
            <a:off x="6901511" y="2477968"/>
            <a:ext cx="853213" cy="581025"/>
            <a:chOff x="3154164" y="2583968"/>
            <a:chExt cx="853213" cy="581025"/>
          </a:xfrm>
        </p:grpSpPr>
        <p:sp>
          <p:nvSpPr>
            <p:cNvPr id="97" name="Text Box 77">
              <a:extLst>
                <a:ext uri="{FF2B5EF4-FFF2-40B4-BE49-F238E27FC236}">
                  <a16:creationId xmlns:a16="http://schemas.microsoft.com/office/drawing/2014/main" id="{54771C64-9828-43B5-BBBC-2FCCD60A1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4164" y="2583968"/>
              <a:ext cx="853213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5 A</a:t>
              </a:r>
              <a:endParaRPr lang="es-ES" sz="2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  <p:sp>
          <p:nvSpPr>
            <p:cNvPr id="96" name="Line 38">
              <a:extLst>
                <a:ext uri="{FF2B5EF4-FFF2-40B4-BE49-F238E27FC236}">
                  <a16:creationId xmlns:a16="http://schemas.microsoft.com/office/drawing/2014/main" id="{FDDFAB25-CDBE-4F45-8853-16E9779F6A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202709" y="2641551"/>
              <a:ext cx="0" cy="196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2" name="Text Box 105">
            <a:extLst>
              <a:ext uri="{FF2B5EF4-FFF2-40B4-BE49-F238E27FC236}">
                <a16:creationId xmlns:a16="http://schemas.microsoft.com/office/drawing/2014/main" id="{C2995899-0013-D611-11EE-2912D11E0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8402" y="3664735"/>
            <a:ext cx="4253144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Fuente </a:t>
            </a:r>
            <a:r>
              <a:rPr lang="es-ES" sz="2400" dirty="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 </a:t>
            </a:r>
            <a:r>
              <a:rPr lang="es-ES" sz="240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V: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(</a:t>
            </a:r>
            <a:r>
              <a:rPr lang="es-ES" sz="2400" dirty="0" err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circ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 abierto)</a:t>
            </a:r>
          </a:p>
        </p:txBody>
      </p:sp>
      <p:sp>
        <p:nvSpPr>
          <p:cNvPr id="6" name="Text Box 105">
            <a:extLst>
              <a:ext uri="{FF2B5EF4-FFF2-40B4-BE49-F238E27FC236}">
                <a16:creationId xmlns:a16="http://schemas.microsoft.com/office/drawing/2014/main" id="{A0CD7A6C-1BFF-4066-2224-8BB714AEB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524" y="4807831"/>
            <a:ext cx="3053463" cy="956773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highlight>
                  <a:srgbClr val="FFFFFF"/>
                </a:highlight>
                <a:latin typeface="Arial" panose="020B0604020202020204" pitchFamily="34" charset="0"/>
                <a:sym typeface="Symbol" panose="05050102010706020507" pitchFamily="18" charset="2"/>
              </a:rPr>
              <a:t> Fuente </a:t>
            </a:r>
            <a:r>
              <a:rPr lang="es-ES" sz="2400" dirty="0">
                <a:highlight>
                  <a:srgbClr val="FFFFFF"/>
                </a:highlight>
                <a:latin typeface="Arial" panose="020B0604020202020204" pitchFamily="34" charset="0"/>
                <a:sym typeface="Symbol" panose="05050102010706020507" pitchFamily="18" charset="2"/>
              </a:rPr>
              <a:t>de </a:t>
            </a:r>
            <a:r>
              <a:rPr lang="es-ES" sz="2400">
                <a:highlight>
                  <a:srgbClr val="FFFFFF"/>
                </a:highlight>
                <a:latin typeface="Comic Sans MS" panose="030F0702030302020204" pitchFamily="66" charset="0"/>
                <a:sym typeface="Symbol" panose="05050102010706020507" pitchFamily="18" charset="2"/>
              </a:rPr>
              <a:t>I: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0</a:t>
            </a:r>
          </a:p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cortocircuitada)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" name="Text Box 105">
            <a:extLst>
              <a:ext uri="{FF2B5EF4-FFF2-40B4-BE49-F238E27FC236}">
                <a16:creationId xmlns:a16="http://schemas.microsoft.com/office/drawing/2014/main" id="{EE70BC06-8B54-6915-BC1B-80ED46E4A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526" y="6277083"/>
            <a:ext cx="3009146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Fuente </a:t>
            </a:r>
            <a:r>
              <a:rPr lang="es-ES" sz="2400" dirty="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 </a:t>
            </a:r>
            <a:r>
              <a:rPr lang="es-ES" sz="240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V: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5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" name="Text Box 105">
            <a:extLst>
              <a:ext uri="{FF2B5EF4-FFF2-40B4-BE49-F238E27FC236}">
                <a16:creationId xmlns:a16="http://schemas.microsoft.com/office/drawing/2014/main" id="{DE597E5A-3A95-9335-16EF-CD5BFF406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147" y="719742"/>
            <a:ext cx="3251617" cy="44203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36000" tIns="36000" rIns="36000" bIns="36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Anulando fuente de V: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" name="Text Box 105">
            <a:extLst>
              <a:ext uri="{FF2B5EF4-FFF2-40B4-BE49-F238E27FC236}">
                <a16:creationId xmlns:a16="http://schemas.microsoft.com/office/drawing/2014/main" id="{D06BA2EC-5018-A70C-F40D-2C18A0C8B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0055" y="731933"/>
            <a:ext cx="3240001" cy="44203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36000" tIns="36000" rIns="36000" bIns="36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Anulando fuente de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898379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/>
      <p:bldP spid="50" grpId="0"/>
      <p:bldP spid="82" grpId="0"/>
      <p:bldP spid="83" grpId="0"/>
      <p:bldP spid="84" grpId="0"/>
      <p:bldP spid="85" grpId="0"/>
      <p:bldP spid="2" grpId="0"/>
      <p:bldP spid="6" grpId="0"/>
      <p:bldP spid="9" grpId="0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EF4A60F-28F5-46D0-AFC3-0065223D8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334831"/>
            <a:ext cx="9127766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8.3 RESOL. CIRC. : RESOLUCIÓN POR MALLAS</a:t>
            </a:r>
            <a:endParaRPr lang="es-ES" sz="2400" b="1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Box 105">
            <a:extLst>
              <a:ext uri="{FF2B5EF4-FFF2-40B4-BE49-F238E27FC236}">
                <a16:creationId xmlns:a16="http://schemas.microsoft.com/office/drawing/2014/main" id="{4EBF4163-9FF7-443F-99E9-635F1D48B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386" y="2842671"/>
            <a:ext cx="8983771" cy="1326105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 el circuito es lineal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se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pueden reescribir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las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ecs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.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de mallas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en función de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corrientes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malla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y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no hace falta suponer el sentido de las corrientes al resolver el circuito.</a:t>
            </a:r>
            <a:endParaRPr lang="en-U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" name="Text Box 105">
            <a:extLst>
              <a:ext uri="{FF2B5EF4-FFF2-40B4-BE49-F238E27FC236}">
                <a16:creationId xmlns:a16="http://schemas.microsoft.com/office/drawing/2014/main" id="{FC4BB9BA-1E73-4874-AF7F-D545018A9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152" y="4096158"/>
            <a:ext cx="8983771" cy="1695437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Las corrientes de malla son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corrientes ficticias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asociadas una a cada malla. Son ficticias porque por una rama que compartan dos mallas no circulan dos corrientes, sino solo una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. Pueden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ser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positivas o negativas</a:t>
            </a:r>
            <a:r>
              <a:rPr lang="es-ES" sz="240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" name="Text Box 105">
            <a:extLst>
              <a:ext uri="{FF2B5EF4-FFF2-40B4-BE49-F238E27FC236}">
                <a16:creationId xmlns:a16="http://schemas.microsoft.com/office/drawing/2014/main" id="{3583CEC9-4CD5-4044-9EF4-E8F32094B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4568" y="5718975"/>
            <a:ext cx="8983771" cy="1326105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Una vez obtenidas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se deducen con ellas la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corrientes reales en cada rama. Y a partir de ahí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la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ddp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en cada elemento y el resto de magnitudes que se desee conocer.</a:t>
            </a:r>
            <a:endParaRPr lang="en-U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Text Box 105">
            <a:extLst>
              <a:ext uri="{FF2B5EF4-FFF2-40B4-BE49-F238E27FC236}">
                <a16:creationId xmlns:a16="http://schemas.microsoft.com/office/drawing/2014/main" id="{E039DD3F-108D-605C-DAAE-7BB54EF7C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4566" y="705029"/>
            <a:ext cx="8983771" cy="1326105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Si al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resolver un circuito se tiende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 utilizar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las ecs. de mallas, introduciendo en ellas las otras (ecs. de nudos, componentes), se resuelve por mallas.</a:t>
            </a:r>
            <a:endParaRPr lang="en-U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" name="Text Box 105">
            <a:extLst>
              <a:ext uri="{FF2B5EF4-FFF2-40B4-BE49-F238E27FC236}">
                <a16:creationId xmlns:a16="http://schemas.microsoft.com/office/drawing/2014/main" id="{47F320B5-788C-6BC9-F50C-DA7B8A906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4568" y="1958516"/>
            <a:ext cx="8983771" cy="956773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Al resolver por mallas tienden a quedar en las ecs. de mallas como incógnitas las corrientes de cada rama.</a:t>
            </a:r>
            <a:endParaRPr lang="en-U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8129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7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5">
            <a:extLst>
              <a:ext uri="{FF2B5EF4-FFF2-40B4-BE49-F238E27FC236}">
                <a16:creationId xmlns:a16="http://schemas.microsoft.com/office/drawing/2014/main" id="{5D971B65-88EF-433E-804F-35F91B024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949" y="356952"/>
            <a:ext cx="8983771" cy="956773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Las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corrientes de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malla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para sistematizar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se suelen asociar 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mallas sin ramas internas y se les suele dar el mismo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sentido.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" name="Text Box 105">
            <a:extLst>
              <a:ext uri="{FF2B5EF4-FFF2-40B4-BE49-F238E27FC236}">
                <a16:creationId xmlns:a16="http://schemas.microsoft.com/office/drawing/2014/main" id="{81B36D2C-7E9C-46A3-B1BB-A95E30597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949" y="1348779"/>
            <a:ext cx="8983771" cy="1695437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 por una rama solo circula una corriente de malla: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corriente real tiene como valor, el valor absoluto de la corriente de malla, y como sentido, el mismo de la corriente de malla, si esta es positiva, o el contrario, si es negativa.</a:t>
            </a:r>
            <a:endParaRPr lang="en-U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" name="Text Box 105">
            <a:extLst>
              <a:ext uri="{FF2B5EF4-FFF2-40B4-BE49-F238E27FC236}">
                <a16:creationId xmlns:a16="http://schemas.microsoft.com/office/drawing/2014/main" id="{63A0A176-1865-49E2-9753-1F369AC71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75" y="3079270"/>
            <a:ext cx="8983771" cy="2803433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 por una rama circulan dos corrientes de malla: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corriente real tiene como valor, el valor absoluto de su suma, si tienen el mismo sentido, o el de su diferencia, si tienen sentido contrario. Y como sentido, si se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han sumado: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el mismo, si la suma es positiva, o el contrario, si es negativa; y si se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han restado: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el de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1ª,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si la resta es positiva, o el de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2ª,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si es negativa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.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regla de los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nudos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sirve de alternativa a esto,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para chequear.</a:t>
            </a:r>
            <a:endParaRPr lang="en-U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Text Box 105">
            <a:extLst>
              <a:ext uri="{FF2B5EF4-FFF2-40B4-BE49-F238E27FC236}">
                <a16:creationId xmlns:a16="http://schemas.microsoft.com/office/drawing/2014/main" id="{CA236317-BA05-E52C-08AC-F3A70FD40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152" y="5917758"/>
            <a:ext cx="8983771" cy="956773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En un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circuito en equilibrio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se asocia a cada malla de manera similar una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carga de malla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2779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7">
            <a:extLst>
              <a:ext uri="{FF2B5EF4-FFF2-40B4-BE49-F238E27FC236}">
                <a16:creationId xmlns:a16="http://schemas.microsoft.com/office/drawing/2014/main" id="{9DE6D8D9-C972-4CF0-ADB2-2702FD4E5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457" y="131860"/>
            <a:ext cx="3435854" cy="536549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Con corrientes de malla</a:t>
            </a:r>
          </a:p>
        </p:txBody>
      </p:sp>
      <p:sp>
        <p:nvSpPr>
          <p:cNvPr id="3" name="Line 20">
            <a:extLst>
              <a:ext uri="{FF2B5EF4-FFF2-40B4-BE49-F238E27FC236}">
                <a16:creationId xmlns:a16="http://schemas.microsoft.com/office/drawing/2014/main" id="{46F50F47-EA85-4417-BCE1-2A074F44835D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719979" y="869097"/>
            <a:ext cx="0" cy="25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" name="Line 7">
            <a:extLst>
              <a:ext uri="{FF2B5EF4-FFF2-40B4-BE49-F238E27FC236}">
                <a16:creationId xmlns:a16="http://schemas.microsoft.com/office/drawing/2014/main" id="{5A20557C-3E35-40C8-A7A5-AE995F0303C6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1488169" y="3391737"/>
            <a:ext cx="32400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33A98213-B8AD-4F0D-B9D1-449A9A95C35F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1475950" y="856410"/>
            <a:ext cx="32400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" name="Line 20">
            <a:extLst>
              <a:ext uri="{FF2B5EF4-FFF2-40B4-BE49-F238E27FC236}">
                <a16:creationId xmlns:a16="http://schemas.microsoft.com/office/drawing/2014/main" id="{3192117D-ED24-4DF4-B425-639815C19A35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138724" y="860535"/>
            <a:ext cx="0" cy="25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6196E1F5-6095-4E6E-85C1-9E44E34657E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691852" y="2089692"/>
            <a:ext cx="900000" cy="36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 Box 22">
            <a:extLst>
              <a:ext uri="{FF2B5EF4-FFF2-40B4-BE49-F238E27FC236}">
                <a16:creationId xmlns:a16="http://schemas.microsoft.com/office/drawing/2014/main" id="{6D97CE96-974A-4A53-A382-E0A120377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6598" y="2022710"/>
            <a:ext cx="714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</a:rPr>
              <a:t>R</a:t>
            </a:r>
            <a:r>
              <a:rPr lang="es-ES" sz="2400" baseline="-25000" dirty="0">
                <a:latin typeface="Comic Sans MS" panose="030F0702030302020204" pitchFamily="66" charset="0"/>
              </a:rPr>
              <a:t>1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10" name="Text Box 46">
            <a:extLst>
              <a:ext uri="{FF2B5EF4-FFF2-40B4-BE49-F238E27FC236}">
                <a16:creationId xmlns:a16="http://schemas.microsoft.com/office/drawing/2014/main" id="{3B71D765-41B7-4174-ABB7-1EF47A18C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606" y="2654535"/>
            <a:ext cx="72862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11" name="Text Box 72">
            <a:extLst>
              <a:ext uri="{FF2B5EF4-FFF2-40B4-BE49-F238E27FC236}">
                <a16:creationId xmlns:a16="http://schemas.microsoft.com/office/drawing/2014/main" id="{5177A7A2-40A7-45E0-8D5E-23F6F9C74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388" y="1471014"/>
            <a:ext cx="516024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 dirty="0"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2" name="Text Box 74">
            <a:extLst>
              <a:ext uri="{FF2B5EF4-FFF2-40B4-BE49-F238E27FC236}">
                <a16:creationId xmlns:a16="http://schemas.microsoft.com/office/drawing/2014/main" id="{549CEBA9-C1D1-4063-AFE0-5AE71CCD0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839" y="3410214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R</a:t>
            </a:r>
            <a:r>
              <a:rPr lang="es-ES" sz="2400" baseline="-25000" dirty="0">
                <a:solidFill>
                  <a:srgbClr val="3333FF"/>
                </a:solidFill>
                <a:latin typeface="Comic Sans MS" panose="030F0702030302020204" pitchFamily="66" charset="0"/>
              </a:rPr>
              <a:t>1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 = 2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</a:t>
            </a:r>
          </a:p>
        </p:txBody>
      </p:sp>
      <p:sp>
        <p:nvSpPr>
          <p:cNvPr id="13" name="Text Box 75">
            <a:extLst>
              <a:ext uri="{FF2B5EF4-FFF2-40B4-BE49-F238E27FC236}">
                <a16:creationId xmlns:a16="http://schemas.microsoft.com/office/drawing/2014/main" id="{8B151160-421B-49E4-9421-5904483A2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839" y="3832484"/>
            <a:ext cx="2432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R</a:t>
            </a:r>
            <a:r>
              <a:rPr lang="es-ES" sz="2400" baseline="-25000" dirty="0">
                <a:solidFill>
                  <a:srgbClr val="3333FF"/>
                </a:solidFill>
                <a:latin typeface="Comic Sans MS" panose="030F0702030302020204" pitchFamily="66" charset="0"/>
              </a:rPr>
              <a:t>2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 = 2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</a:t>
            </a:r>
          </a:p>
        </p:txBody>
      </p:sp>
      <p:sp>
        <p:nvSpPr>
          <p:cNvPr id="14" name="Text Box 77">
            <a:extLst>
              <a:ext uri="{FF2B5EF4-FFF2-40B4-BE49-F238E27FC236}">
                <a16:creationId xmlns:a16="http://schemas.microsoft.com/office/drawing/2014/main" id="{386658D4-301C-4E47-8D85-11AC8DAFE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691" y="3792393"/>
            <a:ext cx="161391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 = 2 A</a:t>
            </a:r>
            <a:endParaRPr lang="es-ES" sz="2400" dirty="0">
              <a:solidFill>
                <a:srgbClr val="3333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15" name="Text Box 78">
            <a:extLst>
              <a:ext uri="{FF2B5EF4-FFF2-40B4-BE49-F238E27FC236}">
                <a16:creationId xmlns:a16="http://schemas.microsoft.com/office/drawing/2014/main" id="{85C9160B-C9D3-45A4-B7B3-2C5569777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7860" y="3392330"/>
            <a:ext cx="1731001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= 10 V</a:t>
            </a:r>
            <a:endParaRPr lang="es-ES" sz="2400" dirty="0">
              <a:solidFill>
                <a:srgbClr val="3333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9CFBED4-9DDA-410C-9AF1-7E349784B1A7}"/>
              </a:ext>
            </a:extLst>
          </p:cNvPr>
          <p:cNvSpPr/>
          <p:nvPr/>
        </p:nvSpPr>
        <p:spPr bwMode="auto">
          <a:xfrm>
            <a:off x="4459503" y="2600941"/>
            <a:ext cx="540000" cy="540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7" name="Line 110">
            <a:extLst>
              <a:ext uri="{FF2B5EF4-FFF2-40B4-BE49-F238E27FC236}">
                <a16:creationId xmlns:a16="http://schemas.microsoft.com/office/drawing/2014/main" id="{8D0A0C49-7E81-4489-B8A9-ED99979EB93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24222" y="2721519"/>
            <a:ext cx="0" cy="28733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Ctr="1"/>
          <a:lstStyle/>
          <a:p>
            <a:endParaRPr lang="en-GB"/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BBB8D916-99BB-4112-BAAB-1B5F20F316E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1472604" y="860321"/>
            <a:ext cx="0" cy="25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C6811CF7-59B8-483E-BC10-50FCAEB58CD6}"/>
              </a:ext>
            </a:extLst>
          </p:cNvPr>
          <p:cNvSpPr/>
          <p:nvPr/>
        </p:nvSpPr>
        <p:spPr bwMode="auto">
          <a:xfrm>
            <a:off x="1211314" y="1983326"/>
            <a:ext cx="540000" cy="540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0" name="Text Box 115">
            <a:extLst>
              <a:ext uri="{FF2B5EF4-FFF2-40B4-BE49-F238E27FC236}">
                <a16:creationId xmlns:a16="http://schemas.microsoft.com/office/drawing/2014/main" id="{067A443E-C5F8-4E6F-B924-7AF2117B9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995" y="2097341"/>
            <a:ext cx="397621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2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2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CF9E618C-6F5D-440A-A938-20D2DCC7CB3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262081" y="1421232"/>
            <a:ext cx="900000" cy="36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6F1A22D-39BF-424E-9760-2FDF436AE1FF}"/>
              </a:ext>
            </a:extLst>
          </p:cNvPr>
          <p:cNvGrpSpPr/>
          <p:nvPr/>
        </p:nvGrpSpPr>
        <p:grpSpPr>
          <a:xfrm>
            <a:off x="3498894" y="861473"/>
            <a:ext cx="853213" cy="652818"/>
            <a:chOff x="3565569" y="2083274"/>
            <a:chExt cx="853213" cy="652818"/>
          </a:xfrm>
        </p:grpSpPr>
        <p:sp>
          <p:nvSpPr>
            <p:cNvPr id="23" name="Line 38">
              <a:extLst>
                <a:ext uri="{FF2B5EF4-FFF2-40B4-BE49-F238E27FC236}">
                  <a16:creationId xmlns:a16="http://schemas.microsoft.com/office/drawing/2014/main" id="{19C4864D-2ED6-4F1A-8C8A-52F3CB5D6B5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994150" y="1984849"/>
              <a:ext cx="0" cy="196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 dirty="0"/>
            </a:p>
          </p:txBody>
        </p:sp>
        <p:sp>
          <p:nvSpPr>
            <p:cNvPr id="24" name="Text Box 77">
              <a:extLst>
                <a:ext uri="{FF2B5EF4-FFF2-40B4-BE49-F238E27FC236}">
                  <a16:creationId xmlns:a16="http://schemas.microsoft.com/office/drawing/2014/main" id="{80FC1A90-6564-4A3E-9BA5-8FEC60047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5569" y="2155067"/>
              <a:ext cx="853213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2 A</a:t>
              </a:r>
              <a:endParaRPr lang="es-ES" sz="2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A9D2EDCD-7D9C-49CF-B41E-E304CABABAB3}"/>
              </a:ext>
            </a:extLst>
          </p:cNvPr>
          <p:cNvGrpSpPr/>
          <p:nvPr/>
        </p:nvGrpSpPr>
        <p:grpSpPr>
          <a:xfrm>
            <a:off x="1908558" y="861473"/>
            <a:ext cx="853213" cy="643293"/>
            <a:chOff x="1975233" y="2092799"/>
            <a:chExt cx="853213" cy="643293"/>
          </a:xfrm>
        </p:grpSpPr>
        <p:sp>
          <p:nvSpPr>
            <p:cNvPr id="26" name="Line 38">
              <a:extLst>
                <a:ext uri="{FF2B5EF4-FFF2-40B4-BE49-F238E27FC236}">
                  <a16:creationId xmlns:a16="http://schemas.microsoft.com/office/drawing/2014/main" id="{088B698E-04B8-4DC2-8722-296DF604F43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365375" y="1994374"/>
              <a:ext cx="0" cy="196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7" name="Text Box 77">
              <a:extLst>
                <a:ext uri="{FF2B5EF4-FFF2-40B4-BE49-F238E27FC236}">
                  <a16:creationId xmlns:a16="http://schemas.microsoft.com/office/drawing/2014/main" id="{98DDF089-D6CD-4BA8-BF9D-8CCADC95AF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5233" y="2155067"/>
              <a:ext cx="853213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3 A</a:t>
              </a:r>
              <a:endParaRPr lang="es-ES" sz="2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77052805-D42A-433E-BBD5-3C09AA057854}"/>
              </a:ext>
            </a:extLst>
          </p:cNvPr>
          <p:cNvGrpSpPr/>
          <p:nvPr/>
        </p:nvGrpSpPr>
        <p:grpSpPr>
          <a:xfrm>
            <a:off x="3067161" y="1266168"/>
            <a:ext cx="853213" cy="581025"/>
            <a:chOff x="3144110" y="2583968"/>
            <a:chExt cx="853213" cy="581025"/>
          </a:xfrm>
        </p:grpSpPr>
        <p:sp>
          <p:nvSpPr>
            <p:cNvPr id="29" name="Line 38">
              <a:extLst>
                <a:ext uri="{FF2B5EF4-FFF2-40B4-BE49-F238E27FC236}">
                  <a16:creationId xmlns:a16="http://schemas.microsoft.com/office/drawing/2014/main" id="{98EEB0FD-C64D-45DE-9B9F-13779B85BE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3213100" y="2641551"/>
              <a:ext cx="0" cy="196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0" name="Text Box 77">
              <a:extLst>
                <a:ext uri="{FF2B5EF4-FFF2-40B4-BE49-F238E27FC236}">
                  <a16:creationId xmlns:a16="http://schemas.microsoft.com/office/drawing/2014/main" id="{E8655AB7-DD20-4353-861F-53AF40395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110" y="2583968"/>
              <a:ext cx="853213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5 A</a:t>
              </a:r>
              <a:endParaRPr lang="es-ES" sz="2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17231A17-49A9-42F3-AB94-64F365783392}"/>
              </a:ext>
            </a:extLst>
          </p:cNvPr>
          <p:cNvGrpSpPr/>
          <p:nvPr/>
        </p:nvGrpSpPr>
        <p:grpSpPr>
          <a:xfrm>
            <a:off x="2138573" y="1964802"/>
            <a:ext cx="510961" cy="621981"/>
            <a:chOff x="2205248" y="2349152"/>
            <a:chExt cx="510961" cy="621981"/>
          </a:xfrm>
        </p:grpSpPr>
        <p:sp>
          <p:nvSpPr>
            <p:cNvPr id="31" name="Arco 30">
              <a:extLst>
                <a:ext uri="{FF2B5EF4-FFF2-40B4-BE49-F238E27FC236}">
                  <a16:creationId xmlns:a16="http://schemas.microsoft.com/office/drawing/2014/main" id="{7C897B5F-2568-4BAA-BB29-6FA1A20D5182}"/>
                </a:ext>
              </a:extLst>
            </p:cNvPr>
            <p:cNvSpPr/>
            <p:nvPr/>
          </p:nvSpPr>
          <p:spPr bwMode="auto">
            <a:xfrm>
              <a:off x="2220913" y="2349152"/>
              <a:ext cx="485774" cy="485774"/>
            </a:xfrm>
            <a:prstGeom prst="arc">
              <a:avLst>
                <a:gd name="adj1" fmla="val 15084636"/>
                <a:gd name="adj2" fmla="val 11111666"/>
              </a:avLst>
            </a:prstGeom>
            <a:noFill/>
            <a:ln w="25400" cap="flat" cmpd="sng" algn="ctr">
              <a:solidFill>
                <a:srgbClr val="3333FF"/>
              </a:solidFill>
              <a:prstDash val="solid"/>
              <a:round/>
              <a:headEnd type="triangle" w="lg" len="lg"/>
              <a:tailEnd type="none" w="med" len="med"/>
            </a:ln>
            <a:effectLst/>
          </p:spPr>
          <p:txBody>
            <a:bodyPr vert="horz" wrap="squar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32" name="Text Box 77">
              <a:extLst>
                <a:ext uri="{FF2B5EF4-FFF2-40B4-BE49-F238E27FC236}">
                  <a16:creationId xmlns:a16="http://schemas.microsoft.com/office/drawing/2014/main" id="{31242F44-373B-4027-AA87-4D8A14D92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5248" y="2390108"/>
              <a:ext cx="510961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000" baseline="-25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1</a:t>
              </a:r>
              <a:endParaRPr lang="es-ES" sz="2000" baseline="-25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476B5540-05FD-4C66-AE82-5F354EC02035}"/>
              </a:ext>
            </a:extLst>
          </p:cNvPr>
          <p:cNvGrpSpPr/>
          <p:nvPr/>
        </p:nvGrpSpPr>
        <p:grpSpPr>
          <a:xfrm>
            <a:off x="3579597" y="1973281"/>
            <a:ext cx="510961" cy="621981"/>
            <a:chOff x="3646272" y="2377727"/>
            <a:chExt cx="510961" cy="621981"/>
          </a:xfrm>
        </p:grpSpPr>
        <p:sp>
          <p:nvSpPr>
            <p:cNvPr id="33" name="Arco 32">
              <a:extLst>
                <a:ext uri="{FF2B5EF4-FFF2-40B4-BE49-F238E27FC236}">
                  <a16:creationId xmlns:a16="http://schemas.microsoft.com/office/drawing/2014/main" id="{6DB57036-E2AF-454A-A4F8-0CA7C39845BF}"/>
                </a:ext>
              </a:extLst>
            </p:cNvPr>
            <p:cNvSpPr/>
            <p:nvPr/>
          </p:nvSpPr>
          <p:spPr bwMode="auto">
            <a:xfrm>
              <a:off x="3661937" y="2377727"/>
              <a:ext cx="485774" cy="485774"/>
            </a:xfrm>
            <a:prstGeom prst="arc">
              <a:avLst>
                <a:gd name="adj1" fmla="val 15084636"/>
                <a:gd name="adj2" fmla="val 11111666"/>
              </a:avLst>
            </a:prstGeom>
            <a:noFill/>
            <a:ln w="25400" cap="flat" cmpd="sng" algn="ctr">
              <a:solidFill>
                <a:srgbClr val="3333FF"/>
              </a:solidFill>
              <a:prstDash val="solid"/>
              <a:round/>
              <a:headEnd type="triangle" w="lg" len="lg"/>
              <a:tailEnd type="none" w="med" len="med"/>
            </a:ln>
            <a:effectLst/>
          </p:spPr>
          <p:txBody>
            <a:bodyPr vert="horz" wrap="squar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Text Box 77">
              <a:extLst>
                <a:ext uri="{FF2B5EF4-FFF2-40B4-BE49-F238E27FC236}">
                  <a16:creationId xmlns:a16="http://schemas.microsoft.com/office/drawing/2014/main" id="{57F5E7CF-5762-4CC0-946E-F01249D880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6272" y="2418683"/>
              <a:ext cx="510961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399" tIns="43200" rIns="86399" bIns="43200"/>
            <a:lstStyle>
              <a:lvl1pPr defTabSz="863600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6360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63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63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63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63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000" baseline="-25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2</a:t>
              </a:r>
              <a:endParaRPr lang="es-ES" sz="2000" baseline="-25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</p:grpSp>
      <p:sp>
        <p:nvSpPr>
          <p:cNvPr id="35" name="Text Box 105">
            <a:extLst>
              <a:ext uri="{FF2B5EF4-FFF2-40B4-BE49-F238E27FC236}">
                <a16:creationId xmlns:a16="http://schemas.microsoft.com/office/drawing/2014/main" id="{8B9AECAE-D615-49F3-B220-D119FE896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163" y="131093"/>
            <a:ext cx="5414883" cy="8697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Asociamos a cada malla una corriente de malla, p.ej., en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sentido antihorario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6" name="Text Box 105">
            <a:extLst>
              <a:ext uri="{FF2B5EF4-FFF2-40B4-BE49-F238E27FC236}">
                <a16:creationId xmlns:a16="http://schemas.microsoft.com/office/drawing/2014/main" id="{00C7E36D-4E9D-48FD-BFC9-96A3E2997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007" y="2057249"/>
            <a:ext cx="1214594" cy="58744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Malla 1</a:t>
            </a:r>
          </a:p>
        </p:txBody>
      </p:sp>
      <p:sp>
        <p:nvSpPr>
          <p:cNvPr id="37" name="Text Box 105">
            <a:extLst>
              <a:ext uri="{FF2B5EF4-FFF2-40B4-BE49-F238E27FC236}">
                <a16:creationId xmlns:a16="http://schemas.microsoft.com/office/drawing/2014/main" id="{B1ED2BA7-2D50-45C0-8F56-AC22C3020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5878" y="2062422"/>
            <a:ext cx="3219622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 R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– R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0</a:t>
            </a:r>
          </a:p>
        </p:txBody>
      </p:sp>
      <p:sp>
        <p:nvSpPr>
          <p:cNvPr id="38" name="Text Box 105">
            <a:extLst>
              <a:ext uri="{FF2B5EF4-FFF2-40B4-BE49-F238E27FC236}">
                <a16:creationId xmlns:a16="http://schemas.microsoft.com/office/drawing/2014/main" id="{BA39B591-3988-4832-A116-7C6FF0E89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007" y="2706109"/>
            <a:ext cx="1214594" cy="53403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Malla 2</a:t>
            </a:r>
          </a:p>
        </p:txBody>
      </p:sp>
      <p:sp>
        <p:nvSpPr>
          <p:cNvPr id="39" name="Text Box 105">
            <a:extLst>
              <a:ext uri="{FF2B5EF4-FFF2-40B4-BE49-F238E27FC236}">
                <a16:creationId xmlns:a16="http://schemas.microsoft.com/office/drawing/2014/main" id="{6BE540F3-9EFD-4D2F-BE81-5197D5155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225" y="2663824"/>
            <a:ext cx="4002065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V</a:t>
            </a:r>
            <a:r>
              <a:rPr lang="es-ES" sz="2400" baseline="-25000" dirty="0">
                <a:solidFill>
                  <a:srgbClr val="3333FF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+ (R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+R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– R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0</a:t>
            </a:r>
          </a:p>
        </p:txBody>
      </p:sp>
      <p:sp>
        <p:nvSpPr>
          <p:cNvPr id="40" name="Text Box 105">
            <a:extLst>
              <a:ext uri="{FF2B5EF4-FFF2-40B4-BE49-F238E27FC236}">
                <a16:creationId xmlns:a16="http://schemas.microsoft.com/office/drawing/2014/main" id="{F4437EBB-80D9-4A9A-A9BF-0F8D594C4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006" y="3319736"/>
            <a:ext cx="3429317" cy="95677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Hay 3 incógnitas,   hace falta una ec.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más: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1" name="Text Box 105">
            <a:extLst>
              <a:ext uri="{FF2B5EF4-FFF2-40B4-BE49-F238E27FC236}">
                <a16:creationId xmlns:a16="http://schemas.microsoft.com/office/drawing/2014/main" id="{F04DFD77-FADD-4BC9-A477-84AC80418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6370" y="3697234"/>
            <a:ext cx="1874704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2 A</a:t>
            </a: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4A811BFB-6D02-4E9D-A2A3-09C5D0E3E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0173" y="1495403"/>
            <a:ext cx="9382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99" tIns="43200" rIns="86399" bIns="43200"/>
          <a:lstStyle>
            <a:lvl1pPr defTabSz="8636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3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3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3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3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3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</a:rPr>
              <a:t>R</a:t>
            </a:r>
            <a:r>
              <a:rPr lang="es-ES" sz="2400" baseline="-25000" dirty="0">
                <a:latin typeface="Comic Sans MS" panose="030F0702030302020204" pitchFamily="66" charset="0"/>
              </a:rPr>
              <a:t>2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42" name="Text Box 105">
            <a:extLst>
              <a:ext uri="{FF2B5EF4-FFF2-40B4-BE49-F238E27FC236}">
                <a16:creationId xmlns:a16="http://schemas.microsoft.com/office/drawing/2014/main" id="{9F3F1B85-8024-4468-BC1C-EA4FC3E85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466" y="4337700"/>
            <a:ext cx="3827338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(R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–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) / R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– 3 A </a:t>
            </a:r>
          </a:p>
        </p:txBody>
      </p:sp>
      <p:sp>
        <p:nvSpPr>
          <p:cNvPr id="43" name="Text Box 105">
            <a:extLst>
              <a:ext uri="{FF2B5EF4-FFF2-40B4-BE49-F238E27FC236}">
                <a16:creationId xmlns:a16="http://schemas.microsoft.com/office/drawing/2014/main" id="{DC1BA632-63CC-4BD1-8099-721792E3C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529" y="4982998"/>
            <a:ext cx="3811359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Rama izqda.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 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= 3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4" name="Text Box 105">
            <a:extLst>
              <a:ext uri="{FF2B5EF4-FFF2-40B4-BE49-F238E27FC236}">
                <a16:creationId xmlns:a16="http://schemas.microsoft.com/office/drawing/2014/main" id="{B14840F1-449D-4A49-AD7C-55C687645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279" y="4963498"/>
            <a:ext cx="5507881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|i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| = 3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 |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&lt; 0  sentido contrario 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5" name="Text Box 105">
            <a:extLst>
              <a:ext uri="{FF2B5EF4-FFF2-40B4-BE49-F238E27FC236}">
                <a16:creationId xmlns:a16="http://schemas.microsoft.com/office/drawing/2014/main" id="{24C73790-53DD-456E-A979-D73CC5CF4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9479" y="5449721"/>
            <a:ext cx="4177114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Rama dcha.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  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= 2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6" name="Text Box 105">
            <a:extLst>
              <a:ext uri="{FF2B5EF4-FFF2-40B4-BE49-F238E27FC236}">
                <a16:creationId xmlns:a16="http://schemas.microsoft.com/office/drawing/2014/main" id="{A637A8A0-D36E-4492-B455-257A11984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279" y="5449271"/>
            <a:ext cx="5164981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|i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| = 2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 |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&gt; 0  sentido 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7" name="Text Box 105">
            <a:extLst>
              <a:ext uri="{FF2B5EF4-FFF2-40B4-BE49-F238E27FC236}">
                <a16:creationId xmlns:a16="http://schemas.microsoft.com/office/drawing/2014/main" id="{EFDC1F76-8953-4F98-BADC-941AFF9EB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473" y="5941702"/>
            <a:ext cx="3811358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Rama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central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= 5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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8" name="Text Box 105">
            <a:extLst>
              <a:ext uri="{FF2B5EF4-FFF2-40B4-BE49-F238E27FC236}">
                <a16:creationId xmlns:a16="http://schemas.microsoft.com/office/drawing/2014/main" id="{E1BEF024-54A1-4158-A257-B9C88A954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8272" y="5932177"/>
            <a:ext cx="5733862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|i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| = 5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 |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= -5 &lt; 0  sentido 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3" name="Text Box 97">
            <a:extLst>
              <a:ext uri="{FF2B5EF4-FFF2-40B4-BE49-F238E27FC236}">
                <a16:creationId xmlns:a16="http://schemas.microsoft.com/office/drawing/2014/main" id="{30DD909B-2EA3-4AF0-8D52-F43323485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321" y="4507781"/>
            <a:ext cx="2677228" cy="53654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Corrientes Reales</a:t>
            </a:r>
          </a:p>
        </p:txBody>
      </p:sp>
      <p:sp>
        <p:nvSpPr>
          <p:cNvPr id="54" name="Text Box 105">
            <a:extLst>
              <a:ext uri="{FF2B5EF4-FFF2-40B4-BE49-F238E27FC236}">
                <a16:creationId xmlns:a16="http://schemas.microsoft.com/office/drawing/2014/main" id="{5CA748F1-3346-D9F7-C55E-6DE400BEE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163" y="1069941"/>
            <a:ext cx="5414883" cy="8697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Escribimos la ec. de cada malla girando, p.ej., en sentido antihorario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1" name="Text Box 105">
            <a:extLst>
              <a:ext uri="{FF2B5EF4-FFF2-40B4-BE49-F238E27FC236}">
                <a16:creationId xmlns:a16="http://schemas.microsoft.com/office/drawing/2014/main" id="{8573064E-FA6F-6D35-FB74-5383ED6A8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253" y="4318616"/>
            <a:ext cx="1402213" cy="587441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Malla 1: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2" name="Text Box 105">
            <a:extLst>
              <a:ext uri="{FF2B5EF4-FFF2-40B4-BE49-F238E27FC236}">
                <a16:creationId xmlns:a16="http://schemas.microsoft.com/office/drawing/2014/main" id="{32FCF9B5-218C-4475-3E3F-187F14596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7540" y="6409202"/>
            <a:ext cx="6078781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+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= 5 A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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(regla de los nudos)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8432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5" grpId="0" animBg="1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53" grpId="0" animBg="1"/>
      <p:bldP spid="54" grpId="0" animBg="1"/>
      <p:bldP spid="51" grpId="0" animBg="1"/>
      <p:bldP spid="5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118800" rIns="90000" bIns="118800" numCol="1" anchor="ctr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118800" rIns="90000" bIns="118800" numCol="1" anchor="ctr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16604</TotalTime>
  <Words>2877</Words>
  <Application>Microsoft Office PowerPoint</Application>
  <PresentationFormat>Personalizado</PresentationFormat>
  <Paragraphs>462</Paragraphs>
  <Slides>24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Arial</vt:lpstr>
      <vt:lpstr>Comic Sans MS</vt:lpstr>
      <vt:lpstr>Symbol</vt:lpstr>
      <vt:lpstr>Times New Roman</vt:lpstr>
      <vt:lpstr>Trebuchet MS</vt:lpstr>
      <vt:lpstr>Wingdings</vt:lpstr>
      <vt:lpstr>FNT_2012_TEMA1_1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2389</cp:revision>
  <dcterms:created xsi:type="dcterms:W3CDTF">2012-02-20T13:06:36Z</dcterms:created>
  <dcterms:modified xsi:type="dcterms:W3CDTF">2024-12-13T11:03:53Z</dcterms:modified>
</cp:coreProperties>
</file>